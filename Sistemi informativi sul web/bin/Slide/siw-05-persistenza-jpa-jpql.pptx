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427" r:id="rId2"/>
    <p:sldId id="406" r:id="rId3"/>
    <p:sldId id="407" r:id="rId4"/>
    <p:sldId id="408" r:id="rId5"/>
    <p:sldId id="532" r:id="rId6"/>
    <p:sldId id="409" r:id="rId7"/>
    <p:sldId id="410" r:id="rId8"/>
    <p:sldId id="411" r:id="rId9"/>
    <p:sldId id="412" r:id="rId10"/>
    <p:sldId id="413" r:id="rId11"/>
    <p:sldId id="553" r:id="rId12"/>
    <p:sldId id="533" r:id="rId13"/>
    <p:sldId id="549" r:id="rId14"/>
    <p:sldId id="552" r:id="rId15"/>
    <p:sldId id="557" r:id="rId16"/>
    <p:sldId id="624" r:id="rId17"/>
    <p:sldId id="558" r:id="rId18"/>
    <p:sldId id="625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E6EAC-CBB9-BD42-88AD-E8F9FE6D97A9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8535E-12EC-9C48-8F0B-EF35AC153218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68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EB111A-9E8D-AE42-AF40-7D7AD69A6457}" type="slidenum"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0"/>
              <a:cs typeface="+mn-cs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6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484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9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1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8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13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65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0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08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6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stile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33A9-B2C3-AE47-8657-BBD3860B180D}" type="datetimeFigureOut">
              <a:rPr lang="it-IT" smtClean="0"/>
              <a:t>27/03/25</a:t>
            </a:fld>
            <a:endParaRPr lang="en-US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6DE83-5E11-5147-A804-09247BE1F2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5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stile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7B0733A9-B2C3-AE47-8657-BBD3860B180D}" type="datetimeFigureOut">
              <a:rPr lang="it-IT" smtClean="0"/>
              <a:pPr/>
              <a:t>27/03/25</a:t>
            </a:fld>
            <a:endParaRPr lang="en-US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</a:defRPr>
            </a:lvl1pPr>
          </a:lstStyle>
          <a:p>
            <a:fld id="{9996DE83-5E11-5147-A804-09247BE1F2BF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54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21175" y="1454889"/>
            <a:ext cx="9237048" cy="1468967"/>
          </a:xfrm>
          <a:extLst>
            <a:ext uri="{91240B29-F687-4f45-9708-019B960494DF}">
              <a14:hiddenLine xmlns=""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/>
            <a:r>
              <a:rPr lang="it-IT" sz="2000" dirty="0">
                <a:cs typeface="Calibri Light" panose="020F0302020204030204" pitchFamily="34" charset="0"/>
              </a:rPr>
              <a:t>Sistemi informativi su Web</a:t>
            </a:r>
            <a:br>
              <a:rPr lang="it-IT" sz="2000" dirty="0"/>
            </a:br>
            <a: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Gestione Persistenza: JPQL</a:t>
            </a:r>
            <a:br>
              <a:rPr lang="it-IT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it-IT" sz="3200" dirty="0">
                <a:solidFill>
                  <a:srgbClr val="40008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aa 2024-2025</a:t>
            </a:r>
            <a:br>
              <a:rPr lang="it-IT" dirty="0">
                <a:latin typeface="Calibri Light" panose="020F0302020204030204" pitchFamily="34" charset="0"/>
              </a:rPr>
            </a:br>
            <a:endParaRPr lang="it-IT" dirty="0">
              <a:latin typeface="Calibri Light" panose="020F0302020204030204" pitchFamily="34" charset="0"/>
            </a:endParaRPr>
          </a:p>
        </p:txBody>
      </p:sp>
      <p:sp>
        <p:nvSpPr>
          <p:cNvPr id="4" name="Text Box 11"/>
          <p:cNvSpPr txBox="1">
            <a:spLocks noChangeArrowheads="1"/>
          </p:cNvSpPr>
          <p:nvPr/>
        </p:nvSpPr>
        <p:spPr bwMode="auto">
          <a:xfrm>
            <a:off x="2895600" y="6324601"/>
            <a:ext cx="66963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defTabSz="609585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This work is licensed under a Creative Commons Attribution-Noncommercial-Share Alike 3.0 United States</a:t>
            </a:r>
            <a:b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</a:b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See http://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creativecommons.org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/licenses/by-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nc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-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sa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/3.0/us/ for details</a:t>
            </a:r>
          </a:p>
        </p:txBody>
      </p:sp>
      <p:pic>
        <p:nvPicPr>
          <p:cNvPr id="5" name="Picture 13" descr="creative-common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25600" y="6324601"/>
            <a:ext cx="11176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086" y="4001343"/>
            <a:ext cx="941271" cy="511424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5399865" y="3908734"/>
            <a:ext cx="3059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09585"/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Paolo Merialdo</a:t>
            </a:r>
          </a:p>
          <a:p>
            <a:pPr defTabSz="609585"/>
            <a:r>
              <a:rPr lang="it-IT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Università degli Studi Roma Tre</a:t>
            </a:r>
          </a:p>
        </p:txBody>
      </p:sp>
    </p:spTree>
    <p:extLst>
      <p:ext uri="{BB962C8B-B14F-4D97-AF65-F5344CB8AC3E}">
        <p14:creationId xmlns:p14="http://schemas.microsoft.com/office/powerpoint/2010/main" val="421165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JPA, </a:t>
            </a:r>
            <a:r>
              <a:rPr lang="en-US" dirty="0" err="1"/>
              <a:t>oltre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possibilità</a:t>
            </a:r>
            <a:r>
              <a:rPr lang="en-US" dirty="0"/>
              <a:t> di </a:t>
            </a:r>
            <a:r>
              <a:rPr lang="en-US" dirty="0" err="1"/>
              <a:t>specificare</a:t>
            </a:r>
            <a:r>
              <a:rPr lang="en-US" dirty="0"/>
              <a:t> il mapping object-relational, </a:t>
            </a:r>
            <a:r>
              <a:rPr lang="en-US" dirty="0" err="1"/>
              <a:t>offre</a:t>
            </a:r>
            <a:r>
              <a:rPr lang="en-US" dirty="0"/>
              <a:t> un </a:t>
            </a:r>
            <a:r>
              <a:rPr lang="en-US" dirty="0" err="1"/>
              <a:t>linguaggio</a:t>
            </a:r>
            <a:r>
              <a:rPr lang="en-US" dirty="0"/>
              <a:t> di </a:t>
            </a:r>
            <a:r>
              <a:rPr lang="en-US" dirty="0" err="1"/>
              <a:t>interrogazione</a:t>
            </a:r>
            <a:r>
              <a:rPr lang="en-US" dirty="0"/>
              <a:t>: JPQL</a:t>
            </a:r>
          </a:p>
          <a:p>
            <a:r>
              <a:rPr lang="en-US" dirty="0"/>
              <a:t>JPQL </a:t>
            </a:r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interrogare</a:t>
            </a:r>
            <a:r>
              <a:rPr lang="en-US" dirty="0"/>
              <a:t> </a:t>
            </a:r>
            <a:r>
              <a:rPr lang="en-US" dirty="0" err="1"/>
              <a:t>l'insieme</a:t>
            </a:r>
            <a:r>
              <a:rPr lang="en-US" dirty="0"/>
              <a:t> di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 err="1"/>
              <a:t>memorizzate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dirty="0"/>
              <a:t>JPQL </a:t>
            </a:r>
            <a:r>
              <a:rPr lang="en-US" dirty="0" err="1"/>
              <a:t>è</a:t>
            </a:r>
            <a:r>
              <a:rPr lang="en-US" dirty="0"/>
              <a:t> simile </a:t>
            </a:r>
            <a:r>
              <a:rPr lang="en-US" dirty="0" err="1"/>
              <a:t>all'SQL</a:t>
            </a:r>
            <a:r>
              <a:rPr lang="en-US" dirty="0"/>
              <a:t>, ma ha una </a:t>
            </a:r>
            <a:r>
              <a:rPr lang="en-US" dirty="0" err="1"/>
              <a:t>sintassi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vicina</a:t>
            </a:r>
            <a:r>
              <a:rPr lang="en-US" dirty="0"/>
              <a:t> al mondo OO</a:t>
            </a:r>
          </a:p>
          <a:p>
            <a:r>
              <a:rPr lang="en-US" dirty="0" err="1"/>
              <a:t>Istruzioni</a:t>
            </a:r>
            <a:r>
              <a:rPr lang="en-US" dirty="0"/>
              <a:t> JPQL</a:t>
            </a:r>
          </a:p>
          <a:p>
            <a:pPr lvl="1"/>
            <a:r>
              <a:rPr lang="en-US" dirty="0"/>
              <a:t>SELECT</a:t>
            </a:r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425326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JPQL: SELECT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SELECT &lt;</a:t>
            </a:r>
            <a:r>
              <a:rPr lang="en-US" err="1"/>
              <a:t>espressione</a:t>
            </a:r>
            <a:r>
              <a:rPr lang="en-US"/>
              <a:t> select&gt;</a:t>
            </a:r>
          </a:p>
          <a:p>
            <a:pPr marL="0" indent="0">
              <a:buNone/>
            </a:pPr>
            <a:r>
              <a:rPr lang="en-US"/>
              <a:t>FROM &lt;</a:t>
            </a:r>
            <a:r>
              <a:rPr lang="en-US" err="1"/>
              <a:t>clausola</a:t>
            </a:r>
            <a:r>
              <a:rPr lang="en-US"/>
              <a:t> from&gt;</a:t>
            </a:r>
          </a:p>
          <a:p>
            <a:pPr marL="0" indent="0">
              <a:buNone/>
            </a:pPr>
            <a:r>
              <a:rPr lang="en-US"/>
              <a:t>[WHERE &lt;</a:t>
            </a:r>
            <a:r>
              <a:rPr lang="en-US" err="1"/>
              <a:t>espressione</a:t>
            </a:r>
            <a:r>
              <a:rPr lang="en-US"/>
              <a:t> </a:t>
            </a:r>
            <a:r>
              <a:rPr lang="en-US" err="1"/>
              <a:t>condizionale</a:t>
            </a:r>
            <a:r>
              <a:rPr lang="en-US"/>
              <a:t>&gt;]</a:t>
            </a:r>
          </a:p>
          <a:p>
            <a:pPr marL="0" indent="0">
              <a:buNone/>
            </a:pPr>
            <a:r>
              <a:rPr lang="en-US"/>
              <a:t>[ORDER BY &lt;</a:t>
            </a:r>
            <a:r>
              <a:rPr lang="en-US" err="1"/>
              <a:t>clausola</a:t>
            </a:r>
            <a:r>
              <a:rPr lang="en-US"/>
              <a:t> order by&gt;]</a:t>
            </a:r>
          </a:p>
          <a:p>
            <a:pPr marL="0" indent="0">
              <a:buNone/>
            </a:pPr>
            <a:r>
              <a:rPr lang="en-US"/>
              <a:t>[GROUP BY &lt;</a:t>
            </a:r>
            <a:r>
              <a:rPr lang="en-US" err="1"/>
              <a:t>clausola</a:t>
            </a:r>
            <a:r>
              <a:rPr lang="en-US"/>
              <a:t> group by&gt;]</a:t>
            </a:r>
          </a:p>
          <a:p>
            <a:pPr marL="0" indent="0">
              <a:buNone/>
            </a:pPr>
            <a:r>
              <a:rPr lang="en-US"/>
              <a:t>[HAVING &lt;</a:t>
            </a:r>
            <a:r>
              <a:rPr lang="en-US" err="1"/>
              <a:t>clausola</a:t>
            </a:r>
            <a:r>
              <a:rPr lang="en-US"/>
              <a:t> having&gt;]</a:t>
            </a:r>
          </a:p>
        </p:txBody>
      </p:sp>
    </p:spTree>
    <p:extLst>
      <p:ext uri="{BB962C8B-B14F-4D97-AF65-F5344CB8AC3E}">
        <p14:creationId xmlns:p14="http://schemas.microsoft.com/office/powerpoint/2010/main" val="128198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JPQL: SELECT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Un’istruzione</a:t>
            </a:r>
            <a:r>
              <a:rPr lang="en-US" dirty="0"/>
              <a:t> SELECT </a:t>
            </a:r>
            <a:r>
              <a:rPr lang="en-US" dirty="0" err="1"/>
              <a:t>tipicamente</a:t>
            </a:r>
            <a:r>
              <a:rPr lang="en-US" dirty="0"/>
              <a:t>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un’entità</a:t>
            </a:r>
            <a:r>
              <a:rPr lang="en-US" dirty="0"/>
              <a:t> o una </a:t>
            </a:r>
            <a:r>
              <a:rPr lang="en-US" dirty="0" err="1"/>
              <a:t>lista</a:t>
            </a:r>
            <a:r>
              <a:rPr lang="en-US" dirty="0"/>
              <a:t> di </a:t>
            </a:r>
            <a:r>
              <a:rPr lang="en-US" dirty="0" err="1"/>
              <a:t>entità</a:t>
            </a:r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clausola</a:t>
            </a:r>
            <a:r>
              <a:rPr lang="en-US" dirty="0"/>
              <a:t> FROM </a:t>
            </a:r>
            <a:r>
              <a:rPr lang="en-US" dirty="0" err="1"/>
              <a:t>definisce</a:t>
            </a:r>
            <a:r>
              <a:rPr lang="en-US" dirty="0"/>
              <a:t> </a:t>
            </a:r>
            <a:r>
              <a:rPr lang="en-US" dirty="0" err="1"/>
              <a:t>l'entità</a:t>
            </a:r>
            <a:r>
              <a:rPr lang="en-US" dirty="0"/>
              <a:t> </a:t>
            </a:r>
            <a:r>
              <a:rPr lang="en-US" dirty="0" err="1"/>
              <a:t>coinvolta</a:t>
            </a:r>
            <a:r>
              <a:rPr lang="en-US" dirty="0"/>
              <a:t> </a:t>
            </a:r>
            <a:r>
              <a:rPr lang="en-US" dirty="0" err="1"/>
              <a:t>attraverso</a:t>
            </a:r>
            <a:r>
              <a:rPr lang="en-US" dirty="0"/>
              <a:t> una </a:t>
            </a:r>
            <a:r>
              <a:rPr lang="en-US" dirty="0" err="1"/>
              <a:t>variabile</a:t>
            </a:r>
            <a:r>
              <a:rPr lang="en-US" dirty="0"/>
              <a:t> di </a:t>
            </a:r>
            <a:r>
              <a:rPr lang="en-US" dirty="0" err="1"/>
              <a:t>identificazione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c</a:t>
            </a:r>
          </a:p>
          <a:p>
            <a:pPr marL="0" indent="0">
              <a:buNone/>
            </a:pPr>
            <a:r>
              <a:rPr lang="en-US" dirty="0"/>
              <a:t>	FROM Customer c</a:t>
            </a:r>
          </a:p>
        </p:txBody>
      </p:sp>
      <p:sp>
        <p:nvSpPr>
          <p:cNvPr id="5" name="Callout 13 4">
            <a:extLst>
              <a:ext uri="{FF2B5EF4-FFF2-40B4-BE49-F238E27FC236}">
                <a16:creationId xmlns:a16="http://schemas.microsoft.com/office/drawing/2014/main" id="{C81EA2D3-AC54-E84C-847F-23AADE7E585D}"/>
              </a:ext>
            </a:extLst>
          </p:cNvPr>
          <p:cNvSpPr/>
          <p:nvPr/>
        </p:nvSpPr>
        <p:spPr>
          <a:xfrm>
            <a:off x="3350290" y="5632597"/>
            <a:ext cx="3505199" cy="987135"/>
          </a:xfrm>
          <a:prstGeom prst="accentBorderCallout1">
            <a:avLst>
              <a:gd name="adj1" fmla="val 4536"/>
              <a:gd name="adj2" fmla="val -4762"/>
              <a:gd name="adj3" fmla="val -26161"/>
              <a:gd name="adj4" fmla="val -11396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Entità</a:t>
            </a:r>
            <a:br>
              <a:rPr lang="en-US" dirty="0">
                <a:solidFill>
                  <a:prstClr val="black"/>
                </a:solidFill>
                <a:latin typeface="Calibri Light" panose="020F0302020204030204" pitchFamily="34" charset="0"/>
              </a:rPr>
            </a:br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deve</a:t>
            </a:r>
            <a:r>
              <a:rPr lang="en-US" dirty="0">
                <a:solidFill>
                  <a:prstClr val="black"/>
                </a:solidFill>
                <a:latin typeface="Calibri Light" panose="020F03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essere</a:t>
            </a:r>
            <a:r>
              <a:rPr lang="en-US" dirty="0">
                <a:solidFill>
                  <a:prstClr val="black"/>
                </a:solidFill>
                <a:latin typeface="Calibri Light" panose="020F03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scritta</a:t>
            </a:r>
            <a:r>
              <a:rPr lang="en-US" dirty="0">
                <a:solidFill>
                  <a:prstClr val="black"/>
                </a:solidFill>
                <a:latin typeface="Calibri Light" panose="020F0302020204030204" pitchFamily="34" charset="0"/>
              </a:rPr>
              <a:t> come la </a:t>
            </a:r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classe</a:t>
            </a:r>
            <a:r>
              <a:rPr lang="en-US" dirty="0">
                <a:solidFill>
                  <a:prstClr val="black"/>
                </a:solidFill>
                <a:latin typeface="Calibri Light" panose="020F0302020204030204" pitchFamily="34" charset="0"/>
              </a:rPr>
              <a:t>: con </a:t>
            </a:r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l'iniziale</a:t>
            </a:r>
            <a:r>
              <a:rPr lang="en-US" dirty="0">
                <a:solidFill>
                  <a:prstClr val="black"/>
                </a:solidFill>
                <a:latin typeface="Calibri Light" panose="020F0302020204030204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maiuscola</a:t>
            </a:r>
            <a:endParaRPr lang="en-US" dirty="0">
              <a:solidFill>
                <a:prstClr val="black"/>
              </a:solidFill>
              <a:latin typeface="Calibri Light" panose="020F0302020204030204" pitchFamily="34" charset="0"/>
            </a:endParaRPr>
          </a:p>
        </p:txBody>
      </p:sp>
      <p:sp>
        <p:nvSpPr>
          <p:cNvPr id="6" name="Callout 13 5">
            <a:extLst>
              <a:ext uri="{FF2B5EF4-FFF2-40B4-BE49-F238E27FC236}">
                <a16:creationId xmlns:a16="http://schemas.microsoft.com/office/drawing/2014/main" id="{FB3AAF0B-C3A6-3447-A44E-7549BE4B206D}"/>
              </a:ext>
            </a:extLst>
          </p:cNvPr>
          <p:cNvSpPr/>
          <p:nvPr/>
        </p:nvSpPr>
        <p:spPr>
          <a:xfrm>
            <a:off x="5290457" y="4534773"/>
            <a:ext cx="1741715" cy="604256"/>
          </a:xfrm>
          <a:prstGeom prst="accentBorderCallout1">
            <a:avLst>
              <a:gd name="adj1" fmla="val 4536"/>
              <a:gd name="adj2" fmla="val -4762"/>
              <a:gd name="adj3" fmla="val 91178"/>
              <a:gd name="adj4" fmla="val -7238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Variabile</a:t>
            </a:r>
            <a:r>
              <a:rPr lang="en-US" dirty="0">
                <a:solidFill>
                  <a:prstClr val="black"/>
                </a:solidFill>
                <a:latin typeface="Calibri Light" panose="020F0302020204030204" pitchFamily="34" charset="0"/>
              </a:rPr>
              <a:t> di </a:t>
            </a:r>
            <a:r>
              <a:rPr lang="en-US" dirty="0" err="1">
                <a:solidFill>
                  <a:prstClr val="black"/>
                </a:solidFill>
                <a:latin typeface="Calibri Light" panose="020F0302020204030204" pitchFamily="34" charset="0"/>
              </a:rPr>
              <a:t>identificazione</a:t>
            </a:r>
            <a:endParaRPr lang="en-US" dirty="0">
              <a:solidFill>
                <a:prstClr val="black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133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JPQL: SELECT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La </a:t>
            </a:r>
            <a:r>
              <a:rPr lang="en-US" dirty="0" err="1">
                <a:solidFill>
                  <a:prstClr val="black"/>
                </a:solidFill>
              </a:rPr>
              <a:t>clausola</a:t>
            </a:r>
            <a:r>
              <a:rPr lang="en-US" dirty="0">
                <a:solidFill>
                  <a:prstClr val="black"/>
                </a:solidFill>
              </a:rPr>
              <a:t> WHERE </a:t>
            </a:r>
            <a:r>
              <a:rPr lang="en-US" dirty="0" err="1">
                <a:solidFill>
                  <a:prstClr val="black"/>
                </a:solidFill>
              </a:rPr>
              <a:t>permette</a:t>
            </a:r>
            <a:r>
              <a:rPr lang="en-US" dirty="0">
                <a:solidFill>
                  <a:prstClr val="black"/>
                </a:solidFill>
              </a:rPr>
              <a:t> di </a:t>
            </a:r>
            <a:r>
              <a:rPr lang="en-US" dirty="0" err="1">
                <a:solidFill>
                  <a:prstClr val="black"/>
                </a:solidFill>
              </a:rPr>
              <a:t>specificare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condizioni</a:t>
            </a:r>
            <a:r>
              <a:rPr lang="en-US" dirty="0">
                <a:solidFill>
                  <a:prstClr val="black"/>
                </a:solidFill>
              </a:rPr>
              <a:t> per </a:t>
            </a:r>
            <a:r>
              <a:rPr lang="en-US" dirty="0" err="1">
                <a:solidFill>
                  <a:prstClr val="black"/>
                </a:solidFill>
              </a:rPr>
              <a:t>restingere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il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risultato</a:t>
            </a:r>
            <a:r>
              <a:rPr lang="en-US" dirty="0">
                <a:solidFill>
                  <a:prstClr val="black"/>
                </a:solidFill>
              </a:rPr>
              <a:t> di una SELECT </a:t>
            </a:r>
            <a:r>
              <a:rPr lang="en-US" dirty="0" err="1">
                <a:solidFill>
                  <a:prstClr val="black"/>
                </a:solidFill>
              </a:rPr>
              <a:t>alle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istanze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che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soddisfano</a:t>
            </a:r>
            <a:r>
              <a:rPr lang="en-US" dirty="0">
                <a:solidFill>
                  <a:prstClr val="black"/>
                </a:solidFill>
              </a:rPr>
              <a:t> la </a:t>
            </a:r>
            <a:r>
              <a:rPr lang="en-US" dirty="0" err="1">
                <a:solidFill>
                  <a:prstClr val="black"/>
                </a:solidFill>
              </a:rPr>
              <a:t>condizione</a:t>
            </a:r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sz="2400" dirty="0"/>
              <a:t>	SELECT c</a:t>
            </a:r>
          </a:p>
          <a:p>
            <a:pPr marL="0" indent="0">
              <a:buNone/>
            </a:pPr>
            <a:r>
              <a:rPr lang="en-US" sz="2400" dirty="0"/>
              <a:t>	FROM Customer c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</a:rPr>
              <a:t>	WHERE </a:t>
            </a:r>
            <a:r>
              <a:rPr lang="en-US" sz="2400" dirty="0" err="1">
                <a:solidFill>
                  <a:prstClr val="black"/>
                </a:solidFill>
              </a:rPr>
              <a:t>c.firstName</a:t>
            </a:r>
            <a:r>
              <a:rPr lang="en-US" sz="2400" dirty="0">
                <a:solidFill>
                  <a:prstClr val="black"/>
                </a:solidFill>
              </a:rPr>
              <a:t>='Antonio'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44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JPQL: SELECT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prstClr val="black"/>
                </a:solidFill>
              </a:rPr>
              <a:t>La </a:t>
            </a:r>
            <a:r>
              <a:rPr lang="en-US" dirty="0" err="1">
                <a:solidFill>
                  <a:prstClr val="black"/>
                </a:solidFill>
              </a:rPr>
              <a:t>clausola</a:t>
            </a:r>
            <a:r>
              <a:rPr lang="en-US" dirty="0">
                <a:solidFill>
                  <a:prstClr val="black"/>
                </a:solidFill>
              </a:rPr>
              <a:t> WHERE </a:t>
            </a:r>
            <a:r>
              <a:rPr lang="en-US" dirty="0" err="1">
                <a:solidFill>
                  <a:prstClr val="black"/>
                </a:solidFill>
              </a:rPr>
              <a:t>permette</a:t>
            </a:r>
            <a:r>
              <a:rPr lang="en-US" dirty="0">
                <a:solidFill>
                  <a:prstClr val="black"/>
                </a:solidFill>
              </a:rPr>
              <a:t> di </a:t>
            </a:r>
            <a:r>
              <a:rPr lang="en-US" dirty="0" err="1">
                <a:solidFill>
                  <a:prstClr val="black"/>
                </a:solidFill>
              </a:rPr>
              <a:t>specificare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condizioni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che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permettono</a:t>
            </a:r>
            <a:r>
              <a:rPr lang="en-US" dirty="0">
                <a:solidFill>
                  <a:prstClr val="black"/>
                </a:solidFill>
              </a:rPr>
              <a:t> di </a:t>
            </a:r>
            <a:r>
              <a:rPr lang="en-US" dirty="0" err="1">
                <a:solidFill>
                  <a:prstClr val="black"/>
                </a:solidFill>
              </a:rPr>
              <a:t>inseguire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riferimenti</a:t>
            </a:r>
            <a:r>
              <a:rPr lang="en-US" dirty="0">
                <a:solidFill>
                  <a:prstClr val="black"/>
                </a:solidFill>
              </a:rPr>
              <a:t>: </a:t>
            </a:r>
            <a:r>
              <a:rPr lang="en-US" dirty="0" err="1">
                <a:solidFill>
                  <a:prstClr val="black"/>
                </a:solidFill>
              </a:rPr>
              <a:t>si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usa</a:t>
            </a:r>
            <a:r>
              <a:rPr lang="en-US" dirty="0">
                <a:solidFill>
                  <a:prstClr val="black"/>
                </a:solidFill>
              </a:rPr>
              <a:t> una </a:t>
            </a:r>
            <a:r>
              <a:rPr lang="en-US" i="1" dirty="0">
                <a:solidFill>
                  <a:prstClr val="black"/>
                </a:solidFill>
              </a:rPr>
              <a:t>path-expression</a:t>
            </a:r>
            <a:r>
              <a:rPr lang="en-US" dirty="0">
                <a:solidFill>
                  <a:prstClr val="black"/>
                </a:solidFill>
              </a:rPr>
              <a:t> con la </a:t>
            </a:r>
            <a:r>
              <a:rPr lang="en-US" dirty="0" err="1">
                <a:solidFill>
                  <a:prstClr val="black"/>
                </a:solidFill>
              </a:rPr>
              <a:t>tipica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i="1" dirty="0">
                <a:solidFill>
                  <a:prstClr val="black"/>
                </a:solidFill>
              </a:rPr>
              <a:t>dot-notation </a:t>
            </a:r>
            <a:r>
              <a:rPr lang="en-US" dirty="0">
                <a:solidFill>
                  <a:prstClr val="black"/>
                </a:solidFill>
              </a:rPr>
              <a:t>OO</a:t>
            </a:r>
          </a:p>
          <a:p>
            <a:pPr lvl="1"/>
            <a:r>
              <a:rPr lang="en-US" dirty="0" err="1">
                <a:solidFill>
                  <a:prstClr val="black"/>
                </a:solidFill>
              </a:rPr>
              <a:t>questo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elimina</a:t>
            </a:r>
            <a:r>
              <a:rPr lang="en-US" dirty="0">
                <a:solidFill>
                  <a:prstClr val="black"/>
                </a:solidFill>
              </a:rPr>
              <a:t> la </a:t>
            </a:r>
            <a:r>
              <a:rPr lang="en-US" dirty="0" err="1">
                <a:solidFill>
                  <a:prstClr val="black"/>
                </a:solidFill>
              </a:rPr>
              <a:t>necessità</a:t>
            </a:r>
            <a:r>
              <a:rPr lang="en-US" dirty="0">
                <a:solidFill>
                  <a:prstClr val="black"/>
                </a:solidFill>
              </a:rPr>
              <a:t> di </a:t>
            </a:r>
            <a:r>
              <a:rPr lang="en-US" dirty="0" err="1">
                <a:solidFill>
                  <a:prstClr val="black"/>
                </a:solidFill>
              </a:rPr>
              <a:t>usare</a:t>
            </a:r>
            <a:r>
              <a:rPr lang="en-US" dirty="0">
                <a:solidFill>
                  <a:prstClr val="black"/>
                </a:solidFill>
              </a:rPr>
              <a:t> join: </a:t>
            </a:r>
            <a:r>
              <a:rPr lang="en-US" dirty="0" err="1">
                <a:solidFill>
                  <a:prstClr val="black"/>
                </a:solidFill>
              </a:rPr>
              <a:t>lavoriamo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su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entità</a:t>
            </a:r>
            <a:r>
              <a:rPr lang="en-US" dirty="0">
                <a:solidFill>
                  <a:prstClr val="black"/>
                </a:solidFill>
              </a:rPr>
              <a:t> e non </a:t>
            </a:r>
            <a:r>
              <a:rPr lang="en-US" dirty="0" err="1">
                <a:solidFill>
                  <a:prstClr val="black"/>
                </a:solidFill>
              </a:rPr>
              <a:t>su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tabelle</a:t>
            </a:r>
            <a:endParaRPr lang="en-US" dirty="0">
              <a:solidFill>
                <a:prstClr val="black"/>
              </a:solidFill>
            </a:endParaRPr>
          </a:p>
          <a:p>
            <a:pPr lvl="1"/>
            <a:r>
              <a:rPr lang="en-US" dirty="0">
                <a:solidFill>
                  <a:prstClr val="black"/>
                </a:solidFill>
              </a:rPr>
              <a:t>JPA traduce le query JPQL in query SQL </a:t>
            </a:r>
            <a:r>
              <a:rPr lang="en-US" dirty="0" err="1">
                <a:solidFill>
                  <a:prstClr val="black"/>
                </a:solidFill>
              </a:rPr>
              <a:t>che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invia</a:t>
            </a:r>
            <a:r>
              <a:rPr lang="en-US" dirty="0">
                <a:solidFill>
                  <a:prstClr val="black"/>
                </a:solidFill>
              </a:rPr>
              <a:t> al DBMS. I join </a:t>
            </a:r>
            <a:r>
              <a:rPr lang="en-US" dirty="0" err="1">
                <a:solidFill>
                  <a:prstClr val="black"/>
                </a:solidFill>
              </a:rPr>
              <a:t>vengono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quindi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effettuati</a:t>
            </a:r>
            <a:r>
              <a:rPr lang="en-US" dirty="0">
                <a:solidFill>
                  <a:prstClr val="black"/>
                </a:solidFill>
              </a:rPr>
              <a:t>, ma </a:t>
            </a:r>
            <a:r>
              <a:rPr lang="en-US" dirty="0" err="1">
                <a:solidFill>
                  <a:prstClr val="black"/>
                </a:solidFill>
              </a:rPr>
              <a:t>sintatticamente</a:t>
            </a:r>
            <a:r>
              <a:rPr lang="en-US" dirty="0">
                <a:solidFill>
                  <a:prstClr val="black"/>
                </a:solidFill>
              </a:rPr>
              <a:t> li </a:t>
            </a:r>
            <a:r>
              <a:rPr lang="en-US" dirty="0" err="1">
                <a:solidFill>
                  <a:prstClr val="black"/>
                </a:solidFill>
              </a:rPr>
              <a:t>eprimiamo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attraverso</a:t>
            </a:r>
            <a:r>
              <a:rPr lang="en-US" dirty="0">
                <a:solidFill>
                  <a:prstClr val="black"/>
                </a:solidFill>
              </a:rPr>
              <a:t> la </a:t>
            </a:r>
            <a:r>
              <a:rPr lang="en-US" dirty="0" err="1">
                <a:solidFill>
                  <a:prstClr val="black"/>
                </a:solidFill>
              </a:rPr>
              <a:t>navigazione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dei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riferimenti</a:t>
            </a:r>
            <a:endParaRPr lang="en-US" dirty="0">
              <a:solidFill>
                <a:prstClr val="black"/>
              </a:solidFill>
            </a:endParaRPr>
          </a:p>
          <a:p>
            <a:endParaRPr lang="en-US" dirty="0">
              <a:solidFill>
                <a:prstClr val="black"/>
              </a:solidFill>
            </a:endParaRPr>
          </a:p>
          <a:p>
            <a:pPr marL="0" indent="0">
              <a:buNone/>
            </a:pPr>
            <a:r>
              <a:rPr lang="en-US" sz="2400" dirty="0"/>
              <a:t>	SELECT c</a:t>
            </a:r>
          </a:p>
          <a:p>
            <a:pPr marL="0" indent="0">
              <a:buNone/>
            </a:pPr>
            <a:r>
              <a:rPr lang="en-US" sz="2400" dirty="0"/>
              <a:t>	FROM Customer c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</a:rPr>
              <a:t>	WHERE </a:t>
            </a:r>
            <a:r>
              <a:rPr lang="en-US" sz="2400" dirty="0" err="1">
                <a:solidFill>
                  <a:prstClr val="black"/>
                </a:solidFill>
              </a:rPr>
              <a:t>c.firstName</a:t>
            </a:r>
            <a:r>
              <a:rPr lang="en-US" sz="2400" dirty="0">
                <a:solidFill>
                  <a:prstClr val="black"/>
                </a:solidFill>
              </a:rPr>
              <a:t>='Antonio' AND </a:t>
            </a:r>
            <a:r>
              <a:rPr lang="en-US" sz="2400" dirty="0" err="1">
                <a:solidFill>
                  <a:prstClr val="black"/>
                </a:solidFill>
              </a:rPr>
              <a:t>c.address.city</a:t>
            </a:r>
            <a:r>
              <a:rPr lang="en-US" sz="2400" dirty="0">
                <a:solidFill>
                  <a:prstClr val="black"/>
                </a:solidFill>
              </a:rPr>
              <a:t>='Roma'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umetto 1 4">
            <a:extLst>
              <a:ext uri="{FF2B5EF4-FFF2-40B4-BE49-F238E27FC236}">
                <a16:creationId xmlns:a16="http://schemas.microsoft.com/office/drawing/2014/main" id="{71B47CF7-CED3-1F49-9B12-2E46549BE720}"/>
              </a:ext>
            </a:extLst>
          </p:cNvPr>
          <p:cNvSpPr/>
          <p:nvPr/>
        </p:nvSpPr>
        <p:spPr>
          <a:xfrm>
            <a:off x="5775293" y="4713513"/>
            <a:ext cx="3200399" cy="544287"/>
          </a:xfrm>
          <a:prstGeom prst="wedgeRectCallout">
            <a:avLst>
              <a:gd name="adj1" fmla="val -28219"/>
              <a:gd name="adj2" fmla="val 131086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n-US" sz="1400" dirty="0">
              <a:solidFill>
                <a:prstClr val="black"/>
              </a:solidFill>
              <a:latin typeface="Calibri Light" panose="020F0302020204030204" pitchFamily="34" charset="0"/>
            </a:endParaRPr>
          </a:p>
          <a:p>
            <a:pPr algn="ctr" defTabSz="609585"/>
            <a:r>
              <a:rPr lang="en-US" sz="14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Questo</a:t>
            </a:r>
            <a:r>
              <a:rPr lang="en-US" sz="1400" dirty="0">
                <a:solidFill>
                  <a:prstClr val="black"/>
                </a:solidFill>
                <a:latin typeface="Calibri Light" panose="020F0302020204030204" pitchFamily="34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si</a:t>
            </a:r>
            <a:r>
              <a:rPr lang="en-US" sz="1400" dirty="0">
                <a:solidFill>
                  <a:prstClr val="black"/>
                </a:solidFill>
                <a:latin typeface="Calibri Light" panose="020F0302020204030204" pitchFamily="34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tradurrà</a:t>
            </a:r>
            <a:r>
              <a:rPr lang="en-US" sz="1400" dirty="0">
                <a:solidFill>
                  <a:prstClr val="black"/>
                </a:solidFill>
                <a:latin typeface="Calibri Light" panose="020F0302020204030204" pitchFamily="34" charset="0"/>
              </a:rPr>
              <a:t> in un </a:t>
            </a:r>
            <a:r>
              <a:rPr lang="en-US" sz="14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jon</a:t>
            </a:r>
            <a:r>
              <a:rPr lang="en-US" sz="1400" dirty="0">
                <a:solidFill>
                  <a:prstClr val="black"/>
                </a:solidFill>
                <a:latin typeface="Calibri Light" panose="020F0302020204030204" pitchFamily="34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tra</a:t>
            </a:r>
            <a:r>
              <a:rPr lang="en-US" sz="1400" dirty="0">
                <a:solidFill>
                  <a:prstClr val="black"/>
                </a:solidFill>
                <a:latin typeface="Calibri Light" panose="020F0302020204030204" pitchFamily="34" charset="0"/>
              </a:rPr>
              <a:t> la </a:t>
            </a:r>
            <a:r>
              <a:rPr lang="en-US" sz="14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tabella</a:t>
            </a:r>
            <a:r>
              <a:rPr lang="en-US" sz="1400" dirty="0">
                <a:solidFill>
                  <a:prstClr val="black"/>
                </a:solidFill>
                <a:latin typeface="Calibri Light" panose="020F0302020204030204" pitchFamily="34" charset="0"/>
              </a:rPr>
              <a:t> Customer e la </a:t>
            </a:r>
            <a:r>
              <a:rPr lang="en-US" sz="14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tabella</a:t>
            </a:r>
            <a:r>
              <a:rPr lang="en-US" sz="1400" dirty="0">
                <a:solidFill>
                  <a:prstClr val="black"/>
                </a:solidFill>
                <a:latin typeface="Calibri Light" panose="020F0302020204030204" pitchFamily="34" charset="0"/>
              </a:rPr>
              <a:t> Address</a:t>
            </a:r>
          </a:p>
          <a:p>
            <a:pPr algn="ctr" defTabSz="609585"/>
            <a:endParaRPr lang="en-US" sz="1200" dirty="0">
              <a:solidFill>
                <a:prstClr val="white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473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JPQL: DELETE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Sintassi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DELETE FROM &lt;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&gt; [[AS] alias]</a:t>
            </a:r>
          </a:p>
          <a:p>
            <a:pPr marL="0" indent="0">
              <a:buNone/>
            </a:pPr>
            <a:r>
              <a:rPr lang="en-US" dirty="0"/>
              <a:t>	[WHERE &lt;</a:t>
            </a:r>
            <a:r>
              <a:rPr lang="en-US" dirty="0" err="1"/>
              <a:t>espressione</a:t>
            </a:r>
            <a:r>
              <a:rPr lang="en-US" dirty="0"/>
              <a:t> </a:t>
            </a:r>
            <a:r>
              <a:rPr lang="en-US" dirty="0" err="1"/>
              <a:t>condizionale</a:t>
            </a:r>
            <a:r>
              <a:rPr lang="en-US" dirty="0"/>
              <a:t>&gt;]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* Le </a:t>
            </a:r>
            <a:r>
              <a:rPr lang="en-US" dirty="0" err="1">
                <a:highlight>
                  <a:srgbClr val="FFFF00"/>
                </a:highlight>
              </a:rPr>
              <a:t>operazioni</a:t>
            </a:r>
            <a:r>
              <a:rPr lang="en-US" dirty="0">
                <a:highlight>
                  <a:srgbClr val="FFFF00"/>
                </a:highlight>
              </a:rPr>
              <a:t> di delete </a:t>
            </a:r>
            <a:r>
              <a:rPr lang="en-US" dirty="0" err="1">
                <a:highlight>
                  <a:srgbClr val="FFFF00"/>
                </a:highlight>
              </a:rPr>
              <a:t>su</a:t>
            </a:r>
            <a:r>
              <a:rPr lang="en-US" dirty="0">
                <a:highlight>
                  <a:srgbClr val="FFFF00"/>
                </a:highlight>
              </a:rPr>
              <a:t> un </a:t>
            </a:r>
            <a:r>
              <a:rPr lang="en-US" b="1" dirty="0" err="1">
                <a:highlight>
                  <a:srgbClr val="FFFF00"/>
                </a:highlight>
              </a:rPr>
              <a:t>insieme</a:t>
            </a:r>
            <a:r>
              <a:rPr lang="en-US" b="1" dirty="0">
                <a:highlight>
                  <a:srgbClr val="FFFF00"/>
                </a:highlight>
              </a:rPr>
              <a:t> di </a:t>
            </a:r>
            <a:r>
              <a:rPr lang="en-US" b="1" dirty="0" err="1">
                <a:highlight>
                  <a:srgbClr val="FFFF00"/>
                </a:highlight>
              </a:rPr>
              <a:t>istanze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vanno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fatte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 err="1">
                <a:highlight>
                  <a:srgbClr val="FFFF00"/>
                </a:highlight>
              </a:rPr>
              <a:t>sempre</a:t>
            </a:r>
            <a:r>
              <a:rPr lang="en-US" dirty="0">
                <a:highlight>
                  <a:srgbClr val="FFFF00"/>
                </a:highlight>
              </a:rPr>
              <a:t> con una query JPQL. </a:t>
            </a:r>
            <a:r>
              <a:rPr lang="en-US" dirty="0" err="1">
                <a:highlight>
                  <a:srgbClr val="FFFF00"/>
                </a:highlight>
              </a:rPr>
              <a:t>Eliminare</a:t>
            </a:r>
            <a:r>
              <a:rPr lang="en-US" dirty="0">
                <a:highlight>
                  <a:srgbClr val="FFFF00"/>
                </a:highlight>
              </a:rPr>
              <a:t> un </a:t>
            </a:r>
            <a:r>
              <a:rPr lang="en-US" dirty="0" err="1">
                <a:highlight>
                  <a:srgbClr val="FFFF00"/>
                </a:highlight>
              </a:rPr>
              <a:t>insieme</a:t>
            </a:r>
            <a:r>
              <a:rPr lang="en-US" dirty="0">
                <a:highlight>
                  <a:srgbClr val="FFFF00"/>
                </a:highlight>
              </a:rPr>
              <a:t> di </a:t>
            </a:r>
            <a:r>
              <a:rPr lang="en-US" dirty="0" err="1">
                <a:highlight>
                  <a:srgbClr val="FFFF00"/>
                </a:highlight>
              </a:rPr>
              <a:t>istanze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una</a:t>
            </a:r>
            <a:r>
              <a:rPr lang="en-US" dirty="0">
                <a:highlight>
                  <a:srgbClr val="FFFF00"/>
                </a:highlight>
              </a:rPr>
              <a:t> per </a:t>
            </a:r>
            <a:r>
              <a:rPr lang="en-US" dirty="0" err="1">
                <a:highlight>
                  <a:srgbClr val="FFFF00"/>
                </a:highlight>
              </a:rPr>
              <a:t>una</a:t>
            </a:r>
            <a:r>
              <a:rPr lang="en-US" dirty="0">
                <a:highlight>
                  <a:srgbClr val="FFFF00"/>
                </a:highlight>
              </a:rPr>
              <a:t> (ad </a:t>
            </a:r>
            <a:r>
              <a:rPr lang="en-US" dirty="0" err="1">
                <a:highlight>
                  <a:srgbClr val="FFFF00"/>
                </a:highlight>
              </a:rPr>
              <a:t>esempio</a:t>
            </a:r>
            <a:r>
              <a:rPr lang="en-US" dirty="0">
                <a:highlight>
                  <a:srgbClr val="FFFF00"/>
                </a:highlight>
              </a:rPr>
              <a:t> con un </a:t>
            </a:r>
            <a:r>
              <a:rPr lang="en-US" dirty="0" err="1">
                <a:highlight>
                  <a:srgbClr val="FFFF00"/>
                </a:highlight>
              </a:rPr>
              <a:t>ciclo</a:t>
            </a:r>
            <a:r>
              <a:rPr lang="en-US" dirty="0">
                <a:highlight>
                  <a:srgbClr val="FFFF00"/>
                </a:highlight>
              </a:rPr>
              <a:t>) </a:t>
            </a:r>
            <a:r>
              <a:rPr lang="en-US" dirty="0" err="1">
                <a:highlight>
                  <a:srgbClr val="FFFF00"/>
                </a:highlight>
              </a:rPr>
              <a:t>è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molto </a:t>
            </a:r>
            <a:r>
              <a:rPr lang="en-US" b="1" dirty="0" err="1">
                <a:highlight>
                  <a:srgbClr val="FFFF00"/>
                </a:highlight>
              </a:rPr>
              <a:t>inefficiente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58158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JPQL: DELETE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Esempio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	DELETE FROM Customer c</a:t>
            </a:r>
          </a:p>
          <a:p>
            <a:pPr marL="0" indent="0">
              <a:buNone/>
            </a:pPr>
            <a:r>
              <a:rPr lang="en-US"/>
              <a:t>	WHERE </a:t>
            </a:r>
            <a:r>
              <a:rPr lang="en-US" err="1"/>
              <a:t>c.address.city</a:t>
            </a:r>
            <a:r>
              <a:rPr lang="en-US"/>
              <a:t> = '</a:t>
            </a:r>
            <a:r>
              <a:rPr lang="en-US" err="1"/>
              <a:t>Genova</a:t>
            </a:r>
            <a:r>
              <a:rPr lang="en-US"/>
              <a:t>'</a:t>
            </a:r>
          </a:p>
        </p:txBody>
      </p:sp>
    </p:spTree>
    <p:extLst>
      <p:ext uri="{BB962C8B-B14F-4D97-AF65-F5344CB8AC3E}">
        <p14:creationId xmlns:p14="http://schemas.microsoft.com/office/powerpoint/2010/main" val="304827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JPQL: UPDATE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Analogamente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possibile</a:t>
            </a:r>
            <a:r>
              <a:rPr lang="en-US" dirty="0"/>
              <a:t> fare aggiornamenti con </a:t>
            </a:r>
            <a:r>
              <a:rPr lang="en-US" dirty="0" err="1"/>
              <a:t>l'istruzione</a:t>
            </a:r>
            <a:r>
              <a:rPr lang="en-US" dirty="0"/>
              <a:t> JPQL UPDATE</a:t>
            </a:r>
          </a:p>
          <a:p>
            <a:r>
              <a:rPr lang="en-US" dirty="0" err="1"/>
              <a:t>Sintassi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UPDATE &lt;</a:t>
            </a:r>
            <a:r>
              <a:rPr lang="en-US" dirty="0" err="1"/>
              <a:t>nome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&gt; [[AS] alias]</a:t>
            </a:r>
          </a:p>
          <a:p>
            <a:pPr marL="0" indent="0">
              <a:buNone/>
            </a:pPr>
            <a:r>
              <a:rPr lang="en-US" dirty="0"/>
              <a:t>	SET &lt;update&gt; {,&lt;update&gt;}		</a:t>
            </a:r>
          </a:p>
          <a:p>
            <a:pPr marL="0" indent="0">
              <a:buNone/>
            </a:pPr>
            <a:r>
              <a:rPr lang="en-US" dirty="0"/>
              <a:t>	[WHERE &lt;</a:t>
            </a:r>
            <a:r>
              <a:rPr lang="en-US" dirty="0" err="1"/>
              <a:t>espressione</a:t>
            </a:r>
            <a:r>
              <a:rPr lang="en-US" dirty="0"/>
              <a:t> </a:t>
            </a:r>
            <a:r>
              <a:rPr lang="en-US" dirty="0" err="1"/>
              <a:t>condizionale</a:t>
            </a:r>
            <a:r>
              <a:rPr lang="en-US" dirty="0"/>
              <a:t>&gt;]</a:t>
            </a:r>
          </a:p>
          <a:p>
            <a:r>
              <a:rPr lang="en-US" dirty="0" err="1"/>
              <a:t>Esempio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UPDATE Product p</a:t>
            </a:r>
          </a:p>
          <a:p>
            <a:pPr marL="0" indent="0">
              <a:buNone/>
            </a:pPr>
            <a:r>
              <a:rPr lang="en-US" dirty="0"/>
              <a:t>	SET </a:t>
            </a:r>
            <a:r>
              <a:rPr lang="en-US" dirty="0" err="1"/>
              <a:t>p.price</a:t>
            </a:r>
            <a:r>
              <a:rPr lang="en-US" dirty="0"/>
              <a:t> = </a:t>
            </a:r>
            <a:r>
              <a:rPr lang="en-US" dirty="0" err="1"/>
              <a:t>p.price</a:t>
            </a:r>
            <a:r>
              <a:rPr lang="en-US" dirty="0"/>
              <a:t> - 1</a:t>
            </a:r>
          </a:p>
          <a:p>
            <a:pPr marL="0" indent="0">
              <a:buNone/>
            </a:pPr>
            <a:r>
              <a:rPr lang="en-US" dirty="0"/>
              <a:t>	WHERE </a:t>
            </a:r>
            <a:r>
              <a:rPr lang="en-US" dirty="0" err="1"/>
              <a:t>p.price</a:t>
            </a:r>
            <a:r>
              <a:rPr lang="en-US" dirty="0"/>
              <a:t> &gt; 30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dirty="0" err="1">
                <a:highlight>
                  <a:srgbClr val="FFFF00"/>
                </a:highlight>
              </a:rPr>
              <a:t>Anche</a:t>
            </a:r>
            <a:r>
              <a:rPr lang="en-US" dirty="0">
                <a:highlight>
                  <a:srgbClr val="FFFF00"/>
                </a:highlight>
              </a:rPr>
              <a:t> in </a:t>
            </a:r>
            <a:r>
              <a:rPr lang="en-US" dirty="0" err="1">
                <a:highlight>
                  <a:srgbClr val="FFFF00"/>
                </a:highlight>
              </a:rPr>
              <a:t>questo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caso</a:t>
            </a:r>
            <a:r>
              <a:rPr lang="en-US" dirty="0">
                <a:highlight>
                  <a:srgbClr val="FFFF00"/>
                </a:highlight>
              </a:rPr>
              <a:t>, </a:t>
            </a:r>
            <a:r>
              <a:rPr lang="en-US" dirty="0" err="1">
                <a:highlight>
                  <a:srgbClr val="FFFF00"/>
                </a:highlight>
              </a:rPr>
              <a:t>operazioni</a:t>
            </a:r>
            <a:r>
              <a:rPr lang="en-US" dirty="0">
                <a:highlight>
                  <a:srgbClr val="FFFF00"/>
                </a:highlight>
              </a:rPr>
              <a:t> di update </a:t>
            </a:r>
            <a:r>
              <a:rPr lang="en-US" dirty="0" err="1">
                <a:highlight>
                  <a:srgbClr val="FFFF00"/>
                </a:highlight>
              </a:rPr>
              <a:t>su</a:t>
            </a:r>
            <a:r>
              <a:rPr lang="en-US" dirty="0">
                <a:highlight>
                  <a:srgbClr val="FFFF00"/>
                </a:highlight>
              </a:rPr>
              <a:t> un </a:t>
            </a:r>
            <a:r>
              <a:rPr lang="en-US" b="1" dirty="0" err="1">
                <a:highlight>
                  <a:srgbClr val="FFFF00"/>
                </a:highlight>
              </a:rPr>
              <a:t>insieme</a:t>
            </a:r>
            <a:r>
              <a:rPr lang="en-US" b="1" dirty="0">
                <a:highlight>
                  <a:srgbClr val="FFFF00"/>
                </a:highlight>
              </a:rPr>
              <a:t> di </a:t>
            </a:r>
            <a:r>
              <a:rPr lang="en-US" b="1" dirty="0" err="1">
                <a:highlight>
                  <a:srgbClr val="FFFF00"/>
                </a:highlight>
              </a:rPr>
              <a:t>istanze</a:t>
            </a:r>
            <a:r>
              <a:rPr lang="en-US" b="1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vanno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fatte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 err="1">
                <a:highlight>
                  <a:srgbClr val="FFFF00"/>
                </a:highlight>
              </a:rPr>
              <a:t>sempre</a:t>
            </a:r>
            <a:r>
              <a:rPr lang="en-US" dirty="0">
                <a:highlight>
                  <a:srgbClr val="FFFF00"/>
                </a:highlight>
              </a:rPr>
              <a:t> con una query JPQL. </a:t>
            </a:r>
            <a:r>
              <a:rPr lang="en-US" dirty="0" err="1">
                <a:highlight>
                  <a:srgbClr val="FFFF00"/>
                </a:highlight>
              </a:rPr>
              <a:t>Aggiornare</a:t>
            </a:r>
            <a:r>
              <a:rPr lang="en-US" dirty="0">
                <a:highlight>
                  <a:srgbClr val="FFFF00"/>
                </a:highlight>
              </a:rPr>
              <a:t> un </a:t>
            </a:r>
            <a:r>
              <a:rPr lang="en-US" dirty="0" err="1">
                <a:highlight>
                  <a:srgbClr val="FFFF00"/>
                </a:highlight>
              </a:rPr>
              <a:t>insieme</a:t>
            </a:r>
            <a:r>
              <a:rPr lang="en-US" dirty="0">
                <a:highlight>
                  <a:srgbClr val="FFFF00"/>
                </a:highlight>
              </a:rPr>
              <a:t> di </a:t>
            </a:r>
            <a:r>
              <a:rPr lang="en-US" dirty="0" err="1">
                <a:highlight>
                  <a:srgbClr val="FFFF00"/>
                </a:highlight>
              </a:rPr>
              <a:t>istanze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una</a:t>
            </a:r>
            <a:r>
              <a:rPr lang="en-US" dirty="0">
                <a:highlight>
                  <a:srgbClr val="FFFF00"/>
                </a:highlight>
              </a:rPr>
              <a:t> per </a:t>
            </a:r>
            <a:r>
              <a:rPr lang="en-US" dirty="0" err="1">
                <a:highlight>
                  <a:srgbClr val="FFFF00"/>
                </a:highlight>
              </a:rPr>
              <a:t>una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 err="1">
                <a:highlight>
                  <a:srgbClr val="FFFF00"/>
                </a:highlight>
              </a:rPr>
              <a:t>è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b="1" dirty="0">
                <a:highlight>
                  <a:srgbClr val="FFFF00"/>
                </a:highlight>
              </a:rPr>
              <a:t>molto </a:t>
            </a:r>
            <a:r>
              <a:rPr lang="en-US" b="1" dirty="0" err="1">
                <a:highlight>
                  <a:srgbClr val="FFFF00"/>
                </a:highlight>
              </a:rPr>
              <a:t>inefficiente</a:t>
            </a: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271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JPQL: </a:t>
            </a:r>
            <a:r>
              <a:rPr lang="en-US" dirty="0" err="1"/>
              <a:t>Tipologie</a:t>
            </a:r>
            <a:r>
              <a:rPr lang="en-US" dirty="0"/>
              <a:t> di query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Queries: </a:t>
            </a:r>
            <a:r>
              <a:rPr lang="en-US" dirty="0" err="1"/>
              <a:t>specificate</a:t>
            </a:r>
            <a:r>
              <a:rPr lang="en-US" dirty="0"/>
              <a:t> runtime</a:t>
            </a:r>
          </a:p>
          <a:p>
            <a:r>
              <a:rPr lang="en-US" dirty="0"/>
              <a:t>Named Queries: </a:t>
            </a:r>
            <a:r>
              <a:rPr lang="en-US" dirty="0" err="1"/>
              <a:t>statiche</a:t>
            </a:r>
            <a:r>
              <a:rPr lang="en-US" dirty="0"/>
              <a:t> e </a:t>
            </a:r>
            <a:r>
              <a:rPr lang="en-US" dirty="0" err="1"/>
              <a:t>immutabili</a:t>
            </a:r>
            <a:r>
              <a:rPr lang="en-US" dirty="0"/>
              <a:t>, </a:t>
            </a:r>
            <a:r>
              <a:rPr lang="en-US" dirty="0" err="1"/>
              <a:t>sono</a:t>
            </a:r>
            <a:r>
              <a:rPr lang="en-US" dirty="0"/>
              <a:t> definite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(</a:t>
            </a:r>
            <a:r>
              <a:rPr lang="en-US" dirty="0" err="1"/>
              <a:t>vedi</a:t>
            </a:r>
            <a:r>
              <a:rPr lang="en-US" dirty="0"/>
              <a:t> </a:t>
            </a:r>
            <a:r>
              <a:rPr lang="en-US" dirty="0" err="1"/>
              <a:t>prox</a:t>
            </a:r>
            <a:r>
              <a:rPr lang="en-US" dirty="0"/>
              <a:t> slide)</a:t>
            </a:r>
          </a:p>
          <a:p>
            <a:r>
              <a:rPr lang="en-US" dirty="0"/>
              <a:t>Native Queries: query SQL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006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Queries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Sono</a:t>
            </a:r>
            <a:r>
              <a:rPr lang="en-US" dirty="0"/>
              <a:t> definite in </a:t>
            </a:r>
            <a:r>
              <a:rPr lang="en-US" dirty="0" err="1"/>
              <a:t>maniera</a:t>
            </a:r>
            <a:r>
              <a:rPr lang="en-US" dirty="0"/>
              <a:t> </a:t>
            </a:r>
            <a:r>
              <a:rPr lang="en-US" dirty="0" err="1"/>
              <a:t>statica</a:t>
            </a:r>
            <a:r>
              <a:rPr lang="en-US" dirty="0"/>
              <a:t> e </a:t>
            </a:r>
            <a:r>
              <a:rPr lang="en-US" dirty="0" err="1"/>
              <a:t>immutabile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a cui </a:t>
            </a:r>
            <a:r>
              <a:rPr lang="en-US" dirty="0" err="1"/>
              <a:t>fanno</a:t>
            </a:r>
            <a:r>
              <a:rPr lang="en-US" dirty="0"/>
              <a:t> </a:t>
            </a:r>
            <a:r>
              <a:rPr lang="en-US" dirty="0" err="1"/>
              <a:t>riferimento</a:t>
            </a:r>
            <a:endParaRPr lang="en-US" dirty="0"/>
          </a:p>
          <a:p>
            <a:pPr lvl="1"/>
            <a:r>
              <a:rPr lang="en-US" dirty="0"/>
              <a:t>Prima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definizione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classe</a:t>
            </a:r>
            <a:endParaRPr lang="en-US" dirty="0"/>
          </a:p>
          <a:p>
            <a:pPr lvl="1"/>
            <a:r>
              <a:rPr lang="en-US" dirty="0" err="1"/>
              <a:t>Tramite</a:t>
            </a:r>
            <a:r>
              <a:rPr lang="en-US" dirty="0"/>
              <a:t> </a:t>
            </a:r>
            <a:r>
              <a:rPr lang="en-US" dirty="0" err="1"/>
              <a:t>l'annotazione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NamedQuery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i="1" dirty="0" err="1"/>
              <a:t>nome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", query="</a:t>
            </a:r>
            <a:r>
              <a:rPr lang="en-US" i="1" dirty="0" err="1"/>
              <a:t>jpql</a:t>
            </a:r>
            <a:r>
              <a:rPr lang="en-US" i="1" dirty="0"/>
              <a:t> query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query di </a:t>
            </a:r>
            <a:r>
              <a:rPr lang="en-US" dirty="0" err="1"/>
              <a:t>interrogazione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query di aggiornamento (update o delete)</a:t>
            </a:r>
          </a:p>
          <a:p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parametriche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255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Queries: </a:t>
            </a:r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/>
              <a:t>package it.uniroma3.siw.model;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+import </a:t>
            </a:r>
            <a:r>
              <a:rPr lang="en-US" sz="1800" dirty="0" err="1"/>
              <a:t>javax.persistence.Entity</a:t>
            </a:r>
            <a:r>
              <a:rPr lang="en-US" sz="1800" dirty="0"/>
              <a:t>;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@Entity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@</a:t>
            </a:r>
            <a:r>
              <a:rPr lang="en-US" sz="1800" dirty="0" err="1">
                <a:highlight>
                  <a:srgbClr val="FFFF00"/>
                </a:highlight>
              </a:rPr>
              <a:t>NamedQuery</a:t>
            </a:r>
            <a:r>
              <a:rPr lang="en-US" sz="1800" dirty="0">
                <a:highlight>
                  <a:srgbClr val="FFFF00"/>
                </a:highlight>
              </a:rPr>
              <a:t>(name = "</a:t>
            </a:r>
            <a:r>
              <a:rPr lang="en-US" sz="1800" dirty="0" err="1">
                <a:highlight>
                  <a:srgbClr val="FFFF00"/>
                </a:highlight>
              </a:rPr>
              <a:t>Product.findAllProducts</a:t>
            </a:r>
            <a:r>
              <a:rPr lang="en-US" sz="1800" dirty="0">
                <a:highlight>
                  <a:srgbClr val="FFFF00"/>
                </a:highlight>
              </a:rPr>
              <a:t>", query = "SELECT p FROM Product p")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FFFF00"/>
                </a:highlight>
              </a:rPr>
              <a:t>@</a:t>
            </a:r>
            <a:r>
              <a:rPr lang="en-US" sz="1800" dirty="0" err="1">
                <a:highlight>
                  <a:srgbClr val="FFFF00"/>
                </a:highlight>
              </a:rPr>
              <a:t>NamedQuery</a:t>
            </a:r>
            <a:r>
              <a:rPr lang="en-US" sz="1800" dirty="0">
                <a:highlight>
                  <a:srgbClr val="FFFF00"/>
                </a:highlight>
              </a:rPr>
              <a:t>(name = " </a:t>
            </a:r>
            <a:r>
              <a:rPr lang="en-US" sz="1800" dirty="0" err="1">
                <a:highlight>
                  <a:srgbClr val="FFFF00"/>
                </a:highlight>
              </a:rPr>
              <a:t>Product.deleteAllProducts</a:t>
            </a:r>
            <a:r>
              <a:rPr lang="en-US" sz="1800" dirty="0">
                <a:highlight>
                  <a:srgbClr val="FFFF00"/>
                </a:highlight>
              </a:rPr>
              <a:t>", query = "DELETE Product p")</a:t>
            </a:r>
          </a:p>
          <a:p>
            <a:pPr marL="0" indent="0">
              <a:buNone/>
            </a:pPr>
            <a:r>
              <a:rPr lang="en-US" sz="1800" dirty="0"/>
              <a:t>public class Product {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@Id</a:t>
            </a:r>
          </a:p>
          <a:p>
            <a:pPr marL="0" indent="0">
              <a:buNone/>
            </a:pPr>
            <a:r>
              <a:rPr lang="en-US" sz="1800" dirty="0"/>
              <a:t>    @</a:t>
            </a:r>
            <a:r>
              <a:rPr lang="en-US" sz="1800" dirty="0" err="1"/>
              <a:t>GeneratedValue</a:t>
            </a:r>
            <a:r>
              <a:rPr lang="en-US" sz="1800" dirty="0"/>
              <a:t>(strategy = </a:t>
            </a:r>
            <a:r>
              <a:rPr lang="en-US" sz="1800" dirty="0" err="1"/>
              <a:t>GenerationType.AUTO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    private Long id;</a:t>
            </a:r>
          </a:p>
          <a:p>
            <a:pPr marL="0" indent="0">
              <a:buNone/>
            </a:pPr>
            <a:r>
              <a:rPr lang="en-US" sz="1800" dirty="0"/>
              <a:t>    …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…. </a:t>
            </a:r>
          </a:p>
        </p:txBody>
      </p:sp>
    </p:spTree>
    <p:extLst>
      <p:ext uri="{BB962C8B-B14F-4D97-AF65-F5344CB8AC3E}">
        <p14:creationId xmlns:p14="http://schemas.microsoft.com/office/powerpoint/2010/main" val="179701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01EB2B-3E48-AA42-A43B-01F3E0CE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JPQL: query </a:t>
            </a:r>
            <a:r>
              <a:rPr lang="en-US" dirty="0" err="1"/>
              <a:t>parametriche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5E0838-CFA5-A84A-9064-18FA0059B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JPQL </a:t>
            </a:r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definire</a:t>
            </a:r>
            <a:r>
              <a:rPr lang="en-US" dirty="0"/>
              <a:t> le query in modo </a:t>
            </a:r>
            <a:r>
              <a:rPr lang="en-US" dirty="0" err="1"/>
              <a:t>parametrico</a:t>
            </a:r>
            <a:r>
              <a:rPr lang="en-US" dirty="0"/>
              <a:t>, con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valore</a:t>
            </a:r>
            <a:r>
              <a:rPr lang="en-US" dirty="0"/>
              <a:t> del </a:t>
            </a:r>
            <a:r>
              <a:rPr lang="en-US" dirty="0" err="1"/>
              <a:t>parametri</a:t>
            </a:r>
            <a:r>
              <a:rPr lang="en-US" dirty="0"/>
              <a:t> </a:t>
            </a:r>
            <a:r>
              <a:rPr lang="en-US" dirty="0" err="1"/>
              <a:t>definito</a:t>
            </a:r>
            <a:r>
              <a:rPr lang="en-US" dirty="0"/>
              <a:t> </a:t>
            </a:r>
            <a:r>
              <a:rPr lang="en-US" dirty="0" err="1"/>
              <a:t>dinamicamente</a:t>
            </a:r>
            <a:endParaRPr lang="en-US" dirty="0"/>
          </a:p>
          <a:p>
            <a:pPr lvl="1"/>
            <a:r>
              <a:rPr lang="en-US" dirty="0" err="1"/>
              <a:t>Supponiamo</a:t>
            </a:r>
            <a:r>
              <a:rPr lang="en-US" dirty="0"/>
              <a:t> ad </a:t>
            </a:r>
            <a:r>
              <a:rPr lang="en-US" dirty="0" err="1"/>
              <a:t>esempio</a:t>
            </a:r>
            <a:r>
              <a:rPr lang="en-US" dirty="0"/>
              <a:t> di dover </a:t>
            </a:r>
            <a:r>
              <a:rPr lang="en-US" dirty="0" err="1"/>
              <a:t>definire</a:t>
            </a:r>
            <a:r>
              <a:rPr lang="en-US" dirty="0"/>
              <a:t> un </a:t>
            </a:r>
            <a:r>
              <a:rPr lang="en-US" dirty="0" err="1"/>
              <a:t>metodo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restituisce</a:t>
            </a:r>
            <a:r>
              <a:rPr lang="en-US" dirty="0"/>
              <a:t> la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di una </a:t>
            </a:r>
            <a:r>
              <a:rPr lang="en-US" dirty="0" err="1"/>
              <a:t>città</a:t>
            </a:r>
            <a:r>
              <a:rPr lang="en-US" dirty="0"/>
              <a:t>, con la </a:t>
            </a:r>
            <a:r>
              <a:rPr lang="en-US" dirty="0" err="1"/>
              <a:t>città</a:t>
            </a:r>
            <a:r>
              <a:rPr lang="en-US" dirty="0"/>
              <a:t> passata come </a:t>
            </a:r>
            <a:r>
              <a:rPr lang="en-US" dirty="0" err="1"/>
              <a:t>parametro</a:t>
            </a:r>
            <a:r>
              <a:rPr lang="en-US" dirty="0"/>
              <a:t>. </a:t>
            </a:r>
            <a:r>
              <a:rPr lang="en-US" dirty="0" err="1"/>
              <a:t>Dovremmo</a:t>
            </a:r>
            <a:r>
              <a:rPr lang="en-US" dirty="0"/>
              <a:t> </a:t>
            </a:r>
            <a:r>
              <a:rPr lang="en-US" dirty="0" err="1"/>
              <a:t>scrivere</a:t>
            </a:r>
            <a:r>
              <a:rPr lang="en-US" dirty="0"/>
              <a:t> una query in cui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città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parametrico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069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01EB2B-3E48-AA42-A43B-01F3E0CE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JPQL: query </a:t>
            </a:r>
            <a:r>
              <a:rPr lang="en-US" dirty="0" err="1"/>
              <a:t>parametriche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5E0838-CFA5-A84A-9064-18FA0059B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</a:t>
            </a:r>
            <a:r>
              <a:rPr lang="en-US" dirty="0" err="1"/>
              <a:t>parametri</a:t>
            </a:r>
            <a:r>
              <a:rPr lang="en-US" dirty="0"/>
              <a:t> </a:t>
            </a:r>
            <a:r>
              <a:rPr lang="en-US" dirty="0" err="1"/>
              <a:t>vanno</a:t>
            </a:r>
            <a:r>
              <a:rPr lang="en-US" dirty="0"/>
              <a:t> </a:t>
            </a:r>
            <a:r>
              <a:rPr lang="en-US" dirty="0" err="1"/>
              <a:t>indicati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query e </a:t>
            </a:r>
            <a:r>
              <a:rPr lang="en-US" dirty="0" err="1"/>
              <a:t>successivamente</a:t>
            </a:r>
            <a:r>
              <a:rPr lang="en-US" dirty="0"/>
              <a:t> </a:t>
            </a:r>
            <a:r>
              <a:rPr lang="en-US" dirty="0" err="1"/>
              <a:t>istanziati</a:t>
            </a:r>
            <a:endParaRPr lang="en-US" dirty="0"/>
          </a:p>
          <a:p>
            <a:r>
              <a:rPr lang="en-US" dirty="0"/>
              <a:t>In una JPQL query (named o dynamic)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 </a:t>
            </a:r>
            <a:r>
              <a:rPr lang="en-US" dirty="0" err="1"/>
              <a:t>vanno</a:t>
            </a:r>
            <a:r>
              <a:rPr lang="en-US" dirty="0"/>
              <a:t> </a:t>
            </a:r>
            <a:r>
              <a:rPr lang="en-US" dirty="0" err="1"/>
              <a:t>indicati</a:t>
            </a:r>
            <a:r>
              <a:rPr lang="en-US" dirty="0"/>
              <a:t> con un </a:t>
            </a:r>
            <a:r>
              <a:rPr lang="en-US" dirty="0" err="1"/>
              <a:t>identificatore</a:t>
            </a:r>
            <a:r>
              <a:rPr lang="en-US" dirty="0"/>
              <a:t> </a:t>
            </a:r>
            <a:r>
              <a:rPr lang="en-US" dirty="0" err="1"/>
              <a:t>preceduto</a:t>
            </a:r>
            <a:r>
              <a:rPr lang="en-US" dirty="0"/>
              <a:t> dal </a:t>
            </a:r>
            <a:r>
              <a:rPr lang="en-US" dirty="0" err="1"/>
              <a:t>simbolo</a:t>
            </a:r>
            <a:r>
              <a:rPr lang="en-US" dirty="0"/>
              <a:t> :</a:t>
            </a:r>
          </a:p>
          <a:p>
            <a:r>
              <a:rPr lang="en-US" dirty="0" err="1"/>
              <a:t>Esempio</a:t>
            </a:r>
            <a:r>
              <a:rPr lang="en-US" dirty="0"/>
              <a:t>: </a:t>
            </a:r>
            <a:br>
              <a:rPr lang="en-US" dirty="0"/>
            </a:br>
            <a:r>
              <a:rPr lang="it-IT" sz="2600" dirty="0">
                <a:solidFill>
                  <a:srgbClr val="FF0000"/>
                </a:solidFill>
              </a:rPr>
              <a:t>SELECT c FROM Customer c WHERE </a:t>
            </a:r>
            <a:r>
              <a:rPr lang="it-IT" sz="2600" dirty="0" err="1">
                <a:solidFill>
                  <a:srgbClr val="FF0000"/>
                </a:solidFill>
              </a:rPr>
              <a:t>c.firstName</a:t>
            </a:r>
            <a:r>
              <a:rPr lang="it-IT" sz="2600" dirty="0">
                <a:solidFill>
                  <a:srgbClr val="FF0000"/>
                </a:solidFill>
              </a:rPr>
              <a:t> = </a:t>
            </a:r>
            <a:r>
              <a:rPr lang="it-IT" sz="2600" dirty="0">
                <a:solidFill>
                  <a:srgbClr val="FF0000"/>
                </a:solidFill>
                <a:highlight>
                  <a:srgbClr val="FFFF00"/>
                </a:highlight>
              </a:rPr>
              <a:t>:name</a:t>
            </a:r>
            <a:endParaRPr lang="it-IT" sz="2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924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0CBC02-731E-C745-BB0F-FBBE6ABA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JPQL: group by, having, order by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E66983-43DB-2E46-AF3E-079B57238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 query con </a:t>
            </a:r>
            <a:r>
              <a:rPr lang="en-US" dirty="0" err="1"/>
              <a:t>aggregazioni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una </a:t>
            </a:r>
            <a:r>
              <a:rPr lang="en-US" dirty="0" err="1"/>
              <a:t>sintassi</a:t>
            </a:r>
            <a:r>
              <a:rPr lang="en-US" dirty="0"/>
              <a:t> ed una </a:t>
            </a:r>
            <a:r>
              <a:rPr lang="en-US" dirty="0" err="1"/>
              <a:t>semantica</a:t>
            </a:r>
            <a:r>
              <a:rPr lang="en-US" dirty="0"/>
              <a:t> </a:t>
            </a:r>
            <a:r>
              <a:rPr lang="en-US" dirty="0" err="1"/>
              <a:t>equivalente</a:t>
            </a:r>
            <a:r>
              <a:rPr lang="en-US" dirty="0"/>
              <a:t> a quelle in SQL</a:t>
            </a:r>
          </a:p>
          <a:p>
            <a:r>
              <a:rPr lang="en-US" dirty="0" err="1"/>
              <a:t>Attenzione</a:t>
            </a:r>
            <a:r>
              <a:rPr lang="en-US" dirty="0"/>
              <a:t>: se la nostra </a:t>
            </a:r>
            <a:r>
              <a:rPr lang="en-US" dirty="0" err="1"/>
              <a:t>applicazione</a:t>
            </a:r>
            <a:r>
              <a:rPr lang="en-US" dirty="0"/>
              <a:t> </a:t>
            </a:r>
            <a:r>
              <a:rPr lang="en-US" dirty="0" err="1"/>
              <a:t>prevede</a:t>
            </a:r>
            <a:r>
              <a:rPr lang="en-US" dirty="0"/>
              <a:t> </a:t>
            </a:r>
            <a:r>
              <a:rPr lang="en-US" dirty="0" err="1"/>
              <a:t>operazioni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aggregano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persistenti</a:t>
            </a:r>
            <a:r>
              <a:rPr lang="en-US" dirty="0"/>
              <a:t>, </a:t>
            </a:r>
            <a:r>
              <a:rPr lang="en-US" dirty="0" err="1"/>
              <a:t>bisogna</a:t>
            </a:r>
            <a:r>
              <a:rPr lang="en-US" dirty="0"/>
              <a:t> far </a:t>
            </a:r>
            <a:r>
              <a:rPr lang="en-US" dirty="0" err="1"/>
              <a:t>eseguire</a:t>
            </a:r>
            <a:r>
              <a:rPr lang="en-US" dirty="0"/>
              <a:t> le </a:t>
            </a:r>
            <a:r>
              <a:rPr lang="en-US" dirty="0" err="1"/>
              <a:t>aggregazioni</a:t>
            </a:r>
            <a:r>
              <a:rPr lang="en-US" dirty="0"/>
              <a:t> dal DBMS. </a:t>
            </a:r>
            <a:r>
              <a:rPr lang="en-US" dirty="0" err="1"/>
              <a:t>Sarebbe</a:t>
            </a:r>
            <a:r>
              <a:rPr lang="en-US" dirty="0"/>
              <a:t> molto </a:t>
            </a:r>
            <a:r>
              <a:rPr lang="en-US" dirty="0" err="1"/>
              <a:t>inefficiente</a:t>
            </a:r>
            <a:r>
              <a:rPr lang="en-US" dirty="0"/>
              <a:t> (e se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tanti, </a:t>
            </a:r>
            <a:r>
              <a:rPr lang="en-US" dirty="0" err="1"/>
              <a:t>impossibile</a:t>
            </a:r>
            <a:r>
              <a:rPr lang="en-US" dirty="0"/>
              <a:t>) </a:t>
            </a:r>
            <a:r>
              <a:rPr lang="en-US" dirty="0" err="1"/>
              <a:t>caricare</a:t>
            </a:r>
            <a:r>
              <a:rPr lang="en-US" dirty="0"/>
              <a:t> (ad </a:t>
            </a:r>
            <a:r>
              <a:rPr lang="en-US" dirty="0" err="1"/>
              <a:t>esempio</a:t>
            </a:r>
            <a:r>
              <a:rPr lang="en-US" dirty="0"/>
              <a:t> con una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findAll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) tutti </a:t>
            </a: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oggetti</a:t>
            </a:r>
            <a:r>
              <a:rPr lang="en-US" dirty="0"/>
              <a:t> in </a:t>
            </a:r>
            <a:r>
              <a:rPr lang="en-US" dirty="0" err="1"/>
              <a:t>memoria</a:t>
            </a:r>
            <a:r>
              <a:rPr lang="en-US" dirty="0"/>
              <a:t> e </a:t>
            </a:r>
            <a:r>
              <a:rPr lang="en-US" dirty="0" err="1"/>
              <a:t>effettuare</a:t>
            </a:r>
            <a:r>
              <a:rPr lang="en-US" dirty="0"/>
              <a:t> (in Java) le </a:t>
            </a:r>
            <a:r>
              <a:rPr lang="en-US" dirty="0" err="1"/>
              <a:t>operazioni</a:t>
            </a:r>
            <a:r>
              <a:rPr lang="en-US" dirty="0"/>
              <a:t> di </a:t>
            </a:r>
            <a:r>
              <a:rPr lang="en-US" dirty="0" err="1"/>
              <a:t>aggregazione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526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JPQL: SELECT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SELECT &lt;</a:t>
            </a:r>
            <a:r>
              <a:rPr lang="en-US" err="1"/>
              <a:t>espressione</a:t>
            </a:r>
            <a:r>
              <a:rPr lang="en-US"/>
              <a:t> select&gt;</a:t>
            </a:r>
          </a:p>
          <a:p>
            <a:pPr marL="0" indent="0">
              <a:buNone/>
            </a:pPr>
            <a:r>
              <a:rPr lang="en-US"/>
              <a:t>FROM &lt;</a:t>
            </a:r>
            <a:r>
              <a:rPr lang="en-US" err="1"/>
              <a:t>clausola</a:t>
            </a:r>
            <a:r>
              <a:rPr lang="en-US"/>
              <a:t> from&gt;</a:t>
            </a:r>
          </a:p>
          <a:p>
            <a:pPr marL="0" indent="0">
              <a:buNone/>
            </a:pPr>
            <a:r>
              <a:rPr lang="en-US"/>
              <a:t>[WHERE &lt;</a:t>
            </a:r>
            <a:r>
              <a:rPr lang="en-US" err="1"/>
              <a:t>espressione</a:t>
            </a:r>
            <a:r>
              <a:rPr lang="en-US"/>
              <a:t> </a:t>
            </a:r>
            <a:r>
              <a:rPr lang="en-US" err="1"/>
              <a:t>condizionale</a:t>
            </a:r>
            <a:r>
              <a:rPr lang="en-US"/>
              <a:t>&gt;]</a:t>
            </a:r>
          </a:p>
          <a:p>
            <a:pPr marL="0" indent="0">
              <a:buNone/>
            </a:pPr>
            <a:r>
              <a:rPr lang="en-US"/>
              <a:t>[ORDER BY &lt;</a:t>
            </a:r>
            <a:r>
              <a:rPr lang="en-US" err="1"/>
              <a:t>clausola</a:t>
            </a:r>
            <a:r>
              <a:rPr lang="en-US"/>
              <a:t> order by&gt;]</a:t>
            </a:r>
          </a:p>
          <a:p>
            <a:pPr marL="0" indent="0">
              <a:buNone/>
            </a:pPr>
            <a:r>
              <a:rPr lang="en-US"/>
              <a:t>[GROUP BY &lt;</a:t>
            </a:r>
            <a:r>
              <a:rPr lang="en-US" err="1"/>
              <a:t>clausola</a:t>
            </a:r>
            <a:r>
              <a:rPr lang="en-US"/>
              <a:t> group by&gt;]</a:t>
            </a:r>
          </a:p>
          <a:p>
            <a:pPr marL="0" indent="0">
              <a:buNone/>
            </a:pPr>
            <a:r>
              <a:rPr lang="en-US"/>
              <a:t>[HAVING &lt;</a:t>
            </a:r>
            <a:r>
              <a:rPr lang="en-US" err="1"/>
              <a:t>clausola</a:t>
            </a:r>
            <a:r>
              <a:rPr lang="en-US"/>
              <a:t> having&gt;]</a:t>
            </a:r>
          </a:p>
        </p:txBody>
      </p:sp>
    </p:spTree>
    <p:extLst>
      <p:ext uri="{BB962C8B-B14F-4D97-AF65-F5344CB8AC3E}">
        <p14:creationId xmlns:p14="http://schemas.microsoft.com/office/powerpoint/2010/main" val="2008703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166040-5FC3-D442-A9B7-47D1EAD14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Esempio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73A1CF-729E-AB49-A0D0-20977BA2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Supponiamo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nostra </a:t>
            </a:r>
            <a:r>
              <a:rPr lang="en-US" dirty="0" err="1"/>
              <a:t>applicazione</a:t>
            </a:r>
            <a:r>
              <a:rPr lang="en-US" dirty="0"/>
              <a:t> </a:t>
            </a:r>
            <a:r>
              <a:rPr lang="en-US" dirty="0" err="1"/>
              <a:t>abbia</a:t>
            </a:r>
            <a:r>
              <a:rPr lang="en-US" dirty="0"/>
              <a:t> </a:t>
            </a:r>
            <a:r>
              <a:rPr lang="en-US" dirty="0" err="1"/>
              <a:t>bisogno</a:t>
            </a:r>
            <a:r>
              <a:rPr lang="en-US" dirty="0"/>
              <a:t> di una </a:t>
            </a:r>
            <a:r>
              <a:rPr lang="en-US" dirty="0" err="1"/>
              <a:t>mappa</a:t>
            </a:r>
            <a:r>
              <a:rPr lang="en-US" dirty="0"/>
              <a:t> </a:t>
            </a:r>
            <a:r>
              <a:rPr lang="en-US" dirty="0" err="1"/>
              <a:t>costruita</a:t>
            </a:r>
            <a:r>
              <a:rPr lang="en-US" dirty="0"/>
              <a:t> con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 (</a:t>
            </a:r>
            <a:r>
              <a:rPr lang="en-US" dirty="0" err="1"/>
              <a:t>istanze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entità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Customer</a:t>
            </a:r>
            <a:r>
              <a:rPr lang="en-US" dirty="0"/>
              <a:t>) </a:t>
            </a:r>
            <a:r>
              <a:rPr lang="en-US" dirty="0" err="1"/>
              <a:t>nel</a:t>
            </a:r>
            <a:r>
              <a:rPr lang="en-US" dirty="0"/>
              <a:t> database. La </a:t>
            </a:r>
            <a:r>
              <a:rPr lang="en-US" dirty="0" err="1"/>
              <a:t>mappa</a:t>
            </a:r>
            <a:r>
              <a:rPr lang="en-US" dirty="0"/>
              <a:t> </a:t>
            </a:r>
            <a:r>
              <a:rPr lang="en-US" dirty="0" err="1"/>
              <a:t>associa</a:t>
            </a:r>
            <a:r>
              <a:rPr lang="en-US" dirty="0"/>
              <a:t> un </a:t>
            </a:r>
            <a:r>
              <a:rPr lang="en-US" dirty="0" err="1"/>
              <a:t>nome</a:t>
            </a:r>
            <a:r>
              <a:rPr lang="en-US" dirty="0"/>
              <a:t> al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clienti</a:t>
            </a:r>
            <a:r>
              <a:rPr lang="en-US" dirty="0"/>
              <a:t> con </a:t>
            </a:r>
            <a:r>
              <a:rPr lang="en-US" dirty="0" err="1"/>
              <a:t>quel</a:t>
            </a:r>
            <a:r>
              <a:rPr lang="en-US" dirty="0"/>
              <a:t> </a:t>
            </a:r>
            <a:r>
              <a:rPr lang="en-US" dirty="0" err="1"/>
              <a:t>nome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Es.  Paolo 5</a:t>
            </a:r>
            <a:br>
              <a:rPr lang="en-US" dirty="0"/>
            </a:br>
            <a:r>
              <a:rPr lang="en-US" dirty="0"/>
              <a:t>       Anna 4 </a:t>
            </a:r>
            <a:br>
              <a:rPr lang="en-US" dirty="0"/>
            </a:br>
            <a:r>
              <a:rPr lang="en-US" dirty="0"/>
              <a:t>       Luigi 8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46B5F85-1FB4-5AC5-4E94-AAD8BD4FD85D}"/>
              </a:ext>
            </a:extLst>
          </p:cNvPr>
          <p:cNvSpPr txBox="1"/>
          <p:nvPr/>
        </p:nvSpPr>
        <p:spPr>
          <a:xfrm>
            <a:off x="4148191" y="4472969"/>
            <a:ext cx="755407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dirty="0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it-IT" sz="3200" dirty="0" err="1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c.firstName</a:t>
            </a:r>
            <a:r>
              <a:rPr lang="it-IT" sz="3200" dirty="0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it-IT" sz="3200" dirty="0" err="1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it-IT" sz="3200" dirty="0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(c)</a:t>
            </a:r>
          </a:p>
          <a:p>
            <a:r>
              <a:rPr lang="it-IT" sz="3200" dirty="0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Customer c </a:t>
            </a:r>
            <a:br>
              <a:rPr lang="it-IT" sz="3200" dirty="0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it-IT" sz="3200" dirty="0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it-IT" sz="3200" dirty="0" err="1">
                <a:solidFill>
                  <a:srgbClr val="2A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c.firstName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406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0CBC02-731E-C745-BB0F-FBBE6ABA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JPQL: group by, having, order by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E66983-43DB-2E46-AF3E-079B57238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Il </a:t>
            </a:r>
            <a:r>
              <a:rPr lang="en-US" dirty="0" err="1"/>
              <a:t>tipo</a:t>
            </a:r>
            <a:r>
              <a:rPr lang="en-US" dirty="0"/>
              <a:t> di </a:t>
            </a:r>
            <a:r>
              <a:rPr lang="en-US" dirty="0" err="1"/>
              <a:t>ritorno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</a:t>
            </a:r>
            <a:r>
              <a:rPr lang="en-US" dirty="0"/>
              <a:t> con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GROUP BY </a:t>
            </a:r>
            <a:r>
              <a:rPr lang="en-US" dirty="0" err="1"/>
              <a:t>è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di array di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List&lt;Object[]&gt; </a:t>
            </a:r>
          </a:p>
          <a:p>
            <a:r>
              <a:rPr lang="en-US" dirty="0" err="1"/>
              <a:t>Ogni</a:t>
            </a:r>
            <a:r>
              <a:rPr lang="en-US" dirty="0"/>
              <a:t>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</a:t>
            </a:r>
            <a:r>
              <a:rPr lang="en-US" dirty="0" err="1"/>
              <a:t>offre</a:t>
            </a:r>
            <a:r>
              <a:rPr lang="en-US" dirty="0"/>
              <a:t> in un array la </a:t>
            </a:r>
            <a:r>
              <a:rPr lang="en-US" dirty="0" err="1"/>
              <a:t>ennupla</a:t>
            </a:r>
            <a:r>
              <a:rPr lang="en-US" dirty="0"/>
              <a:t> </a:t>
            </a:r>
            <a:r>
              <a:rPr lang="en-US" dirty="0" err="1"/>
              <a:t>risultato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query</a:t>
            </a:r>
          </a:p>
          <a:p>
            <a:r>
              <a:rPr lang="en-US" dirty="0"/>
              <a:t>Nel nostro </a:t>
            </a:r>
            <a:r>
              <a:rPr lang="en-US" dirty="0" err="1"/>
              <a:t>esempio</a:t>
            </a:r>
            <a:r>
              <a:rPr lang="en-US" dirty="0"/>
              <a:t>, il primo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/>
              <a:t> con il </a:t>
            </a:r>
            <a:r>
              <a:rPr lang="en-US" dirty="0" err="1"/>
              <a:t>nome</a:t>
            </a:r>
            <a:r>
              <a:rPr lang="en-US" dirty="0"/>
              <a:t> del Customer, il secondo </a:t>
            </a:r>
            <a:r>
              <a:rPr lang="en-US" dirty="0" err="1"/>
              <a:t>elemento</a:t>
            </a:r>
            <a:r>
              <a:rPr lang="en-US" dirty="0"/>
              <a:t> </a:t>
            </a:r>
            <a:r>
              <a:rPr lang="en-US" dirty="0" err="1"/>
              <a:t>è</a:t>
            </a:r>
            <a:r>
              <a:rPr lang="en-US" dirty="0"/>
              <a:t> un </a:t>
            </a:r>
            <a:r>
              <a:rPr lang="en-US" dirty="0" err="1"/>
              <a:t>oggetto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Integer</a:t>
            </a:r>
            <a:r>
              <a:rPr lang="en-US" dirty="0"/>
              <a:t> con il </a:t>
            </a:r>
            <a:r>
              <a:rPr lang="en-US" dirty="0" err="1"/>
              <a:t>numero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persone</a:t>
            </a:r>
            <a:r>
              <a:rPr lang="en-US" dirty="0"/>
              <a:t> con </a:t>
            </a:r>
            <a:r>
              <a:rPr lang="en-US" dirty="0" err="1"/>
              <a:t>quel</a:t>
            </a:r>
            <a:r>
              <a:rPr lang="en-US" dirty="0"/>
              <a:t> </a:t>
            </a:r>
            <a:r>
              <a:rPr lang="en-US" dirty="0" err="1"/>
              <a:t>nome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23921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4657</TotalTime>
  <Words>1049</Words>
  <Application>Microsoft Macintosh PowerPoint</Application>
  <PresentationFormat>Widescreen</PresentationFormat>
  <Paragraphs>119</Paragraphs>
  <Slides>18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 Light</vt:lpstr>
      <vt:lpstr>Consolas</vt:lpstr>
      <vt:lpstr>1_Tema di Office</vt:lpstr>
      <vt:lpstr>Sistemi informativi su Web Gestione Persistenza: JPQL aa 2024-2025 </vt:lpstr>
      <vt:lpstr>JPQL</vt:lpstr>
      <vt:lpstr>JPQL: SELECT</vt:lpstr>
      <vt:lpstr>JPQL: SELECT</vt:lpstr>
      <vt:lpstr>JPQL: SELECT</vt:lpstr>
      <vt:lpstr>JPQL: SELECT</vt:lpstr>
      <vt:lpstr>JPQL: DELETE</vt:lpstr>
      <vt:lpstr>JPQL: DELETE</vt:lpstr>
      <vt:lpstr>JPQL: UPDATE</vt:lpstr>
      <vt:lpstr>JPQL: Tipologie di query</vt:lpstr>
      <vt:lpstr>Named Queries</vt:lpstr>
      <vt:lpstr>Named Queries: esempio</vt:lpstr>
      <vt:lpstr>JPQL: query parametriche</vt:lpstr>
      <vt:lpstr>JPQL: query parametriche</vt:lpstr>
      <vt:lpstr>JPQL: group by, having, order by</vt:lpstr>
      <vt:lpstr>JPQL: SELECT</vt:lpstr>
      <vt:lpstr>Esempio</vt:lpstr>
      <vt:lpstr>JPQL: group by, having, order by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informativi su Web Gestione Persistenza:  Spring Repository, JPQL aa 2023-2024 </dc:title>
  <dc:creator>Paolo Merialdo</dc:creator>
  <cp:lastModifiedBy>Paolo Merialdo</cp:lastModifiedBy>
  <cp:revision>7</cp:revision>
  <dcterms:created xsi:type="dcterms:W3CDTF">2024-03-13T16:58:36Z</dcterms:created>
  <dcterms:modified xsi:type="dcterms:W3CDTF">2025-03-27T09:27:59Z</dcterms:modified>
</cp:coreProperties>
</file>