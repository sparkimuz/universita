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6"/>
  </p:notesMasterIdLst>
  <p:sldIdLst>
    <p:sldId id="427" r:id="rId2"/>
    <p:sldId id="445" r:id="rId3"/>
    <p:sldId id="433" r:id="rId4"/>
    <p:sldId id="264" r:id="rId5"/>
    <p:sldId id="265" r:id="rId6"/>
    <p:sldId id="258" r:id="rId7"/>
    <p:sldId id="320" r:id="rId8"/>
    <p:sldId id="324" r:id="rId9"/>
    <p:sldId id="267" r:id="rId10"/>
    <p:sldId id="259" r:id="rId11"/>
    <p:sldId id="266" r:id="rId12"/>
    <p:sldId id="261" r:id="rId13"/>
    <p:sldId id="321" r:id="rId14"/>
    <p:sldId id="322" r:id="rId15"/>
    <p:sldId id="580" r:id="rId16"/>
    <p:sldId id="268" r:id="rId17"/>
    <p:sldId id="269" r:id="rId18"/>
    <p:sldId id="270" r:id="rId19"/>
    <p:sldId id="355" r:id="rId20"/>
    <p:sldId id="375" r:id="rId21"/>
    <p:sldId id="271" r:id="rId22"/>
    <p:sldId id="358" r:id="rId23"/>
    <p:sldId id="263" r:id="rId24"/>
    <p:sldId id="272" r:id="rId25"/>
    <p:sldId id="577" r:id="rId26"/>
    <p:sldId id="578" r:id="rId27"/>
    <p:sldId id="579" r:id="rId28"/>
    <p:sldId id="432" r:id="rId29"/>
    <p:sldId id="494" r:id="rId30"/>
    <p:sldId id="298" r:id="rId31"/>
    <p:sldId id="516" r:id="rId32"/>
    <p:sldId id="517" r:id="rId33"/>
    <p:sldId id="518" r:id="rId34"/>
    <p:sldId id="300" r:id="rId35"/>
    <p:sldId id="519" r:id="rId36"/>
    <p:sldId id="299" r:id="rId37"/>
    <p:sldId id="520" r:id="rId38"/>
    <p:sldId id="301" r:id="rId39"/>
    <p:sldId id="429" r:id="rId40"/>
    <p:sldId id="302" r:id="rId41"/>
    <p:sldId id="303" r:id="rId42"/>
    <p:sldId id="310" r:id="rId43"/>
    <p:sldId id="305" r:id="rId44"/>
    <p:sldId id="452" r:id="rId45"/>
    <p:sldId id="306" r:id="rId46"/>
    <p:sldId id="365" r:id="rId47"/>
    <p:sldId id="453" r:id="rId48"/>
    <p:sldId id="438" r:id="rId49"/>
    <p:sldId id="523" r:id="rId50"/>
    <p:sldId id="499" r:id="rId51"/>
    <p:sldId id="504" r:id="rId52"/>
    <p:sldId id="374" r:id="rId53"/>
    <p:sldId id="369" r:id="rId54"/>
    <p:sldId id="370" r:id="rId55"/>
    <p:sldId id="371" r:id="rId56"/>
    <p:sldId id="348" r:id="rId57"/>
    <p:sldId id="526" r:id="rId58"/>
    <p:sldId id="323" r:id="rId59"/>
    <p:sldId id="319" r:id="rId60"/>
    <p:sldId id="326" r:id="rId61"/>
    <p:sldId id="335" r:id="rId62"/>
    <p:sldId id="337" r:id="rId63"/>
    <p:sldId id="336" r:id="rId64"/>
    <p:sldId id="341" r:id="rId65"/>
    <p:sldId id="338" r:id="rId66"/>
    <p:sldId id="450" r:id="rId67"/>
    <p:sldId id="497" r:id="rId68"/>
    <p:sldId id="309" r:id="rId69"/>
    <p:sldId id="362" r:id="rId70"/>
    <p:sldId id="498" r:id="rId71"/>
    <p:sldId id="363" r:id="rId72"/>
    <p:sldId id="364" r:id="rId73"/>
    <p:sldId id="312" r:id="rId74"/>
    <p:sldId id="307" r:id="rId75"/>
    <p:sldId id="449" r:id="rId76"/>
    <p:sldId id="510" r:id="rId77"/>
    <p:sldId id="448" r:id="rId78"/>
    <p:sldId id="524" r:id="rId79"/>
    <p:sldId id="505" r:id="rId80"/>
    <p:sldId id="503" r:id="rId81"/>
    <p:sldId id="521" r:id="rId82"/>
    <p:sldId id="506" r:id="rId83"/>
    <p:sldId id="507" r:id="rId84"/>
    <p:sldId id="342" r:id="rId85"/>
    <p:sldId id="344" r:id="rId86"/>
    <p:sldId id="343" r:id="rId87"/>
    <p:sldId id="345" r:id="rId88"/>
    <p:sldId id="525" r:id="rId89"/>
    <p:sldId id="508" r:id="rId90"/>
    <p:sldId id="509" r:id="rId91"/>
    <p:sldId id="522" r:id="rId92"/>
    <p:sldId id="318" r:id="rId93"/>
    <p:sldId id="547" r:id="rId94"/>
    <p:sldId id="511" r:id="rId95"/>
    <p:sldId id="512" r:id="rId96"/>
    <p:sldId id="514" r:id="rId97"/>
    <p:sldId id="515" r:id="rId98"/>
    <p:sldId id="377" r:id="rId99"/>
    <p:sldId id="576" r:id="rId100"/>
    <p:sldId id="527" r:id="rId101"/>
    <p:sldId id="350" r:id="rId102"/>
    <p:sldId id="351" r:id="rId103"/>
    <p:sldId id="352" r:id="rId104"/>
    <p:sldId id="530" r:id="rId105"/>
    <p:sldId id="571" r:id="rId106"/>
    <p:sldId id="528" r:id="rId107"/>
    <p:sldId id="529" r:id="rId108"/>
    <p:sldId id="354" r:id="rId109"/>
    <p:sldId id="567" r:id="rId110"/>
    <p:sldId id="568" r:id="rId111"/>
    <p:sldId id="569" r:id="rId112"/>
    <p:sldId id="570" r:id="rId113"/>
    <p:sldId id="313" r:id="rId114"/>
    <p:sldId id="353" r:id="rId115"/>
  </p:sldIdLst>
  <p:sldSz cx="9144000" cy="5143500" type="screen16x9"/>
  <p:notesSz cx="6858000" cy="9144000"/>
  <p:defaultTextStyle>
    <a:defPPr>
      <a:defRPr lang="it-IT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0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ile medio 2 - Color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Stile chiaro 2 - Color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EC20E35-A176-4012-BC5E-935CFFF8708E}" styleName="Stile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essuno stile, nessuna grigli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79"/>
    <p:restoredTop sz="92671"/>
  </p:normalViewPr>
  <p:slideViewPr>
    <p:cSldViewPr snapToGrid="0">
      <p:cViewPr varScale="1">
        <p:scale>
          <a:sx n="151" d="100"/>
          <a:sy n="151" d="100"/>
        </p:scale>
        <p:origin x="1184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6" d="100"/>
        <a:sy n="10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presProps" Target="presProps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viewProps" Target="view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Calibri Light" panose="020F03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Calibri Light" panose="020F0302020204030204" pitchFamily="34" charset="0"/>
              </a:defRPr>
            </a:lvl1pPr>
          </a:lstStyle>
          <a:p>
            <a:fld id="{72DCF2BA-4EC9-804B-9BAD-08D955D9B69E}" type="datetimeFigureOut">
              <a:rPr lang="it-IT" smtClean="0"/>
              <a:pPr/>
              <a:t>23/03/25</a:t>
            </a:fld>
            <a:endParaRPr lang="en-US" dirty="0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  <a:endParaRPr lang="en-US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Calibri Light" panose="020F03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Calibri Light" panose="020F0302020204030204" pitchFamily="34" charset="0"/>
              </a:defRPr>
            </a:lvl1pPr>
          </a:lstStyle>
          <a:p>
            <a:fld id="{8F95A54D-0126-B94D-B661-CC049FA9EF7F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41440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b="0" i="0" kern="1200">
        <a:solidFill>
          <a:schemeClr val="tx1"/>
        </a:solidFill>
        <a:latin typeface="Calibri Light" panose="020F0302020204030204" pitchFamily="34" charset="0"/>
        <a:ea typeface="+mn-ea"/>
        <a:cs typeface="+mn-cs"/>
      </a:defRPr>
    </a:lvl1pPr>
    <a:lvl2pPr marL="457200" algn="l" defTabSz="457200" rtl="0" eaLnBrk="1" latinLnBrk="0" hangingPunct="1">
      <a:defRPr sz="1200" b="0" i="0" kern="1200">
        <a:solidFill>
          <a:schemeClr val="tx1"/>
        </a:solidFill>
        <a:latin typeface="Calibri Light" panose="020F0302020204030204" pitchFamily="34" charset="0"/>
        <a:ea typeface="+mn-ea"/>
        <a:cs typeface="+mn-cs"/>
      </a:defRPr>
    </a:lvl2pPr>
    <a:lvl3pPr marL="914400" algn="l" defTabSz="457200" rtl="0" eaLnBrk="1" latinLnBrk="0" hangingPunct="1">
      <a:defRPr sz="1200" b="0" i="0" kern="1200">
        <a:solidFill>
          <a:schemeClr val="tx1"/>
        </a:solidFill>
        <a:latin typeface="Calibri Light" panose="020F0302020204030204" pitchFamily="34" charset="0"/>
        <a:ea typeface="+mn-ea"/>
        <a:cs typeface="+mn-cs"/>
      </a:defRPr>
    </a:lvl3pPr>
    <a:lvl4pPr marL="1371600" algn="l" defTabSz="457200" rtl="0" eaLnBrk="1" latinLnBrk="0" hangingPunct="1">
      <a:defRPr sz="1200" b="0" i="0" kern="1200">
        <a:solidFill>
          <a:schemeClr val="tx1"/>
        </a:solidFill>
        <a:latin typeface="Calibri Light" panose="020F0302020204030204" pitchFamily="34" charset="0"/>
        <a:ea typeface="+mn-ea"/>
        <a:cs typeface="+mn-cs"/>
      </a:defRPr>
    </a:lvl4pPr>
    <a:lvl5pPr marL="1828800" algn="l" defTabSz="457200" rtl="0" eaLnBrk="1" latinLnBrk="0" hangingPunct="1">
      <a:defRPr sz="1200" b="0" i="0" kern="1200">
        <a:solidFill>
          <a:schemeClr val="tx1"/>
        </a:solidFill>
        <a:latin typeface="Calibri Light" panose="020F0302020204030204" pitchFamily="34" charset="0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18EB111A-9E8D-AE42-AF40-7D7AD69A6457}" type="slidenum">
              <a:rPr lang="it-IT"/>
              <a:pPr eaLnBrk="1" hangingPunct="1"/>
              <a:t>1</a:t>
            </a:fld>
            <a:endParaRPr lang="it-IT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95A54D-0126-B94D-B661-CC049FA9EF7F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39283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574AB2F2-6FB9-F049-A9AE-A0B6A4440830}" type="slidenum">
              <a:rPr lang="it-IT"/>
              <a:pPr eaLnBrk="1" hangingPunct="1"/>
              <a:t>109</a:t>
            </a:fld>
            <a:endParaRPr lang="it-IT"/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067955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27FED1D2-0406-A645-BE70-757631280E68}" type="slidenum">
              <a:rPr lang="it-IT"/>
              <a:pPr eaLnBrk="1" hangingPunct="1"/>
              <a:t>110</a:t>
            </a:fld>
            <a:endParaRPr lang="it-IT"/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388669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8E7180BC-0693-4748-B41B-4A0169A8A08D}" type="slidenum">
              <a:rPr lang="it-IT"/>
              <a:pPr eaLnBrk="1" hangingPunct="1"/>
              <a:t>111</a:t>
            </a:fld>
            <a:endParaRPr lang="it-IT"/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45989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480DA524-0E4D-D24B-ACEA-F664E36ADD69}" type="slidenum">
              <a:rPr lang="it-IT"/>
              <a:pPr eaLnBrk="1" hangingPunct="1"/>
              <a:t>112</a:t>
            </a:fld>
            <a:endParaRPr lang="it-IT"/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776684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it-IT"/>
              <a:t>Fare clic per modificare stile</a:t>
            </a:r>
            <a:endParaRPr lang="en-US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733A9-B2C3-AE47-8657-BBD3860B180D}" type="datetimeFigureOut">
              <a:rPr lang="it-IT" smtClean="0"/>
              <a:t>23/03/25</a:t>
            </a:fld>
            <a:endParaRPr lang="en-US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6DE83-5E11-5147-A804-09247BE1F2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84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  <a:endParaRPr lang="en-US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733A9-B2C3-AE47-8657-BBD3860B180D}" type="datetimeFigureOut">
              <a:rPr lang="it-IT" smtClean="0"/>
              <a:t>23/03/25</a:t>
            </a:fld>
            <a:endParaRPr lang="en-US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6DE83-5E11-5147-A804-09247BE1F2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228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it-IT"/>
              <a:t>Fare clic per modificare stile</a:t>
            </a:r>
            <a:endParaRPr lang="en-US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733A9-B2C3-AE47-8657-BBD3860B180D}" type="datetimeFigureOut">
              <a:rPr lang="it-IT" smtClean="0"/>
              <a:t>23/03/25</a:t>
            </a:fld>
            <a:endParaRPr lang="en-US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6DE83-5E11-5147-A804-09247BE1F2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567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  <a:endParaRPr lang="en-US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733A9-B2C3-AE47-8657-BBD3860B180D}" type="datetimeFigureOut">
              <a:rPr lang="it-IT" smtClean="0"/>
              <a:t>23/03/25</a:t>
            </a:fld>
            <a:endParaRPr lang="en-US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6DE83-5E11-5147-A804-09247BE1F2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578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stile</a:t>
            </a:r>
            <a:endParaRPr lang="en-US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733A9-B2C3-AE47-8657-BBD3860B180D}" type="datetimeFigureOut">
              <a:rPr lang="it-IT" smtClean="0"/>
              <a:t>23/03/25</a:t>
            </a:fld>
            <a:endParaRPr lang="en-US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6DE83-5E11-5147-A804-09247BE1F2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346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  <a:endParaRPr lang="en-US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733A9-B2C3-AE47-8657-BBD3860B180D}" type="datetimeFigureOut">
              <a:rPr lang="it-IT" smtClean="0"/>
              <a:t>23/03/25</a:t>
            </a:fld>
            <a:endParaRPr lang="en-US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6DE83-5E11-5147-A804-09247BE1F2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351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733A9-B2C3-AE47-8657-BBD3860B180D}" type="datetimeFigureOut">
              <a:rPr lang="it-IT" smtClean="0"/>
              <a:t>23/03/25</a:t>
            </a:fld>
            <a:endParaRPr lang="en-US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6DE83-5E11-5147-A804-09247BE1F2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080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it-IT"/>
              <a:t>Fare clic per modificare stile</a:t>
            </a:r>
            <a:endParaRPr lang="en-US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733A9-B2C3-AE47-8657-BBD3860B180D}" type="datetimeFigureOut">
              <a:rPr lang="it-IT" smtClean="0"/>
              <a:t>23/03/25</a:t>
            </a:fld>
            <a:endParaRPr lang="en-US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6DE83-5E11-5147-A804-09247BE1F2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116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it-IT"/>
              <a:t>Fare clic per modificare stile</a:t>
            </a:r>
            <a:endParaRPr lang="en-US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733A9-B2C3-AE47-8657-BBD3860B180D}" type="datetimeFigureOut">
              <a:rPr lang="it-IT" smtClean="0"/>
              <a:t>23/03/25</a:t>
            </a:fld>
            <a:endParaRPr lang="en-US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6DE83-5E11-5147-A804-09247BE1F2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325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  <a:endParaRPr lang="en-US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733A9-B2C3-AE47-8657-BBD3860B180D}" type="datetimeFigureOut">
              <a:rPr lang="it-IT" smtClean="0"/>
              <a:t>23/03/25</a:t>
            </a:fld>
            <a:endParaRPr lang="en-US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6DE83-5E11-5147-A804-09247BE1F2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9980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vertical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it-IT"/>
              <a:t>Fare clic per modificare stile</a:t>
            </a:r>
            <a:endParaRPr lang="en-US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733A9-B2C3-AE47-8657-BBD3860B180D}" type="datetimeFigureOut">
              <a:rPr lang="it-IT" smtClean="0"/>
              <a:t>23/03/25</a:t>
            </a:fld>
            <a:endParaRPr lang="en-US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6DE83-5E11-5147-A804-09247BE1F2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011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stile</a:t>
            </a:r>
            <a:endParaRPr lang="en-US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  <a:endParaRPr lang="en-US" dirty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i="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</a:defRPr>
            </a:lvl1pPr>
          </a:lstStyle>
          <a:p>
            <a:fld id="{7B0733A9-B2C3-AE47-8657-BBD3860B180D}" type="datetimeFigureOut">
              <a:rPr lang="it-IT" smtClean="0"/>
              <a:pPr/>
              <a:t>23/03/25</a:t>
            </a:fld>
            <a:endParaRPr lang="en-US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i="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</a:defRPr>
            </a:lvl1pPr>
          </a:lstStyle>
          <a:p>
            <a:fld id="{9996DE83-5E11-5147-A804-09247BE1F2BF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8416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b="0" i="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400" b="0" i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2100" b="0" i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800" b="0" i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500" b="0" i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500" b="0" i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10747" y="1177790"/>
            <a:ext cx="7816785" cy="1101725"/>
          </a:xfrm>
          <a:extLst>
            <a:ext uri="{91240B29-F687-4f45-9708-019B960494DF}">
              <a14:hiddenLine xmlns=""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fontScale="90000"/>
          </a:bodyPr>
          <a:lstStyle/>
          <a:p>
            <a:pPr algn="l"/>
            <a:r>
              <a:rPr lang="it-IT" sz="1500" dirty="0">
                <a:latin typeface="Calibri Light" panose="020F0302020204030204" pitchFamily="34" charset="0"/>
                <a:cs typeface="Calibri Light" panose="020F0302020204030204" pitchFamily="34" charset="0"/>
              </a:rPr>
              <a:t>Sistemi informativi su Web</a:t>
            </a:r>
            <a:br>
              <a:rPr lang="it-IT" sz="1500" dirty="0">
                <a:latin typeface="Calibri Light" panose="020F0302020204030204" pitchFamily="34" charset="0"/>
              </a:rPr>
            </a:br>
            <a:r>
              <a:rPr lang="it-IT" dirty="0">
                <a:solidFill>
                  <a:srgbClr val="40008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Gestione Persistenza: </a:t>
            </a:r>
            <a:br>
              <a:rPr lang="it-IT" dirty="0">
                <a:solidFill>
                  <a:srgbClr val="40008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it-IT" dirty="0">
                <a:solidFill>
                  <a:srgbClr val="40008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Java </a:t>
            </a:r>
            <a:r>
              <a:rPr lang="it-IT" dirty="0" err="1">
                <a:solidFill>
                  <a:srgbClr val="40008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Persistence</a:t>
            </a:r>
            <a:r>
              <a:rPr lang="it-IT" dirty="0">
                <a:solidFill>
                  <a:srgbClr val="40008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API: Object </a:t>
            </a:r>
            <a:r>
              <a:rPr lang="it-IT" dirty="0" err="1">
                <a:solidFill>
                  <a:srgbClr val="40008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Relational</a:t>
            </a:r>
            <a:r>
              <a:rPr lang="it-IT" dirty="0">
                <a:solidFill>
                  <a:srgbClr val="40008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it-IT" dirty="0">
                <a:solidFill>
                  <a:srgbClr val="400080"/>
                </a:solidFill>
                <a:cs typeface="Calibri Light" panose="020F0302020204030204" pitchFamily="34" charset="0"/>
              </a:rPr>
              <a:t>M</a:t>
            </a:r>
            <a:r>
              <a:rPr lang="it-IT" dirty="0">
                <a:solidFill>
                  <a:srgbClr val="40008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apping</a:t>
            </a:r>
            <a:br>
              <a:rPr lang="it-IT" dirty="0">
                <a:solidFill>
                  <a:srgbClr val="40008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it-IT" sz="2325" dirty="0">
                <a:solidFill>
                  <a:srgbClr val="40008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aa 2024-2025</a:t>
            </a:r>
            <a:br>
              <a:rPr lang="it-IT" dirty="0">
                <a:latin typeface="Calibri Light" panose="020F0302020204030204" pitchFamily="34" charset="0"/>
              </a:rPr>
            </a:br>
            <a:endParaRPr lang="it-IT" dirty="0">
              <a:latin typeface="Calibri Light" panose="020F0302020204030204" pitchFamily="34" charset="0"/>
            </a:endParaRPr>
          </a:p>
        </p:txBody>
      </p:sp>
      <p:sp>
        <p:nvSpPr>
          <p:cNvPr id="4" name="Text Box 11"/>
          <p:cNvSpPr txBox="1">
            <a:spLocks noChangeArrowheads="1"/>
          </p:cNvSpPr>
          <p:nvPr/>
        </p:nvSpPr>
        <p:spPr bwMode="auto">
          <a:xfrm>
            <a:off x="2171700" y="4743450"/>
            <a:ext cx="515878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900" dirty="0">
                <a:latin typeface="Calibri Light" panose="020F0302020204030204" pitchFamily="34" charset="0"/>
              </a:rPr>
              <a:t>This work is licensed under a Creative Commons Attribution-Noncommercial-Share Alike 3.0 United States</a:t>
            </a:r>
            <a:br>
              <a:rPr lang="en-US" sz="900" dirty="0">
                <a:latin typeface="Calibri Light" panose="020F0302020204030204" pitchFamily="34" charset="0"/>
              </a:rPr>
            </a:br>
            <a:r>
              <a:rPr lang="en-US" sz="900" dirty="0">
                <a:latin typeface="Calibri Light" panose="020F0302020204030204" pitchFamily="34" charset="0"/>
              </a:rPr>
              <a:t>See http://</a:t>
            </a:r>
            <a:r>
              <a:rPr lang="en-US" sz="900" dirty="0" err="1">
                <a:latin typeface="Calibri Light" panose="020F0302020204030204" pitchFamily="34" charset="0"/>
              </a:rPr>
              <a:t>creativecommons.org</a:t>
            </a:r>
            <a:r>
              <a:rPr lang="en-US" sz="900" dirty="0">
                <a:latin typeface="Calibri Light" panose="020F0302020204030204" pitchFamily="34" charset="0"/>
              </a:rPr>
              <a:t>/licenses/by-</a:t>
            </a:r>
            <a:r>
              <a:rPr lang="en-US" sz="900" dirty="0" err="1">
                <a:latin typeface="Calibri Light" panose="020F0302020204030204" pitchFamily="34" charset="0"/>
              </a:rPr>
              <a:t>nc</a:t>
            </a:r>
            <a:r>
              <a:rPr lang="en-US" sz="900" dirty="0">
                <a:latin typeface="Calibri Light" panose="020F0302020204030204" pitchFamily="34" charset="0"/>
              </a:rPr>
              <a:t>-</a:t>
            </a:r>
            <a:r>
              <a:rPr lang="en-US" sz="900" dirty="0" err="1">
                <a:latin typeface="Calibri Light" panose="020F0302020204030204" pitchFamily="34" charset="0"/>
              </a:rPr>
              <a:t>sa</a:t>
            </a:r>
            <a:r>
              <a:rPr lang="en-US" sz="900" dirty="0">
                <a:latin typeface="Calibri Light" panose="020F0302020204030204" pitchFamily="34" charset="0"/>
              </a:rPr>
              <a:t>/3.0/us/ for details</a:t>
            </a:r>
          </a:p>
        </p:txBody>
      </p:sp>
      <p:pic>
        <p:nvPicPr>
          <p:cNvPr id="5" name="Picture 13" descr="creative-commons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19200" y="4743450"/>
            <a:ext cx="838200" cy="29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Immagin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4814" y="3001007"/>
            <a:ext cx="705953" cy="383568"/>
          </a:xfrm>
          <a:prstGeom prst="rect">
            <a:avLst/>
          </a:prstGeom>
        </p:spPr>
      </p:pic>
      <p:sp>
        <p:nvSpPr>
          <p:cNvPr id="3" name="CasellaDiTesto 2"/>
          <p:cNvSpPr txBox="1"/>
          <p:nvPr/>
        </p:nvSpPr>
        <p:spPr>
          <a:xfrm>
            <a:off x="4049899" y="2931550"/>
            <a:ext cx="2329292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350" dirty="0">
                <a:latin typeface="Calibri Light" panose="020F0302020204030204" pitchFamily="34" charset="0"/>
                <a:ea typeface="+mj-ea"/>
                <a:cs typeface="Calibri Light" panose="020F0302020204030204" pitchFamily="34" charset="0"/>
              </a:rPr>
              <a:t>Paolo Merialdo</a:t>
            </a:r>
          </a:p>
          <a:p>
            <a:r>
              <a:rPr lang="it-IT" sz="1350" dirty="0">
                <a:latin typeface="Calibri Light" panose="020F0302020204030204" pitchFamily="34" charset="0"/>
                <a:ea typeface="+mj-ea"/>
                <a:cs typeface="Calibri Light" panose="020F0302020204030204" pitchFamily="34" charset="0"/>
              </a:rPr>
              <a:t>Università degli Studi Roma Tre</a:t>
            </a:r>
          </a:p>
        </p:txBody>
      </p:sp>
    </p:spTree>
    <p:extLst>
      <p:ext uri="{BB962C8B-B14F-4D97-AF65-F5344CB8AC3E}">
        <p14:creationId xmlns:p14="http://schemas.microsoft.com/office/powerpoint/2010/main" val="4211658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err="1"/>
              <a:t>Anatomia</a:t>
            </a:r>
            <a:r>
              <a:rPr lang="en-US"/>
              <a:t> </a:t>
            </a:r>
            <a:br>
              <a:rPr lang="en-US"/>
            </a:br>
            <a:r>
              <a:rPr lang="en-US"/>
              <a:t>di un </a:t>
            </a:r>
            <a:r>
              <a:rPr lang="en-US" err="1"/>
              <a:t>sistema</a:t>
            </a:r>
            <a:r>
              <a:rPr lang="en-US"/>
              <a:t> </a:t>
            </a:r>
            <a:r>
              <a:rPr lang="en-US" err="1"/>
              <a:t>informativo</a:t>
            </a:r>
            <a:r>
              <a:rPr lang="en-US"/>
              <a:t> </a:t>
            </a:r>
            <a:r>
              <a:rPr lang="en-US" err="1"/>
              <a:t>su</a:t>
            </a:r>
            <a:r>
              <a:rPr lang="en-US"/>
              <a:t> Web</a:t>
            </a:r>
          </a:p>
        </p:txBody>
      </p:sp>
      <p:sp>
        <p:nvSpPr>
          <p:cNvPr id="5" name="Rettangolo 4"/>
          <p:cNvSpPr/>
          <p:nvPr/>
        </p:nvSpPr>
        <p:spPr>
          <a:xfrm>
            <a:off x="3124736" y="1252444"/>
            <a:ext cx="926360" cy="626222"/>
          </a:xfrm>
          <a:prstGeom prst="rect">
            <a:avLst/>
          </a:prstGeom>
          <a:solidFill>
            <a:schemeClr val="bg2"/>
          </a:solidFill>
          <a:ln w="31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solidFill>
                  <a:schemeClr val="tx1"/>
                </a:solidFill>
                <a:latin typeface="Calibri Light" panose="020F0302020204030204" pitchFamily="34" charset="0"/>
              </a:rPr>
              <a:t>Browser</a:t>
            </a:r>
          </a:p>
          <a:p>
            <a:pPr algn="ctr"/>
            <a:r>
              <a:rPr lang="en-US" sz="1050" dirty="0">
                <a:solidFill>
                  <a:schemeClr val="tx1"/>
                </a:solidFill>
                <a:latin typeface="Calibri Light" panose="020F0302020204030204" pitchFamily="34" charset="0"/>
              </a:rPr>
              <a:t>(Firefox, Chrome,…) </a:t>
            </a:r>
          </a:p>
        </p:txBody>
      </p:sp>
      <p:sp>
        <p:nvSpPr>
          <p:cNvPr id="6" name="Rettangolo 5"/>
          <p:cNvSpPr/>
          <p:nvPr/>
        </p:nvSpPr>
        <p:spPr>
          <a:xfrm>
            <a:off x="6337781" y="1252444"/>
            <a:ext cx="926360" cy="626222"/>
          </a:xfrm>
          <a:prstGeom prst="rect">
            <a:avLst/>
          </a:prstGeom>
          <a:solidFill>
            <a:schemeClr val="bg2"/>
          </a:solidFill>
          <a:ln w="31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solidFill>
                  <a:schemeClr val="tx1"/>
                </a:solidFill>
                <a:latin typeface="Calibri Light" panose="020F0302020204030204" pitchFamily="34" charset="0"/>
              </a:rPr>
              <a:t>Site</a:t>
            </a:r>
            <a:endParaRPr lang="en-US" sz="1050" dirty="0">
              <a:solidFill>
                <a:schemeClr val="tx1"/>
              </a:solidFill>
              <a:latin typeface="Calibri Light" panose="020F0302020204030204" pitchFamily="34" charset="0"/>
            </a:endParaRPr>
          </a:p>
        </p:txBody>
      </p:sp>
      <p:sp>
        <p:nvSpPr>
          <p:cNvPr id="7" name="Fumetto 4 6"/>
          <p:cNvSpPr/>
          <p:nvPr/>
        </p:nvSpPr>
        <p:spPr>
          <a:xfrm>
            <a:off x="4533394" y="1344108"/>
            <a:ext cx="1263704" cy="430528"/>
          </a:xfrm>
          <a:prstGeom prst="cloudCallout">
            <a:avLst>
              <a:gd name="adj1" fmla="val -22824"/>
              <a:gd name="adj2" fmla="val 37187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solidFill>
                  <a:srgbClr val="000000"/>
                </a:solidFill>
                <a:latin typeface="Calibri Light" panose="020F0302020204030204" pitchFamily="34" charset="0"/>
              </a:rPr>
              <a:t>internet</a:t>
            </a:r>
          </a:p>
        </p:txBody>
      </p:sp>
      <p:sp>
        <p:nvSpPr>
          <p:cNvPr id="8" name="CasellaDiTesto 7"/>
          <p:cNvSpPr txBox="1"/>
          <p:nvPr/>
        </p:nvSpPr>
        <p:spPr>
          <a:xfrm>
            <a:off x="1228704" y="1304969"/>
            <a:ext cx="19397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latin typeface="Calibri Light" panose="020F0302020204030204" pitchFamily="34" charset="0"/>
              </a:rPr>
              <a:t>30.000 mt</a:t>
            </a:r>
          </a:p>
          <a:p>
            <a:r>
              <a:rPr lang="en-US" sz="1350" dirty="0" err="1">
                <a:latin typeface="Calibri Light" panose="020F0302020204030204" pitchFamily="34" charset="0"/>
              </a:rPr>
              <a:t>Architettura</a:t>
            </a:r>
            <a:r>
              <a:rPr lang="en-US" sz="1350" dirty="0">
                <a:latin typeface="Calibri Light" panose="020F0302020204030204" pitchFamily="34" charset="0"/>
              </a:rPr>
              <a:t> client server</a:t>
            </a:r>
          </a:p>
        </p:txBody>
      </p:sp>
      <p:cxnSp>
        <p:nvCxnSpPr>
          <p:cNvPr id="10" name="Connettore 2 9"/>
          <p:cNvCxnSpPr>
            <a:stCxn id="5" idx="3"/>
            <a:endCxn id="7" idx="0"/>
          </p:cNvCxnSpPr>
          <p:nvPr/>
        </p:nvCxnSpPr>
        <p:spPr>
          <a:xfrm flipV="1">
            <a:off x="4051096" y="1559372"/>
            <a:ext cx="486218" cy="6184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2 10"/>
          <p:cNvCxnSpPr>
            <a:stCxn id="7" idx="2"/>
            <a:endCxn id="6" idx="1"/>
          </p:cNvCxnSpPr>
          <p:nvPr/>
        </p:nvCxnSpPr>
        <p:spPr>
          <a:xfrm>
            <a:off x="5796046" y="1559372"/>
            <a:ext cx="541736" cy="6184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asellaDiTesto 15"/>
          <p:cNvSpPr txBox="1"/>
          <p:nvPr/>
        </p:nvSpPr>
        <p:spPr>
          <a:xfrm>
            <a:off x="1251675" y="1967211"/>
            <a:ext cx="14566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latin typeface="Calibri Light" panose="020F0302020204030204" pitchFamily="34" charset="0"/>
              </a:rPr>
              <a:t>15.000 mt</a:t>
            </a:r>
          </a:p>
          <a:p>
            <a:r>
              <a:rPr lang="en-US" sz="1350" dirty="0" err="1">
                <a:latin typeface="Calibri Light" panose="020F0302020204030204" pitchFamily="34" charset="0"/>
              </a:rPr>
              <a:t>HTTP+URI+Cookie</a:t>
            </a:r>
            <a:endParaRPr lang="en-US" sz="1350" dirty="0">
              <a:latin typeface="Calibri Light" panose="020F0302020204030204" pitchFamily="34" charset="0"/>
            </a:endParaRPr>
          </a:p>
        </p:txBody>
      </p:sp>
      <p:sp>
        <p:nvSpPr>
          <p:cNvPr id="17" name="Rettangolo 16"/>
          <p:cNvSpPr/>
          <p:nvPr/>
        </p:nvSpPr>
        <p:spPr>
          <a:xfrm>
            <a:off x="1251675" y="2394859"/>
            <a:ext cx="3429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050" dirty="0">
                <a:latin typeface="Calibri Light" panose="020F0302020204030204" pitchFamily="34" charset="0"/>
              </a:rPr>
              <a:t>3.000 mt</a:t>
            </a:r>
          </a:p>
          <a:p>
            <a:r>
              <a:rPr lang="en-US" sz="1350" dirty="0">
                <a:latin typeface="Calibri Light" panose="020F0302020204030204" pitchFamily="34" charset="0"/>
              </a:rPr>
              <a:t>HTML+CSS</a:t>
            </a:r>
          </a:p>
        </p:txBody>
      </p:sp>
      <p:sp>
        <p:nvSpPr>
          <p:cNvPr id="18" name="Rettangolo 17"/>
          <p:cNvSpPr/>
          <p:nvPr/>
        </p:nvSpPr>
        <p:spPr>
          <a:xfrm>
            <a:off x="1228704" y="2931477"/>
            <a:ext cx="3429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050" dirty="0">
                <a:latin typeface="Calibri Light" panose="020F0302020204030204" pitchFamily="34" charset="0"/>
              </a:rPr>
              <a:t>1.500 mt</a:t>
            </a:r>
          </a:p>
          <a:p>
            <a:r>
              <a:rPr lang="en-US" sz="1350" dirty="0" err="1">
                <a:latin typeface="Calibri Light" panose="020F0302020204030204" pitchFamily="34" charset="0"/>
              </a:rPr>
              <a:t>Architettura</a:t>
            </a:r>
            <a:r>
              <a:rPr lang="en-US" sz="1350" dirty="0">
                <a:latin typeface="Calibri Light" panose="020F0302020204030204" pitchFamily="34" charset="0"/>
              </a:rPr>
              <a:t> 3-tier</a:t>
            </a:r>
          </a:p>
        </p:txBody>
      </p:sp>
      <p:sp>
        <p:nvSpPr>
          <p:cNvPr id="19" name="Rettangolo 18"/>
          <p:cNvSpPr/>
          <p:nvPr/>
        </p:nvSpPr>
        <p:spPr>
          <a:xfrm>
            <a:off x="1251675" y="3834303"/>
            <a:ext cx="3429000" cy="108491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050" dirty="0">
                <a:latin typeface="Calibri Light" panose="020F0302020204030204" pitchFamily="34" charset="0"/>
              </a:rPr>
              <a:t>100 mt</a:t>
            </a:r>
          </a:p>
          <a:p>
            <a:r>
              <a:rPr lang="en-US" sz="1350" dirty="0">
                <a:latin typeface="Calibri Light" panose="020F0302020204030204" pitchFamily="34" charset="0"/>
              </a:rPr>
              <a:t>Model-View-Controller</a:t>
            </a:r>
          </a:p>
          <a:p>
            <a:r>
              <a:rPr lang="en-US" sz="1350" dirty="0">
                <a:latin typeface="Calibri Light" panose="020F0302020204030204" pitchFamily="34" charset="0"/>
              </a:rPr>
              <a:t>REST</a:t>
            </a:r>
          </a:p>
          <a:p>
            <a:r>
              <a:rPr lang="en-US" sz="1350" dirty="0">
                <a:solidFill>
                  <a:srgbClr val="FF0000"/>
                </a:solidFill>
                <a:latin typeface="Calibri Light" panose="020F0302020204030204" pitchFamily="34" charset="0"/>
              </a:rPr>
              <a:t>CRUD</a:t>
            </a:r>
          </a:p>
          <a:p>
            <a:r>
              <a:rPr lang="en-US" sz="1350" dirty="0">
                <a:solidFill>
                  <a:srgbClr val="FF0000"/>
                </a:solidFill>
                <a:latin typeface="Calibri Light" panose="020F0302020204030204" pitchFamily="34" charset="0"/>
              </a:rPr>
              <a:t>ORM</a:t>
            </a:r>
          </a:p>
        </p:txBody>
      </p:sp>
      <p:cxnSp>
        <p:nvCxnSpPr>
          <p:cNvPr id="21" name="Connettore 2 20"/>
          <p:cNvCxnSpPr>
            <a:stCxn id="16" idx="3"/>
          </p:cNvCxnSpPr>
          <p:nvPr/>
        </p:nvCxnSpPr>
        <p:spPr>
          <a:xfrm flipV="1">
            <a:off x="2708292" y="1565555"/>
            <a:ext cx="1526928" cy="632489"/>
          </a:xfrm>
          <a:prstGeom prst="bentConnector3">
            <a:avLst>
              <a:gd name="adj1" fmla="val 50000"/>
            </a:avLst>
          </a:prstGeom>
          <a:ln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itaglia singolo angolo rettangolo 25"/>
          <p:cNvSpPr/>
          <p:nvPr/>
        </p:nvSpPr>
        <p:spPr>
          <a:xfrm>
            <a:off x="2567296" y="2558143"/>
            <a:ext cx="585107" cy="686301"/>
          </a:xfrm>
          <a:prstGeom prst="snip1Rect">
            <a:avLst/>
          </a:prstGeom>
          <a:solidFill>
            <a:schemeClr val="bg2"/>
          </a:solidFill>
          <a:ln w="31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  <a:latin typeface="Calibri Light" panose="020F0302020204030204" pitchFamily="34" charset="0"/>
              </a:rPr>
              <a:t>HTML</a:t>
            </a:r>
          </a:p>
        </p:txBody>
      </p:sp>
      <p:sp>
        <p:nvSpPr>
          <p:cNvPr id="27" name="Ritaglia singolo angolo rettangolo 26"/>
          <p:cNvSpPr/>
          <p:nvPr/>
        </p:nvSpPr>
        <p:spPr>
          <a:xfrm>
            <a:off x="3032983" y="2784511"/>
            <a:ext cx="585107" cy="686301"/>
          </a:xfrm>
          <a:prstGeom prst="snip1Rect">
            <a:avLst/>
          </a:prstGeom>
          <a:solidFill>
            <a:schemeClr val="bg2"/>
          </a:solidFill>
          <a:ln w="31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  <a:latin typeface="Calibri Light" panose="020F0302020204030204" pitchFamily="34" charset="0"/>
              </a:rPr>
              <a:t>CSS</a:t>
            </a:r>
          </a:p>
        </p:txBody>
      </p:sp>
      <p:sp>
        <p:nvSpPr>
          <p:cNvPr id="28" name="Rettangolo 27"/>
          <p:cNvSpPr/>
          <p:nvPr/>
        </p:nvSpPr>
        <p:spPr>
          <a:xfrm>
            <a:off x="4045378" y="2359332"/>
            <a:ext cx="1138341" cy="626222"/>
          </a:xfrm>
          <a:prstGeom prst="rect">
            <a:avLst/>
          </a:prstGeom>
          <a:solidFill>
            <a:schemeClr val="bg2"/>
          </a:solidFill>
          <a:ln w="31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solidFill>
                  <a:schemeClr val="tx1"/>
                </a:solidFill>
                <a:latin typeface="Calibri Light" panose="020F0302020204030204" pitchFamily="34" charset="0"/>
              </a:rPr>
              <a:t>Web Server</a:t>
            </a:r>
          </a:p>
          <a:p>
            <a:pPr algn="ctr"/>
            <a:r>
              <a:rPr lang="en-US" sz="1050" dirty="0">
                <a:solidFill>
                  <a:schemeClr val="tx1"/>
                </a:solidFill>
                <a:latin typeface="Calibri Light" panose="020F0302020204030204" pitchFamily="34" charset="0"/>
              </a:rPr>
              <a:t>(</a:t>
            </a:r>
            <a:r>
              <a:rPr lang="en-US" sz="1050" dirty="0" err="1">
                <a:solidFill>
                  <a:schemeClr val="tx1"/>
                </a:solidFill>
                <a:latin typeface="Calibri Light" panose="020F0302020204030204" pitchFamily="34" charset="0"/>
              </a:rPr>
              <a:t>Apache,MSIIS</a:t>
            </a:r>
            <a:r>
              <a:rPr lang="en-US" sz="1050" dirty="0">
                <a:solidFill>
                  <a:schemeClr val="tx1"/>
                </a:solidFill>
                <a:latin typeface="Calibri Light" panose="020F0302020204030204" pitchFamily="34" charset="0"/>
              </a:rPr>
              <a:t>, …) </a:t>
            </a:r>
          </a:p>
        </p:txBody>
      </p:sp>
      <p:sp>
        <p:nvSpPr>
          <p:cNvPr id="29" name="Rettangolo 28"/>
          <p:cNvSpPr/>
          <p:nvPr/>
        </p:nvSpPr>
        <p:spPr>
          <a:xfrm>
            <a:off x="5406877" y="2359332"/>
            <a:ext cx="1138341" cy="626222"/>
          </a:xfrm>
          <a:prstGeom prst="rect">
            <a:avLst/>
          </a:prstGeom>
          <a:solidFill>
            <a:schemeClr val="bg2"/>
          </a:solidFill>
          <a:ln w="31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 err="1">
                <a:solidFill>
                  <a:schemeClr val="tx1"/>
                </a:solidFill>
                <a:latin typeface="Calibri Light" panose="020F0302020204030204" pitchFamily="34" charset="0"/>
              </a:rPr>
              <a:t>AppServer</a:t>
            </a:r>
            <a:endParaRPr lang="en-US" sz="1350" dirty="0">
              <a:solidFill>
                <a:schemeClr val="tx1"/>
              </a:solidFill>
              <a:latin typeface="Calibri Light" panose="020F0302020204030204" pitchFamily="34" charset="0"/>
            </a:endParaRPr>
          </a:p>
          <a:p>
            <a:pPr algn="ctr"/>
            <a:r>
              <a:rPr lang="en-US" sz="1050" dirty="0">
                <a:solidFill>
                  <a:schemeClr val="tx1"/>
                </a:solidFill>
                <a:latin typeface="Calibri Light" panose="020F0302020204030204" pitchFamily="34" charset="0"/>
              </a:rPr>
              <a:t>(JBoss, </a:t>
            </a:r>
            <a:br>
              <a:rPr lang="en-US" sz="1050" dirty="0">
                <a:solidFill>
                  <a:schemeClr val="tx1"/>
                </a:solidFill>
                <a:latin typeface="Calibri Light" panose="020F0302020204030204" pitchFamily="34" charset="0"/>
              </a:rPr>
            </a:br>
            <a:r>
              <a:rPr lang="en-US" sz="1050" dirty="0" err="1">
                <a:solidFill>
                  <a:schemeClr val="tx1"/>
                </a:solidFill>
                <a:latin typeface="Calibri Light" panose="020F0302020204030204" pitchFamily="34" charset="0"/>
              </a:rPr>
              <a:t>GlassFish</a:t>
            </a:r>
            <a:r>
              <a:rPr lang="en-US" sz="1050" dirty="0">
                <a:solidFill>
                  <a:schemeClr val="tx1"/>
                </a:solidFill>
                <a:latin typeface="Calibri Light" panose="020F0302020204030204" pitchFamily="34" charset="0"/>
              </a:rPr>
              <a:t>, …) </a:t>
            </a:r>
          </a:p>
        </p:txBody>
      </p:sp>
      <p:sp>
        <p:nvSpPr>
          <p:cNvPr id="30" name="Rettangolo 29"/>
          <p:cNvSpPr/>
          <p:nvPr/>
        </p:nvSpPr>
        <p:spPr>
          <a:xfrm>
            <a:off x="6741161" y="2370070"/>
            <a:ext cx="1138341" cy="626222"/>
          </a:xfrm>
          <a:prstGeom prst="rect">
            <a:avLst/>
          </a:prstGeom>
          <a:solidFill>
            <a:schemeClr val="bg2"/>
          </a:solidFill>
          <a:ln w="31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solidFill>
                  <a:schemeClr val="tx1"/>
                </a:solidFill>
                <a:latin typeface="Calibri Light" panose="020F0302020204030204" pitchFamily="34" charset="0"/>
              </a:rPr>
              <a:t>DBMS</a:t>
            </a:r>
          </a:p>
          <a:p>
            <a:pPr algn="ctr"/>
            <a:r>
              <a:rPr lang="en-US" sz="1050" dirty="0">
                <a:solidFill>
                  <a:schemeClr val="tx1"/>
                </a:solidFill>
                <a:latin typeface="Calibri Light" panose="020F0302020204030204" pitchFamily="34" charset="0"/>
              </a:rPr>
              <a:t>(Postgres, </a:t>
            </a:r>
            <a:br>
              <a:rPr lang="en-US" sz="1050" dirty="0">
                <a:solidFill>
                  <a:schemeClr val="tx1"/>
                </a:solidFill>
                <a:latin typeface="Calibri Light" panose="020F0302020204030204" pitchFamily="34" charset="0"/>
              </a:rPr>
            </a:br>
            <a:r>
              <a:rPr lang="en-US" sz="1050" dirty="0">
                <a:solidFill>
                  <a:schemeClr val="tx1"/>
                </a:solidFill>
                <a:latin typeface="Calibri Light" panose="020F0302020204030204" pitchFamily="34" charset="0"/>
              </a:rPr>
              <a:t>MySQL, …) </a:t>
            </a:r>
          </a:p>
        </p:txBody>
      </p:sp>
      <p:sp>
        <p:nvSpPr>
          <p:cNvPr id="31" name="CasellaDiTesto 30"/>
          <p:cNvSpPr txBox="1"/>
          <p:nvPr/>
        </p:nvSpPr>
        <p:spPr>
          <a:xfrm>
            <a:off x="3950127" y="2945084"/>
            <a:ext cx="139211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>
                <a:latin typeface="Calibri Light" panose="020F0302020204030204" pitchFamily="34" charset="0"/>
              </a:rPr>
              <a:t>Presentation Tier</a:t>
            </a:r>
          </a:p>
        </p:txBody>
      </p:sp>
      <p:sp>
        <p:nvSpPr>
          <p:cNvPr id="32" name="CasellaDiTesto 31"/>
          <p:cNvSpPr txBox="1"/>
          <p:nvPr/>
        </p:nvSpPr>
        <p:spPr>
          <a:xfrm>
            <a:off x="5567686" y="2932564"/>
            <a:ext cx="85472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>
                <a:latin typeface="Calibri Light" panose="020F0302020204030204" pitchFamily="34" charset="0"/>
              </a:rPr>
              <a:t>Logic Tier</a:t>
            </a:r>
          </a:p>
        </p:txBody>
      </p:sp>
      <p:sp>
        <p:nvSpPr>
          <p:cNvPr id="33" name="CasellaDiTesto 32"/>
          <p:cNvSpPr txBox="1"/>
          <p:nvPr/>
        </p:nvSpPr>
        <p:spPr>
          <a:xfrm>
            <a:off x="6634988" y="2939977"/>
            <a:ext cx="1293367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>
                <a:latin typeface="Calibri Light" panose="020F0302020204030204" pitchFamily="34" charset="0"/>
              </a:rPr>
              <a:t>Persistence Tier</a:t>
            </a:r>
          </a:p>
        </p:txBody>
      </p:sp>
      <p:cxnSp>
        <p:nvCxnSpPr>
          <p:cNvPr id="34" name="Connettore 2 33"/>
          <p:cNvCxnSpPr>
            <a:stCxn id="28" idx="3"/>
            <a:endCxn id="29" idx="1"/>
          </p:cNvCxnSpPr>
          <p:nvPr/>
        </p:nvCxnSpPr>
        <p:spPr>
          <a:xfrm>
            <a:off x="5183719" y="2672443"/>
            <a:ext cx="223158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ttore 2 37"/>
          <p:cNvCxnSpPr>
            <a:stCxn id="29" idx="3"/>
            <a:endCxn id="30" idx="1"/>
          </p:cNvCxnSpPr>
          <p:nvPr/>
        </p:nvCxnSpPr>
        <p:spPr>
          <a:xfrm>
            <a:off x="6545218" y="2672443"/>
            <a:ext cx="195944" cy="10739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ttore 1 42"/>
          <p:cNvCxnSpPr/>
          <p:nvPr/>
        </p:nvCxnSpPr>
        <p:spPr>
          <a:xfrm flipH="1">
            <a:off x="4045378" y="1878667"/>
            <a:ext cx="2292404" cy="480665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ttore 1 44"/>
          <p:cNvCxnSpPr/>
          <p:nvPr/>
        </p:nvCxnSpPr>
        <p:spPr>
          <a:xfrm>
            <a:off x="7264141" y="1878667"/>
            <a:ext cx="615362" cy="480665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ttangolo 47"/>
          <p:cNvSpPr/>
          <p:nvPr/>
        </p:nvSpPr>
        <p:spPr>
          <a:xfrm>
            <a:off x="4375294" y="4136419"/>
            <a:ext cx="908712" cy="403691"/>
          </a:xfrm>
          <a:prstGeom prst="rect">
            <a:avLst/>
          </a:prstGeom>
          <a:solidFill>
            <a:schemeClr val="bg2"/>
          </a:solidFill>
          <a:ln w="31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solidFill>
                  <a:schemeClr val="tx1"/>
                </a:solidFill>
                <a:latin typeface="Calibri Light" panose="020F0302020204030204" pitchFamily="34" charset="0"/>
              </a:rPr>
              <a:t>Model</a:t>
            </a:r>
            <a:endParaRPr lang="en-US" sz="1050" dirty="0">
              <a:solidFill>
                <a:schemeClr val="tx1"/>
              </a:solidFill>
              <a:latin typeface="Calibri Light" panose="020F0302020204030204" pitchFamily="34" charset="0"/>
            </a:endParaRPr>
          </a:p>
        </p:txBody>
      </p:sp>
      <p:sp>
        <p:nvSpPr>
          <p:cNvPr id="49" name="Rettangolo 48"/>
          <p:cNvSpPr/>
          <p:nvPr/>
        </p:nvSpPr>
        <p:spPr>
          <a:xfrm>
            <a:off x="5537146" y="3690196"/>
            <a:ext cx="908712" cy="403691"/>
          </a:xfrm>
          <a:prstGeom prst="rect">
            <a:avLst/>
          </a:prstGeom>
          <a:solidFill>
            <a:schemeClr val="bg2"/>
          </a:solidFill>
          <a:ln w="31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solidFill>
                  <a:schemeClr val="tx1"/>
                </a:solidFill>
                <a:latin typeface="Calibri Light" panose="020F0302020204030204" pitchFamily="34" charset="0"/>
              </a:rPr>
              <a:t>Controller</a:t>
            </a:r>
            <a:endParaRPr lang="en-US" sz="1050" dirty="0">
              <a:solidFill>
                <a:schemeClr val="tx1"/>
              </a:solidFill>
              <a:latin typeface="Calibri Light" panose="020F0302020204030204" pitchFamily="34" charset="0"/>
            </a:endParaRPr>
          </a:p>
        </p:txBody>
      </p:sp>
      <p:sp>
        <p:nvSpPr>
          <p:cNvPr id="50" name="Rettangolo 49"/>
          <p:cNvSpPr/>
          <p:nvPr/>
        </p:nvSpPr>
        <p:spPr>
          <a:xfrm>
            <a:off x="6814226" y="4126570"/>
            <a:ext cx="908712" cy="403691"/>
          </a:xfrm>
          <a:prstGeom prst="rect">
            <a:avLst/>
          </a:prstGeom>
          <a:solidFill>
            <a:schemeClr val="bg2"/>
          </a:solidFill>
          <a:ln w="31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solidFill>
                  <a:schemeClr val="tx1"/>
                </a:solidFill>
                <a:latin typeface="Calibri Light" panose="020F0302020204030204" pitchFamily="34" charset="0"/>
              </a:rPr>
              <a:t>View</a:t>
            </a:r>
            <a:endParaRPr lang="en-US" sz="1050" dirty="0">
              <a:solidFill>
                <a:schemeClr val="tx1"/>
              </a:solidFill>
              <a:latin typeface="Calibri Light" panose="020F0302020204030204" pitchFamily="34" charset="0"/>
            </a:endParaRPr>
          </a:p>
        </p:txBody>
      </p:sp>
      <p:cxnSp>
        <p:nvCxnSpPr>
          <p:cNvPr id="51" name="Connettore 1 50"/>
          <p:cNvCxnSpPr/>
          <p:nvPr/>
        </p:nvCxnSpPr>
        <p:spPr>
          <a:xfrm flipH="1">
            <a:off x="4235220" y="2996292"/>
            <a:ext cx="1171657" cy="964227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ttore 1 53"/>
          <p:cNvCxnSpPr/>
          <p:nvPr/>
        </p:nvCxnSpPr>
        <p:spPr>
          <a:xfrm>
            <a:off x="6545218" y="2985553"/>
            <a:ext cx="1177720" cy="97496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ttore 1 59"/>
          <p:cNvCxnSpPr/>
          <p:nvPr/>
        </p:nvCxnSpPr>
        <p:spPr>
          <a:xfrm>
            <a:off x="2307202" y="1967211"/>
            <a:ext cx="5572301" cy="0"/>
          </a:xfrm>
          <a:prstGeom prst="line">
            <a:avLst/>
          </a:prstGeom>
          <a:ln w="76200" cmpd="sng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ttore 1 60"/>
          <p:cNvCxnSpPr/>
          <p:nvPr/>
        </p:nvCxnSpPr>
        <p:spPr>
          <a:xfrm>
            <a:off x="2357782" y="3547012"/>
            <a:ext cx="5572301" cy="0"/>
          </a:xfrm>
          <a:prstGeom prst="line">
            <a:avLst/>
          </a:prstGeom>
          <a:ln w="76200" cmpd="sng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ttore 4 64"/>
          <p:cNvCxnSpPr>
            <a:endCxn id="49" idx="1"/>
          </p:cNvCxnSpPr>
          <p:nvPr/>
        </p:nvCxnSpPr>
        <p:spPr>
          <a:xfrm flipV="1">
            <a:off x="4657704" y="3892042"/>
            <a:ext cx="879442" cy="201847"/>
          </a:xfrm>
          <a:prstGeom prst="bentConnector3">
            <a:avLst>
              <a:gd name="adj1" fmla="val 1041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ttore 4 67"/>
          <p:cNvCxnSpPr>
            <a:endCxn id="49" idx="3"/>
          </p:cNvCxnSpPr>
          <p:nvPr/>
        </p:nvCxnSpPr>
        <p:spPr>
          <a:xfrm rot="10800000">
            <a:off x="6445859" y="3892043"/>
            <a:ext cx="972905" cy="201845"/>
          </a:xfrm>
          <a:prstGeom prst="bentConnector3">
            <a:avLst>
              <a:gd name="adj1" fmla="val 1722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ttore 1 74"/>
          <p:cNvCxnSpPr>
            <a:stCxn id="48" idx="3"/>
            <a:endCxn id="50" idx="1"/>
          </p:cNvCxnSpPr>
          <p:nvPr/>
        </p:nvCxnSpPr>
        <p:spPr>
          <a:xfrm flipV="1">
            <a:off x="5284006" y="4328415"/>
            <a:ext cx="1530220" cy="98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ettangolo 79"/>
          <p:cNvSpPr/>
          <p:nvPr/>
        </p:nvSpPr>
        <p:spPr>
          <a:xfrm>
            <a:off x="3759750" y="4652038"/>
            <a:ext cx="908712" cy="403691"/>
          </a:xfrm>
          <a:prstGeom prst="rect">
            <a:avLst/>
          </a:prstGeom>
          <a:solidFill>
            <a:srgbClr val="FF0000"/>
          </a:solidFill>
          <a:ln w="31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solidFill>
                  <a:schemeClr val="bg1"/>
                </a:solidFill>
                <a:latin typeface="Calibri Light" panose="020F0302020204030204" pitchFamily="34" charset="0"/>
              </a:rPr>
              <a:t>CRUD</a:t>
            </a:r>
            <a:endParaRPr lang="en-US" sz="1050" dirty="0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  <p:sp>
        <p:nvSpPr>
          <p:cNvPr id="81" name="Rettangolo 80"/>
          <p:cNvSpPr/>
          <p:nvPr/>
        </p:nvSpPr>
        <p:spPr>
          <a:xfrm>
            <a:off x="4729363" y="4652038"/>
            <a:ext cx="908712" cy="403691"/>
          </a:xfrm>
          <a:prstGeom prst="rect">
            <a:avLst/>
          </a:prstGeom>
          <a:solidFill>
            <a:srgbClr val="FF0000"/>
          </a:solidFill>
          <a:ln w="31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solidFill>
                  <a:schemeClr val="bg1"/>
                </a:solidFill>
                <a:latin typeface="Calibri Light" panose="020F0302020204030204" pitchFamily="34" charset="0"/>
              </a:rPr>
              <a:t>ORM</a:t>
            </a:r>
            <a:endParaRPr lang="en-US" sz="1050" dirty="0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  <p:sp>
        <p:nvSpPr>
          <p:cNvPr id="84" name="CasellaDiTesto 83"/>
          <p:cNvSpPr txBox="1"/>
          <p:nvPr/>
        </p:nvSpPr>
        <p:spPr>
          <a:xfrm>
            <a:off x="1143000" y="4835378"/>
            <a:ext cx="2605200" cy="3347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/>
            <a:r>
              <a:rPr lang="en-US" sz="525" dirty="0" err="1">
                <a:latin typeface="Calibri Light" panose="020F0302020204030204" pitchFamily="34" charset="0"/>
              </a:rPr>
              <a:t>Tratto</a:t>
            </a:r>
            <a:r>
              <a:rPr lang="en-US" sz="525" dirty="0">
                <a:latin typeface="Calibri Light" panose="020F0302020204030204" pitchFamily="34" charset="0"/>
              </a:rPr>
              <a:t> da: David Patterson, Armando Fox</a:t>
            </a:r>
            <a:br>
              <a:rPr lang="en-US" sz="525" dirty="0">
                <a:latin typeface="Calibri Light" panose="020F0302020204030204" pitchFamily="34" charset="0"/>
              </a:rPr>
            </a:br>
            <a:r>
              <a:rPr lang="en-US" sz="525" dirty="0">
                <a:latin typeface="Calibri Light" panose="020F0302020204030204" pitchFamily="34" charset="0"/>
              </a:rPr>
              <a:t>Engineering Long-Lasting Software: An Agile Approach Using SaaS and Cloud Computing</a:t>
            </a:r>
          </a:p>
          <a:p>
            <a:endParaRPr lang="en-US" sz="525" dirty="0">
              <a:latin typeface="Calibri Light" panose="020F0302020204030204" pitchFamily="34" charset="0"/>
            </a:endParaRPr>
          </a:p>
        </p:txBody>
      </p:sp>
      <p:sp>
        <p:nvSpPr>
          <p:cNvPr id="39" name="Fumetto 4 38"/>
          <p:cNvSpPr/>
          <p:nvPr/>
        </p:nvSpPr>
        <p:spPr>
          <a:xfrm>
            <a:off x="3599040" y="1967211"/>
            <a:ext cx="4420874" cy="1579801"/>
          </a:xfrm>
          <a:prstGeom prst="cloudCallout">
            <a:avLst>
              <a:gd name="adj1" fmla="val -22824"/>
              <a:gd name="adj2" fmla="val 37187"/>
            </a:avLst>
          </a:prstGeom>
          <a:solidFill>
            <a:schemeClr val="bg2">
              <a:alpha val="1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solidFill>
                <a:srgbClr val="000000"/>
              </a:solidFill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76238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Sommario</a:t>
            </a:r>
            <a:endParaRPr lang="en-US"/>
          </a:p>
        </p:txBody>
      </p:sp>
      <p:sp>
        <p:nvSpPr>
          <p:cNvPr id="4" name="Segnaposto contenuto 2"/>
          <p:cNvSpPr txBox="1">
            <a:spLocks/>
          </p:cNvSpPr>
          <p:nvPr/>
        </p:nvSpPr>
        <p:spPr>
          <a:xfrm>
            <a:off x="457200" y="1047751"/>
            <a:ext cx="4219575" cy="3394472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dirty="0" err="1">
                <a:latin typeface="Calibri Light" panose="020F0302020204030204" pitchFamily="34" charset="0"/>
              </a:rPr>
              <a:t>Parte</a:t>
            </a:r>
            <a:r>
              <a:rPr lang="en-US" sz="1500" dirty="0">
                <a:latin typeface="Calibri Light" panose="020F0302020204030204" pitchFamily="34" charset="0"/>
              </a:rPr>
              <a:t> I: </a:t>
            </a:r>
            <a:r>
              <a:rPr lang="en-US" sz="1500" dirty="0" err="1">
                <a:latin typeface="Calibri Light" panose="020F0302020204030204" pitchFamily="34" charset="0"/>
              </a:rPr>
              <a:t>introduzione</a:t>
            </a:r>
            <a:r>
              <a:rPr lang="en-US" sz="1500" dirty="0">
                <a:latin typeface="Calibri Light" panose="020F0302020204030204" pitchFamily="34" charset="0"/>
              </a:rPr>
              <a:t> a JPA</a:t>
            </a:r>
          </a:p>
          <a:p>
            <a:pPr lvl="1"/>
            <a:r>
              <a:rPr lang="en-US" sz="1350" dirty="0" err="1">
                <a:latin typeface="Calibri Light" panose="020F0302020204030204" pitchFamily="34" charset="0"/>
              </a:rPr>
              <a:t>Entità</a:t>
            </a:r>
            <a:endParaRPr lang="en-US" sz="1350" dirty="0">
              <a:latin typeface="Calibri Light" panose="020F0302020204030204" pitchFamily="34" charset="0"/>
            </a:endParaRPr>
          </a:p>
          <a:p>
            <a:pPr lvl="1"/>
            <a:r>
              <a:rPr lang="en-US" sz="1350" dirty="0">
                <a:latin typeface="Calibri Light" panose="020F0302020204030204" pitchFamily="34" charset="0"/>
              </a:rPr>
              <a:t>Object-Relational-Mapping</a:t>
            </a:r>
          </a:p>
          <a:p>
            <a:r>
              <a:rPr lang="en-US" sz="1500" dirty="0" err="1">
                <a:solidFill>
                  <a:schemeClr val="bg1">
                    <a:lumMod val="75000"/>
                  </a:schemeClr>
                </a:solidFill>
                <a:latin typeface="Calibri Light" panose="020F0302020204030204" pitchFamily="34" charset="0"/>
              </a:rPr>
              <a:t>Parte</a:t>
            </a:r>
            <a:r>
              <a:rPr lang="en-US" sz="1500" dirty="0">
                <a:solidFill>
                  <a:schemeClr val="bg1">
                    <a:lumMod val="75000"/>
                  </a:schemeClr>
                </a:solidFill>
                <a:latin typeface="Calibri Light" panose="020F0302020204030204" pitchFamily="34" charset="0"/>
              </a:rPr>
              <a:t> II: Relationship Mapping</a:t>
            </a:r>
          </a:p>
          <a:p>
            <a:pPr lvl="1"/>
            <a:r>
              <a:rPr lang="en-US" sz="1350" dirty="0" err="1">
                <a:solidFill>
                  <a:schemeClr val="bg1">
                    <a:lumMod val="75000"/>
                  </a:schemeClr>
                </a:solidFill>
                <a:latin typeface="Calibri Light" panose="020F0302020204030204" pitchFamily="34" charset="0"/>
              </a:rPr>
              <a:t>Associazioni</a:t>
            </a:r>
            <a:r>
              <a:rPr lang="en-US" sz="1350" dirty="0">
                <a:solidFill>
                  <a:schemeClr val="bg1">
                    <a:lumMod val="75000"/>
                  </a:schemeClr>
                </a:solidFill>
                <a:latin typeface="Calibri Light" panose="020F0302020204030204" pitchFamily="34" charset="0"/>
              </a:rPr>
              <a:t>: OO vs </a:t>
            </a:r>
            <a:r>
              <a:rPr lang="en-US" sz="1350" dirty="0" err="1">
                <a:solidFill>
                  <a:schemeClr val="bg1">
                    <a:lumMod val="75000"/>
                  </a:schemeClr>
                </a:solidFill>
                <a:latin typeface="Calibri Light" panose="020F0302020204030204" pitchFamily="34" charset="0"/>
              </a:rPr>
              <a:t>relazionale</a:t>
            </a:r>
            <a:endParaRPr lang="en-US" sz="1350" dirty="0">
              <a:solidFill>
                <a:schemeClr val="bg1">
                  <a:lumMod val="75000"/>
                </a:schemeClr>
              </a:solidFill>
              <a:latin typeface="Calibri Light" panose="020F0302020204030204" pitchFamily="34" charset="0"/>
            </a:endParaRPr>
          </a:p>
          <a:p>
            <a:pPr lvl="1"/>
            <a:r>
              <a:rPr lang="en-US" sz="1350" dirty="0" err="1">
                <a:solidFill>
                  <a:schemeClr val="bg1">
                    <a:lumMod val="75000"/>
                  </a:schemeClr>
                </a:solidFill>
                <a:latin typeface="Calibri Light" panose="020F0302020204030204" pitchFamily="34" charset="0"/>
              </a:rPr>
              <a:t>Cardinalità</a:t>
            </a:r>
            <a:r>
              <a:rPr lang="en-US" sz="1350" dirty="0">
                <a:solidFill>
                  <a:schemeClr val="bg1">
                    <a:lumMod val="75000"/>
                  </a:schemeClr>
                </a:solidFill>
                <a:latin typeface="Calibri Light" panose="020F0302020204030204" pitchFamily="34" charset="0"/>
              </a:rPr>
              <a:t> e </a:t>
            </a:r>
            <a:r>
              <a:rPr lang="en-US" sz="1350" dirty="0" err="1">
                <a:solidFill>
                  <a:schemeClr val="bg1">
                    <a:lumMod val="75000"/>
                  </a:schemeClr>
                </a:solidFill>
                <a:latin typeface="Calibri Light" panose="020F0302020204030204" pitchFamily="34" charset="0"/>
              </a:rPr>
              <a:t>direzione</a:t>
            </a:r>
            <a:endParaRPr lang="en-US" sz="1350" dirty="0">
              <a:solidFill>
                <a:schemeClr val="bg1">
                  <a:lumMod val="75000"/>
                </a:schemeClr>
              </a:solidFill>
              <a:latin typeface="Calibri Light" panose="020F0302020204030204" pitchFamily="34" charset="0"/>
            </a:endParaRPr>
          </a:p>
          <a:p>
            <a:pPr lvl="1"/>
            <a:r>
              <a:rPr lang="en-US" sz="1350" dirty="0">
                <a:solidFill>
                  <a:schemeClr val="bg1">
                    <a:lumMod val="75000"/>
                  </a:schemeClr>
                </a:solidFill>
                <a:latin typeface="Calibri Light" panose="020F0302020204030204" pitchFamily="34" charset="0"/>
              </a:rPr>
              <a:t>Mapping </a:t>
            </a:r>
            <a:r>
              <a:rPr lang="en-US" sz="1350" dirty="0" err="1">
                <a:solidFill>
                  <a:schemeClr val="bg1">
                    <a:lumMod val="75000"/>
                  </a:schemeClr>
                </a:solidFill>
                <a:latin typeface="Calibri Light" panose="020F0302020204030204" pitchFamily="34" charset="0"/>
              </a:rPr>
              <a:t>delle</a:t>
            </a:r>
            <a:r>
              <a:rPr lang="en-US" sz="1350" dirty="0">
                <a:solidFill>
                  <a:schemeClr val="bg1">
                    <a:lumMod val="75000"/>
                  </a:schemeClr>
                </a:solidFill>
                <a:latin typeface="Calibri Light" panose="020F0302020204030204" pitchFamily="34" charset="0"/>
              </a:rPr>
              <a:t> </a:t>
            </a:r>
            <a:r>
              <a:rPr lang="en-US" sz="1350" dirty="0" err="1">
                <a:solidFill>
                  <a:schemeClr val="bg1">
                    <a:lumMod val="75000"/>
                  </a:schemeClr>
                </a:solidFill>
                <a:latin typeface="Calibri Light" panose="020F0302020204030204" pitchFamily="34" charset="0"/>
              </a:rPr>
              <a:t>associazioni</a:t>
            </a:r>
            <a:endParaRPr lang="en-US" sz="1350" dirty="0">
              <a:solidFill>
                <a:schemeClr val="bg1">
                  <a:lumMod val="75000"/>
                </a:schemeClr>
              </a:solidFill>
              <a:latin typeface="Calibri Light" panose="020F0302020204030204" pitchFamily="34" charset="0"/>
            </a:endParaRPr>
          </a:p>
          <a:p>
            <a:pPr lvl="1"/>
            <a:r>
              <a:rPr lang="en-US" sz="1350" dirty="0">
                <a:solidFill>
                  <a:schemeClr val="bg1">
                    <a:lumMod val="75000"/>
                  </a:schemeClr>
                </a:solidFill>
                <a:latin typeface="Calibri Light" panose="020F0302020204030204" pitchFamily="34" charset="0"/>
              </a:rPr>
              <a:t>Object-Relational-Mapping: </a:t>
            </a:r>
            <a:r>
              <a:rPr lang="en-US" sz="1350" dirty="0" err="1">
                <a:solidFill>
                  <a:schemeClr val="bg1">
                    <a:lumMod val="75000"/>
                  </a:schemeClr>
                </a:solidFill>
                <a:latin typeface="Calibri Light" panose="020F0302020204030204" pitchFamily="34" charset="0"/>
              </a:rPr>
              <a:t>approfondimenti</a:t>
            </a:r>
            <a:endParaRPr lang="en-US" sz="1350" dirty="0">
              <a:solidFill>
                <a:schemeClr val="bg1">
                  <a:lumMod val="75000"/>
                </a:schemeClr>
              </a:solidFill>
              <a:latin typeface="Calibri Light" panose="020F0302020204030204" pitchFamily="34" charset="0"/>
            </a:endParaRPr>
          </a:p>
          <a:p>
            <a:pPr lvl="1"/>
            <a:r>
              <a:rPr lang="en-US" sz="1350" dirty="0" err="1">
                <a:solidFill>
                  <a:schemeClr val="bg1">
                    <a:lumMod val="75000"/>
                  </a:schemeClr>
                </a:solidFill>
                <a:latin typeface="Calibri Light" panose="020F0302020204030204" pitchFamily="34" charset="0"/>
              </a:rPr>
              <a:t>Esercizio</a:t>
            </a:r>
            <a:endParaRPr lang="en-US" sz="1350" dirty="0">
              <a:solidFill>
                <a:schemeClr val="bg1">
                  <a:lumMod val="75000"/>
                </a:schemeClr>
              </a:solidFill>
              <a:latin typeface="Calibri Light" panose="020F0302020204030204" pitchFamily="34" charset="0"/>
            </a:endParaRPr>
          </a:p>
          <a:p>
            <a:pPr lvl="1"/>
            <a:r>
              <a:rPr lang="en-US" sz="1350" dirty="0">
                <a:solidFill>
                  <a:schemeClr val="bg1">
                    <a:lumMod val="75000"/>
                  </a:schemeClr>
                </a:solidFill>
                <a:latin typeface="Calibri Light" panose="020F0302020204030204" pitchFamily="34" charset="0"/>
              </a:rPr>
              <a:t>Mapping </a:t>
            </a:r>
            <a:r>
              <a:rPr lang="en-US" sz="1350" dirty="0" err="1">
                <a:solidFill>
                  <a:schemeClr val="bg1">
                    <a:lumMod val="75000"/>
                  </a:schemeClr>
                </a:solidFill>
                <a:latin typeface="Calibri Light" panose="020F0302020204030204" pitchFamily="34" charset="0"/>
              </a:rPr>
              <a:t>associazioni</a:t>
            </a:r>
            <a:r>
              <a:rPr lang="en-US" sz="1350" dirty="0">
                <a:solidFill>
                  <a:schemeClr val="bg1">
                    <a:lumMod val="75000"/>
                  </a:schemeClr>
                </a:solidFill>
                <a:latin typeface="Calibri Light" panose="020F0302020204030204" pitchFamily="34" charset="0"/>
              </a:rPr>
              <a:t>: </a:t>
            </a:r>
            <a:r>
              <a:rPr lang="en-US" sz="1350" dirty="0" err="1">
                <a:solidFill>
                  <a:schemeClr val="bg1">
                    <a:lumMod val="75000"/>
                  </a:schemeClr>
                </a:solidFill>
                <a:latin typeface="Calibri Light" panose="020F0302020204030204" pitchFamily="34" charset="0"/>
              </a:rPr>
              <a:t>approfondimenti</a:t>
            </a:r>
            <a:endParaRPr lang="en-US" sz="1350" dirty="0">
              <a:solidFill>
                <a:schemeClr val="bg1">
                  <a:lumMod val="75000"/>
                </a:schemeClr>
              </a:solidFill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30196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noProof="0"/>
              <a:t>Introduzione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it-IT" noProof="0" dirty="0"/>
              <a:t>Sistema informativo</a:t>
            </a:r>
          </a:p>
          <a:p>
            <a:pPr lvl="1"/>
            <a:r>
              <a:rPr lang="it-IT" noProof="0" dirty="0"/>
              <a:t>logica applicativa</a:t>
            </a:r>
          </a:p>
          <a:p>
            <a:pPr lvl="1"/>
            <a:r>
              <a:rPr lang="it-IT" dirty="0"/>
              <a:t>i</a:t>
            </a:r>
            <a:r>
              <a:rPr lang="it-IT" noProof="0" dirty="0" err="1"/>
              <a:t>nterazione</a:t>
            </a:r>
            <a:r>
              <a:rPr lang="it-IT" noProof="0" dirty="0"/>
              <a:t> con l'utente</a:t>
            </a:r>
          </a:p>
          <a:p>
            <a:pPr lvl="1"/>
            <a:r>
              <a:rPr lang="it-IT" noProof="0" dirty="0"/>
              <a:t>interazione con altri sistemi</a:t>
            </a:r>
          </a:p>
          <a:p>
            <a:pPr lvl="1"/>
            <a:r>
              <a:rPr lang="it-IT" noProof="0" dirty="0">
                <a:highlight>
                  <a:srgbClr val="FFFF00"/>
                </a:highlight>
              </a:rPr>
              <a:t>persistenza</a:t>
            </a:r>
          </a:p>
          <a:p>
            <a:r>
              <a:rPr lang="it-IT" noProof="0" dirty="0"/>
              <a:t>Persistenza in un database</a:t>
            </a:r>
          </a:p>
          <a:p>
            <a:pPr lvl="1"/>
            <a:r>
              <a:rPr lang="it-IT" noProof="0" dirty="0"/>
              <a:t>tipicamente un database relazionale: noi ci concentriamo su questi (ma, </a:t>
            </a:r>
            <a:r>
              <a:rPr lang="it-IT" dirty="0"/>
              <a:t>a seconda delle esigenze, potrebbero essere usate anche altre tecnologie)</a:t>
            </a:r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34742392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noProof="0"/>
              <a:t>Introduzione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it-IT" noProof="0" dirty="0"/>
              <a:t>Database relazionale</a:t>
            </a:r>
          </a:p>
          <a:p>
            <a:pPr lvl="1"/>
            <a:r>
              <a:rPr lang="it-IT" noProof="0" dirty="0"/>
              <a:t>relazioni (tabelle) e ennuple (righe)</a:t>
            </a:r>
          </a:p>
          <a:p>
            <a:pPr lvl="1"/>
            <a:r>
              <a:rPr lang="it-IT" noProof="0" dirty="0"/>
              <a:t>attributi (colonne)</a:t>
            </a:r>
          </a:p>
          <a:p>
            <a:pPr lvl="1"/>
            <a:r>
              <a:rPr lang="it-IT" noProof="0" dirty="0"/>
              <a:t>chiavi primarie (</a:t>
            </a:r>
            <a:r>
              <a:rPr lang="it-IT" noProof="0" dirty="0" err="1"/>
              <a:t>primary</a:t>
            </a:r>
            <a:r>
              <a:rPr lang="it-IT" noProof="0" dirty="0"/>
              <a:t> key)</a:t>
            </a:r>
          </a:p>
          <a:p>
            <a:pPr lvl="1"/>
            <a:r>
              <a:rPr lang="it-IT" noProof="0" dirty="0"/>
              <a:t>chiavi esterne (</a:t>
            </a:r>
            <a:r>
              <a:rPr lang="it-IT" noProof="0" dirty="0" err="1"/>
              <a:t>foreign</a:t>
            </a:r>
            <a:r>
              <a:rPr lang="it-IT" noProof="0" dirty="0"/>
              <a:t> key)</a:t>
            </a:r>
          </a:p>
          <a:p>
            <a:r>
              <a:rPr lang="it-IT" noProof="0" dirty="0"/>
              <a:t>Programmazione ad Oggetti</a:t>
            </a:r>
          </a:p>
          <a:p>
            <a:pPr lvl="1"/>
            <a:r>
              <a:rPr lang="it-IT" noProof="0" dirty="0"/>
              <a:t>classi</a:t>
            </a:r>
          </a:p>
          <a:p>
            <a:pPr lvl="1"/>
            <a:r>
              <a:rPr lang="it-IT" noProof="0" dirty="0"/>
              <a:t>oggetti</a:t>
            </a:r>
          </a:p>
          <a:p>
            <a:pPr lvl="1"/>
            <a:r>
              <a:rPr lang="it-IT" dirty="0"/>
              <a:t>attributi (variabili di istanza di tipo primitivo o </a:t>
            </a:r>
            <a:r>
              <a:rPr lang="it-IT" dirty="0" err="1"/>
              <a:t>String</a:t>
            </a:r>
            <a:r>
              <a:rPr lang="it-IT" dirty="0"/>
              <a:t>)</a:t>
            </a:r>
            <a:endParaRPr lang="it-IT" noProof="0" dirty="0"/>
          </a:p>
          <a:p>
            <a:pPr lvl="1"/>
            <a:r>
              <a:rPr lang="it-IT" noProof="0" dirty="0"/>
              <a:t>riferimenti </a:t>
            </a:r>
            <a:r>
              <a:rPr lang="it-IT" dirty="0"/>
              <a:t>(variabili di istanza di tipo riferimento o collezione di riferimenti)</a:t>
            </a:r>
            <a:endParaRPr lang="it-IT" noProof="0" dirty="0"/>
          </a:p>
          <a:p>
            <a:pPr lvl="1"/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9322566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noProof="0"/>
              <a:t>Introduzione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it-IT" noProof="0" dirty="0"/>
              <a:t>Modello relazionale e Modello OO</a:t>
            </a:r>
          </a:p>
          <a:p>
            <a:pPr lvl="1"/>
            <a:r>
              <a:rPr lang="it-IT" noProof="0" dirty="0"/>
              <a:t>molto diversi</a:t>
            </a:r>
          </a:p>
          <a:p>
            <a:r>
              <a:rPr lang="it-IT" noProof="0" dirty="0"/>
              <a:t>Object </a:t>
            </a:r>
            <a:r>
              <a:rPr lang="it-IT" noProof="0" dirty="0" err="1"/>
              <a:t>Relational</a:t>
            </a:r>
            <a:r>
              <a:rPr lang="it-IT" noProof="0" dirty="0"/>
              <a:t> </a:t>
            </a:r>
            <a:r>
              <a:rPr lang="it-IT" noProof="0" dirty="0" err="1"/>
              <a:t>Mapping</a:t>
            </a:r>
            <a:r>
              <a:rPr lang="it-IT" noProof="0" dirty="0"/>
              <a:t> (ORM)</a:t>
            </a:r>
          </a:p>
          <a:p>
            <a:pPr lvl="1"/>
            <a:r>
              <a:rPr lang="it-IT" noProof="0" dirty="0"/>
              <a:t>strumenti per favorire il </a:t>
            </a:r>
            <a:r>
              <a:rPr lang="it-IT" noProof="0" dirty="0" err="1"/>
              <a:t>mapping</a:t>
            </a:r>
            <a:r>
              <a:rPr lang="it-IT" noProof="0" dirty="0"/>
              <a:t> tra i due mondi</a:t>
            </a:r>
          </a:p>
          <a:p>
            <a:pPr lvl="1"/>
            <a:r>
              <a:rPr lang="it-IT" noProof="0" dirty="0"/>
              <a:t>offrono una vista OO su dati relazionali e viceversa</a:t>
            </a:r>
          </a:p>
          <a:p>
            <a:pPr lvl="1"/>
            <a:r>
              <a:rPr lang="it-IT" dirty="0"/>
              <a:t>o</a:t>
            </a:r>
            <a:r>
              <a:rPr lang="it-IT" noProof="0" dirty="0" err="1"/>
              <a:t>biettivo</a:t>
            </a:r>
            <a:r>
              <a:rPr lang="it-IT" noProof="0" dirty="0"/>
              <a:t>: programmare OO affidando la persistenza ad un DBMS</a:t>
            </a:r>
          </a:p>
          <a:p>
            <a:r>
              <a:rPr lang="it-IT" noProof="0" dirty="0"/>
              <a:t>Java </a:t>
            </a:r>
            <a:r>
              <a:rPr lang="it-IT" noProof="0" dirty="0" err="1"/>
              <a:t>Persistence</a:t>
            </a:r>
            <a:r>
              <a:rPr lang="it-IT" noProof="0" dirty="0"/>
              <a:t> API (JPA)</a:t>
            </a:r>
          </a:p>
          <a:p>
            <a:pPr lvl="1"/>
            <a:r>
              <a:rPr lang="it-IT" dirty="0"/>
              <a:t>standard definito a partire da </a:t>
            </a:r>
            <a:r>
              <a:rPr lang="it-IT" dirty="0" err="1"/>
              <a:t>Hibernate</a:t>
            </a:r>
            <a:r>
              <a:rPr lang="it-IT" dirty="0"/>
              <a:t> (ORM di successo) nel 2006 (JPA 1.0), successivamente rivisto nel 2009 (JPA 2.0) e nel 2013 (JPA 2.1). L'ultima versione (JPA 2.2) è del 2017 </a:t>
            </a:r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28157980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Nota </a:t>
            </a:r>
            <a:r>
              <a:rPr lang="en-US" err="1"/>
              <a:t>terminologica</a:t>
            </a:r>
            <a:endParaRPr lang="en-US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/>
              <a:t>Quando</a:t>
            </a:r>
            <a:r>
              <a:rPr lang="en-US" dirty="0"/>
              <a:t> ci </a:t>
            </a:r>
            <a:r>
              <a:rPr lang="en-US" dirty="0" err="1"/>
              <a:t>riferiamo</a:t>
            </a:r>
            <a:r>
              <a:rPr lang="en-US" dirty="0"/>
              <a:t> al </a:t>
            </a:r>
            <a:r>
              <a:rPr lang="en-US" dirty="0" err="1"/>
              <a:t>mondo</a:t>
            </a:r>
            <a:r>
              <a:rPr lang="en-US" dirty="0"/>
              <a:t> </a:t>
            </a:r>
            <a:r>
              <a:rPr lang="en-US" dirty="0" err="1"/>
              <a:t>relazionale</a:t>
            </a:r>
            <a:r>
              <a:rPr lang="en-US" dirty="0"/>
              <a:t>, </a:t>
            </a:r>
            <a:r>
              <a:rPr lang="en-US" dirty="0" err="1"/>
              <a:t>usiamo</a:t>
            </a:r>
            <a:r>
              <a:rPr lang="en-US" dirty="0"/>
              <a:t> la </a:t>
            </a:r>
            <a:r>
              <a:rPr lang="en-US" dirty="0" err="1"/>
              <a:t>seguente</a:t>
            </a:r>
            <a:r>
              <a:rPr lang="en-US" dirty="0"/>
              <a:t> </a:t>
            </a:r>
            <a:r>
              <a:rPr lang="en-US" dirty="0" err="1"/>
              <a:t>terminologia</a:t>
            </a:r>
            <a:endParaRPr lang="en-US" dirty="0"/>
          </a:p>
          <a:p>
            <a:pPr lvl="1"/>
            <a:r>
              <a:rPr lang="en-US" dirty="0" err="1"/>
              <a:t>tabella</a:t>
            </a:r>
            <a:r>
              <a:rPr lang="en-US" dirty="0"/>
              <a:t> (o </a:t>
            </a:r>
            <a:r>
              <a:rPr lang="en-US" dirty="0" err="1"/>
              <a:t>relazione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riga</a:t>
            </a:r>
            <a:r>
              <a:rPr lang="en-US" dirty="0"/>
              <a:t> (o </a:t>
            </a:r>
            <a:r>
              <a:rPr lang="en-US" dirty="0" err="1"/>
              <a:t>ennupla</a:t>
            </a:r>
            <a:r>
              <a:rPr lang="en-US" dirty="0"/>
              <a:t> o </a:t>
            </a:r>
            <a:r>
              <a:rPr lang="en-US" dirty="0" err="1"/>
              <a:t>tupla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colonna</a:t>
            </a:r>
            <a:r>
              <a:rPr lang="en-US" dirty="0"/>
              <a:t> (o </a:t>
            </a:r>
            <a:r>
              <a:rPr lang="en-US" dirty="0" err="1"/>
              <a:t>attributo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chiave</a:t>
            </a:r>
            <a:r>
              <a:rPr lang="en-US" dirty="0"/>
              <a:t> </a:t>
            </a:r>
            <a:r>
              <a:rPr lang="en-US" dirty="0" err="1"/>
              <a:t>esterna</a:t>
            </a:r>
            <a:r>
              <a:rPr lang="en-US" dirty="0"/>
              <a:t> (o </a:t>
            </a:r>
            <a:r>
              <a:rPr lang="en-US" dirty="0" err="1"/>
              <a:t>vincolo</a:t>
            </a:r>
            <a:r>
              <a:rPr lang="en-US" dirty="0"/>
              <a:t> di </a:t>
            </a:r>
            <a:r>
              <a:rPr lang="en-US" dirty="0" err="1"/>
              <a:t>integrità</a:t>
            </a:r>
            <a:r>
              <a:rPr lang="en-US" dirty="0"/>
              <a:t> </a:t>
            </a:r>
            <a:r>
              <a:rPr lang="en-US" dirty="0" err="1"/>
              <a:t>referenziale</a:t>
            </a:r>
            <a:r>
              <a:rPr lang="en-US" dirty="0"/>
              <a:t>)</a:t>
            </a:r>
          </a:p>
          <a:p>
            <a:r>
              <a:rPr lang="en-US" dirty="0" err="1"/>
              <a:t>Quando</a:t>
            </a:r>
            <a:r>
              <a:rPr lang="en-US" dirty="0"/>
              <a:t> ci </a:t>
            </a:r>
            <a:r>
              <a:rPr lang="en-US" dirty="0" err="1"/>
              <a:t>riferiamo</a:t>
            </a:r>
            <a:r>
              <a:rPr lang="en-US" dirty="0"/>
              <a:t> al </a:t>
            </a:r>
            <a:r>
              <a:rPr lang="en-US" dirty="0" err="1"/>
              <a:t>mondo</a:t>
            </a:r>
            <a:r>
              <a:rPr lang="en-US" dirty="0"/>
              <a:t> OO, </a:t>
            </a:r>
            <a:r>
              <a:rPr lang="en-US" dirty="0" err="1"/>
              <a:t>usiamo</a:t>
            </a:r>
            <a:r>
              <a:rPr lang="en-US" dirty="0"/>
              <a:t> la </a:t>
            </a:r>
            <a:r>
              <a:rPr lang="en-US" dirty="0" err="1"/>
              <a:t>seguente</a:t>
            </a:r>
            <a:r>
              <a:rPr lang="en-US" dirty="0"/>
              <a:t> </a:t>
            </a:r>
            <a:r>
              <a:rPr lang="en-US" dirty="0" err="1"/>
              <a:t>terminologia</a:t>
            </a:r>
            <a:endParaRPr lang="en-US" dirty="0"/>
          </a:p>
          <a:p>
            <a:pPr lvl="1"/>
            <a:r>
              <a:rPr lang="en-US" dirty="0" err="1"/>
              <a:t>classe</a:t>
            </a:r>
            <a:endParaRPr lang="en-US" dirty="0"/>
          </a:p>
          <a:p>
            <a:pPr lvl="1"/>
            <a:r>
              <a:rPr lang="en-US" dirty="0" err="1"/>
              <a:t>oggetto</a:t>
            </a:r>
            <a:endParaRPr lang="en-US" dirty="0"/>
          </a:p>
          <a:p>
            <a:pPr lvl="1"/>
            <a:r>
              <a:rPr lang="en-US" dirty="0" err="1"/>
              <a:t>attributo</a:t>
            </a:r>
            <a:r>
              <a:rPr lang="en-US" dirty="0"/>
              <a:t> (o </a:t>
            </a:r>
            <a:r>
              <a:rPr lang="en-US" dirty="0" err="1"/>
              <a:t>variabile</a:t>
            </a:r>
            <a:r>
              <a:rPr lang="en-US" dirty="0"/>
              <a:t> di </a:t>
            </a:r>
            <a:r>
              <a:rPr lang="en-US" dirty="0" err="1"/>
              <a:t>istanza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riferimento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385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Rappresentazioni</a:t>
            </a:r>
            <a:r>
              <a:rPr lang="en-US"/>
              <a:t> </a:t>
            </a:r>
            <a:r>
              <a:rPr lang="en-US" err="1"/>
              <a:t>Grafiche</a:t>
            </a:r>
            <a:endParaRPr lang="en-US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Classe</a:t>
            </a:r>
            <a:r>
              <a:rPr lang="en-US" dirty="0"/>
              <a:t>		Schema </a:t>
            </a:r>
            <a:r>
              <a:rPr lang="en-US" dirty="0" err="1"/>
              <a:t>Tabella</a:t>
            </a:r>
            <a:r>
              <a:rPr lang="en-US" dirty="0"/>
              <a:t>			</a:t>
            </a:r>
            <a:r>
              <a:rPr lang="en-US" dirty="0" err="1"/>
              <a:t>Tabella</a:t>
            </a:r>
            <a:endParaRPr lang="en-US" dirty="0"/>
          </a:p>
        </p:txBody>
      </p:sp>
      <p:graphicFrame>
        <p:nvGraphicFramePr>
          <p:cNvPr id="5" name="Segnaposto contenuto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60392639"/>
              </p:ext>
            </p:extLst>
          </p:nvPr>
        </p:nvGraphicFramePr>
        <p:xfrm>
          <a:off x="1485900" y="1715340"/>
          <a:ext cx="1164968" cy="10233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49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5151">
                <a:tc>
                  <a:txBody>
                    <a:bodyPr/>
                    <a:lstStyle/>
                    <a:p>
                      <a:pPr algn="ctr"/>
                      <a:r>
                        <a:rPr lang="it-IT" sz="1400" b="0" i="0" dirty="0">
                          <a:latin typeface="Calibri Light" panose="020F0302020204030204" pitchFamily="34" charset="0"/>
                        </a:rPr>
                        <a:t>Customer</a:t>
                      </a:r>
                      <a:endParaRPr lang="it-IT" sz="8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8655">
                <a:tc>
                  <a:txBody>
                    <a:bodyPr/>
                    <a:lstStyle/>
                    <a:p>
                      <a:r>
                        <a:rPr lang="it-IT" sz="800" b="0" i="0" dirty="0">
                          <a:latin typeface="Calibri Light" panose="020F0302020204030204" pitchFamily="34" charset="0"/>
                        </a:rPr>
                        <a:t>-id: Long</a:t>
                      </a:r>
                    </a:p>
                    <a:p>
                      <a:r>
                        <a:rPr lang="it-IT" sz="800" dirty="0"/>
                        <a:t>-</a:t>
                      </a:r>
                      <a:r>
                        <a:rPr lang="it-IT" sz="800" dirty="0" err="1"/>
                        <a:t>firstName</a:t>
                      </a:r>
                      <a:r>
                        <a:rPr lang="it-IT" sz="800" dirty="0"/>
                        <a:t>:</a:t>
                      </a:r>
                      <a:r>
                        <a:rPr lang="it-IT" sz="800" baseline="0" dirty="0"/>
                        <a:t> </a:t>
                      </a:r>
                      <a:r>
                        <a:rPr lang="it-IT" sz="800" baseline="0" dirty="0" err="1"/>
                        <a:t>String</a:t>
                      </a:r>
                      <a:endParaRPr lang="it-IT" sz="800" baseline="0" dirty="0"/>
                    </a:p>
                    <a:p>
                      <a:r>
                        <a:rPr lang="it-IT" sz="800" baseline="0" dirty="0"/>
                        <a:t>-</a:t>
                      </a:r>
                      <a:r>
                        <a:rPr lang="it-IT" sz="800" baseline="0" dirty="0" err="1"/>
                        <a:t>lastName</a:t>
                      </a:r>
                      <a:r>
                        <a:rPr lang="it-IT" sz="800" baseline="0" dirty="0"/>
                        <a:t>: </a:t>
                      </a:r>
                      <a:r>
                        <a:rPr lang="it-IT" sz="800" baseline="0" dirty="0" err="1"/>
                        <a:t>String</a:t>
                      </a:r>
                      <a:endParaRPr lang="it-IT" sz="800" baseline="0" dirty="0"/>
                    </a:p>
                    <a:p>
                      <a:r>
                        <a:rPr lang="it-IT" sz="800" baseline="0" dirty="0"/>
                        <a:t>-email: </a:t>
                      </a:r>
                      <a:r>
                        <a:rPr lang="it-IT" sz="800" baseline="0" dirty="0" err="1"/>
                        <a:t>String</a:t>
                      </a:r>
                      <a:endParaRPr lang="it-IT" sz="800" baseline="0" dirty="0"/>
                    </a:p>
                    <a:p>
                      <a:r>
                        <a:rPr lang="it-IT" sz="800" baseline="0" dirty="0"/>
                        <a:t>-</a:t>
                      </a:r>
                      <a:r>
                        <a:rPr lang="it-IT" sz="800" baseline="0" dirty="0" err="1"/>
                        <a:t>phoneNumber</a:t>
                      </a:r>
                      <a:r>
                        <a:rPr lang="it-IT" sz="800" baseline="0" dirty="0"/>
                        <a:t>: </a:t>
                      </a:r>
                      <a:r>
                        <a:rPr lang="it-IT" sz="800" baseline="0" dirty="0" err="1"/>
                        <a:t>String</a:t>
                      </a:r>
                      <a:endParaRPr lang="it-IT" sz="8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Segnaposto contenuto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43916354"/>
              </p:ext>
            </p:extLst>
          </p:nvPr>
        </p:nvGraphicFramePr>
        <p:xfrm>
          <a:off x="2876551" y="1715340"/>
          <a:ext cx="2619375" cy="139659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181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36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76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5740">
                <a:tc gridSpan="3">
                  <a:txBody>
                    <a:bodyPr/>
                    <a:lstStyle/>
                    <a:p>
                      <a:pPr algn="ctr"/>
                      <a:r>
                        <a:rPr lang="it-IT" sz="900" b="0" i="0" dirty="0">
                          <a:latin typeface="Calibri Light" panose="020F0302020204030204" pitchFamily="34" charset="0"/>
                        </a:rPr>
                        <a:t>customer</a:t>
                      </a:r>
                      <a:endParaRPr lang="it-IT" sz="900" dirty="0"/>
                    </a:p>
                  </a:txBody>
                  <a:tcPr marL="68580" marR="68580" marT="34290" marB="34290"/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it-IT" sz="900" b="0" i="0" dirty="0">
                          <a:latin typeface="Calibri Light" panose="020F0302020204030204" pitchFamily="34" charset="0"/>
                        </a:rPr>
                        <a:t>id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bigint</a:t>
                      </a:r>
                      <a:endParaRPr lang="it-IT" sz="9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nullable</a:t>
                      </a:r>
                      <a:r>
                        <a:rPr lang="it-IT" sz="900" dirty="0"/>
                        <a:t>=false</a:t>
                      </a:r>
                    </a:p>
                    <a:p>
                      <a:r>
                        <a:rPr lang="it-IT" sz="900" dirty="0"/>
                        <a:t>PK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989">
                <a:tc>
                  <a:txBody>
                    <a:bodyPr/>
                    <a:lstStyle/>
                    <a:p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firstname</a:t>
                      </a:r>
                      <a:endParaRPr lang="it-IT" sz="9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varchar</a:t>
                      </a:r>
                      <a:r>
                        <a:rPr lang="it-IT" sz="900" dirty="0"/>
                        <a:t>(255)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nullable</a:t>
                      </a:r>
                      <a:r>
                        <a:rPr lang="it-IT" sz="900" dirty="0"/>
                        <a:t>=false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1989">
                <a:tc>
                  <a:txBody>
                    <a:bodyPr/>
                    <a:lstStyle/>
                    <a:p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lastname</a:t>
                      </a:r>
                      <a:endParaRPr lang="it-IT" sz="9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varchar</a:t>
                      </a:r>
                      <a:r>
                        <a:rPr lang="it-IT" sz="900" dirty="0"/>
                        <a:t>(255)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nullable</a:t>
                      </a:r>
                      <a:r>
                        <a:rPr lang="it-IT" sz="900" dirty="0"/>
                        <a:t>=false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1989">
                <a:tc>
                  <a:txBody>
                    <a:bodyPr/>
                    <a:lstStyle/>
                    <a:p>
                      <a:r>
                        <a:rPr lang="it-IT" sz="900" b="0" i="0" dirty="0">
                          <a:latin typeface="Calibri Light" panose="020F0302020204030204" pitchFamily="34" charset="0"/>
                        </a:rPr>
                        <a:t>email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varchar</a:t>
                      </a:r>
                      <a:r>
                        <a:rPr lang="it-IT" sz="900" dirty="0"/>
                        <a:t>(255)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nullable</a:t>
                      </a:r>
                      <a:r>
                        <a:rPr lang="it-IT" sz="900" dirty="0"/>
                        <a:t>=</a:t>
                      </a:r>
                      <a:r>
                        <a:rPr lang="it-IT" sz="900" dirty="0" err="1"/>
                        <a:t>true</a:t>
                      </a:r>
                      <a:endParaRPr lang="it-IT" sz="9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1989">
                <a:tc>
                  <a:txBody>
                    <a:bodyPr/>
                    <a:lstStyle/>
                    <a:p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phonenumber</a:t>
                      </a:r>
                      <a:endParaRPr lang="it-IT" sz="9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varchar</a:t>
                      </a:r>
                      <a:r>
                        <a:rPr lang="it-IT" sz="900" dirty="0"/>
                        <a:t>(255)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nullable</a:t>
                      </a:r>
                      <a:r>
                        <a:rPr lang="it-IT" sz="900" dirty="0"/>
                        <a:t>=</a:t>
                      </a:r>
                      <a:r>
                        <a:rPr lang="it-IT" sz="900" dirty="0" err="1"/>
                        <a:t>true</a:t>
                      </a:r>
                      <a:endParaRPr lang="it-IT" sz="9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7" name="Segnaposto contenuto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76044396"/>
              </p:ext>
            </p:extLst>
          </p:nvPr>
        </p:nvGraphicFramePr>
        <p:xfrm>
          <a:off x="5686425" y="1965372"/>
          <a:ext cx="2009776" cy="139065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2529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23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9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it-IT" sz="800" b="0" i="0" dirty="0">
                          <a:latin typeface="Calibri Light" panose="020F0302020204030204" pitchFamily="34" charset="0"/>
                        </a:rPr>
                        <a:t>id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it-IT" sz="800" b="0" i="0" dirty="0" err="1">
                          <a:latin typeface="Calibri Light" panose="020F0302020204030204" pitchFamily="34" charset="0"/>
                        </a:rPr>
                        <a:t>firstname</a:t>
                      </a:r>
                      <a:endParaRPr lang="it-IT" sz="8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it-IT" sz="800" b="0" i="0" dirty="0" err="1">
                          <a:latin typeface="Calibri Light" panose="020F0302020204030204" pitchFamily="34" charset="0"/>
                        </a:rPr>
                        <a:t>lastname</a:t>
                      </a:r>
                      <a:endParaRPr lang="it-IT" sz="8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it-IT" sz="800" b="0" i="0" dirty="0">
                          <a:latin typeface="Calibri Light" panose="020F0302020204030204" pitchFamily="34" charset="0"/>
                        </a:rPr>
                        <a:t>…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it-IT" sz="800" b="0" i="0" dirty="0">
                          <a:latin typeface="Calibri Light" panose="020F0302020204030204" pitchFamily="34" charset="0"/>
                        </a:rPr>
                        <a:t>1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it-IT" sz="800" b="0" i="0" dirty="0">
                          <a:latin typeface="Calibri Light" panose="020F0302020204030204" pitchFamily="34" charset="0"/>
                        </a:rPr>
                        <a:t>Robert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0" i="0" dirty="0">
                          <a:latin typeface="Calibri Light" panose="020F0302020204030204" pitchFamily="34" charset="0"/>
                        </a:rPr>
                        <a:t>White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0" i="0" dirty="0">
                          <a:latin typeface="Calibri Light" panose="020F0302020204030204" pitchFamily="34" charset="0"/>
                        </a:rPr>
                        <a:t>…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it-IT" sz="800" b="0" i="0" dirty="0">
                          <a:latin typeface="Calibri Light" panose="020F0302020204030204" pitchFamily="34" charset="0"/>
                        </a:rPr>
                        <a:t>2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it-IT" sz="800" b="0" i="0" dirty="0">
                          <a:latin typeface="Calibri Light" panose="020F0302020204030204" pitchFamily="34" charset="0"/>
                        </a:rPr>
                        <a:t>Julie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0" i="0" dirty="0">
                          <a:latin typeface="Calibri Light" panose="020F0302020204030204" pitchFamily="34" charset="0"/>
                        </a:rPr>
                        <a:t>Brown</a:t>
                      </a:r>
                      <a:endParaRPr lang="it-IT" sz="8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0" i="0" dirty="0">
                          <a:latin typeface="Calibri Light" panose="020F0302020204030204" pitchFamily="34" charset="0"/>
                        </a:rPr>
                        <a:t>…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it-IT" sz="800" b="0" i="0" dirty="0">
                          <a:latin typeface="Calibri Light" panose="020F0302020204030204" pitchFamily="34" charset="0"/>
                        </a:rPr>
                        <a:t>3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0" i="0" dirty="0">
                          <a:latin typeface="Calibri Light" panose="020F0302020204030204" pitchFamily="34" charset="0"/>
                        </a:rPr>
                        <a:t>John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0" i="0" dirty="0">
                          <a:latin typeface="Calibri Light" panose="020F0302020204030204" pitchFamily="34" charset="0"/>
                        </a:rPr>
                        <a:t>Smith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0" i="0" dirty="0">
                          <a:latin typeface="Calibri Light" panose="020F0302020204030204" pitchFamily="34" charset="0"/>
                        </a:rPr>
                        <a:t>…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it-IT" sz="800" b="0" i="0" dirty="0">
                          <a:latin typeface="Calibri Light" panose="020F0302020204030204" pitchFamily="34" charset="0"/>
                        </a:rPr>
                        <a:t>…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0" i="0" dirty="0">
                          <a:latin typeface="Calibri Light" panose="020F0302020204030204" pitchFamily="34" charset="0"/>
                        </a:rPr>
                        <a:t>…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0" i="0" dirty="0">
                          <a:latin typeface="Calibri Light" panose="020F0302020204030204" pitchFamily="34" charset="0"/>
                        </a:rPr>
                        <a:t>…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0" i="0" dirty="0">
                          <a:latin typeface="Calibri Light" panose="020F0302020204030204" pitchFamily="34" charset="0"/>
                        </a:rPr>
                        <a:t>…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CasellaDiTesto 7"/>
          <p:cNvSpPr txBox="1"/>
          <p:nvPr/>
        </p:nvSpPr>
        <p:spPr>
          <a:xfrm>
            <a:off x="5829300" y="1711768"/>
            <a:ext cx="847924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350" dirty="0" err="1">
                <a:latin typeface="Calibri Light" panose="020F0302020204030204" pitchFamily="34" charset="0"/>
              </a:rPr>
              <a:t>customer</a:t>
            </a:r>
            <a:endParaRPr lang="it-IT" sz="1350" dirty="0">
              <a:latin typeface="Calibri Light" panose="020F0302020204030204" pitchFamily="34" charset="0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34CFBD42-0E02-0A41-92EC-368C986041A4}"/>
              </a:ext>
            </a:extLst>
          </p:cNvPr>
          <p:cNvSpPr txBox="1"/>
          <p:nvPr/>
        </p:nvSpPr>
        <p:spPr>
          <a:xfrm>
            <a:off x="2603080" y="3264656"/>
            <a:ext cx="3254417" cy="41549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1050" dirty="0" err="1">
                <a:latin typeface="Calibri Light" panose="020F0302020204030204" pitchFamily="34" charset="0"/>
              </a:rPr>
              <a:t>Rappresentazione</a:t>
            </a:r>
            <a:r>
              <a:rPr lang="en-US" sz="1050" dirty="0">
                <a:latin typeface="Calibri Light" panose="020F0302020204030204" pitchFamily="34" charset="0"/>
              </a:rPr>
              <a:t> </a:t>
            </a:r>
            <a:r>
              <a:rPr lang="en-US" sz="1050" dirty="0" err="1">
                <a:latin typeface="Calibri Light" panose="020F0302020204030204" pitchFamily="34" charset="0"/>
              </a:rPr>
              <a:t>testuale</a:t>
            </a:r>
            <a:r>
              <a:rPr lang="en-US" sz="1050" dirty="0">
                <a:latin typeface="Calibri Light" panose="020F0302020204030204" pitchFamily="34" charset="0"/>
              </a:rPr>
              <a:t> in forma </a:t>
            </a:r>
            <a:r>
              <a:rPr lang="en-US" sz="1050" dirty="0" err="1">
                <a:latin typeface="Calibri Light" panose="020F0302020204030204" pitchFamily="34" charset="0"/>
              </a:rPr>
              <a:t>compatta</a:t>
            </a:r>
            <a:r>
              <a:rPr lang="en-US" sz="1050" dirty="0">
                <a:latin typeface="Calibri Light" panose="020F0302020204030204" pitchFamily="34" charset="0"/>
              </a:rPr>
              <a:t>:</a:t>
            </a:r>
          </a:p>
          <a:p>
            <a:r>
              <a:rPr lang="en-US" sz="1050" dirty="0">
                <a:latin typeface="Calibri Light" panose="020F0302020204030204" pitchFamily="34" charset="0"/>
              </a:rPr>
              <a:t>customer(</a:t>
            </a:r>
            <a:r>
              <a:rPr lang="en-US" sz="1050" u="sng" dirty="0">
                <a:latin typeface="Calibri Light" panose="020F0302020204030204" pitchFamily="34" charset="0"/>
              </a:rPr>
              <a:t>id</a:t>
            </a:r>
            <a:r>
              <a:rPr lang="en-US" sz="1050" dirty="0">
                <a:latin typeface="Calibri Light" panose="020F0302020204030204" pitchFamily="34" charset="0"/>
              </a:rPr>
              <a:t>, </a:t>
            </a:r>
            <a:r>
              <a:rPr lang="en-US" sz="1050" dirty="0" err="1">
                <a:latin typeface="Calibri Light" panose="020F0302020204030204" pitchFamily="34" charset="0"/>
              </a:rPr>
              <a:t>firstname</a:t>
            </a:r>
            <a:r>
              <a:rPr lang="en-US" sz="1050" dirty="0">
                <a:latin typeface="Calibri Light" panose="020F0302020204030204" pitchFamily="34" charset="0"/>
              </a:rPr>
              <a:t>, </a:t>
            </a:r>
            <a:r>
              <a:rPr lang="en-US" sz="1050" dirty="0" err="1">
                <a:latin typeface="Calibri Light" panose="020F0302020204030204" pitchFamily="34" charset="0"/>
              </a:rPr>
              <a:t>lastname</a:t>
            </a:r>
            <a:r>
              <a:rPr lang="en-US" sz="1050" dirty="0">
                <a:latin typeface="Calibri Light" panose="020F0302020204030204" pitchFamily="34" charset="0"/>
              </a:rPr>
              <a:t>, email, </a:t>
            </a:r>
            <a:r>
              <a:rPr lang="en-US" sz="1050" dirty="0" err="1">
                <a:latin typeface="Calibri Light" panose="020F0302020204030204" pitchFamily="34" charset="0"/>
              </a:rPr>
              <a:t>phonenumber</a:t>
            </a:r>
            <a:r>
              <a:rPr lang="en-US" sz="1050" dirty="0">
                <a:latin typeface="Calibri Light" panose="020F030202020403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844519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JPA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/>
              <a:t>Object Relational Mapping</a:t>
            </a:r>
          </a:p>
          <a:p>
            <a:pPr lvl="1"/>
            <a:r>
              <a:rPr lang="en-US" err="1"/>
              <a:t>modello</a:t>
            </a:r>
            <a:r>
              <a:rPr lang="en-US"/>
              <a:t> di </a:t>
            </a:r>
            <a:r>
              <a:rPr lang="en-US" err="1"/>
              <a:t>corrispondenza</a:t>
            </a:r>
            <a:r>
              <a:rPr lang="en-US"/>
              <a:t> </a:t>
            </a:r>
            <a:r>
              <a:rPr lang="en-US" err="1"/>
              <a:t>tra</a:t>
            </a:r>
            <a:r>
              <a:rPr lang="en-US"/>
              <a:t> </a:t>
            </a:r>
            <a:r>
              <a:rPr lang="en-US" err="1"/>
              <a:t>classi</a:t>
            </a:r>
            <a:r>
              <a:rPr lang="en-US"/>
              <a:t> e </a:t>
            </a:r>
            <a:r>
              <a:rPr lang="en-US" err="1"/>
              <a:t>tabelle</a:t>
            </a:r>
            <a:endParaRPr lang="en-US"/>
          </a:p>
          <a:p>
            <a:pPr lvl="1"/>
            <a:r>
              <a:rPr lang="en-US" err="1"/>
              <a:t>metadati</a:t>
            </a:r>
            <a:r>
              <a:rPr lang="en-US"/>
              <a:t> (</a:t>
            </a:r>
            <a:r>
              <a:rPr lang="en-US" err="1"/>
              <a:t>sintassi</a:t>
            </a:r>
            <a:r>
              <a:rPr lang="en-US"/>
              <a:t> per </a:t>
            </a:r>
            <a:r>
              <a:rPr lang="en-US" err="1"/>
              <a:t>definire</a:t>
            </a:r>
            <a:r>
              <a:rPr lang="en-US"/>
              <a:t> </a:t>
            </a:r>
            <a:r>
              <a:rPr lang="en-US" err="1"/>
              <a:t>i</a:t>
            </a:r>
            <a:r>
              <a:rPr lang="en-US"/>
              <a:t> </a:t>
            </a:r>
            <a:r>
              <a:rPr lang="en-US" err="1"/>
              <a:t>dettagli</a:t>
            </a:r>
            <a:r>
              <a:rPr lang="en-US"/>
              <a:t> </a:t>
            </a:r>
            <a:r>
              <a:rPr lang="en-US" err="1"/>
              <a:t>della</a:t>
            </a:r>
            <a:r>
              <a:rPr lang="en-US"/>
              <a:t> </a:t>
            </a:r>
            <a:r>
              <a:rPr lang="en-US" err="1"/>
              <a:t>corrispondenza</a:t>
            </a:r>
            <a:r>
              <a:rPr lang="en-US"/>
              <a:t>)</a:t>
            </a:r>
          </a:p>
          <a:p>
            <a:pPr lvl="1"/>
            <a:r>
              <a:rPr lang="en-US" err="1"/>
              <a:t>linguaggio</a:t>
            </a:r>
            <a:r>
              <a:rPr lang="en-US"/>
              <a:t> di </a:t>
            </a:r>
            <a:r>
              <a:rPr lang="en-US" err="1"/>
              <a:t>interrogazione</a:t>
            </a:r>
            <a:r>
              <a:rPr lang="en-US"/>
              <a:t> (simile a SQL, ma con dot-notation)</a:t>
            </a:r>
          </a:p>
          <a:p>
            <a:pPr lvl="1"/>
            <a:r>
              <a:rPr lang="en-US"/>
              <a:t>API e framework</a:t>
            </a:r>
          </a:p>
          <a:p>
            <a:r>
              <a:rPr lang="it-IT"/>
              <a:t>Varie implementazioni</a:t>
            </a:r>
          </a:p>
          <a:p>
            <a:pPr lvl="1"/>
            <a:r>
              <a:rPr lang="it-IT" err="1"/>
              <a:t>OpenJPA</a:t>
            </a:r>
            <a:endParaRPr lang="it-IT" sz="1200"/>
          </a:p>
          <a:p>
            <a:pPr lvl="1"/>
            <a:r>
              <a:rPr lang="it-IT" err="1"/>
              <a:t>TopLink</a:t>
            </a:r>
            <a:endParaRPr lang="it-IT"/>
          </a:p>
          <a:p>
            <a:pPr lvl="1"/>
            <a:r>
              <a:rPr lang="it-IT" b="1" err="1"/>
              <a:t>Hibernate</a:t>
            </a:r>
            <a:endParaRPr lang="it-IT" sz="1200" b="1"/>
          </a:p>
          <a:p>
            <a:pPr lvl="1"/>
            <a:r>
              <a:rPr lang="it-IT" err="1"/>
              <a:t>EclipseLink</a:t>
            </a:r>
            <a:endParaRPr lang="it-IT"/>
          </a:p>
          <a:p>
            <a:pPr lvl="1"/>
            <a:r>
              <a:rPr lang="it-IT"/>
              <a:t>…</a:t>
            </a:r>
          </a:p>
          <a:p>
            <a:pPr lvl="1"/>
            <a:endParaRPr lang="it-IT"/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5601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noProof="0"/>
              <a:t>Entity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noProof="0" dirty="0"/>
              <a:t>Applicazione OOP: interazione tra oggetti</a:t>
            </a:r>
          </a:p>
          <a:p>
            <a:pPr lvl="1"/>
            <a:r>
              <a:rPr lang="it-IT" noProof="0" dirty="0"/>
              <a:t>Oggetti: istanze di classi in memoria centrale</a:t>
            </a:r>
          </a:p>
          <a:p>
            <a:r>
              <a:rPr lang="it-IT" noProof="0" dirty="0"/>
              <a:t>Chiamiamo </a:t>
            </a:r>
            <a:r>
              <a:rPr lang="it-IT" b="1" noProof="0" dirty="0"/>
              <a:t>entità </a:t>
            </a:r>
            <a:r>
              <a:rPr lang="it-IT" noProof="0" dirty="0"/>
              <a:t>(</a:t>
            </a:r>
            <a:r>
              <a:rPr lang="it-IT" noProof="0" dirty="0" err="1"/>
              <a:t>entity</a:t>
            </a:r>
            <a:r>
              <a:rPr lang="it-IT" noProof="0" dirty="0"/>
              <a:t>) le classi corrispondenti ad oggetti che devono essere memorizzati in maniera persistente in un </a:t>
            </a:r>
            <a:r>
              <a:rPr lang="it-IT" noProof="0" dirty="0" err="1"/>
              <a:t>db</a:t>
            </a:r>
            <a:r>
              <a:rPr lang="it-IT" noProof="0" dirty="0"/>
              <a:t> </a:t>
            </a:r>
          </a:p>
          <a:p>
            <a:pPr lvl="1"/>
            <a:r>
              <a:rPr lang="it-IT" dirty="0"/>
              <a:t>nome molto appropriato (</a:t>
            </a:r>
            <a:r>
              <a:rPr lang="it-IT" dirty="0" err="1"/>
              <a:t>cfr</a:t>
            </a:r>
            <a:r>
              <a:rPr lang="it-IT" dirty="0"/>
              <a:t> BD: modello ER)</a:t>
            </a:r>
          </a:p>
          <a:p>
            <a:pPr lvl="1"/>
            <a:r>
              <a:rPr lang="it-IT" dirty="0"/>
              <a:t>in linea di massima corrispondono alle classi del modello di dominio (</a:t>
            </a:r>
            <a:r>
              <a:rPr lang="it-IT" dirty="0" err="1"/>
              <a:t>cfr</a:t>
            </a:r>
            <a:r>
              <a:rPr lang="it-IT" dirty="0"/>
              <a:t> APS)</a:t>
            </a:r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15653631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noProof="0"/>
              <a:t>Object-Relational-Mapping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noProof="0" dirty="0"/>
              <a:t>Obiettivo: creare una corrispondenza tra classi e tabelle</a:t>
            </a:r>
          </a:p>
          <a:p>
            <a:r>
              <a:rPr lang="it-IT" noProof="0" dirty="0"/>
              <a:t>Questa corrispondenza offre una "vista" OO agli sviluppatori, consentendogli di usare in maniera trasparente entità (oggetti persistiti) anziché tabelle</a:t>
            </a:r>
          </a:p>
        </p:txBody>
      </p:sp>
    </p:spTree>
    <p:extLst>
      <p:ext uri="{BB962C8B-B14F-4D97-AF65-F5344CB8AC3E}">
        <p14:creationId xmlns:p14="http://schemas.microsoft.com/office/powerpoint/2010/main" val="39864439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noProof="0"/>
              <a:t>Object-</a:t>
            </a:r>
            <a:r>
              <a:rPr lang="it-IT" err="1"/>
              <a:t>Relational-Mapping</a:t>
            </a:r>
            <a:endParaRPr lang="it-IT" noProof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199" y="1207312"/>
            <a:ext cx="8229599" cy="3394472"/>
          </a:xfrm>
        </p:spPr>
        <p:txBody>
          <a:bodyPr>
            <a:normAutofit/>
          </a:bodyPr>
          <a:lstStyle/>
          <a:p>
            <a:r>
              <a:rPr lang="en-US" dirty="0"/>
              <a:t>Idea di base: </a:t>
            </a:r>
          </a:p>
          <a:p>
            <a:pPr lvl="1"/>
            <a:r>
              <a:rPr lang="en-US" dirty="0" err="1"/>
              <a:t>ogni</a:t>
            </a:r>
            <a:r>
              <a:rPr lang="en-US" dirty="0"/>
              <a:t> </a:t>
            </a:r>
            <a:r>
              <a:rPr lang="en-US" dirty="0" err="1"/>
              <a:t>classe</a:t>
            </a:r>
            <a:r>
              <a:rPr lang="en-US" dirty="0"/>
              <a:t> </a:t>
            </a:r>
            <a:r>
              <a:rPr lang="en-US" dirty="0" err="1"/>
              <a:t>corrisponde</a:t>
            </a:r>
            <a:r>
              <a:rPr lang="en-US" dirty="0"/>
              <a:t> ad una </a:t>
            </a:r>
            <a:r>
              <a:rPr lang="en-US" dirty="0" err="1"/>
              <a:t>tabella</a:t>
            </a:r>
            <a:r>
              <a:rPr lang="en-US" dirty="0"/>
              <a:t> </a:t>
            </a:r>
          </a:p>
          <a:p>
            <a:pPr lvl="2"/>
            <a:r>
              <a:rPr lang="en-US" dirty="0" err="1"/>
              <a:t>ogni</a:t>
            </a:r>
            <a:r>
              <a:rPr lang="en-US" dirty="0"/>
              <a:t> </a:t>
            </a:r>
            <a:r>
              <a:rPr lang="en-US" dirty="0" err="1"/>
              <a:t>attributo</a:t>
            </a:r>
            <a:r>
              <a:rPr lang="en-US" dirty="0"/>
              <a:t> (</a:t>
            </a:r>
            <a:r>
              <a:rPr lang="en-US" dirty="0" err="1"/>
              <a:t>variabile</a:t>
            </a:r>
            <a:r>
              <a:rPr lang="en-US" dirty="0"/>
              <a:t> di </a:t>
            </a:r>
            <a:r>
              <a:rPr lang="en-US" dirty="0" err="1"/>
              <a:t>istanza</a:t>
            </a:r>
            <a:r>
              <a:rPr lang="en-US" dirty="0"/>
              <a:t> di </a:t>
            </a:r>
            <a:r>
              <a:rPr lang="en-US" dirty="0" err="1"/>
              <a:t>tipo</a:t>
            </a:r>
            <a:r>
              <a:rPr lang="en-US" dirty="0"/>
              <a:t> </a:t>
            </a:r>
            <a:r>
              <a:rPr lang="en-US" dirty="0" err="1"/>
              <a:t>primitivo</a:t>
            </a:r>
            <a:r>
              <a:rPr lang="en-US" dirty="0"/>
              <a:t> o wrapper, String, </a:t>
            </a:r>
            <a:r>
              <a:rPr lang="en-US" dirty="0" err="1"/>
              <a:t>tipo</a:t>
            </a:r>
            <a:r>
              <a:rPr lang="en-US" dirty="0"/>
              <a:t> data/tempo di </a:t>
            </a:r>
            <a:r>
              <a:rPr lang="en-US" dirty="0" err="1"/>
              <a:t>java.time</a:t>
            </a:r>
            <a:r>
              <a:rPr lang="en-US" dirty="0"/>
              <a:t>) </a:t>
            </a:r>
            <a:r>
              <a:rPr lang="en-US" dirty="0" err="1"/>
              <a:t>corrisponde</a:t>
            </a:r>
            <a:r>
              <a:rPr lang="en-US" dirty="0"/>
              <a:t> ad una </a:t>
            </a:r>
            <a:r>
              <a:rPr lang="en-US" dirty="0" err="1"/>
              <a:t>colonna</a:t>
            </a:r>
            <a:endParaRPr lang="en-US" dirty="0"/>
          </a:p>
          <a:p>
            <a:pPr lvl="1"/>
            <a:r>
              <a:rPr lang="en-US" dirty="0" err="1"/>
              <a:t>ogni</a:t>
            </a:r>
            <a:r>
              <a:rPr lang="en-US" dirty="0"/>
              <a:t> </a:t>
            </a:r>
            <a:r>
              <a:rPr lang="en-US" dirty="0" err="1"/>
              <a:t>oggetto</a:t>
            </a:r>
            <a:r>
              <a:rPr lang="en-US" dirty="0"/>
              <a:t> </a:t>
            </a:r>
            <a:r>
              <a:rPr lang="en-US" dirty="0" err="1"/>
              <a:t>corrisponde</a:t>
            </a:r>
            <a:r>
              <a:rPr lang="en-US" dirty="0"/>
              <a:t> ad una </a:t>
            </a:r>
            <a:r>
              <a:rPr lang="en-US" dirty="0" err="1"/>
              <a:t>riga</a:t>
            </a:r>
            <a:r>
              <a:rPr lang="en-US" dirty="0"/>
              <a:t> </a:t>
            </a:r>
            <a:r>
              <a:rPr lang="en-US" dirty="0" err="1"/>
              <a:t>della</a:t>
            </a:r>
            <a:r>
              <a:rPr lang="en-US" dirty="0"/>
              <a:t> </a:t>
            </a:r>
            <a:r>
              <a:rPr lang="en-US" dirty="0" err="1"/>
              <a:t>tabella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6629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Object-Relational-Mapping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i="1" dirty="0"/>
              <a:t>Configuration by exception</a:t>
            </a:r>
            <a:r>
              <a:rPr lang="en-US" dirty="0"/>
              <a:t>: </a:t>
            </a:r>
            <a:r>
              <a:rPr lang="en-US" dirty="0" err="1"/>
              <a:t>il</a:t>
            </a:r>
            <a:r>
              <a:rPr lang="en-US" dirty="0"/>
              <a:t> mapping segue </a:t>
            </a:r>
            <a:r>
              <a:rPr lang="en-US" dirty="0" err="1"/>
              <a:t>regole</a:t>
            </a:r>
            <a:r>
              <a:rPr lang="en-US" dirty="0"/>
              <a:t> di default: </a:t>
            </a:r>
          </a:p>
          <a:p>
            <a:pPr lvl="2"/>
            <a:r>
              <a:rPr lang="en-US" dirty="0" err="1"/>
              <a:t>nome</a:t>
            </a:r>
            <a:r>
              <a:rPr lang="en-US" dirty="0"/>
              <a:t> </a:t>
            </a:r>
            <a:r>
              <a:rPr lang="en-US" dirty="0" err="1"/>
              <a:t>classe</a:t>
            </a:r>
            <a:r>
              <a:rPr lang="en-US" dirty="0"/>
              <a:t> </a:t>
            </a:r>
            <a:r>
              <a:rPr lang="en-US" dirty="0">
                <a:sym typeface="Wingdings"/>
              </a:rPr>
              <a:t> </a:t>
            </a:r>
            <a:r>
              <a:rPr lang="en-US" dirty="0" err="1"/>
              <a:t>nome</a:t>
            </a:r>
            <a:r>
              <a:rPr lang="en-US" dirty="0"/>
              <a:t> </a:t>
            </a:r>
            <a:r>
              <a:rPr lang="en-US" dirty="0" err="1"/>
              <a:t>tabella</a:t>
            </a:r>
            <a:endParaRPr lang="en-US" dirty="0"/>
          </a:p>
          <a:p>
            <a:pPr lvl="2"/>
            <a:r>
              <a:rPr lang="en-US" dirty="0" err="1"/>
              <a:t>nome</a:t>
            </a:r>
            <a:r>
              <a:rPr lang="en-US" dirty="0"/>
              <a:t> </a:t>
            </a:r>
            <a:r>
              <a:rPr lang="en-US" dirty="0" err="1"/>
              <a:t>attributo</a:t>
            </a:r>
            <a:r>
              <a:rPr lang="en-US" dirty="0"/>
              <a:t> </a:t>
            </a:r>
            <a:r>
              <a:rPr lang="en-US" dirty="0">
                <a:sym typeface="Wingdings"/>
              </a:rPr>
              <a:t> </a:t>
            </a:r>
            <a:r>
              <a:rPr lang="en-US" dirty="0" err="1">
                <a:sym typeface="Wingdings"/>
              </a:rPr>
              <a:t>nome</a:t>
            </a:r>
            <a:r>
              <a:rPr lang="en-US" dirty="0">
                <a:sym typeface="Wingdings"/>
              </a:rPr>
              <a:t> </a:t>
            </a:r>
            <a:r>
              <a:rPr lang="en-US" dirty="0" err="1">
                <a:sym typeface="Wingdings"/>
              </a:rPr>
              <a:t>colonna</a:t>
            </a:r>
            <a:endParaRPr lang="en-US" dirty="0">
              <a:sym typeface="Wingdings"/>
            </a:endParaRPr>
          </a:p>
          <a:p>
            <a:pPr lvl="2"/>
            <a:r>
              <a:rPr lang="en-US" dirty="0" err="1">
                <a:sym typeface="Wingdings"/>
              </a:rPr>
              <a:t>tipo</a:t>
            </a:r>
            <a:r>
              <a:rPr lang="en-US" dirty="0">
                <a:sym typeface="Wingdings"/>
              </a:rPr>
              <a:t> </a:t>
            </a:r>
            <a:r>
              <a:rPr lang="en-US" dirty="0" err="1">
                <a:sym typeface="Wingdings"/>
              </a:rPr>
              <a:t>attributo</a:t>
            </a:r>
            <a:r>
              <a:rPr lang="en-US" dirty="0">
                <a:sym typeface="Wingdings"/>
              </a:rPr>
              <a:t>  </a:t>
            </a:r>
            <a:r>
              <a:rPr lang="en-US" dirty="0" err="1">
                <a:sym typeface="Wingdings"/>
              </a:rPr>
              <a:t>tipo</a:t>
            </a:r>
            <a:r>
              <a:rPr lang="en-US" dirty="0">
                <a:sym typeface="Wingdings"/>
              </a:rPr>
              <a:t> </a:t>
            </a:r>
            <a:r>
              <a:rPr lang="en-US" dirty="0" err="1">
                <a:sym typeface="Wingdings"/>
              </a:rPr>
              <a:t>colonna</a:t>
            </a:r>
            <a:endParaRPr lang="en-US" dirty="0">
              <a:sym typeface="Wingdings"/>
            </a:endParaRPr>
          </a:p>
          <a:p>
            <a:r>
              <a:rPr lang="en-US" dirty="0" err="1">
                <a:sym typeface="Wingdings"/>
              </a:rPr>
              <a:t>Eventuali</a:t>
            </a:r>
            <a:r>
              <a:rPr lang="en-US" dirty="0">
                <a:sym typeface="Wingdings"/>
              </a:rPr>
              <a:t> </a:t>
            </a:r>
            <a:r>
              <a:rPr lang="en-US" dirty="0" err="1">
                <a:sym typeface="Wingdings"/>
              </a:rPr>
              <a:t>eccezioni</a:t>
            </a:r>
            <a:r>
              <a:rPr lang="en-US" dirty="0">
                <a:sym typeface="Wingdings"/>
              </a:rPr>
              <a:t> al default </a:t>
            </a:r>
            <a:r>
              <a:rPr lang="en-US" dirty="0" err="1">
                <a:sym typeface="Wingdings"/>
              </a:rPr>
              <a:t>sono</a:t>
            </a:r>
            <a:r>
              <a:rPr lang="en-US" dirty="0">
                <a:sym typeface="Wingdings"/>
              </a:rPr>
              <a:t> definite </a:t>
            </a:r>
            <a:r>
              <a:rPr lang="en-US" dirty="0" err="1">
                <a:sym typeface="Wingdings"/>
              </a:rPr>
              <a:t>mediante</a:t>
            </a:r>
            <a:r>
              <a:rPr lang="en-US" dirty="0">
                <a:sym typeface="Wingdings"/>
              </a:rPr>
              <a:t> </a:t>
            </a:r>
            <a:r>
              <a:rPr lang="en-US" dirty="0" err="1">
                <a:sym typeface="Wingdings"/>
              </a:rPr>
              <a:t>metadati</a:t>
            </a:r>
            <a:r>
              <a:rPr lang="en-US" dirty="0">
                <a:sym typeface="Wingdings"/>
              </a:rPr>
              <a:t>, </a:t>
            </a:r>
            <a:r>
              <a:rPr lang="en-US" dirty="0" err="1">
                <a:sym typeface="Wingdings"/>
              </a:rPr>
              <a:t>sintatticamente</a:t>
            </a:r>
            <a:r>
              <a:rPr lang="en-US" dirty="0">
                <a:sym typeface="Wingdings"/>
              </a:rPr>
              <a:t> </a:t>
            </a:r>
            <a:r>
              <a:rPr lang="en-US" dirty="0" err="1">
                <a:sym typeface="Wingdings"/>
              </a:rPr>
              <a:t>rappresentati</a:t>
            </a:r>
            <a:r>
              <a:rPr lang="en-US" dirty="0">
                <a:sym typeface="Wingdings"/>
              </a:rPr>
              <a:t> con </a:t>
            </a:r>
            <a:r>
              <a:rPr lang="en-US" dirty="0" err="1">
                <a:sym typeface="Wingdings"/>
              </a:rPr>
              <a:t>annotazioni</a:t>
            </a:r>
            <a:r>
              <a:rPr lang="en-US" dirty="0">
                <a:sym typeface="Wingdings"/>
              </a:rPr>
              <a:t> Java o </a:t>
            </a:r>
            <a:r>
              <a:rPr lang="en-US" dirty="0" err="1">
                <a:sym typeface="Wingdings"/>
              </a:rPr>
              <a:t>mediante</a:t>
            </a:r>
            <a:r>
              <a:rPr lang="en-US" dirty="0">
                <a:sym typeface="Wingdings"/>
              </a:rPr>
              <a:t> un </a:t>
            </a:r>
            <a:r>
              <a:rPr lang="en-US" dirty="0" err="1">
                <a:sym typeface="Wingdings"/>
              </a:rPr>
              <a:t>descittore</a:t>
            </a:r>
            <a:r>
              <a:rPr lang="en-US" dirty="0">
                <a:sym typeface="Wingdings"/>
              </a:rPr>
              <a:t> XML</a:t>
            </a:r>
          </a:p>
          <a:p>
            <a:r>
              <a:rPr lang="en-US" dirty="0">
                <a:sym typeface="Wingdings"/>
              </a:rPr>
              <a:t>Nel </a:t>
            </a:r>
            <a:r>
              <a:rPr lang="en-US" dirty="0" err="1">
                <a:sym typeface="Wingdings"/>
              </a:rPr>
              <a:t>corso</a:t>
            </a:r>
            <a:r>
              <a:rPr lang="en-US" dirty="0">
                <a:sym typeface="Wingdings"/>
              </a:rPr>
              <a:t> </a:t>
            </a:r>
            <a:r>
              <a:rPr lang="en-US" dirty="0" err="1">
                <a:sym typeface="Wingdings"/>
              </a:rPr>
              <a:t>useremo</a:t>
            </a:r>
            <a:r>
              <a:rPr lang="en-US" dirty="0">
                <a:sym typeface="Wingdings"/>
              </a:rPr>
              <a:t> quasi </a:t>
            </a:r>
            <a:r>
              <a:rPr lang="en-US" dirty="0" err="1">
                <a:sym typeface="Wingdings"/>
              </a:rPr>
              <a:t>sempre</a:t>
            </a:r>
            <a:r>
              <a:rPr lang="en-US" dirty="0">
                <a:sym typeface="Wingdings"/>
              </a:rPr>
              <a:t> </a:t>
            </a:r>
            <a:r>
              <a:rPr lang="en-US" dirty="0" err="1">
                <a:sym typeface="Wingdings"/>
              </a:rPr>
              <a:t>i</a:t>
            </a:r>
            <a:r>
              <a:rPr lang="en-US" dirty="0">
                <a:sym typeface="Wingdings"/>
              </a:rPr>
              <a:t> </a:t>
            </a:r>
            <a:r>
              <a:rPr lang="en-US" dirty="0" err="1">
                <a:sym typeface="Wingdings"/>
              </a:rPr>
              <a:t>valori</a:t>
            </a:r>
            <a:r>
              <a:rPr lang="en-US" dirty="0">
                <a:sym typeface="Wingdings"/>
              </a:rPr>
              <a:t> di default, e </a:t>
            </a:r>
            <a:r>
              <a:rPr lang="en-US" dirty="0" err="1">
                <a:sym typeface="Wingdings"/>
              </a:rPr>
              <a:t>sempre</a:t>
            </a:r>
            <a:r>
              <a:rPr lang="en-US" dirty="0">
                <a:sym typeface="Wingdings"/>
              </a:rPr>
              <a:t> </a:t>
            </a:r>
            <a:r>
              <a:rPr lang="en-US" dirty="0" err="1">
                <a:sym typeface="Wingdings"/>
              </a:rPr>
              <a:t>annotazioni</a:t>
            </a:r>
            <a:r>
              <a:rPr lang="en-US" dirty="0">
                <a:sym typeface="Wingdings"/>
              </a:rPr>
              <a:t> Java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29580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Object-Relational-Mapping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Configurazione</a:t>
            </a:r>
            <a:r>
              <a:rPr lang="en-US" dirty="0"/>
              <a:t> di default</a:t>
            </a:r>
          </a:p>
          <a:p>
            <a:pPr lvl="1"/>
            <a:r>
              <a:rPr lang="en-US" dirty="0" err="1"/>
              <a:t>Ogni</a:t>
            </a:r>
            <a:r>
              <a:rPr lang="en-US" dirty="0"/>
              <a:t> entity </a:t>
            </a:r>
            <a:r>
              <a:rPr lang="en-US" dirty="0" err="1"/>
              <a:t>viene</a:t>
            </a:r>
            <a:r>
              <a:rPr lang="en-US" dirty="0"/>
              <a:t> </a:t>
            </a:r>
            <a:r>
              <a:rPr lang="en-US" dirty="0" err="1"/>
              <a:t>mappata</a:t>
            </a:r>
            <a:r>
              <a:rPr lang="en-US" dirty="0"/>
              <a:t> in una </a:t>
            </a:r>
            <a:r>
              <a:rPr lang="en-US" dirty="0" err="1"/>
              <a:t>tabella</a:t>
            </a:r>
            <a:endParaRPr lang="en-US" dirty="0"/>
          </a:p>
          <a:p>
            <a:pPr lvl="2"/>
            <a:r>
              <a:rPr lang="en-US" dirty="0" err="1"/>
              <a:t>nome</a:t>
            </a:r>
            <a:r>
              <a:rPr lang="en-US" dirty="0"/>
              <a:t> </a:t>
            </a:r>
            <a:r>
              <a:rPr lang="en-US" dirty="0" err="1"/>
              <a:t>classe</a:t>
            </a:r>
            <a:r>
              <a:rPr lang="en-US" dirty="0"/>
              <a:t> </a:t>
            </a:r>
            <a:r>
              <a:rPr lang="en-US" dirty="0">
                <a:sym typeface="Wingdings" pitchFamily="2" charset="2"/>
              </a:rPr>
              <a:t></a:t>
            </a:r>
            <a:r>
              <a:rPr lang="en-US" dirty="0"/>
              <a:t> </a:t>
            </a:r>
            <a:r>
              <a:rPr lang="en-US" dirty="0" err="1"/>
              <a:t>nome</a:t>
            </a:r>
            <a:r>
              <a:rPr lang="en-US" dirty="0"/>
              <a:t> </a:t>
            </a:r>
            <a:r>
              <a:rPr lang="en-US" dirty="0" err="1"/>
              <a:t>tabella</a:t>
            </a:r>
            <a:endParaRPr lang="en-US" dirty="0"/>
          </a:p>
          <a:p>
            <a:pPr lvl="1"/>
            <a:r>
              <a:rPr lang="en-US" dirty="0" err="1"/>
              <a:t>tutte</a:t>
            </a:r>
            <a:r>
              <a:rPr lang="en-US" dirty="0"/>
              <a:t> le </a:t>
            </a:r>
            <a:r>
              <a:rPr lang="en-US" dirty="0" err="1"/>
              <a:t>variabili</a:t>
            </a:r>
            <a:r>
              <a:rPr lang="en-US" dirty="0"/>
              <a:t> </a:t>
            </a:r>
            <a:r>
              <a:rPr lang="en-US" dirty="0" err="1"/>
              <a:t>corrispondenti</a:t>
            </a:r>
            <a:r>
              <a:rPr lang="en-US" dirty="0"/>
              <a:t> ad un </a:t>
            </a:r>
            <a:r>
              <a:rPr lang="en-US" dirty="0" err="1"/>
              <a:t>tipo</a:t>
            </a:r>
            <a:r>
              <a:rPr lang="en-US" dirty="0"/>
              <a:t> </a:t>
            </a:r>
            <a:r>
              <a:rPr lang="en-US" dirty="0" err="1"/>
              <a:t>primitivo</a:t>
            </a:r>
            <a:r>
              <a:rPr lang="en-US" dirty="0"/>
              <a:t> (o </a:t>
            </a:r>
            <a:r>
              <a:rPr lang="en-US" dirty="0" err="1"/>
              <a:t>corrispondente</a:t>
            </a:r>
            <a:r>
              <a:rPr lang="en-US" dirty="0"/>
              <a:t> wrapper), String, </a:t>
            </a:r>
            <a:r>
              <a:rPr lang="en-US" dirty="0" err="1"/>
              <a:t>java.time.LocalDate</a:t>
            </a:r>
            <a:r>
              <a:rPr lang="en-US" dirty="0"/>
              <a:t>, </a:t>
            </a:r>
            <a:r>
              <a:rPr lang="en-US" dirty="0" err="1"/>
              <a:t>java.time.LocalDateTime</a:t>
            </a:r>
            <a:r>
              <a:rPr lang="en-US" dirty="0"/>
              <a:t> </a:t>
            </a:r>
            <a:r>
              <a:rPr lang="en-US" dirty="0" err="1"/>
              <a:t>vengono</a:t>
            </a:r>
            <a:r>
              <a:rPr lang="en-US" dirty="0"/>
              <a:t> </a:t>
            </a:r>
            <a:r>
              <a:rPr lang="en-US" dirty="0" err="1"/>
              <a:t>mappate</a:t>
            </a:r>
            <a:r>
              <a:rPr lang="en-US" dirty="0"/>
              <a:t> </a:t>
            </a:r>
            <a:r>
              <a:rPr lang="en-US" dirty="0" err="1"/>
              <a:t>automaticamente</a:t>
            </a:r>
            <a:r>
              <a:rPr lang="en-US" dirty="0"/>
              <a:t> in una </a:t>
            </a:r>
            <a:r>
              <a:rPr lang="en-US" dirty="0" err="1"/>
              <a:t>colonna</a:t>
            </a:r>
            <a:endParaRPr lang="en-US" dirty="0"/>
          </a:p>
          <a:p>
            <a:pPr lvl="2"/>
            <a:r>
              <a:rPr lang="en-US" dirty="0" err="1"/>
              <a:t>nome</a:t>
            </a:r>
            <a:r>
              <a:rPr lang="en-US" dirty="0"/>
              <a:t> </a:t>
            </a:r>
            <a:r>
              <a:rPr lang="en-US" dirty="0" err="1"/>
              <a:t>attributo</a:t>
            </a:r>
            <a:r>
              <a:rPr lang="en-US" dirty="0"/>
              <a:t> </a:t>
            </a:r>
            <a:r>
              <a:rPr lang="en-US" dirty="0">
                <a:sym typeface="Wingdings" pitchFamily="2" charset="2"/>
              </a:rPr>
              <a:t></a:t>
            </a:r>
            <a:r>
              <a:rPr lang="en-US" dirty="0"/>
              <a:t> </a:t>
            </a:r>
            <a:r>
              <a:rPr lang="en-US" dirty="0" err="1"/>
              <a:t>nome</a:t>
            </a:r>
            <a:r>
              <a:rPr lang="en-US" dirty="0"/>
              <a:t> </a:t>
            </a:r>
            <a:r>
              <a:rPr lang="en-US" dirty="0" err="1"/>
              <a:t>colonna</a:t>
            </a:r>
            <a:endParaRPr lang="en-US" dirty="0"/>
          </a:p>
          <a:p>
            <a:pPr lvl="2"/>
            <a:r>
              <a:rPr lang="en-US" dirty="0" err="1"/>
              <a:t>corrispondenza</a:t>
            </a:r>
            <a:r>
              <a:rPr lang="en-US" dirty="0"/>
              <a:t> (</a:t>
            </a:r>
            <a:r>
              <a:rPr lang="en-US" dirty="0" err="1"/>
              <a:t>naturale</a:t>
            </a:r>
            <a:r>
              <a:rPr lang="en-US" dirty="0"/>
              <a:t>)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tipi </a:t>
            </a:r>
            <a:r>
              <a:rPr lang="en-US" dirty="0" err="1"/>
              <a:t>primitivi</a:t>
            </a:r>
            <a:r>
              <a:rPr lang="en-US" dirty="0"/>
              <a:t> Java (</a:t>
            </a:r>
            <a:r>
              <a:rPr lang="en-US" dirty="0" err="1"/>
              <a:t>più</a:t>
            </a:r>
            <a:r>
              <a:rPr lang="en-US" dirty="0"/>
              <a:t> </a:t>
            </a:r>
            <a:r>
              <a:rPr lang="en-US" dirty="0" err="1"/>
              <a:t>java.lang.String</a:t>
            </a:r>
            <a:r>
              <a:rPr lang="en-US" dirty="0"/>
              <a:t> e </a:t>
            </a:r>
            <a:r>
              <a:rPr lang="en-US" dirty="0" err="1"/>
              <a:t>i</a:t>
            </a:r>
            <a:r>
              <a:rPr lang="en-US" dirty="0"/>
              <a:t> tipi per date e </a:t>
            </a:r>
            <a:r>
              <a:rPr lang="en-US" dirty="0" err="1"/>
              <a:t>orari</a:t>
            </a:r>
            <a:r>
              <a:rPr lang="en-US" dirty="0"/>
              <a:t> di </a:t>
            </a:r>
            <a:r>
              <a:rPr lang="en-US" dirty="0" err="1"/>
              <a:t>java.time</a:t>
            </a:r>
            <a:r>
              <a:rPr lang="en-US" dirty="0"/>
              <a:t>) e </a:t>
            </a:r>
            <a:r>
              <a:rPr lang="en-US" dirty="0" err="1"/>
              <a:t>i</a:t>
            </a:r>
            <a:r>
              <a:rPr lang="en-US" dirty="0"/>
              <a:t> tipi SQL</a:t>
            </a:r>
          </a:p>
        </p:txBody>
      </p:sp>
    </p:spTree>
    <p:extLst>
      <p:ext uri="{BB962C8B-B14F-4D97-AF65-F5344CB8AC3E}">
        <p14:creationId xmlns:p14="http://schemas.microsoft.com/office/powerpoint/2010/main" val="42766037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A0DA021-B0FD-3890-89DE-60CEAF416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Corrispondenza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tipi Java e SQL</a:t>
            </a:r>
          </a:p>
        </p:txBody>
      </p:sp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E73AA274-A65E-67BB-AFF2-BF22CC4ACF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54526627"/>
              </p:ext>
            </p:extLst>
          </p:nvPr>
        </p:nvGraphicFramePr>
        <p:xfrm>
          <a:off x="2978470" y="1200151"/>
          <a:ext cx="3187060" cy="3867070"/>
        </p:xfrm>
        <a:graphic>
          <a:graphicData uri="http://schemas.openxmlformats.org/drawingml/2006/table">
            <a:tbl>
              <a:tblPr/>
              <a:tblGrid>
                <a:gridCol w="1593530">
                  <a:extLst>
                    <a:ext uri="{9D8B030D-6E8A-4147-A177-3AD203B41FA5}">
                      <a16:colId xmlns:a16="http://schemas.microsoft.com/office/drawing/2014/main" val="1402895285"/>
                    </a:ext>
                  </a:extLst>
                </a:gridCol>
                <a:gridCol w="1593530">
                  <a:extLst>
                    <a:ext uri="{9D8B030D-6E8A-4147-A177-3AD203B41FA5}">
                      <a16:colId xmlns:a16="http://schemas.microsoft.com/office/drawing/2014/main" val="642482458"/>
                    </a:ext>
                  </a:extLst>
                </a:gridCol>
              </a:tblGrid>
              <a:tr h="472997">
                <a:tc>
                  <a:txBody>
                    <a:bodyPr/>
                    <a:lstStyle/>
                    <a:p>
                      <a:pPr fontAlgn="t"/>
                      <a:r>
                        <a:rPr lang="it-IT" sz="1100" b="1">
                          <a:solidFill>
                            <a:srgbClr val="555555"/>
                          </a:solidFill>
                          <a:effectLst/>
                        </a:rPr>
                        <a:t>Java primitive</a:t>
                      </a:r>
                      <a:br>
                        <a:rPr lang="it-IT" sz="1100" b="1">
                          <a:solidFill>
                            <a:srgbClr val="555555"/>
                          </a:solidFill>
                          <a:effectLst/>
                        </a:rPr>
                      </a:br>
                      <a:r>
                        <a:rPr lang="it-IT" sz="1100" b="1">
                          <a:solidFill>
                            <a:srgbClr val="555555"/>
                          </a:solidFill>
                          <a:effectLst/>
                        </a:rPr>
                        <a:t>primitive wrapper</a:t>
                      </a:r>
                    </a:p>
                  </a:txBody>
                  <a:tcPr marL="63919" marR="63919" marT="63919" marB="63919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it-IT" sz="1100" b="1">
                          <a:solidFill>
                            <a:srgbClr val="555555"/>
                          </a:solidFill>
                          <a:effectLst/>
                        </a:rPr>
                        <a:t>Standard SQL type</a:t>
                      </a:r>
                    </a:p>
                  </a:txBody>
                  <a:tcPr marL="63919" marR="63919" marT="63919" marB="63919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3860398"/>
                  </a:ext>
                </a:extLst>
              </a:tr>
              <a:tr h="472997">
                <a:tc>
                  <a:txBody>
                    <a:bodyPr/>
                    <a:lstStyle/>
                    <a:p>
                      <a:pPr fontAlgn="ctr"/>
                      <a:r>
                        <a:rPr lang="it-IT" sz="1100">
                          <a:effectLst/>
                        </a:rPr>
                        <a:t>boolean/java. lang. Boolean</a:t>
                      </a:r>
                    </a:p>
                  </a:txBody>
                  <a:tcPr marL="63919" marR="63919" marT="63919" marB="63919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it-IT" sz="1100">
                          <a:effectLst/>
                        </a:rPr>
                        <a:t>BOOLEAN</a:t>
                      </a:r>
                    </a:p>
                  </a:txBody>
                  <a:tcPr marL="63919" marR="63919" marT="63919" marB="63919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5770706"/>
                  </a:ext>
                </a:extLst>
              </a:tr>
              <a:tr h="300417">
                <a:tc>
                  <a:txBody>
                    <a:bodyPr/>
                    <a:lstStyle/>
                    <a:p>
                      <a:pPr fontAlgn="ctr"/>
                      <a:r>
                        <a:rPr lang="it-IT" sz="1100">
                          <a:effectLst/>
                        </a:rPr>
                        <a:t>byte/java. lang. Byte</a:t>
                      </a:r>
                    </a:p>
                  </a:txBody>
                  <a:tcPr marL="63919" marR="63919" marT="63919" marB="63919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it-IT" sz="1100">
                          <a:effectLst/>
                        </a:rPr>
                        <a:t>SMALLINT (5)</a:t>
                      </a:r>
                    </a:p>
                  </a:txBody>
                  <a:tcPr marL="63919" marR="63919" marT="63919" marB="63919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9921112"/>
                  </a:ext>
                </a:extLst>
              </a:tr>
              <a:tr h="300417">
                <a:tc>
                  <a:txBody>
                    <a:bodyPr/>
                    <a:lstStyle/>
                    <a:p>
                      <a:pPr fontAlgn="ctr"/>
                      <a:r>
                        <a:rPr lang="it-IT" sz="1100">
                          <a:effectLst/>
                        </a:rPr>
                        <a:t>short/java. lang. Short</a:t>
                      </a:r>
                    </a:p>
                  </a:txBody>
                  <a:tcPr marL="63919" marR="63919" marT="63919" marB="63919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it-IT" sz="1100">
                          <a:effectLst/>
                        </a:rPr>
                        <a:t>SMALLINT (5)</a:t>
                      </a:r>
                    </a:p>
                  </a:txBody>
                  <a:tcPr marL="63919" marR="63919" marT="63919" marB="63919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8337317"/>
                  </a:ext>
                </a:extLst>
              </a:tr>
              <a:tr h="472997">
                <a:tc>
                  <a:txBody>
                    <a:bodyPr/>
                    <a:lstStyle/>
                    <a:p>
                      <a:pPr fontAlgn="ctr"/>
                      <a:r>
                        <a:rPr lang="it-IT" sz="1100">
                          <a:effectLst/>
                        </a:rPr>
                        <a:t>char/java. lang. Character</a:t>
                      </a:r>
                    </a:p>
                  </a:txBody>
                  <a:tcPr marL="63919" marR="63919" marT="63919" marB="63919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it-IT" sz="1100">
                          <a:effectLst/>
                        </a:rPr>
                        <a:t>CHARACTER (n)</a:t>
                      </a:r>
                    </a:p>
                  </a:txBody>
                  <a:tcPr marL="63919" marR="63919" marT="63919" marB="63919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0210082"/>
                  </a:ext>
                </a:extLst>
              </a:tr>
              <a:tr h="300417">
                <a:tc>
                  <a:txBody>
                    <a:bodyPr/>
                    <a:lstStyle/>
                    <a:p>
                      <a:pPr fontAlgn="ctr"/>
                      <a:r>
                        <a:rPr lang="it-IT" sz="1100">
                          <a:effectLst/>
                        </a:rPr>
                        <a:t>int/java. lang. Integer</a:t>
                      </a:r>
                    </a:p>
                  </a:txBody>
                  <a:tcPr marL="63919" marR="63919" marT="63919" marB="63919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it-IT" sz="1100">
                          <a:effectLst/>
                        </a:rPr>
                        <a:t>INTEGER (10)</a:t>
                      </a:r>
                    </a:p>
                  </a:txBody>
                  <a:tcPr marL="63919" marR="63919" marT="63919" marB="63919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2089003"/>
                  </a:ext>
                </a:extLst>
              </a:tr>
              <a:tr h="300417">
                <a:tc>
                  <a:txBody>
                    <a:bodyPr/>
                    <a:lstStyle/>
                    <a:p>
                      <a:pPr fontAlgn="ctr"/>
                      <a:r>
                        <a:rPr lang="it-IT" sz="1100">
                          <a:effectLst/>
                        </a:rPr>
                        <a:t>long/java. lang. Long</a:t>
                      </a:r>
                    </a:p>
                  </a:txBody>
                  <a:tcPr marL="63919" marR="63919" marT="63919" marB="63919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it-IT" sz="1100">
                          <a:effectLst/>
                        </a:rPr>
                        <a:t>BIGINT (19)</a:t>
                      </a:r>
                    </a:p>
                  </a:txBody>
                  <a:tcPr marL="63919" marR="63919" marT="63919" marB="63919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5968568"/>
                  </a:ext>
                </a:extLst>
              </a:tr>
              <a:tr h="300417">
                <a:tc>
                  <a:txBody>
                    <a:bodyPr/>
                    <a:lstStyle/>
                    <a:p>
                      <a:pPr fontAlgn="ctr"/>
                      <a:r>
                        <a:rPr lang="it-IT" sz="1100">
                          <a:effectLst/>
                        </a:rPr>
                        <a:t>float/java. lang. Float</a:t>
                      </a:r>
                    </a:p>
                  </a:txBody>
                  <a:tcPr marL="63919" marR="63919" marT="63919" marB="63919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it-IT" sz="1100">
                          <a:effectLst/>
                        </a:rPr>
                        <a:t>≅ DECIMAL (16,7)</a:t>
                      </a:r>
                    </a:p>
                  </a:txBody>
                  <a:tcPr marL="63919" marR="63919" marT="63919" marB="63919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7777701"/>
                  </a:ext>
                </a:extLst>
              </a:tr>
              <a:tr h="472997">
                <a:tc>
                  <a:txBody>
                    <a:bodyPr/>
                    <a:lstStyle/>
                    <a:p>
                      <a:pPr fontAlgn="ctr"/>
                      <a:r>
                        <a:rPr lang="it-IT" sz="1100">
                          <a:effectLst/>
                        </a:rPr>
                        <a:t>double/java. lang. Double</a:t>
                      </a:r>
                    </a:p>
                  </a:txBody>
                  <a:tcPr marL="63919" marR="63919" marT="63919" marB="63919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it-IT" sz="1100" dirty="0">
                          <a:effectLst/>
                        </a:rPr>
                        <a:t>≅ DECIMAL (32,15)</a:t>
                      </a:r>
                    </a:p>
                  </a:txBody>
                  <a:tcPr marL="63919" marR="63919" marT="63919" marB="63919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0476087"/>
                  </a:ext>
                </a:extLst>
              </a:tr>
              <a:tr h="472997">
                <a:tc>
                  <a:txBody>
                    <a:bodyPr/>
                    <a:lstStyle/>
                    <a:p>
                      <a:pPr fontAlgn="ctr"/>
                      <a:r>
                        <a:rPr lang="it-IT" sz="1100" dirty="0" err="1">
                          <a:effectLst/>
                        </a:rPr>
                        <a:t>String</a:t>
                      </a:r>
                      <a:endParaRPr lang="it-IT" sz="1100" dirty="0">
                        <a:effectLst/>
                      </a:endParaRPr>
                    </a:p>
                  </a:txBody>
                  <a:tcPr marL="63919" marR="63919" marT="63919" marB="63919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it-IT" sz="1100" dirty="0">
                          <a:effectLst/>
                        </a:rPr>
                        <a:t>VARCHAR(255)</a:t>
                      </a:r>
                    </a:p>
                  </a:txBody>
                  <a:tcPr marL="63919" marR="63919" marT="63919" marB="63919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5193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00360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249406" y="-29807"/>
            <a:ext cx="6172200" cy="857250"/>
          </a:xfrm>
        </p:spPr>
        <p:txBody>
          <a:bodyPr/>
          <a:lstStyle/>
          <a:p>
            <a:r>
              <a:rPr lang="en-US" dirty="0" err="1"/>
              <a:t>Esempio</a:t>
            </a:r>
            <a:r>
              <a:rPr lang="en-US" dirty="0"/>
              <a:t> (1/3)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1249406" y="398819"/>
            <a:ext cx="6224471" cy="3742948"/>
          </a:xfrm>
        </p:spPr>
        <p:txBody>
          <a:bodyPr vert="horz" lIns="68580" tIns="34290" rIns="68580" bIns="34290" rtlCol="0" anchor="t">
            <a:noAutofit/>
          </a:bodyPr>
          <a:lstStyle/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/>
              <a:t>import </a:t>
            </a:r>
            <a:r>
              <a:rPr lang="en-US" sz="900" dirty="0" err="1"/>
              <a:t>jakarta.persistence.Entity</a:t>
            </a:r>
            <a:r>
              <a:rPr lang="en-US" sz="900" dirty="0"/>
              <a:t>;</a:t>
            </a:r>
          </a:p>
          <a:p>
            <a:pPr marL="0" indent="0">
              <a:buNone/>
            </a:pPr>
            <a:r>
              <a:rPr lang="en-US" sz="900" dirty="0"/>
              <a:t>import </a:t>
            </a:r>
            <a:r>
              <a:rPr lang="en-US" sz="900" dirty="0" err="1"/>
              <a:t>jakarta.persistence.GeneratedValue</a:t>
            </a:r>
            <a:r>
              <a:rPr lang="en-US" sz="900" dirty="0"/>
              <a:t>;</a:t>
            </a:r>
          </a:p>
          <a:p>
            <a:pPr marL="0" indent="0">
              <a:buNone/>
            </a:pPr>
            <a:r>
              <a:rPr lang="en-US" sz="900" dirty="0"/>
              <a:t>import </a:t>
            </a:r>
            <a:r>
              <a:rPr lang="en-US" sz="900" dirty="0" err="1"/>
              <a:t>jakarta.persistence.GenerationType</a:t>
            </a:r>
            <a:r>
              <a:rPr lang="en-US" sz="900" dirty="0"/>
              <a:t>;</a:t>
            </a:r>
          </a:p>
          <a:p>
            <a:pPr marL="0" indent="0">
              <a:buNone/>
            </a:pPr>
            <a:r>
              <a:rPr lang="en-US" sz="900" dirty="0"/>
              <a:t>import </a:t>
            </a:r>
            <a:r>
              <a:rPr lang="en-US" sz="900" dirty="0" err="1"/>
              <a:t>jakarta.persistence.Id</a:t>
            </a:r>
            <a:r>
              <a:rPr lang="en-US" sz="900" dirty="0"/>
              <a:t>;</a:t>
            </a:r>
          </a:p>
          <a:p>
            <a:pPr marL="0" indent="0">
              <a:buNone/>
            </a:pPr>
            <a:r>
              <a:rPr lang="en-US" sz="900" dirty="0"/>
              <a:t>import </a:t>
            </a:r>
            <a:r>
              <a:rPr lang="en-US" sz="900" dirty="0" err="1"/>
              <a:t>jakarta.persistence.NamedQuery</a:t>
            </a:r>
            <a:r>
              <a:rPr lang="en-US" sz="900" dirty="0"/>
              <a:t>;</a:t>
            </a:r>
          </a:p>
          <a:p>
            <a:pPr marL="0" indent="0">
              <a:buNone/>
            </a:pPr>
            <a:r>
              <a:rPr lang="en-US" sz="900" dirty="0"/>
              <a:t>import </a:t>
            </a:r>
            <a:r>
              <a:rPr lang="en-US" sz="900" dirty="0" err="1"/>
              <a:t>jakarta.persistence.Column</a:t>
            </a:r>
            <a:r>
              <a:rPr lang="en-US" sz="900" dirty="0"/>
              <a:t>;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/>
              <a:t>@Entity</a:t>
            </a:r>
          </a:p>
          <a:p>
            <a:pPr marL="0" indent="0">
              <a:buNone/>
            </a:pPr>
            <a:r>
              <a:rPr lang="en-US" sz="900" dirty="0"/>
              <a:t>public class Product {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/>
              <a:t>    @Id</a:t>
            </a:r>
          </a:p>
          <a:p>
            <a:pPr marL="0" indent="0">
              <a:buNone/>
            </a:pPr>
            <a:r>
              <a:rPr lang="en-US" sz="900" dirty="0"/>
              <a:t>    @</a:t>
            </a:r>
            <a:r>
              <a:rPr lang="en-US" sz="900" dirty="0" err="1"/>
              <a:t>GeneratedValue</a:t>
            </a:r>
            <a:r>
              <a:rPr lang="en-US" sz="900" dirty="0"/>
              <a:t>(strategy = </a:t>
            </a:r>
            <a:r>
              <a:rPr lang="en-US" sz="900" dirty="0" err="1"/>
              <a:t>GenerationType.AUTO</a:t>
            </a:r>
            <a:r>
              <a:rPr lang="en-US" sz="900" dirty="0"/>
              <a:t>)</a:t>
            </a:r>
          </a:p>
          <a:p>
            <a:pPr marL="0" indent="0">
              <a:buNone/>
            </a:pPr>
            <a:r>
              <a:rPr lang="en-US" sz="900" dirty="0"/>
              <a:t>    private Long id;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/>
              <a:t>    @Column(nullable = false)</a:t>
            </a:r>
          </a:p>
          <a:p>
            <a:pPr marL="0" indent="0">
              <a:buNone/>
            </a:pPr>
            <a:r>
              <a:rPr lang="en-US" sz="900" dirty="0"/>
              <a:t>    private String name;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/>
              <a:t>     private Float price;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/>
              <a:t>    @Column(length = 2000)</a:t>
            </a:r>
          </a:p>
          <a:p>
            <a:pPr marL="0" indent="0">
              <a:buNone/>
            </a:pPr>
            <a:r>
              <a:rPr lang="en-US" sz="900" dirty="0"/>
              <a:t>    private String description;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/>
              <a:t>    @Column(nullable = false)</a:t>
            </a:r>
          </a:p>
          <a:p>
            <a:pPr marL="0" indent="0">
              <a:buNone/>
            </a:pPr>
            <a:r>
              <a:rPr lang="en-US" sz="900" dirty="0"/>
              <a:t>    private String code;</a:t>
            </a:r>
          </a:p>
        </p:txBody>
      </p:sp>
    </p:spTree>
    <p:extLst>
      <p:ext uri="{BB962C8B-B14F-4D97-AF65-F5344CB8AC3E}">
        <p14:creationId xmlns:p14="http://schemas.microsoft.com/office/powerpoint/2010/main" val="26575480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Esempio</a:t>
            </a:r>
            <a:r>
              <a:rPr lang="en-US" dirty="0"/>
              <a:t> (2/3)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1485900" y="303951"/>
            <a:ext cx="6172200" cy="4839550"/>
          </a:xfrm>
        </p:spPr>
        <p:txBody>
          <a:bodyPr vert="horz" lIns="68580" tIns="34290" rIns="68580" bIns="34290" rtlCol="0" anchor="t">
            <a:noAutofit/>
          </a:bodyPr>
          <a:lstStyle/>
          <a:p>
            <a:pPr marL="0" indent="0">
              <a:buNone/>
            </a:pPr>
            <a:r>
              <a:rPr lang="en-US" sz="900" dirty="0"/>
              <a:t>    public Product() {</a:t>
            </a:r>
          </a:p>
          <a:p>
            <a:pPr marL="0" indent="0">
              <a:buNone/>
            </a:pPr>
            <a:r>
              <a:rPr lang="en-US" sz="900" dirty="0"/>
              <a:t>    }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/>
              <a:t>    public Product(String name, Float price, String description, String code) {</a:t>
            </a:r>
          </a:p>
          <a:p>
            <a:pPr marL="0" indent="0">
              <a:buNone/>
            </a:pPr>
            <a:r>
              <a:rPr lang="en-US" sz="900" dirty="0"/>
              <a:t>        </a:t>
            </a:r>
            <a:r>
              <a:rPr lang="en-US" sz="900" dirty="0" err="1"/>
              <a:t>this.name</a:t>
            </a:r>
            <a:r>
              <a:rPr lang="en-US" sz="900" dirty="0"/>
              <a:t> = name;</a:t>
            </a:r>
          </a:p>
          <a:p>
            <a:pPr marL="0" indent="0">
              <a:buNone/>
            </a:pPr>
            <a:r>
              <a:rPr lang="en-US" sz="900" dirty="0"/>
              <a:t>        </a:t>
            </a:r>
            <a:r>
              <a:rPr lang="en-US" sz="900" dirty="0" err="1"/>
              <a:t>this.price</a:t>
            </a:r>
            <a:r>
              <a:rPr lang="en-US" sz="900" dirty="0"/>
              <a:t> = price;</a:t>
            </a:r>
          </a:p>
          <a:p>
            <a:pPr marL="0" indent="0">
              <a:buNone/>
            </a:pPr>
            <a:r>
              <a:rPr lang="en-US" sz="900" dirty="0"/>
              <a:t>        </a:t>
            </a:r>
            <a:r>
              <a:rPr lang="en-US" sz="900" dirty="0" err="1"/>
              <a:t>this.description</a:t>
            </a:r>
            <a:r>
              <a:rPr lang="en-US" sz="900" dirty="0"/>
              <a:t> = description;</a:t>
            </a:r>
          </a:p>
          <a:p>
            <a:pPr marL="0" indent="0">
              <a:buNone/>
            </a:pPr>
            <a:r>
              <a:rPr lang="en-US" sz="900" dirty="0"/>
              <a:t>        </a:t>
            </a:r>
            <a:r>
              <a:rPr lang="en-US" sz="900" dirty="0" err="1"/>
              <a:t>this.code</a:t>
            </a:r>
            <a:r>
              <a:rPr lang="en-US" sz="900" dirty="0"/>
              <a:t> = code;</a:t>
            </a:r>
          </a:p>
          <a:p>
            <a:pPr marL="0" indent="0">
              <a:buNone/>
            </a:pPr>
            <a:r>
              <a:rPr lang="en-US" sz="900" dirty="0"/>
              <a:t>    }</a:t>
            </a:r>
          </a:p>
          <a:p>
            <a:pPr marL="0" indent="0">
              <a:buNone/>
            </a:pPr>
            <a:endParaRPr lang="en-US" sz="900" dirty="0">
              <a:cs typeface="Calibri Light" panose="020F0302020204030204" pitchFamily="34" charset="0"/>
            </a:endParaRPr>
          </a:p>
          <a:p>
            <a:pPr marL="0" indent="0">
              <a:buNone/>
            </a:pPr>
            <a:r>
              <a:rPr lang="en-US" sz="900" dirty="0">
                <a:cs typeface="Calibri Light" panose="020F0302020204030204" pitchFamily="34" charset="0"/>
              </a:rPr>
              <a:t>    public String </a:t>
            </a:r>
            <a:r>
              <a:rPr lang="en-US" sz="900" dirty="0" err="1">
                <a:cs typeface="Calibri Light" panose="020F0302020204030204" pitchFamily="34" charset="0"/>
              </a:rPr>
              <a:t>getDescription</a:t>
            </a:r>
            <a:r>
              <a:rPr lang="en-US" sz="900" dirty="0">
                <a:cs typeface="Calibri Light" panose="020F0302020204030204" pitchFamily="34" charset="0"/>
              </a:rPr>
              <a:t>() {</a:t>
            </a:r>
          </a:p>
          <a:p>
            <a:pPr marL="0" indent="0">
              <a:buNone/>
            </a:pPr>
            <a:r>
              <a:rPr lang="en-US" sz="900" dirty="0">
                <a:cs typeface="Calibri Light" panose="020F0302020204030204" pitchFamily="34" charset="0"/>
              </a:rPr>
              <a:t>        return description;</a:t>
            </a:r>
          </a:p>
          <a:p>
            <a:pPr marL="0" indent="0">
              <a:buNone/>
            </a:pPr>
            <a:r>
              <a:rPr lang="en-US" sz="900" dirty="0">
                <a:cs typeface="Calibri Light" panose="020F0302020204030204" pitchFamily="34" charset="0"/>
              </a:rPr>
              <a:t>    }</a:t>
            </a:r>
          </a:p>
          <a:p>
            <a:pPr marL="0" indent="0">
              <a:buNone/>
            </a:pPr>
            <a:endParaRPr lang="en-US" sz="900" dirty="0">
              <a:cs typeface="Calibri Light" panose="020F0302020204030204" pitchFamily="34" charset="0"/>
            </a:endParaRPr>
          </a:p>
          <a:p>
            <a:pPr marL="0" indent="0">
              <a:buNone/>
            </a:pPr>
            <a:r>
              <a:rPr lang="en-US" sz="900" dirty="0">
                <a:cs typeface="Calibri Light" panose="020F0302020204030204" pitchFamily="34" charset="0"/>
              </a:rPr>
              <a:t>    public void </a:t>
            </a:r>
            <a:r>
              <a:rPr lang="en-US" sz="900" dirty="0" err="1">
                <a:cs typeface="Calibri Light" panose="020F0302020204030204" pitchFamily="34" charset="0"/>
              </a:rPr>
              <a:t>setDescription</a:t>
            </a:r>
            <a:r>
              <a:rPr lang="en-US" sz="900" dirty="0">
                <a:cs typeface="Calibri Light" panose="020F0302020204030204" pitchFamily="34" charset="0"/>
              </a:rPr>
              <a:t>(String description) {</a:t>
            </a:r>
          </a:p>
          <a:p>
            <a:pPr marL="0" indent="0">
              <a:buNone/>
            </a:pPr>
            <a:r>
              <a:rPr lang="en-US" sz="900" dirty="0">
                <a:cs typeface="Calibri Light" panose="020F0302020204030204" pitchFamily="34" charset="0"/>
              </a:rPr>
              <a:t>        </a:t>
            </a:r>
            <a:r>
              <a:rPr lang="en-US" sz="900" dirty="0" err="1">
                <a:cs typeface="Calibri Light" panose="020F0302020204030204" pitchFamily="34" charset="0"/>
              </a:rPr>
              <a:t>this.description</a:t>
            </a:r>
            <a:r>
              <a:rPr lang="en-US" sz="900" dirty="0">
                <a:cs typeface="Calibri Light" panose="020F0302020204030204" pitchFamily="34" charset="0"/>
              </a:rPr>
              <a:t> = description;</a:t>
            </a:r>
          </a:p>
          <a:p>
            <a:pPr marL="0" indent="0">
              <a:buNone/>
            </a:pPr>
            <a:r>
              <a:rPr lang="en-US" sz="900" dirty="0">
                <a:cs typeface="Calibri Light" panose="020F0302020204030204" pitchFamily="34" charset="0"/>
              </a:rPr>
              <a:t>    }</a:t>
            </a:r>
          </a:p>
          <a:p>
            <a:pPr marL="0" indent="0">
              <a:buNone/>
            </a:pPr>
            <a:endParaRPr lang="en-US" sz="900" dirty="0">
              <a:cs typeface="Calibri Light" panose="020F0302020204030204" pitchFamily="34" charset="0"/>
            </a:endParaRPr>
          </a:p>
          <a:p>
            <a:pPr marL="0" indent="0">
              <a:buNone/>
            </a:pPr>
            <a:r>
              <a:rPr lang="en-US" sz="900" dirty="0">
                <a:cs typeface="Calibri Light" panose="020F0302020204030204" pitchFamily="34" charset="0"/>
              </a:rPr>
              <a:t>    public String </a:t>
            </a:r>
            <a:r>
              <a:rPr lang="en-US" sz="900" dirty="0" err="1">
                <a:cs typeface="Calibri Light" panose="020F0302020204030204" pitchFamily="34" charset="0"/>
              </a:rPr>
              <a:t>getCode</a:t>
            </a:r>
            <a:r>
              <a:rPr lang="en-US" sz="900" dirty="0">
                <a:cs typeface="Calibri Light" panose="020F0302020204030204" pitchFamily="34" charset="0"/>
              </a:rPr>
              <a:t>() {</a:t>
            </a:r>
          </a:p>
          <a:p>
            <a:pPr marL="0" indent="0">
              <a:buNone/>
            </a:pPr>
            <a:r>
              <a:rPr lang="en-US" sz="900" dirty="0">
                <a:cs typeface="Calibri Light" panose="020F0302020204030204" pitchFamily="34" charset="0"/>
              </a:rPr>
              <a:t>        return code;</a:t>
            </a:r>
          </a:p>
          <a:p>
            <a:pPr marL="0" indent="0">
              <a:buNone/>
            </a:pPr>
            <a:r>
              <a:rPr lang="en-US" sz="900" dirty="0">
                <a:cs typeface="Calibri Light" panose="020F0302020204030204" pitchFamily="34" charset="0"/>
              </a:rPr>
              <a:t>    }</a:t>
            </a:r>
          </a:p>
          <a:p>
            <a:pPr marL="0" indent="0">
              <a:buNone/>
            </a:pPr>
            <a:endParaRPr lang="en-US" sz="900" dirty="0">
              <a:cs typeface="Calibri Light" panose="020F0302020204030204" pitchFamily="34" charset="0"/>
            </a:endParaRPr>
          </a:p>
          <a:p>
            <a:pPr marL="0" indent="0">
              <a:buNone/>
            </a:pPr>
            <a:r>
              <a:rPr lang="en-US" sz="900" dirty="0">
                <a:cs typeface="Calibri Light" panose="020F0302020204030204" pitchFamily="34" charset="0"/>
              </a:rPr>
              <a:t>    public void </a:t>
            </a:r>
            <a:r>
              <a:rPr lang="en-US" sz="900" dirty="0" err="1">
                <a:cs typeface="Calibri Light" panose="020F0302020204030204" pitchFamily="34" charset="0"/>
              </a:rPr>
              <a:t>setCode</a:t>
            </a:r>
            <a:r>
              <a:rPr lang="en-US" sz="900" dirty="0">
                <a:cs typeface="Calibri Light" panose="020F0302020204030204" pitchFamily="34" charset="0"/>
              </a:rPr>
              <a:t>(String code) {</a:t>
            </a:r>
          </a:p>
          <a:p>
            <a:pPr marL="0" indent="0">
              <a:buNone/>
            </a:pPr>
            <a:r>
              <a:rPr lang="en-US" sz="900" dirty="0">
                <a:cs typeface="Calibri Light" panose="020F0302020204030204" pitchFamily="34" charset="0"/>
              </a:rPr>
              <a:t>        </a:t>
            </a:r>
            <a:r>
              <a:rPr lang="en-US" sz="900" dirty="0" err="1">
                <a:cs typeface="Calibri Light" panose="020F0302020204030204" pitchFamily="34" charset="0"/>
              </a:rPr>
              <a:t>this.code</a:t>
            </a:r>
            <a:r>
              <a:rPr lang="en-US" sz="900" dirty="0">
                <a:cs typeface="Calibri Light" panose="020F0302020204030204" pitchFamily="34" charset="0"/>
              </a:rPr>
              <a:t> = code;</a:t>
            </a:r>
          </a:p>
          <a:p>
            <a:pPr marL="0" indent="0">
              <a:buNone/>
            </a:pPr>
            <a:r>
              <a:rPr lang="en-US" sz="900" dirty="0">
                <a:cs typeface="Calibri Light" panose="020F0302020204030204" pitchFamily="34" charset="0"/>
              </a:rPr>
              <a:t>    }</a:t>
            </a:r>
          </a:p>
          <a:p>
            <a:pPr marL="0" indent="0">
              <a:buNone/>
            </a:pPr>
            <a:endParaRPr lang="en-US" sz="900" dirty="0">
              <a:cs typeface="Calibri Light" panose="020F0302020204030204" pitchFamily="34" charset="0"/>
            </a:endParaRPr>
          </a:p>
          <a:p>
            <a:pPr marL="0" indent="0">
              <a:buNone/>
            </a:pPr>
            <a:r>
              <a:rPr lang="en-US" sz="900" dirty="0">
                <a:cs typeface="Calibri Light" panose="020F0302020204030204" pitchFamily="34" charset="0"/>
              </a:rPr>
              <a:t>    public void </a:t>
            </a:r>
            <a:r>
              <a:rPr lang="en-US" sz="900" dirty="0" err="1">
                <a:cs typeface="Calibri Light" panose="020F0302020204030204" pitchFamily="34" charset="0"/>
              </a:rPr>
              <a:t>setId</a:t>
            </a:r>
            <a:r>
              <a:rPr lang="en-US" sz="900" dirty="0">
                <a:cs typeface="Calibri Light" panose="020F0302020204030204" pitchFamily="34" charset="0"/>
              </a:rPr>
              <a:t>(Long id) {</a:t>
            </a:r>
          </a:p>
          <a:p>
            <a:pPr marL="0" indent="0">
              <a:buNone/>
            </a:pPr>
            <a:r>
              <a:rPr lang="en-US" sz="900" dirty="0">
                <a:cs typeface="Calibri Light" panose="020F0302020204030204" pitchFamily="34" charset="0"/>
              </a:rPr>
              <a:t>        </a:t>
            </a:r>
            <a:r>
              <a:rPr lang="en-US" sz="900" dirty="0" err="1">
                <a:cs typeface="Calibri Light" panose="020F0302020204030204" pitchFamily="34" charset="0"/>
              </a:rPr>
              <a:t>this.id</a:t>
            </a:r>
            <a:r>
              <a:rPr lang="en-US" sz="900" dirty="0">
                <a:cs typeface="Calibri Light" panose="020F0302020204030204" pitchFamily="34" charset="0"/>
              </a:rPr>
              <a:t> = id;</a:t>
            </a:r>
          </a:p>
          <a:p>
            <a:pPr marL="0" indent="0">
              <a:buNone/>
            </a:pPr>
            <a:r>
              <a:rPr lang="en-US" sz="900" dirty="0">
                <a:cs typeface="Calibri Light" panose="020F0302020204030204" pitchFamily="34" charset="0"/>
              </a:rPr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14846034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Esempio</a:t>
            </a:r>
            <a:r>
              <a:rPr lang="en-US" dirty="0"/>
              <a:t> (3/3)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1485900" y="114302"/>
            <a:ext cx="6172200" cy="4669971"/>
          </a:xfrm>
        </p:spPr>
        <p:txBody>
          <a:bodyPr vert="horz" lIns="68580" tIns="34290" rIns="68580" bIns="34290" rtlCol="0" anchor="t">
            <a:noAutofit/>
          </a:bodyPr>
          <a:lstStyle/>
          <a:p>
            <a:pPr marL="0" indent="0">
              <a:buNone/>
            </a:pPr>
            <a:r>
              <a:rPr lang="is-IS" sz="675" dirty="0"/>
              <a:t>    public Long getId() {</a:t>
            </a:r>
          </a:p>
          <a:p>
            <a:pPr marL="0" indent="0">
              <a:buNone/>
            </a:pPr>
            <a:r>
              <a:rPr lang="is-IS" sz="675" dirty="0"/>
              <a:t>        return id;</a:t>
            </a:r>
          </a:p>
          <a:p>
            <a:pPr marL="0" indent="0">
              <a:buNone/>
            </a:pPr>
            <a:r>
              <a:rPr lang="is-IS" sz="675" dirty="0"/>
              <a:t>    }</a:t>
            </a:r>
            <a:endParaRPr lang="en-US" sz="675" dirty="0">
              <a:cs typeface="Calibri Light" panose="020F0302020204030204" pitchFamily="34" charset="0"/>
            </a:endParaRPr>
          </a:p>
          <a:p>
            <a:pPr marL="0" indent="0">
              <a:buNone/>
            </a:pPr>
            <a:r>
              <a:rPr lang="is-IS" sz="675" dirty="0"/>
              <a:t>    </a:t>
            </a:r>
          </a:p>
          <a:p>
            <a:pPr marL="0" indent="0">
              <a:buNone/>
            </a:pPr>
            <a:r>
              <a:rPr lang="is-IS" sz="675" dirty="0"/>
              <a:t>    public String getName() {</a:t>
            </a:r>
          </a:p>
          <a:p>
            <a:pPr marL="0" indent="0">
              <a:buNone/>
            </a:pPr>
            <a:r>
              <a:rPr lang="is-IS" sz="675" dirty="0"/>
              <a:t>        return this.name;</a:t>
            </a:r>
          </a:p>
          <a:p>
            <a:pPr marL="0" indent="0">
              <a:buNone/>
            </a:pPr>
            <a:r>
              <a:rPr lang="is-IS" sz="675" dirty="0"/>
              <a:t>    }</a:t>
            </a:r>
          </a:p>
          <a:p>
            <a:pPr marL="0" indent="0">
              <a:buNone/>
            </a:pPr>
            <a:endParaRPr lang="is-IS" sz="675" dirty="0"/>
          </a:p>
          <a:p>
            <a:pPr marL="0" indent="0">
              <a:buNone/>
            </a:pPr>
            <a:r>
              <a:rPr lang="is-IS" sz="675" dirty="0"/>
              <a:t>    public void setName(String name) {</a:t>
            </a:r>
          </a:p>
          <a:p>
            <a:pPr marL="0" indent="0">
              <a:buNone/>
            </a:pPr>
            <a:r>
              <a:rPr lang="is-IS" sz="675" dirty="0"/>
              <a:t>        this.name = name;</a:t>
            </a:r>
          </a:p>
          <a:p>
            <a:pPr marL="0" indent="0">
              <a:buNone/>
            </a:pPr>
            <a:r>
              <a:rPr lang="is-IS" sz="675" dirty="0"/>
              <a:t>    }</a:t>
            </a:r>
          </a:p>
          <a:p>
            <a:pPr marL="0" indent="0">
              <a:buNone/>
            </a:pPr>
            <a:endParaRPr lang="is-IS" sz="675" dirty="0"/>
          </a:p>
          <a:p>
            <a:pPr marL="0" indent="0">
              <a:buNone/>
            </a:pPr>
            <a:r>
              <a:rPr lang="is-IS" sz="675" dirty="0"/>
              <a:t>    public Float getPrice() {</a:t>
            </a:r>
          </a:p>
          <a:p>
            <a:pPr marL="0" indent="0">
              <a:buNone/>
            </a:pPr>
            <a:r>
              <a:rPr lang="is-IS" sz="675" dirty="0"/>
              <a:t>        return price;</a:t>
            </a:r>
          </a:p>
          <a:p>
            <a:pPr marL="0" indent="0">
              <a:buNone/>
            </a:pPr>
            <a:r>
              <a:rPr lang="is-IS" sz="675" dirty="0"/>
              <a:t>    }</a:t>
            </a:r>
          </a:p>
          <a:p>
            <a:pPr marL="0" indent="0">
              <a:buNone/>
            </a:pPr>
            <a:endParaRPr lang="is-IS" sz="675" dirty="0"/>
          </a:p>
          <a:p>
            <a:pPr marL="0" indent="0">
              <a:buNone/>
            </a:pPr>
            <a:r>
              <a:rPr lang="is-IS" sz="675" dirty="0"/>
              <a:t>    public void setPrice(Float price) {</a:t>
            </a:r>
          </a:p>
          <a:p>
            <a:pPr marL="0" indent="0">
              <a:buNone/>
            </a:pPr>
            <a:r>
              <a:rPr lang="is-IS" sz="675" dirty="0"/>
              <a:t>        this.price = price;</a:t>
            </a:r>
          </a:p>
          <a:p>
            <a:pPr marL="0" indent="0">
              <a:buNone/>
            </a:pPr>
            <a:r>
              <a:rPr lang="is-IS" sz="675" dirty="0"/>
              <a:t>    }</a:t>
            </a:r>
          </a:p>
          <a:p>
            <a:pPr marL="0" indent="0">
              <a:buNone/>
            </a:pPr>
            <a:r>
              <a:rPr lang="is-IS" sz="675" dirty="0"/>
              <a:t>    public boolean equals(Object obj) {</a:t>
            </a:r>
          </a:p>
          <a:p>
            <a:pPr marL="0" indent="0">
              <a:buNone/>
            </a:pPr>
            <a:r>
              <a:rPr lang="is-IS" sz="675" dirty="0"/>
              <a:t>        Product product = (Product)obj;</a:t>
            </a:r>
          </a:p>
          <a:p>
            <a:pPr marL="0" indent="0">
              <a:buNone/>
            </a:pPr>
            <a:r>
              <a:rPr lang="is-IS" sz="675" dirty="0"/>
              <a:t>        return this.getCode().equals(product.getCode());</a:t>
            </a:r>
          </a:p>
          <a:p>
            <a:pPr marL="0" indent="0">
              <a:buNone/>
            </a:pPr>
            <a:r>
              <a:rPr lang="is-IS" sz="675" dirty="0"/>
              <a:t>   }</a:t>
            </a:r>
          </a:p>
          <a:p>
            <a:pPr marL="0" indent="0">
              <a:buNone/>
            </a:pPr>
            <a:endParaRPr lang="is-IS" sz="675" dirty="0"/>
          </a:p>
          <a:p>
            <a:pPr marL="0" indent="0">
              <a:buNone/>
            </a:pPr>
            <a:r>
              <a:rPr lang="is-IS" sz="675" dirty="0"/>
              <a:t>    public int hashCode() {</a:t>
            </a:r>
          </a:p>
          <a:p>
            <a:pPr marL="0" indent="0">
              <a:buNone/>
            </a:pPr>
            <a:r>
              <a:rPr lang="is-IS" sz="675" dirty="0"/>
              <a:t>        return this.code.hashCode();</a:t>
            </a:r>
          </a:p>
          <a:p>
            <a:pPr marL="0" indent="0">
              <a:buNone/>
            </a:pPr>
            <a:r>
              <a:rPr lang="is-IS" sz="675" dirty="0"/>
              <a:t>     }</a:t>
            </a:r>
          </a:p>
          <a:p>
            <a:pPr marL="0" indent="0">
              <a:buNone/>
            </a:pPr>
            <a:endParaRPr lang="is-IS" sz="675" dirty="0"/>
          </a:p>
          <a:p>
            <a:pPr marL="0" indent="0">
              <a:buNone/>
            </a:pPr>
            <a:r>
              <a:rPr lang="is-IS" sz="675" dirty="0"/>
              <a:t>    public String toString() {</a:t>
            </a:r>
          </a:p>
          <a:p>
            <a:pPr marL="0" indent="0">
              <a:buNone/>
            </a:pPr>
            <a:r>
              <a:rPr lang="is-IS" sz="675" dirty="0"/>
              <a:t>        final StringBuilder sb = new StringBuilder();</a:t>
            </a:r>
          </a:p>
          <a:p>
            <a:pPr marL="0" indent="0">
              <a:buNone/>
            </a:pPr>
            <a:r>
              <a:rPr lang="is-IS" sz="675" dirty="0"/>
              <a:t>        sb.append("Product");</a:t>
            </a:r>
          </a:p>
          <a:p>
            <a:pPr marL="0" indent="0">
              <a:buNone/>
            </a:pPr>
            <a:r>
              <a:rPr lang="is-IS" sz="675" dirty="0"/>
              <a:t>        sb.append("{id=").append(id);</a:t>
            </a:r>
          </a:p>
          <a:p>
            <a:pPr marL="0" indent="0">
              <a:buNone/>
            </a:pPr>
            <a:r>
              <a:rPr lang="is-IS" sz="675" dirty="0"/>
              <a:t>        sb.append(", name='").append(name);</a:t>
            </a:r>
          </a:p>
          <a:p>
            <a:pPr marL="0" indent="0">
              <a:buNone/>
            </a:pPr>
            <a:r>
              <a:rPr lang="is-IS" sz="675" dirty="0"/>
              <a:t>        sb.append(", price=").append(price);</a:t>
            </a:r>
          </a:p>
          <a:p>
            <a:pPr marL="0" indent="0">
              <a:buNone/>
            </a:pPr>
            <a:r>
              <a:rPr lang="is-IS" sz="675" dirty="0"/>
              <a:t>        sb.append(", description='").append(description);</a:t>
            </a:r>
          </a:p>
          <a:p>
            <a:pPr marL="0" indent="0">
              <a:buNone/>
            </a:pPr>
            <a:r>
              <a:rPr lang="is-IS" sz="675" dirty="0"/>
              <a:t>        sb.append(", code='").append(code);</a:t>
            </a:r>
          </a:p>
          <a:p>
            <a:pPr marL="0" indent="0">
              <a:buNone/>
            </a:pPr>
            <a:r>
              <a:rPr lang="is-IS" sz="675" dirty="0"/>
              <a:t>        sb.append("}\n");</a:t>
            </a:r>
          </a:p>
          <a:p>
            <a:pPr marL="0" indent="0">
              <a:buNone/>
            </a:pPr>
            <a:r>
              <a:rPr lang="is-IS" sz="675" dirty="0"/>
              <a:t>        return sb.toString();</a:t>
            </a:r>
          </a:p>
          <a:p>
            <a:pPr marL="0" indent="0">
              <a:buNone/>
            </a:pPr>
            <a:r>
              <a:rPr lang="is-IS" sz="675" dirty="0"/>
              <a:t>    }</a:t>
            </a:r>
          </a:p>
          <a:p>
            <a:pPr marL="0" indent="0">
              <a:buNone/>
            </a:pPr>
            <a:r>
              <a:rPr lang="is-IS" sz="675" dirty="0"/>
              <a:t>}</a:t>
            </a:r>
          </a:p>
          <a:p>
            <a:pPr marL="0" indent="0">
              <a:buNone/>
            </a:pPr>
            <a:endParaRPr lang="is-IS" sz="675" dirty="0"/>
          </a:p>
        </p:txBody>
      </p:sp>
    </p:spTree>
    <p:extLst>
      <p:ext uri="{BB962C8B-B14F-4D97-AF65-F5344CB8AC3E}">
        <p14:creationId xmlns:p14="http://schemas.microsoft.com/office/powerpoint/2010/main" val="13125297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Esempio</a:t>
            </a:r>
            <a:r>
              <a:rPr lang="en-US"/>
              <a:t> (</a:t>
            </a:r>
            <a:r>
              <a:rPr lang="en-US" err="1"/>
              <a:t>dettagli</a:t>
            </a:r>
            <a:r>
              <a:rPr lang="en-US"/>
              <a:t>)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1459319" y="914401"/>
            <a:ext cx="6172200" cy="368022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050" dirty="0"/>
              <a:t>+</a:t>
            </a:r>
            <a:r>
              <a:rPr lang="en-US" sz="1050" b="1" dirty="0">
                <a:solidFill>
                  <a:schemeClr val="accent2"/>
                </a:solidFill>
              </a:rPr>
              <a:t>import </a:t>
            </a:r>
            <a:r>
              <a:rPr lang="en-US" sz="1050" b="1" dirty="0" err="1">
                <a:solidFill>
                  <a:schemeClr val="accent2"/>
                </a:solidFill>
              </a:rPr>
              <a:t>jakarta.persistence.Entity</a:t>
            </a:r>
            <a:r>
              <a:rPr lang="en-US" sz="1050" dirty="0"/>
              <a:t>;[…]</a:t>
            </a:r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/>
              <a:t>	</a:t>
            </a:r>
            <a:r>
              <a:rPr lang="en-US" sz="1050" b="1" dirty="0">
                <a:solidFill>
                  <a:schemeClr val="accent2"/>
                </a:solidFill>
              </a:rPr>
              <a:t>@Entity</a:t>
            </a:r>
          </a:p>
          <a:p>
            <a:pPr marL="0" indent="0">
              <a:buNone/>
            </a:pPr>
            <a:r>
              <a:rPr lang="en-US" sz="1050" dirty="0"/>
              <a:t>	public class Product {</a:t>
            </a:r>
          </a:p>
          <a:p>
            <a:pPr marL="0" indent="0">
              <a:buNone/>
            </a:pPr>
            <a:r>
              <a:rPr lang="fr-FR" sz="1050" dirty="0"/>
              <a:t>        </a:t>
            </a:r>
          </a:p>
          <a:p>
            <a:pPr marL="0" indent="0">
              <a:buNone/>
            </a:pPr>
            <a:r>
              <a:rPr lang="en-US" sz="1050" dirty="0"/>
              <a:t>		</a:t>
            </a:r>
            <a:r>
              <a:rPr lang="fr-FR" sz="1050" b="1" dirty="0">
                <a:solidFill>
                  <a:srgbClr val="C0504D"/>
                </a:solidFill>
              </a:rPr>
              <a:t>@Id</a:t>
            </a:r>
          </a:p>
          <a:p>
            <a:pPr marL="0" indent="0">
              <a:buNone/>
            </a:pPr>
            <a:r>
              <a:rPr lang="fr-FR" sz="1050" b="1" dirty="0">
                <a:solidFill>
                  <a:srgbClr val="C0504D"/>
                </a:solidFill>
              </a:rPr>
              <a:t>        </a:t>
            </a:r>
            <a:r>
              <a:rPr lang="en-US" sz="1050" b="1" dirty="0">
                <a:solidFill>
                  <a:srgbClr val="C0504D"/>
                </a:solidFill>
              </a:rPr>
              <a:t>		</a:t>
            </a:r>
            <a:r>
              <a:rPr lang="fr-FR" sz="1050" b="1" dirty="0">
                <a:solidFill>
                  <a:srgbClr val="C0504D"/>
                </a:solidFill>
              </a:rPr>
              <a:t>@</a:t>
            </a:r>
            <a:r>
              <a:rPr lang="fr-FR" sz="1050" b="1" dirty="0" err="1">
                <a:solidFill>
                  <a:srgbClr val="C0504D"/>
                </a:solidFill>
              </a:rPr>
              <a:t>GeneratedValue</a:t>
            </a:r>
            <a:r>
              <a:rPr lang="fr-FR" sz="1050" b="1" dirty="0">
                <a:solidFill>
                  <a:srgbClr val="C0504D"/>
                </a:solidFill>
              </a:rPr>
              <a:t>(</a:t>
            </a:r>
            <a:r>
              <a:rPr lang="fr-FR" sz="1050" b="1" dirty="0" err="1">
                <a:solidFill>
                  <a:srgbClr val="C0504D"/>
                </a:solidFill>
              </a:rPr>
              <a:t>strategy</a:t>
            </a:r>
            <a:r>
              <a:rPr lang="fr-FR" sz="1050" b="1" dirty="0">
                <a:solidFill>
                  <a:srgbClr val="C0504D"/>
                </a:solidFill>
              </a:rPr>
              <a:t> = </a:t>
            </a:r>
            <a:r>
              <a:rPr lang="fr-FR" sz="1050" b="1" dirty="0" err="1">
                <a:solidFill>
                  <a:srgbClr val="C0504D"/>
                </a:solidFill>
              </a:rPr>
              <a:t>GenerationType.</a:t>
            </a:r>
            <a:r>
              <a:rPr lang="fr-FR" sz="1050" b="1" i="1" dirty="0" err="1">
                <a:solidFill>
                  <a:srgbClr val="C0504D"/>
                </a:solidFill>
              </a:rPr>
              <a:t>AUTO</a:t>
            </a:r>
            <a:r>
              <a:rPr lang="fr-FR" sz="1050" b="1" i="1" dirty="0">
                <a:solidFill>
                  <a:srgbClr val="C0504D"/>
                </a:solidFill>
              </a:rPr>
              <a:t>)</a:t>
            </a:r>
          </a:p>
          <a:p>
            <a:pPr marL="0" indent="0">
              <a:buNone/>
            </a:pPr>
            <a:r>
              <a:rPr lang="fr-FR" sz="1050" dirty="0"/>
              <a:t>		</a:t>
            </a:r>
            <a:r>
              <a:rPr lang="fr-FR" sz="1050" dirty="0" err="1"/>
              <a:t>private</a:t>
            </a:r>
            <a:r>
              <a:rPr lang="fr-FR" sz="1050" dirty="0"/>
              <a:t> Long id;</a:t>
            </a:r>
          </a:p>
          <a:p>
            <a:pPr marL="0" indent="0">
              <a:buNone/>
            </a:pPr>
            <a:r>
              <a:rPr lang="fr-FR" sz="1050" dirty="0"/>
              <a:t>		</a:t>
            </a:r>
          </a:p>
          <a:p>
            <a:pPr marL="0" indent="0">
              <a:buNone/>
            </a:pPr>
            <a:r>
              <a:rPr lang="fr-FR" sz="1050" dirty="0"/>
              <a:t>		</a:t>
            </a:r>
            <a:r>
              <a:rPr lang="fr-FR" sz="1050" dirty="0" err="1"/>
              <a:t>private</a:t>
            </a:r>
            <a:r>
              <a:rPr lang="fr-FR" sz="1050" dirty="0"/>
              <a:t> String </a:t>
            </a:r>
            <a:r>
              <a:rPr lang="fr-FR" sz="1050" dirty="0" err="1"/>
              <a:t>name</a:t>
            </a:r>
            <a:r>
              <a:rPr lang="fr-FR" sz="1050" dirty="0"/>
              <a:t>;</a:t>
            </a:r>
          </a:p>
          <a:p>
            <a:pPr marL="0" indent="0">
              <a:buNone/>
            </a:pPr>
            <a:r>
              <a:rPr lang="fr-FR" sz="1050" dirty="0"/>
              <a:t>		</a:t>
            </a:r>
          </a:p>
          <a:p>
            <a:pPr marL="0" indent="0">
              <a:buNone/>
            </a:pPr>
            <a:r>
              <a:rPr lang="fr-FR" sz="1050" dirty="0"/>
              <a:t>		</a:t>
            </a:r>
            <a:r>
              <a:rPr lang="fr-FR" sz="1050" dirty="0" err="1"/>
              <a:t>private</a:t>
            </a:r>
            <a:r>
              <a:rPr lang="fr-FR" sz="1050" dirty="0"/>
              <a:t> </a:t>
            </a:r>
            <a:r>
              <a:rPr lang="fr-FR" sz="1050" dirty="0" err="1"/>
              <a:t>Float</a:t>
            </a:r>
            <a:r>
              <a:rPr lang="fr-FR" sz="1050" dirty="0"/>
              <a:t> </a:t>
            </a:r>
            <a:r>
              <a:rPr lang="fr-FR" sz="1050" dirty="0" err="1"/>
              <a:t>price</a:t>
            </a:r>
            <a:r>
              <a:rPr lang="fr-FR" sz="1050" dirty="0"/>
              <a:t>;</a:t>
            </a:r>
          </a:p>
          <a:p>
            <a:pPr marL="0" indent="0">
              <a:buNone/>
            </a:pPr>
            <a:r>
              <a:rPr lang="en-US" sz="1050" dirty="0"/>
              <a:t>	</a:t>
            </a:r>
          </a:p>
          <a:p>
            <a:pPr marL="0" indent="0">
              <a:buNone/>
            </a:pPr>
            <a:r>
              <a:rPr lang="en-US" sz="1050" b="1" dirty="0">
                <a:solidFill>
                  <a:srgbClr val="C0504D"/>
                </a:solidFill>
              </a:rPr>
              <a:t>		@Column(length = 2000)</a:t>
            </a:r>
          </a:p>
          <a:p>
            <a:pPr marL="0" indent="0">
              <a:buNone/>
            </a:pPr>
            <a:r>
              <a:rPr lang="en-US" sz="1050" dirty="0"/>
              <a:t>		private String description;</a:t>
            </a:r>
          </a:p>
          <a:p>
            <a:pPr marL="0" indent="0">
              <a:buNone/>
            </a:pPr>
            <a:r>
              <a:rPr lang="fr-FR" sz="1050" b="1" dirty="0">
                <a:solidFill>
                  <a:srgbClr val="C0504D"/>
                </a:solidFill>
              </a:rPr>
              <a:t>         		</a:t>
            </a:r>
          </a:p>
          <a:p>
            <a:pPr marL="0" indent="0">
              <a:buNone/>
            </a:pPr>
            <a:r>
              <a:rPr lang="fr-FR" sz="1050" b="1" dirty="0">
                <a:solidFill>
                  <a:srgbClr val="C0504D"/>
                </a:solidFill>
              </a:rPr>
              <a:t>		@</a:t>
            </a:r>
            <a:r>
              <a:rPr lang="fr-FR" sz="1050" b="1" dirty="0" err="1">
                <a:solidFill>
                  <a:srgbClr val="C0504D"/>
                </a:solidFill>
              </a:rPr>
              <a:t>Column</a:t>
            </a:r>
            <a:r>
              <a:rPr lang="fr-FR" sz="1050" b="1" dirty="0">
                <a:solidFill>
                  <a:srgbClr val="C0504D"/>
                </a:solidFill>
              </a:rPr>
              <a:t>(</a:t>
            </a:r>
            <a:r>
              <a:rPr lang="fr-FR" sz="1050" b="1" dirty="0" err="1">
                <a:solidFill>
                  <a:srgbClr val="C0504D"/>
                </a:solidFill>
              </a:rPr>
              <a:t>nullable</a:t>
            </a:r>
            <a:r>
              <a:rPr lang="fr-FR" sz="1050" b="1" dirty="0">
                <a:solidFill>
                  <a:srgbClr val="C0504D"/>
                </a:solidFill>
              </a:rPr>
              <a:t> = false)</a:t>
            </a:r>
            <a:endParaRPr lang="en-US" sz="1050" dirty="0"/>
          </a:p>
          <a:p>
            <a:pPr marL="0" indent="0">
              <a:buNone/>
            </a:pPr>
            <a:r>
              <a:rPr lang="en-US" sz="1050" dirty="0"/>
              <a:t>		private String code;</a:t>
            </a:r>
          </a:p>
          <a:p>
            <a:pPr marL="0" indent="0">
              <a:buNone/>
            </a:pPr>
            <a:endParaRPr lang="en-US" sz="1050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FE07C11-D954-5041-AC18-8BB9C1F9C7F2}"/>
              </a:ext>
            </a:extLst>
          </p:cNvPr>
          <p:cNvSpPr txBox="1"/>
          <p:nvPr/>
        </p:nvSpPr>
        <p:spPr>
          <a:xfrm>
            <a:off x="4947557" y="1071394"/>
            <a:ext cx="2350259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>
                <a:highlight>
                  <a:srgbClr val="FFFF00"/>
                </a:highlight>
                <a:latin typeface="Calibri Light" panose="020F0302020204030204" pitchFamily="34" charset="0"/>
              </a:rPr>
              <a:t>In </a:t>
            </a:r>
            <a:r>
              <a:rPr lang="en-US" sz="1350" dirty="0" err="1">
                <a:highlight>
                  <a:srgbClr val="FFFF00"/>
                </a:highlight>
                <a:latin typeface="Calibri Light" panose="020F0302020204030204" pitchFamily="34" charset="0"/>
              </a:rPr>
              <a:t>rosso</a:t>
            </a:r>
            <a:r>
              <a:rPr lang="en-US" sz="1350" dirty="0">
                <a:highlight>
                  <a:srgbClr val="FFFF00"/>
                </a:highlight>
                <a:latin typeface="Calibri Light" panose="020F0302020204030204" pitchFamily="34" charset="0"/>
              </a:rPr>
              <a:t> le </a:t>
            </a:r>
            <a:r>
              <a:rPr lang="en-US" sz="1350" dirty="0" err="1">
                <a:highlight>
                  <a:srgbClr val="FFFF00"/>
                </a:highlight>
                <a:latin typeface="Calibri Light" panose="020F0302020204030204" pitchFamily="34" charset="0"/>
              </a:rPr>
              <a:t>annotazioni</a:t>
            </a:r>
            <a:r>
              <a:rPr lang="en-US" sz="1350" dirty="0">
                <a:highlight>
                  <a:srgbClr val="FFFF00"/>
                </a:highlight>
                <a:latin typeface="Calibri Light" panose="020F0302020204030204" pitchFamily="34" charset="0"/>
              </a:rPr>
              <a:t> JPA per </a:t>
            </a:r>
            <a:br>
              <a:rPr lang="en-US" sz="1350" dirty="0">
                <a:highlight>
                  <a:srgbClr val="FFFF00"/>
                </a:highlight>
                <a:latin typeface="Calibri Light" panose="020F0302020204030204" pitchFamily="34" charset="0"/>
              </a:rPr>
            </a:br>
            <a:r>
              <a:rPr lang="en-US" sz="1350" dirty="0" err="1">
                <a:highlight>
                  <a:srgbClr val="FFFF00"/>
                </a:highlight>
                <a:latin typeface="Calibri Light" panose="020F0302020204030204" pitchFamily="34" charset="0"/>
              </a:rPr>
              <a:t>il</a:t>
            </a:r>
            <a:r>
              <a:rPr lang="en-US" sz="1350" dirty="0">
                <a:highlight>
                  <a:srgbClr val="FFFF00"/>
                </a:highlight>
                <a:latin typeface="Calibri Light" panose="020F0302020204030204" pitchFamily="34" charset="0"/>
              </a:rPr>
              <a:t> mapping object relational </a:t>
            </a:r>
          </a:p>
        </p:txBody>
      </p:sp>
    </p:spTree>
    <p:extLst>
      <p:ext uri="{BB962C8B-B14F-4D97-AF65-F5344CB8AC3E}">
        <p14:creationId xmlns:p14="http://schemas.microsoft.com/office/powerpoint/2010/main" val="35798659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Entity: </a:t>
            </a:r>
            <a:r>
              <a:rPr lang="en-US" err="1"/>
              <a:t>restrizioni</a:t>
            </a:r>
            <a:r>
              <a:rPr lang="en-US"/>
              <a:t> </a:t>
            </a:r>
            <a:r>
              <a:rPr lang="en-US" err="1"/>
              <a:t>sul</a:t>
            </a:r>
            <a:r>
              <a:rPr lang="en-US"/>
              <a:t> </a:t>
            </a:r>
            <a:r>
              <a:rPr lang="en-US" err="1"/>
              <a:t>codice</a:t>
            </a:r>
            <a:r>
              <a:rPr lang="en-US"/>
              <a:t> Java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Entità</a:t>
            </a:r>
            <a:endParaRPr lang="en-US" dirty="0"/>
          </a:p>
          <a:p>
            <a:pPr lvl="1"/>
            <a:r>
              <a:rPr lang="en-US" dirty="0"/>
              <a:t>La </a:t>
            </a:r>
            <a:r>
              <a:rPr lang="en-US" dirty="0" err="1"/>
              <a:t>classe</a:t>
            </a:r>
            <a:r>
              <a:rPr lang="en-US" dirty="0"/>
              <a:t> </a:t>
            </a:r>
            <a:r>
              <a:rPr lang="en-US" dirty="0" err="1"/>
              <a:t>deve</a:t>
            </a:r>
            <a:r>
              <a:rPr lang="en-US" dirty="0"/>
              <a:t> </a:t>
            </a:r>
            <a:r>
              <a:rPr lang="en-US" dirty="0" err="1"/>
              <a:t>avere</a:t>
            </a:r>
            <a:r>
              <a:rPr lang="en-US" dirty="0"/>
              <a:t>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costruttore</a:t>
            </a:r>
            <a:r>
              <a:rPr lang="en-US" dirty="0"/>
              <a:t> no-</a:t>
            </a:r>
            <a:r>
              <a:rPr lang="en-US" dirty="0" err="1"/>
              <a:t>arg</a:t>
            </a:r>
            <a:r>
              <a:rPr lang="en-US" dirty="0"/>
              <a:t> </a:t>
            </a:r>
            <a:r>
              <a:rPr lang="en-US" dirty="0" err="1"/>
              <a:t>publico</a:t>
            </a:r>
            <a:r>
              <a:rPr lang="en-US" dirty="0"/>
              <a:t> (o protected) e </a:t>
            </a:r>
            <a:r>
              <a:rPr lang="en-US" dirty="0" err="1"/>
              <a:t>può</a:t>
            </a:r>
            <a:r>
              <a:rPr lang="en-US" dirty="0"/>
              <a:t>  </a:t>
            </a:r>
            <a:r>
              <a:rPr lang="en-US" dirty="0" err="1"/>
              <a:t>avere</a:t>
            </a:r>
            <a:r>
              <a:rPr lang="en-US" dirty="0"/>
              <a:t>  </a:t>
            </a:r>
            <a:r>
              <a:rPr lang="en-US" dirty="0" err="1"/>
              <a:t>anche</a:t>
            </a:r>
            <a:r>
              <a:rPr lang="en-US" dirty="0"/>
              <a:t> </a:t>
            </a:r>
            <a:r>
              <a:rPr lang="en-US" dirty="0" err="1"/>
              <a:t>altri</a:t>
            </a:r>
            <a:r>
              <a:rPr lang="en-US" dirty="0"/>
              <a:t> </a:t>
            </a:r>
            <a:r>
              <a:rPr lang="en-US" dirty="0" err="1"/>
              <a:t>costruttori</a:t>
            </a:r>
            <a:endParaRPr lang="en-US" dirty="0"/>
          </a:p>
          <a:p>
            <a:pPr lvl="1"/>
            <a:r>
              <a:rPr lang="en-US" dirty="0"/>
              <a:t>La </a:t>
            </a:r>
            <a:r>
              <a:rPr lang="en-US" dirty="0" err="1"/>
              <a:t>classe</a:t>
            </a:r>
            <a:r>
              <a:rPr lang="en-US" dirty="0"/>
              <a:t> non </a:t>
            </a:r>
            <a:r>
              <a:rPr lang="en-US" dirty="0" err="1"/>
              <a:t>deve</a:t>
            </a:r>
            <a:r>
              <a:rPr lang="en-US" dirty="0"/>
              <a:t> </a:t>
            </a:r>
            <a:r>
              <a:rPr lang="en-US" dirty="0" err="1"/>
              <a:t>essere</a:t>
            </a:r>
            <a:r>
              <a:rPr lang="en-US" dirty="0"/>
              <a:t> </a:t>
            </a:r>
            <a:r>
              <a:rPr lang="en-US" dirty="0" err="1"/>
              <a:t>dichiarata</a:t>
            </a:r>
            <a:r>
              <a:rPr lang="en-US" dirty="0"/>
              <a:t> final, </a:t>
            </a:r>
            <a:r>
              <a:rPr lang="en-US" dirty="0" err="1"/>
              <a:t>nè</a:t>
            </a:r>
            <a:r>
              <a:rPr lang="en-US" dirty="0"/>
              <a:t> </a:t>
            </a:r>
            <a:r>
              <a:rPr lang="en-US" dirty="0" err="1"/>
              <a:t>avere</a:t>
            </a:r>
            <a:r>
              <a:rPr lang="en-US" dirty="0"/>
              <a:t> </a:t>
            </a:r>
            <a:r>
              <a:rPr lang="en-US" dirty="0" err="1"/>
              <a:t>metodi</a:t>
            </a:r>
            <a:r>
              <a:rPr lang="en-US" dirty="0"/>
              <a:t> final</a:t>
            </a:r>
          </a:p>
          <a:p>
            <a:r>
              <a:rPr lang="en-US" dirty="0" err="1"/>
              <a:t>Attributi</a:t>
            </a:r>
            <a:endParaRPr lang="en-US" dirty="0"/>
          </a:p>
          <a:p>
            <a:pPr lvl="1"/>
            <a:r>
              <a:rPr lang="en-US" dirty="0"/>
              <a:t>Tipi </a:t>
            </a:r>
            <a:r>
              <a:rPr lang="en-US" dirty="0" err="1"/>
              <a:t>primitivi</a:t>
            </a:r>
            <a:r>
              <a:rPr lang="en-US" dirty="0"/>
              <a:t>, </a:t>
            </a:r>
            <a:r>
              <a:rPr lang="en-US" dirty="0" err="1"/>
              <a:t>classi</a:t>
            </a:r>
            <a:r>
              <a:rPr lang="en-US" dirty="0"/>
              <a:t> wrapper, </a:t>
            </a:r>
            <a:r>
              <a:rPr lang="en-US" dirty="0" err="1"/>
              <a:t>java.lang.String</a:t>
            </a:r>
            <a:r>
              <a:rPr lang="en-US" dirty="0"/>
              <a:t>, </a:t>
            </a:r>
            <a:r>
              <a:rPr lang="en-US" dirty="0" err="1"/>
              <a:t>java.time</a:t>
            </a:r>
            <a:endParaRPr lang="en-US" dirty="0"/>
          </a:p>
          <a:p>
            <a:pPr lvl="1"/>
            <a:r>
              <a:rPr lang="en-US" dirty="0"/>
              <a:t>Metodi getter e setter </a:t>
            </a:r>
            <a:br>
              <a:rPr lang="en-US" dirty="0"/>
            </a:br>
            <a:r>
              <a:rPr lang="en-US" dirty="0"/>
              <a:t>(</a:t>
            </a:r>
            <a:r>
              <a:rPr lang="en-US" dirty="0" err="1"/>
              <a:t>nelle</a:t>
            </a:r>
            <a:r>
              <a:rPr lang="en-US" dirty="0"/>
              <a:t> slide successive </a:t>
            </a:r>
            <a:r>
              <a:rPr lang="en-US" dirty="0" err="1"/>
              <a:t>sono</a:t>
            </a:r>
            <a:r>
              <a:rPr lang="en-US" dirty="0"/>
              <a:t> </a:t>
            </a:r>
            <a:r>
              <a:rPr lang="en-US" dirty="0" err="1"/>
              <a:t>omessi</a:t>
            </a:r>
            <a:r>
              <a:rPr lang="en-US" dirty="0"/>
              <a:t> per </a:t>
            </a:r>
            <a:r>
              <a:rPr lang="en-US" dirty="0" err="1"/>
              <a:t>leggibilità</a:t>
            </a:r>
            <a:r>
              <a:rPr lang="en-US" dirty="0"/>
              <a:t>, ma </a:t>
            </a:r>
            <a:r>
              <a:rPr lang="en-US" dirty="0" err="1"/>
              <a:t>sono</a:t>
            </a:r>
            <a:r>
              <a:rPr lang="en-US" dirty="0"/>
              <a:t> </a:t>
            </a:r>
            <a:r>
              <a:rPr lang="en-US" dirty="0" err="1"/>
              <a:t>obbligatori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774276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Annotazioni</a:t>
            </a:r>
            <a:r>
              <a:rPr lang="en-US"/>
              <a:t> </a:t>
            </a:r>
            <a:r>
              <a:rPr lang="en-US" err="1"/>
              <a:t>principali</a:t>
            </a:r>
            <a:endParaRPr lang="en-US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b="1" dirty="0"/>
              <a:t>@Entity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specifica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la </a:t>
            </a:r>
            <a:r>
              <a:rPr lang="en-US" dirty="0" err="1"/>
              <a:t>classe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un </a:t>
            </a:r>
            <a:r>
              <a:rPr lang="en-US" dirty="0" err="1"/>
              <a:t>entità</a:t>
            </a:r>
            <a:r>
              <a:rPr lang="en-US" dirty="0"/>
              <a:t> (</a:t>
            </a:r>
            <a:r>
              <a:rPr lang="en-US" dirty="0" err="1"/>
              <a:t>oggetto</a:t>
            </a:r>
            <a:r>
              <a:rPr lang="en-US" dirty="0"/>
              <a:t> </a:t>
            </a:r>
            <a:r>
              <a:rPr lang="en-US" dirty="0" err="1"/>
              <a:t>persistente</a:t>
            </a:r>
            <a:r>
              <a:rPr lang="en-US" dirty="0"/>
              <a:t>)</a:t>
            </a:r>
          </a:p>
          <a:p>
            <a:r>
              <a:rPr lang="en-US" b="1" dirty="0"/>
              <a:t>@Id</a:t>
            </a:r>
            <a:br>
              <a:rPr lang="en-US" dirty="0"/>
            </a:br>
            <a:r>
              <a:rPr lang="en-US" dirty="0" err="1"/>
              <a:t>specifica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l'attributo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un'identificatore</a:t>
            </a:r>
            <a:r>
              <a:rPr lang="en-US" dirty="0"/>
              <a:t>: una </a:t>
            </a:r>
            <a:r>
              <a:rPr lang="en-US" dirty="0" err="1"/>
              <a:t>chiave</a:t>
            </a:r>
            <a:r>
              <a:rPr lang="en-US" dirty="0"/>
              <a:t> </a:t>
            </a:r>
            <a:r>
              <a:rPr lang="en-US" dirty="0" err="1"/>
              <a:t>primaria</a:t>
            </a:r>
            <a:r>
              <a:rPr lang="en-US" dirty="0"/>
              <a:t> </a:t>
            </a:r>
            <a:r>
              <a:rPr lang="en-US" dirty="0" err="1"/>
              <a:t>nel</a:t>
            </a:r>
            <a:r>
              <a:rPr lang="en-US" dirty="0"/>
              <a:t> </a:t>
            </a:r>
            <a:r>
              <a:rPr lang="en-US" dirty="0" err="1"/>
              <a:t>db</a:t>
            </a:r>
            <a:endParaRPr lang="en-US" dirty="0"/>
          </a:p>
          <a:p>
            <a:r>
              <a:rPr lang="en-US" b="1" dirty="0"/>
              <a:t>@</a:t>
            </a:r>
            <a:r>
              <a:rPr lang="en-US" b="1" dirty="0" err="1"/>
              <a:t>GeneratedValue</a:t>
            </a:r>
            <a:br>
              <a:rPr lang="en-US" dirty="0"/>
            </a:br>
            <a:r>
              <a:rPr lang="en-US" dirty="0" err="1"/>
              <a:t>specifica</a:t>
            </a:r>
            <a:r>
              <a:rPr lang="en-US" dirty="0"/>
              <a:t> in </a:t>
            </a:r>
            <a:r>
              <a:rPr lang="en-US" dirty="0" err="1"/>
              <a:t>che</a:t>
            </a:r>
            <a:r>
              <a:rPr lang="en-US" dirty="0"/>
              <a:t> modo </a:t>
            </a:r>
            <a:r>
              <a:rPr lang="en-US" dirty="0" err="1"/>
              <a:t>deve</a:t>
            </a:r>
            <a:r>
              <a:rPr lang="en-US" dirty="0"/>
              <a:t> </a:t>
            </a:r>
            <a:r>
              <a:rPr lang="en-US" dirty="0" err="1"/>
              <a:t>essere</a:t>
            </a:r>
            <a:r>
              <a:rPr lang="en-US" dirty="0"/>
              <a:t> </a:t>
            </a:r>
            <a:r>
              <a:rPr lang="en-US" dirty="0" err="1"/>
              <a:t>generato</a:t>
            </a:r>
            <a:r>
              <a:rPr lang="en-US" dirty="0"/>
              <a:t> il </a:t>
            </a:r>
            <a:r>
              <a:rPr lang="en-US" dirty="0" err="1"/>
              <a:t>valore</a:t>
            </a:r>
            <a:r>
              <a:rPr lang="en-US" dirty="0"/>
              <a:t> </a:t>
            </a:r>
            <a:r>
              <a:rPr lang="en-US" dirty="0" err="1"/>
              <a:t>della</a:t>
            </a:r>
            <a:r>
              <a:rPr lang="en-US" dirty="0"/>
              <a:t> </a:t>
            </a:r>
            <a:r>
              <a:rPr lang="en-US" dirty="0" err="1"/>
              <a:t>chiave</a:t>
            </a:r>
            <a:r>
              <a:rPr lang="en-US" dirty="0"/>
              <a:t> </a:t>
            </a:r>
            <a:r>
              <a:rPr lang="en-US" dirty="0" err="1"/>
              <a:t>primaria</a:t>
            </a:r>
            <a:endParaRPr lang="en-US" dirty="0"/>
          </a:p>
          <a:p>
            <a:pPr lvl="1"/>
            <a:r>
              <a:rPr lang="en-US" dirty="0"/>
              <a:t>strategy=</a:t>
            </a:r>
            <a:r>
              <a:rPr lang="en-US" dirty="0" err="1"/>
              <a:t>GenerationType.AUTO</a:t>
            </a:r>
            <a:r>
              <a:rPr lang="en-US" dirty="0"/>
              <a:t> indica </a:t>
            </a:r>
            <a:r>
              <a:rPr lang="en-US" dirty="0" err="1"/>
              <a:t>che</a:t>
            </a:r>
            <a:r>
              <a:rPr lang="en-US" dirty="0"/>
              <a:t> il </a:t>
            </a:r>
            <a:r>
              <a:rPr lang="en-US" dirty="0" err="1"/>
              <a:t>valore</a:t>
            </a:r>
            <a:r>
              <a:rPr lang="en-US" dirty="0"/>
              <a:t> </a:t>
            </a:r>
            <a:r>
              <a:rPr lang="en-US" dirty="0" err="1"/>
              <a:t>dell'id</a:t>
            </a:r>
            <a:r>
              <a:rPr lang="en-US" dirty="0"/>
              <a:t> </a:t>
            </a:r>
            <a:r>
              <a:rPr lang="en-US" dirty="0" err="1"/>
              <a:t>deve</a:t>
            </a:r>
            <a:r>
              <a:rPr lang="en-US" dirty="0"/>
              <a:t> </a:t>
            </a:r>
            <a:r>
              <a:rPr lang="en-US" dirty="0" err="1"/>
              <a:t>essere</a:t>
            </a:r>
            <a:r>
              <a:rPr lang="en-US" dirty="0"/>
              <a:t> </a:t>
            </a:r>
            <a:r>
              <a:rPr lang="en-US" dirty="0" err="1"/>
              <a:t>generata</a:t>
            </a:r>
            <a:r>
              <a:rPr lang="en-US" dirty="0"/>
              <a:t> </a:t>
            </a:r>
            <a:r>
              <a:rPr lang="en-US" dirty="0" err="1"/>
              <a:t>automaticamente</a:t>
            </a:r>
            <a:r>
              <a:rPr lang="en-US" dirty="0"/>
              <a:t> (un </a:t>
            </a:r>
            <a:r>
              <a:rPr lang="en-US" dirty="0" err="1"/>
              <a:t>valore</a:t>
            </a:r>
            <a:r>
              <a:rPr lang="en-US" dirty="0"/>
              <a:t> </a:t>
            </a:r>
            <a:r>
              <a:rPr lang="en-US" dirty="0" err="1"/>
              <a:t>incrementale</a:t>
            </a:r>
            <a:r>
              <a:rPr lang="en-US" dirty="0"/>
              <a:t> </a:t>
            </a:r>
            <a:r>
              <a:rPr lang="en-US" dirty="0" err="1"/>
              <a:t>assegnato</a:t>
            </a:r>
            <a:r>
              <a:rPr lang="en-US" dirty="0"/>
              <a:t> dal </a:t>
            </a:r>
            <a:r>
              <a:rPr lang="en-US" dirty="0" err="1"/>
              <a:t>db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Il </a:t>
            </a:r>
            <a:r>
              <a:rPr lang="en-US" dirty="0" err="1"/>
              <a:t>valore</a:t>
            </a:r>
            <a:r>
              <a:rPr lang="en-US" dirty="0"/>
              <a:t> </a:t>
            </a:r>
            <a:r>
              <a:rPr lang="en-US" dirty="0" err="1"/>
              <a:t>dell'id</a:t>
            </a:r>
            <a:r>
              <a:rPr lang="en-US" dirty="0"/>
              <a:t> </a:t>
            </a:r>
            <a:r>
              <a:rPr lang="en-US" dirty="0" err="1"/>
              <a:t>viene</a:t>
            </a:r>
            <a:r>
              <a:rPr lang="en-US" dirty="0"/>
              <a:t> </a:t>
            </a:r>
            <a:r>
              <a:rPr lang="en-US" dirty="0" err="1"/>
              <a:t>creato</a:t>
            </a:r>
            <a:r>
              <a:rPr lang="en-US" dirty="0"/>
              <a:t> (</a:t>
            </a:r>
            <a:r>
              <a:rPr lang="en-US" dirty="0" err="1"/>
              <a:t>automaticamente</a:t>
            </a:r>
            <a:r>
              <a:rPr lang="en-US" dirty="0"/>
              <a:t>) la prima volta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l'oggetto</a:t>
            </a:r>
            <a:r>
              <a:rPr lang="en-US" dirty="0"/>
              <a:t> </a:t>
            </a:r>
            <a:r>
              <a:rPr lang="en-US" dirty="0" err="1"/>
              <a:t>viene</a:t>
            </a:r>
            <a:r>
              <a:rPr lang="en-US" dirty="0"/>
              <a:t> </a:t>
            </a:r>
            <a:r>
              <a:rPr lang="en-US" dirty="0" err="1"/>
              <a:t>reso</a:t>
            </a:r>
            <a:r>
              <a:rPr lang="en-US" dirty="0"/>
              <a:t> </a:t>
            </a:r>
            <a:r>
              <a:rPr lang="en-US" dirty="0" err="1"/>
              <a:t>persistente</a:t>
            </a:r>
            <a:r>
              <a:rPr lang="en-US" dirty="0"/>
              <a:t> </a:t>
            </a:r>
            <a:r>
              <a:rPr lang="en-US" dirty="0" err="1"/>
              <a:t>nel</a:t>
            </a:r>
            <a:r>
              <a:rPr lang="en-US" dirty="0"/>
              <a:t> </a:t>
            </a:r>
            <a:r>
              <a:rPr lang="en-US" dirty="0" err="1"/>
              <a:t>db</a:t>
            </a:r>
            <a:endParaRPr lang="en-US" dirty="0"/>
          </a:p>
          <a:p>
            <a:r>
              <a:rPr lang="en-US" b="1" dirty="0"/>
              <a:t>@Column</a:t>
            </a:r>
            <a:br>
              <a:rPr lang="en-US" dirty="0"/>
            </a:br>
            <a:r>
              <a:rPr lang="en-US" dirty="0" err="1"/>
              <a:t>specifica</a:t>
            </a:r>
            <a:r>
              <a:rPr lang="en-US" dirty="0"/>
              <a:t> </a:t>
            </a:r>
            <a:r>
              <a:rPr lang="en-US" dirty="0" err="1"/>
              <a:t>eventuali</a:t>
            </a:r>
            <a:r>
              <a:rPr lang="en-US" dirty="0"/>
              <a:t> </a:t>
            </a:r>
            <a:r>
              <a:rPr lang="en-US" dirty="0" err="1"/>
              <a:t>proprietà</a:t>
            </a:r>
            <a:r>
              <a:rPr lang="en-US" dirty="0"/>
              <a:t> diverse da quelle di default </a:t>
            </a:r>
            <a:r>
              <a:rPr lang="en-US" dirty="0" err="1"/>
              <a:t>sulla</a:t>
            </a:r>
            <a:r>
              <a:rPr lang="en-US" dirty="0"/>
              <a:t> </a:t>
            </a:r>
            <a:r>
              <a:rPr lang="en-US" dirty="0" err="1"/>
              <a:t>colonna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corrisponde</a:t>
            </a:r>
            <a:r>
              <a:rPr lang="en-US" dirty="0"/>
              <a:t> </a:t>
            </a:r>
            <a:r>
              <a:rPr lang="en-US" dirty="0" err="1"/>
              <a:t>all'attributo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segue</a:t>
            </a:r>
          </a:p>
          <a:p>
            <a:pPr lvl="1"/>
            <a:r>
              <a:rPr lang="en-US" b="1" dirty="0"/>
              <a:t>nullable = false</a:t>
            </a:r>
            <a:r>
              <a:rPr lang="en-US" dirty="0"/>
              <a:t> indica </a:t>
            </a:r>
            <a:r>
              <a:rPr lang="en-US" dirty="0" err="1"/>
              <a:t>che</a:t>
            </a:r>
            <a:r>
              <a:rPr lang="en-US" dirty="0"/>
              <a:t> la </a:t>
            </a:r>
            <a:r>
              <a:rPr lang="en-US" dirty="0" err="1"/>
              <a:t>colonna</a:t>
            </a:r>
            <a:r>
              <a:rPr lang="en-US" dirty="0"/>
              <a:t> (</a:t>
            </a:r>
            <a:r>
              <a:rPr lang="en-US" dirty="0" err="1"/>
              <a:t>nel</a:t>
            </a:r>
            <a:r>
              <a:rPr lang="en-US" dirty="0"/>
              <a:t> </a:t>
            </a:r>
            <a:r>
              <a:rPr lang="en-US" dirty="0" err="1"/>
              <a:t>db</a:t>
            </a:r>
            <a:r>
              <a:rPr lang="en-US" dirty="0"/>
              <a:t>) non </a:t>
            </a:r>
            <a:r>
              <a:rPr lang="en-US" dirty="0" err="1"/>
              <a:t>ammette</a:t>
            </a:r>
            <a:r>
              <a:rPr lang="en-US" dirty="0"/>
              <a:t> </a:t>
            </a:r>
            <a:r>
              <a:rPr lang="en-US" dirty="0" err="1"/>
              <a:t>valori</a:t>
            </a:r>
            <a:r>
              <a:rPr lang="en-US" dirty="0"/>
              <a:t> nulli</a:t>
            </a:r>
          </a:p>
          <a:p>
            <a:pPr lvl="1"/>
            <a:r>
              <a:rPr lang="en-US" b="1" dirty="0"/>
              <a:t>length = 2000</a:t>
            </a:r>
            <a:r>
              <a:rPr lang="en-US" dirty="0"/>
              <a:t> indica </a:t>
            </a:r>
            <a:r>
              <a:rPr lang="en-US" dirty="0" err="1"/>
              <a:t>che</a:t>
            </a:r>
            <a:r>
              <a:rPr lang="en-US" dirty="0"/>
              <a:t> la </a:t>
            </a:r>
            <a:r>
              <a:rPr lang="en-US" dirty="0" err="1"/>
              <a:t>lunghezza</a:t>
            </a:r>
            <a:r>
              <a:rPr lang="en-US" dirty="0"/>
              <a:t> </a:t>
            </a:r>
            <a:r>
              <a:rPr lang="en-US" dirty="0" err="1"/>
              <a:t>della</a:t>
            </a:r>
            <a:r>
              <a:rPr lang="en-US" dirty="0"/>
              <a:t> </a:t>
            </a:r>
            <a:r>
              <a:rPr lang="en-US" dirty="0" err="1"/>
              <a:t>colonna</a:t>
            </a:r>
            <a:r>
              <a:rPr lang="en-US" dirty="0"/>
              <a:t> varchar </a:t>
            </a:r>
            <a:r>
              <a:rPr lang="en-US" dirty="0" err="1"/>
              <a:t>corrispondente</a:t>
            </a:r>
            <a:r>
              <a:rPr lang="en-US" dirty="0"/>
              <a:t> </a:t>
            </a:r>
            <a:r>
              <a:rPr lang="en-US" dirty="0" err="1"/>
              <a:t>all'attributo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segue</a:t>
            </a:r>
          </a:p>
          <a:p>
            <a:pPr lvl="1"/>
            <a:r>
              <a:rPr lang="en-US" dirty="0" err="1"/>
              <a:t>altre</a:t>
            </a:r>
            <a:r>
              <a:rPr lang="en-US" dirty="0"/>
              <a:t> </a:t>
            </a:r>
            <a:r>
              <a:rPr lang="en-US" dirty="0" err="1"/>
              <a:t>proprietà</a:t>
            </a:r>
            <a:endParaRPr lang="en-US" dirty="0">
              <a:highlight>
                <a:srgbClr val="FFFF00"/>
              </a:highlight>
            </a:endParaRPr>
          </a:p>
          <a:p>
            <a:pPr lvl="1"/>
            <a:r>
              <a:rPr lang="en-US" dirty="0" err="1">
                <a:highlight>
                  <a:srgbClr val="FFFF00"/>
                </a:highlight>
              </a:rPr>
              <a:t>Va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 err="1">
                <a:highlight>
                  <a:srgbClr val="FFFF00"/>
                </a:highlight>
              </a:rPr>
              <a:t>usata</a:t>
            </a:r>
            <a:r>
              <a:rPr lang="en-US" dirty="0">
                <a:highlight>
                  <a:srgbClr val="FFFF00"/>
                </a:highlight>
              </a:rPr>
              <a:t> solo se serve a </a:t>
            </a:r>
            <a:r>
              <a:rPr lang="en-US" dirty="0" err="1">
                <a:highlight>
                  <a:srgbClr val="FFFF00"/>
                </a:highlight>
              </a:rPr>
              <a:t>imporre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 err="1">
                <a:highlight>
                  <a:srgbClr val="FFFF00"/>
                </a:highlight>
              </a:rPr>
              <a:t>proprietà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 err="1">
                <a:highlight>
                  <a:srgbClr val="FFFF00"/>
                </a:highlight>
              </a:rPr>
              <a:t>specifiche</a:t>
            </a:r>
            <a:r>
              <a:rPr lang="en-US" dirty="0">
                <a:highlight>
                  <a:srgbClr val="FFFF00"/>
                </a:highlight>
              </a:rPr>
              <a:t> del mapping. </a:t>
            </a:r>
            <a:r>
              <a:rPr lang="en-US" dirty="0" err="1">
                <a:highlight>
                  <a:srgbClr val="FFFF00"/>
                </a:highlight>
              </a:rPr>
              <a:t>Ogni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 err="1">
                <a:highlight>
                  <a:srgbClr val="FFFF00"/>
                </a:highlight>
              </a:rPr>
              <a:t>variabile</a:t>
            </a:r>
            <a:r>
              <a:rPr lang="en-US" dirty="0">
                <a:highlight>
                  <a:srgbClr val="FFFF00"/>
                </a:highlight>
              </a:rPr>
              <a:t> di </a:t>
            </a:r>
            <a:r>
              <a:rPr lang="en-US" dirty="0" err="1">
                <a:highlight>
                  <a:srgbClr val="FFFF00"/>
                </a:highlight>
              </a:rPr>
              <a:t>tipo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 err="1">
                <a:highlight>
                  <a:srgbClr val="FFFF00"/>
                </a:highlight>
              </a:rPr>
              <a:t>primitivo</a:t>
            </a:r>
            <a:r>
              <a:rPr lang="en-US" dirty="0">
                <a:highlight>
                  <a:srgbClr val="FFFF00"/>
                </a:highlight>
              </a:rPr>
              <a:t> (o wrapper </a:t>
            </a:r>
            <a:r>
              <a:rPr lang="en-US" dirty="0" err="1">
                <a:highlight>
                  <a:srgbClr val="FFFF00"/>
                </a:highlight>
              </a:rPr>
              <a:t>corrispondente</a:t>
            </a:r>
            <a:r>
              <a:rPr lang="en-US" dirty="0">
                <a:highlight>
                  <a:srgbClr val="FFFF00"/>
                </a:highlight>
              </a:rPr>
              <a:t>), String, </a:t>
            </a:r>
            <a:r>
              <a:rPr lang="en-US" dirty="0" err="1">
                <a:highlight>
                  <a:srgbClr val="FFFF00"/>
                </a:highlight>
              </a:rPr>
              <a:t>java.time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 err="1">
                <a:highlight>
                  <a:srgbClr val="FFFF00"/>
                </a:highlight>
              </a:rPr>
              <a:t>viene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 err="1">
                <a:highlight>
                  <a:srgbClr val="FFFF00"/>
                </a:highlight>
              </a:rPr>
              <a:t>automanticamente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 err="1">
                <a:highlight>
                  <a:srgbClr val="FFFF00"/>
                </a:highlight>
              </a:rPr>
              <a:t>mappata</a:t>
            </a:r>
            <a:r>
              <a:rPr lang="en-US" dirty="0">
                <a:highlight>
                  <a:srgbClr val="FFFF00"/>
                </a:highlight>
              </a:rPr>
              <a:t> in una </a:t>
            </a:r>
            <a:r>
              <a:rPr lang="en-US" dirty="0" err="1">
                <a:highlight>
                  <a:srgbClr val="FFFF00"/>
                </a:highlight>
              </a:rPr>
              <a:t>colonna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 err="1">
                <a:highlight>
                  <a:srgbClr val="FFFF00"/>
                </a:highlight>
              </a:rPr>
              <a:t>della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 err="1">
                <a:highlight>
                  <a:srgbClr val="FFFF00"/>
                </a:highlight>
              </a:rPr>
              <a:t>tabella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 err="1">
                <a:highlight>
                  <a:srgbClr val="FFFF00"/>
                </a:highlight>
              </a:rPr>
              <a:t>corrispondente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 err="1">
                <a:highlight>
                  <a:srgbClr val="FFFF00"/>
                </a:highlight>
              </a:rPr>
              <a:t>all'entità</a:t>
            </a:r>
            <a:r>
              <a:rPr lang="en-US" dirty="0">
                <a:highlight>
                  <a:srgbClr val="FFFF00"/>
                </a:highlight>
              </a:rPr>
              <a:t>, con un </a:t>
            </a:r>
            <a:r>
              <a:rPr lang="en-US" dirty="0" err="1">
                <a:highlight>
                  <a:srgbClr val="FFFF00"/>
                </a:highlight>
              </a:rPr>
              <a:t>tipo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 err="1">
                <a:highlight>
                  <a:srgbClr val="FFFF00"/>
                </a:highlight>
              </a:rPr>
              <a:t>opportuno</a:t>
            </a:r>
            <a:r>
              <a:rPr lang="en-US" dirty="0">
                <a:highlight>
                  <a:srgbClr val="FFFF00"/>
                </a:highlight>
              </a:rPr>
              <a:t>. Se non </a:t>
            </a:r>
            <a:r>
              <a:rPr lang="en-US" dirty="0" err="1">
                <a:highlight>
                  <a:srgbClr val="FFFF00"/>
                </a:highlight>
              </a:rPr>
              <a:t>dobbiamo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 err="1">
                <a:highlight>
                  <a:srgbClr val="FFFF00"/>
                </a:highlight>
              </a:rPr>
              <a:t>specificare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 err="1">
                <a:highlight>
                  <a:srgbClr val="FFFF00"/>
                </a:highlight>
              </a:rPr>
              <a:t>nessuna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 err="1">
                <a:highlight>
                  <a:srgbClr val="FFFF00"/>
                </a:highlight>
              </a:rPr>
              <a:t>proprietà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 err="1">
                <a:highlight>
                  <a:srgbClr val="FFFF00"/>
                </a:highlight>
              </a:rPr>
              <a:t>nel</a:t>
            </a:r>
            <a:r>
              <a:rPr lang="en-US" dirty="0">
                <a:highlight>
                  <a:srgbClr val="FFFF00"/>
                </a:highlight>
              </a:rPr>
              <a:t> mapping </a:t>
            </a:r>
            <a:r>
              <a:rPr lang="en-US" dirty="0" err="1">
                <a:highlight>
                  <a:srgbClr val="FFFF00"/>
                </a:highlight>
              </a:rPr>
              <a:t>della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 err="1">
                <a:highlight>
                  <a:srgbClr val="FFFF00"/>
                </a:highlight>
              </a:rPr>
              <a:t>variabile</a:t>
            </a:r>
            <a:r>
              <a:rPr lang="en-US" dirty="0">
                <a:highlight>
                  <a:srgbClr val="FFFF00"/>
                </a:highlight>
              </a:rPr>
              <a:t> non </a:t>
            </a:r>
            <a:r>
              <a:rPr lang="en-US" dirty="0" err="1">
                <a:highlight>
                  <a:srgbClr val="FFFF00"/>
                </a:highlight>
              </a:rPr>
              <a:t>è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 err="1">
                <a:highlight>
                  <a:srgbClr val="FFFF00"/>
                </a:highlight>
              </a:rPr>
              <a:t>necessario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 err="1">
                <a:highlight>
                  <a:srgbClr val="FFFF00"/>
                </a:highlight>
              </a:rPr>
              <a:t>usare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 err="1">
                <a:highlight>
                  <a:srgbClr val="FFFF00"/>
                </a:highlight>
              </a:rPr>
              <a:t>l'annotazione</a:t>
            </a:r>
            <a:r>
              <a:rPr lang="en-US" dirty="0">
                <a:highlight>
                  <a:srgbClr val="FFFF00"/>
                </a:highlight>
              </a:rPr>
              <a:t> (</a:t>
            </a:r>
            <a:r>
              <a:rPr lang="en-US" dirty="0" err="1">
                <a:highlight>
                  <a:srgbClr val="FFFF00"/>
                </a:highlight>
              </a:rPr>
              <a:t>nell'esempio</a:t>
            </a:r>
            <a:r>
              <a:rPr lang="en-US" dirty="0">
                <a:highlight>
                  <a:srgbClr val="FFFF00"/>
                </a:highlight>
              </a:rPr>
              <a:t>, </a:t>
            </a:r>
            <a:r>
              <a:rPr lang="en-US" dirty="0" err="1">
                <a:highlight>
                  <a:srgbClr val="FFFF00"/>
                </a:highlight>
              </a:rPr>
              <a:t>vedi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 err="1">
                <a:highlight>
                  <a:srgbClr val="FFFF00"/>
                </a:highlight>
              </a:rPr>
              <a:t>variabile</a:t>
            </a:r>
            <a:r>
              <a:rPr lang="en-US" dirty="0">
                <a:highlight>
                  <a:srgbClr val="FFFF00"/>
                </a:highlight>
              </a:rPr>
              <a:t> Float price)</a:t>
            </a:r>
          </a:p>
        </p:txBody>
      </p:sp>
    </p:spTree>
    <p:extLst>
      <p:ext uri="{BB962C8B-B14F-4D97-AF65-F5344CB8AC3E}">
        <p14:creationId xmlns:p14="http://schemas.microsoft.com/office/powerpoint/2010/main" val="22300817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Equals - </a:t>
            </a:r>
            <a:r>
              <a:rPr lang="en-US" err="1"/>
              <a:t>HashCode</a:t>
            </a:r>
            <a:endParaRPr lang="en-US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quali</a:t>
            </a:r>
            <a:r>
              <a:rPr lang="en-US" dirty="0"/>
              <a:t> </a:t>
            </a:r>
            <a:r>
              <a:rPr lang="en-US" dirty="0" err="1"/>
              <a:t>attributi</a:t>
            </a:r>
            <a:r>
              <a:rPr lang="en-US" dirty="0"/>
              <a:t> </a:t>
            </a:r>
            <a:r>
              <a:rPr lang="en-US" dirty="0" err="1"/>
              <a:t>verifichiamo</a:t>
            </a:r>
            <a:r>
              <a:rPr lang="en-US" dirty="0"/>
              <a:t> </a:t>
            </a:r>
            <a:r>
              <a:rPr lang="en-US" dirty="0" err="1"/>
              <a:t>l'identità</a:t>
            </a:r>
            <a:r>
              <a:rPr lang="en-US" dirty="0"/>
              <a:t>?</a:t>
            </a:r>
          </a:p>
          <a:p>
            <a:pPr lvl="1"/>
            <a:r>
              <a:rPr lang="en-US" dirty="0"/>
              <a:t>id assume un </a:t>
            </a:r>
            <a:r>
              <a:rPr lang="en-US" dirty="0" err="1"/>
              <a:t>valore</a:t>
            </a:r>
            <a:r>
              <a:rPr lang="en-US" dirty="0"/>
              <a:t> solo </a:t>
            </a:r>
            <a:r>
              <a:rPr lang="en-US" dirty="0" err="1"/>
              <a:t>dopo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l'oggetto</a:t>
            </a:r>
            <a:r>
              <a:rPr lang="en-US" dirty="0"/>
              <a:t> </a:t>
            </a:r>
            <a:r>
              <a:rPr lang="en-US" dirty="0" err="1"/>
              <a:t>viene</a:t>
            </a:r>
            <a:r>
              <a:rPr lang="en-US" dirty="0"/>
              <a:t> </a:t>
            </a:r>
            <a:r>
              <a:rPr lang="en-US" dirty="0" err="1"/>
              <a:t>persistito</a:t>
            </a:r>
            <a:endParaRPr lang="en-US" dirty="0"/>
          </a:p>
          <a:p>
            <a:pPr lvl="1"/>
            <a:r>
              <a:rPr lang="en-US" dirty="0" err="1"/>
              <a:t>l'identità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verificata</a:t>
            </a:r>
            <a:r>
              <a:rPr lang="en-US" dirty="0"/>
              <a:t> </a:t>
            </a:r>
            <a:r>
              <a:rPr lang="en-US" dirty="0" err="1"/>
              <a:t>sull'identificatore</a:t>
            </a:r>
            <a:r>
              <a:rPr lang="en-US" dirty="0"/>
              <a:t> </a:t>
            </a:r>
            <a:r>
              <a:rPr lang="en-US" dirty="0" err="1"/>
              <a:t>naturale</a:t>
            </a:r>
            <a:endParaRPr lang="en-US" dirty="0"/>
          </a:p>
          <a:p>
            <a:r>
              <a:rPr lang="en-US" dirty="0"/>
              <a:t>Nel </a:t>
            </a:r>
            <a:r>
              <a:rPr lang="en-US" dirty="0" err="1"/>
              <a:t>nostro</a:t>
            </a:r>
            <a:r>
              <a:rPr lang="en-US" dirty="0"/>
              <a:t> </a:t>
            </a:r>
            <a:r>
              <a:rPr lang="en-US" dirty="0" err="1"/>
              <a:t>esempio</a:t>
            </a:r>
            <a:r>
              <a:rPr lang="en-US" dirty="0"/>
              <a:t> </a:t>
            </a:r>
            <a:r>
              <a:rPr lang="en-US" dirty="0" err="1"/>
              <a:t>l'identificatore</a:t>
            </a:r>
            <a:r>
              <a:rPr lang="en-US" dirty="0"/>
              <a:t> </a:t>
            </a:r>
            <a:r>
              <a:rPr lang="en-US" dirty="0" err="1"/>
              <a:t>naturale</a:t>
            </a:r>
            <a:r>
              <a:rPr lang="en-US" dirty="0"/>
              <a:t> di un </a:t>
            </a:r>
            <a:r>
              <a:rPr lang="en-US" dirty="0" err="1"/>
              <a:t>prodotto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l'attributo</a:t>
            </a:r>
            <a:r>
              <a:rPr lang="en-US" dirty="0"/>
              <a:t> code</a:t>
            </a:r>
          </a:p>
        </p:txBody>
      </p:sp>
    </p:spTree>
    <p:extLst>
      <p:ext uri="{BB962C8B-B14F-4D97-AF65-F5344CB8AC3E}">
        <p14:creationId xmlns:p14="http://schemas.microsoft.com/office/powerpoint/2010/main" val="33084585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noProof="0"/>
              <a:t>Esempio</a:t>
            </a:r>
          </a:p>
        </p:txBody>
      </p:sp>
      <p:graphicFrame>
        <p:nvGraphicFramePr>
          <p:cNvPr id="6" name="Segnaposto contenuto 5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156838533"/>
              </p:ext>
            </p:extLst>
          </p:nvPr>
        </p:nvGraphicFramePr>
        <p:xfrm>
          <a:off x="1304925" y="1895475"/>
          <a:ext cx="1971675" cy="19329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1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7190">
                <a:tc>
                  <a:txBody>
                    <a:bodyPr/>
                    <a:lstStyle/>
                    <a:p>
                      <a:pPr algn="ctr"/>
                      <a:r>
                        <a:rPr lang="it-IT" sz="1000" b="0" i="0" dirty="0">
                          <a:latin typeface="Calibri Light" panose="020F0302020204030204" pitchFamily="34" charset="0"/>
                        </a:rPr>
                        <a:t>&lt;&lt;</a:t>
                      </a:r>
                      <a:r>
                        <a:rPr lang="it-IT" sz="1000" dirty="0" err="1"/>
                        <a:t>Entity</a:t>
                      </a:r>
                      <a:r>
                        <a:rPr lang="it-IT" sz="1000" dirty="0"/>
                        <a:t>&gt;&gt;</a:t>
                      </a:r>
                    </a:p>
                    <a:p>
                      <a:pPr algn="ctr"/>
                      <a:r>
                        <a:rPr lang="it-IT" sz="1000" dirty="0"/>
                        <a:t>Product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292">
                <a:tc>
                  <a:txBody>
                    <a:bodyPr/>
                    <a:lstStyle/>
                    <a:p>
                      <a:r>
                        <a:rPr lang="it-IT" sz="1000" b="0" i="0" dirty="0">
                          <a:latin typeface="Calibri Light" panose="020F0302020204030204" pitchFamily="34" charset="0"/>
                        </a:rPr>
                        <a:t>- id: Long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292">
                <a:tc>
                  <a:txBody>
                    <a:bodyPr/>
                    <a:lstStyle/>
                    <a:p>
                      <a:r>
                        <a:rPr lang="it-IT" sz="1000" b="0" i="0" dirty="0">
                          <a:latin typeface="Calibri Light" panose="020F0302020204030204" pitchFamily="34" charset="0"/>
                        </a:rPr>
                        <a:t>- </a:t>
                      </a:r>
                      <a:r>
                        <a:rPr lang="it-IT" sz="1000" dirty="0"/>
                        <a:t>name: </a:t>
                      </a:r>
                      <a:r>
                        <a:rPr lang="it-IT" sz="1000" dirty="0" err="1"/>
                        <a:t>String</a:t>
                      </a:r>
                      <a:endParaRPr lang="it-IT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292">
                <a:tc>
                  <a:txBody>
                    <a:bodyPr/>
                    <a:lstStyle/>
                    <a:p>
                      <a:r>
                        <a:rPr lang="it-IT" sz="1000" b="0" i="0" dirty="0">
                          <a:latin typeface="Calibri Light" panose="020F0302020204030204" pitchFamily="34" charset="0"/>
                        </a:rPr>
                        <a:t>- </a:t>
                      </a:r>
                      <a:r>
                        <a:rPr lang="it-IT" sz="1000" dirty="0"/>
                        <a:t>price: Float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292">
                <a:tc>
                  <a:txBody>
                    <a:bodyPr/>
                    <a:lstStyle/>
                    <a:p>
                      <a:r>
                        <a:rPr lang="it-IT" sz="1000" b="0" i="0" dirty="0">
                          <a:latin typeface="Calibri Light" panose="020F0302020204030204" pitchFamily="34" charset="0"/>
                        </a:rPr>
                        <a:t>- </a:t>
                      </a:r>
                      <a:r>
                        <a:rPr lang="it-IT" sz="1000" dirty="0" err="1"/>
                        <a:t>description</a:t>
                      </a:r>
                      <a:r>
                        <a:rPr lang="it-IT" sz="1000" dirty="0"/>
                        <a:t>: </a:t>
                      </a:r>
                      <a:r>
                        <a:rPr lang="it-IT" sz="1000" dirty="0" err="1"/>
                        <a:t>String</a:t>
                      </a:r>
                      <a:endParaRPr lang="it-IT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292">
                <a:tc>
                  <a:txBody>
                    <a:bodyPr/>
                    <a:lstStyle/>
                    <a:p>
                      <a:r>
                        <a:rPr lang="it-IT" sz="1000" b="0" i="0" dirty="0">
                          <a:latin typeface="Calibri Light" panose="020F0302020204030204" pitchFamily="34" charset="0"/>
                        </a:rPr>
                        <a:t>- code: </a:t>
                      </a:r>
                      <a:r>
                        <a:rPr lang="it-IT" sz="1000" dirty="0" err="1"/>
                        <a:t>String</a:t>
                      </a:r>
                      <a:endParaRPr lang="it-IT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9292">
                <a:tc>
                  <a:txBody>
                    <a:bodyPr/>
                    <a:lstStyle/>
                    <a:p>
                      <a:endParaRPr lang="it-IT" sz="1000" b="0" i="0" dirty="0">
                        <a:latin typeface="Calibri Light" panose="020F0302020204030204" pitchFamily="34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7" name="Segnaposto contenuto 6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499963324"/>
              </p:ext>
            </p:extLst>
          </p:nvPr>
        </p:nvGraphicFramePr>
        <p:xfrm>
          <a:off x="4238625" y="2085975"/>
          <a:ext cx="3695701" cy="171259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82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2885">
                <a:tc gridSpan="3">
                  <a:txBody>
                    <a:bodyPr/>
                    <a:lstStyle/>
                    <a:p>
                      <a:pPr algn="ctr"/>
                      <a:r>
                        <a:rPr lang="it-IT" sz="1000" b="0" i="0" dirty="0" err="1">
                          <a:latin typeface="Calibri Light" panose="020F0302020204030204" pitchFamily="34" charset="0"/>
                        </a:rPr>
                        <a:t>product</a:t>
                      </a:r>
                      <a:endParaRPr lang="it-IT" sz="1000" dirty="0"/>
                    </a:p>
                  </a:txBody>
                  <a:tcPr marL="68580" marR="68580" marT="34290" marB="34290"/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r>
                        <a:rPr lang="it-IT" sz="1000" b="0" i="0" dirty="0">
                          <a:latin typeface="Calibri Light" panose="020F0302020204030204" pitchFamily="34" charset="0"/>
                        </a:rPr>
                        <a:t>id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it-IT" sz="1000" b="0" i="0" dirty="0" err="1">
                          <a:latin typeface="Calibri Light" panose="020F0302020204030204" pitchFamily="34" charset="0"/>
                        </a:rPr>
                        <a:t>bigint</a:t>
                      </a:r>
                      <a:endParaRPr lang="it-IT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it-IT" sz="1000" b="0" i="0" dirty="0" err="1">
                          <a:latin typeface="Calibri Light" panose="020F0302020204030204" pitchFamily="34" charset="0"/>
                        </a:rPr>
                        <a:t>nullable</a:t>
                      </a:r>
                      <a:r>
                        <a:rPr lang="it-IT" sz="1000" dirty="0"/>
                        <a:t>=false</a:t>
                      </a:r>
                    </a:p>
                    <a:p>
                      <a:r>
                        <a:rPr lang="it-IT" sz="1000" dirty="0"/>
                        <a:t>PK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it-IT" sz="1000" b="0" i="0" dirty="0">
                          <a:latin typeface="Calibri Light" panose="020F0302020204030204" pitchFamily="34" charset="0"/>
                        </a:rPr>
                        <a:t>name</a:t>
                      </a:r>
                      <a:endParaRPr lang="it-IT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it-IT" sz="1000" b="0" i="0" dirty="0" err="1">
                          <a:latin typeface="Calibri Light" panose="020F0302020204030204" pitchFamily="34" charset="0"/>
                        </a:rPr>
                        <a:t>varchar</a:t>
                      </a:r>
                      <a:r>
                        <a:rPr lang="it-IT" sz="1000" dirty="0"/>
                        <a:t>(255)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00" b="0" i="0" dirty="0" err="1">
                          <a:latin typeface="Calibri Light" panose="020F0302020204030204" pitchFamily="34" charset="0"/>
                        </a:rPr>
                        <a:t>nullable</a:t>
                      </a:r>
                      <a:r>
                        <a:rPr lang="it-IT" sz="1000" dirty="0"/>
                        <a:t>=false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it-IT" sz="1000" b="0" i="0" dirty="0">
                          <a:latin typeface="Calibri Light" panose="020F0302020204030204" pitchFamily="34" charset="0"/>
                        </a:rPr>
                        <a:t>price</a:t>
                      </a:r>
                      <a:endParaRPr lang="it-IT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it-IT" sz="1000" b="0" i="0" dirty="0">
                          <a:latin typeface="Calibri Light" panose="020F0302020204030204" pitchFamily="34" charset="0"/>
                        </a:rPr>
                        <a:t>double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00" b="0" i="0" dirty="0" err="1">
                          <a:latin typeface="Calibri Light" panose="020F0302020204030204" pitchFamily="34" charset="0"/>
                        </a:rPr>
                        <a:t>nullable</a:t>
                      </a:r>
                      <a:r>
                        <a:rPr lang="it-IT" sz="1000" dirty="0"/>
                        <a:t>=</a:t>
                      </a:r>
                      <a:r>
                        <a:rPr lang="it-IT" sz="1000" dirty="0" err="1"/>
                        <a:t>true</a:t>
                      </a:r>
                      <a:endParaRPr lang="it-IT" sz="10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it-IT" sz="1000" b="0" i="0" dirty="0" err="1">
                          <a:latin typeface="Calibri Light" panose="020F0302020204030204" pitchFamily="34" charset="0"/>
                        </a:rPr>
                        <a:t>description</a:t>
                      </a:r>
                      <a:endParaRPr lang="it-IT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00" b="0" i="0" dirty="0" err="1">
                          <a:latin typeface="Calibri Light" panose="020F0302020204030204" pitchFamily="34" charset="0"/>
                        </a:rPr>
                        <a:t>varchar</a:t>
                      </a:r>
                      <a:r>
                        <a:rPr lang="it-IT" sz="1000" dirty="0"/>
                        <a:t>(2000)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00" b="0" i="0" dirty="0" err="1">
                          <a:latin typeface="Calibri Light" panose="020F0302020204030204" pitchFamily="34" charset="0"/>
                        </a:rPr>
                        <a:t>nullable</a:t>
                      </a:r>
                      <a:r>
                        <a:rPr lang="it-IT" sz="1000" dirty="0"/>
                        <a:t>=</a:t>
                      </a:r>
                      <a:r>
                        <a:rPr lang="it-IT" sz="1000" dirty="0" err="1"/>
                        <a:t>true</a:t>
                      </a:r>
                      <a:endParaRPr lang="it-IT" sz="10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it-IT" sz="1000" b="0" i="0" dirty="0">
                          <a:latin typeface="Calibri Light" panose="020F0302020204030204" pitchFamily="34" charset="0"/>
                        </a:rPr>
                        <a:t>code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00" b="0" i="0" dirty="0" err="1">
                          <a:latin typeface="Calibri Light" panose="020F0302020204030204" pitchFamily="34" charset="0"/>
                        </a:rPr>
                        <a:t>varchar</a:t>
                      </a:r>
                      <a:r>
                        <a:rPr lang="it-IT" sz="1000" dirty="0"/>
                        <a:t>(255)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00" b="0" i="0" dirty="0" err="1">
                          <a:latin typeface="Calibri Light" panose="020F0302020204030204" pitchFamily="34" charset="0"/>
                        </a:rPr>
                        <a:t>nullable</a:t>
                      </a:r>
                      <a:r>
                        <a:rPr lang="it-IT" sz="1000" dirty="0"/>
                        <a:t>=false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CasellaDiTesto 7"/>
          <p:cNvSpPr txBox="1"/>
          <p:nvPr/>
        </p:nvSpPr>
        <p:spPr>
          <a:xfrm>
            <a:off x="1771651" y="1409700"/>
            <a:ext cx="86594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100" dirty="0">
                <a:latin typeface="Calibri Light" panose="020F0302020204030204" pitchFamily="34" charset="0"/>
              </a:rPr>
              <a:t>Classe</a:t>
            </a:r>
          </a:p>
        </p:txBody>
      </p:sp>
      <p:sp>
        <p:nvSpPr>
          <p:cNvPr id="9" name="CasellaDiTesto 8"/>
          <p:cNvSpPr txBox="1"/>
          <p:nvPr/>
        </p:nvSpPr>
        <p:spPr>
          <a:xfrm>
            <a:off x="4619625" y="1385500"/>
            <a:ext cx="95231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100" dirty="0">
                <a:latin typeface="Calibri Light" panose="020F0302020204030204" pitchFamily="34" charset="0"/>
              </a:rPr>
              <a:t>Tabella</a:t>
            </a:r>
          </a:p>
        </p:txBody>
      </p:sp>
      <p:sp>
        <p:nvSpPr>
          <p:cNvPr id="10" name="CasellaDiTesto 9"/>
          <p:cNvSpPr txBox="1"/>
          <p:nvPr/>
        </p:nvSpPr>
        <p:spPr>
          <a:xfrm>
            <a:off x="3381376" y="2923401"/>
            <a:ext cx="801823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350" dirty="0">
                <a:latin typeface="Calibri Light" panose="020F0302020204030204" pitchFamily="34" charset="0"/>
              </a:rPr>
              <a:t>mapping</a:t>
            </a:r>
          </a:p>
        </p:txBody>
      </p:sp>
      <p:cxnSp>
        <p:nvCxnSpPr>
          <p:cNvPr id="12" name="Connettore 2 11"/>
          <p:cNvCxnSpPr/>
          <p:nvPr/>
        </p:nvCxnSpPr>
        <p:spPr>
          <a:xfrm>
            <a:off x="3371850" y="3248025"/>
            <a:ext cx="753818" cy="0"/>
          </a:xfrm>
          <a:prstGeom prst="straightConnector1">
            <a:avLst/>
          </a:prstGeom>
          <a:ln w="38100" cmpd="dbl">
            <a:prstDash val="dash"/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41437C9B-EC53-6449-BB62-A52753F2646F}"/>
              </a:ext>
            </a:extLst>
          </p:cNvPr>
          <p:cNvSpPr txBox="1"/>
          <p:nvPr/>
        </p:nvSpPr>
        <p:spPr>
          <a:xfrm>
            <a:off x="4238626" y="4087810"/>
            <a:ext cx="2356735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900" dirty="0" err="1">
                <a:latin typeface="Calibri Light" panose="020F0302020204030204" pitchFamily="34" charset="0"/>
              </a:rPr>
              <a:t>Rappresentazione</a:t>
            </a:r>
            <a:r>
              <a:rPr lang="en-US" sz="900" dirty="0">
                <a:latin typeface="Calibri Light" panose="020F0302020204030204" pitchFamily="34" charset="0"/>
              </a:rPr>
              <a:t> </a:t>
            </a:r>
            <a:r>
              <a:rPr lang="en-US" sz="900" dirty="0" err="1">
                <a:latin typeface="Calibri Light" panose="020F0302020204030204" pitchFamily="34" charset="0"/>
              </a:rPr>
              <a:t>testuale</a:t>
            </a:r>
            <a:r>
              <a:rPr lang="en-US" sz="900" dirty="0">
                <a:latin typeface="Calibri Light" panose="020F0302020204030204" pitchFamily="34" charset="0"/>
              </a:rPr>
              <a:t> in forma </a:t>
            </a:r>
            <a:r>
              <a:rPr lang="en-US" sz="900" dirty="0" err="1">
                <a:latin typeface="Calibri Light" panose="020F0302020204030204" pitchFamily="34" charset="0"/>
              </a:rPr>
              <a:t>compatta</a:t>
            </a:r>
            <a:r>
              <a:rPr lang="en-US" sz="900" dirty="0">
                <a:latin typeface="Calibri Light" panose="020F0302020204030204" pitchFamily="34" charset="0"/>
              </a:rPr>
              <a:t>:</a:t>
            </a:r>
          </a:p>
          <a:p>
            <a:r>
              <a:rPr lang="en-US" sz="900" dirty="0">
                <a:latin typeface="Calibri Light" panose="020F0302020204030204" pitchFamily="34" charset="0"/>
              </a:rPr>
              <a:t>Product(</a:t>
            </a:r>
            <a:r>
              <a:rPr lang="en-US" sz="900" u="sng" dirty="0">
                <a:latin typeface="Calibri Light" panose="020F0302020204030204" pitchFamily="34" charset="0"/>
              </a:rPr>
              <a:t>id</a:t>
            </a:r>
            <a:r>
              <a:rPr lang="en-US" sz="900" dirty="0">
                <a:latin typeface="Calibri Light" panose="020F0302020204030204" pitchFamily="34" charset="0"/>
              </a:rPr>
              <a:t>, name, price, description, code)</a:t>
            </a:r>
          </a:p>
        </p:txBody>
      </p:sp>
    </p:spTree>
    <p:extLst>
      <p:ext uri="{BB962C8B-B14F-4D97-AF65-F5344CB8AC3E}">
        <p14:creationId xmlns:p14="http://schemas.microsoft.com/office/powerpoint/2010/main" val="2365147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Object-Relational-Mapping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err="1"/>
              <a:t>Attraverso</a:t>
            </a:r>
            <a:r>
              <a:rPr lang="en-US" dirty="0"/>
              <a:t> un </a:t>
            </a:r>
            <a:r>
              <a:rPr lang="en-US" dirty="0" err="1"/>
              <a:t>sistema</a:t>
            </a:r>
            <a:r>
              <a:rPr lang="en-US" dirty="0"/>
              <a:t> molto </a:t>
            </a:r>
            <a:r>
              <a:rPr lang="en-US" dirty="0" err="1"/>
              <a:t>ricco</a:t>
            </a:r>
            <a:r>
              <a:rPr lang="en-US" dirty="0"/>
              <a:t> di </a:t>
            </a:r>
            <a:r>
              <a:rPr lang="en-US" dirty="0" err="1"/>
              <a:t>metadati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possibile</a:t>
            </a:r>
            <a:r>
              <a:rPr lang="en-US" dirty="0"/>
              <a:t> </a:t>
            </a:r>
            <a:r>
              <a:rPr lang="en-US" dirty="0" err="1"/>
              <a:t>definire</a:t>
            </a:r>
            <a:r>
              <a:rPr lang="en-US" dirty="0"/>
              <a:t> </a:t>
            </a:r>
            <a:r>
              <a:rPr lang="en-US" dirty="0" err="1"/>
              <a:t>tutti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dettagli</a:t>
            </a:r>
            <a:r>
              <a:rPr lang="en-US" dirty="0"/>
              <a:t> del mapping, </a:t>
            </a:r>
            <a:r>
              <a:rPr lang="en-US" dirty="0" err="1"/>
              <a:t>specificando</a:t>
            </a:r>
            <a:r>
              <a:rPr lang="en-US" dirty="0"/>
              <a:t> </a:t>
            </a:r>
            <a:r>
              <a:rPr lang="en-US" dirty="0" err="1"/>
              <a:t>eccezioni</a:t>
            </a:r>
            <a:r>
              <a:rPr lang="en-US" dirty="0"/>
              <a:t> ai </a:t>
            </a:r>
            <a:r>
              <a:rPr lang="en-US" dirty="0" err="1"/>
              <a:t>valori</a:t>
            </a:r>
            <a:r>
              <a:rPr lang="en-US" dirty="0"/>
              <a:t> di default. </a:t>
            </a:r>
            <a:br>
              <a:rPr lang="en-US" dirty="0"/>
            </a:br>
            <a:r>
              <a:rPr lang="en-US" dirty="0" err="1"/>
              <a:t>Esempi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@Table(name = "</a:t>
            </a:r>
            <a:r>
              <a:rPr lang="en-US" dirty="0" err="1"/>
              <a:t>product_table</a:t>
            </a:r>
            <a:r>
              <a:rPr lang="en-US" dirty="0"/>
              <a:t>")</a:t>
            </a:r>
          </a:p>
          <a:p>
            <a:pPr lvl="1"/>
            <a:r>
              <a:rPr lang="en-US" dirty="0"/>
              <a:t>@Column(name = "</a:t>
            </a:r>
            <a:r>
              <a:rPr lang="en-US" dirty="0" err="1"/>
              <a:t>product_code</a:t>
            </a:r>
            <a:r>
              <a:rPr lang="en-US" dirty="0"/>
              <a:t>", nullable = false, </a:t>
            </a:r>
          </a:p>
          <a:p>
            <a:pPr marL="342900" lvl="1" indent="0">
              <a:buNone/>
            </a:pPr>
            <a:r>
              <a:rPr lang="en-US" dirty="0"/>
              <a:t>	length = 16)</a:t>
            </a:r>
          </a:p>
          <a:p>
            <a:r>
              <a:rPr lang="en-US" dirty="0"/>
              <a:t>E' </a:t>
            </a:r>
            <a:r>
              <a:rPr lang="en-US" dirty="0" err="1"/>
              <a:t>anche</a:t>
            </a:r>
            <a:r>
              <a:rPr lang="en-US" dirty="0"/>
              <a:t> </a:t>
            </a:r>
            <a:r>
              <a:rPr lang="en-US" dirty="0" err="1"/>
              <a:t>possibile</a:t>
            </a:r>
            <a:r>
              <a:rPr lang="en-US" dirty="0"/>
              <a:t> </a:t>
            </a:r>
            <a:r>
              <a:rPr lang="en-US" dirty="0" err="1"/>
              <a:t>definire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chiavi</a:t>
            </a:r>
            <a:r>
              <a:rPr lang="en-US" dirty="0"/>
              <a:t> </a:t>
            </a:r>
            <a:r>
              <a:rPr lang="en-US" dirty="0" err="1"/>
              <a:t>primarie</a:t>
            </a:r>
            <a:r>
              <a:rPr lang="en-US" dirty="0"/>
              <a:t> </a:t>
            </a:r>
            <a:r>
              <a:rPr lang="en-US" dirty="0" err="1"/>
              <a:t>composte</a:t>
            </a:r>
            <a:r>
              <a:rPr lang="en-US" dirty="0"/>
              <a:t> da </a:t>
            </a:r>
            <a:r>
              <a:rPr lang="en-US" dirty="0" err="1"/>
              <a:t>uno</a:t>
            </a:r>
            <a:r>
              <a:rPr lang="en-US" dirty="0"/>
              <a:t> o </a:t>
            </a:r>
            <a:r>
              <a:rPr lang="en-US" dirty="0" err="1"/>
              <a:t>più</a:t>
            </a:r>
            <a:r>
              <a:rPr lang="en-US" dirty="0"/>
              <a:t> </a:t>
            </a:r>
            <a:r>
              <a:rPr lang="en-US" dirty="0" err="1"/>
              <a:t>attributi</a:t>
            </a:r>
            <a:endParaRPr lang="en-US" dirty="0"/>
          </a:p>
          <a:p>
            <a:pPr lvl="1"/>
            <a:r>
              <a:rPr lang="en-US" dirty="0" err="1"/>
              <a:t>vincoli</a:t>
            </a:r>
            <a:r>
              <a:rPr lang="en-US" dirty="0"/>
              <a:t> di </a:t>
            </a:r>
            <a:r>
              <a:rPr lang="en-US" dirty="0" err="1"/>
              <a:t>unicità</a:t>
            </a:r>
            <a:r>
              <a:rPr lang="en-US" dirty="0"/>
              <a:t> (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uno</a:t>
            </a:r>
            <a:r>
              <a:rPr lang="en-US" dirty="0"/>
              <a:t> o </a:t>
            </a:r>
            <a:r>
              <a:rPr lang="en-US" dirty="0" err="1"/>
              <a:t>più</a:t>
            </a:r>
            <a:r>
              <a:rPr lang="en-US" dirty="0"/>
              <a:t> </a:t>
            </a:r>
            <a:r>
              <a:rPr lang="en-US" dirty="0" err="1"/>
              <a:t>attributi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998938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Mettiamo</a:t>
            </a:r>
            <a:r>
              <a:rPr lang="en-US"/>
              <a:t> </a:t>
            </a:r>
            <a:r>
              <a:rPr lang="en-US" err="1"/>
              <a:t>tutto</a:t>
            </a:r>
            <a:r>
              <a:rPr lang="en-US"/>
              <a:t> in </a:t>
            </a:r>
            <a:r>
              <a:rPr lang="en-US" err="1"/>
              <a:t>pratica</a:t>
            </a:r>
            <a:endParaRPr lang="en-US"/>
          </a:p>
        </p:txBody>
      </p:sp>
      <p:pic>
        <p:nvPicPr>
          <p:cNvPr id="4" name="Segnaposto contenuto 3"/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" b="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8394774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F61339E-656F-6F4B-81D1-66A087528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Esercizio</a:t>
            </a:r>
            <a:r>
              <a:rPr lang="en-US" dirty="0"/>
              <a:t> 1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BDA1D8D-0E94-8348-8FAF-4054A85320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 err="1"/>
              <a:t>L'obiettivo</a:t>
            </a:r>
            <a:r>
              <a:rPr lang="en-US" sz="1800" dirty="0"/>
              <a:t> di </a:t>
            </a:r>
            <a:r>
              <a:rPr lang="en-US" sz="1800" dirty="0" err="1"/>
              <a:t>questo</a:t>
            </a:r>
            <a:r>
              <a:rPr lang="en-US" sz="1800" dirty="0"/>
              <a:t> </a:t>
            </a:r>
            <a:r>
              <a:rPr lang="en-US" sz="1800" dirty="0" err="1"/>
              <a:t>esercizio</a:t>
            </a:r>
            <a:r>
              <a:rPr lang="en-US" sz="1800" dirty="0"/>
              <a:t> </a:t>
            </a:r>
            <a:r>
              <a:rPr lang="en-US" sz="1800" dirty="0" err="1"/>
              <a:t>è</a:t>
            </a:r>
            <a:r>
              <a:rPr lang="en-US" sz="1800" dirty="0"/>
              <a:t> </a:t>
            </a:r>
            <a:r>
              <a:rPr lang="en-US" sz="1800" dirty="0" err="1"/>
              <a:t>capire</a:t>
            </a:r>
            <a:r>
              <a:rPr lang="en-US" sz="1800" dirty="0"/>
              <a:t> come </a:t>
            </a:r>
            <a:r>
              <a:rPr lang="en-US" sz="1800" dirty="0" err="1"/>
              <a:t>funziona</a:t>
            </a:r>
            <a:r>
              <a:rPr lang="en-US" sz="1800" dirty="0"/>
              <a:t> il mapping </a:t>
            </a:r>
            <a:r>
              <a:rPr lang="en-US" sz="1800" dirty="0" err="1"/>
              <a:t>delle</a:t>
            </a:r>
            <a:r>
              <a:rPr lang="en-US" sz="1800" dirty="0"/>
              <a:t> </a:t>
            </a:r>
            <a:r>
              <a:rPr lang="en-US" sz="1800" dirty="0" err="1"/>
              <a:t>associazioni</a:t>
            </a:r>
            <a:r>
              <a:rPr lang="en-US" sz="1800" dirty="0"/>
              <a:t>: </a:t>
            </a:r>
            <a:r>
              <a:rPr lang="en-US" sz="1800" dirty="0" err="1"/>
              <a:t>scriviamo</a:t>
            </a:r>
            <a:r>
              <a:rPr lang="en-US" sz="1800" dirty="0"/>
              <a:t> </a:t>
            </a:r>
            <a:r>
              <a:rPr lang="en-US" sz="1800" dirty="0" err="1"/>
              <a:t>codice</a:t>
            </a:r>
            <a:r>
              <a:rPr lang="en-US" sz="1800" dirty="0"/>
              <a:t> Java e  </a:t>
            </a:r>
            <a:r>
              <a:rPr lang="en-US" sz="1800" dirty="0" err="1"/>
              <a:t>verifichiamo</a:t>
            </a:r>
            <a:r>
              <a:rPr lang="en-US" sz="1800" dirty="0"/>
              <a:t> come JPA genera il database </a:t>
            </a:r>
            <a:r>
              <a:rPr lang="en-US" sz="1800" dirty="0" err="1"/>
              <a:t>corrispondente</a:t>
            </a:r>
            <a:r>
              <a:rPr lang="en-US" sz="1800" dirty="0"/>
              <a:t>. Non </a:t>
            </a:r>
            <a:r>
              <a:rPr lang="en-US" sz="1800" dirty="0" err="1"/>
              <a:t>faremo</a:t>
            </a:r>
            <a:r>
              <a:rPr lang="en-US" sz="1800" dirty="0"/>
              <a:t> </a:t>
            </a:r>
            <a:r>
              <a:rPr lang="en-US" sz="1800" dirty="0" err="1"/>
              <a:t>nessuna</a:t>
            </a:r>
            <a:r>
              <a:rPr lang="en-US" sz="1800" dirty="0"/>
              <a:t> </a:t>
            </a:r>
            <a:r>
              <a:rPr lang="en-US" sz="1800" dirty="0" err="1"/>
              <a:t>operazione</a:t>
            </a:r>
            <a:r>
              <a:rPr lang="en-US" sz="1800" dirty="0"/>
              <a:t> </a:t>
            </a:r>
            <a:r>
              <a:rPr lang="en-US" sz="1800" dirty="0" err="1"/>
              <a:t>sul</a:t>
            </a:r>
            <a:r>
              <a:rPr lang="en-US" sz="1800" dirty="0"/>
              <a:t> database. </a:t>
            </a:r>
            <a:br>
              <a:rPr lang="en-US" sz="1800" dirty="0"/>
            </a:br>
            <a:endParaRPr lang="en-US" sz="1800" dirty="0"/>
          </a:p>
          <a:p>
            <a:pPr marL="342900" indent="-342900">
              <a:buFont typeface="Arial"/>
              <a:buAutoNum type="arabicPeriod"/>
            </a:pPr>
            <a:r>
              <a:rPr lang="en-US" sz="1800" dirty="0" err="1"/>
              <a:t>Creare</a:t>
            </a:r>
            <a:r>
              <a:rPr lang="en-US" sz="1800" dirty="0"/>
              <a:t> </a:t>
            </a:r>
            <a:r>
              <a:rPr lang="en-US" sz="1800" dirty="0" err="1"/>
              <a:t>su</a:t>
            </a:r>
            <a:r>
              <a:rPr lang="en-US" sz="1800" dirty="0"/>
              <a:t> </a:t>
            </a:r>
            <a:r>
              <a:rPr lang="en-US" sz="1800" dirty="0" err="1"/>
              <a:t>postgres</a:t>
            </a:r>
            <a:r>
              <a:rPr lang="en-US" sz="1800" dirty="0"/>
              <a:t> il database </a:t>
            </a:r>
            <a:r>
              <a:rPr lang="en-US" sz="1800" b="1" dirty="0"/>
              <a:t>ecommerce</a:t>
            </a:r>
            <a:endParaRPr lang="en-US" sz="1800" dirty="0"/>
          </a:p>
          <a:p>
            <a:pPr marL="342900" indent="-342900">
              <a:buAutoNum type="arabicPeriod"/>
            </a:pPr>
            <a:r>
              <a:rPr lang="en-US" sz="1800" dirty="0" err="1"/>
              <a:t>Creare</a:t>
            </a:r>
            <a:r>
              <a:rPr lang="en-US" sz="1800" dirty="0"/>
              <a:t> un </a:t>
            </a:r>
            <a:r>
              <a:rPr lang="en-US" sz="1800" dirty="0" err="1"/>
              <a:t>progetto</a:t>
            </a:r>
            <a:r>
              <a:rPr lang="en-US" sz="1800" dirty="0"/>
              <a:t> Spring Boot </a:t>
            </a:r>
            <a:r>
              <a:rPr lang="en-US" sz="1800" b="1" dirty="0"/>
              <a:t>siw-jpa-es1</a:t>
            </a:r>
          </a:p>
          <a:p>
            <a:pPr marL="0" indent="0">
              <a:buNone/>
            </a:pPr>
            <a:r>
              <a:rPr lang="en-US" sz="1800" b="1" dirty="0"/>
              <a:t>	</a:t>
            </a:r>
            <a:r>
              <a:rPr lang="en-US" sz="1800" dirty="0"/>
              <a:t>Come </a:t>
            </a:r>
            <a:r>
              <a:rPr lang="en-US" sz="1800" dirty="0" err="1"/>
              <a:t>librerie</a:t>
            </a:r>
            <a:r>
              <a:rPr lang="en-US" sz="1800" dirty="0"/>
              <a:t> </a:t>
            </a:r>
            <a:r>
              <a:rPr lang="en-US" sz="1800" dirty="0" err="1"/>
              <a:t>aggiungere</a:t>
            </a:r>
            <a:r>
              <a:rPr lang="en-US" sz="1800" dirty="0"/>
              <a:t> solo </a:t>
            </a:r>
            <a:r>
              <a:rPr lang="en-US" sz="1800" b="1" dirty="0"/>
              <a:t>spring data </a:t>
            </a:r>
            <a:r>
              <a:rPr lang="en-US" sz="1800" b="1" dirty="0" err="1"/>
              <a:t>jpa</a:t>
            </a:r>
            <a:r>
              <a:rPr lang="en-US" sz="1800" b="1" dirty="0"/>
              <a:t> </a:t>
            </a:r>
            <a:r>
              <a:rPr lang="en-US" sz="1800" dirty="0"/>
              <a:t>e </a:t>
            </a:r>
            <a:r>
              <a:rPr lang="en-US" sz="1800" dirty="0" err="1"/>
              <a:t>quella</a:t>
            </a:r>
            <a:r>
              <a:rPr lang="en-US" sz="1800" dirty="0"/>
              <a:t> del driver </a:t>
            </a:r>
            <a:r>
              <a:rPr lang="en-US" sz="1800" b="1" dirty="0" err="1"/>
              <a:t>postgres</a:t>
            </a:r>
            <a:endParaRPr lang="en-US" sz="1800" b="1" dirty="0"/>
          </a:p>
          <a:p>
            <a:pPr marL="0" indent="0">
              <a:buNone/>
            </a:pPr>
            <a:r>
              <a:rPr lang="en-US" sz="1800" b="1" dirty="0"/>
              <a:t>	</a:t>
            </a:r>
            <a:r>
              <a:rPr lang="en-US" sz="1800" dirty="0" err="1"/>
              <a:t>impostare</a:t>
            </a:r>
            <a:r>
              <a:rPr lang="en-US" sz="1800" dirty="0"/>
              <a:t> </a:t>
            </a:r>
            <a:r>
              <a:rPr lang="en-US" sz="1800" dirty="0" err="1"/>
              <a:t>i</a:t>
            </a:r>
            <a:r>
              <a:rPr lang="en-US" sz="1800" dirty="0"/>
              <a:t> </a:t>
            </a:r>
            <a:r>
              <a:rPr lang="en-US" sz="1800" dirty="0" err="1"/>
              <a:t>parametri</a:t>
            </a:r>
            <a:r>
              <a:rPr lang="en-US" sz="1800" dirty="0"/>
              <a:t> di </a:t>
            </a:r>
            <a:r>
              <a:rPr lang="en-US" sz="1800" dirty="0" err="1"/>
              <a:t>connessione</a:t>
            </a:r>
            <a:r>
              <a:rPr lang="en-US" sz="1800" dirty="0"/>
              <a:t> al DBMS </a:t>
            </a:r>
            <a:r>
              <a:rPr lang="en-US" sz="1800" dirty="0" err="1"/>
              <a:t>nel</a:t>
            </a:r>
            <a:r>
              <a:rPr lang="en-US" sz="1800" dirty="0"/>
              <a:t> file </a:t>
            </a:r>
            <a:r>
              <a:rPr lang="en-US" sz="1800" b="1" dirty="0" err="1"/>
              <a:t>application.properties</a:t>
            </a:r>
            <a:br>
              <a:rPr lang="en-US" sz="1800" b="1" dirty="0"/>
            </a:br>
            <a:r>
              <a:rPr lang="en-US" sz="1800" b="1" dirty="0"/>
              <a:t>	</a:t>
            </a:r>
            <a:r>
              <a:rPr lang="en-US" sz="1800" dirty="0"/>
              <a:t>(</a:t>
            </a:r>
            <a:r>
              <a:rPr lang="en-US" sz="1800" dirty="0" err="1"/>
              <a:t>servono</a:t>
            </a:r>
            <a:r>
              <a:rPr lang="en-US" sz="1800" dirty="0"/>
              <a:t> solo </a:t>
            </a:r>
            <a:r>
              <a:rPr lang="en-US" sz="1800" dirty="0" err="1"/>
              <a:t>i</a:t>
            </a:r>
            <a:r>
              <a:rPr lang="en-US" sz="1800" dirty="0"/>
              <a:t> </a:t>
            </a:r>
            <a:r>
              <a:rPr lang="en-US" sz="1800" dirty="0" err="1"/>
              <a:t>parametri</a:t>
            </a:r>
            <a:r>
              <a:rPr lang="en-US" sz="1800" dirty="0"/>
              <a:t> di </a:t>
            </a:r>
            <a:r>
              <a:rPr lang="en-US" sz="1800" dirty="0" err="1"/>
              <a:t>connessione</a:t>
            </a:r>
            <a:r>
              <a:rPr lang="en-US" sz="1800" dirty="0"/>
              <a:t> al DBMS)</a:t>
            </a:r>
          </a:p>
          <a:p>
            <a:pPr marL="342900" indent="-342900">
              <a:buAutoNum type="arabicPeriod" startAt="2"/>
            </a:pPr>
            <a:endParaRPr lang="en-US" sz="1800" b="1" dirty="0"/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3257260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Esercizio</a:t>
            </a:r>
            <a:r>
              <a:rPr lang="en-US" dirty="0"/>
              <a:t> 1</a:t>
            </a:r>
            <a:br>
              <a:rPr lang="en-US" dirty="0"/>
            </a:br>
            <a:r>
              <a:rPr lang="en-US" sz="1650" dirty="0"/>
              <a:t>class diagram (</a:t>
            </a:r>
            <a:r>
              <a:rPr lang="en-US" sz="1650" dirty="0" err="1"/>
              <a:t>vedi</a:t>
            </a:r>
            <a:r>
              <a:rPr lang="en-US" sz="1650" dirty="0"/>
              <a:t> </a:t>
            </a:r>
            <a:r>
              <a:rPr lang="en-US" sz="1650" dirty="0" err="1"/>
              <a:t>prossima</a:t>
            </a:r>
            <a:r>
              <a:rPr lang="en-US" sz="1650" dirty="0"/>
              <a:t> slide)</a:t>
            </a:r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0546DD7-2547-01EE-456D-B2D5316AC6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1800" dirty="0"/>
              <a:t>3. </a:t>
            </a:r>
            <a:r>
              <a:rPr lang="en-US" sz="1800" dirty="0" err="1"/>
              <a:t>Creare</a:t>
            </a:r>
            <a:r>
              <a:rPr lang="en-US" sz="1800" dirty="0"/>
              <a:t> il package </a:t>
            </a:r>
            <a:r>
              <a:rPr lang="en-US" sz="1800" b="1" dirty="0"/>
              <a:t>it.uniroma3.siw.siw-jpa-es1</a:t>
            </a:r>
          </a:p>
          <a:p>
            <a:pPr marL="0" indent="0">
              <a:buNone/>
            </a:pPr>
            <a:r>
              <a:rPr lang="en-US" sz="1800" dirty="0"/>
              <a:t>4. Nel package </a:t>
            </a:r>
            <a:r>
              <a:rPr lang="en-US" sz="1800" b="1" dirty="0"/>
              <a:t>it.uniroma3.siw.siw-jpa-es1</a:t>
            </a:r>
            <a:r>
              <a:rPr lang="en-US" sz="1800" dirty="0"/>
              <a:t>, </a:t>
            </a:r>
            <a:r>
              <a:rPr lang="en-US" sz="1800" dirty="0" err="1"/>
              <a:t>scrivere</a:t>
            </a:r>
            <a:r>
              <a:rPr lang="en-US" sz="1800" dirty="0"/>
              <a:t> il </a:t>
            </a:r>
            <a:r>
              <a:rPr lang="en-US" sz="1800" dirty="0" err="1"/>
              <a:t>codice</a:t>
            </a:r>
            <a:r>
              <a:rPr lang="en-US" sz="1800" dirty="0"/>
              <a:t> </a:t>
            </a:r>
            <a:r>
              <a:rPr lang="en-US" sz="1800" dirty="0" err="1"/>
              <a:t>della</a:t>
            </a:r>
            <a:r>
              <a:rPr lang="en-US" sz="1800" dirty="0"/>
              <a:t> </a:t>
            </a:r>
            <a:r>
              <a:rPr lang="en-US" sz="1800" dirty="0" err="1"/>
              <a:t>classi</a:t>
            </a:r>
            <a:r>
              <a:rPr lang="en-US" sz="1800" dirty="0"/>
              <a:t> </a:t>
            </a:r>
            <a:r>
              <a:rPr lang="en-US" sz="1800" b="1" dirty="0"/>
              <a:t>Product</a:t>
            </a:r>
            <a:r>
              <a:rPr lang="en-US" sz="1800" dirty="0"/>
              <a:t> </a:t>
            </a:r>
            <a:r>
              <a:rPr lang="en-US" sz="1800" dirty="0" err="1"/>
              <a:t>rappresentata</a:t>
            </a:r>
            <a:r>
              <a:rPr lang="en-US" sz="1800" dirty="0"/>
              <a:t> </a:t>
            </a:r>
            <a:r>
              <a:rPr lang="en-US" sz="1800" dirty="0" err="1"/>
              <a:t>nel</a:t>
            </a:r>
            <a:r>
              <a:rPr lang="en-US" sz="1800" dirty="0"/>
              <a:t> class diagram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 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5. </a:t>
            </a:r>
            <a:r>
              <a:rPr lang="en-US" sz="1800" dirty="0" err="1"/>
              <a:t>Eseguire</a:t>
            </a:r>
            <a:r>
              <a:rPr lang="en-US" sz="1800" dirty="0"/>
              <a:t> il </a:t>
            </a:r>
            <a:r>
              <a:rPr lang="en-US" sz="1800" dirty="0" err="1"/>
              <a:t>programma</a:t>
            </a:r>
            <a:r>
              <a:rPr lang="en-US" sz="1800" dirty="0"/>
              <a:t> (come Spring Boot App)</a:t>
            </a:r>
            <a:endParaRPr lang="en-US" sz="1800" b="1" dirty="0"/>
          </a:p>
          <a:p>
            <a:pPr marL="0" indent="0">
              <a:buNone/>
            </a:pPr>
            <a:r>
              <a:rPr lang="en-US" sz="1800" dirty="0"/>
              <a:t>6. </a:t>
            </a:r>
            <a:r>
              <a:rPr lang="en-US" sz="1800" dirty="0" err="1"/>
              <a:t>Controllare</a:t>
            </a:r>
            <a:r>
              <a:rPr lang="en-US" sz="1800" dirty="0"/>
              <a:t> lo schema </a:t>
            </a:r>
            <a:r>
              <a:rPr lang="en-US" sz="1800" dirty="0" err="1"/>
              <a:t>della</a:t>
            </a:r>
            <a:r>
              <a:rPr lang="en-US" sz="1800" dirty="0"/>
              <a:t> </a:t>
            </a:r>
            <a:r>
              <a:rPr lang="en-US" sz="1800" dirty="0" err="1"/>
              <a:t>tabella</a:t>
            </a:r>
            <a:r>
              <a:rPr lang="en-US" sz="1800" dirty="0"/>
              <a:t> </a:t>
            </a:r>
            <a:r>
              <a:rPr lang="en-US" sz="1800" dirty="0" err="1"/>
              <a:t>creata</a:t>
            </a:r>
            <a:r>
              <a:rPr lang="en-US" sz="1800" dirty="0"/>
              <a:t> da JPA </a:t>
            </a:r>
            <a:r>
              <a:rPr lang="en-US" sz="1800" dirty="0" err="1"/>
              <a:t>nel</a:t>
            </a:r>
            <a:r>
              <a:rPr lang="en-US" sz="1800" dirty="0"/>
              <a:t> database</a:t>
            </a:r>
            <a:r>
              <a:rPr lang="en-US" sz="1800" b="1" dirty="0"/>
              <a:t> ecommerce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graphicFrame>
        <p:nvGraphicFramePr>
          <p:cNvPr id="4" name="Segnaposto contenuto 5">
            <a:extLst>
              <a:ext uri="{FF2B5EF4-FFF2-40B4-BE49-F238E27FC236}">
                <a16:creationId xmlns:a16="http://schemas.microsoft.com/office/drawing/2014/main" id="{5839A5DD-7215-A3DA-E1C4-663A2723452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21923048"/>
              </p:ext>
            </p:extLst>
          </p:nvPr>
        </p:nvGraphicFramePr>
        <p:xfrm>
          <a:off x="2600325" y="2014217"/>
          <a:ext cx="1971675" cy="19291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1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8336">
                <a:tc>
                  <a:txBody>
                    <a:bodyPr/>
                    <a:lstStyle/>
                    <a:p>
                      <a:pPr algn="ctr"/>
                      <a:r>
                        <a:rPr lang="it-IT" sz="1000" b="0" i="0" dirty="0">
                          <a:latin typeface="Calibri Light" panose="020F0302020204030204" pitchFamily="34" charset="0"/>
                        </a:rPr>
                        <a:t>&lt;&lt;</a:t>
                      </a:r>
                      <a:r>
                        <a:rPr lang="it-IT" sz="1000" dirty="0" err="1"/>
                        <a:t>Entity</a:t>
                      </a:r>
                      <a:r>
                        <a:rPr lang="it-IT" sz="1000" dirty="0"/>
                        <a:t>&gt;&gt;</a:t>
                      </a:r>
                    </a:p>
                    <a:p>
                      <a:pPr algn="ctr"/>
                      <a:r>
                        <a:rPr lang="it-IT" sz="1000" dirty="0"/>
                        <a:t>Product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292">
                <a:tc>
                  <a:txBody>
                    <a:bodyPr/>
                    <a:lstStyle/>
                    <a:p>
                      <a:r>
                        <a:rPr lang="it-IT" sz="1000" b="0" i="0" dirty="0">
                          <a:latin typeface="Calibri Light" panose="020F0302020204030204" pitchFamily="34" charset="0"/>
                        </a:rPr>
                        <a:t>- id: Long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292">
                <a:tc>
                  <a:txBody>
                    <a:bodyPr/>
                    <a:lstStyle/>
                    <a:p>
                      <a:r>
                        <a:rPr lang="it-IT" sz="1000" b="0" i="0" dirty="0">
                          <a:latin typeface="Calibri Light" panose="020F0302020204030204" pitchFamily="34" charset="0"/>
                        </a:rPr>
                        <a:t>- </a:t>
                      </a:r>
                      <a:r>
                        <a:rPr lang="it-IT" sz="1000" dirty="0"/>
                        <a:t>name: </a:t>
                      </a:r>
                      <a:r>
                        <a:rPr lang="it-IT" sz="1000" dirty="0" err="1"/>
                        <a:t>String</a:t>
                      </a:r>
                      <a:endParaRPr lang="it-IT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292">
                <a:tc>
                  <a:txBody>
                    <a:bodyPr/>
                    <a:lstStyle/>
                    <a:p>
                      <a:r>
                        <a:rPr lang="it-IT" sz="1000" b="0" i="0" dirty="0">
                          <a:latin typeface="Calibri Light" panose="020F0302020204030204" pitchFamily="34" charset="0"/>
                        </a:rPr>
                        <a:t>- </a:t>
                      </a:r>
                      <a:r>
                        <a:rPr lang="it-IT" sz="1000" dirty="0"/>
                        <a:t>price: Float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292">
                <a:tc>
                  <a:txBody>
                    <a:bodyPr/>
                    <a:lstStyle/>
                    <a:p>
                      <a:r>
                        <a:rPr lang="it-IT" sz="1000" b="0" i="0" dirty="0">
                          <a:latin typeface="Calibri Light" panose="020F0302020204030204" pitchFamily="34" charset="0"/>
                        </a:rPr>
                        <a:t>- </a:t>
                      </a:r>
                      <a:r>
                        <a:rPr lang="it-IT" sz="1000" dirty="0" err="1"/>
                        <a:t>description</a:t>
                      </a:r>
                      <a:r>
                        <a:rPr lang="it-IT" sz="1000" dirty="0"/>
                        <a:t>: </a:t>
                      </a:r>
                      <a:r>
                        <a:rPr lang="it-IT" sz="1000" dirty="0" err="1"/>
                        <a:t>String</a:t>
                      </a:r>
                      <a:endParaRPr lang="it-IT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292">
                <a:tc>
                  <a:txBody>
                    <a:bodyPr/>
                    <a:lstStyle/>
                    <a:p>
                      <a:r>
                        <a:rPr lang="it-IT" sz="1000" b="0" i="0" dirty="0">
                          <a:latin typeface="Calibri Light" panose="020F0302020204030204" pitchFamily="34" charset="0"/>
                        </a:rPr>
                        <a:t>- code: </a:t>
                      </a:r>
                      <a:r>
                        <a:rPr lang="it-IT" sz="1000" dirty="0" err="1"/>
                        <a:t>String</a:t>
                      </a:r>
                      <a:endParaRPr lang="it-IT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9292">
                <a:tc>
                  <a:txBody>
                    <a:bodyPr/>
                    <a:lstStyle/>
                    <a:p>
                      <a:endParaRPr lang="it-IT" sz="1000" b="0" i="0" dirty="0">
                        <a:latin typeface="Calibri Light" panose="020F0302020204030204" pitchFamily="34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60447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Sommario</a:t>
            </a:r>
            <a:endParaRPr lang="en-US"/>
          </a:p>
        </p:txBody>
      </p:sp>
      <p:sp>
        <p:nvSpPr>
          <p:cNvPr id="4" name="Segnaposto contenuto 2"/>
          <p:cNvSpPr txBox="1">
            <a:spLocks/>
          </p:cNvSpPr>
          <p:nvPr/>
        </p:nvSpPr>
        <p:spPr>
          <a:xfrm>
            <a:off x="1514475" y="1047751"/>
            <a:ext cx="3162300" cy="3394472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dirty="0" err="1">
                <a:solidFill>
                  <a:schemeClr val="bg1">
                    <a:lumMod val="75000"/>
                  </a:schemeClr>
                </a:solidFill>
                <a:latin typeface="Calibri Light" panose="020F0302020204030204" pitchFamily="34" charset="0"/>
              </a:rPr>
              <a:t>Parte</a:t>
            </a:r>
            <a:r>
              <a:rPr lang="en-US" sz="1500" dirty="0">
                <a:solidFill>
                  <a:schemeClr val="bg1">
                    <a:lumMod val="75000"/>
                  </a:schemeClr>
                </a:solidFill>
                <a:latin typeface="Calibri Light" panose="020F0302020204030204" pitchFamily="34" charset="0"/>
              </a:rPr>
              <a:t> I: </a:t>
            </a:r>
            <a:r>
              <a:rPr lang="en-US" sz="1500" dirty="0" err="1">
                <a:solidFill>
                  <a:schemeClr val="bg1">
                    <a:lumMod val="75000"/>
                  </a:schemeClr>
                </a:solidFill>
                <a:latin typeface="Calibri Light" panose="020F0302020204030204" pitchFamily="34" charset="0"/>
              </a:rPr>
              <a:t>introduzione</a:t>
            </a:r>
            <a:r>
              <a:rPr lang="en-US" sz="1500" dirty="0">
                <a:solidFill>
                  <a:schemeClr val="bg1">
                    <a:lumMod val="75000"/>
                  </a:schemeClr>
                </a:solidFill>
                <a:latin typeface="Calibri Light" panose="020F0302020204030204" pitchFamily="34" charset="0"/>
              </a:rPr>
              <a:t> a JPA</a:t>
            </a:r>
          </a:p>
          <a:p>
            <a:pPr lvl="1"/>
            <a:r>
              <a:rPr lang="en-US" sz="1350" dirty="0" err="1">
                <a:solidFill>
                  <a:schemeClr val="bg1">
                    <a:lumMod val="75000"/>
                  </a:schemeClr>
                </a:solidFill>
                <a:latin typeface="Calibri Light" panose="020F0302020204030204" pitchFamily="34" charset="0"/>
              </a:rPr>
              <a:t>Entità</a:t>
            </a:r>
            <a:endParaRPr lang="en-US" sz="1350" dirty="0">
              <a:solidFill>
                <a:schemeClr val="bg1">
                  <a:lumMod val="75000"/>
                </a:schemeClr>
              </a:solidFill>
              <a:latin typeface="Calibri Light" panose="020F0302020204030204" pitchFamily="34" charset="0"/>
            </a:endParaRPr>
          </a:p>
          <a:p>
            <a:pPr lvl="1"/>
            <a:r>
              <a:rPr lang="en-US" sz="1350" dirty="0">
                <a:solidFill>
                  <a:schemeClr val="bg1">
                    <a:lumMod val="75000"/>
                  </a:schemeClr>
                </a:solidFill>
                <a:latin typeface="Calibri Light" panose="020F0302020204030204" pitchFamily="34" charset="0"/>
              </a:rPr>
              <a:t>Object-Relational-Mapping</a:t>
            </a:r>
          </a:p>
          <a:p>
            <a:r>
              <a:rPr lang="en-US" sz="1500" dirty="0" err="1">
                <a:latin typeface="Calibri Light" panose="020F0302020204030204" pitchFamily="34" charset="0"/>
              </a:rPr>
              <a:t>Parte</a:t>
            </a:r>
            <a:r>
              <a:rPr lang="en-US" sz="1500" dirty="0">
                <a:latin typeface="Calibri Light" panose="020F0302020204030204" pitchFamily="34" charset="0"/>
              </a:rPr>
              <a:t> II: Relationship Mapping</a:t>
            </a:r>
          </a:p>
          <a:p>
            <a:pPr lvl="1"/>
            <a:r>
              <a:rPr lang="en-US" sz="1350" dirty="0" err="1">
                <a:latin typeface="Calibri Light" panose="020F0302020204030204" pitchFamily="34" charset="0"/>
              </a:rPr>
              <a:t>Associazioni</a:t>
            </a:r>
            <a:r>
              <a:rPr lang="en-US" sz="1350" dirty="0">
                <a:latin typeface="Calibri Light" panose="020F0302020204030204" pitchFamily="34" charset="0"/>
              </a:rPr>
              <a:t>: OO vs </a:t>
            </a:r>
            <a:r>
              <a:rPr lang="en-US" sz="1350" dirty="0" err="1">
                <a:latin typeface="Calibri Light" panose="020F0302020204030204" pitchFamily="34" charset="0"/>
              </a:rPr>
              <a:t>relazionale</a:t>
            </a:r>
            <a:endParaRPr lang="en-US" sz="1350" dirty="0">
              <a:latin typeface="Calibri Light" panose="020F0302020204030204" pitchFamily="34" charset="0"/>
            </a:endParaRPr>
          </a:p>
          <a:p>
            <a:pPr lvl="1"/>
            <a:r>
              <a:rPr lang="en-US" sz="1350" dirty="0" err="1">
                <a:latin typeface="Calibri Light" panose="020F0302020204030204" pitchFamily="34" charset="0"/>
              </a:rPr>
              <a:t>Cardinalità</a:t>
            </a:r>
            <a:r>
              <a:rPr lang="en-US" sz="1350" dirty="0">
                <a:latin typeface="Calibri Light" panose="020F0302020204030204" pitchFamily="34" charset="0"/>
              </a:rPr>
              <a:t> e </a:t>
            </a:r>
            <a:r>
              <a:rPr lang="en-US" sz="1350" dirty="0" err="1">
                <a:latin typeface="Calibri Light" panose="020F0302020204030204" pitchFamily="34" charset="0"/>
              </a:rPr>
              <a:t>direzione</a:t>
            </a:r>
            <a:endParaRPr lang="en-US" sz="1350" dirty="0">
              <a:latin typeface="Calibri Light" panose="020F0302020204030204" pitchFamily="34" charset="0"/>
            </a:endParaRPr>
          </a:p>
          <a:p>
            <a:pPr lvl="1"/>
            <a:r>
              <a:rPr lang="en-US" sz="1350" dirty="0">
                <a:latin typeface="Calibri Light" panose="020F0302020204030204" pitchFamily="34" charset="0"/>
              </a:rPr>
              <a:t>Mapping </a:t>
            </a:r>
            <a:r>
              <a:rPr lang="en-US" sz="1350" dirty="0" err="1">
                <a:latin typeface="Calibri Light" panose="020F0302020204030204" pitchFamily="34" charset="0"/>
              </a:rPr>
              <a:t>delle</a:t>
            </a:r>
            <a:r>
              <a:rPr lang="en-US" sz="1350" dirty="0">
                <a:latin typeface="Calibri Light" panose="020F0302020204030204" pitchFamily="34" charset="0"/>
              </a:rPr>
              <a:t> </a:t>
            </a:r>
            <a:r>
              <a:rPr lang="en-US" sz="1350" dirty="0" err="1">
                <a:latin typeface="Calibri Light" panose="020F0302020204030204" pitchFamily="34" charset="0"/>
              </a:rPr>
              <a:t>associazioni</a:t>
            </a:r>
            <a:endParaRPr lang="en-US" sz="1350" dirty="0">
              <a:latin typeface="Calibri Light" panose="020F0302020204030204" pitchFamily="34" charset="0"/>
            </a:endParaRPr>
          </a:p>
          <a:p>
            <a:pPr lvl="1"/>
            <a:r>
              <a:rPr lang="en-US" sz="1350" dirty="0">
                <a:latin typeface="Calibri Light" panose="020F0302020204030204" pitchFamily="34" charset="0"/>
              </a:rPr>
              <a:t>Object-Relational-Mapping: </a:t>
            </a:r>
            <a:r>
              <a:rPr lang="en-US" sz="1350" dirty="0" err="1">
                <a:latin typeface="Calibri Light" panose="020F0302020204030204" pitchFamily="34" charset="0"/>
              </a:rPr>
              <a:t>approfondimenti</a:t>
            </a:r>
            <a:endParaRPr lang="en-US" sz="1350" dirty="0">
              <a:latin typeface="Calibri Light" panose="020F0302020204030204" pitchFamily="34" charset="0"/>
            </a:endParaRPr>
          </a:p>
          <a:p>
            <a:pPr lvl="1"/>
            <a:r>
              <a:rPr lang="en-US" sz="1350" dirty="0" err="1">
                <a:latin typeface="Calibri Light" panose="020F0302020204030204" pitchFamily="34" charset="0"/>
              </a:rPr>
              <a:t>Esercizio</a:t>
            </a:r>
            <a:endParaRPr lang="en-US" sz="1350" dirty="0">
              <a:latin typeface="Calibri Light" panose="020F0302020204030204" pitchFamily="34" charset="0"/>
            </a:endParaRPr>
          </a:p>
          <a:p>
            <a:pPr lvl="1"/>
            <a:r>
              <a:rPr lang="en-US" sz="1350" dirty="0">
                <a:latin typeface="Calibri Light" panose="020F0302020204030204" pitchFamily="34" charset="0"/>
              </a:rPr>
              <a:t>Mapping </a:t>
            </a:r>
            <a:r>
              <a:rPr lang="en-US" sz="1350" dirty="0" err="1">
                <a:latin typeface="Calibri Light" panose="020F0302020204030204" pitchFamily="34" charset="0"/>
              </a:rPr>
              <a:t>associazioni</a:t>
            </a:r>
            <a:r>
              <a:rPr lang="en-US" sz="1350" dirty="0">
                <a:latin typeface="Calibri Light" panose="020F0302020204030204" pitchFamily="34" charset="0"/>
              </a:rPr>
              <a:t>: </a:t>
            </a:r>
            <a:r>
              <a:rPr lang="en-US" sz="1350" dirty="0" err="1">
                <a:latin typeface="Calibri Light" panose="020F0302020204030204" pitchFamily="34" charset="0"/>
              </a:rPr>
              <a:t>approfondimenti</a:t>
            </a:r>
            <a:endParaRPr lang="en-US" sz="1350" dirty="0"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30196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72B4207-9796-5548-A1F5-4CC383D2B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Relationship Mapping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AC5DFD2-0DC6-5C46-BA8F-240BC866D9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Su</a:t>
            </a:r>
            <a:r>
              <a:rPr lang="en-US" dirty="0"/>
              <a:t> una </a:t>
            </a:r>
            <a:r>
              <a:rPr lang="en-US" dirty="0" err="1"/>
              <a:t>singola</a:t>
            </a:r>
            <a:r>
              <a:rPr lang="en-US" dirty="0"/>
              <a:t> </a:t>
            </a:r>
            <a:r>
              <a:rPr lang="en-US" dirty="0" err="1"/>
              <a:t>classe</a:t>
            </a:r>
            <a:r>
              <a:rPr lang="en-US" dirty="0"/>
              <a:t> </a:t>
            </a:r>
            <a:r>
              <a:rPr lang="en-US" dirty="0" err="1"/>
              <a:t>il</a:t>
            </a:r>
            <a:r>
              <a:rPr lang="en-US" dirty="0"/>
              <a:t> mapping </a:t>
            </a:r>
            <a:r>
              <a:rPr lang="en-US" dirty="0" err="1"/>
              <a:t>è</a:t>
            </a:r>
            <a:r>
              <a:rPr lang="en-US" dirty="0"/>
              <a:t> semplice e </a:t>
            </a:r>
            <a:r>
              <a:rPr lang="en-US" dirty="0" err="1"/>
              <a:t>intuitivo</a:t>
            </a:r>
            <a:endParaRPr lang="en-US" dirty="0"/>
          </a:p>
          <a:p>
            <a:r>
              <a:rPr lang="en-US" dirty="0" err="1"/>
              <a:t>Vediamo</a:t>
            </a:r>
            <a:r>
              <a:rPr lang="en-US" dirty="0"/>
              <a:t> </a:t>
            </a:r>
            <a:r>
              <a:rPr lang="en-US" dirty="0" err="1"/>
              <a:t>ora</a:t>
            </a:r>
            <a:r>
              <a:rPr lang="en-US" dirty="0"/>
              <a:t> come </a:t>
            </a:r>
            <a:r>
              <a:rPr lang="en-US" dirty="0" err="1"/>
              <a:t>vengono</a:t>
            </a:r>
            <a:r>
              <a:rPr lang="en-US" dirty="0"/>
              <a:t> </a:t>
            </a:r>
            <a:r>
              <a:rPr lang="en-US" dirty="0" err="1"/>
              <a:t>mappate</a:t>
            </a:r>
            <a:r>
              <a:rPr lang="en-US" dirty="0"/>
              <a:t> le </a:t>
            </a:r>
            <a:r>
              <a:rPr lang="en-US" dirty="0" err="1"/>
              <a:t>associazioni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classi</a:t>
            </a:r>
            <a:endParaRPr lang="en-US" dirty="0"/>
          </a:p>
          <a:p>
            <a:r>
              <a:rPr lang="en-US" dirty="0"/>
              <a:t>In </a:t>
            </a:r>
            <a:r>
              <a:rPr lang="en-US" dirty="0" err="1"/>
              <a:t>questo</a:t>
            </a:r>
            <a:r>
              <a:rPr lang="en-US" dirty="0"/>
              <a:t> </a:t>
            </a:r>
            <a:r>
              <a:rPr lang="en-US" dirty="0" err="1"/>
              <a:t>caso</a:t>
            </a:r>
            <a:r>
              <a:rPr lang="en-US" dirty="0"/>
              <a:t> le </a:t>
            </a:r>
            <a:r>
              <a:rPr lang="en-US" dirty="0" err="1"/>
              <a:t>differenze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modello</a:t>
            </a:r>
            <a:r>
              <a:rPr lang="en-US" dirty="0"/>
              <a:t> </a:t>
            </a:r>
            <a:r>
              <a:rPr lang="en-US" dirty="0" err="1"/>
              <a:t>relazionale</a:t>
            </a:r>
            <a:r>
              <a:rPr lang="en-US" dirty="0"/>
              <a:t> e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modello</a:t>
            </a:r>
            <a:r>
              <a:rPr lang="en-US" dirty="0"/>
              <a:t> ad </a:t>
            </a:r>
            <a:r>
              <a:rPr lang="en-US" dirty="0" err="1"/>
              <a:t>oggetti</a:t>
            </a:r>
            <a:r>
              <a:rPr lang="en-US" dirty="0"/>
              <a:t> </a:t>
            </a:r>
            <a:r>
              <a:rPr lang="en-US" dirty="0" err="1"/>
              <a:t>rendono</a:t>
            </a:r>
            <a:r>
              <a:rPr lang="en-US" dirty="0"/>
              <a:t> </a:t>
            </a:r>
            <a:r>
              <a:rPr lang="en-US" dirty="0" err="1"/>
              <a:t>il</a:t>
            </a:r>
            <a:r>
              <a:rPr lang="en-US" dirty="0"/>
              <a:t> mapping </a:t>
            </a:r>
            <a:r>
              <a:rPr lang="en-US" dirty="0" err="1"/>
              <a:t>più</a:t>
            </a:r>
            <a:r>
              <a:rPr lang="en-US" dirty="0"/>
              <a:t> </a:t>
            </a:r>
            <a:r>
              <a:rPr lang="en-US" dirty="0" err="1"/>
              <a:t>articolato</a:t>
            </a:r>
            <a:r>
              <a:rPr lang="en-US" dirty="0"/>
              <a:t> e </a:t>
            </a:r>
            <a:r>
              <a:rPr lang="en-US" dirty="0" err="1"/>
              <a:t>vanno</a:t>
            </a:r>
            <a:r>
              <a:rPr lang="en-US" dirty="0"/>
              <a:t> tenuti in </a:t>
            </a:r>
            <a:r>
              <a:rPr lang="en-US" dirty="0" err="1"/>
              <a:t>considerazione</a:t>
            </a:r>
            <a:r>
              <a:rPr lang="en-US" dirty="0"/>
              <a:t> </a:t>
            </a:r>
            <a:r>
              <a:rPr lang="en-US" dirty="0" err="1"/>
              <a:t>diversi</a:t>
            </a:r>
            <a:r>
              <a:rPr lang="en-US" dirty="0"/>
              <a:t> </a:t>
            </a:r>
            <a:r>
              <a:rPr lang="en-US" dirty="0" err="1"/>
              <a:t>aspetti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43931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Associazioni</a:t>
            </a:r>
            <a:r>
              <a:rPr lang="en-US"/>
              <a:t> </a:t>
            </a:r>
            <a:r>
              <a:rPr lang="en-US" err="1"/>
              <a:t>nel</a:t>
            </a:r>
            <a:r>
              <a:rPr lang="en-US"/>
              <a:t> </a:t>
            </a:r>
            <a:r>
              <a:rPr lang="en-US" err="1"/>
              <a:t>mondo</a:t>
            </a:r>
            <a:r>
              <a:rPr lang="en-US"/>
              <a:t> OO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Associazioni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classi</a:t>
            </a:r>
            <a:endParaRPr lang="en-US" dirty="0"/>
          </a:p>
          <a:p>
            <a:pPr lvl="1"/>
            <a:r>
              <a:rPr lang="en-US" dirty="0" err="1"/>
              <a:t>sono</a:t>
            </a:r>
            <a:r>
              <a:rPr lang="en-US" dirty="0"/>
              <a:t> </a:t>
            </a:r>
            <a:r>
              <a:rPr lang="en-US" dirty="0" err="1"/>
              <a:t>espresse</a:t>
            </a:r>
            <a:r>
              <a:rPr lang="en-US" dirty="0"/>
              <a:t> per mezzo di </a:t>
            </a:r>
            <a:r>
              <a:rPr lang="en-US" dirty="0" err="1"/>
              <a:t>riferimenti</a:t>
            </a:r>
            <a:endParaRPr lang="en-US" dirty="0"/>
          </a:p>
          <a:p>
            <a:pPr lvl="1"/>
            <a:r>
              <a:rPr lang="en-US" dirty="0" err="1"/>
              <a:t>hanno</a:t>
            </a:r>
            <a:r>
              <a:rPr lang="en-US" dirty="0"/>
              <a:t> una </a:t>
            </a:r>
            <a:r>
              <a:rPr lang="en-US" dirty="0" err="1"/>
              <a:t>direzione</a:t>
            </a:r>
            <a:r>
              <a:rPr lang="en-US" dirty="0"/>
              <a:t> (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dipende</a:t>
            </a:r>
            <a:r>
              <a:rPr lang="en-US" dirty="0"/>
              <a:t> </a:t>
            </a:r>
            <a:r>
              <a:rPr lang="en-US" dirty="0" err="1"/>
              <a:t>dai</a:t>
            </a:r>
            <a:r>
              <a:rPr lang="en-US" dirty="0"/>
              <a:t> </a:t>
            </a:r>
            <a:r>
              <a:rPr lang="en-US" dirty="0" err="1"/>
              <a:t>requisiti</a:t>
            </a:r>
            <a:r>
              <a:rPr lang="en-US" dirty="0"/>
              <a:t>) e  </a:t>
            </a:r>
            <a:r>
              <a:rPr lang="en-US" dirty="0" err="1"/>
              <a:t>possono</a:t>
            </a:r>
            <a:r>
              <a:rPr lang="en-US" dirty="0"/>
              <a:t> </a:t>
            </a:r>
            <a:r>
              <a:rPr lang="en-US" dirty="0" err="1"/>
              <a:t>essere</a:t>
            </a:r>
            <a:r>
              <a:rPr lang="en-US" dirty="0"/>
              <a:t>:</a:t>
            </a:r>
          </a:p>
          <a:p>
            <a:pPr lvl="2"/>
            <a:r>
              <a:rPr lang="en-US" dirty="0" err="1"/>
              <a:t>unidirezionali</a:t>
            </a:r>
            <a:endParaRPr lang="en-US" dirty="0"/>
          </a:p>
          <a:p>
            <a:pPr lvl="2"/>
            <a:r>
              <a:rPr lang="en-US" dirty="0" err="1"/>
              <a:t>bidirezionali</a:t>
            </a:r>
            <a:endParaRPr lang="en-US" dirty="0"/>
          </a:p>
          <a:p>
            <a:pPr lvl="1"/>
            <a:r>
              <a:rPr lang="en-US" dirty="0" err="1"/>
              <a:t>hanno</a:t>
            </a:r>
            <a:r>
              <a:rPr lang="en-US" dirty="0"/>
              <a:t> una </a:t>
            </a:r>
            <a:r>
              <a:rPr lang="en-US" dirty="0" err="1"/>
              <a:t>cardinalità</a:t>
            </a:r>
            <a:r>
              <a:rPr lang="en-US" dirty="0"/>
              <a:t> (o </a:t>
            </a:r>
            <a:r>
              <a:rPr lang="en-US" dirty="0" err="1"/>
              <a:t>molteplicità</a:t>
            </a:r>
            <a:r>
              <a:rPr lang="en-US" dirty="0"/>
              <a:t>):</a:t>
            </a:r>
          </a:p>
          <a:p>
            <a:pPr lvl="2"/>
            <a:r>
              <a:rPr lang="en-US" dirty="0" err="1"/>
              <a:t>specifica</a:t>
            </a:r>
            <a:r>
              <a:rPr lang="en-US" dirty="0"/>
              <a:t> </a:t>
            </a:r>
            <a:r>
              <a:rPr lang="en-US" dirty="0" err="1"/>
              <a:t>quanti</a:t>
            </a:r>
            <a:r>
              <a:rPr lang="en-US" dirty="0"/>
              <a:t> </a:t>
            </a:r>
            <a:r>
              <a:rPr lang="en-US" dirty="0" err="1"/>
              <a:t>oggetti</a:t>
            </a:r>
            <a:r>
              <a:rPr lang="en-US" dirty="0"/>
              <a:t> </a:t>
            </a:r>
            <a:r>
              <a:rPr lang="en-US" dirty="0" err="1"/>
              <a:t>sono</a:t>
            </a:r>
            <a:r>
              <a:rPr lang="en-US" dirty="0"/>
              <a:t> </a:t>
            </a:r>
            <a:r>
              <a:rPr lang="en-US" dirty="0" err="1"/>
              <a:t>coinvolti</a:t>
            </a:r>
            <a:r>
              <a:rPr lang="en-US" dirty="0"/>
              <a:t> </a:t>
            </a:r>
            <a:r>
              <a:rPr lang="en-US" dirty="0" err="1"/>
              <a:t>nella</a:t>
            </a:r>
            <a:r>
              <a:rPr lang="en-US" dirty="0"/>
              <a:t> </a:t>
            </a:r>
            <a:r>
              <a:rPr lang="en-US" dirty="0" err="1"/>
              <a:t>associazione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6114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5A29EA2-2907-1A4F-BB0B-40F5471C6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Associazioni</a:t>
            </a:r>
            <a:r>
              <a:rPr lang="en-US" dirty="0"/>
              <a:t> </a:t>
            </a:r>
            <a:r>
              <a:rPr lang="en-US" dirty="0" err="1"/>
              <a:t>nel</a:t>
            </a:r>
            <a:r>
              <a:rPr lang="en-US" dirty="0"/>
              <a:t> </a:t>
            </a:r>
            <a:r>
              <a:rPr lang="en-US" dirty="0" err="1"/>
              <a:t>mondo</a:t>
            </a:r>
            <a:r>
              <a:rPr lang="en-US" dirty="0"/>
              <a:t> OO: </a:t>
            </a:r>
            <a:br>
              <a:rPr lang="en-US" dirty="0"/>
            </a:br>
            <a:r>
              <a:rPr lang="en-US" dirty="0" err="1"/>
              <a:t>direzione</a:t>
            </a:r>
            <a:r>
              <a:rPr lang="en-US" dirty="0"/>
              <a:t> e </a:t>
            </a:r>
            <a:r>
              <a:rPr lang="en-US" dirty="0" err="1"/>
              <a:t>molteplicità</a:t>
            </a:r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27CE481-9D1C-ED4F-8E33-C8D380F912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Supponiamo</a:t>
            </a:r>
            <a:r>
              <a:rPr lang="en-US" dirty="0"/>
              <a:t> di </a:t>
            </a:r>
            <a:r>
              <a:rPr lang="en-US" dirty="0" err="1"/>
              <a:t>progettare</a:t>
            </a:r>
            <a:r>
              <a:rPr lang="en-US" dirty="0"/>
              <a:t>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sistema</a:t>
            </a:r>
            <a:r>
              <a:rPr lang="en-US" dirty="0"/>
              <a:t> </a:t>
            </a:r>
            <a:r>
              <a:rPr lang="en-US" dirty="0" err="1"/>
              <a:t>informativo</a:t>
            </a:r>
            <a:r>
              <a:rPr lang="en-US" dirty="0"/>
              <a:t> di una </a:t>
            </a:r>
            <a:r>
              <a:rPr lang="en-US" dirty="0" err="1"/>
              <a:t>università</a:t>
            </a:r>
            <a:endParaRPr lang="en-US" dirty="0"/>
          </a:p>
          <a:p>
            <a:r>
              <a:rPr lang="en-US" dirty="0" err="1"/>
              <a:t>Assumiamo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una </a:t>
            </a:r>
            <a:r>
              <a:rPr lang="en-US" dirty="0" err="1"/>
              <a:t>parte</a:t>
            </a:r>
            <a:r>
              <a:rPr lang="en-US" dirty="0"/>
              <a:t> </a:t>
            </a:r>
            <a:r>
              <a:rPr lang="en-US" dirty="0" err="1"/>
              <a:t>dei</a:t>
            </a:r>
            <a:r>
              <a:rPr lang="en-US" dirty="0"/>
              <a:t> </a:t>
            </a:r>
            <a:r>
              <a:rPr lang="en-US" dirty="0" err="1"/>
              <a:t>requisiti</a:t>
            </a:r>
            <a:r>
              <a:rPr lang="en-US" dirty="0"/>
              <a:t> </a:t>
            </a:r>
            <a:r>
              <a:rPr lang="en-US" dirty="0" err="1"/>
              <a:t>riportino</a:t>
            </a:r>
            <a:r>
              <a:rPr lang="en-US" dirty="0"/>
              <a:t> </a:t>
            </a:r>
            <a:r>
              <a:rPr lang="en-US" dirty="0" err="1"/>
              <a:t>quanto</a:t>
            </a:r>
            <a:r>
              <a:rPr lang="en-US" dirty="0"/>
              <a:t> segue: </a:t>
            </a:r>
          </a:p>
          <a:p>
            <a:pPr lvl="1"/>
            <a:r>
              <a:rPr lang="en-US" dirty="0" err="1"/>
              <a:t>Ogni</a:t>
            </a:r>
            <a:r>
              <a:rPr lang="en-US" dirty="0"/>
              <a:t> </a:t>
            </a:r>
            <a:r>
              <a:rPr lang="en-US" dirty="0" err="1"/>
              <a:t>docente</a:t>
            </a:r>
            <a:r>
              <a:rPr lang="en-US" dirty="0"/>
              <a:t> </a:t>
            </a:r>
            <a:r>
              <a:rPr lang="en-US" dirty="0" err="1"/>
              <a:t>insegna</a:t>
            </a:r>
            <a:r>
              <a:rPr lang="en-US" dirty="0"/>
              <a:t> </a:t>
            </a:r>
            <a:r>
              <a:rPr lang="en-US" dirty="0" err="1"/>
              <a:t>uno</a:t>
            </a:r>
            <a:r>
              <a:rPr lang="en-US" dirty="0"/>
              <a:t> o </a:t>
            </a:r>
            <a:r>
              <a:rPr lang="en-US" dirty="0" err="1"/>
              <a:t>più</a:t>
            </a:r>
            <a:r>
              <a:rPr lang="en-US" dirty="0"/>
              <a:t> </a:t>
            </a:r>
            <a:r>
              <a:rPr lang="en-US" dirty="0" err="1"/>
              <a:t>corsi</a:t>
            </a:r>
            <a:r>
              <a:rPr lang="en-US" dirty="0"/>
              <a:t> e </a:t>
            </a:r>
            <a:r>
              <a:rPr lang="en-US" dirty="0" err="1"/>
              <a:t>afferisce</a:t>
            </a:r>
            <a:r>
              <a:rPr lang="en-US" dirty="0"/>
              <a:t> ad un </a:t>
            </a:r>
            <a:r>
              <a:rPr lang="en-US" dirty="0" err="1"/>
              <a:t>dipartimento</a:t>
            </a:r>
            <a:endParaRPr lang="en-US" dirty="0"/>
          </a:p>
          <a:p>
            <a:pPr lvl="1"/>
            <a:r>
              <a:rPr lang="en-US" dirty="0" err="1"/>
              <a:t>Ogni</a:t>
            </a:r>
            <a:r>
              <a:rPr lang="en-US" dirty="0"/>
              <a:t> </a:t>
            </a:r>
            <a:r>
              <a:rPr lang="en-US" dirty="0" err="1"/>
              <a:t>corso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insegnato</a:t>
            </a:r>
            <a:r>
              <a:rPr lang="en-US" dirty="0"/>
              <a:t> da </a:t>
            </a:r>
            <a:r>
              <a:rPr lang="en-US" dirty="0" err="1"/>
              <a:t>uno</a:t>
            </a:r>
            <a:r>
              <a:rPr lang="en-US" dirty="0"/>
              <a:t> o </a:t>
            </a:r>
            <a:r>
              <a:rPr lang="en-US" dirty="0" err="1"/>
              <a:t>più</a:t>
            </a:r>
            <a:r>
              <a:rPr lang="en-US" dirty="0"/>
              <a:t> </a:t>
            </a:r>
            <a:r>
              <a:rPr lang="en-US" dirty="0" err="1"/>
              <a:t>docenti</a:t>
            </a:r>
            <a:endParaRPr lang="en-US" dirty="0"/>
          </a:p>
          <a:p>
            <a:pPr lvl="1"/>
            <a:r>
              <a:rPr lang="en-US" dirty="0"/>
              <a:t>Ad </a:t>
            </a:r>
            <a:r>
              <a:rPr lang="en-US" dirty="0" err="1"/>
              <a:t>ogni</a:t>
            </a:r>
            <a:r>
              <a:rPr lang="en-US" dirty="0"/>
              <a:t> </a:t>
            </a:r>
            <a:r>
              <a:rPr lang="en-US" dirty="0" err="1"/>
              <a:t>dipartimento</a:t>
            </a:r>
            <a:r>
              <a:rPr lang="en-US" dirty="0"/>
              <a:t> </a:t>
            </a:r>
            <a:r>
              <a:rPr lang="en-US" dirty="0" err="1"/>
              <a:t>afferiscono</a:t>
            </a:r>
            <a:r>
              <a:rPr lang="en-US" dirty="0"/>
              <a:t> </a:t>
            </a:r>
            <a:r>
              <a:rPr lang="en-US" dirty="0" err="1"/>
              <a:t>uno</a:t>
            </a:r>
            <a:r>
              <a:rPr lang="en-US" dirty="0"/>
              <a:t> o </a:t>
            </a:r>
            <a:r>
              <a:rPr lang="en-US" dirty="0" err="1"/>
              <a:t>più</a:t>
            </a:r>
            <a:r>
              <a:rPr lang="en-US" dirty="0"/>
              <a:t> </a:t>
            </a:r>
            <a:r>
              <a:rPr lang="en-US" dirty="0" err="1"/>
              <a:t>docenti</a:t>
            </a:r>
            <a:endParaRPr lang="en-US" dirty="0"/>
          </a:p>
          <a:p>
            <a:r>
              <a:rPr lang="en-US" dirty="0" err="1"/>
              <a:t>Questi</a:t>
            </a:r>
            <a:r>
              <a:rPr lang="en-US" dirty="0"/>
              <a:t> </a:t>
            </a:r>
            <a:r>
              <a:rPr lang="en-US" dirty="0" err="1"/>
              <a:t>requisiti</a:t>
            </a:r>
            <a:r>
              <a:rPr lang="en-US" dirty="0"/>
              <a:t> ci </a:t>
            </a:r>
            <a:r>
              <a:rPr lang="en-US" dirty="0" err="1"/>
              <a:t>parlano</a:t>
            </a:r>
            <a:r>
              <a:rPr lang="en-US" dirty="0"/>
              <a:t> </a:t>
            </a:r>
            <a:r>
              <a:rPr lang="en-US" dirty="0" err="1"/>
              <a:t>delle</a:t>
            </a:r>
            <a:r>
              <a:rPr lang="en-US" dirty="0"/>
              <a:t> </a:t>
            </a:r>
            <a:r>
              <a:rPr lang="en-US" dirty="0" err="1"/>
              <a:t>molteplicità</a:t>
            </a:r>
            <a:r>
              <a:rPr lang="en-US" dirty="0"/>
              <a:t> </a:t>
            </a:r>
            <a:r>
              <a:rPr lang="en-US" dirty="0" err="1"/>
              <a:t>delle</a:t>
            </a:r>
            <a:r>
              <a:rPr lang="en-US" dirty="0"/>
              <a:t> </a:t>
            </a:r>
            <a:r>
              <a:rPr lang="en-US" dirty="0" err="1"/>
              <a:t>associazioni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le </a:t>
            </a:r>
            <a:r>
              <a:rPr lang="en-US" dirty="0" err="1"/>
              <a:t>classi</a:t>
            </a:r>
            <a:r>
              <a:rPr lang="en-US" dirty="0"/>
              <a:t>. </a:t>
            </a:r>
            <a:r>
              <a:rPr lang="en-US" dirty="0" err="1"/>
              <a:t>Possiamo</a:t>
            </a:r>
            <a:r>
              <a:rPr lang="en-US" dirty="0"/>
              <a:t> </a:t>
            </a:r>
            <a:r>
              <a:rPr lang="en-US" dirty="0" err="1"/>
              <a:t>iniziare</a:t>
            </a:r>
            <a:r>
              <a:rPr lang="en-US" dirty="0"/>
              <a:t> a </a:t>
            </a:r>
            <a:r>
              <a:rPr lang="en-US" dirty="0" err="1"/>
              <a:t>definire</a:t>
            </a:r>
            <a:r>
              <a:rPr lang="en-US" dirty="0"/>
              <a:t> </a:t>
            </a:r>
            <a:r>
              <a:rPr lang="en-US" dirty="0" err="1"/>
              <a:t>il</a:t>
            </a:r>
            <a:r>
              <a:rPr lang="en-US" dirty="0"/>
              <a:t> class diagram </a:t>
            </a:r>
            <a:r>
              <a:rPr lang="en-US" dirty="0" err="1"/>
              <a:t>che</a:t>
            </a:r>
            <a:r>
              <a:rPr lang="en-US" dirty="0"/>
              <a:t> segue</a:t>
            </a:r>
          </a:p>
        </p:txBody>
      </p:sp>
    </p:spTree>
    <p:extLst>
      <p:ext uri="{BB962C8B-B14F-4D97-AF65-F5344CB8AC3E}">
        <p14:creationId xmlns:p14="http://schemas.microsoft.com/office/powerpoint/2010/main" val="4031676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Associazioni</a:t>
            </a:r>
            <a:r>
              <a:rPr lang="en-US" dirty="0"/>
              <a:t> </a:t>
            </a:r>
            <a:r>
              <a:rPr lang="en-US" dirty="0" err="1"/>
              <a:t>nel</a:t>
            </a:r>
            <a:r>
              <a:rPr lang="en-US" dirty="0"/>
              <a:t> </a:t>
            </a:r>
            <a:r>
              <a:rPr lang="en-US" dirty="0" err="1"/>
              <a:t>mondo</a:t>
            </a:r>
            <a:r>
              <a:rPr lang="en-US" dirty="0"/>
              <a:t> OO: </a:t>
            </a:r>
            <a:br>
              <a:rPr lang="en-US" dirty="0"/>
            </a:br>
            <a:r>
              <a:rPr lang="en-US" dirty="0" err="1"/>
              <a:t>direzione</a:t>
            </a:r>
            <a:r>
              <a:rPr lang="en-US" dirty="0"/>
              <a:t> e </a:t>
            </a:r>
            <a:r>
              <a:rPr lang="en-US" dirty="0" err="1"/>
              <a:t>molteplicità</a:t>
            </a:r>
            <a:endParaRPr lang="en-US" dirty="0"/>
          </a:p>
        </p:txBody>
      </p:sp>
      <p:graphicFrame>
        <p:nvGraphicFramePr>
          <p:cNvPr id="4" name="Segnaposto contenuto 5"/>
          <p:cNvGraphicFramePr>
            <a:graphicFrameLocks/>
          </p:cNvGraphicFramePr>
          <p:nvPr/>
        </p:nvGraphicFramePr>
        <p:xfrm>
          <a:off x="2182958" y="1724865"/>
          <a:ext cx="1164968" cy="54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49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5151">
                <a:tc>
                  <a:txBody>
                    <a:bodyPr/>
                    <a:lstStyle/>
                    <a:p>
                      <a:pPr algn="ctr"/>
                      <a:r>
                        <a:rPr lang="it-IT" sz="1400" b="0" i="0" dirty="0">
                          <a:latin typeface="Calibri Light" panose="020F0302020204030204" pitchFamily="34" charset="0"/>
                        </a:rPr>
                        <a:t>Professor</a:t>
                      </a:r>
                      <a:endParaRPr lang="it-IT" sz="8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7229">
                <a:tc>
                  <a:txBody>
                    <a:bodyPr/>
                    <a:lstStyle/>
                    <a:p>
                      <a:endParaRPr lang="it-IT" sz="800" b="0" i="0" dirty="0">
                        <a:latin typeface="Calibri Light" panose="020F0302020204030204" pitchFamily="34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Segnaposto contenuto 5"/>
          <p:cNvGraphicFramePr>
            <a:graphicFrameLocks/>
          </p:cNvGraphicFramePr>
          <p:nvPr/>
        </p:nvGraphicFramePr>
        <p:xfrm>
          <a:off x="4450861" y="1724865"/>
          <a:ext cx="1511789" cy="54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17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5151">
                <a:tc>
                  <a:txBody>
                    <a:bodyPr/>
                    <a:lstStyle/>
                    <a:p>
                      <a:pPr algn="ctr"/>
                      <a:r>
                        <a:rPr lang="it-IT" sz="1400" b="0" i="0" dirty="0">
                          <a:latin typeface="Calibri Light" panose="020F0302020204030204" pitchFamily="34" charset="0"/>
                        </a:rPr>
                        <a:t>Department</a:t>
                      </a:r>
                      <a:endParaRPr lang="it-IT" sz="8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7229">
                <a:tc>
                  <a:txBody>
                    <a:bodyPr/>
                    <a:lstStyle/>
                    <a:p>
                      <a:endParaRPr lang="it-IT" sz="800" b="0" i="0" dirty="0">
                        <a:latin typeface="Calibri Light" panose="020F0302020204030204" pitchFamily="34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8" name="Connettore 2 7"/>
          <p:cNvCxnSpPr>
            <a:stCxn id="4" idx="3"/>
            <a:endCxn id="5" idx="1"/>
          </p:cNvCxnSpPr>
          <p:nvPr/>
        </p:nvCxnSpPr>
        <p:spPr>
          <a:xfrm>
            <a:off x="3347926" y="1996055"/>
            <a:ext cx="1102935" cy="0"/>
          </a:xfrm>
          <a:prstGeom prst="straightConnector1">
            <a:avLst/>
          </a:prstGeom>
          <a:ln w="12700" cmpd="sng">
            <a:solidFill>
              <a:schemeClr val="tx1"/>
            </a:solidFill>
            <a:prstDash val="solid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Segnaposto contenuto 5"/>
          <p:cNvGraphicFramePr>
            <a:graphicFrameLocks/>
          </p:cNvGraphicFramePr>
          <p:nvPr/>
        </p:nvGraphicFramePr>
        <p:xfrm>
          <a:off x="2182958" y="3286965"/>
          <a:ext cx="1164968" cy="54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49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5151">
                <a:tc>
                  <a:txBody>
                    <a:bodyPr/>
                    <a:lstStyle/>
                    <a:p>
                      <a:pPr algn="ctr"/>
                      <a:r>
                        <a:rPr lang="it-IT" sz="1400" b="0" i="0" dirty="0">
                          <a:latin typeface="Calibri Light" panose="020F0302020204030204" pitchFamily="34" charset="0"/>
                        </a:rPr>
                        <a:t>Course</a:t>
                      </a:r>
                      <a:endParaRPr lang="it-IT" sz="8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7229">
                <a:tc>
                  <a:txBody>
                    <a:bodyPr/>
                    <a:lstStyle/>
                    <a:p>
                      <a:endParaRPr lang="it-IT" sz="800" b="0" i="0" dirty="0">
                        <a:latin typeface="Calibri Light" panose="020F0302020204030204" pitchFamily="34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2" name="Connettore 2 11"/>
          <p:cNvCxnSpPr>
            <a:stCxn id="4" idx="2"/>
            <a:endCxn id="11" idx="0"/>
          </p:cNvCxnSpPr>
          <p:nvPr/>
        </p:nvCxnSpPr>
        <p:spPr>
          <a:xfrm>
            <a:off x="2765442" y="2267245"/>
            <a:ext cx="0" cy="1019720"/>
          </a:xfrm>
          <a:prstGeom prst="straightConnector1">
            <a:avLst/>
          </a:prstGeom>
          <a:ln w="12700" cmpd="sng">
            <a:solidFill>
              <a:schemeClr val="tx1"/>
            </a:solidFill>
            <a:prstDash val="solid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asellaDiTesto 18"/>
          <p:cNvSpPr txBox="1"/>
          <p:nvPr/>
        </p:nvSpPr>
        <p:spPr>
          <a:xfrm>
            <a:off x="2762250" y="3000375"/>
            <a:ext cx="44595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350" dirty="0">
                <a:latin typeface="Calibri Light" panose="020F0302020204030204" pitchFamily="34" charset="0"/>
              </a:rPr>
              <a:t>1..*</a:t>
            </a:r>
          </a:p>
        </p:txBody>
      </p:sp>
      <p:sp>
        <p:nvSpPr>
          <p:cNvPr id="9" name="CasellaDiTesto 8"/>
          <p:cNvSpPr txBox="1"/>
          <p:nvPr/>
        </p:nvSpPr>
        <p:spPr>
          <a:xfrm>
            <a:off x="2762824" y="2285983"/>
            <a:ext cx="44595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350" dirty="0">
                <a:latin typeface="Calibri Light" panose="020F0302020204030204" pitchFamily="34" charset="0"/>
              </a:rPr>
              <a:t>1..*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2C925707-FC5A-164C-B703-CF92A4925D2E}"/>
              </a:ext>
            </a:extLst>
          </p:cNvPr>
          <p:cNvSpPr txBox="1"/>
          <p:nvPr/>
        </p:nvSpPr>
        <p:spPr>
          <a:xfrm>
            <a:off x="4165287" y="1724865"/>
            <a:ext cx="27283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350" dirty="0">
                <a:latin typeface="Calibri Light" panose="020F0302020204030204" pitchFamily="34" charset="0"/>
              </a:rPr>
              <a:t>1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647916BB-9C20-F240-8454-4E5AF2F057EF}"/>
              </a:ext>
            </a:extLst>
          </p:cNvPr>
          <p:cNvSpPr txBox="1"/>
          <p:nvPr/>
        </p:nvSpPr>
        <p:spPr>
          <a:xfrm>
            <a:off x="3366802" y="1724862"/>
            <a:ext cx="44595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350" dirty="0">
                <a:latin typeface="Calibri Light" panose="020F0302020204030204" pitchFamily="34" charset="0"/>
              </a:rPr>
              <a:t>1..*</a:t>
            </a:r>
          </a:p>
        </p:txBody>
      </p:sp>
    </p:spTree>
    <p:extLst>
      <p:ext uri="{BB962C8B-B14F-4D97-AF65-F5344CB8AC3E}">
        <p14:creationId xmlns:p14="http://schemas.microsoft.com/office/powerpoint/2010/main" val="42219676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5A29EA2-2907-1A4F-BB0B-40F5471C6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Associazioni</a:t>
            </a:r>
            <a:r>
              <a:rPr lang="en-US" dirty="0"/>
              <a:t> </a:t>
            </a:r>
            <a:r>
              <a:rPr lang="en-US" dirty="0" err="1"/>
              <a:t>nel</a:t>
            </a:r>
            <a:r>
              <a:rPr lang="en-US" dirty="0"/>
              <a:t> </a:t>
            </a:r>
            <a:r>
              <a:rPr lang="en-US" dirty="0" err="1"/>
              <a:t>mondo</a:t>
            </a:r>
            <a:r>
              <a:rPr lang="en-US" dirty="0"/>
              <a:t> OO: </a:t>
            </a:r>
            <a:br>
              <a:rPr lang="en-US" dirty="0"/>
            </a:br>
            <a:r>
              <a:rPr lang="en-US" dirty="0" err="1"/>
              <a:t>direzione</a:t>
            </a:r>
            <a:r>
              <a:rPr lang="en-US" dirty="0"/>
              <a:t> e </a:t>
            </a:r>
            <a:r>
              <a:rPr lang="en-US" dirty="0" err="1"/>
              <a:t>molteplicità</a:t>
            </a:r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27CE481-9D1C-ED4F-8E33-C8D380F912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/>
              <a:t>Assumiamo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requisiti</a:t>
            </a:r>
            <a:r>
              <a:rPr lang="en-US" dirty="0"/>
              <a:t> </a:t>
            </a:r>
            <a:r>
              <a:rPr lang="en-US" dirty="0" err="1"/>
              <a:t>riportino</a:t>
            </a:r>
            <a:r>
              <a:rPr lang="en-US" dirty="0"/>
              <a:t> </a:t>
            </a:r>
            <a:r>
              <a:rPr lang="en-US" dirty="0" err="1"/>
              <a:t>anche</a:t>
            </a:r>
            <a:r>
              <a:rPr lang="en-US" dirty="0"/>
              <a:t> </a:t>
            </a:r>
            <a:r>
              <a:rPr lang="en-US" dirty="0" err="1"/>
              <a:t>quanto</a:t>
            </a:r>
            <a:r>
              <a:rPr lang="en-US" dirty="0"/>
              <a:t> segue:</a:t>
            </a:r>
          </a:p>
          <a:p>
            <a:pPr lvl="1"/>
            <a:r>
              <a:rPr lang="en-US" dirty="0"/>
              <a:t>Il </a:t>
            </a:r>
            <a:r>
              <a:rPr lang="en-US" dirty="0" err="1"/>
              <a:t>sistema</a:t>
            </a:r>
            <a:r>
              <a:rPr lang="en-US" dirty="0"/>
              <a:t> </a:t>
            </a:r>
            <a:r>
              <a:rPr lang="en-US" dirty="0" err="1"/>
              <a:t>deve</a:t>
            </a:r>
            <a:r>
              <a:rPr lang="en-US" dirty="0"/>
              <a:t> </a:t>
            </a:r>
            <a:r>
              <a:rPr lang="en-US" dirty="0" err="1"/>
              <a:t>permettere</a:t>
            </a:r>
            <a:r>
              <a:rPr lang="en-US" dirty="0"/>
              <a:t> di </a:t>
            </a:r>
            <a:r>
              <a:rPr lang="en-US" dirty="0" err="1"/>
              <a:t>accedere</a:t>
            </a:r>
            <a:r>
              <a:rPr lang="en-US" dirty="0"/>
              <a:t> in </a:t>
            </a:r>
            <a:r>
              <a:rPr lang="en-US" dirty="0" err="1"/>
              <a:t>lettura</a:t>
            </a:r>
            <a:r>
              <a:rPr lang="en-US" dirty="0"/>
              <a:t> </a:t>
            </a:r>
            <a:r>
              <a:rPr lang="en-US" dirty="0" err="1"/>
              <a:t>alle</a:t>
            </a:r>
            <a:r>
              <a:rPr lang="en-US" dirty="0"/>
              <a:t> </a:t>
            </a:r>
            <a:r>
              <a:rPr lang="en-US" dirty="0" err="1"/>
              <a:t>informazioni</a:t>
            </a:r>
            <a:r>
              <a:rPr lang="en-US" dirty="0"/>
              <a:t> di </a:t>
            </a:r>
            <a:r>
              <a:rPr lang="en-US" dirty="0" err="1"/>
              <a:t>docenti</a:t>
            </a:r>
            <a:r>
              <a:rPr lang="en-US" dirty="0"/>
              <a:t>, </a:t>
            </a:r>
            <a:r>
              <a:rPr lang="en-US" dirty="0" err="1"/>
              <a:t>corsi</a:t>
            </a:r>
            <a:r>
              <a:rPr lang="en-US" dirty="0"/>
              <a:t>, e </a:t>
            </a:r>
            <a:r>
              <a:rPr lang="en-US" dirty="0" err="1"/>
              <a:t>dipartimenti</a:t>
            </a:r>
            <a:r>
              <a:rPr lang="en-US" dirty="0"/>
              <a:t>. In </a:t>
            </a:r>
            <a:r>
              <a:rPr lang="en-US" dirty="0" err="1"/>
              <a:t>particolare</a:t>
            </a:r>
            <a:r>
              <a:rPr lang="en-US" dirty="0"/>
              <a:t>:  </a:t>
            </a:r>
          </a:p>
          <a:p>
            <a:pPr lvl="2"/>
            <a:r>
              <a:rPr lang="en-US" dirty="0"/>
              <a:t>Per </a:t>
            </a:r>
            <a:r>
              <a:rPr lang="en-US" dirty="0" err="1"/>
              <a:t>ogni</a:t>
            </a:r>
            <a:r>
              <a:rPr lang="en-US" dirty="0"/>
              <a:t> </a:t>
            </a:r>
            <a:r>
              <a:rPr lang="en-US" b="1" dirty="0" err="1"/>
              <a:t>corso</a:t>
            </a:r>
            <a:r>
              <a:rPr lang="en-US" dirty="0"/>
              <a:t> </a:t>
            </a:r>
            <a:r>
              <a:rPr lang="en-US" dirty="0" err="1"/>
              <a:t>devono</a:t>
            </a:r>
            <a:r>
              <a:rPr lang="en-US" dirty="0"/>
              <a:t> </a:t>
            </a:r>
            <a:r>
              <a:rPr lang="en-US" dirty="0" err="1"/>
              <a:t>essere</a:t>
            </a:r>
            <a:r>
              <a:rPr lang="en-US" dirty="0"/>
              <a:t> </a:t>
            </a:r>
            <a:r>
              <a:rPr lang="en-US" dirty="0" err="1"/>
              <a:t>mostrate</a:t>
            </a:r>
            <a:r>
              <a:rPr lang="en-US" dirty="0"/>
              <a:t> </a:t>
            </a:r>
            <a:r>
              <a:rPr lang="en-US" dirty="0" err="1"/>
              <a:t>anche</a:t>
            </a:r>
            <a:r>
              <a:rPr lang="en-US" dirty="0"/>
              <a:t> le </a:t>
            </a:r>
            <a:r>
              <a:rPr lang="en-US" dirty="0" err="1"/>
              <a:t>informazioni</a:t>
            </a:r>
            <a:r>
              <a:rPr lang="en-US" dirty="0"/>
              <a:t> </a:t>
            </a:r>
            <a:r>
              <a:rPr lang="en-US" dirty="0" err="1"/>
              <a:t>sul</a:t>
            </a:r>
            <a:r>
              <a:rPr lang="en-US" dirty="0"/>
              <a:t> </a:t>
            </a:r>
            <a:r>
              <a:rPr lang="en-US" dirty="0" err="1"/>
              <a:t>corso</a:t>
            </a:r>
            <a:r>
              <a:rPr lang="en-US" dirty="0"/>
              <a:t> e </a:t>
            </a:r>
            <a:r>
              <a:rPr lang="en-US" dirty="0" err="1"/>
              <a:t>l'elenco</a:t>
            </a:r>
            <a:r>
              <a:rPr lang="en-US" dirty="0"/>
              <a:t> </a:t>
            </a:r>
            <a:r>
              <a:rPr lang="en-US" dirty="0" err="1"/>
              <a:t>dei</a:t>
            </a:r>
            <a:r>
              <a:rPr lang="en-US" dirty="0"/>
              <a:t> </a:t>
            </a:r>
            <a:r>
              <a:rPr lang="en-US" dirty="0" err="1"/>
              <a:t>docenti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insegnano</a:t>
            </a:r>
            <a:r>
              <a:rPr lang="en-US" dirty="0"/>
              <a:t> tale </a:t>
            </a:r>
            <a:r>
              <a:rPr lang="en-US" dirty="0" err="1"/>
              <a:t>corso</a:t>
            </a:r>
            <a:endParaRPr lang="en-US" dirty="0"/>
          </a:p>
          <a:p>
            <a:pPr lvl="2"/>
            <a:r>
              <a:rPr lang="en-US" dirty="0"/>
              <a:t>Per </a:t>
            </a:r>
            <a:r>
              <a:rPr lang="en-US" dirty="0" err="1"/>
              <a:t>ogni</a:t>
            </a:r>
            <a:r>
              <a:rPr lang="en-US" dirty="0"/>
              <a:t> </a:t>
            </a:r>
            <a:r>
              <a:rPr lang="en-US" b="1" dirty="0" err="1"/>
              <a:t>docente</a:t>
            </a:r>
            <a:r>
              <a:rPr lang="en-US" dirty="0"/>
              <a:t> </a:t>
            </a:r>
            <a:r>
              <a:rPr lang="en-US" dirty="0" err="1"/>
              <a:t>deve</a:t>
            </a:r>
            <a:r>
              <a:rPr lang="en-US" dirty="0"/>
              <a:t> </a:t>
            </a:r>
            <a:r>
              <a:rPr lang="en-US" dirty="0" err="1"/>
              <a:t>essere</a:t>
            </a:r>
            <a:r>
              <a:rPr lang="en-US" dirty="0"/>
              <a:t> </a:t>
            </a:r>
            <a:r>
              <a:rPr lang="en-US" dirty="0" err="1"/>
              <a:t>mostrato</a:t>
            </a:r>
            <a:r>
              <a:rPr lang="en-US" dirty="0"/>
              <a:t>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dipartimento</a:t>
            </a:r>
            <a:r>
              <a:rPr lang="en-US" dirty="0"/>
              <a:t> di </a:t>
            </a:r>
            <a:r>
              <a:rPr lang="en-US" dirty="0" err="1"/>
              <a:t>afferenza</a:t>
            </a:r>
            <a:r>
              <a:rPr lang="en-US" dirty="0"/>
              <a:t> e </a:t>
            </a:r>
            <a:r>
              <a:rPr lang="en-US" dirty="0" err="1"/>
              <a:t>l'elenco</a:t>
            </a:r>
            <a:r>
              <a:rPr lang="en-US" dirty="0"/>
              <a:t> </a:t>
            </a:r>
            <a:r>
              <a:rPr lang="en-US" dirty="0" err="1"/>
              <a:t>dei</a:t>
            </a:r>
            <a:r>
              <a:rPr lang="en-US" dirty="0"/>
              <a:t> </a:t>
            </a:r>
            <a:r>
              <a:rPr lang="en-US" dirty="0" err="1"/>
              <a:t>corsi</a:t>
            </a:r>
            <a:r>
              <a:rPr lang="en-US" dirty="0"/>
              <a:t> </a:t>
            </a:r>
            <a:r>
              <a:rPr lang="en-US" dirty="0" err="1"/>
              <a:t>insegnati</a:t>
            </a:r>
            <a:r>
              <a:rPr lang="en-US" dirty="0"/>
              <a:t> da tale </a:t>
            </a:r>
            <a:r>
              <a:rPr lang="en-US" dirty="0" err="1"/>
              <a:t>docente</a:t>
            </a:r>
            <a:endParaRPr lang="en-US" dirty="0"/>
          </a:p>
          <a:p>
            <a:pPr lvl="2"/>
            <a:r>
              <a:rPr lang="en-US" dirty="0"/>
              <a:t>Per </a:t>
            </a:r>
            <a:r>
              <a:rPr lang="en-US" dirty="0" err="1"/>
              <a:t>ogni</a:t>
            </a:r>
            <a:r>
              <a:rPr lang="en-US" dirty="0"/>
              <a:t> </a:t>
            </a:r>
            <a:r>
              <a:rPr lang="en-US" b="1" dirty="0" err="1"/>
              <a:t>dipartimento</a:t>
            </a:r>
            <a:r>
              <a:rPr lang="en-US" dirty="0"/>
              <a:t> </a:t>
            </a:r>
            <a:r>
              <a:rPr lang="en-US" dirty="0" err="1"/>
              <a:t>devono</a:t>
            </a:r>
            <a:r>
              <a:rPr lang="en-US" dirty="0"/>
              <a:t> </a:t>
            </a:r>
            <a:r>
              <a:rPr lang="en-US" dirty="0" err="1"/>
              <a:t>essere</a:t>
            </a:r>
            <a:r>
              <a:rPr lang="en-US" dirty="0"/>
              <a:t> </a:t>
            </a:r>
            <a:r>
              <a:rPr lang="en-US" dirty="0" err="1"/>
              <a:t>mostrate</a:t>
            </a:r>
            <a:r>
              <a:rPr lang="en-US" dirty="0"/>
              <a:t> solo le </a:t>
            </a:r>
            <a:r>
              <a:rPr lang="en-US" dirty="0" err="1"/>
              <a:t>informazioni</a:t>
            </a:r>
            <a:r>
              <a:rPr lang="en-US" dirty="0"/>
              <a:t> </a:t>
            </a:r>
            <a:r>
              <a:rPr lang="en-US" dirty="0" err="1"/>
              <a:t>sul</a:t>
            </a:r>
            <a:r>
              <a:rPr lang="en-US" dirty="0"/>
              <a:t> </a:t>
            </a:r>
            <a:r>
              <a:rPr lang="en-US" dirty="0" err="1"/>
              <a:t>dipartimento</a:t>
            </a:r>
            <a:endParaRPr lang="en-US" dirty="0"/>
          </a:p>
          <a:p>
            <a:r>
              <a:rPr lang="en-US" dirty="0" err="1"/>
              <a:t>Questi</a:t>
            </a:r>
            <a:r>
              <a:rPr lang="en-US" dirty="0"/>
              <a:t> </a:t>
            </a:r>
            <a:r>
              <a:rPr lang="en-US" dirty="0" err="1"/>
              <a:t>requisiti</a:t>
            </a:r>
            <a:r>
              <a:rPr lang="en-US" dirty="0"/>
              <a:t> ci </a:t>
            </a:r>
            <a:r>
              <a:rPr lang="en-US" dirty="0" err="1"/>
              <a:t>parlano</a:t>
            </a:r>
            <a:r>
              <a:rPr lang="en-US" dirty="0"/>
              <a:t> </a:t>
            </a:r>
            <a:r>
              <a:rPr lang="en-US" dirty="0" err="1"/>
              <a:t>della</a:t>
            </a:r>
            <a:r>
              <a:rPr lang="en-US" dirty="0"/>
              <a:t> </a:t>
            </a:r>
            <a:r>
              <a:rPr lang="en-US" dirty="0" err="1"/>
              <a:t>direzione</a:t>
            </a:r>
            <a:r>
              <a:rPr lang="en-US" dirty="0"/>
              <a:t> </a:t>
            </a:r>
            <a:r>
              <a:rPr lang="en-US" dirty="0" err="1"/>
              <a:t>delle</a:t>
            </a:r>
            <a:r>
              <a:rPr lang="en-US" dirty="0"/>
              <a:t> </a:t>
            </a:r>
            <a:r>
              <a:rPr lang="en-US" dirty="0" err="1"/>
              <a:t>associazioni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le </a:t>
            </a:r>
            <a:r>
              <a:rPr lang="en-US" dirty="0" err="1"/>
              <a:t>classi</a:t>
            </a:r>
            <a:r>
              <a:rPr lang="en-US" dirty="0"/>
              <a:t>. Con </a:t>
            </a:r>
            <a:r>
              <a:rPr lang="en-US" dirty="0" err="1"/>
              <a:t>queste</a:t>
            </a:r>
            <a:r>
              <a:rPr lang="en-US" dirty="0"/>
              <a:t> </a:t>
            </a:r>
            <a:r>
              <a:rPr lang="en-US" dirty="0" err="1"/>
              <a:t>informazioni</a:t>
            </a:r>
            <a:r>
              <a:rPr lang="en-US" dirty="0"/>
              <a:t>, </a:t>
            </a:r>
            <a:r>
              <a:rPr lang="en-US" dirty="0" err="1"/>
              <a:t>possiamo</a:t>
            </a:r>
            <a:r>
              <a:rPr lang="en-US" dirty="0"/>
              <a:t> </a:t>
            </a:r>
            <a:r>
              <a:rPr lang="en-US" dirty="0" err="1"/>
              <a:t>completare</a:t>
            </a:r>
            <a:r>
              <a:rPr lang="en-US" dirty="0"/>
              <a:t> </a:t>
            </a:r>
            <a:r>
              <a:rPr lang="en-US" dirty="0" err="1"/>
              <a:t>il</a:t>
            </a:r>
            <a:r>
              <a:rPr lang="en-US" dirty="0"/>
              <a:t> class diagram come segue</a:t>
            </a:r>
          </a:p>
        </p:txBody>
      </p:sp>
      <p:sp>
        <p:nvSpPr>
          <p:cNvPr id="4" name="Fumetto 3 3">
            <a:extLst>
              <a:ext uri="{FF2B5EF4-FFF2-40B4-BE49-F238E27FC236}">
                <a16:creationId xmlns:a16="http://schemas.microsoft.com/office/drawing/2014/main" id="{94B3E0DB-7165-5B46-8DB7-82F184C2D371}"/>
              </a:ext>
            </a:extLst>
          </p:cNvPr>
          <p:cNvSpPr/>
          <p:nvPr/>
        </p:nvSpPr>
        <p:spPr>
          <a:xfrm>
            <a:off x="2539094" y="1461407"/>
            <a:ext cx="3241222" cy="963386"/>
          </a:xfrm>
          <a:prstGeom prst="wedgeEllipseCallout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 err="1">
                <a:solidFill>
                  <a:schemeClr val="bg1"/>
                </a:solidFill>
                <a:latin typeface="Calibri Light" panose="020F0302020204030204" pitchFamily="34" charset="0"/>
              </a:rPr>
              <a:t>Quando</a:t>
            </a:r>
            <a:r>
              <a:rPr lang="en-US" sz="1350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en-US" sz="1350" dirty="0" err="1">
                <a:solidFill>
                  <a:schemeClr val="bg1"/>
                </a:solidFill>
                <a:latin typeface="Calibri Light" panose="020F0302020204030204" pitchFamily="34" charset="0"/>
              </a:rPr>
              <a:t>accediamo</a:t>
            </a:r>
            <a:r>
              <a:rPr lang="en-US" sz="1350" dirty="0">
                <a:solidFill>
                  <a:schemeClr val="bg1"/>
                </a:solidFill>
                <a:latin typeface="Calibri Light" panose="020F0302020204030204" pitchFamily="34" charset="0"/>
              </a:rPr>
              <a:t> ai </a:t>
            </a:r>
            <a:r>
              <a:rPr lang="en-US" sz="1350" dirty="0" err="1">
                <a:solidFill>
                  <a:schemeClr val="bg1"/>
                </a:solidFill>
                <a:latin typeface="Calibri Light" panose="020F0302020204030204" pitchFamily="34" charset="0"/>
              </a:rPr>
              <a:t>dati</a:t>
            </a:r>
            <a:r>
              <a:rPr lang="en-US" sz="1350" dirty="0">
                <a:solidFill>
                  <a:schemeClr val="bg1"/>
                </a:solidFill>
                <a:latin typeface="Calibri Light" panose="020F0302020204030204" pitchFamily="34" charset="0"/>
              </a:rPr>
              <a:t> di un </a:t>
            </a:r>
            <a:r>
              <a:rPr lang="en-US" sz="1350" dirty="0" err="1">
                <a:solidFill>
                  <a:schemeClr val="bg1"/>
                </a:solidFill>
                <a:latin typeface="Calibri Light" panose="020F0302020204030204" pitchFamily="34" charset="0"/>
              </a:rPr>
              <a:t>corso</a:t>
            </a:r>
            <a:r>
              <a:rPr lang="en-US" sz="1350" dirty="0">
                <a:solidFill>
                  <a:schemeClr val="bg1"/>
                </a:solidFill>
                <a:latin typeface="Calibri Light" panose="020F0302020204030204" pitchFamily="34" charset="0"/>
              </a:rPr>
              <a:t>, </a:t>
            </a:r>
            <a:r>
              <a:rPr lang="en-US" sz="1350" dirty="0" err="1">
                <a:solidFill>
                  <a:schemeClr val="bg1"/>
                </a:solidFill>
                <a:latin typeface="Calibri Light" panose="020F0302020204030204" pitchFamily="34" charset="0"/>
              </a:rPr>
              <a:t>dobbiamo</a:t>
            </a:r>
            <a:r>
              <a:rPr lang="en-US" sz="1350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en-US" sz="1350" dirty="0" err="1">
                <a:solidFill>
                  <a:schemeClr val="bg1"/>
                </a:solidFill>
                <a:latin typeface="Calibri Light" panose="020F0302020204030204" pitchFamily="34" charset="0"/>
              </a:rPr>
              <a:t>accedere</a:t>
            </a:r>
            <a:r>
              <a:rPr lang="en-US" sz="1350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en-US" sz="1350" dirty="0" err="1">
                <a:solidFill>
                  <a:schemeClr val="bg1"/>
                </a:solidFill>
                <a:latin typeface="Calibri Light" panose="020F0302020204030204" pitchFamily="34" charset="0"/>
              </a:rPr>
              <a:t>anche</a:t>
            </a:r>
            <a:r>
              <a:rPr lang="en-US" sz="1350" dirty="0">
                <a:solidFill>
                  <a:schemeClr val="bg1"/>
                </a:solidFill>
                <a:latin typeface="Calibri Light" panose="020F0302020204030204" pitchFamily="34" charset="0"/>
              </a:rPr>
              <a:t> ai </a:t>
            </a:r>
            <a:r>
              <a:rPr lang="en-US" sz="1350" dirty="0" err="1">
                <a:solidFill>
                  <a:schemeClr val="bg1"/>
                </a:solidFill>
                <a:latin typeface="Calibri Light" panose="020F0302020204030204" pitchFamily="34" charset="0"/>
              </a:rPr>
              <a:t>dati</a:t>
            </a:r>
            <a:r>
              <a:rPr lang="en-US" sz="1350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en-US" sz="1350" dirty="0" err="1">
                <a:solidFill>
                  <a:schemeClr val="bg1"/>
                </a:solidFill>
                <a:latin typeface="Calibri Light" panose="020F0302020204030204" pitchFamily="34" charset="0"/>
              </a:rPr>
              <a:t>dei</a:t>
            </a:r>
            <a:r>
              <a:rPr lang="en-US" sz="1350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en-US" sz="1350" dirty="0" err="1">
                <a:solidFill>
                  <a:schemeClr val="bg1"/>
                </a:solidFill>
                <a:latin typeface="Calibri Light" panose="020F0302020204030204" pitchFamily="34" charset="0"/>
              </a:rPr>
              <a:t>suoi</a:t>
            </a:r>
            <a:r>
              <a:rPr lang="en-US" sz="1350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en-US" sz="1350" dirty="0" err="1">
                <a:solidFill>
                  <a:schemeClr val="bg1"/>
                </a:solidFill>
                <a:latin typeface="Calibri Light" panose="020F0302020204030204" pitchFamily="34" charset="0"/>
              </a:rPr>
              <a:t>docenti</a:t>
            </a:r>
            <a:endParaRPr lang="en-US" sz="1350" dirty="0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  <p:sp>
        <p:nvSpPr>
          <p:cNvPr id="5" name="Fumetto 3 4">
            <a:extLst>
              <a:ext uri="{FF2B5EF4-FFF2-40B4-BE49-F238E27FC236}">
                <a16:creationId xmlns:a16="http://schemas.microsoft.com/office/drawing/2014/main" id="{82945B85-BEBE-6041-A1A1-6AF2087CB880}"/>
              </a:ext>
            </a:extLst>
          </p:cNvPr>
          <p:cNvSpPr/>
          <p:nvPr/>
        </p:nvSpPr>
        <p:spPr>
          <a:xfrm>
            <a:off x="2408463" y="1811536"/>
            <a:ext cx="3371850" cy="963386"/>
          </a:xfrm>
          <a:prstGeom prst="wedgeEllipseCallout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 err="1">
                <a:solidFill>
                  <a:schemeClr val="bg1"/>
                </a:solidFill>
                <a:latin typeface="Calibri Light" panose="020F0302020204030204" pitchFamily="34" charset="0"/>
              </a:rPr>
              <a:t>Quando</a:t>
            </a:r>
            <a:r>
              <a:rPr lang="en-US" sz="1350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en-US" sz="1350" dirty="0" err="1">
                <a:solidFill>
                  <a:schemeClr val="bg1"/>
                </a:solidFill>
                <a:latin typeface="Calibri Light" panose="020F0302020204030204" pitchFamily="34" charset="0"/>
              </a:rPr>
              <a:t>accediamo</a:t>
            </a:r>
            <a:r>
              <a:rPr lang="en-US" sz="1350" dirty="0">
                <a:solidFill>
                  <a:schemeClr val="bg1"/>
                </a:solidFill>
                <a:latin typeface="Calibri Light" panose="020F0302020204030204" pitchFamily="34" charset="0"/>
              </a:rPr>
              <a:t> ai </a:t>
            </a:r>
            <a:r>
              <a:rPr lang="en-US" sz="1350" dirty="0" err="1">
                <a:solidFill>
                  <a:schemeClr val="bg1"/>
                </a:solidFill>
                <a:latin typeface="Calibri Light" panose="020F0302020204030204" pitchFamily="34" charset="0"/>
              </a:rPr>
              <a:t>dati</a:t>
            </a:r>
            <a:r>
              <a:rPr lang="en-US" sz="1350" dirty="0">
                <a:solidFill>
                  <a:schemeClr val="bg1"/>
                </a:solidFill>
                <a:latin typeface="Calibri Light" panose="020F0302020204030204" pitchFamily="34" charset="0"/>
              </a:rPr>
              <a:t> di un </a:t>
            </a:r>
            <a:r>
              <a:rPr lang="en-US" sz="1350" dirty="0" err="1">
                <a:solidFill>
                  <a:schemeClr val="bg1"/>
                </a:solidFill>
                <a:latin typeface="Calibri Light" panose="020F0302020204030204" pitchFamily="34" charset="0"/>
              </a:rPr>
              <a:t>docente</a:t>
            </a:r>
            <a:r>
              <a:rPr lang="en-US" sz="1350" dirty="0">
                <a:solidFill>
                  <a:schemeClr val="bg1"/>
                </a:solidFill>
                <a:latin typeface="Calibri Light" panose="020F0302020204030204" pitchFamily="34" charset="0"/>
              </a:rPr>
              <a:t>, </a:t>
            </a:r>
            <a:r>
              <a:rPr lang="en-US" sz="1350" dirty="0" err="1">
                <a:solidFill>
                  <a:schemeClr val="bg1"/>
                </a:solidFill>
                <a:latin typeface="Calibri Light" panose="020F0302020204030204" pitchFamily="34" charset="0"/>
              </a:rPr>
              <a:t>dobbiamo</a:t>
            </a:r>
            <a:r>
              <a:rPr lang="en-US" sz="1350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en-US" sz="1350" dirty="0" err="1">
                <a:solidFill>
                  <a:schemeClr val="bg1"/>
                </a:solidFill>
                <a:latin typeface="Calibri Light" panose="020F0302020204030204" pitchFamily="34" charset="0"/>
              </a:rPr>
              <a:t>accedere</a:t>
            </a:r>
            <a:r>
              <a:rPr lang="en-US" sz="1350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en-US" sz="1350" dirty="0" err="1">
                <a:solidFill>
                  <a:schemeClr val="bg1"/>
                </a:solidFill>
                <a:latin typeface="Calibri Light" panose="020F0302020204030204" pitchFamily="34" charset="0"/>
              </a:rPr>
              <a:t>anche</a:t>
            </a:r>
            <a:r>
              <a:rPr lang="en-US" sz="1350" dirty="0">
                <a:solidFill>
                  <a:schemeClr val="bg1"/>
                </a:solidFill>
                <a:latin typeface="Calibri Light" panose="020F0302020204030204" pitchFamily="34" charset="0"/>
              </a:rPr>
              <a:t> ai </a:t>
            </a:r>
            <a:r>
              <a:rPr lang="en-US" sz="1350" dirty="0" err="1">
                <a:solidFill>
                  <a:schemeClr val="bg1"/>
                </a:solidFill>
                <a:latin typeface="Calibri Light" panose="020F0302020204030204" pitchFamily="34" charset="0"/>
              </a:rPr>
              <a:t>dati</a:t>
            </a:r>
            <a:r>
              <a:rPr lang="en-US" sz="1350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en-US" sz="1350" dirty="0" err="1">
                <a:solidFill>
                  <a:schemeClr val="bg1"/>
                </a:solidFill>
                <a:latin typeface="Calibri Light" panose="020F0302020204030204" pitchFamily="34" charset="0"/>
              </a:rPr>
              <a:t>dei</a:t>
            </a:r>
            <a:r>
              <a:rPr lang="en-US" sz="1350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en-US" sz="1350" dirty="0" err="1">
                <a:solidFill>
                  <a:schemeClr val="bg1"/>
                </a:solidFill>
                <a:latin typeface="Calibri Light" panose="020F0302020204030204" pitchFamily="34" charset="0"/>
              </a:rPr>
              <a:t>suoi</a:t>
            </a:r>
            <a:r>
              <a:rPr lang="en-US" sz="1350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en-US" sz="1350" dirty="0" err="1">
                <a:solidFill>
                  <a:schemeClr val="bg1"/>
                </a:solidFill>
                <a:latin typeface="Calibri Light" panose="020F0302020204030204" pitchFamily="34" charset="0"/>
              </a:rPr>
              <a:t>corsi</a:t>
            </a:r>
            <a:r>
              <a:rPr lang="en-US" sz="1350" dirty="0">
                <a:solidFill>
                  <a:schemeClr val="bg1"/>
                </a:solidFill>
                <a:latin typeface="Calibri Light" panose="020F0302020204030204" pitchFamily="34" charset="0"/>
              </a:rPr>
              <a:t> e del </a:t>
            </a:r>
            <a:r>
              <a:rPr lang="en-US" sz="1350" dirty="0" err="1">
                <a:solidFill>
                  <a:schemeClr val="bg1"/>
                </a:solidFill>
                <a:latin typeface="Calibri Light" panose="020F0302020204030204" pitchFamily="34" charset="0"/>
              </a:rPr>
              <a:t>suo</a:t>
            </a:r>
            <a:r>
              <a:rPr lang="en-US" sz="1350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en-US" sz="1350" dirty="0" err="1">
                <a:solidFill>
                  <a:schemeClr val="bg1"/>
                </a:solidFill>
                <a:latin typeface="Calibri Light" panose="020F0302020204030204" pitchFamily="34" charset="0"/>
              </a:rPr>
              <a:t>dipartimento</a:t>
            </a:r>
            <a:endParaRPr lang="en-US" sz="1350" dirty="0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  <p:sp>
        <p:nvSpPr>
          <p:cNvPr id="6" name="Fumetto 3 5">
            <a:extLst>
              <a:ext uri="{FF2B5EF4-FFF2-40B4-BE49-F238E27FC236}">
                <a16:creationId xmlns:a16="http://schemas.microsoft.com/office/drawing/2014/main" id="{0FE12270-D5AD-EB4F-B8C8-5C0F7BFA1BDC}"/>
              </a:ext>
            </a:extLst>
          </p:cNvPr>
          <p:cNvSpPr/>
          <p:nvPr/>
        </p:nvSpPr>
        <p:spPr>
          <a:xfrm>
            <a:off x="2624818" y="2252406"/>
            <a:ext cx="3371850" cy="963386"/>
          </a:xfrm>
          <a:prstGeom prst="wedgeEllipseCallout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 err="1">
                <a:solidFill>
                  <a:schemeClr val="bg1"/>
                </a:solidFill>
                <a:latin typeface="Calibri Light" panose="020F0302020204030204" pitchFamily="34" charset="0"/>
              </a:rPr>
              <a:t>Quando</a:t>
            </a:r>
            <a:r>
              <a:rPr lang="en-US" sz="1350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en-US" sz="1350" dirty="0" err="1">
                <a:solidFill>
                  <a:schemeClr val="bg1"/>
                </a:solidFill>
                <a:latin typeface="Calibri Light" panose="020F0302020204030204" pitchFamily="34" charset="0"/>
              </a:rPr>
              <a:t>accediamo</a:t>
            </a:r>
            <a:r>
              <a:rPr lang="en-US" sz="1350" dirty="0">
                <a:solidFill>
                  <a:schemeClr val="bg1"/>
                </a:solidFill>
                <a:latin typeface="Calibri Light" panose="020F0302020204030204" pitchFamily="34" charset="0"/>
              </a:rPr>
              <a:t> ai </a:t>
            </a:r>
            <a:r>
              <a:rPr lang="en-US" sz="1350" dirty="0" err="1">
                <a:solidFill>
                  <a:schemeClr val="bg1"/>
                </a:solidFill>
                <a:latin typeface="Calibri Light" panose="020F0302020204030204" pitchFamily="34" charset="0"/>
              </a:rPr>
              <a:t>dati</a:t>
            </a:r>
            <a:r>
              <a:rPr lang="en-US" sz="1350" dirty="0">
                <a:solidFill>
                  <a:schemeClr val="bg1"/>
                </a:solidFill>
                <a:latin typeface="Calibri Light" panose="020F0302020204030204" pitchFamily="34" charset="0"/>
              </a:rPr>
              <a:t> di un </a:t>
            </a:r>
            <a:r>
              <a:rPr lang="en-US" sz="1350" dirty="0" err="1">
                <a:solidFill>
                  <a:schemeClr val="bg1"/>
                </a:solidFill>
                <a:latin typeface="Calibri Light" panose="020F0302020204030204" pitchFamily="34" charset="0"/>
              </a:rPr>
              <a:t>dipartimento</a:t>
            </a:r>
            <a:r>
              <a:rPr lang="en-US" sz="1350" dirty="0">
                <a:solidFill>
                  <a:schemeClr val="bg1"/>
                </a:solidFill>
                <a:latin typeface="Calibri Light" panose="020F0302020204030204" pitchFamily="34" charset="0"/>
              </a:rPr>
              <a:t> non ci </a:t>
            </a:r>
            <a:r>
              <a:rPr lang="en-US" sz="1350" dirty="0" err="1">
                <a:solidFill>
                  <a:schemeClr val="bg1"/>
                </a:solidFill>
                <a:latin typeface="Calibri Light" panose="020F0302020204030204" pitchFamily="34" charset="0"/>
              </a:rPr>
              <a:t>interessa</a:t>
            </a:r>
            <a:r>
              <a:rPr lang="en-US" sz="1350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en-US" sz="1350" dirty="0" err="1">
                <a:solidFill>
                  <a:schemeClr val="bg1"/>
                </a:solidFill>
                <a:latin typeface="Calibri Light" panose="020F0302020204030204" pitchFamily="34" charset="0"/>
              </a:rPr>
              <a:t>nient'altro</a:t>
            </a:r>
            <a:r>
              <a:rPr lang="en-US" sz="1350" dirty="0">
                <a:solidFill>
                  <a:schemeClr val="bg1"/>
                </a:solidFill>
                <a:latin typeface="Calibri Light" panose="020F0302020204030204" pitchFamily="34" charset="0"/>
              </a:rPr>
              <a:t> (non ci </a:t>
            </a:r>
            <a:r>
              <a:rPr lang="en-US" sz="1350" dirty="0" err="1">
                <a:solidFill>
                  <a:schemeClr val="bg1"/>
                </a:solidFill>
                <a:latin typeface="Calibri Light" panose="020F0302020204030204" pitchFamily="34" charset="0"/>
              </a:rPr>
              <a:t>interessa</a:t>
            </a:r>
            <a:r>
              <a:rPr lang="en-US" sz="1350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en-US" sz="1350" dirty="0" err="1">
                <a:solidFill>
                  <a:schemeClr val="bg1"/>
                </a:solidFill>
                <a:latin typeface="Calibri Light" panose="020F0302020204030204" pitchFamily="34" charset="0"/>
              </a:rPr>
              <a:t>l'associazione</a:t>
            </a:r>
            <a:r>
              <a:rPr lang="en-US" sz="1350" dirty="0">
                <a:solidFill>
                  <a:schemeClr val="bg1"/>
                </a:solidFill>
                <a:latin typeface="Calibri Light" panose="020F0302020204030204" pitchFamily="34" charset="0"/>
              </a:rPr>
              <a:t> con </a:t>
            </a:r>
            <a:r>
              <a:rPr lang="en-US" sz="1350" dirty="0" err="1">
                <a:solidFill>
                  <a:schemeClr val="bg1"/>
                </a:solidFill>
                <a:latin typeface="Calibri Light" panose="020F0302020204030204" pitchFamily="34" charset="0"/>
              </a:rPr>
              <a:t>i</a:t>
            </a:r>
            <a:r>
              <a:rPr lang="en-US" sz="1350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en-US" sz="1350" dirty="0" err="1">
                <a:solidFill>
                  <a:schemeClr val="bg1"/>
                </a:solidFill>
                <a:latin typeface="Calibri Light" panose="020F0302020204030204" pitchFamily="34" charset="0"/>
              </a:rPr>
              <a:t>docenti</a:t>
            </a:r>
            <a:r>
              <a:rPr lang="en-US" sz="1350" dirty="0">
                <a:solidFill>
                  <a:schemeClr val="bg1"/>
                </a:solidFill>
                <a:latin typeface="Calibri Light" panose="020F030202020403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91369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Associazioni</a:t>
            </a:r>
            <a:r>
              <a:rPr lang="en-US" dirty="0"/>
              <a:t> </a:t>
            </a:r>
            <a:r>
              <a:rPr lang="en-US" dirty="0" err="1"/>
              <a:t>nel</a:t>
            </a:r>
            <a:r>
              <a:rPr lang="en-US" dirty="0"/>
              <a:t> </a:t>
            </a:r>
            <a:r>
              <a:rPr lang="en-US" dirty="0" err="1"/>
              <a:t>mondo</a:t>
            </a:r>
            <a:r>
              <a:rPr lang="en-US" dirty="0"/>
              <a:t> OO: </a:t>
            </a:r>
            <a:br>
              <a:rPr lang="en-US" dirty="0"/>
            </a:br>
            <a:r>
              <a:rPr lang="en-US" dirty="0" err="1"/>
              <a:t>direzione</a:t>
            </a:r>
            <a:r>
              <a:rPr lang="en-US" dirty="0"/>
              <a:t> e </a:t>
            </a:r>
            <a:r>
              <a:rPr lang="en-US" dirty="0" err="1"/>
              <a:t>molteplicità</a:t>
            </a:r>
            <a:endParaRPr lang="en-US" dirty="0"/>
          </a:p>
        </p:txBody>
      </p:sp>
      <p:graphicFrame>
        <p:nvGraphicFramePr>
          <p:cNvPr id="4" name="Segnaposto contenuto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47671628"/>
              </p:ext>
            </p:extLst>
          </p:nvPr>
        </p:nvGraphicFramePr>
        <p:xfrm>
          <a:off x="3064702" y="1724865"/>
          <a:ext cx="1164968" cy="54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49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5151">
                <a:tc>
                  <a:txBody>
                    <a:bodyPr/>
                    <a:lstStyle/>
                    <a:p>
                      <a:pPr algn="ctr"/>
                      <a:r>
                        <a:rPr lang="it-IT" sz="1400" b="0" i="0" dirty="0">
                          <a:latin typeface="Calibri Light" panose="020F0302020204030204" pitchFamily="34" charset="0"/>
                        </a:rPr>
                        <a:t>Professor</a:t>
                      </a:r>
                      <a:endParaRPr lang="it-IT" sz="8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7229">
                <a:tc>
                  <a:txBody>
                    <a:bodyPr/>
                    <a:lstStyle/>
                    <a:p>
                      <a:endParaRPr lang="it-IT" sz="800" b="0" i="0" dirty="0">
                        <a:latin typeface="Calibri Light" panose="020F0302020204030204" pitchFamily="34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Segnaposto contenuto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01176468"/>
              </p:ext>
            </p:extLst>
          </p:nvPr>
        </p:nvGraphicFramePr>
        <p:xfrm>
          <a:off x="5332605" y="1724865"/>
          <a:ext cx="1511789" cy="54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17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5151">
                <a:tc>
                  <a:txBody>
                    <a:bodyPr/>
                    <a:lstStyle/>
                    <a:p>
                      <a:pPr algn="ctr"/>
                      <a:r>
                        <a:rPr lang="it-IT" sz="1400" b="0" i="0" dirty="0">
                          <a:latin typeface="Calibri Light" panose="020F0302020204030204" pitchFamily="34" charset="0"/>
                        </a:rPr>
                        <a:t>Department</a:t>
                      </a:r>
                      <a:endParaRPr lang="it-IT" sz="8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7229">
                <a:tc>
                  <a:txBody>
                    <a:bodyPr/>
                    <a:lstStyle/>
                    <a:p>
                      <a:endParaRPr lang="it-IT" sz="800" b="0" i="0" dirty="0">
                        <a:latin typeface="Calibri Light" panose="020F0302020204030204" pitchFamily="34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8" name="Connettore 2 7"/>
          <p:cNvCxnSpPr>
            <a:stCxn id="4" idx="3"/>
            <a:endCxn id="5" idx="1"/>
          </p:cNvCxnSpPr>
          <p:nvPr/>
        </p:nvCxnSpPr>
        <p:spPr>
          <a:xfrm>
            <a:off x="4229669" y="1996055"/>
            <a:ext cx="1102935" cy="0"/>
          </a:xfrm>
          <a:prstGeom prst="straightConnector1">
            <a:avLst/>
          </a:prstGeom>
          <a:ln w="12700" cmpd="sng">
            <a:solidFill>
              <a:schemeClr val="tx1"/>
            </a:solidFill>
            <a:prstDash val="solid"/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Segnaposto contenuto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86001067"/>
              </p:ext>
            </p:extLst>
          </p:nvPr>
        </p:nvGraphicFramePr>
        <p:xfrm>
          <a:off x="3064702" y="3286965"/>
          <a:ext cx="1164968" cy="54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49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5151">
                <a:tc>
                  <a:txBody>
                    <a:bodyPr/>
                    <a:lstStyle/>
                    <a:p>
                      <a:pPr algn="ctr"/>
                      <a:r>
                        <a:rPr lang="it-IT" sz="1400" b="0" i="0" dirty="0">
                          <a:latin typeface="Calibri Light" panose="020F0302020204030204" pitchFamily="34" charset="0"/>
                        </a:rPr>
                        <a:t>Course</a:t>
                      </a:r>
                      <a:endParaRPr lang="it-IT" sz="8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7229">
                <a:tc>
                  <a:txBody>
                    <a:bodyPr/>
                    <a:lstStyle/>
                    <a:p>
                      <a:endParaRPr lang="it-IT" sz="800" b="0" i="0" dirty="0">
                        <a:latin typeface="Calibri Light" panose="020F0302020204030204" pitchFamily="34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2" name="Connettore 2 11"/>
          <p:cNvCxnSpPr>
            <a:stCxn id="4" idx="2"/>
            <a:endCxn id="11" idx="0"/>
          </p:cNvCxnSpPr>
          <p:nvPr/>
        </p:nvCxnSpPr>
        <p:spPr>
          <a:xfrm>
            <a:off x="3647186" y="2267245"/>
            <a:ext cx="0" cy="1019720"/>
          </a:xfrm>
          <a:prstGeom prst="straightConnector1">
            <a:avLst/>
          </a:prstGeom>
          <a:ln w="12700" cmpd="sng">
            <a:solidFill>
              <a:schemeClr val="tx1"/>
            </a:solidFill>
            <a:prstDash val="solid"/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asellaDiTesto 18"/>
          <p:cNvSpPr txBox="1"/>
          <p:nvPr/>
        </p:nvSpPr>
        <p:spPr>
          <a:xfrm>
            <a:off x="3643994" y="3000375"/>
            <a:ext cx="44595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350" dirty="0">
                <a:latin typeface="Calibri Light" panose="020F0302020204030204" pitchFamily="34" charset="0"/>
              </a:rPr>
              <a:t>1..*</a:t>
            </a:r>
          </a:p>
        </p:txBody>
      </p:sp>
      <p:sp>
        <p:nvSpPr>
          <p:cNvPr id="9" name="CasellaDiTesto 8"/>
          <p:cNvSpPr txBox="1"/>
          <p:nvPr/>
        </p:nvSpPr>
        <p:spPr>
          <a:xfrm>
            <a:off x="3644567" y="2285983"/>
            <a:ext cx="44595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350" dirty="0">
                <a:latin typeface="Calibri Light" panose="020F0302020204030204" pitchFamily="34" charset="0"/>
              </a:rPr>
              <a:t>1..*</a:t>
            </a:r>
          </a:p>
        </p:txBody>
      </p:sp>
      <p:sp>
        <p:nvSpPr>
          <p:cNvPr id="10" name="Fumetto 3 9">
            <a:extLst>
              <a:ext uri="{FF2B5EF4-FFF2-40B4-BE49-F238E27FC236}">
                <a16:creationId xmlns:a16="http://schemas.microsoft.com/office/drawing/2014/main" id="{4B5A32CB-787B-564D-94EA-F1F3D9C4A4A7}"/>
              </a:ext>
            </a:extLst>
          </p:cNvPr>
          <p:cNvSpPr/>
          <p:nvPr/>
        </p:nvSpPr>
        <p:spPr>
          <a:xfrm>
            <a:off x="3392261" y="686572"/>
            <a:ext cx="3539217" cy="963386"/>
          </a:xfrm>
          <a:prstGeom prst="wedgeEllipseCallout">
            <a:avLst>
              <a:gd name="adj1" fmla="val -24892"/>
              <a:gd name="adj2" fmla="val 80297"/>
            </a:avLst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 err="1">
                <a:solidFill>
                  <a:schemeClr val="bg1"/>
                </a:solidFill>
                <a:latin typeface="Calibri Light" panose="020F0302020204030204" pitchFamily="34" charset="0"/>
              </a:rPr>
              <a:t>Quando</a:t>
            </a:r>
            <a:r>
              <a:rPr lang="en-US" sz="1350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en-US" sz="1350" dirty="0" err="1">
                <a:solidFill>
                  <a:schemeClr val="bg1"/>
                </a:solidFill>
                <a:latin typeface="Calibri Light" panose="020F0302020204030204" pitchFamily="34" charset="0"/>
              </a:rPr>
              <a:t>accediamo</a:t>
            </a:r>
            <a:r>
              <a:rPr lang="en-US" sz="1350" dirty="0">
                <a:solidFill>
                  <a:schemeClr val="bg1"/>
                </a:solidFill>
                <a:latin typeface="Calibri Light" panose="020F0302020204030204" pitchFamily="34" charset="0"/>
              </a:rPr>
              <a:t> ai </a:t>
            </a:r>
            <a:r>
              <a:rPr lang="en-US" sz="1350" dirty="0" err="1">
                <a:solidFill>
                  <a:schemeClr val="bg1"/>
                </a:solidFill>
                <a:latin typeface="Calibri Light" panose="020F0302020204030204" pitchFamily="34" charset="0"/>
              </a:rPr>
              <a:t>dati</a:t>
            </a:r>
            <a:r>
              <a:rPr lang="en-US" sz="1350" dirty="0">
                <a:solidFill>
                  <a:schemeClr val="bg1"/>
                </a:solidFill>
                <a:latin typeface="Calibri Light" panose="020F0302020204030204" pitchFamily="34" charset="0"/>
              </a:rPr>
              <a:t> di un </a:t>
            </a:r>
            <a:r>
              <a:rPr lang="en-US" sz="1350" dirty="0" err="1">
                <a:solidFill>
                  <a:schemeClr val="bg1"/>
                </a:solidFill>
                <a:latin typeface="Calibri Light" panose="020F0302020204030204" pitchFamily="34" charset="0"/>
              </a:rPr>
              <a:t>dipartimento</a:t>
            </a:r>
            <a:r>
              <a:rPr lang="en-US" sz="1350" dirty="0">
                <a:solidFill>
                  <a:schemeClr val="bg1"/>
                </a:solidFill>
                <a:latin typeface="Calibri Light" panose="020F0302020204030204" pitchFamily="34" charset="0"/>
              </a:rPr>
              <a:t> non ci </a:t>
            </a:r>
            <a:r>
              <a:rPr lang="en-US" sz="1350" dirty="0" err="1">
                <a:solidFill>
                  <a:schemeClr val="bg1"/>
                </a:solidFill>
                <a:latin typeface="Calibri Light" panose="020F0302020204030204" pitchFamily="34" charset="0"/>
              </a:rPr>
              <a:t>interessa</a:t>
            </a:r>
            <a:r>
              <a:rPr lang="en-US" sz="1350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en-US" sz="1350" dirty="0" err="1">
                <a:solidFill>
                  <a:schemeClr val="bg1"/>
                </a:solidFill>
                <a:latin typeface="Calibri Light" panose="020F0302020204030204" pitchFamily="34" charset="0"/>
              </a:rPr>
              <a:t>nient'altro</a:t>
            </a:r>
            <a:r>
              <a:rPr lang="en-US" sz="1350" dirty="0">
                <a:solidFill>
                  <a:schemeClr val="bg1"/>
                </a:solidFill>
                <a:latin typeface="Calibri Light" panose="020F0302020204030204" pitchFamily="34" charset="0"/>
              </a:rPr>
              <a:t> (non ci </a:t>
            </a:r>
            <a:r>
              <a:rPr lang="en-US" sz="1350" dirty="0" err="1">
                <a:solidFill>
                  <a:schemeClr val="bg1"/>
                </a:solidFill>
                <a:latin typeface="Calibri Light" panose="020F0302020204030204" pitchFamily="34" charset="0"/>
              </a:rPr>
              <a:t>interessa</a:t>
            </a:r>
            <a:r>
              <a:rPr lang="en-US" sz="1350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en-US" sz="1350" dirty="0" err="1">
                <a:solidFill>
                  <a:schemeClr val="bg1"/>
                </a:solidFill>
                <a:latin typeface="Calibri Light" panose="020F0302020204030204" pitchFamily="34" charset="0"/>
              </a:rPr>
              <a:t>l'associazione</a:t>
            </a:r>
            <a:r>
              <a:rPr lang="en-US" sz="1350" dirty="0">
                <a:solidFill>
                  <a:schemeClr val="bg1"/>
                </a:solidFill>
                <a:latin typeface="Calibri Light" panose="020F0302020204030204" pitchFamily="34" charset="0"/>
              </a:rPr>
              <a:t> con </a:t>
            </a:r>
            <a:r>
              <a:rPr lang="en-US" sz="1350" dirty="0" err="1">
                <a:solidFill>
                  <a:schemeClr val="bg1"/>
                </a:solidFill>
                <a:latin typeface="Calibri Light" panose="020F0302020204030204" pitchFamily="34" charset="0"/>
              </a:rPr>
              <a:t>i</a:t>
            </a:r>
            <a:r>
              <a:rPr lang="en-US" sz="1350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en-US" sz="1350" dirty="0" err="1">
                <a:solidFill>
                  <a:schemeClr val="bg1"/>
                </a:solidFill>
                <a:latin typeface="Calibri Light" panose="020F0302020204030204" pitchFamily="34" charset="0"/>
              </a:rPr>
              <a:t>docenti</a:t>
            </a:r>
            <a:r>
              <a:rPr lang="en-US" sz="1350" dirty="0">
                <a:solidFill>
                  <a:schemeClr val="bg1"/>
                </a:solidFill>
                <a:latin typeface="Calibri Light" panose="020F0302020204030204" pitchFamily="34" charset="0"/>
              </a:rPr>
              <a:t>)</a:t>
            </a:r>
          </a:p>
        </p:txBody>
      </p:sp>
      <p:sp>
        <p:nvSpPr>
          <p:cNvPr id="13" name="Fumetto 3 12">
            <a:extLst>
              <a:ext uri="{FF2B5EF4-FFF2-40B4-BE49-F238E27FC236}">
                <a16:creationId xmlns:a16="http://schemas.microsoft.com/office/drawing/2014/main" id="{DB6B80AB-2EE2-0340-B459-7DC3FFD831BD}"/>
              </a:ext>
            </a:extLst>
          </p:cNvPr>
          <p:cNvSpPr/>
          <p:nvPr/>
        </p:nvSpPr>
        <p:spPr>
          <a:xfrm>
            <a:off x="4626354" y="2665753"/>
            <a:ext cx="3371850" cy="963386"/>
          </a:xfrm>
          <a:prstGeom prst="wedgeEllipseCallout">
            <a:avLst>
              <a:gd name="adj1" fmla="val -67322"/>
              <a:gd name="adj2" fmla="val 1483"/>
            </a:avLst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 err="1">
                <a:solidFill>
                  <a:schemeClr val="bg1"/>
                </a:solidFill>
                <a:latin typeface="Calibri Light" panose="020F0302020204030204" pitchFamily="34" charset="0"/>
              </a:rPr>
              <a:t>Quando</a:t>
            </a:r>
            <a:r>
              <a:rPr lang="en-US" sz="1350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en-US" sz="1350" dirty="0" err="1">
                <a:solidFill>
                  <a:schemeClr val="bg1"/>
                </a:solidFill>
                <a:latin typeface="Calibri Light" panose="020F0302020204030204" pitchFamily="34" charset="0"/>
              </a:rPr>
              <a:t>accediamo</a:t>
            </a:r>
            <a:r>
              <a:rPr lang="en-US" sz="1350" dirty="0">
                <a:solidFill>
                  <a:schemeClr val="bg1"/>
                </a:solidFill>
                <a:latin typeface="Calibri Light" panose="020F0302020204030204" pitchFamily="34" charset="0"/>
              </a:rPr>
              <a:t> ai </a:t>
            </a:r>
            <a:r>
              <a:rPr lang="en-US" sz="1350" dirty="0" err="1">
                <a:solidFill>
                  <a:schemeClr val="bg1"/>
                </a:solidFill>
                <a:latin typeface="Calibri Light" panose="020F0302020204030204" pitchFamily="34" charset="0"/>
              </a:rPr>
              <a:t>dati</a:t>
            </a:r>
            <a:r>
              <a:rPr lang="en-US" sz="1350" dirty="0">
                <a:solidFill>
                  <a:schemeClr val="bg1"/>
                </a:solidFill>
                <a:latin typeface="Calibri Light" panose="020F0302020204030204" pitchFamily="34" charset="0"/>
              </a:rPr>
              <a:t> di un </a:t>
            </a:r>
            <a:r>
              <a:rPr lang="en-US" sz="1350" dirty="0" err="1">
                <a:solidFill>
                  <a:schemeClr val="bg1"/>
                </a:solidFill>
                <a:latin typeface="Calibri Light" panose="020F0302020204030204" pitchFamily="34" charset="0"/>
              </a:rPr>
              <a:t>docente</a:t>
            </a:r>
            <a:r>
              <a:rPr lang="en-US" sz="1350" dirty="0">
                <a:solidFill>
                  <a:schemeClr val="bg1"/>
                </a:solidFill>
                <a:latin typeface="Calibri Light" panose="020F0302020204030204" pitchFamily="34" charset="0"/>
              </a:rPr>
              <a:t>, </a:t>
            </a:r>
            <a:r>
              <a:rPr lang="en-US" sz="1350" dirty="0" err="1">
                <a:solidFill>
                  <a:schemeClr val="bg1"/>
                </a:solidFill>
                <a:latin typeface="Calibri Light" panose="020F0302020204030204" pitchFamily="34" charset="0"/>
              </a:rPr>
              <a:t>dobbiamo</a:t>
            </a:r>
            <a:r>
              <a:rPr lang="en-US" sz="1350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en-US" sz="1350" dirty="0" err="1">
                <a:solidFill>
                  <a:schemeClr val="bg1"/>
                </a:solidFill>
                <a:latin typeface="Calibri Light" panose="020F0302020204030204" pitchFamily="34" charset="0"/>
              </a:rPr>
              <a:t>accedere</a:t>
            </a:r>
            <a:r>
              <a:rPr lang="en-US" sz="1350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en-US" sz="1350" dirty="0" err="1">
                <a:solidFill>
                  <a:schemeClr val="bg1"/>
                </a:solidFill>
                <a:latin typeface="Calibri Light" panose="020F0302020204030204" pitchFamily="34" charset="0"/>
              </a:rPr>
              <a:t>anche</a:t>
            </a:r>
            <a:r>
              <a:rPr lang="en-US" sz="1350" dirty="0">
                <a:solidFill>
                  <a:schemeClr val="bg1"/>
                </a:solidFill>
                <a:latin typeface="Calibri Light" panose="020F0302020204030204" pitchFamily="34" charset="0"/>
              </a:rPr>
              <a:t> ai </a:t>
            </a:r>
            <a:r>
              <a:rPr lang="en-US" sz="1350" dirty="0" err="1">
                <a:solidFill>
                  <a:schemeClr val="bg1"/>
                </a:solidFill>
                <a:latin typeface="Calibri Light" panose="020F0302020204030204" pitchFamily="34" charset="0"/>
              </a:rPr>
              <a:t>dati</a:t>
            </a:r>
            <a:r>
              <a:rPr lang="en-US" sz="1350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en-US" sz="1350" dirty="0" err="1">
                <a:solidFill>
                  <a:schemeClr val="bg1"/>
                </a:solidFill>
                <a:latin typeface="Calibri Light" panose="020F0302020204030204" pitchFamily="34" charset="0"/>
              </a:rPr>
              <a:t>dei</a:t>
            </a:r>
            <a:r>
              <a:rPr lang="en-US" sz="1350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en-US" sz="1350" dirty="0" err="1">
                <a:solidFill>
                  <a:schemeClr val="bg1"/>
                </a:solidFill>
                <a:latin typeface="Calibri Light" panose="020F0302020204030204" pitchFamily="34" charset="0"/>
              </a:rPr>
              <a:t>suoi</a:t>
            </a:r>
            <a:r>
              <a:rPr lang="en-US" sz="1350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en-US" sz="1350" dirty="0" err="1">
                <a:solidFill>
                  <a:schemeClr val="bg1"/>
                </a:solidFill>
                <a:latin typeface="Calibri Light" panose="020F0302020204030204" pitchFamily="34" charset="0"/>
              </a:rPr>
              <a:t>corsi</a:t>
            </a:r>
            <a:r>
              <a:rPr lang="en-US" sz="1350" dirty="0">
                <a:solidFill>
                  <a:schemeClr val="bg1"/>
                </a:solidFill>
                <a:latin typeface="Calibri Light" panose="020F0302020204030204" pitchFamily="34" charset="0"/>
              </a:rPr>
              <a:t> e del </a:t>
            </a:r>
            <a:r>
              <a:rPr lang="en-US" sz="1350" dirty="0" err="1">
                <a:solidFill>
                  <a:schemeClr val="bg1"/>
                </a:solidFill>
                <a:latin typeface="Calibri Light" panose="020F0302020204030204" pitchFamily="34" charset="0"/>
              </a:rPr>
              <a:t>suo</a:t>
            </a:r>
            <a:r>
              <a:rPr lang="en-US" sz="1350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en-US" sz="1350" dirty="0" err="1">
                <a:solidFill>
                  <a:schemeClr val="bg1"/>
                </a:solidFill>
                <a:latin typeface="Calibri Light" panose="020F0302020204030204" pitchFamily="34" charset="0"/>
              </a:rPr>
              <a:t>dipartimento</a:t>
            </a:r>
            <a:endParaRPr lang="en-US" sz="1350" dirty="0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  <p:sp>
        <p:nvSpPr>
          <p:cNvPr id="14" name="Fumetto 3 13">
            <a:extLst>
              <a:ext uri="{FF2B5EF4-FFF2-40B4-BE49-F238E27FC236}">
                <a16:creationId xmlns:a16="http://schemas.microsoft.com/office/drawing/2014/main" id="{92150225-5CCC-1540-9EA7-86D4A206DAF0}"/>
              </a:ext>
            </a:extLst>
          </p:cNvPr>
          <p:cNvSpPr/>
          <p:nvPr/>
        </p:nvSpPr>
        <p:spPr>
          <a:xfrm>
            <a:off x="1023947" y="2226407"/>
            <a:ext cx="1881054" cy="1761172"/>
          </a:xfrm>
          <a:prstGeom prst="wedgeEllipseCallout">
            <a:avLst>
              <a:gd name="adj1" fmla="val 84593"/>
              <a:gd name="adj2" fmla="val -44584"/>
            </a:avLst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 err="1">
                <a:solidFill>
                  <a:schemeClr val="bg1"/>
                </a:solidFill>
                <a:latin typeface="Calibri Light" panose="020F0302020204030204" pitchFamily="34" charset="0"/>
              </a:rPr>
              <a:t>Quando</a:t>
            </a:r>
            <a:r>
              <a:rPr lang="en-US" sz="1350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en-US" sz="1350" dirty="0" err="1">
                <a:solidFill>
                  <a:schemeClr val="bg1"/>
                </a:solidFill>
                <a:latin typeface="Calibri Light" panose="020F0302020204030204" pitchFamily="34" charset="0"/>
              </a:rPr>
              <a:t>accediamo</a:t>
            </a:r>
            <a:r>
              <a:rPr lang="en-US" sz="1350" dirty="0">
                <a:solidFill>
                  <a:schemeClr val="bg1"/>
                </a:solidFill>
                <a:latin typeface="Calibri Light" panose="020F0302020204030204" pitchFamily="34" charset="0"/>
              </a:rPr>
              <a:t> ai </a:t>
            </a:r>
            <a:r>
              <a:rPr lang="en-US" sz="1350" dirty="0" err="1">
                <a:solidFill>
                  <a:schemeClr val="bg1"/>
                </a:solidFill>
                <a:latin typeface="Calibri Light" panose="020F0302020204030204" pitchFamily="34" charset="0"/>
              </a:rPr>
              <a:t>dati</a:t>
            </a:r>
            <a:r>
              <a:rPr lang="en-US" sz="1350" dirty="0">
                <a:solidFill>
                  <a:schemeClr val="bg1"/>
                </a:solidFill>
                <a:latin typeface="Calibri Light" panose="020F0302020204030204" pitchFamily="34" charset="0"/>
              </a:rPr>
              <a:t> di un </a:t>
            </a:r>
            <a:r>
              <a:rPr lang="en-US" sz="1350" dirty="0" err="1">
                <a:solidFill>
                  <a:schemeClr val="bg1"/>
                </a:solidFill>
                <a:latin typeface="Calibri Light" panose="020F0302020204030204" pitchFamily="34" charset="0"/>
              </a:rPr>
              <a:t>corso</a:t>
            </a:r>
            <a:r>
              <a:rPr lang="en-US" sz="1350" dirty="0">
                <a:solidFill>
                  <a:schemeClr val="bg1"/>
                </a:solidFill>
                <a:latin typeface="Calibri Light" panose="020F0302020204030204" pitchFamily="34" charset="0"/>
              </a:rPr>
              <a:t>, </a:t>
            </a:r>
            <a:r>
              <a:rPr lang="en-US" sz="1350" dirty="0" err="1">
                <a:solidFill>
                  <a:schemeClr val="bg1"/>
                </a:solidFill>
                <a:latin typeface="Calibri Light" panose="020F0302020204030204" pitchFamily="34" charset="0"/>
              </a:rPr>
              <a:t>dobbiamo</a:t>
            </a:r>
            <a:r>
              <a:rPr lang="en-US" sz="1350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en-US" sz="1350" dirty="0" err="1">
                <a:solidFill>
                  <a:schemeClr val="bg1"/>
                </a:solidFill>
                <a:latin typeface="Calibri Light" panose="020F0302020204030204" pitchFamily="34" charset="0"/>
              </a:rPr>
              <a:t>accedere</a:t>
            </a:r>
            <a:r>
              <a:rPr lang="en-US" sz="1350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en-US" sz="1350" dirty="0" err="1">
                <a:solidFill>
                  <a:schemeClr val="bg1"/>
                </a:solidFill>
                <a:latin typeface="Calibri Light" panose="020F0302020204030204" pitchFamily="34" charset="0"/>
              </a:rPr>
              <a:t>anche</a:t>
            </a:r>
            <a:r>
              <a:rPr lang="en-US" sz="1350" dirty="0">
                <a:solidFill>
                  <a:schemeClr val="bg1"/>
                </a:solidFill>
                <a:latin typeface="Calibri Light" panose="020F0302020204030204" pitchFamily="34" charset="0"/>
              </a:rPr>
              <a:t> ai </a:t>
            </a:r>
            <a:r>
              <a:rPr lang="en-US" sz="1350" dirty="0" err="1">
                <a:solidFill>
                  <a:schemeClr val="bg1"/>
                </a:solidFill>
                <a:latin typeface="Calibri Light" panose="020F0302020204030204" pitchFamily="34" charset="0"/>
              </a:rPr>
              <a:t>dati</a:t>
            </a:r>
            <a:r>
              <a:rPr lang="en-US" sz="1350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en-US" sz="1350" dirty="0" err="1">
                <a:solidFill>
                  <a:schemeClr val="bg1"/>
                </a:solidFill>
                <a:latin typeface="Calibri Light" panose="020F0302020204030204" pitchFamily="34" charset="0"/>
              </a:rPr>
              <a:t>dei</a:t>
            </a:r>
            <a:r>
              <a:rPr lang="en-US" sz="1350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en-US" sz="1350" dirty="0" err="1">
                <a:solidFill>
                  <a:schemeClr val="bg1"/>
                </a:solidFill>
                <a:latin typeface="Calibri Light" panose="020F0302020204030204" pitchFamily="34" charset="0"/>
              </a:rPr>
              <a:t>suoi</a:t>
            </a:r>
            <a:r>
              <a:rPr lang="en-US" sz="1350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en-US" sz="1350" dirty="0" err="1">
                <a:solidFill>
                  <a:schemeClr val="bg1"/>
                </a:solidFill>
                <a:latin typeface="Calibri Light" panose="020F0302020204030204" pitchFamily="34" charset="0"/>
              </a:rPr>
              <a:t>docenti</a:t>
            </a:r>
            <a:endParaRPr lang="en-US" sz="1350" dirty="0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  <p:sp>
        <p:nvSpPr>
          <p:cNvPr id="15" name="Fumetto 3 14">
            <a:extLst>
              <a:ext uri="{FF2B5EF4-FFF2-40B4-BE49-F238E27FC236}">
                <a16:creationId xmlns:a16="http://schemas.microsoft.com/office/drawing/2014/main" id="{712D4923-2D29-1442-97F5-0E62C688B67C}"/>
              </a:ext>
            </a:extLst>
          </p:cNvPr>
          <p:cNvSpPr/>
          <p:nvPr/>
        </p:nvSpPr>
        <p:spPr>
          <a:xfrm>
            <a:off x="4634518" y="2673914"/>
            <a:ext cx="3371850" cy="963386"/>
          </a:xfrm>
          <a:prstGeom prst="wedgeEllipseCallout">
            <a:avLst>
              <a:gd name="adj1" fmla="val -30760"/>
              <a:gd name="adj2" fmla="val -115466"/>
            </a:avLst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 err="1">
                <a:solidFill>
                  <a:schemeClr val="bg1"/>
                </a:solidFill>
                <a:latin typeface="Calibri Light" panose="020F0302020204030204" pitchFamily="34" charset="0"/>
              </a:rPr>
              <a:t>Quando</a:t>
            </a:r>
            <a:r>
              <a:rPr lang="en-US" sz="1350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en-US" sz="1350" dirty="0" err="1">
                <a:solidFill>
                  <a:schemeClr val="bg1"/>
                </a:solidFill>
                <a:latin typeface="Calibri Light" panose="020F0302020204030204" pitchFamily="34" charset="0"/>
              </a:rPr>
              <a:t>accediamo</a:t>
            </a:r>
            <a:r>
              <a:rPr lang="en-US" sz="1350" dirty="0">
                <a:solidFill>
                  <a:schemeClr val="bg1"/>
                </a:solidFill>
                <a:latin typeface="Calibri Light" panose="020F0302020204030204" pitchFamily="34" charset="0"/>
              </a:rPr>
              <a:t> ai </a:t>
            </a:r>
            <a:r>
              <a:rPr lang="en-US" sz="1350" dirty="0" err="1">
                <a:solidFill>
                  <a:schemeClr val="bg1"/>
                </a:solidFill>
                <a:latin typeface="Calibri Light" panose="020F0302020204030204" pitchFamily="34" charset="0"/>
              </a:rPr>
              <a:t>dati</a:t>
            </a:r>
            <a:r>
              <a:rPr lang="en-US" sz="1350" dirty="0">
                <a:solidFill>
                  <a:schemeClr val="bg1"/>
                </a:solidFill>
                <a:latin typeface="Calibri Light" panose="020F0302020204030204" pitchFamily="34" charset="0"/>
              </a:rPr>
              <a:t> di un </a:t>
            </a:r>
            <a:r>
              <a:rPr lang="en-US" sz="1350" dirty="0" err="1">
                <a:solidFill>
                  <a:schemeClr val="bg1"/>
                </a:solidFill>
                <a:latin typeface="Calibri Light" panose="020F0302020204030204" pitchFamily="34" charset="0"/>
              </a:rPr>
              <a:t>docente</a:t>
            </a:r>
            <a:r>
              <a:rPr lang="en-US" sz="1350" dirty="0">
                <a:solidFill>
                  <a:schemeClr val="bg1"/>
                </a:solidFill>
                <a:latin typeface="Calibri Light" panose="020F0302020204030204" pitchFamily="34" charset="0"/>
              </a:rPr>
              <a:t>, </a:t>
            </a:r>
            <a:r>
              <a:rPr lang="en-US" sz="1350" dirty="0" err="1">
                <a:solidFill>
                  <a:schemeClr val="bg1"/>
                </a:solidFill>
                <a:latin typeface="Calibri Light" panose="020F0302020204030204" pitchFamily="34" charset="0"/>
              </a:rPr>
              <a:t>dobbiamo</a:t>
            </a:r>
            <a:r>
              <a:rPr lang="en-US" sz="1350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en-US" sz="1350" dirty="0" err="1">
                <a:solidFill>
                  <a:schemeClr val="bg1"/>
                </a:solidFill>
                <a:latin typeface="Calibri Light" panose="020F0302020204030204" pitchFamily="34" charset="0"/>
              </a:rPr>
              <a:t>accedere</a:t>
            </a:r>
            <a:r>
              <a:rPr lang="en-US" sz="1350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en-US" sz="1350" dirty="0" err="1">
                <a:solidFill>
                  <a:schemeClr val="bg1"/>
                </a:solidFill>
                <a:latin typeface="Calibri Light" panose="020F0302020204030204" pitchFamily="34" charset="0"/>
              </a:rPr>
              <a:t>anche</a:t>
            </a:r>
            <a:r>
              <a:rPr lang="en-US" sz="1350" dirty="0">
                <a:solidFill>
                  <a:schemeClr val="bg1"/>
                </a:solidFill>
                <a:latin typeface="Calibri Light" panose="020F0302020204030204" pitchFamily="34" charset="0"/>
              </a:rPr>
              <a:t> ai </a:t>
            </a:r>
            <a:r>
              <a:rPr lang="en-US" sz="1350" dirty="0" err="1">
                <a:solidFill>
                  <a:schemeClr val="bg1"/>
                </a:solidFill>
                <a:latin typeface="Calibri Light" panose="020F0302020204030204" pitchFamily="34" charset="0"/>
              </a:rPr>
              <a:t>dati</a:t>
            </a:r>
            <a:r>
              <a:rPr lang="en-US" sz="1350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en-US" sz="1350" dirty="0" err="1">
                <a:solidFill>
                  <a:schemeClr val="bg1"/>
                </a:solidFill>
                <a:latin typeface="Calibri Light" panose="020F0302020204030204" pitchFamily="34" charset="0"/>
              </a:rPr>
              <a:t>dei</a:t>
            </a:r>
            <a:r>
              <a:rPr lang="en-US" sz="1350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en-US" sz="1350" dirty="0" err="1">
                <a:solidFill>
                  <a:schemeClr val="bg1"/>
                </a:solidFill>
                <a:latin typeface="Calibri Light" panose="020F0302020204030204" pitchFamily="34" charset="0"/>
              </a:rPr>
              <a:t>suoi</a:t>
            </a:r>
            <a:r>
              <a:rPr lang="en-US" sz="1350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en-US" sz="1350" dirty="0" err="1">
                <a:solidFill>
                  <a:schemeClr val="bg1"/>
                </a:solidFill>
                <a:latin typeface="Calibri Light" panose="020F0302020204030204" pitchFamily="34" charset="0"/>
              </a:rPr>
              <a:t>corsi</a:t>
            </a:r>
            <a:r>
              <a:rPr lang="en-US" sz="1350" dirty="0">
                <a:solidFill>
                  <a:schemeClr val="bg1"/>
                </a:solidFill>
                <a:latin typeface="Calibri Light" panose="020F0302020204030204" pitchFamily="34" charset="0"/>
              </a:rPr>
              <a:t> e del </a:t>
            </a:r>
            <a:r>
              <a:rPr lang="en-US" sz="1350" dirty="0" err="1">
                <a:solidFill>
                  <a:schemeClr val="bg1"/>
                </a:solidFill>
                <a:latin typeface="Calibri Light" panose="020F0302020204030204" pitchFamily="34" charset="0"/>
              </a:rPr>
              <a:t>suo</a:t>
            </a:r>
            <a:r>
              <a:rPr lang="en-US" sz="1350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en-US" sz="1350" dirty="0" err="1">
                <a:solidFill>
                  <a:schemeClr val="bg1"/>
                </a:solidFill>
                <a:latin typeface="Calibri Light" panose="020F0302020204030204" pitchFamily="34" charset="0"/>
              </a:rPr>
              <a:t>dipartimento</a:t>
            </a:r>
            <a:endParaRPr lang="en-US" sz="1350" dirty="0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536C2855-7F55-9D4C-BFC3-BE8B3A7D7F59}"/>
              </a:ext>
            </a:extLst>
          </p:cNvPr>
          <p:cNvSpPr txBox="1"/>
          <p:nvPr/>
        </p:nvSpPr>
        <p:spPr>
          <a:xfrm>
            <a:off x="4226477" y="1759598"/>
            <a:ext cx="44595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350" dirty="0">
                <a:latin typeface="Calibri Light" panose="020F0302020204030204" pitchFamily="34" charset="0"/>
              </a:rPr>
              <a:t>1..*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35AC8EE7-9FE9-624E-BE5F-629966DA3F6C}"/>
              </a:ext>
            </a:extLst>
          </p:cNvPr>
          <p:cNvSpPr txBox="1"/>
          <p:nvPr/>
        </p:nvSpPr>
        <p:spPr>
          <a:xfrm>
            <a:off x="5106340" y="1742356"/>
            <a:ext cx="27283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350" dirty="0">
                <a:latin typeface="Calibri Light" panose="020F030202020403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850923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 animBg="1"/>
      <p:bldP spid="14" grpId="0" animBg="1"/>
      <p:bldP spid="1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91D808-89C6-4442-A322-C0B5B9C1F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Associazioni</a:t>
            </a:r>
            <a:r>
              <a:rPr lang="en-US" dirty="0"/>
              <a:t> </a:t>
            </a:r>
            <a:r>
              <a:rPr lang="en-US" dirty="0" err="1"/>
              <a:t>nel</a:t>
            </a:r>
            <a:r>
              <a:rPr lang="en-US" dirty="0"/>
              <a:t> </a:t>
            </a:r>
            <a:r>
              <a:rPr lang="en-US" dirty="0" err="1"/>
              <a:t>mondo</a:t>
            </a:r>
            <a:r>
              <a:rPr lang="en-US" dirty="0"/>
              <a:t> OO: </a:t>
            </a:r>
            <a:br>
              <a:rPr lang="en-US" dirty="0"/>
            </a:br>
            <a:r>
              <a:rPr lang="en-US" dirty="0" err="1"/>
              <a:t>direzione</a:t>
            </a:r>
            <a:r>
              <a:rPr lang="en-US" dirty="0"/>
              <a:t> e </a:t>
            </a:r>
            <a:r>
              <a:rPr lang="en-US" dirty="0" err="1"/>
              <a:t>molteplicità</a:t>
            </a:r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DD9B31A-A014-1D48-A710-BDB466DE84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Come </a:t>
            </a:r>
            <a:r>
              <a:rPr lang="en-US" dirty="0" err="1"/>
              <a:t>si</a:t>
            </a:r>
            <a:r>
              <a:rPr lang="en-US" dirty="0"/>
              <a:t> traduce il class diagram </a:t>
            </a:r>
            <a:r>
              <a:rPr lang="en-US" dirty="0" err="1"/>
              <a:t>precedente</a:t>
            </a:r>
            <a:r>
              <a:rPr lang="en-US" dirty="0"/>
              <a:t> in un </a:t>
            </a:r>
            <a:r>
              <a:rPr lang="en-US" dirty="0" err="1"/>
              <a:t>linguaggio</a:t>
            </a:r>
            <a:r>
              <a:rPr lang="en-US" dirty="0"/>
              <a:t> </a:t>
            </a:r>
            <a:r>
              <a:rPr lang="en-US" dirty="0" err="1"/>
              <a:t>orientato</a:t>
            </a:r>
            <a:r>
              <a:rPr lang="en-US" dirty="0"/>
              <a:t> </a:t>
            </a:r>
            <a:r>
              <a:rPr lang="en-US" dirty="0" err="1"/>
              <a:t>agli</a:t>
            </a:r>
            <a:r>
              <a:rPr lang="en-US" dirty="0"/>
              <a:t> </a:t>
            </a:r>
            <a:r>
              <a:rPr lang="en-US" dirty="0" err="1"/>
              <a:t>oggetti</a:t>
            </a:r>
            <a:r>
              <a:rPr lang="en-US" dirty="0"/>
              <a:t>?</a:t>
            </a:r>
          </a:p>
          <a:p>
            <a:r>
              <a:rPr lang="en-US" dirty="0"/>
              <a:t>Le </a:t>
            </a:r>
            <a:r>
              <a:rPr lang="en-US" dirty="0" err="1"/>
              <a:t>associazioni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rappresentano</a:t>
            </a:r>
            <a:r>
              <a:rPr lang="en-US" dirty="0"/>
              <a:t> </a:t>
            </a:r>
            <a:r>
              <a:rPr lang="en-US" dirty="0" err="1"/>
              <a:t>tramite</a:t>
            </a:r>
            <a:r>
              <a:rPr lang="en-US" dirty="0"/>
              <a:t> </a:t>
            </a:r>
            <a:r>
              <a:rPr lang="en-US" dirty="0" err="1"/>
              <a:t>riferimenti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/>
              <a:t>In </a:t>
            </a:r>
            <a:r>
              <a:rPr lang="en-US" dirty="0" err="1"/>
              <a:t>ogni</a:t>
            </a:r>
            <a:r>
              <a:rPr lang="en-US" dirty="0"/>
              <a:t> </a:t>
            </a:r>
            <a:r>
              <a:rPr lang="en-US" dirty="0" err="1"/>
              <a:t>classe</a:t>
            </a:r>
            <a:r>
              <a:rPr lang="en-US" dirty="0"/>
              <a:t>: </a:t>
            </a:r>
          </a:p>
          <a:p>
            <a:pPr lvl="1"/>
            <a:r>
              <a:rPr lang="en-US" dirty="0" err="1"/>
              <a:t>ogni</a:t>
            </a:r>
            <a:r>
              <a:rPr lang="en-US" dirty="0"/>
              <a:t> </a:t>
            </a:r>
            <a:r>
              <a:rPr lang="en-US" dirty="0" err="1"/>
              <a:t>associazione</a:t>
            </a:r>
            <a:r>
              <a:rPr lang="en-US" dirty="0"/>
              <a:t> </a:t>
            </a:r>
            <a:r>
              <a:rPr lang="en-US" dirty="0" err="1"/>
              <a:t>rappresentata</a:t>
            </a:r>
            <a:r>
              <a:rPr lang="en-US" dirty="0"/>
              <a:t> con un </a:t>
            </a:r>
            <a:r>
              <a:rPr lang="en-US" dirty="0" err="1"/>
              <a:t>freccia</a:t>
            </a:r>
            <a:r>
              <a:rPr lang="en-US" dirty="0"/>
              <a:t> </a:t>
            </a:r>
            <a:r>
              <a:rPr lang="en-US" dirty="0" err="1"/>
              <a:t>uscente</a:t>
            </a:r>
            <a:r>
              <a:rPr lang="en-US" dirty="0"/>
              <a:t> con </a:t>
            </a:r>
            <a:r>
              <a:rPr lang="en-US" dirty="0" err="1"/>
              <a:t>molteplicità</a:t>
            </a:r>
            <a:r>
              <a:rPr lang="en-US" dirty="0"/>
              <a:t> di </a:t>
            </a:r>
            <a:r>
              <a:rPr lang="en-US" dirty="0" err="1"/>
              <a:t>destinazione</a:t>
            </a:r>
            <a:r>
              <a:rPr lang="en-US" dirty="0"/>
              <a:t> 1 (</a:t>
            </a:r>
            <a:r>
              <a:rPr lang="en-US" i="1" dirty="0"/>
              <a:t>one</a:t>
            </a:r>
            <a:r>
              <a:rPr lang="en-US" dirty="0"/>
              <a:t>) </a:t>
            </a:r>
            <a:r>
              <a:rPr lang="en-US" dirty="0" err="1"/>
              <a:t>si</a:t>
            </a:r>
            <a:r>
              <a:rPr lang="en-US" dirty="0"/>
              <a:t> traduce in un </a:t>
            </a:r>
            <a:r>
              <a:rPr lang="en-US" dirty="0" err="1"/>
              <a:t>riferimento</a:t>
            </a:r>
            <a:r>
              <a:rPr lang="en-US" dirty="0"/>
              <a:t> ad un </a:t>
            </a:r>
            <a:r>
              <a:rPr lang="en-US" dirty="0" err="1"/>
              <a:t>oggetto</a:t>
            </a:r>
            <a:r>
              <a:rPr lang="en-US" dirty="0"/>
              <a:t> </a:t>
            </a:r>
            <a:r>
              <a:rPr lang="en-US" dirty="0" err="1"/>
              <a:t>della</a:t>
            </a:r>
            <a:r>
              <a:rPr lang="en-US" dirty="0"/>
              <a:t> </a:t>
            </a:r>
            <a:r>
              <a:rPr lang="en-US" dirty="0" err="1"/>
              <a:t>classe</a:t>
            </a:r>
            <a:r>
              <a:rPr lang="en-US" dirty="0"/>
              <a:t> </a:t>
            </a:r>
            <a:r>
              <a:rPr lang="en-US" dirty="0" err="1"/>
              <a:t>destinazione</a:t>
            </a:r>
            <a:endParaRPr lang="en-US" dirty="0"/>
          </a:p>
          <a:p>
            <a:pPr lvl="1"/>
            <a:r>
              <a:rPr lang="en-US" dirty="0" err="1"/>
              <a:t>ogni</a:t>
            </a:r>
            <a:r>
              <a:rPr lang="en-US" dirty="0"/>
              <a:t> </a:t>
            </a:r>
            <a:r>
              <a:rPr lang="en-US" dirty="0" err="1"/>
              <a:t>associazione</a:t>
            </a:r>
            <a:r>
              <a:rPr lang="en-US" dirty="0"/>
              <a:t> </a:t>
            </a:r>
            <a:r>
              <a:rPr lang="en-US" dirty="0" err="1"/>
              <a:t>rappresentata</a:t>
            </a:r>
            <a:r>
              <a:rPr lang="en-US" dirty="0"/>
              <a:t> con un </a:t>
            </a:r>
            <a:r>
              <a:rPr lang="en-US" dirty="0" err="1"/>
              <a:t>freccia</a:t>
            </a:r>
            <a:r>
              <a:rPr lang="en-US" dirty="0"/>
              <a:t> </a:t>
            </a:r>
            <a:r>
              <a:rPr lang="en-US" dirty="0" err="1"/>
              <a:t>uscente</a:t>
            </a:r>
            <a:r>
              <a:rPr lang="en-US" dirty="0"/>
              <a:t> con </a:t>
            </a:r>
            <a:r>
              <a:rPr lang="en-US" dirty="0" err="1"/>
              <a:t>molteplicità</a:t>
            </a:r>
            <a:r>
              <a:rPr lang="en-US" dirty="0"/>
              <a:t> di </a:t>
            </a:r>
            <a:r>
              <a:rPr lang="en-US" dirty="0" err="1"/>
              <a:t>destinazione</a:t>
            </a:r>
            <a:r>
              <a:rPr lang="en-US" dirty="0"/>
              <a:t> 1..* (</a:t>
            </a:r>
            <a:r>
              <a:rPr lang="en-US" i="1" dirty="0"/>
              <a:t>many</a:t>
            </a:r>
            <a:r>
              <a:rPr lang="en-US" dirty="0"/>
              <a:t>) </a:t>
            </a:r>
            <a:r>
              <a:rPr lang="en-US" dirty="0" err="1"/>
              <a:t>si</a:t>
            </a:r>
            <a:r>
              <a:rPr lang="en-US" dirty="0"/>
              <a:t> traduce in una </a:t>
            </a:r>
            <a:r>
              <a:rPr lang="en-US" dirty="0" err="1"/>
              <a:t>collezione</a:t>
            </a:r>
            <a:r>
              <a:rPr lang="en-US" dirty="0"/>
              <a:t> di </a:t>
            </a:r>
            <a:r>
              <a:rPr lang="en-US" dirty="0" err="1"/>
              <a:t>riferimenti</a:t>
            </a:r>
            <a:r>
              <a:rPr lang="en-US" dirty="0"/>
              <a:t> ad </a:t>
            </a:r>
            <a:r>
              <a:rPr lang="en-US" dirty="0" err="1"/>
              <a:t>oggetti</a:t>
            </a:r>
            <a:r>
              <a:rPr lang="en-US" dirty="0"/>
              <a:t> </a:t>
            </a:r>
            <a:r>
              <a:rPr lang="en-US" dirty="0" err="1"/>
              <a:t>della</a:t>
            </a:r>
            <a:r>
              <a:rPr lang="en-US" dirty="0"/>
              <a:t> </a:t>
            </a:r>
            <a:r>
              <a:rPr lang="en-US" dirty="0" err="1"/>
              <a:t>classe</a:t>
            </a:r>
            <a:r>
              <a:rPr lang="en-US" dirty="0"/>
              <a:t> </a:t>
            </a:r>
            <a:r>
              <a:rPr lang="en-US" dirty="0" err="1"/>
              <a:t>destinazione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26495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Associazioni</a:t>
            </a:r>
            <a:r>
              <a:rPr lang="en-US" dirty="0"/>
              <a:t> </a:t>
            </a:r>
            <a:r>
              <a:rPr lang="en-US" dirty="0" err="1"/>
              <a:t>nel</a:t>
            </a:r>
            <a:r>
              <a:rPr lang="en-US" dirty="0"/>
              <a:t> </a:t>
            </a:r>
            <a:r>
              <a:rPr lang="en-US" dirty="0" err="1"/>
              <a:t>mondo</a:t>
            </a:r>
            <a:r>
              <a:rPr lang="en-US" dirty="0"/>
              <a:t> OO: </a:t>
            </a:r>
            <a:br>
              <a:rPr lang="en-US" dirty="0"/>
            </a:br>
            <a:r>
              <a:rPr lang="en-US" dirty="0" err="1"/>
              <a:t>direzione</a:t>
            </a:r>
            <a:r>
              <a:rPr lang="en-US" dirty="0"/>
              <a:t> e </a:t>
            </a:r>
            <a:r>
              <a:rPr lang="en-US" dirty="0" err="1"/>
              <a:t>molteplicità</a:t>
            </a:r>
            <a:endParaRPr lang="en-US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907874" y="2012386"/>
            <a:ext cx="3167743" cy="33209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200" b="1" dirty="0"/>
              <a:t>class Professor </a:t>
            </a:r>
            <a:r>
              <a:rPr lang="en-US" sz="1200" dirty="0"/>
              <a:t>{</a:t>
            </a:r>
          </a:p>
          <a:p>
            <a:pPr marL="0" indent="0">
              <a:buNone/>
            </a:pPr>
            <a:r>
              <a:rPr lang="en-US" sz="1200" dirty="0"/>
              <a:t>	private Department department;</a:t>
            </a:r>
          </a:p>
          <a:p>
            <a:pPr marL="0" indent="0">
              <a:buNone/>
            </a:pPr>
            <a:r>
              <a:rPr lang="en-US" sz="1200" dirty="0"/>
              <a:t>	private List&lt;Course&gt; courses;</a:t>
            </a:r>
          </a:p>
          <a:p>
            <a:pPr marL="0" indent="0">
              <a:buNone/>
            </a:pPr>
            <a:r>
              <a:rPr lang="en-US" sz="1200" dirty="0"/>
              <a:t>	…</a:t>
            </a:r>
          </a:p>
          <a:p>
            <a:pPr marL="0" indent="0">
              <a:buNone/>
            </a:pPr>
            <a:r>
              <a:rPr lang="en-US" sz="1200" dirty="0"/>
              <a:t>}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/>
              <a:t>class Department </a:t>
            </a:r>
            <a:r>
              <a:rPr lang="en-US" sz="1200" dirty="0"/>
              <a:t>{</a:t>
            </a:r>
          </a:p>
          <a:p>
            <a:pPr marL="0" indent="0">
              <a:buNone/>
            </a:pPr>
            <a:r>
              <a:rPr lang="en-US" sz="1200" dirty="0"/>
              <a:t>	…</a:t>
            </a:r>
          </a:p>
          <a:p>
            <a:pPr marL="0" indent="0">
              <a:buNone/>
            </a:pPr>
            <a:r>
              <a:rPr lang="en-US" sz="1200" dirty="0"/>
              <a:t>}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/>
              <a:t>class Course </a:t>
            </a:r>
            <a:r>
              <a:rPr lang="en-US" sz="1200" dirty="0"/>
              <a:t>{</a:t>
            </a:r>
          </a:p>
          <a:p>
            <a:pPr marL="0" indent="0">
              <a:buNone/>
            </a:pPr>
            <a:r>
              <a:rPr lang="en-US" sz="1200" dirty="0"/>
              <a:t>	private List&lt;Professor&gt; professors;</a:t>
            </a:r>
          </a:p>
          <a:p>
            <a:pPr marL="0" indent="0">
              <a:buNone/>
            </a:pPr>
            <a:r>
              <a:rPr lang="en-US" sz="1200" dirty="0"/>
              <a:t>	…</a:t>
            </a:r>
          </a:p>
          <a:p>
            <a:pPr marL="0" indent="0">
              <a:buNone/>
            </a:pPr>
            <a:r>
              <a:rPr lang="en-US" sz="1200" dirty="0"/>
              <a:t>}</a:t>
            </a:r>
          </a:p>
          <a:p>
            <a:pPr marL="0" indent="0">
              <a:buNone/>
            </a:pPr>
            <a:endParaRPr lang="en-US" sz="1200" dirty="0"/>
          </a:p>
        </p:txBody>
      </p:sp>
      <p:graphicFrame>
        <p:nvGraphicFramePr>
          <p:cNvPr id="4" name="Segnaposto contenuto 5">
            <a:extLst>
              <a:ext uri="{FF2B5EF4-FFF2-40B4-BE49-F238E27FC236}">
                <a16:creationId xmlns:a16="http://schemas.microsoft.com/office/drawing/2014/main" id="{CE3622DB-1683-BF49-81E8-D187021A093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45128284"/>
              </p:ext>
            </p:extLst>
          </p:nvPr>
        </p:nvGraphicFramePr>
        <p:xfrm>
          <a:off x="1485900" y="1373799"/>
          <a:ext cx="1164968" cy="54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49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5151">
                <a:tc>
                  <a:txBody>
                    <a:bodyPr/>
                    <a:lstStyle/>
                    <a:p>
                      <a:pPr algn="ctr"/>
                      <a:r>
                        <a:rPr lang="it-IT" sz="1400" b="0" i="0" dirty="0">
                          <a:latin typeface="Calibri Light" panose="020F0302020204030204" pitchFamily="34" charset="0"/>
                        </a:rPr>
                        <a:t>Professor</a:t>
                      </a:r>
                      <a:endParaRPr lang="it-IT" sz="8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7229">
                <a:tc>
                  <a:txBody>
                    <a:bodyPr/>
                    <a:lstStyle/>
                    <a:p>
                      <a:endParaRPr lang="it-IT" sz="800" b="0" i="0" dirty="0">
                        <a:latin typeface="Calibri Light" panose="020F0302020204030204" pitchFamily="34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Segnaposto contenuto 5">
            <a:extLst>
              <a:ext uri="{FF2B5EF4-FFF2-40B4-BE49-F238E27FC236}">
                <a16:creationId xmlns:a16="http://schemas.microsoft.com/office/drawing/2014/main" id="{E39E6FEF-B137-FF46-AB39-51BC9E1E4CD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60265625"/>
              </p:ext>
            </p:extLst>
          </p:nvPr>
        </p:nvGraphicFramePr>
        <p:xfrm>
          <a:off x="3753803" y="1373799"/>
          <a:ext cx="1511789" cy="54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17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5151">
                <a:tc>
                  <a:txBody>
                    <a:bodyPr/>
                    <a:lstStyle/>
                    <a:p>
                      <a:pPr algn="ctr"/>
                      <a:r>
                        <a:rPr lang="it-IT" sz="1400" b="0" i="0" dirty="0">
                          <a:latin typeface="Calibri Light" panose="020F0302020204030204" pitchFamily="34" charset="0"/>
                        </a:rPr>
                        <a:t>Department</a:t>
                      </a:r>
                      <a:endParaRPr lang="it-IT" sz="8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7229">
                <a:tc>
                  <a:txBody>
                    <a:bodyPr/>
                    <a:lstStyle/>
                    <a:p>
                      <a:endParaRPr lang="it-IT" sz="800" b="0" i="0" dirty="0">
                        <a:latin typeface="Calibri Light" panose="020F0302020204030204" pitchFamily="34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D99AC04D-D522-8049-9939-4FFB7198E822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2650868" y="1644988"/>
            <a:ext cx="1102935" cy="0"/>
          </a:xfrm>
          <a:prstGeom prst="straightConnector1">
            <a:avLst/>
          </a:prstGeom>
          <a:ln w="12700" cmpd="sng">
            <a:solidFill>
              <a:schemeClr val="tx1"/>
            </a:solidFill>
            <a:prstDash val="solid"/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Segnaposto contenuto 5">
            <a:extLst>
              <a:ext uri="{FF2B5EF4-FFF2-40B4-BE49-F238E27FC236}">
                <a16:creationId xmlns:a16="http://schemas.microsoft.com/office/drawing/2014/main" id="{912831DA-25A2-EE44-872D-E7558D1D6A1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75390268"/>
              </p:ext>
            </p:extLst>
          </p:nvPr>
        </p:nvGraphicFramePr>
        <p:xfrm>
          <a:off x="1485900" y="2935899"/>
          <a:ext cx="1164968" cy="54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49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5151">
                <a:tc>
                  <a:txBody>
                    <a:bodyPr/>
                    <a:lstStyle/>
                    <a:p>
                      <a:pPr algn="ctr"/>
                      <a:r>
                        <a:rPr lang="it-IT" sz="1400" b="0" i="0" dirty="0">
                          <a:latin typeface="Calibri Light" panose="020F0302020204030204" pitchFamily="34" charset="0"/>
                        </a:rPr>
                        <a:t>Course</a:t>
                      </a:r>
                      <a:endParaRPr lang="it-IT" sz="8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7229">
                <a:tc>
                  <a:txBody>
                    <a:bodyPr/>
                    <a:lstStyle/>
                    <a:p>
                      <a:endParaRPr lang="it-IT" sz="800" b="0" i="0" dirty="0">
                        <a:latin typeface="Calibri Light" panose="020F0302020204030204" pitchFamily="34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2282D7CC-A829-9746-96A5-E35A98AC545B}"/>
              </a:ext>
            </a:extLst>
          </p:cNvPr>
          <p:cNvCxnSpPr>
            <a:stCxn id="4" idx="2"/>
            <a:endCxn id="7" idx="0"/>
          </p:cNvCxnSpPr>
          <p:nvPr/>
        </p:nvCxnSpPr>
        <p:spPr>
          <a:xfrm>
            <a:off x="2068384" y="1916179"/>
            <a:ext cx="0" cy="1019720"/>
          </a:xfrm>
          <a:prstGeom prst="straightConnector1">
            <a:avLst/>
          </a:prstGeom>
          <a:ln w="12700" cmpd="sng">
            <a:solidFill>
              <a:schemeClr val="tx1"/>
            </a:solidFill>
            <a:prstDash val="solid"/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2C656D0-CB34-B84D-86E6-8EDAD7D3E2C1}"/>
              </a:ext>
            </a:extLst>
          </p:cNvPr>
          <p:cNvSpPr txBox="1"/>
          <p:nvPr/>
        </p:nvSpPr>
        <p:spPr>
          <a:xfrm>
            <a:off x="2065192" y="2649308"/>
            <a:ext cx="44595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350" dirty="0">
                <a:latin typeface="Calibri Light" panose="020F0302020204030204" pitchFamily="34" charset="0"/>
              </a:rPr>
              <a:t>1..*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2352CBC1-B246-394E-A90B-AAEE971A1B01}"/>
              </a:ext>
            </a:extLst>
          </p:cNvPr>
          <p:cNvSpPr txBox="1"/>
          <p:nvPr/>
        </p:nvSpPr>
        <p:spPr>
          <a:xfrm>
            <a:off x="2065766" y="1934917"/>
            <a:ext cx="44595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350" dirty="0">
                <a:latin typeface="Calibri Light" panose="020F0302020204030204" pitchFamily="34" charset="0"/>
              </a:rPr>
              <a:t>1..*</a:t>
            </a:r>
          </a:p>
        </p:txBody>
      </p: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D760321E-B453-3048-9EF4-CFD063F90041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2511148" y="2571751"/>
            <a:ext cx="1644474" cy="227598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Arco 12">
            <a:extLst>
              <a:ext uri="{FF2B5EF4-FFF2-40B4-BE49-F238E27FC236}">
                <a16:creationId xmlns:a16="http://schemas.microsoft.com/office/drawing/2014/main" id="{3C06B9DC-47F5-794A-A5EB-AA46C05628AE}"/>
              </a:ext>
            </a:extLst>
          </p:cNvPr>
          <p:cNvSpPr/>
          <p:nvPr/>
        </p:nvSpPr>
        <p:spPr>
          <a:xfrm rot="11454323">
            <a:off x="3498845" y="1618432"/>
            <a:ext cx="934817" cy="780278"/>
          </a:xfrm>
          <a:prstGeom prst="arc">
            <a:avLst>
              <a:gd name="adj1" fmla="val 15071955"/>
              <a:gd name="adj2" fmla="val 2035278"/>
            </a:avLst>
          </a:prstGeom>
          <a:ln>
            <a:prstDash val="sysDash"/>
            <a:head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Calibri Light" panose="020F0302020204030204" pitchFamily="34" charset="0"/>
            </a:endParaRPr>
          </a:p>
        </p:txBody>
      </p:sp>
      <p:sp>
        <p:nvSpPr>
          <p:cNvPr id="15" name="Figura a mano libera 14">
            <a:extLst>
              <a:ext uri="{FF2B5EF4-FFF2-40B4-BE49-F238E27FC236}">
                <a16:creationId xmlns:a16="http://schemas.microsoft.com/office/drawing/2014/main" id="{24A21C12-7584-6941-996C-561C9D0CD212}"/>
              </a:ext>
            </a:extLst>
          </p:cNvPr>
          <p:cNvSpPr/>
          <p:nvPr/>
        </p:nvSpPr>
        <p:spPr>
          <a:xfrm>
            <a:off x="2388712" y="1989916"/>
            <a:ext cx="1856717" cy="2604390"/>
          </a:xfrm>
          <a:custGeom>
            <a:avLst/>
            <a:gdLst>
              <a:gd name="connsiteX0" fmla="*/ 0 w 2519739"/>
              <a:gd name="connsiteY0" fmla="*/ 100794 h 2449191"/>
              <a:gd name="connsiteX1" fmla="*/ 674915 w 2519739"/>
              <a:gd name="connsiteY1" fmla="*/ 122565 h 2449191"/>
              <a:gd name="connsiteX2" fmla="*/ 936172 w 2519739"/>
              <a:gd name="connsiteY2" fmla="*/ 1319994 h 2449191"/>
              <a:gd name="connsiteX3" fmla="*/ 1164772 w 2519739"/>
              <a:gd name="connsiteY3" fmla="*/ 2234394 h 2449191"/>
              <a:gd name="connsiteX4" fmla="*/ 2362200 w 2519739"/>
              <a:gd name="connsiteY4" fmla="*/ 2430337 h 2449191"/>
              <a:gd name="connsiteX5" fmla="*/ 2471058 w 2519739"/>
              <a:gd name="connsiteY5" fmla="*/ 2430337 h 2449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19739" h="2449191">
                <a:moveTo>
                  <a:pt x="0" y="100794"/>
                </a:moveTo>
                <a:cubicBezTo>
                  <a:pt x="259443" y="10079"/>
                  <a:pt x="518886" y="-80635"/>
                  <a:pt x="674915" y="122565"/>
                </a:cubicBezTo>
                <a:cubicBezTo>
                  <a:pt x="830944" y="325765"/>
                  <a:pt x="854529" y="968023"/>
                  <a:pt x="936172" y="1319994"/>
                </a:cubicBezTo>
                <a:cubicBezTo>
                  <a:pt x="1017815" y="1671965"/>
                  <a:pt x="927101" y="2049337"/>
                  <a:pt x="1164772" y="2234394"/>
                </a:cubicBezTo>
                <a:cubicBezTo>
                  <a:pt x="1402443" y="2419451"/>
                  <a:pt x="2144486" y="2397680"/>
                  <a:pt x="2362200" y="2430337"/>
                </a:cubicBezTo>
                <a:cubicBezTo>
                  <a:pt x="2579914" y="2462994"/>
                  <a:pt x="2525486" y="2446665"/>
                  <a:pt x="2471058" y="2430337"/>
                </a:cubicBezTo>
              </a:path>
            </a:pathLst>
          </a:custGeom>
          <a:noFill/>
          <a:ln w="22225">
            <a:prstDash val="sysDash"/>
            <a:headEnd type="none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Calibri Light" panose="020F0302020204030204" pitchFamily="34" charset="0"/>
            </a:endParaRP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5892D0EB-0644-B641-B3BB-C837A13848BA}"/>
              </a:ext>
            </a:extLst>
          </p:cNvPr>
          <p:cNvSpPr/>
          <p:nvPr/>
        </p:nvSpPr>
        <p:spPr>
          <a:xfrm>
            <a:off x="3753803" y="1989916"/>
            <a:ext cx="2965405" cy="1153334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Calibri Light" panose="020F0302020204030204" pitchFamily="34" charset="0"/>
            </a:endParaRP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18C288AB-E962-594C-BC9C-B12453CF25E4}"/>
              </a:ext>
            </a:extLst>
          </p:cNvPr>
          <p:cNvSpPr/>
          <p:nvPr/>
        </p:nvSpPr>
        <p:spPr>
          <a:xfrm>
            <a:off x="3753802" y="3292111"/>
            <a:ext cx="2965405" cy="800297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Calibri Light" panose="020F0302020204030204" pitchFamily="34" charset="0"/>
            </a:endParaRPr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C6BD7D81-90A3-2F4C-8C73-B3990881C57D}"/>
              </a:ext>
            </a:extLst>
          </p:cNvPr>
          <p:cNvSpPr/>
          <p:nvPr/>
        </p:nvSpPr>
        <p:spPr>
          <a:xfrm>
            <a:off x="3753801" y="4194157"/>
            <a:ext cx="2965405" cy="917221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Calibri Light" panose="020F0302020204030204" pitchFamily="34" charset="0"/>
            </a:endParaRP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FEB4358E-EDAF-6949-BB26-CC3C6C84F186}"/>
              </a:ext>
            </a:extLst>
          </p:cNvPr>
          <p:cNvSpPr txBox="1"/>
          <p:nvPr/>
        </p:nvSpPr>
        <p:spPr>
          <a:xfrm>
            <a:off x="2634271" y="1421999"/>
            <a:ext cx="44595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350" dirty="0">
                <a:latin typeface="Calibri Light" panose="020F0302020204030204" pitchFamily="34" charset="0"/>
              </a:rPr>
              <a:t>1..*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9C70B1BB-2CEE-1F4C-A612-DA8A1C1798FA}"/>
              </a:ext>
            </a:extLst>
          </p:cNvPr>
          <p:cNvSpPr txBox="1"/>
          <p:nvPr/>
        </p:nvSpPr>
        <p:spPr>
          <a:xfrm>
            <a:off x="3393701" y="1398856"/>
            <a:ext cx="27283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350" dirty="0">
                <a:latin typeface="Calibri Light" panose="020F030202020403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28341980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91D808-89C6-4442-A322-C0B5B9C1F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Associazioni</a:t>
            </a:r>
            <a:r>
              <a:rPr lang="en-US" dirty="0"/>
              <a:t> </a:t>
            </a:r>
            <a:r>
              <a:rPr lang="en-US" dirty="0" err="1"/>
              <a:t>nel</a:t>
            </a:r>
            <a:r>
              <a:rPr lang="en-US" dirty="0"/>
              <a:t> </a:t>
            </a:r>
            <a:r>
              <a:rPr lang="en-US" dirty="0" err="1"/>
              <a:t>mondo</a:t>
            </a:r>
            <a:r>
              <a:rPr lang="en-US" dirty="0"/>
              <a:t> OO: </a:t>
            </a:r>
            <a:br>
              <a:rPr lang="en-US" dirty="0"/>
            </a:br>
            <a:r>
              <a:rPr lang="en-US" dirty="0" err="1"/>
              <a:t>direzione</a:t>
            </a:r>
            <a:r>
              <a:rPr lang="en-US" dirty="0"/>
              <a:t> e </a:t>
            </a:r>
            <a:r>
              <a:rPr lang="en-US" dirty="0" err="1"/>
              <a:t>molteplicità</a:t>
            </a:r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DD9B31A-A014-1D48-A710-BDB466DE84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Possiamo</a:t>
            </a:r>
            <a:r>
              <a:rPr lang="en-US" dirty="0"/>
              <a:t> </a:t>
            </a:r>
            <a:r>
              <a:rPr lang="en-US" dirty="0" err="1"/>
              <a:t>avere</a:t>
            </a:r>
            <a:r>
              <a:rPr lang="en-US" dirty="0"/>
              <a:t> </a:t>
            </a:r>
            <a:r>
              <a:rPr lang="en-US" dirty="0" err="1"/>
              <a:t>associazioni</a:t>
            </a:r>
            <a:endParaRPr lang="en-US" dirty="0"/>
          </a:p>
          <a:p>
            <a:pPr lvl="1"/>
            <a:r>
              <a:rPr lang="en-US" dirty="0"/>
              <a:t>one-to-many</a:t>
            </a:r>
          </a:p>
          <a:p>
            <a:pPr lvl="1"/>
            <a:r>
              <a:rPr lang="en-US" dirty="0"/>
              <a:t>one-to-one</a:t>
            </a:r>
          </a:p>
          <a:p>
            <a:pPr lvl="1"/>
            <a:r>
              <a:rPr lang="en-US" dirty="0"/>
              <a:t>many-to-one</a:t>
            </a:r>
          </a:p>
          <a:p>
            <a:pPr lvl="1"/>
            <a:r>
              <a:rPr lang="en-US" dirty="0"/>
              <a:t>many-to-many</a:t>
            </a:r>
          </a:p>
          <a:p>
            <a:r>
              <a:rPr lang="en-US" dirty="0"/>
              <a:t>E </a:t>
            </a:r>
            <a:r>
              <a:rPr lang="en-US" dirty="0" err="1"/>
              <a:t>queste</a:t>
            </a:r>
            <a:r>
              <a:rPr lang="en-US" dirty="0"/>
              <a:t> </a:t>
            </a:r>
            <a:r>
              <a:rPr lang="en-US" dirty="0" err="1"/>
              <a:t>possono</a:t>
            </a:r>
            <a:r>
              <a:rPr lang="en-US" dirty="0"/>
              <a:t> </a:t>
            </a:r>
            <a:r>
              <a:rPr lang="en-US" dirty="0" err="1"/>
              <a:t>essere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monodirezionali</a:t>
            </a:r>
            <a:r>
              <a:rPr lang="en-US" dirty="0"/>
              <a:t> (la </a:t>
            </a:r>
            <a:r>
              <a:rPr lang="en-US" dirty="0" err="1"/>
              <a:t>freccia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in </a:t>
            </a:r>
            <a:r>
              <a:rPr lang="en-US" dirty="0" err="1"/>
              <a:t>uno</a:t>
            </a:r>
            <a:r>
              <a:rPr lang="en-US" dirty="0"/>
              <a:t> </a:t>
            </a:r>
            <a:r>
              <a:rPr lang="en-US" dirty="0" err="1"/>
              <a:t>dei</a:t>
            </a:r>
            <a:r>
              <a:rPr lang="en-US" dirty="0"/>
              <a:t> due </a:t>
            </a:r>
            <a:r>
              <a:rPr lang="en-US" dirty="0" err="1"/>
              <a:t>estremi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bidirezionali</a:t>
            </a:r>
            <a:r>
              <a:rPr lang="en-US" dirty="0"/>
              <a:t> (la </a:t>
            </a:r>
            <a:r>
              <a:rPr lang="en-US" dirty="0" err="1"/>
              <a:t>freccia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in </a:t>
            </a:r>
            <a:r>
              <a:rPr lang="en-US" dirty="0" err="1"/>
              <a:t>entrambi</a:t>
            </a:r>
            <a:r>
              <a:rPr lang="en-US" dirty="0"/>
              <a:t> </a:t>
            </a:r>
            <a:r>
              <a:rPr lang="en-US" dirty="0" err="1"/>
              <a:t>gli</a:t>
            </a:r>
            <a:r>
              <a:rPr lang="en-US" dirty="0"/>
              <a:t> </a:t>
            </a:r>
            <a:r>
              <a:rPr lang="en-US" dirty="0" err="1"/>
              <a:t>estremi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7295169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Associazioni</a:t>
            </a:r>
            <a:r>
              <a:rPr lang="en-US"/>
              <a:t> </a:t>
            </a:r>
            <a:r>
              <a:rPr lang="en-US" err="1"/>
              <a:t>nel</a:t>
            </a:r>
            <a:r>
              <a:rPr lang="en-US"/>
              <a:t> </a:t>
            </a:r>
            <a:r>
              <a:rPr lang="en-US" err="1"/>
              <a:t>mondo</a:t>
            </a:r>
            <a:r>
              <a:rPr lang="en-US"/>
              <a:t> </a:t>
            </a:r>
            <a:r>
              <a:rPr lang="en-US" err="1"/>
              <a:t>relazionale</a:t>
            </a:r>
            <a:endParaRPr lang="en-US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Nel </a:t>
            </a:r>
            <a:r>
              <a:rPr lang="en-US" dirty="0" err="1"/>
              <a:t>mondo</a:t>
            </a:r>
            <a:r>
              <a:rPr lang="en-US" dirty="0"/>
              <a:t> </a:t>
            </a:r>
            <a:r>
              <a:rPr lang="en-US" dirty="0" err="1"/>
              <a:t>relazionale</a:t>
            </a:r>
            <a:r>
              <a:rPr lang="en-US" dirty="0"/>
              <a:t> le </a:t>
            </a:r>
            <a:r>
              <a:rPr lang="en-US" dirty="0" err="1"/>
              <a:t>associazioni</a:t>
            </a:r>
            <a:r>
              <a:rPr lang="en-US" dirty="0"/>
              <a:t> </a:t>
            </a:r>
            <a:r>
              <a:rPr lang="en-US" dirty="0" err="1"/>
              <a:t>sono</a:t>
            </a:r>
            <a:r>
              <a:rPr lang="en-US" dirty="0"/>
              <a:t> </a:t>
            </a:r>
            <a:r>
              <a:rPr lang="en-US" dirty="0" err="1"/>
              <a:t>espresse</a:t>
            </a:r>
            <a:r>
              <a:rPr lang="en-US" dirty="0"/>
              <a:t> </a:t>
            </a:r>
            <a:r>
              <a:rPr lang="en-US" dirty="0" err="1"/>
              <a:t>attraverso</a:t>
            </a:r>
            <a:r>
              <a:rPr lang="en-US" dirty="0"/>
              <a:t> </a:t>
            </a:r>
            <a:r>
              <a:rPr lang="en-US" dirty="0" err="1"/>
              <a:t>chiavi</a:t>
            </a:r>
            <a:r>
              <a:rPr lang="en-US" dirty="0"/>
              <a:t> </a:t>
            </a:r>
            <a:r>
              <a:rPr lang="en-US" dirty="0" err="1"/>
              <a:t>esterne</a:t>
            </a:r>
            <a:r>
              <a:rPr lang="en-US" dirty="0"/>
              <a:t> (</a:t>
            </a:r>
            <a:r>
              <a:rPr lang="en-US" dirty="0" err="1"/>
              <a:t>vincoli</a:t>
            </a:r>
            <a:r>
              <a:rPr lang="en-US" dirty="0"/>
              <a:t> di </a:t>
            </a:r>
            <a:r>
              <a:rPr lang="en-US" dirty="0" err="1"/>
              <a:t>integrità</a:t>
            </a:r>
            <a:r>
              <a:rPr lang="en-US" dirty="0"/>
              <a:t> </a:t>
            </a:r>
            <a:r>
              <a:rPr lang="en-US" dirty="0" err="1"/>
              <a:t>referenziale</a:t>
            </a:r>
            <a:r>
              <a:rPr lang="en-US" dirty="0"/>
              <a:t>)</a:t>
            </a:r>
          </a:p>
          <a:p>
            <a:r>
              <a:rPr lang="en-US" dirty="0"/>
              <a:t>Non </a:t>
            </a:r>
            <a:r>
              <a:rPr lang="en-US" dirty="0" err="1"/>
              <a:t>hanno</a:t>
            </a:r>
            <a:r>
              <a:rPr lang="en-US" dirty="0"/>
              <a:t> una </a:t>
            </a:r>
            <a:r>
              <a:rPr lang="en-US" dirty="0" err="1"/>
              <a:t>direzione</a:t>
            </a:r>
            <a:endParaRPr lang="en-US" dirty="0"/>
          </a:p>
          <a:p>
            <a:r>
              <a:rPr lang="en-US" dirty="0"/>
              <a:t>Hanno una </a:t>
            </a:r>
            <a:r>
              <a:rPr lang="en-US" dirty="0" err="1"/>
              <a:t>cardinalità</a:t>
            </a:r>
            <a:endParaRPr lang="en-US" dirty="0"/>
          </a:p>
          <a:p>
            <a:pPr lvl="1"/>
            <a:r>
              <a:rPr lang="en-US" dirty="0"/>
              <a:t>le </a:t>
            </a:r>
            <a:r>
              <a:rPr lang="en-US" dirty="0" err="1"/>
              <a:t>associazioni</a:t>
            </a:r>
            <a:r>
              <a:rPr lang="en-US" dirty="0"/>
              <a:t> </a:t>
            </a:r>
            <a:r>
              <a:rPr lang="en-US" i="1" dirty="0"/>
              <a:t>many-to-many </a:t>
            </a:r>
            <a:r>
              <a:rPr lang="en-US" dirty="0" err="1"/>
              <a:t>sono</a:t>
            </a:r>
            <a:r>
              <a:rPr lang="en-US" dirty="0"/>
              <a:t> </a:t>
            </a:r>
            <a:r>
              <a:rPr lang="en-US" dirty="0" err="1"/>
              <a:t>espresse</a:t>
            </a:r>
            <a:r>
              <a:rPr lang="en-US" dirty="0"/>
              <a:t> da </a:t>
            </a:r>
            <a:br>
              <a:rPr lang="en-US" dirty="0"/>
            </a:br>
            <a:r>
              <a:rPr lang="en-US" dirty="0"/>
              <a:t>una "join-table", con </a:t>
            </a:r>
            <a:r>
              <a:rPr lang="en-US" dirty="0" err="1"/>
              <a:t>chiavi</a:t>
            </a:r>
            <a:r>
              <a:rPr lang="en-US" dirty="0"/>
              <a:t> </a:t>
            </a:r>
            <a:r>
              <a:rPr lang="en-US" dirty="0" err="1"/>
              <a:t>esterne</a:t>
            </a:r>
            <a:r>
              <a:rPr lang="en-US" dirty="0"/>
              <a:t> verso le </a:t>
            </a:r>
            <a:r>
              <a:rPr lang="en-US" dirty="0" err="1"/>
              <a:t>tabelle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rappresentano</a:t>
            </a:r>
            <a:r>
              <a:rPr lang="en-US" dirty="0"/>
              <a:t> le </a:t>
            </a:r>
            <a:r>
              <a:rPr lang="en-US" dirty="0" err="1"/>
              <a:t>classi</a:t>
            </a:r>
            <a:r>
              <a:rPr lang="en-US" dirty="0"/>
              <a:t> (</a:t>
            </a:r>
            <a:r>
              <a:rPr lang="en-US" dirty="0" err="1"/>
              <a:t>entità</a:t>
            </a:r>
            <a:r>
              <a:rPr lang="en-US" dirty="0"/>
              <a:t>)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partecipano</a:t>
            </a:r>
            <a:r>
              <a:rPr lang="en-US" dirty="0"/>
              <a:t> </a:t>
            </a:r>
            <a:r>
              <a:rPr lang="en-US" dirty="0" err="1"/>
              <a:t>alla</a:t>
            </a:r>
            <a:r>
              <a:rPr lang="en-US" dirty="0"/>
              <a:t> </a:t>
            </a:r>
            <a:r>
              <a:rPr lang="en-US" dirty="0" err="1"/>
              <a:t>associazione</a:t>
            </a:r>
            <a:endParaRPr lang="en-US" dirty="0"/>
          </a:p>
          <a:p>
            <a:pPr lvl="1"/>
            <a:r>
              <a:rPr lang="en-US" dirty="0"/>
              <a:t>Le </a:t>
            </a:r>
            <a:r>
              <a:rPr lang="en-US" dirty="0" err="1"/>
              <a:t>associazioni</a:t>
            </a:r>
            <a:r>
              <a:rPr lang="en-US" dirty="0"/>
              <a:t> </a:t>
            </a:r>
            <a:r>
              <a:rPr lang="en-US" i="1" dirty="0"/>
              <a:t>many-to-one </a:t>
            </a:r>
            <a:r>
              <a:rPr lang="en-US" dirty="0"/>
              <a:t>(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inutile </a:t>
            </a:r>
            <a:r>
              <a:rPr lang="en-US" dirty="0" err="1"/>
              <a:t>distinguere</a:t>
            </a:r>
            <a:r>
              <a:rPr lang="en-US" dirty="0"/>
              <a:t> </a:t>
            </a:r>
            <a:r>
              <a:rPr lang="en-US" dirty="0" err="1"/>
              <a:t>dalle</a:t>
            </a:r>
            <a:r>
              <a:rPr lang="en-US" dirty="0"/>
              <a:t> </a:t>
            </a:r>
            <a:r>
              <a:rPr lang="en-US" dirty="0" err="1"/>
              <a:t>associazioni</a:t>
            </a:r>
            <a:r>
              <a:rPr lang="en-US" dirty="0"/>
              <a:t> one-to-many, non </a:t>
            </a:r>
            <a:r>
              <a:rPr lang="en-US" dirty="0" err="1"/>
              <a:t>essendoci</a:t>
            </a:r>
            <a:r>
              <a:rPr lang="en-US" dirty="0"/>
              <a:t> </a:t>
            </a:r>
            <a:r>
              <a:rPr lang="en-US" dirty="0" err="1"/>
              <a:t>direzione</a:t>
            </a:r>
            <a:r>
              <a:rPr lang="en-US" dirty="0"/>
              <a:t>) </a:t>
            </a:r>
            <a:r>
              <a:rPr lang="en-US" dirty="0" err="1"/>
              <a:t>sono</a:t>
            </a:r>
            <a:r>
              <a:rPr lang="en-US" dirty="0"/>
              <a:t> </a:t>
            </a:r>
            <a:r>
              <a:rPr lang="en-US" dirty="0" err="1"/>
              <a:t>espresse</a:t>
            </a:r>
            <a:r>
              <a:rPr lang="en-US" dirty="0"/>
              <a:t> da una join table </a:t>
            </a:r>
            <a:r>
              <a:rPr lang="en-US" dirty="0" err="1"/>
              <a:t>oppure</a:t>
            </a:r>
            <a:r>
              <a:rPr lang="en-US" dirty="0"/>
              <a:t> da una </a:t>
            </a:r>
            <a:r>
              <a:rPr lang="en-US" dirty="0" err="1"/>
              <a:t>chiave</a:t>
            </a:r>
            <a:r>
              <a:rPr lang="en-US" dirty="0"/>
              <a:t> </a:t>
            </a:r>
            <a:r>
              <a:rPr lang="en-US" dirty="0" err="1"/>
              <a:t>esterna</a:t>
            </a:r>
            <a:r>
              <a:rPr lang="en-US" dirty="0"/>
              <a:t> </a:t>
            </a:r>
            <a:r>
              <a:rPr lang="en-US" dirty="0" err="1"/>
              <a:t>nella</a:t>
            </a:r>
            <a:r>
              <a:rPr lang="en-US" dirty="0"/>
              <a:t> </a:t>
            </a:r>
            <a:r>
              <a:rPr lang="en-US" dirty="0" err="1"/>
              <a:t>tabella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rappresenta</a:t>
            </a:r>
            <a:r>
              <a:rPr lang="en-US" dirty="0"/>
              <a:t> la </a:t>
            </a:r>
            <a:r>
              <a:rPr lang="en-US" dirty="0" err="1"/>
              <a:t>classe</a:t>
            </a:r>
            <a:r>
              <a:rPr lang="en-US" dirty="0"/>
              <a:t> (</a:t>
            </a:r>
            <a:r>
              <a:rPr lang="en-US" dirty="0" err="1"/>
              <a:t>entità</a:t>
            </a:r>
            <a:r>
              <a:rPr lang="en-US" dirty="0"/>
              <a:t>) </a:t>
            </a:r>
            <a:r>
              <a:rPr lang="en-US" dirty="0" err="1"/>
              <a:t>dalla</a:t>
            </a:r>
            <a:r>
              <a:rPr lang="en-US" dirty="0"/>
              <a:t> </a:t>
            </a:r>
            <a:r>
              <a:rPr lang="en-US" dirty="0" err="1"/>
              <a:t>parte</a:t>
            </a:r>
            <a:r>
              <a:rPr lang="en-US" dirty="0"/>
              <a:t> </a:t>
            </a:r>
            <a:r>
              <a:rPr lang="en-US" i="1" dirty="0"/>
              <a:t>many </a:t>
            </a:r>
            <a:r>
              <a:rPr lang="en-US" dirty="0" err="1"/>
              <a:t>della</a:t>
            </a:r>
            <a:r>
              <a:rPr lang="en-US" dirty="0"/>
              <a:t> </a:t>
            </a:r>
            <a:r>
              <a:rPr lang="en-US" dirty="0" err="1"/>
              <a:t>associazione</a:t>
            </a:r>
            <a:endParaRPr lang="en-US" dirty="0"/>
          </a:p>
          <a:p>
            <a:pPr lvl="1"/>
            <a:r>
              <a:rPr lang="en-US" dirty="0"/>
              <a:t>Le </a:t>
            </a:r>
            <a:r>
              <a:rPr lang="en-US" dirty="0" err="1"/>
              <a:t>associazioni</a:t>
            </a:r>
            <a:r>
              <a:rPr lang="en-US" dirty="0"/>
              <a:t> </a:t>
            </a:r>
            <a:r>
              <a:rPr lang="en-US" i="1" dirty="0"/>
              <a:t>one-to-one</a:t>
            </a:r>
            <a:r>
              <a:rPr lang="en-US" dirty="0"/>
              <a:t> </a:t>
            </a:r>
            <a:r>
              <a:rPr lang="en-US" dirty="0" err="1"/>
              <a:t>sono</a:t>
            </a:r>
            <a:r>
              <a:rPr lang="en-US" dirty="0"/>
              <a:t> </a:t>
            </a:r>
            <a:r>
              <a:rPr lang="en-US" dirty="0" err="1"/>
              <a:t>espresse</a:t>
            </a:r>
            <a:r>
              <a:rPr lang="en-US" dirty="0"/>
              <a:t> da una </a:t>
            </a:r>
            <a:r>
              <a:rPr lang="en-US" dirty="0" err="1"/>
              <a:t>chiave</a:t>
            </a:r>
            <a:r>
              <a:rPr lang="en-US" dirty="0"/>
              <a:t> </a:t>
            </a:r>
            <a:r>
              <a:rPr lang="en-US" dirty="0" err="1"/>
              <a:t>esterna</a:t>
            </a:r>
            <a:r>
              <a:rPr lang="en-US" dirty="0"/>
              <a:t> in una </a:t>
            </a:r>
            <a:r>
              <a:rPr lang="en-US" dirty="0" err="1"/>
              <a:t>delle</a:t>
            </a:r>
            <a:r>
              <a:rPr lang="en-US" dirty="0"/>
              <a:t> due </a:t>
            </a:r>
            <a:r>
              <a:rPr lang="en-US" dirty="0" err="1"/>
              <a:t>tabelle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rappresentano</a:t>
            </a:r>
            <a:r>
              <a:rPr lang="en-US" dirty="0"/>
              <a:t> le </a:t>
            </a:r>
            <a:r>
              <a:rPr lang="en-US" dirty="0" err="1"/>
              <a:t>classi</a:t>
            </a:r>
            <a:r>
              <a:rPr lang="en-US" dirty="0"/>
              <a:t> (</a:t>
            </a:r>
            <a:r>
              <a:rPr lang="en-US" dirty="0" err="1"/>
              <a:t>entità</a:t>
            </a:r>
            <a:r>
              <a:rPr lang="en-US" dirty="0"/>
              <a:t>)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partecipano</a:t>
            </a:r>
            <a:r>
              <a:rPr lang="en-US" dirty="0"/>
              <a:t> </a:t>
            </a:r>
            <a:r>
              <a:rPr lang="en-US" dirty="0" err="1"/>
              <a:t>alla</a:t>
            </a:r>
            <a:r>
              <a:rPr lang="en-US" dirty="0"/>
              <a:t> </a:t>
            </a:r>
            <a:r>
              <a:rPr lang="en-US" dirty="0" err="1"/>
              <a:t>associazione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63271085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Associazioni</a:t>
            </a:r>
            <a:r>
              <a:rPr lang="en-US"/>
              <a:t> </a:t>
            </a:r>
            <a:r>
              <a:rPr lang="en-US" err="1"/>
              <a:t>nel</a:t>
            </a:r>
            <a:r>
              <a:rPr lang="en-US"/>
              <a:t> </a:t>
            </a:r>
            <a:r>
              <a:rPr lang="en-US" err="1"/>
              <a:t>mondo</a:t>
            </a:r>
            <a:r>
              <a:rPr lang="en-US"/>
              <a:t> </a:t>
            </a:r>
            <a:r>
              <a:rPr lang="en-US" err="1"/>
              <a:t>relazionale</a:t>
            </a:r>
            <a:endParaRPr lang="it-IT"/>
          </a:p>
        </p:txBody>
      </p:sp>
      <p:graphicFrame>
        <p:nvGraphicFramePr>
          <p:cNvPr id="4" name="Segnaposto contenuto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85696254"/>
              </p:ext>
            </p:extLst>
          </p:nvPr>
        </p:nvGraphicFramePr>
        <p:xfrm>
          <a:off x="1485901" y="1063229"/>
          <a:ext cx="2732514" cy="110352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57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48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98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5740">
                <a:tc gridSpan="3">
                  <a:txBody>
                    <a:bodyPr/>
                    <a:lstStyle/>
                    <a:p>
                      <a:pPr algn="ctr"/>
                      <a:r>
                        <a:rPr lang="it-IT" sz="900" b="0" i="0" dirty="0">
                          <a:latin typeface="Calibri Light" panose="020F0302020204030204" pitchFamily="34" charset="0"/>
                        </a:rPr>
                        <a:t>professor</a:t>
                      </a:r>
                    </a:p>
                  </a:txBody>
                  <a:tcPr marL="68580" marR="68580" marT="34290" marB="34290"/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it-IT" sz="900" b="0" i="0" dirty="0">
                          <a:latin typeface="Calibri Light" panose="020F0302020204030204" pitchFamily="34" charset="0"/>
                        </a:rPr>
                        <a:t>id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bigint</a:t>
                      </a:r>
                      <a:endParaRPr lang="it-IT" sz="9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nullable</a:t>
                      </a:r>
                      <a:r>
                        <a:rPr lang="it-IT" sz="900" dirty="0"/>
                        <a:t>=false</a:t>
                      </a:r>
                    </a:p>
                    <a:p>
                      <a:r>
                        <a:rPr lang="it-IT" sz="900" dirty="0"/>
                        <a:t>PK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989">
                <a:tc>
                  <a:txBody>
                    <a:bodyPr/>
                    <a:lstStyle/>
                    <a:p>
                      <a:r>
                        <a:rPr lang="it-IT" sz="900" b="0" i="0" dirty="0">
                          <a:latin typeface="Calibri Light" panose="020F0302020204030204" pitchFamily="34" charset="0"/>
                        </a:rPr>
                        <a:t>name</a:t>
                      </a:r>
                      <a:endParaRPr lang="it-IT" sz="9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varchar</a:t>
                      </a:r>
                      <a:r>
                        <a:rPr lang="it-IT" sz="900" dirty="0"/>
                        <a:t>(255)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nullable</a:t>
                      </a:r>
                      <a:r>
                        <a:rPr lang="it-IT" sz="900" dirty="0"/>
                        <a:t>=false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department_id</a:t>
                      </a:r>
                      <a:endParaRPr lang="it-IT" sz="9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bigint</a:t>
                      </a:r>
                      <a:endParaRPr lang="it-IT" sz="9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nullable</a:t>
                      </a:r>
                      <a:r>
                        <a:rPr lang="it-IT" sz="900" dirty="0"/>
                        <a:t>=false</a:t>
                      </a: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00" dirty="0"/>
                        <a:t>FK </a:t>
                      </a:r>
                      <a:r>
                        <a:rPr lang="it-IT" sz="900" dirty="0" err="1"/>
                        <a:t>department.id</a:t>
                      </a:r>
                      <a:endParaRPr lang="it-IT" sz="9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Segnaposto contenuto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73298892"/>
              </p:ext>
            </p:extLst>
          </p:nvPr>
        </p:nvGraphicFramePr>
        <p:xfrm>
          <a:off x="4732992" y="1063229"/>
          <a:ext cx="2619375" cy="76062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181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36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76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5740">
                <a:tc gridSpan="3">
                  <a:txBody>
                    <a:bodyPr/>
                    <a:lstStyle/>
                    <a:p>
                      <a:pPr algn="ctr"/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department</a:t>
                      </a:r>
                      <a:endParaRPr lang="it-IT" sz="900" dirty="0"/>
                    </a:p>
                  </a:txBody>
                  <a:tcPr marL="68580" marR="68580" marT="34290" marB="34290"/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it-IT" sz="900" b="0" i="0" dirty="0">
                          <a:latin typeface="Calibri Light" panose="020F0302020204030204" pitchFamily="34" charset="0"/>
                        </a:rPr>
                        <a:t>id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bigint</a:t>
                      </a:r>
                      <a:endParaRPr lang="it-IT" sz="9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nullable</a:t>
                      </a:r>
                      <a:r>
                        <a:rPr lang="it-IT" sz="900" dirty="0"/>
                        <a:t>=false</a:t>
                      </a:r>
                    </a:p>
                    <a:p>
                      <a:r>
                        <a:rPr lang="it-IT" sz="900" dirty="0"/>
                        <a:t>PK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989">
                <a:tc>
                  <a:txBody>
                    <a:bodyPr/>
                    <a:lstStyle/>
                    <a:p>
                      <a:r>
                        <a:rPr lang="it-IT" sz="900" b="0" i="0" dirty="0">
                          <a:latin typeface="Calibri Light" panose="020F0302020204030204" pitchFamily="34" charset="0"/>
                        </a:rPr>
                        <a:t>name</a:t>
                      </a:r>
                      <a:endParaRPr lang="it-IT" sz="9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varchar</a:t>
                      </a:r>
                      <a:r>
                        <a:rPr lang="it-IT" sz="900" dirty="0"/>
                        <a:t>(255)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nullable</a:t>
                      </a:r>
                      <a:r>
                        <a:rPr lang="it-IT" sz="900" dirty="0"/>
                        <a:t>=false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Segnaposto contenuto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5613733"/>
              </p:ext>
            </p:extLst>
          </p:nvPr>
        </p:nvGraphicFramePr>
        <p:xfrm>
          <a:off x="1485901" y="3533993"/>
          <a:ext cx="2619375" cy="8915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181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36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76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5740">
                <a:tc gridSpan="3">
                  <a:txBody>
                    <a:bodyPr/>
                    <a:lstStyle/>
                    <a:p>
                      <a:pPr algn="ctr"/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teaching</a:t>
                      </a:r>
                      <a:endParaRPr lang="it-IT" sz="900" dirty="0"/>
                    </a:p>
                  </a:txBody>
                  <a:tcPr marL="68580" marR="68580" marT="34290" marB="34290"/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professor_id</a:t>
                      </a:r>
                      <a:endParaRPr lang="it-IT" sz="9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bigint</a:t>
                      </a:r>
                      <a:endParaRPr lang="it-IT" sz="9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nullable</a:t>
                      </a:r>
                      <a:r>
                        <a:rPr lang="it-IT" sz="900" dirty="0"/>
                        <a:t>=false</a:t>
                      </a:r>
                    </a:p>
                    <a:p>
                      <a:r>
                        <a:rPr lang="it-IT" sz="900" dirty="0"/>
                        <a:t>FK </a:t>
                      </a:r>
                      <a:r>
                        <a:rPr lang="it-IT" sz="900" dirty="0" err="1"/>
                        <a:t>professor.id</a:t>
                      </a:r>
                      <a:endParaRPr lang="it-IT" sz="9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course_id</a:t>
                      </a:r>
                      <a:endParaRPr lang="it-IT" sz="9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bigint</a:t>
                      </a:r>
                      <a:endParaRPr lang="it-IT" sz="9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nullable</a:t>
                      </a:r>
                      <a:r>
                        <a:rPr lang="it-IT" sz="900" dirty="0"/>
                        <a:t>=false</a:t>
                      </a: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00" dirty="0"/>
                        <a:t>FK </a:t>
                      </a:r>
                      <a:r>
                        <a:rPr lang="it-IT" sz="900" dirty="0" err="1"/>
                        <a:t>course.id</a:t>
                      </a:r>
                      <a:endParaRPr lang="it-IT" sz="9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Segnaposto contenuto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00081006"/>
              </p:ext>
            </p:extLst>
          </p:nvPr>
        </p:nvGraphicFramePr>
        <p:xfrm>
          <a:off x="4822799" y="3538196"/>
          <a:ext cx="2619375" cy="76062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181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36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76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5740">
                <a:tc gridSpan="3">
                  <a:txBody>
                    <a:bodyPr/>
                    <a:lstStyle/>
                    <a:p>
                      <a:pPr algn="ctr"/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course</a:t>
                      </a:r>
                      <a:endParaRPr lang="it-IT" sz="900" dirty="0"/>
                    </a:p>
                  </a:txBody>
                  <a:tcPr marL="68580" marR="68580" marT="34290" marB="34290"/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it-IT" sz="900" b="0" i="0" dirty="0">
                          <a:latin typeface="Calibri Light" panose="020F0302020204030204" pitchFamily="34" charset="0"/>
                        </a:rPr>
                        <a:t>id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bigint</a:t>
                      </a:r>
                      <a:endParaRPr lang="it-IT" sz="9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nullable</a:t>
                      </a:r>
                      <a:r>
                        <a:rPr lang="it-IT" sz="900" dirty="0"/>
                        <a:t>=false</a:t>
                      </a:r>
                    </a:p>
                    <a:p>
                      <a:r>
                        <a:rPr lang="it-IT" sz="900" dirty="0"/>
                        <a:t>PK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989">
                <a:tc>
                  <a:txBody>
                    <a:bodyPr/>
                    <a:lstStyle/>
                    <a:p>
                      <a:r>
                        <a:rPr lang="it-IT" sz="900" b="0" i="0" dirty="0">
                          <a:latin typeface="Calibri Light" panose="020F0302020204030204" pitchFamily="34" charset="0"/>
                        </a:rPr>
                        <a:t>name</a:t>
                      </a:r>
                      <a:endParaRPr lang="it-IT" sz="9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varchar</a:t>
                      </a:r>
                      <a:r>
                        <a:rPr lang="it-IT" sz="900" dirty="0"/>
                        <a:t>(255)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nullable</a:t>
                      </a:r>
                      <a:r>
                        <a:rPr lang="it-IT" sz="900" dirty="0"/>
                        <a:t>=false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Callout 13 2">
            <a:extLst>
              <a:ext uri="{FF2B5EF4-FFF2-40B4-BE49-F238E27FC236}">
                <a16:creationId xmlns:a16="http://schemas.microsoft.com/office/drawing/2014/main" id="{E146FE38-D52B-D647-9A25-7085BD44554F}"/>
              </a:ext>
            </a:extLst>
          </p:cNvPr>
          <p:cNvSpPr/>
          <p:nvPr/>
        </p:nvSpPr>
        <p:spPr>
          <a:xfrm>
            <a:off x="4669972" y="2166757"/>
            <a:ext cx="1178180" cy="971306"/>
          </a:xfrm>
          <a:prstGeom prst="accentBorderCallout1">
            <a:avLst>
              <a:gd name="adj1" fmla="val 18750"/>
              <a:gd name="adj2" fmla="val -8333"/>
              <a:gd name="adj3" fmla="val -17440"/>
              <a:gd name="adj4" fmla="val -39719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  <a:latin typeface="Calibri Light" panose="020F0302020204030204" pitchFamily="34" charset="0"/>
              </a:rPr>
              <a:t>Questa Foreign Key </a:t>
            </a:r>
            <a:r>
              <a:rPr lang="en-US" sz="1050" dirty="0" err="1">
                <a:solidFill>
                  <a:schemeClr val="tx1"/>
                </a:solidFill>
                <a:latin typeface="Calibri Light" panose="020F0302020204030204" pitchFamily="34" charset="0"/>
              </a:rPr>
              <a:t>rappresenta</a:t>
            </a:r>
            <a:r>
              <a:rPr lang="en-US" sz="1050" dirty="0">
                <a:solidFill>
                  <a:schemeClr val="tx1"/>
                </a:solidFill>
                <a:latin typeface="Calibri Light" panose="020F0302020204030204" pitchFamily="34" charset="0"/>
              </a:rPr>
              <a:t> </a:t>
            </a:r>
            <a:r>
              <a:rPr lang="en-US" sz="1050" dirty="0" err="1">
                <a:solidFill>
                  <a:schemeClr val="tx1"/>
                </a:solidFill>
                <a:latin typeface="Calibri Light" panose="020F0302020204030204" pitchFamily="34" charset="0"/>
              </a:rPr>
              <a:t>l'associazione</a:t>
            </a:r>
            <a:r>
              <a:rPr lang="en-US" sz="1050" dirty="0">
                <a:solidFill>
                  <a:schemeClr val="tx1"/>
                </a:solidFill>
                <a:latin typeface="Calibri Light" panose="020F0302020204030204" pitchFamily="34" charset="0"/>
              </a:rPr>
              <a:t> </a:t>
            </a:r>
            <a:r>
              <a:rPr lang="en-US" sz="1050" dirty="0" err="1">
                <a:solidFill>
                  <a:schemeClr val="tx1"/>
                </a:solidFill>
                <a:latin typeface="Calibri Light" panose="020F0302020204030204" pitchFamily="34" charset="0"/>
              </a:rPr>
              <a:t>molti</a:t>
            </a:r>
            <a:r>
              <a:rPr lang="en-US" sz="1050" dirty="0">
                <a:solidFill>
                  <a:schemeClr val="tx1"/>
                </a:solidFill>
                <a:latin typeface="Calibri Light" panose="020F0302020204030204" pitchFamily="34" charset="0"/>
              </a:rPr>
              <a:t>-a-</a:t>
            </a:r>
            <a:r>
              <a:rPr lang="en-US" sz="1050" dirty="0" err="1">
                <a:solidFill>
                  <a:schemeClr val="tx1"/>
                </a:solidFill>
                <a:latin typeface="Calibri Light" panose="020F0302020204030204" pitchFamily="34" charset="0"/>
              </a:rPr>
              <a:t>uno</a:t>
            </a:r>
            <a:r>
              <a:rPr lang="en-US" sz="1050" dirty="0">
                <a:solidFill>
                  <a:schemeClr val="tx1"/>
                </a:solidFill>
                <a:latin typeface="Calibri Light" panose="020F0302020204030204" pitchFamily="34" charset="0"/>
              </a:rPr>
              <a:t> </a:t>
            </a:r>
            <a:r>
              <a:rPr lang="en-US" sz="1050" dirty="0" err="1">
                <a:solidFill>
                  <a:schemeClr val="tx1"/>
                </a:solidFill>
                <a:latin typeface="Calibri Light" panose="020F0302020204030204" pitchFamily="34" charset="0"/>
              </a:rPr>
              <a:t>tra</a:t>
            </a:r>
            <a:r>
              <a:rPr lang="en-US" sz="1050" dirty="0">
                <a:solidFill>
                  <a:schemeClr val="tx1"/>
                </a:solidFill>
                <a:latin typeface="Calibri Light" panose="020F0302020204030204" pitchFamily="34" charset="0"/>
              </a:rPr>
              <a:t> </a:t>
            </a:r>
            <a:r>
              <a:rPr lang="en-US" sz="1050" dirty="0" err="1">
                <a:solidFill>
                  <a:schemeClr val="tx1"/>
                </a:solidFill>
                <a:latin typeface="Calibri Light" panose="020F0302020204030204" pitchFamily="34" charset="0"/>
              </a:rPr>
              <a:t>professore</a:t>
            </a:r>
            <a:r>
              <a:rPr lang="en-US" sz="1050" dirty="0">
                <a:solidFill>
                  <a:schemeClr val="tx1"/>
                </a:solidFill>
                <a:latin typeface="Calibri Light" panose="020F0302020204030204" pitchFamily="34" charset="0"/>
              </a:rPr>
              <a:t> e </a:t>
            </a:r>
            <a:r>
              <a:rPr lang="en-US" sz="1050" dirty="0" err="1">
                <a:solidFill>
                  <a:schemeClr val="tx1"/>
                </a:solidFill>
                <a:latin typeface="Calibri Light" panose="020F0302020204030204" pitchFamily="34" charset="0"/>
              </a:rPr>
              <a:t>dipartimento</a:t>
            </a:r>
            <a:endParaRPr lang="en-US" sz="1050" dirty="0">
              <a:solidFill>
                <a:schemeClr val="tx1"/>
              </a:solidFill>
              <a:latin typeface="Calibri Light" panose="020F0302020204030204" pitchFamily="34" charset="0"/>
            </a:endParaRPr>
          </a:p>
        </p:txBody>
      </p:sp>
      <p:sp>
        <p:nvSpPr>
          <p:cNvPr id="8" name="Callout 13 7">
            <a:extLst>
              <a:ext uri="{FF2B5EF4-FFF2-40B4-BE49-F238E27FC236}">
                <a16:creationId xmlns:a16="http://schemas.microsoft.com/office/drawing/2014/main" id="{8828AE8C-9CFC-E74D-9CD3-6BFA79C5F4F1}"/>
              </a:ext>
            </a:extLst>
          </p:cNvPr>
          <p:cNvSpPr/>
          <p:nvPr/>
        </p:nvSpPr>
        <p:spPr>
          <a:xfrm>
            <a:off x="2852156" y="2349929"/>
            <a:ext cx="1178180" cy="1036863"/>
          </a:xfrm>
          <a:prstGeom prst="accentBorderCallout1">
            <a:avLst>
              <a:gd name="adj1" fmla="val 18750"/>
              <a:gd name="adj2" fmla="val -8333"/>
              <a:gd name="adj3" fmla="val 114383"/>
              <a:gd name="adj4" fmla="val -50807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  <a:latin typeface="Calibri Light" panose="020F0302020204030204" pitchFamily="34" charset="0"/>
              </a:rPr>
              <a:t>Questa </a:t>
            </a:r>
            <a:r>
              <a:rPr lang="en-US" sz="1050" dirty="0" err="1">
                <a:solidFill>
                  <a:schemeClr val="tx1"/>
                </a:solidFill>
                <a:latin typeface="Calibri Light" panose="020F0302020204030204" pitchFamily="34" charset="0"/>
              </a:rPr>
              <a:t>tabella</a:t>
            </a:r>
            <a:r>
              <a:rPr lang="en-US" sz="1050" dirty="0">
                <a:solidFill>
                  <a:schemeClr val="tx1"/>
                </a:solidFill>
                <a:latin typeface="Calibri Light" panose="020F0302020204030204" pitchFamily="34" charset="0"/>
              </a:rPr>
              <a:t> di join (con le FK) </a:t>
            </a:r>
            <a:r>
              <a:rPr lang="en-US" sz="1050" dirty="0" err="1">
                <a:solidFill>
                  <a:schemeClr val="tx1"/>
                </a:solidFill>
                <a:latin typeface="Calibri Light" panose="020F0302020204030204" pitchFamily="34" charset="0"/>
              </a:rPr>
              <a:t>rappresenta</a:t>
            </a:r>
            <a:r>
              <a:rPr lang="en-US" sz="1050" dirty="0">
                <a:solidFill>
                  <a:schemeClr val="tx1"/>
                </a:solidFill>
                <a:latin typeface="Calibri Light" panose="020F0302020204030204" pitchFamily="34" charset="0"/>
              </a:rPr>
              <a:t> </a:t>
            </a:r>
            <a:r>
              <a:rPr lang="en-US" sz="1050" dirty="0" err="1">
                <a:solidFill>
                  <a:schemeClr val="tx1"/>
                </a:solidFill>
                <a:latin typeface="Calibri Light" panose="020F0302020204030204" pitchFamily="34" charset="0"/>
              </a:rPr>
              <a:t>l'associazione</a:t>
            </a:r>
            <a:r>
              <a:rPr lang="en-US" sz="1050" dirty="0">
                <a:solidFill>
                  <a:schemeClr val="tx1"/>
                </a:solidFill>
                <a:latin typeface="Calibri Light" panose="020F0302020204030204" pitchFamily="34" charset="0"/>
              </a:rPr>
              <a:t> </a:t>
            </a:r>
            <a:r>
              <a:rPr lang="en-US" sz="1050" dirty="0" err="1">
                <a:solidFill>
                  <a:schemeClr val="tx1"/>
                </a:solidFill>
                <a:latin typeface="Calibri Light" panose="020F0302020204030204" pitchFamily="34" charset="0"/>
              </a:rPr>
              <a:t>molti</a:t>
            </a:r>
            <a:r>
              <a:rPr lang="en-US" sz="1050" dirty="0">
                <a:solidFill>
                  <a:schemeClr val="tx1"/>
                </a:solidFill>
                <a:latin typeface="Calibri Light" panose="020F0302020204030204" pitchFamily="34" charset="0"/>
              </a:rPr>
              <a:t>-a-</a:t>
            </a:r>
            <a:r>
              <a:rPr lang="en-US" sz="1050" dirty="0" err="1">
                <a:solidFill>
                  <a:schemeClr val="tx1"/>
                </a:solidFill>
                <a:latin typeface="Calibri Light" panose="020F0302020204030204" pitchFamily="34" charset="0"/>
              </a:rPr>
              <a:t>molti</a:t>
            </a:r>
            <a:r>
              <a:rPr lang="en-US" sz="1050" dirty="0">
                <a:solidFill>
                  <a:schemeClr val="tx1"/>
                </a:solidFill>
                <a:latin typeface="Calibri Light" panose="020F0302020204030204" pitchFamily="34" charset="0"/>
              </a:rPr>
              <a:t> </a:t>
            </a:r>
            <a:r>
              <a:rPr lang="en-US" sz="1050" dirty="0" err="1">
                <a:solidFill>
                  <a:schemeClr val="tx1"/>
                </a:solidFill>
                <a:latin typeface="Calibri Light" panose="020F0302020204030204" pitchFamily="34" charset="0"/>
              </a:rPr>
              <a:t>tra</a:t>
            </a:r>
            <a:r>
              <a:rPr lang="en-US" sz="1050" dirty="0">
                <a:solidFill>
                  <a:schemeClr val="tx1"/>
                </a:solidFill>
                <a:latin typeface="Calibri Light" panose="020F0302020204030204" pitchFamily="34" charset="0"/>
              </a:rPr>
              <a:t> </a:t>
            </a:r>
            <a:r>
              <a:rPr lang="en-US" sz="1050" dirty="0" err="1">
                <a:solidFill>
                  <a:schemeClr val="tx1"/>
                </a:solidFill>
                <a:latin typeface="Calibri Light" panose="020F0302020204030204" pitchFamily="34" charset="0"/>
              </a:rPr>
              <a:t>corso</a:t>
            </a:r>
            <a:r>
              <a:rPr lang="en-US" sz="1050" dirty="0">
                <a:solidFill>
                  <a:schemeClr val="tx1"/>
                </a:solidFill>
                <a:latin typeface="Calibri Light" panose="020F0302020204030204" pitchFamily="34" charset="0"/>
              </a:rPr>
              <a:t> e </a:t>
            </a:r>
            <a:r>
              <a:rPr lang="en-US" sz="1050" dirty="0" err="1">
                <a:solidFill>
                  <a:schemeClr val="tx1"/>
                </a:solidFill>
                <a:latin typeface="Calibri Light" panose="020F0302020204030204" pitchFamily="34" charset="0"/>
              </a:rPr>
              <a:t>professore</a:t>
            </a:r>
            <a:endParaRPr lang="en-US" sz="1050" dirty="0">
              <a:solidFill>
                <a:schemeClr val="tx1"/>
              </a:solidFill>
              <a:latin typeface="Calibri Light" panose="020F0302020204030204" pitchFamily="34" charset="0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7DB1C12D-0546-7748-8D6F-7CF9F078908B}"/>
              </a:ext>
            </a:extLst>
          </p:cNvPr>
          <p:cNvSpPr txBox="1"/>
          <p:nvPr/>
        </p:nvSpPr>
        <p:spPr>
          <a:xfrm>
            <a:off x="1485900" y="4477883"/>
            <a:ext cx="5758116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900" dirty="0" err="1">
                <a:latin typeface="Calibri Light" panose="020F0302020204030204" pitchFamily="34" charset="0"/>
              </a:rPr>
              <a:t>Rappresentazione</a:t>
            </a:r>
            <a:r>
              <a:rPr lang="en-US" sz="900" dirty="0">
                <a:latin typeface="Calibri Light" panose="020F0302020204030204" pitchFamily="34" charset="0"/>
              </a:rPr>
              <a:t> </a:t>
            </a:r>
            <a:r>
              <a:rPr lang="en-US" sz="900" dirty="0" err="1">
                <a:latin typeface="Calibri Light" panose="020F0302020204030204" pitchFamily="34" charset="0"/>
              </a:rPr>
              <a:t>testuale</a:t>
            </a:r>
            <a:r>
              <a:rPr lang="en-US" sz="900" dirty="0">
                <a:latin typeface="Calibri Light" panose="020F0302020204030204" pitchFamily="34" charset="0"/>
              </a:rPr>
              <a:t> in forma </a:t>
            </a:r>
            <a:r>
              <a:rPr lang="en-US" sz="900" dirty="0" err="1">
                <a:latin typeface="Calibri Light" panose="020F0302020204030204" pitchFamily="34" charset="0"/>
              </a:rPr>
              <a:t>compatta</a:t>
            </a:r>
            <a:r>
              <a:rPr lang="en-US" sz="900" dirty="0">
                <a:latin typeface="Calibri Light" panose="020F0302020204030204" pitchFamily="34" charset="0"/>
              </a:rPr>
              <a:t>:</a:t>
            </a:r>
          </a:p>
          <a:p>
            <a:r>
              <a:rPr lang="en-US" sz="900" dirty="0" err="1">
                <a:latin typeface="Calibri Light" panose="020F0302020204030204" pitchFamily="34" charset="0"/>
              </a:rPr>
              <a:t>Professore</a:t>
            </a:r>
            <a:r>
              <a:rPr lang="en-US" sz="900" dirty="0">
                <a:latin typeface="Calibri Light" panose="020F0302020204030204" pitchFamily="34" charset="0"/>
              </a:rPr>
              <a:t> (</a:t>
            </a:r>
            <a:r>
              <a:rPr lang="en-US" sz="900" u="sng" dirty="0">
                <a:latin typeface="Calibri Light" panose="020F0302020204030204" pitchFamily="34" charset="0"/>
              </a:rPr>
              <a:t>id</a:t>
            </a:r>
            <a:r>
              <a:rPr lang="en-US" sz="900" dirty="0">
                <a:latin typeface="Calibri Light" panose="020F0302020204030204" pitchFamily="34" charset="0"/>
              </a:rPr>
              <a:t>, name, </a:t>
            </a:r>
            <a:r>
              <a:rPr lang="en-US" sz="900" dirty="0" err="1">
                <a:latin typeface="Calibri Light" panose="020F0302020204030204" pitchFamily="34" charset="0"/>
              </a:rPr>
              <a:t>dept_id</a:t>
            </a:r>
            <a:r>
              <a:rPr lang="en-US" sz="900" dirty="0">
                <a:latin typeface="Calibri Light" panose="020F0302020204030204" pitchFamily="34" charset="0"/>
              </a:rPr>
              <a:t>)	department(</a:t>
            </a:r>
            <a:r>
              <a:rPr lang="en-US" sz="900" u="sng" dirty="0">
                <a:latin typeface="Calibri Light" panose="020F0302020204030204" pitchFamily="34" charset="0"/>
              </a:rPr>
              <a:t>id</a:t>
            </a:r>
            <a:r>
              <a:rPr lang="en-US" sz="900" dirty="0">
                <a:latin typeface="Calibri Light" panose="020F0302020204030204" pitchFamily="34" charset="0"/>
              </a:rPr>
              <a:t>, name)                   	FK: </a:t>
            </a:r>
            <a:r>
              <a:rPr lang="en-US" sz="900" dirty="0" err="1">
                <a:latin typeface="Calibri Light" panose="020F0302020204030204" pitchFamily="34" charset="0"/>
              </a:rPr>
              <a:t>department.id</a:t>
            </a:r>
            <a:r>
              <a:rPr lang="en-US" sz="900" dirty="0">
                <a:latin typeface="Calibri Light" panose="020F0302020204030204" pitchFamily="34" charset="0"/>
              </a:rPr>
              <a:t> </a:t>
            </a:r>
            <a:r>
              <a:rPr lang="en-US" sz="900" dirty="0">
                <a:latin typeface="Calibri Light" panose="020F0302020204030204" pitchFamily="34" charset="0"/>
                <a:sym typeface="Wingdings" pitchFamily="2" charset="2"/>
              </a:rPr>
              <a:t> </a:t>
            </a:r>
            <a:r>
              <a:rPr lang="en-US" sz="900" dirty="0" err="1">
                <a:latin typeface="Calibri Light" panose="020F0302020204030204" pitchFamily="34" charset="0"/>
                <a:sym typeface="Wingdings" pitchFamily="2" charset="2"/>
              </a:rPr>
              <a:t>professor.department_id</a:t>
            </a:r>
            <a:endParaRPr lang="en-US" sz="900" dirty="0">
              <a:latin typeface="Calibri Light" panose="020F0302020204030204" pitchFamily="34" charset="0"/>
            </a:endParaRPr>
          </a:p>
          <a:p>
            <a:r>
              <a:rPr lang="en-US" sz="900" dirty="0">
                <a:latin typeface="Calibri Light" panose="020F0302020204030204" pitchFamily="34" charset="0"/>
              </a:rPr>
              <a:t>Teaching(</a:t>
            </a:r>
            <a:r>
              <a:rPr lang="en-US" sz="900" u="sng" dirty="0" err="1">
                <a:latin typeface="Calibri Light" panose="020F0302020204030204" pitchFamily="34" charset="0"/>
              </a:rPr>
              <a:t>prof_id</a:t>
            </a:r>
            <a:r>
              <a:rPr lang="en-US" sz="900" u="sng" dirty="0">
                <a:latin typeface="Calibri Light" panose="020F0302020204030204" pitchFamily="34" charset="0"/>
              </a:rPr>
              <a:t>, </a:t>
            </a:r>
            <a:r>
              <a:rPr lang="en-US" sz="900" u="sng" dirty="0" err="1">
                <a:latin typeface="Calibri Light" panose="020F0302020204030204" pitchFamily="34" charset="0"/>
              </a:rPr>
              <a:t>course_id</a:t>
            </a:r>
            <a:r>
              <a:rPr lang="en-US" sz="900" dirty="0">
                <a:latin typeface="Calibri Light" panose="020F0302020204030204" pitchFamily="34" charset="0"/>
              </a:rPr>
              <a:t>)		course(</a:t>
            </a:r>
            <a:r>
              <a:rPr lang="en-US" sz="900" u="sng" dirty="0">
                <a:latin typeface="Calibri Light" panose="020F0302020204030204" pitchFamily="34" charset="0"/>
              </a:rPr>
              <a:t>id</a:t>
            </a:r>
            <a:r>
              <a:rPr lang="en-US" sz="900" dirty="0">
                <a:latin typeface="Calibri Light" panose="020F0302020204030204" pitchFamily="34" charset="0"/>
              </a:rPr>
              <a:t>, name)			FK: </a:t>
            </a:r>
            <a:r>
              <a:rPr lang="en-US" sz="900" dirty="0" err="1">
                <a:latin typeface="Calibri Light" panose="020F0302020204030204" pitchFamily="34" charset="0"/>
              </a:rPr>
              <a:t>course.id</a:t>
            </a:r>
            <a:r>
              <a:rPr lang="en-US" sz="900" dirty="0">
                <a:latin typeface="Calibri Light" panose="020F0302020204030204" pitchFamily="34" charset="0"/>
              </a:rPr>
              <a:t> </a:t>
            </a:r>
            <a:r>
              <a:rPr lang="en-US" sz="900" dirty="0">
                <a:latin typeface="Calibri Light" panose="020F0302020204030204" pitchFamily="34" charset="0"/>
                <a:sym typeface="Wingdings" pitchFamily="2" charset="2"/>
              </a:rPr>
              <a:t> </a:t>
            </a:r>
            <a:r>
              <a:rPr lang="en-US" sz="900" dirty="0" err="1">
                <a:latin typeface="Calibri Light" panose="020F0302020204030204" pitchFamily="34" charset="0"/>
                <a:sym typeface="Wingdings" pitchFamily="2" charset="2"/>
              </a:rPr>
              <a:t>teaching.course_id</a:t>
            </a:r>
            <a:endParaRPr lang="en-US" sz="900" dirty="0">
              <a:latin typeface="Calibri Light" panose="020F0302020204030204" pitchFamily="34" charset="0"/>
              <a:sym typeface="Wingdings" pitchFamily="2" charset="2"/>
            </a:endParaRPr>
          </a:p>
          <a:p>
            <a:r>
              <a:rPr lang="en-US" sz="900" dirty="0">
                <a:latin typeface="Calibri Light" panose="020F0302020204030204" pitchFamily="34" charset="0"/>
                <a:sym typeface="Wingdings" pitchFamily="2" charset="2"/>
              </a:rPr>
              <a:t>										</a:t>
            </a:r>
            <a:r>
              <a:rPr lang="en-US" sz="900" dirty="0">
                <a:latin typeface="Calibri Light" panose="020F0302020204030204" pitchFamily="34" charset="0"/>
              </a:rPr>
              <a:t>FK: </a:t>
            </a:r>
            <a:r>
              <a:rPr lang="en-US" sz="900" dirty="0" err="1">
                <a:latin typeface="Calibri Light" panose="020F0302020204030204" pitchFamily="34" charset="0"/>
              </a:rPr>
              <a:t>professor.id</a:t>
            </a:r>
            <a:r>
              <a:rPr lang="en-US" sz="900" dirty="0">
                <a:latin typeface="Calibri Light" panose="020F0302020204030204" pitchFamily="34" charset="0"/>
              </a:rPr>
              <a:t> </a:t>
            </a:r>
            <a:r>
              <a:rPr lang="en-US" sz="900" dirty="0">
                <a:latin typeface="Calibri Light" panose="020F0302020204030204" pitchFamily="34" charset="0"/>
                <a:sym typeface="Wingdings" pitchFamily="2" charset="2"/>
              </a:rPr>
              <a:t> </a:t>
            </a:r>
            <a:r>
              <a:rPr lang="en-US" sz="900" dirty="0" err="1">
                <a:latin typeface="Calibri Light" panose="020F0302020204030204" pitchFamily="34" charset="0"/>
                <a:sym typeface="Wingdings" pitchFamily="2" charset="2"/>
              </a:rPr>
              <a:t>teaching.prof_id</a:t>
            </a:r>
            <a:endParaRPr lang="en-US" sz="900" dirty="0"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859581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Associazioni</a:t>
            </a:r>
            <a:r>
              <a:rPr lang="en-US"/>
              <a:t> </a:t>
            </a:r>
            <a:r>
              <a:rPr lang="en-US" err="1"/>
              <a:t>nel</a:t>
            </a:r>
            <a:r>
              <a:rPr lang="en-US"/>
              <a:t> </a:t>
            </a:r>
            <a:r>
              <a:rPr lang="en-US" err="1"/>
              <a:t>mondo</a:t>
            </a:r>
            <a:r>
              <a:rPr lang="en-US"/>
              <a:t> </a:t>
            </a:r>
            <a:r>
              <a:rPr lang="en-US" err="1"/>
              <a:t>relazionale</a:t>
            </a:r>
            <a:endParaRPr lang="en-US"/>
          </a:p>
        </p:txBody>
      </p:sp>
      <p:graphicFrame>
        <p:nvGraphicFramePr>
          <p:cNvPr id="5" name="Segnaposto contenuto 6"/>
          <p:cNvGraphicFramePr>
            <a:graphicFrameLocks noGrp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3864956559"/>
              </p:ext>
            </p:extLst>
          </p:nvPr>
        </p:nvGraphicFramePr>
        <p:xfrm>
          <a:off x="1485900" y="1463279"/>
          <a:ext cx="1790700" cy="139065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361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1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it-IT" sz="1000" b="0" i="0" dirty="0">
                          <a:latin typeface="Calibri Light" panose="020F0302020204030204" pitchFamily="34" charset="0"/>
                        </a:rPr>
                        <a:t>ID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it-IT" sz="1000" b="0" i="0" dirty="0">
                          <a:latin typeface="Calibri Light" panose="020F0302020204030204" pitchFamily="34" charset="0"/>
                        </a:rPr>
                        <a:t>NAME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it-IT" sz="1000" b="0" i="0" dirty="0">
                          <a:latin typeface="Calibri Light" panose="020F0302020204030204" pitchFamily="34" charset="0"/>
                        </a:rPr>
                        <a:t>DEPT_FK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it-IT" sz="1000" b="0" i="0" dirty="0">
                          <a:latin typeface="Calibri Light" panose="020F0302020204030204" pitchFamily="34" charset="0"/>
                        </a:rPr>
                        <a:t>1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it-IT" sz="1000" b="0" i="0" dirty="0">
                          <a:latin typeface="Calibri Light" panose="020F0302020204030204" pitchFamily="34" charset="0"/>
                        </a:rPr>
                        <a:t>White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00" b="0" i="0" dirty="0">
                          <a:latin typeface="Calibri Light" panose="020F0302020204030204" pitchFamily="34" charset="0"/>
                        </a:rPr>
                        <a:t>100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it-IT" sz="1000" b="0" i="0" dirty="0">
                          <a:latin typeface="Calibri Light" panose="020F0302020204030204" pitchFamily="34" charset="0"/>
                        </a:rPr>
                        <a:t>2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it-IT" sz="1000" b="0" i="0" dirty="0">
                          <a:latin typeface="Calibri Light" panose="020F0302020204030204" pitchFamily="34" charset="0"/>
                        </a:rPr>
                        <a:t>Brown</a:t>
                      </a:r>
                      <a:endParaRPr lang="it-IT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00" b="0" i="0" dirty="0">
                          <a:latin typeface="Calibri Light" panose="020F0302020204030204" pitchFamily="34" charset="0"/>
                        </a:rPr>
                        <a:t>100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it-IT" sz="1000" b="0" i="0" dirty="0">
                          <a:latin typeface="Calibri Light" panose="020F0302020204030204" pitchFamily="34" charset="0"/>
                        </a:rPr>
                        <a:t>3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00" b="0" i="0" dirty="0">
                          <a:latin typeface="Calibri Light" panose="020F0302020204030204" pitchFamily="34" charset="0"/>
                        </a:rPr>
                        <a:t>Smith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00" b="0" i="0" dirty="0">
                          <a:latin typeface="Calibri Light" panose="020F0302020204030204" pitchFamily="34" charset="0"/>
                        </a:rPr>
                        <a:t>101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it-IT" sz="1000" b="0" i="0" dirty="0">
                          <a:latin typeface="Calibri Light" panose="020F0302020204030204" pitchFamily="34" charset="0"/>
                        </a:rPr>
                        <a:t>…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00" b="0" i="0" dirty="0">
                          <a:latin typeface="Calibri Light" panose="020F0302020204030204" pitchFamily="34" charset="0"/>
                        </a:rPr>
                        <a:t>…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00" b="0" i="0" dirty="0">
                          <a:latin typeface="Calibri Light" panose="020F0302020204030204" pitchFamily="34" charset="0"/>
                        </a:rPr>
                        <a:t>…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Segnaposto contenuto 6"/>
          <p:cNvGraphicFramePr>
            <a:graphicFrameLocks noGrp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167804688"/>
              </p:ext>
            </p:extLst>
          </p:nvPr>
        </p:nvGraphicFramePr>
        <p:xfrm>
          <a:off x="4600575" y="1583532"/>
          <a:ext cx="2390775" cy="111252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561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it-IT" sz="1000" b="0" i="0" dirty="0">
                          <a:latin typeface="Calibri Light" panose="020F0302020204030204" pitchFamily="34" charset="0"/>
                        </a:rPr>
                        <a:t>ID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it-IT" sz="1000" b="0" i="0" dirty="0">
                          <a:latin typeface="Calibri Light" panose="020F0302020204030204" pitchFamily="34" charset="0"/>
                        </a:rPr>
                        <a:t>NAME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it-IT" sz="1000" b="0" i="0" dirty="0">
                          <a:latin typeface="Calibri Light" panose="020F0302020204030204" pitchFamily="34" charset="0"/>
                        </a:rPr>
                        <a:t>100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it-IT" sz="1000" b="0" i="0" dirty="0">
                          <a:latin typeface="Calibri Light" panose="020F0302020204030204" pitchFamily="34" charset="0"/>
                        </a:rPr>
                        <a:t>Computer Science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it-IT" sz="1000" b="0" i="0" dirty="0">
                          <a:latin typeface="Calibri Light" panose="020F0302020204030204" pitchFamily="34" charset="0"/>
                        </a:rPr>
                        <a:t>101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it-IT" sz="1000" b="0" i="0" dirty="0" err="1">
                          <a:latin typeface="Calibri Light" panose="020F0302020204030204" pitchFamily="34" charset="0"/>
                        </a:rPr>
                        <a:t>Physics</a:t>
                      </a:r>
                      <a:endParaRPr lang="it-IT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it-IT" sz="1000" b="0" i="0" dirty="0">
                          <a:latin typeface="Calibri Light" panose="020F0302020204030204" pitchFamily="34" charset="0"/>
                        </a:rPr>
                        <a:t>…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it-IT" sz="1000" b="0" i="0" dirty="0">
                          <a:latin typeface="Calibri Light" panose="020F0302020204030204" pitchFamily="34" charset="0"/>
                        </a:rPr>
                        <a:t>…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Segnaposto contenuto 6"/>
          <p:cNvGraphicFramePr>
            <a:graphicFrameLocks noGrp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3390285022"/>
              </p:ext>
            </p:extLst>
          </p:nvPr>
        </p:nvGraphicFramePr>
        <p:xfrm>
          <a:off x="4600575" y="3171051"/>
          <a:ext cx="2743201" cy="166878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9742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89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it-IT" sz="1000" b="0" i="0" dirty="0">
                          <a:latin typeface="Calibri Light" panose="020F0302020204030204" pitchFamily="34" charset="0"/>
                        </a:rPr>
                        <a:t>ID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it-IT" sz="1000" b="0" i="0" dirty="0">
                          <a:latin typeface="Calibri Light" panose="020F0302020204030204" pitchFamily="34" charset="0"/>
                        </a:rPr>
                        <a:t>NAME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it-IT" sz="1000" b="0" i="0" dirty="0">
                          <a:latin typeface="Calibri Light" panose="020F0302020204030204" pitchFamily="34" charset="0"/>
                        </a:rPr>
                        <a:t>200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it-IT" sz="1000" b="0" i="0" dirty="0">
                          <a:latin typeface="Calibri Light" panose="020F0302020204030204" pitchFamily="34" charset="0"/>
                        </a:rPr>
                        <a:t>Databases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it-IT" sz="1000" b="0" i="0" dirty="0">
                          <a:latin typeface="Calibri Light" panose="020F0302020204030204" pitchFamily="34" charset="0"/>
                        </a:rPr>
                        <a:t>201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it-IT" sz="1000" b="0" i="0" dirty="0">
                          <a:latin typeface="Calibri Light" panose="020F0302020204030204" pitchFamily="34" charset="0"/>
                        </a:rPr>
                        <a:t>Operating Systems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it-IT" sz="1000" b="0" i="0" dirty="0">
                          <a:latin typeface="Calibri Light" panose="020F0302020204030204" pitchFamily="34" charset="0"/>
                        </a:rPr>
                        <a:t>203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00" b="0" i="0" dirty="0" err="1">
                          <a:latin typeface="Calibri Light" panose="020F0302020204030204" pitchFamily="34" charset="0"/>
                        </a:rPr>
                        <a:t>Thermodynamics</a:t>
                      </a:r>
                      <a:endParaRPr lang="it-IT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it-IT" sz="1000" b="0" i="0" dirty="0">
                          <a:latin typeface="Calibri Light" panose="020F0302020204030204" pitchFamily="34" charset="0"/>
                        </a:rPr>
                        <a:t>204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00" b="0" i="0" dirty="0">
                          <a:latin typeface="Calibri Light" panose="020F0302020204030204" pitchFamily="34" charset="0"/>
                        </a:rPr>
                        <a:t>Solid </a:t>
                      </a:r>
                      <a:r>
                        <a:rPr lang="it-IT" sz="1000" dirty="0" err="1"/>
                        <a:t>Physics</a:t>
                      </a:r>
                      <a:endParaRPr lang="it-IT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it-IT" sz="1000" b="0" i="0" dirty="0">
                          <a:latin typeface="Calibri Light" panose="020F0302020204030204" pitchFamily="34" charset="0"/>
                        </a:rPr>
                        <a:t>…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00" b="0" i="0" dirty="0">
                          <a:latin typeface="Calibri Light" panose="020F0302020204030204" pitchFamily="34" charset="0"/>
                        </a:rPr>
                        <a:t>…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8" name="Segnaposto contenuto 6"/>
          <p:cNvGraphicFramePr>
            <a:graphicFrameLocks noGrp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586598547"/>
              </p:ext>
            </p:extLst>
          </p:nvPr>
        </p:nvGraphicFramePr>
        <p:xfrm>
          <a:off x="1343025" y="3331845"/>
          <a:ext cx="1876425" cy="166878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8356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07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it-IT" sz="1000" b="0" i="0" dirty="0">
                          <a:latin typeface="Calibri Light" panose="020F0302020204030204" pitchFamily="34" charset="0"/>
                        </a:rPr>
                        <a:t>PROF_FK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it-IT" sz="1000" b="0" i="0" dirty="0">
                          <a:latin typeface="Calibri Light" panose="020F0302020204030204" pitchFamily="34" charset="0"/>
                        </a:rPr>
                        <a:t>COURSE_FK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it-IT" sz="1000" b="0" i="0" dirty="0">
                          <a:latin typeface="Calibri Light" panose="020F0302020204030204" pitchFamily="34" charset="0"/>
                        </a:rPr>
                        <a:t>1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00" b="0" i="0" dirty="0">
                          <a:latin typeface="Calibri Light" panose="020F0302020204030204" pitchFamily="34" charset="0"/>
                        </a:rPr>
                        <a:t>200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it-IT" sz="1000" b="0" i="0" dirty="0">
                          <a:latin typeface="Calibri Light" panose="020F0302020204030204" pitchFamily="34" charset="0"/>
                        </a:rPr>
                        <a:t>2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00" b="0" i="0" dirty="0">
                          <a:latin typeface="Calibri Light" panose="020F0302020204030204" pitchFamily="34" charset="0"/>
                        </a:rPr>
                        <a:t>201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it-IT" sz="1000" b="0" i="0" dirty="0">
                          <a:latin typeface="Calibri Light" panose="020F0302020204030204" pitchFamily="34" charset="0"/>
                        </a:rPr>
                        <a:t>3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00" b="0" i="0" dirty="0">
                          <a:latin typeface="Calibri Light" panose="020F0302020204030204" pitchFamily="34" charset="0"/>
                        </a:rPr>
                        <a:t>203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it-IT" sz="1000" b="0" i="0" dirty="0">
                          <a:latin typeface="Calibri Light" panose="020F0302020204030204" pitchFamily="34" charset="0"/>
                        </a:rPr>
                        <a:t>3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00" b="0" i="0" dirty="0">
                          <a:latin typeface="Calibri Light" panose="020F0302020204030204" pitchFamily="34" charset="0"/>
                        </a:rPr>
                        <a:t>204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it-IT" sz="1000" b="0" i="0" dirty="0">
                          <a:latin typeface="Calibri Light" panose="020F0302020204030204" pitchFamily="34" charset="0"/>
                        </a:rPr>
                        <a:t>…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00" b="0" i="0" dirty="0">
                          <a:latin typeface="Calibri Light" panose="020F0302020204030204" pitchFamily="34" charset="0"/>
                        </a:rPr>
                        <a:t>…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CasellaDiTesto 8"/>
          <p:cNvSpPr txBox="1"/>
          <p:nvPr/>
        </p:nvSpPr>
        <p:spPr>
          <a:xfrm>
            <a:off x="1752600" y="1209675"/>
            <a:ext cx="1016497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350" dirty="0">
                <a:latin typeface="Calibri Light" panose="020F0302020204030204" pitchFamily="34" charset="0"/>
              </a:rPr>
              <a:t>PROFESSOR</a:t>
            </a:r>
          </a:p>
        </p:txBody>
      </p:sp>
      <p:sp>
        <p:nvSpPr>
          <p:cNvPr id="10" name="CasellaDiTesto 9"/>
          <p:cNvSpPr txBox="1"/>
          <p:nvPr/>
        </p:nvSpPr>
        <p:spPr>
          <a:xfrm>
            <a:off x="5133975" y="1325583"/>
            <a:ext cx="115929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350" dirty="0">
                <a:latin typeface="Calibri Light" panose="020F0302020204030204" pitchFamily="34" charset="0"/>
              </a:rPr>
              <a:t>DEPARTMENT</a:t>
            </a:r>
          </a:p>
        </p:txBody>
      </p:sp>
      <p:sp>
        <p:nvSpPr>
          <p:cNvPr id="11" name="CasellaDiTesto 10"/>
          <p:cNvSpPr txBox="1"/>
          <p:nvPr/>
        </p:nvSpPr>
        <p:spPr>
          <a:xfrm>
            <a:off x="5457826" y="2894052"/>
            <a:ext cx="759503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350" dirty="0">
                <a:latin typeface="Calibri Light" panose="020F0302020204030204" pitchFamily="34" charset="0"/>
              </a:rPr>
              <a:t>COURSE</a:t>
            </a:r>
          </a:p>
        </p:txBody>
      </p:sp>
      <p:sp>
        <p:nvSpPr>
          <p:cNvPr id="12" name="CasellaDiTesto 11"/>
          <p:cNvSpPr txBox="1"/>
          <p:nvPr/>
        </p:nvSpPr>
        <p:spPr>
          <a:xfrm>
            <a:off x="1722145" y="2950071"/>
            <a:ext cx="941348" cy="4385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1350" dirty="0">
                <a:latin typeface="Calibri Light" panose="020F0302020204030204" pitchFamily="34" charset="0"/>
              </a:rPr>
              <a:t>TEACHING</a:t>
            </a:r>
            <a:r>
              <a:rPr lang="it-IT" sz="900" dirty="0">
                <a:latin typeface="Calibri Light" panose="020F0302020204030204" pitchFamily="34" charset="0"/>
              </a:rPr>
              <a:t> </a:t>
            </a:r>
            <a:br>
              <a:rPr lang="it-IT" sz="900" dirty="0">
                <a:latin typeface="Calibri Light" panose="020F0302020204030204" pitchFamily="34" charset="0"/>
              </a:rPr>
            </a:br>
            <a:r>
              <a:rPr lang="it-IT" sz="900" dirty="0">
                <a:latin typeface="Calibri Light" panose="020F0302020204030204" pitchFamily="34" charset="0"/>
              </a:rPr>
              <a:t>(join </a:t>
            </a:r>
            <a:r>
              <a:rPr lang="it-IT" sz="900" dirty="0" err="1">
                <a:latin typeface="Calibri Light" panose="020F0302020204030204" pitchFamily="34" charset="0"/>
              </a:rPr>
              <a:t>Table</a:t>
            </a:r>
            <a:r>
              <a:rPr lang="it-IT" sz="900" dirty="0">
                <a:latin typeface="Calibri Light" panose="020F0302020204030204" pitchFamily="34" charset="0"/>
              </a:rPr>
              <a:t>)</a:t>
            </a:r>
          </a:p>
        </p:txBody>
      </p:sp>
      <p:sp>
        <p:nvSpPr>
          <p:cNvPr id="28" name="Figura a mano libera 27"/>
          <p:cNvSpPr/>
          <p:nvPr/>
        </p:nvSpPr>
        <p:spPr>
          <a:xfrm rot="21104628">
            <a:off x="2781300" y="2743200"/>
            <a:ext cx="2190750" cy="552450"/>
          </a:xfrm>
          <a:custGeom>
            <a:avLst/>
            <a:gdLst>
              <a:gd name="connsiteX0" fmla="*/ 0 w 2921000"/>
              <a:gd name="connsiteY0" fmla="*/ 746905 h 1026305"/>
              <a:gd name="connsiteX1" fmla="*/ 1028700 w 2921000"/>
              <a:gd name="connsiteY1" fmla="*/ 73805 h 1026305"/>
              <a:gd name="connsiteX2" fmla="*/ 2120900 w 2921000"/>
              <a:gd name="connsiteY2" fmla="*/ 124605 h 1026305"/>
              <a:gd name="connsiteX3" fmla="*/ 2921000 w 2921000"/>
              <a:gd name="connsiteY3" fmla="*/ 1026305 h 10263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21000" h="1026305">
                <a:moveTo>
                  <a:pt x="0" y="746905"/>
                </a:moveTo>
                <a:cubicBezTo>
                  <a:pt x="337608" y="462213"/>
                  <a:pt x="675217" y="177522"/>
                  <a:pt x="1028700" y="73805"/>
                </a:cubicBezTo>
                <a:cubicBezTo>
                  <a:pt x="1382183" y="-29912"/>
                  <a:pt x="1805517" y="-34145"/>
                  <a:pt x="2120900" y="124605"/>
                </a:cubicBezTo>
                <a:cubicBezTo>
                  <a:pt x="2436283" y="283355"/>
                  <a:pt x="2806700" y="909888"/>
                  <a:pt x="2921000" y="1026305"/>
                </a:cubicBezTo>
              </a:path>
            </a:pathLst>
          </a:custGeom>
          <a:ln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 sz="1350" dirty="0">
              <a:latin typeface="Calibri Light" panose="020F0302020204030204" pitchFamily="34" charset="0"/>
            </a:endParaRPr>
          </a:p>
        </p:txBody>
      </p:sp>
      <p:sp>
        <p:nvSpPr>
          <p:cNvPr id="29" name="Figura a mano libera 28"/>
          <p:cNvSpPr/>
          <p:nvPr/>
        </p:nvSpPr>
        <p:spPr>
          <a:xfrm>
            <a:off x="2838450" y="1148954"/>
            <a:ext cx="2009775" cy="400050"/>
          </a:xfrm>
          <a:custGeom>
            <a:avLst/>
            <a:gdLst>
              <a:gd name="connsiteX0" fmla="*/ 0 w 2921000"/>
              <a:gd name="connsiteY0" fmla="*/ 746905 h 1026305"/>
              <a:gd name="connsiteX1" fmla="*/ 1028700 w 2921000"/>
              <a:gd name="connsiteY1" fmla="*/ 73805 h 1026305"/>
              <a:gd name="connsiteX2" fmla="*/ 2120900 w 2921000"/>
              <a:gd name="connsiteY2" fmla="*/ 124605 h 1026305"/>
              <a:gd name="connsiteX3" fmla="*/ 2921000 w 2921000"/>
              <a:gd name="connsiteY3" fmla="*/ 1026305 h 10263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21000" h="1026305">
                <a:moveTo>
                  <a:pt x="0" y="746905"/>
                </a:moveTo>
                <a:cubicBezTo>
                  <a:pt x="337608" y="462213"/>
                  <a:pt x="675217" y="177522"/>
                  <a:pt x="1028700" y="73805"/>
                </a:cubicBezTo>
                <a:cubicBezTo>
                  <a:pt x="1382183" y="-29912"/>
                  <a:pt x="1805517" y="-34145"/>
                  <a:pt x="2120900" y="124605"/>
                </a:cubicBezTo>
                <a:cubicBezTo>
                  <a:pt x="2436283" y="283355"/>
                  <a:pt x="2806700" y="909888"/>
                  <a:pt x="2921000" y="1026305"/>
                </a:cubicBezTo>
              </a:path>
            </a:pathLst>
          </a:custGeom>
          <a:ln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 sz="1350" dirty="0">
              <a:latin typeface="Calibri Light" panose="020F0302020204030204" pitchFamily="34" charset="0"/>
            </a:endParaRPr>
          </a:p>
        </p:txBody>
      </p:sp>
      <p:sp>
        <p:nvSpPr>
          <p:cNvPr id="30" name="Figura a mano libera 29"/>
          <p:cNvSpPr/>
          <p:nvPr/>
        </p:nvSpPr>
        <p:spPr>
          <a:xfrm>
            <a:off x="1309512" y="1227769"/>
            <a:ext cx="328788" cy="2104076"/>
          </a:xfrm>
          <a:custGeom>
            <a:avLst/>
            <a:gdLst>
              <a:gd name="connsiteX0" fmla="*/ 438384 w 438384"/>
              <a:gd name="connsiteY0" fmla="*/ 293375 h 2528575"/>
              <a:gd name="connsiteX1" fmla="*/ 285984 w 438384"/>
              <a:gd name="connsiteY1" fmla="*/ 1275 h 2528575"/>
              <a:gd name="connsiteX2" fmla="*/ 19284 w 438384"/>
              <a:gd name="connsiteY2" fmla="*/ 394975 h 2528575"/>
              <a:gd name="connsiteX3" fmla="*/ 31984 w 438384"/>
              <a:gd name="connsiteY3" fmla="*/ 1055375 h 2528575"/>
              <a:gd name="connsiteX4" fmla="*/ 120884 w 438384"/>
              <a:gd name="connsiteY4" fmla="*/ 2122175 h 2528575"/>
              <a:gd name="connsiteX5" fmla="*/ 285984 w 438384"/>
              <a:gd name="connsiteY5" fmla="*/ 2528575 h 2528575"/>
              <a:gd name="connsiteX6" fmla="*/ 285984 w 438384"/>
              <a:gd name="connsiteY6" fmla="*/ 2528575 h 2528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384" h="2528575">
                <a:moveTo>
                  <a:pt x="438384" y="293375"/>
                </a:moveTo>
                <a:cubicBezTo>
                  <a:pt x="397109" y="138858"/>
                  <a:pt x="355834" y="-15658"/>
                  <a:pt x="285984" y="1275"/>
                </a:cubicBezTo>
                <a:cubicBezTo>
                  <a:pt x="216134" y="18208"/>
                  <a:pt x="61617" y="219292"/>
                  <a:pt x="19284" y="394975"/>
                </a:cubicBezTo>
                <a:cubicBezTo>
                  <a:pt x="-23049" y="570658"/>
                  <a:pt x="15051" y="767508"/>
                  <a:pt x="31984" y="1055375"/>
                </a:cubicBezTo>
                <a:cubicBezTo>
                  <a:pt x="48917" y="1343242"/>
                  <a:pt x="78551" y="1876642"/>
                  <a:pt x="120884" y="2122175"/>
                </a:cubicBezTo>
                <a:cubicBezTo>
                  <a:pt x="163217" y="2367708"/>
                  <a:pt x="285984" y="2528575"/>
                  <a:pt x="285984" y="2528575"/>
                </a:cubicBezTo>
                <a:lnTo>
                  <a:pt x="285984" y="2528575"/>
                </a:lnTo>
              </a:path>
            </a:pathLst>
          </a:custGeom>
          <a:ln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 sz="1350" dirty="0"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063216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Mapping </a:t>
            </a:r>
            <a:r>
              <a:rPr lang="en-US" dirty="0" err="1"/>
              <a:t>delle</a:t>
            </a:r>
            <a:r>
              <a:rPr lang="en-US" dirty="0"/>
              <a:t> </a:t>
            </a:r>
            <a:r>
              <a:rPr lang="en-US" dirty="0" err="1"/>
              <a:t>Associazioni</a:t>
            </a:r>
            <a:endParaRPr lang="en-US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Il mapping </a:t>
            </a:r>
            <a:r>
              <a:rPr lang="en-US" dirty="0" err="1"/>
              <a:t>delle</a:t>
            </a:r>
            <a:r>
              <a:rPr lang="en-US" dirty="0"/>
              <a:t> </a:t>
            </a:r>
            <a:r>
              <a:rPr lang="en-US" dirty="0" err="1"/>
              <a:t>associazioni</a:t>
            </a:r>
            <a:r>
              <a:rPr lang="en-US" dirty="0"/>
              <a:t> </a:t>
            </a:r>
            <a:r>
              <a:rPr lang="en-US" dirty="0" err="1"/>
              <a:t>deve</a:t>
            </a:r>
            <a:r>
              <a:rPr lang="en-US" dirty="0"/>
              <a:t> </a:t>
            </a:r>
            <a:r>
              <a:rPr lang="en-US" dirty="0" err="1"/>
              <a:t>coniugare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due </a:t>
            </a:r>
            <a:r>
              <a:rPr lang="en-US" dirty="0" err="1"/>
              <a:t>mondi</a:t>
            </a:r>
            <a:r>
              <a:rPr lang="en-US" dirty="0"/>
              <a:t> (OO e </a:t>
            </a:r>
            <a:r>
              <a:rPr lang="en-US" dirty="0" err="1"/>
              <a:t>relazionale</a:t>
            </a:r>
            <a:r>
              <a:rPr lang="en-US" dirty="0"/>
              <a:t>) in </a:t>
            </a:r>
            <a:r>
              <a:rPr lang="en-US" dirty="0" err="1"/>
              <a:t>maniera</a:t>
            </a:r>
            <a:r>
              <a:rPr lang="en-US" dirty="0"/>
              <a:t> </a:t>
            </a:r>
            <a:r>
              <a:rPr lang="en-US" dirty="0" err="1"/>
              <a:t>trasparente</a:t>
            </a:r>
            <a:endParaRPr lang="en-US" dirty="0"/>
          </a:p>
          <a:p>
            <a:r>
              <a:rPr lang="en-US" dirty="0" err="1"/>
              <a:t>Abbiamo</a:t>
            </a:r>
            <a:r>
              <a:rPr lang="en-US" dirty="0"/>
              <a:t> visto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il</a:t>
            </a:r>
            <a:r>
              <a:rPr lang="en-US" dirty="0"/>
              <a:t> mapping </a:t>
            </a:r>
            <a:r>
              <a:rPr lang="en-US" dirty="0" err="1"/>
              <a:t>delle</a:t>
            </a:r>
            <a:r>
              <a:rPr lang="en-US" dirty="0"/>
              <a:t> </a:t>
            </a:r>
            <a:r>
              <a:rPr lang="en-US" dirty="0" err="1"/>
              <a:t>entità</a:t>
            </a:r>
            <a:r>
              <a:rPr lang="en-US" dirty="0"/>
              <a:t> </a:t>
            </a:r>
            <a:r>
              <a:rPr lang="en-US" dirty="0" err="1"/>
              <a:t>sulle</a:t>
            </a:r>
            <a:r>
              <a:rPr lang="en-US" dirty="0"/>
              <a:t> </a:t>
            </a:r>
            <a:r>
              <a:rPr lang="en-US" dirty="0" err="1"/>
              <a:t>tabelle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semplice e </a:t>
            </a:r>
            <a:r>
              <a:rPr lang="en-US" dirty="0" err="1"/>
              <a:t>intuitivo</a:t>
            </a:r>
            <a:endParaRPr lang="en-US" dirty="0"/>
          </a:p>
          <a:p>
            <a:r>
              <a:rPr lang="en-US" dirty="0"/>
              <a:t>Il mapping </a:t>
            </a:r>
            <a:r>
              <a:rPr lang="en-US" dirty="0" err="1"/>
              <a:t>delle</a:t>
            </a:r>
            <a:r>
              <a:rPr lang="en-US" dirty="0"/>
              <a:t> </a:t>
            </a:r>
            <a:r>
              <a:rPr lang="en-US" dirty="0" err="1"/>
              <a:t>associazioni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più</a:t>
            </a:r>
            <a:r>
              <a:rPr lang="en-US" dirty="0"/>
              <a:t> </a:t>
            </a:r>
            <a:r>
              <a:rPr lang="en-US" dirty="0" err="1"/>
              <a:t>delicato</a:t>
            </a:r>
            <a:r>
              <a:rPr lang="en-US" dirty="0"/>
              <a:t> </a:t>
            </a:r>
            <a:r>
              <a:rPr lang="en-US" dirty="0" err="1"/>
              <a:t>perchè</a:t>
            </a:r>
            <a:r>
              <a:rPr lang="en-US" dirty="0"/>
              <a:t> </a:t>
            </a:r>
            <a:r>
              <a:rPr lang="en-US" dirty="0" err="1"/>
              <a:t>nelle</a:t>
            </a:r>
            <a:r>
              <a:rPr lang="en-US" dirty="0"/>
              <a:t> </a:t>
            </a:r>
            <a:r>
              <a:rPr lang="en-US" dirty="0" err="1"/>
              <a:t>associazioni</a:t>
            </a:r>
            <a:r>
              <a:rPr lang="en-US" dirty="0"/>
              <a:t>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modello</a:t>
            </a:r>
            <a:r>
              <a:rPr lang="en-US" dirty="0"/>
              <a:t> OO e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modello</a:t>
            </a:r>
            <a:r>
              <a:rPr lang="en-US" dirty="0"/>
              <a:t> </a:t>
            </a:r>
            <a:r>
              <a:rPr lang="en-US" dirty="0" err="1"/>
              <a:t>relazionale</a:t>
            </a:r>
            <a:r>
              <a:rPr lang="en-US" dirty="0"/>
              <a:t> </a:t>
            </a:r>
            <a:r>
              <a:rPr lang="en-US" dirty="0" err="1"/>
              <a:t>sono</a:t>
            </a:r>
            <a:r>
              <a:rPr lang="en-US" dirty="0"/>
              <a:t> </a:t>
            </a:r>
            <a:r>
              <a:rPr lang="en-US" dirty="0" err="1"/>
              <a:t>più</a:t>
            </a:r>
            <a:r>
              <a:rPr lang="en-US" dirty="0"/>
              <a:t> </a:t>
            </a:r>
            <a:r>
              <a:rPr lang="en-US" dirty="0" err="1"/>
              <a:t>distanti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63364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Mapping </a:t>
            </a:r>
            <a:r>
              <a:rPr lang="en-US" dirty="0" err="1"/>
              <a:t>delle</a:t>
            </a:r>
            <a:r>
              <a:rPr lang="en-US" dirty="0"/>
              <a:t> </a:t>
            </a:r>
            <a:r>
              <a:rPr lang="en-US" dirty="0" err="1"/>
              <a:t>Associazioni</a:t>
            </a:r>
            <a:endParaRPr lang="en-US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Da un punto di vista </a:t>
            </a:r>
            <a:r>
              <a:rPr lang="en-US" dirty="0" err="1"/>
              <a:t>sintattico</a:t>
            </a:r>
            <a:r>
              <a:rPr lang="en-US" dirty="0"/>
              <a:t>, per </a:t>
            </a:r>
            <a:r>
              <a:rPr lang="en-US" dirty="0" err="1"/>
              <a:t>definire</a:t>
            </a:r>
            <a:r>
              <a:rPr lang="en-US" dirty="0"/>
              <a:t> </a:t>
            </a:r>
            <a:r>
              <a:rPr lang="en-US" dirty="0" err="1"/>
              <a:t>il</a:t>
            </a:r>
            <a:r>
              <a:rPr lang="en-US" dirty="0"/>
              <a:t> mapping di una </a:t>
            </a:r>
            <a:r>
              <a:rPr lang="en-US" dirty="0" err="1"/>
              <a:t>associazione</a:t>
            </a:r>
            <a:r>
              <a:rPr lang="en-US" dirty="0"/>
              <a:t> e </a:t>
            </a:r>
            <a:r>
              <a:rPr lang="en-US" dirty="0" err="1"/>
              <a:t>usiamo</a:t>
            </a:r>
            <a:r>
              <a:rPr lang="en-US" dirty="0"/>
              <a:t> </a:t>
            </a:r>
            <a:r>
              <a:rPr lang="en-US" dirty="0" err="1"/>
              <a:t>speciali</a:t>
            </a:r>
            <a:r>
              <a:rPr lang="en-US" dirty="0"/>
              <a:t> </a:t>
            </a:r>
            <a:r>
              <a:rPr lang="en-US" dirty="0" err="1"/>
              <a:t>annotazioni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vanno</a:t>
            </a:r>
            <a:r>
              <a:rPr lang="en-US" dirty="0"/>
              <a:t> poste prima </a:t>
            </a:r>
            <a:r>
              <a:rPr lang="en-US" dirty="0" err="1"/>
              <a:t>delle</a:t>
            </a:r>
            <a:r>
              <a:rPr lang="en-US" dirty="0"/>
              <a:t> </a:t>
            </a:r>
            <a:r>
              <a:rPr lang="en-US" dirty="0" err="1"/>
              <a:t>variabili</a:t>
            </a:r>
            <a:r>
              <a:rPr lang="en-US" dirty="0"/>
              <a:t> </a:t>
            </a:r>
            <a:r>
              <a:rPr lang="en-US" dirty="0" err="1"/>
              <a:t>riferimento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rappresentano</a:t>
            </a:r>
            <a:r>
              <a:rPr lang="en-US" dirty="0"/>
              <a:t> </a:t>
            </a:r>
            <a:r>
              <a:rPr lang="en-US" dirty="0" err="1"/>
              <a:t>l'associazione</a:t>
            </a:r>
            <a:endParaRPr lang="en-US" dirty="0"/>
          </a:p>
          <a:p>
            <a:r>
              <a:rPr lang="en-US" dirty="0"/>
              <a:t>Le </a:t>
            </a:r>
            <a:r>
              <a:rPr lang="en-US" dirty="0" err="1"/>
              <a:t>annotazioni</a:t>
            </a:r>
            <a:r>
              <a:rPr lang="en-US" dirty="0"/>
              <a:t> </a:t>
            </a:r>
            <a:r>
              <a:rPr lang="en-US" dirty="0" err="1"/>
              <a:t>specificano</a:t>
            </a:r>
            <a:r>
              <a:rPr lang="en-US" dirty="0"/>
              <a:t> la </a:t>
            </a:r>
            <a:r>
              <a:rPr lang="en-US" dirty="0" err="1"/>
              <a:t>cardinalià</a:t>
            </a:r>
            <a:r>
              <a:rPr lang="en-US" dirty="0"/>
              <a:t> </a:t>
            </a:r>
            <a:r>
              <a:rPr lang="en-US" dirty="0" err="1"/>
              <a:t>dell'associazione</a:t>
            </a:r>
            <a:r>
              <a:rPr lang="en-US" dirty="0"/>
              <a:t>:</a:t>
            </a:r>
          </a:p>
          <a:p>
            <a:pPr marL="600075" lvl="2" indent="0">
              <a:buNone/>
            </a:pPr>
            <a:r>
              <a:rPr lang="en-US" sz="1950" dirty="0"/>
              <a:t>@</a:t>
            </a:r>
            <a:r>
              <a:rPr lang="en-US" sz="1950" dirty="0" err="1"/>
              <a:t>OneToOne</a:t>
            </a:r>
            <a:endParaRPr lang="en-US" sz="1950" dirty="0"/>
          </a:p>
          <a:p>
            <a:pPr marL="600075" lvl="2" indent="0">
              <a:buNone/>
            </a:pPr>
            <a:r>
              <a:rPr lang="en-US" sz="1950" dirty="0"/>
              <a:t>@</a:t>
            </a:r>
            <a:r>
              <a:rPr lang="en-US" sz="1950" dirty="0" err="1"/>
              <a:t>OneToMany</a:t>
            </a:r>
            <a:endParaRPr lang="en-US" sz="1950" dirty="0"/>
          </a:p>
          <a:p>
            <a:pPr marL="600075" lvl="2" indent="0">
              <a:buNone/>
            </a:pPr>
            <a:r>
              <a:rPr lang="en-US" sz="1950" dirty="0"/>
              <a:t>@</a:t>
            </a:r>
            <a:r>
              <a:rPr lang="en-US" sz="1950" dirty="0" err="1"/>
              <a:t>ManyToOne</a:t>
            </a:r>
            <a:endParaRPr lang="en-US" sz="1950" dirty="0"/>
          </a:p>
          <a:p>
            <a:pPr marL="600075" lvl="2" indent="0">
              <a:buNone/>
            </a:pPr>
            <a:r>
              <a:rPr lang="en-US" sz="1950" dirty="0"/>
              <a:t>@</a:t>
            </a:r>
            <a:r>
              <a:rPr lang="en-US" sz="1950" dirty="0" err="1"/>
              <a:t>ManyToMany</a:t>
            </a:r>
            <a:endParaRPr lang="en-US" dirty="0"/>
          </a:p>
          <a:p>
            <a:r>
              <a:rPr lang="en-US" dirty="0"/>
              <a:t>Ma per </a:t>
            </a:r>
            <a:r>
              <a:rPr lang="en-US" dirty="0" err="1"/>
              <a:t>definire</a:t>
            </a:r>
            <a:r>
              <a:rPr lang="en-US" dirty="0"/>
              <a:t> </a:t>
            </a:r>
            <a:r>
              <a:rPr lang="en-US" dirty="0" err="1"/>
              <a:t>correttamente</a:t>
            </a:r>
            <a:r>
              <a:rPr lang="en-US" dirty="0"/>
              <a:t> </a:t>
            </a:r>
            <a:r>
              <a:rPr lang="en-US" dirty="0" err="1"/>
              <a:t>il</a:t>
            </a:r>
            <a:r>
              <a:rPr lang="en-US" dirty="0"/>
              <a:t> mapping </a:t>
            </a:r>
            <a:r>
              <a:rPr lang="en-US" dirty="0" err="1"/>
              <a:t>dobbiamo</a:t>
            </a:r>
            <a:r>
              <a:rPr lang="en-US" dirty="0"/>
              <a:t> </a:t>
            </a:r>
            <a:r>
              <a:rPr lang="en-US" dirty="0" err="1"/>
              <a:t>considerare</a:t>
            </a:r>
            <a:r>
              <a:rPr lang="en-US" dirty="0"/>
              <a:t> </a:t>
            </a:r>
            <a:r>
              <a:rPr lang="en-US" dirty="0" err="1"/>
              <a:t>anche</a:t>
            </a:r>
            <a:r>
              <a:rPr lang="en-US" dirty="0"/>
              <a:t> la </a:t>
            </a:r>
            <a:r>
              <a:rPr lang="en-US" b="1" dirty="0" err="1"/>
              <a:t>direzione</a:t>
            </a:r>
            <a:r>
              <a:rPr lang="en-US" dirty="0"/>
              <a:t> </a:t>
            </a:r>
            <a:r>
              <a:rPr lang="en-US" dirty="0" err="1"/>
              <a:t>dell'associazione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554214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Associazioni</a:t>
            </a:r>
            <a:r>
              <a:rPr lang="en-US" dirty="0"/>
              <a:t> </a:t>
            </a:r>
            <a:r>
              <a:rPr lang="en-US" dirty="0" err="1"/>
              <a:t>unidirezionali</a:t>
            </a:r>
            <a:endParaRPr lang="en-US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 </a:t>
            </a:r>
            <a:r>
              <a:rPr lang="en-US" dirty="0" err="1"/>
              <a:t>associazioni</a:t>
            </a:r>
            <a:r>
              <a:rPr lang="en-US" dirty="0"/>
              <a:t> </a:t>
            </a:r>
            <a:r>
              <a:rPr lang="en-US" dirty="0" err="1"/>
              <a:t>unidirezionali</a:t>
            </a:r>
            <a:r>
              <a:rPr lang="en-US" dirty="0"/>
              <a:t> </a:t>
            </a:r>
            <a:r>
              <a:rPr lang="en-US" dirty="0" err="1"/>
              <a:t>sono</a:t>
            </a:r>
            <a:r>
              <a:rPr lang="en-US" dirty="0"/>
              <a:t> </a:t>
            </a:r>
            <a:r>
              <a:rPr lang="en-US" dirty="0" err="1"/>
              <a:t>semplici</a:t>
            </a:r>
            <a:endParaRPr lang="en-US" dirty="0"/>
          </a:p>
          <a:p>
            <a:r>
              <a:rPr lang="en-US" dirty="0"/>
              <a:t>In </a:t>
            </a:r>
            <a:r>
              <a:rPr lang="en-US" dirty="0" err="1"/>
              <a:t>questo</a:t>
            </a:r>
            <a:r>
              <a:rPr lang="en-US" dirty="0"/>
              <a:t> </a:t>
            </a:r>
            <a:r>
              <a:rPr lang="en-US" dirty="0" err="1"/>
              <a:t>caso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sufficiente</a:t>
            </a:r>
            <a:r>
              <a:rPr lang="en-US" dirty="0"/>
              <a:t> </a:t>
            </a:r>
            <a:r>
              <a:rPr lang="en-US" dirty="0" err="1"/>
              <a:t>indicare</a:t>
            </a:r>
            <a:r>
              <a:rPr lang="en-US" dirty="0"/>
              <a:t> </a:t>
            </a:r>
            <a:r>
              <a:rPr lang="en-US" dirty="0" err="1"/>
              <a:t>l'associazione</a:t>
            </a:r>
            <a:r>
              <a:rPr lang="en-US" dirty="0"/>
              <a:t> </a:t>
            </a:r>
            <a:r>
              <a:rPr lang="en-US" dirty="0" err="1"/>
              <a:t>specificando</a:t>
            </a:r>
            <a:r>
              <a:rPr lang="en-US" dirty="0"/>
              <a:t> </a:t>
            </a:r>
            <a:r>
              <a:rPr lang="en-US" dirty="0" err="1"/>
              <a:t>correttamente</a:t>
            </a:r>
            <a:r>
              <a:rPr lang="en-US" dirty="0"/>
              <a:t> la </a:t>
            </a:r>
            <a:r>
              <a:rPr lang="en-US" dirty="0" err="1"/>
              <a:t>cardinalità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934462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Associazioni</a:t>
            </a:r>
            <a:r>
              <a:rPr lang="en-US" dirty="0"/>
              <a:t> </a:t>
            </a:r>
            <a:r>
              <a:rPr lang="en-US" dirty="0" err="1"/>
              <a:t>unidirezionali</a:t>
            </a:r>
            <a:br>
              <a:rPr lang="en-US" dirty="0"/>
            </a:br>
            <a:r>
              <a:rPr lang="en-US" dirty="0" err="1"/>
              <a:t>OneToOne</a:t>
            </a:r>
            <a:r>
              <a:rPr lang="en-US" dirty="0"/>
              <a:t>: </a:t>
            </a:r>
            <a:r>
              <a:rPr lang="en-US" dirty="0" err="1"/>
              <a:t>Esempio</a:t>
            </a:r>
            <a:endParaRPr lang="en-US" dirty="0"/>
          </a:p>
        </p:txBody>
      </p:sp>
      <p:graphicFrame>
        <p:nvGraphicFramePr>
          <p:cNvPr id="4" name="Segnaposto contenuto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88155267"/>
              </p:ext>
            </p:extLst>
          </p:nvPr>
        </p:nvGraphicFramePr>
        <p:xfrm>
          <a:off x="1964267" y="2239925"/>
          <a:ext cx="1864998" cy="11452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49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5151">
                <a:tc>
                  <a:txBody>
                    <a:bodyPr/>
                    <a:lstStyle/>
                    <a:p>
                      <a:pPr algn="ctr"/>
                      <a:r>
                        <a:rPr lang="it-IT" sz="1400" b="0" i="0" dirty="0">
                          <a:latin typeface="Calibri Light" panose="020F0302020204030204" pitchFamily="34" charset="0"/>
                        </a:rPr>
                        <a:t>Customer</a:t>
                      </a:r>
                      <a:endParaRPr lang="it-IT" sz="8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8655">
                <a:tc>
                  <a:txBody>
                    <a:bodyPr/>
                    <a:lstStyle/>
                    <a:p>
                      <a:r>
                        <a:rPr lang="it-IT" sz="800" b="0" i="0" dirty="0">
                          <a:latin typeface="Calibri Light" panose="020F0302020204030204" pitchFamily="34" charset="0"/>
                        </a:rPr>
                        <a:t>-id: Long</a:t>
                      </a:r>
                    </a:p>
                    <a:p>
                      <a:r>
                        <a:rPr lang="it-IT" sz="800" dirty="0"/>
                        <a:t>-</a:t>
                      </a:r>
                      <a:r>
                        <a:rPr lang="it-IT" sz="800" dirty="0" err="1"/>
                        <a:t>firstName</a:t>
                      </a:r>
                      <a:r>
                        <a:rPr lang="it-IT" sz="800" dirty="0"/>
                        <a:t>:</a:t>
                      </a:r>
                      <a:r>
                        <a:rPr lang="it-IT" sz="800" baseline="0" dirty="0"/>
                        <a:t> </a:t>
                      </a:r>
                      <a:r>
                        <a:rPr lang="it-IT" sz="800" baseline="0" dirty="0" err="1"/>
                        <a:t>String</a:t>
                      </a:r>
                      <a:endParaRPr lang="it-IT" sz="800" baseline="0" dirty="0"/>
                    </a:p>
                    <a:p>
                      <a:r>
                        <a:rPr lang="it-IT" sz="800" baseline="0" dirty="0"/>
                        <a:t>-</a:t>
                      </a:r>
                      <a:r>
                        <a:rPr lang="it-IT" sz="800" baseline="0" dirty="0" err="1"/>
                        <a:t>lastName</a:t>
                      </a:r>
                      <a:r>
                        <a:rPr lang="it-IT" sz="800" baseline="0" dirty="0"/>
                        <a:t>: </a:t>
                      </a:r>
                      <a:r>
                        <a:rPr lang="it-IT" sz="800" baseline="0" dirty="0" err="1"/>
                        <a:t>String</a:t>
                      </a:r>
                      <a:endParaRPr lang="it-IT" sz="800" baseline="0" dirty="0"/>
                    </a:p>
                    <a:p>
                      <a:r>
                        <a:rPr lang="it-IT" sz="800" baseline="0" dirty="0"/>
                        <a:t>-email: </a:t>
                      </a:r>
                      <a:r>
                        <a:rPr lang="it-IT" sz="800" baseline="0" dirty="0" err="1"/>
                        <a:t>String</a:t>
                      </a:r>
                      <a:endParaRPr lang="it-IT" sz="800" baseline="0" dirty="0"/>
                    </a:p>
                    <a:p>
                      <a:r>
                        <a:rPr lang="it-IT" sz="800" baseline="0" dirty="0"/>
                        <a:t>-</a:t>
                      </a:r>
                      <a:r>
                        <a:rPr lang="it-IT" sz="800" baseline="0" dirty="0" err="1"/>
                        <a:t>dateOfBirth</a:t>
                      </a:r>
                      <a:r>
                        <a:rPr lang="it-IT" sz="800" baseline="0" dirty="0"/>
                        <a:t>: </a:t>
                      </a:r>
                      <a:r>
                        <a:rPr lang="it-IT" sz="800" baseline="0" dirty="0" err="1"/>
                        <a:t>LocalDate</a:t>
                      </a:r>
                      <a:endParaRPr lang="it-IT" sz="800" baseline="0" dirty="0"/>
                    </a:p>
                    <a:p>
                      <a:r>
                        <a:rPr lang="it-IT" sz="800" baseline="0" dirty="0"/>
                        <a:t>-</a:t>
                      </a:r>
                      <a:r>
                        <a:rPr lang="it-IT" sz="800" baseline="0" dirty="0" err="1"/>
                        <a:t>registration</a:t>
                      </a:r>
                      <a:r>
                        <a:rPr lang="it-IT" sz="800" baseline="0" dirty="0"/>
                        <a:t>: </a:t>
                      </a:r>
                      <a:r>
                        <a:rPr lang="it-IT" sz="800" baseline="0" dirty="0" err="1"/>
                        <a:t>LocalDateTime</a:t>
                      </a:r>
                      <a:endParaRPr lang="it-IT" sz="8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Segnaposto contenuto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84815343"/>
              </p:ext>
            </p:extLst>
          </p:nvPr>
        </p:nvGraphicFramePr>
        <p:xfrm>
          <a:off x="4932200" y="2239925"/>
          <a:ext cx="1511789" cy="11452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17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5151">
                <a:tc>
                  <a:txBody>
                    <a:bodyPr/>
                    <a:lstStyle/>
                    <a:p>
                      <a:pPr algn="ctr"/>
                      <a:r>
                        <a:rPr lang="it-IT" sz="1400" b="0" i="0" dirty="0" err="1">
                          <a:latin typeface="Calibri Light" panose="020F0302020204030204" pitchFamily="34" charset="0"/>
                        </a:rPr>
                        <a:t>Address</a:t>
                      </a:r>
                      <a:endParaRPr lang="it-IT" sz="8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8670">
                <a:tc>
                  <a:txBody>
                    <a:bodyPr/>
                    <a:lstStyle/>
                    <a:p>
                      <a:r>
                        <a:rPr lang="it-IT" sz="800" b="0" i="0" dirty="0">
                          <a:latin typeface="Calibri Light" panose="020F0302020204030204" pitchFamily="34" charset="0"/>
                        </a:rPr>
                        <a:t>-id: Long</a:t>
                      </a:r>
                    </a:p>
                    <a:p>
                      <a:r>
                        <a:rPr lang="it-IT" sz="800" dirty="0"/>
                        <a:t>-</a:t>
                      </a:r>
                      <a:r>
                        <a:rPr lang="it-IT" sz="800" dirty="0" err="1"/>
                        <a:t>street</a:t>
                      </a:r>
                      <a:r>
                        <a:rPr lang="it-IT" sz="800" dirty="0"/>
                        <a:t>: </a:t>
                      </a:r>
                      <a:r>
                        <a:rPr lang="it-IT" sz="800" dirty="0" err="1"/>
                        <a:t>String</a:t>
                      </a:r>
                      <a:endParaRPr lang="it-IT" sz="800" dirty="0"/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dirty="0"/>
                        <a:t>--city: </a:t>
                      </a:r>
                      <a:r>
                        <a:rPr lang="it-IT" sz="800" dirty="0" err="1"/>
                        <a:t>String</a:t>
                      </a:r>
                      <a:endParaRPr lang="it-IT" sz="800" dirty="0"/>
                    </a:p>
                    <a:p>
                      <a:r>
                        <a:rPr lang="it-IT" sz="800" dirty="0"/>
                        <a:t>-state:</a:t>
                      </a:r>
                      <a:r>
                        <a:rPr lang="it-IT" sz="800" baseline="0" dirty="0"/>
                        <a:t> </a:t>
                      </a:r>
                      <a:r>
                        <a:rPr lang="it-IT" sz="800" baseline="0" dirty="0" err="1"/>
                        <a:t>String</a:t>
                      </a:r>
                      <a:endParaRPr lang="it-IT" sz="800" baseline="0" dirty="0"/>
                    </a:p>
                    <a:p>
                      <a:r>
                        <a:rPr lang="it-IT" sz="800" baseline="0" dirty="0"/>
                        <a:t>-</a:t>
                      </a:r>
                      <a:r>
                        <a:rPr lang="it-IT" sz="800" baseline="0" dirty="0" err="1"/>
                        <a:t>zipcode</a:t>
                      </a:r>
                      <a:r>
                        <a:rPr lang="it-IT" sz="800" baseline="0" dirty="0"/>
                        <a:t>: </a:t>
                      </a:r>
                      <a:r>
                        <a:rPr lang="it-IT" sz="800" baseline="0" dirty="0" err="1"/>
                        <a:t>String</a:t>
                      </a:r>
                      <a:endParaRPr lang="it-IT" sz="800" baseline="0" dirty="0"/>
                    </a:p>
                    <a:p>
                      <a:r>
                        <a:rPr lang="it-IT" sz="800" baseline="0" dirty="0"/>
                        <a:t>-country: </a:t>
                      </a:r>
                      <a:r>
                        <a:rPr lang="it-IT" sz="800" baseline="0" dirty="0" err="1"/>
                        <a:t>String</a:t>
                      </a:r>
                      <a:endParaRPr lang="it-IT" sz="8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6" name="Connettore 2 5"/>
          <p:cNvCxnSpPr>
            <a:cxnSpLocks/>
            <a:stCxn id="4" idx="3"/>
            <a:endCxn id="5" idx="1"/>
          </p:cNvCxnSpPr>
          <p:nvPr/>
        </p:nvCxnSpPr>
        <p:spPr>
          <a:xfrm>
            <a:off x="3829265" y="2812550"/>
            <a:ext cx="1102935" cy="0"/>
          </a:xfrm>
          <a:prstGeom prst="straightConnector1">
            <a:avLst/>
          </a:prstGeom>
          <a:ln w="12700" cmpd="sng">
            <a:solidFill>
              <a:schemeClr val="tx1"/>
            </a:solidFill>
            <a:prstDash val="solid"/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965959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273969" y="216575"/>
            <a:ext cx="8229600" cy="85725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Associazioni</a:t>
            </a:r>
            <a:r>
              <a:rPr lang="en-US" dirty="0"/>
              <a:t> </a:t>
            </a:r>
            <a:r>
              <a:rPr lang="en-US" dirty="0" err="1"/>
              <a:t>unidirezionali</a:t>
            </a:r>
            <a:br>
              <a:rPr lang="en-US" dirty="0"/>
            </a:br>
            <a:r>
              <a:rPr lang="en-US" dirty="0" err="1"/>
              <a:t>OneToOne</a:t>
            </a:r>
            <a:r>
              <a:rPr lang="en-US" dirty="0"/>
              <a:t>: </a:t>
            </a:r>
            <a:r>
              <a:rPr lang="en-US" dirty="0" err="1"/>
              <a:t>Esempio</a:t>
            </a:r>
            <a:r>
              <a:rPr lang="en-US" dirty="0"/>
              <a:t> (cont.)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2"/>
          </p:nvPr>
        </p:nvSpPr>
        <p:spPr>
          <a:xfrm>
            <a:off x="109276" y="216575"/>
            <a:ext cx="3628711" cy="4847793"/>
          </a:xfrm>
        </p:spPr>
        <p:txBody>
          <a:bodyPr vert="horz" lIns="68580" tIns="34290" rIns="68580" bIns="34290" rtlCol="0" anchor="t">
            <a:noAutofit/>
          </a:bodyPr>
          <a:lstStyle/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/>
              <a:t>+import </a:t>
            </a:r>
            <a:r>
              <a:rPr lang="en-US" sz="1200" dirty="0" err="1"/>
              <a:t>javax.persistence.Column</a:t>
            </a:r>
            <a:r>
              <a:rPr lang="en-US" sz="1200" dirty="0"/>
              <a:t>;[…]</a:t>
            </a:r>
            <a:endParaRPr lang="en-US" sz="1200" dirty="0">
              <a:cs typeface="Calibri Light" panose="020F0302020204030204" pitchFamily="34" charset="0"/>
            </a:endParaRP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/>
              <a:t>@Entity</a:t>
            </a:r>
            <a:endParaRPr lang="en-US" sz="1200" dirty="0">
              <a:cs typeface="Calibri Light" panose="020F0302020204030204" pitchFamily="34" charset="0"/>
            </a:endParaRPr>
          </a:p>
          <a:p>
            <a:pPr marL="0" indent="0">
              <a:buNone/>
            </a:pPr>
            <a:r>
              <a:rPr lang="en-US" sz="1200" dirty="0"/>
              <a:t>public class </a:t>
            </a:r>
            <a:r>
              <a:rPr lang="en-US" sz="1200" b="1" dirty="0"/>
              <a:t>Customer</a:t>
            </a:r>
            <a:r>
              <a:rPr lang="en-US" sz="1200" dirty="0"/>
              <a:t> {</a:t>
            </a:r>
            <a:endParaRPr lang="en-US" sz="1200" dirty="0">
              <a:cs typeface="Calibri Light" panose="020F0302020204030204" pitchFamily="34" charset="0"/>
            </a:endParaRP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/>
              <a:t>    @Id</a:t>
            </a:r>
            <a:endParaRPr lang="en-US" sz="1200" dirty="0">
              <a:cs typeface="Calibri Light" panose="020F0302020204030204" pitchFamily="34" charset="0"/>
            </a:endParaRPr>
          </a:p>
          <a:p>
            <a:pPr marL="0" indent="0">
              <a:buNone/>
            </a:pPr>
            <a:r>
              <a:rPr lang="en-US" sz="1200" dirty="0"/>
              <a:t>    @</a:t>
            </a:r>
            <a:r>
              <a:rPr lang="en-US" sz="1200" dirty="0" err="1"/>
              <a:t>GeneratedValue</a:t>
            </a:r>
            <a:r>
              <a:rPr lang="en-US" sz="1200" dirty="0"/>
              <a:t>(strategy = </a:t>
            </a:r>
            <a:r>
              <a:rPr lang="en-US" sz="1200" i="1" dirty="0"/>
              <a:t>AUTO)</a:t>
            </a:r>
            <a:endParaRPr lang="en-US" sz="1200" dirty="0">
              <a:cs typeface="Calibri Light" panose="020F0302020204030204" pitchFamily="34" charset="0"/>
            </a:endParaRPr>
          </a:p>
          <a:p>
            <a:pPr marL="0" indent="0">
              <a:buNone/>
            </a:pPr>
            <a:r>
              <a:rPr lang="en-US" sz="1200" dirty="0"/>
              <a:t>    private Long id;</a:t>
            </a:r>
            <a:endParaRPr lang="en-US" sz="1200" dirty="0">
              <a:cs typeface="Calibri Light" panose="020F0302020204030204" pitchFamily="34" charset="0"/>
            </a:endParaRPr>
          </a:p>
          <a:p>
            <a:pPr marL="0" indent="0">
              <a:buNone/>
            </a:pPr>
            <a:r>
              <a:rPr lang="en-US" sz="1200" dirty="0"/>
              <a:t>    @Column(nullable = false)</a:t>
            </a:r>
            <a:endParaRPr lang="en-US" sz="1200" dirty="0">
              <a:cs typeface="Calibri Light" panose="020F0302020204030204" pitchFamily="34" charset="0"/>
            </a:endParaRPr>
          </a:p>
          <a:p>
            <a:pPr marL="0" indent="0">
              <a:buNone/>
            </a:pPr>
            <a:r>
              <a:rPr lang="en-US" sz="1200" dirty="0"/>
              <a:t>    private String </a:t>
            </a:r>
            <a:r>
              <a:rPr lang="en-US" sz="1200" dirty="0" err="1"/>
              <a:t>firstName</a:t>
            </a:r>
            <a:r>
              <a:rPr lang="en-US" sz="1200" dirty="0"/>
              <a:t>;</a:t>
            </a:r>
            <a:endParaRPr lang="en-US" sz="1200" dirty="0">
              <a:cs typeface="Calibri Light" panose="020F0302020204030204" pitchFamily="34" charset="0"/>
            </a:endParaRPr>
          </a:p>
          <a:p>
            <a:pPr marL="0" indent="0">
              <a:buNone/>
            </a:pPr>
            <a:r>
              <a:rPr lang="en-US" sz="1200" dirty="0"/>
              <a:t>    @Column(nullable = false)</a:t>
            </a:r>
            <a:endParaRPr lang="en-US" sz="1200" dirty="0">
              <a:cs typeface="Calibri Light" panose="020F0302020204030204" pitchFamily="34" charset="0"/>
            </a:endParaRPr>
          </a:p>
          <a:p>
            <a:pPr marL="0" indent="0">
              <a:buNone/>
            </a:pPr>
            <a:r>
              <a:rPr lang="en-US" sz="1200" dirty="0"/>
              <a:t>    private String </a:t>
            </a:r>
            <a:r>
              <a:rPr lang="en-US" sz="1200" dirty="0" err="1"/>
              <a:t>lastName</a:t>
            </a:r>
            <a:r>
              <a:rPr lang="en-US" sz="1200" dirty="0"/>
              <a:t>;</a:t>
            </a:r>
            <a:endParaRPr lang="en-US" sz="1200" dirty="0">
              <a:cs typeface="Calibri Light" panose="020F0302020204030204" pitchFamily="34" charset="0"/>
            </a:endParaRPr>
          </a:p>
          <a:p>
            <a:pPr marL="0" indent="0">
              <a:buNone/>
            </a:pPr>
            <a:r>
              <a:rPr lang="en-US" sz="1200" dirty="0"/>
              <a:t>    private String email;</a:t>
            </a:r>
            <a:endParaRPr lang="en-US" sz="1200" dirty="0">
              <a:cs typeface="Calibri Light" panose="020F0302020204030204" pitchFamily="34" charset="0"/>
            </a:endParaRPr>
          </a:p>
          <a:p>
            <a:pPr marL="0" indent="0">
              <a:buNone/>
            </a:pPr>
            <a:r>
              <a:rPr lang="en-US" sz="1200" dirty="0"/>
              <a:t>    private </a:t>
            </a:r>
            <a:r>
              <a:rPr lang="en-US" sz="1200" dirty="0" err="1"/>
              <a:t>LocalDate</a:t>
            </a:r>
            <a:r>
              <a:rPr lang="en-US" sz="1200" dirty="0"/>
              <a:t> </a:t>
            </a:r>
            <a:r>
              <a:rPr lang="en-US" sz="1200" dirty="0" err="1"/>
              <a:t>dateOfBirth</a:t>
            </a:r>
            <a:r>
              <a:rPr lang="en-US" sz="1200" dirty="0"/>
              <a:t>;</a:t>
            </a:r>
          </a:p>
          <a:p>
            <a:pPr marL="0" indent="0">
              <a:buNone/>
            </a:pPr>
            <a:r>
              <a:rPr lang="en-US" sz="1200" dirty="0">
                <a:cs typeface="Calibri Light" panose="020F0302020204030204" pitchFamily="34" charset="0"/>
              </a:rPr>
              <a:t>    private </a:t>
            </a:r>
            <a:r>
              <a:rPr lang="en-US" sz="1200" dirty="0" err="1">
                <a:cs typeface="Calibri Light" panose="020F0302020204030204" pitchFamily="34" charset="0"/>
              </a:rPr>
              <a:t>LocalDateTime</a:t>
            </a:r>
            <a:r>
              <a:rPr lang="en-US" sz="1200" dirty="0">
                <a:cs typeface="Calibri Light" panose="020F0302020204030204" pitchFamily="34" charset="0"/>
              </a:rPr>
              <a:t> registration;</a:t>
            </a:r>
          </a:p>
          <a:p>
            <a:pPr marL="0" indent="0">
              <a:buNone/>
            </a:pPr>
            <a:r>
              <a:rPr lang="en-US" sz="1200" dirty="0"/>
              <a:t>    </a:t>
            </a:r>
            <a:r>
              <a:rPr lang="en-US" sz="1200" b="1" dirty="0">
                <a:solidFill>
                  <a:srgbClr val="C0504D"/>
                </a:solidFill>
              </a:rPr>
              <a:t>@</a:t>
            </a:r>
            <a:r>
              <a:rPr lang="en-US" sz="1200" b="1" dirty="0" err="1">
                <a:solidFill>
                  <a:srgbClr val="C0504D"/>
                </a:solidFill>
              </a:rPr>
              <a:t>OneToOne</a:t>
            </a:r>
            <a:endParaRPr lang="en-US" sz="1200" b="1" dirty="0">
              <a:solidFill>
                <a:srgbClr val="C0504D"/>
              </a:solidFill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C0504D"/>
                </a:solidFill>
              </a:rPr>
              <a:t>    private Address address;</a:t>
            </a:r>
            <a:endParaRPr lang="en-US" sz="1200" dirty="0">
              <a:solidFill>
                <a:srgbClr val="C0504D"/>
              </a:solidFill>
              <a:cs typeface="Calibri Light" panose="020F0302020204030204" pitchFamily="34" charset="0"/>
            </a:endParaRPr>
          </a:p>
          <a:p>
            <a:pPr marL="0" indent="0">
              <a:buNone/>
            </a:pPr>
            <a:r>
              <a:rPr lang="en-US" sz="1200" b="1" dirty="0"/>
              <a:t>…</a:t>
            </a:r>
          </a:p>
          <a:p>
            <a:pPr marL="0" indent="0">
              <a:buNone/>
            </a:pPr>
            <a:r>
              <a:rPr lang="en-US" sz="1200" b="1" dirty="0"/>
              <a:t>// getter, setter</a:t>
            </a:r>
            <a:endParaRPr lang="en-US" sz="1200" dirty="0">
              <a:cs typeface="Calibri Light" panose="020F0302020204030204" pitchFamily="34" charset="0"/>
            </a:endParaRPr>
          </a:p>
          <a:p>
            <a:pPr marL="0" indent="0">
              <a:buNone/>
            </a:pPr>
            <a:r>
              <a:rPr lang="en-US" sz="1200" b="1" dirty="0"/>
              <a:t>}</a:t>
            </a:r>
            <a:endParaRPr lang="en-US" sz="1200" dirty="0">
              <a:cs typeface="Calibri Light" panose="020F0302020204030204" pitchFamily="34" charset="0"/>
            </a:endParaRPr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572000" y="1073825"/>
            <a:ext cx="4004765" cy="48477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000" dirty="0"/>
              <a:t>package it.uniroma3.siw.model;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/>
              <a:t>+import </a:t>
            </a:r>
            <a:r>
              <a:rPr lang="en-US" sz="1000" dirty="0" err="1"/>
              <a:t>javax.persistence.Column</a:t>
            </a:r>
            <a:r>
              <a:rPr lang="en-US" sz="1000" dirty="0"/>
              <a:t>; […]</a:t>
            </a:r>
          </a:p>
          <a:p>
            <a:pPr marL="0" indent="0">
              <a:buNone/>
            </a:pPr>
            <a:r>
              <a:rPr lang="en-US" sz="1000" dirty="0" err="1"/>
              <a:t>i</a:t>
            </a:r>
            <a:endParaRPr lang="en-US" sz="1000" dirty="0"/>
          </a:p>
          <a:p>
            <a:pPr marL="0" indent="0">
              <a:buNone/>
            </a:pPr>
            <a:r>
              <a:rPr lang="en-US" sz="1000" dirty="0"/>
              <a:t>@Entity</a:t>
            </a:r>
          </a:p>
          <a:p>
            <a:pPr marL="0" indent="0">
              <a:buNone/>
            </a:pPr>
            <a:r>
              <a:rPr lang="en-US" sz="1000" dirty="0"/>
              <a:t>public class </a:t>
            </a:r>
            <a:r>
              <a:rPr lang="en-US" sz="1000" b="1" dirty="0"/>
              <a:t>Address</a:t>
            </a:r>
            <a:r>
              <a:rPr lang="en-US" sz="1000" dirty="0"/>
              <a:t> {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/>
              <a:t>    @Id</a:t>
            </a:r>
          </a:p>
          <a:p>
            <a:pPr marL="0" indent="0">
              <a:buNone/>
            </a:pPr>
            <a:r>
              <a:rPr lang="en-US" sz="1000" dirty="0"/>
              <a:t>    @</a:t>
            </a:r>
            <a:r>
              <a:rPr lang="en-US" sz="1000" dirty="0" err="1"/>
              <a:t>GeneratedValue</a:t>
            </a:r>
            <a:r>
              <a:rPr lang="en-US" sz="1000" dirty="0"/>
              <a:t>(strategy = </a:t>
            </a:r>
            <a:r>
              <a:rPr lang="en-US" sz="1000" dirty="0" err="1"/>
              <a:t>GenerationType.</a:t>
            </a:r>
            <a:r>
              <a:rPr lang="en-US" sz="1000" i="1" dirty="0" err="1"/>
              <a:t>AUTO</a:t>
            </a:r>
            <a:r>
              <a:rPr lang="en-US" sz="1000" i="1" dirty="0"/>
              <a:t>)</a:t>
            </a:r>
          </a:p>
          <a:p>
            <a:pPr marL="0" indent="0">
              <a:buNone/>
            </a:pPr>
            <a:r>
              <a:rPr lang="en-US" sz="1000" dirty="0"/>
              <a:t>    private Long id;</a:t>
            </a:r>
          </a:p>
          <a:p>
            <a:pPr marL="0" indent="0">
              <a:buNone/>
            </a:pPr>
            <a:r>
              <a:rPr lang="en-US" sz="1000" dirty="0"/>
              <a:t>   @Column(nullable = false)</a:t>
            </a:r>
          </a:p>
          <a:p>
            <a:pPr marL="0" indent="0">
              <a:buNone/>
            </a:pPr>
            <a:r>
              <a:rPr lang="en-US" sz="1000" dirty="0"/>
              <a:t>    private String street;</a:t>
            </a:r>
          </a:p>
          <a:p>
            <a:pPr marL="0" indent="0">
              <a:buNone/>
            </a:pPr>
            <a:r>
              <a:rPr lang="en-US" sz="1000" dirty="0"/>
              <a:t>    @Column(nullable = false)</a:t>
            </a:r>
          </a:p>
          <a:p>
            <a:pPr marL="0" indent="0">
              <a:buNone/>
            </a:pPr>
            <a:r>
              <a:rPr lang="en-US" sz="1000" dirty="0"/>
              <a:t>     private String city;</a:t>
            </a:r>
          </a:p>
          <a:p>
            <a:pPr marL="0" indent="0">
              <a:buNone/>
            </a:pPr>
            <a:r>
              <a:rPr lang="en-US" sz="1000" dirty="0"/>
              <a:t>     private String state;</a:t>
            </a:r>
          </a:p>
          <a:p>
            <a:pPr marL="0" indent="0">
              <a:buNone/>
            </a:pPr>
            <a:r>
              <a:rPr lang="en-US" sz="1000" dirty="0"/>
              <a:t>    @Column(nullable = false)</a:t>
            </a:r>
          </a:p>
          <a:p>
            <a:pPr marL="0" indent="0">
              <a:buNone/>
            </a:pPr>
            <a:r>
              <a:rPr lang="en-US" sz="1000" dirty="0"/>
              <a:t>     private String </a:t>
            </a:r>
            <a:r>
              <a:rPr lang="en-US" sz="1000" dirty="0" err="1"/>
              <a:t>zipcode</a:t>
            </a:r>
            <a:r>
              <a:rPr lang="en-US" sz="1000" dirty="0"/>
              <a:t>;</a:t>
            </a:r>
          </a:p>
          <a:p>
            <a:pPr marL="0" indent="0">
              <a:buNone/>
            </a:pPr>
            <a:r>
              <a:rPr lang="en-US" sz="1000" dirty="0"/>
              <a:t>    @Column(nullable = false)</a:t>
            </a:r>
          </a:p>
          <a:p>
            <a:pPr marL="0" indent="0">
              <a:buNone/>
            </a:pPr>
            <a:r>
              <a:rPr lang="en-US" sz="1000" dirty="0"/>
              <a:t>    private String country;</a:t>
            </a:r>
          </a:p>
          <a:p>
            <a:pPr marL="0" indent="0">
              <a:buNone/>
            </a:pPr>
            <a:r>
              <a:rPr lang="en-US" sz="1000" dirty="0"/>
              <a:t>…</a:t>
            </a:r>
          </a:p>
          <a:p>
            <a:pPr marL="0" indent="0">
              <a:buNone/>
            </a:pPr>
            <a:r>
              <a:rPr lang="en-US" sz="1000" dirty="0"/>
              <a:t>// getter, setter</a:t>
            </a:r>
          </a:p>
          <a:p>
            <a:pPr marL="0" indent="0">
              <a:buNone/>
            </a:pPr>
            <a:r>
              <a:rPr lang="en-US" sz="1000" dirty="0"/>
              <a:t>}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2ABBCBAF-2E4D-95A6-1D08-2C568932E6DC}"/>
              </a:ext>
            </a:extLst>
          </p:cNvPr>
          <p:cNvSpPr txBox="1"/>
          <p:nvPr/>
        </p:nvSpPr>
        <p:spPr>
          <a:xfrm>
            <a:off x="624800" y="4788425"/>
            <a:ext cx="32791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highlight>
                  <a:srgbClr val="FFFF00"/>
                </a:highlight>
                <a:latin typeface="Calibri Light" panose="020F0302020204030204" pitchFamily="34" charset="0"/>
              </a:rPr>
              <a:t>(</a:t>
            </a:r>
            <a:r>
              <a:rPr lang="en-US" sz="1200" dirty="0" err="1">
                <a:highlight>
                  <a:srgbClr val="FFFF00"/>
                </a:highlight>
                <a:latin typeface="Calibri Light" panose="020F0302020204030204" pitchFamily="34" charset="0"/>
              </a:rPr>
              <a:t>nel</a:t>
            </a:r>
            <a:r>
              <a:rPr lang="en-US" sz="1200" dirty="0">
                <a:highlight>
                  <a:srgbClr val="FFFF00"/>
                </a:highlight>
                <a:latin typeface="Calibri Light" panose="020F0302020204030204" pitchFamily="34" charset="0"/>
              </a:rPr>
              <a:t> </a:t>
            </a:r>
            <a:r>
              <a:rPr lang="en-US" sz="1200" dirty="0" err="1">
                <a:highlight>
                  <a:srgbClr val="FFFF00"/>
                </a:highlight>
                <a:latin typeface="Calibri Light" panose="020F0302020204030204" pitchFamily="34" charset="0"/>
              </a:rPr>
              <a:t>seguito</a:t>
            </a:r>
            <a:r>
              <a:rPr lang="en-US" sz="1200" dirty="0">
                <a:highlight>
                  <a:srgbClr val="FFFF00"/>
                </a:highlight>
                <a:latin typeface="Calibri Light" panose="020F0302020204030204" pitchFamily="34" charset="0"/>
              </a:rPr>
              <a:t>, getter e setter </a:t>
            </a:r>
            <a:r>
              <a:rPr lang="en-US" sz="1200" dirty="0" err="1">
                <a:highlight>
                  <a:srgbClr val="FFFF00"/>
                </a:highlight>
                <a:latin typeface="Calibri Light" panose="020F0302020204030204" pitchFamily="34" charset="0"/>
              </a:rPr>
              <a:t>omessi</a:t>
            </a:r>
            <a:r>
              <a:rPr lang="en-US" sz="1200" dirty="0">
                <a:highlight>
                  <a:srgbClr val="FFFF00"/>
                </a:highlight>
                <a:latin typeface="Calibri Light" panose="020F0302020204030204" pitchFamily="34" charset="0"/>
              </a:rPr>
              <a:t> per </a:t>
            </a:r>
            <a:r>
              <a:rPr lang="en-US" sz="1200" dirty="0" err="1">
                <a:highlight>
                  <a:srgbClr val="FFFF00"/>
                </a:highlight>
                <a:latin typeface="Calibri Light" panose="020F0302020204030204" pitchFamily="34" charset="0"/>
              </a:rPr>
              <a:t>leggibilità</a:t>
            </a:r>
            <a:r>
              <a:rPr lang="en-US" sz="1200" dirty="0">
                <a:highlight>
                  <a:srgbClr val="FFFF00"/>
                </a:highlight>
                <a:latin typeface="Calibri Light" panose="020F030202020403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3533581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700" dirty="0"/>
              <a:t>Object-Relational-Mapping</a:t>
            </a:r>
            <a:br>
              <a:rPr lang="en-US" sz="2700" dirty="0"/>
            </a:br>
            <a:r>
              <a:rPr lang="en-US" sz="2700" dirty="0"/>
              <a:t>Tipi info </a:t>
            </a:r>
            <a:r>
              <a:rPr lang="en-US" sz="2700" dirty="0" err="1"/>
              <a:t>temporali</a:t>
            </a:r>
            <a:endParaRPr lang="en-US" sz="2700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Da Java 8 le info </a:t>
            </a:r>
            <a:r>
              <a:rPr lang="en-US" dirty="0" err="1"/>
              <a:t>temporali</a:t>
            </a:r>
            <a:r>
              <a:rPr lang="en-US" dirty="0"/>
              <a:t> </a:t>
            </a:r>
            <a:r>
              <a:rPr lang="en-US" dirty="0" err="1"/>
              <a:t>sono</a:t>
            </a:r>
            <a:r>
              <a:rPr lang="en-US" dirty="0"/>
              <a:t> </a:t>
            </a:r>
            <a:r>
              <a:rPr lang="en-US" dirty="0" err="1"/>
              <a:t>rappresentate</a:t>
            </a:r>
            <a:r>
              <a:rPr lang="en-US" dirty="0"/>
              <a:t> con le </a:t>
            </a:r>
            <a:r>
              <a:rPr lang="en-US" dirty="0" err="1"/>
              <a:t>classi</a:t>
            </a:r>
            <a:r>
              <a:rPr lang="en-US" dirty="0"/>
              <a:t> del package </a:t>
            </a:r>
            <a:r>
              <a:rPr lang="en-US" dirty="0" err="1"/>
              <a:t>java.time</a:t>
            </a:r>
            <a:endParaRPr lang="en-US" dirty="0"/>
          </a:p>
          <a:p>
            <a:pPr lvl="1"/>
            <a:r>
              <a:rPr lang="en-US" dirty="0" err="1"/>
              <a:t>LocalDate</a:t>
            </a:r>
            <a:r>
              <a:rPr lang="en-US" dirty="0"/>
              <a:t> </a:t>
            </a:r>
            <a:r>
              <a:rPr lang="en-US" dirty="0" err="1"/>
              <a:t>rappresenta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data (</a:t>
            </a:r>
            <a:r>
              <a:rPr lang="en-US" dirty="0" err="1"/>
              <a:t>giorno</a:t>
            </a:r>
            <a:r>
              <a:rPr lang="en-US" dirty="0"/>
              <a:t>, </a:t>
            </a:r>
            <a:r>
              <a:rPr lang="en-US" dirty="0" err="1"/>
              <a:t>mese</a:t>
            </a:r>
            <a:r>
              <a:rPr lang="en-US" dirty="0"/>
              <a:t>, anno)</a:t>
            </a:r>
          </a:p>
          <a:p>
            <a:pPr lvl="1"/>
            <a:r>
              <a:rPr lang="en-US" dirty="0" err="1"/>
              <a:t>LocalDateTime</a:t>
            </a:r>
            <a:r>
              <a:rPr lang="en-US" dirty="0"/>
              <a:t> </a:t>
            </a:r>
            <a:r>
              <a:rPr lang="en-US" dirty="0" err="1"/>
              <a:t>rappresenta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data complete di </a:t>
            </a:r>
            <a:r>
              <a:rPr lang="en-US" dirty="0" err="1"/>
              <a:t>orario</a:t>
            </a:r>
            <a:r>
              <a:rPr lang="en-US" dirty="0"/>
              <a:t> (</a:t>
            </a:r>
            <a:r>
              <a:rPr lang="en-US" dirty="0" err="1"/>
              <a:t>giorno</a:t>
            </a:r>
            <a:r>
              <a:rPr lang="en-US" dirty="0"/>
              <a:t>, </a:t>
            </a:r>
            <a:r>
              <a:rPr lang="en-US" dirty="0" err="1"/>
              <a:t>mese</a:t>
            </a:r>
            <a:r>
              <a:rPr lang="en-US" dirty="0"/>
              <a:t>, anno, </a:t>
            </a:r>
            <a:r>
              <a:rPr lang="en-US" dirty="0" err="1"/>
              <a:t>ora</a:t>
            </a:r>
            <a:r>
              <a:rPr lang="en-US" dirty="0"/>
              <a:t>, </a:t>
            </a:r>
            <a:r>
              <a:rPr lang="en-US" dirty="0" err="1"/>
              <a:t>minuti</a:t>
            </a:r>
            <a:r>
              <a:rPr lang="en-US" dirty="0"/>
              <a:t>, secondi)</a:t>
            </a:r>
          </a:p>
          <a:p>
            <a:r>
              <a:rPr lang="en-US" dirty="0"/>
              <a:t>In SQL le </a:t>
            </a:r>
            <a:r>
              <a:rPr lang="en-US" dirty="0" err="1"/>
              <a:t>informazioni</a:t>
            </a:r>
            <a:r>
              <a:rPr lang="en-US" dirty="0"/>
              <a:t> </a:t>
            </a:r>
            <a:r>
              <a:rPr lang="en-US" dirty="0" err="1"/>
              <a:t>temporali</a:t>
            </a:r>
            <a:r>
              <a:rPr lang="en-US" dirty="0"/>
              <a:t> </a:t>
            </a:r>
            <a:r>
              <a:rPr lang="en-US" dirty="0" err="1"/>
              <a:t>sono</a:t>
            </a:r>
            <a:r>
              <a:rPr lang="en-US" dirty="0"/>
              <a:t> </a:t>
            </a:r>
            <a:r>
              <a:rPr lang="en-US" dirty="0" err="1"/>
              <a:t>rappresentate</a:t>
            </a:r>
            <a:r>
              <a:rPr lang="en-US" dirty="0"/>
              <a:t> da DATE e TIMESTAMP, </a:t>
            </a:r>
            <a:r>
              <a:rPr lang="en-US" dirty="0" err="1"/>
              <a:t>che</a:t>
            </a:r>
            <a:r>
              <a:rPr lang="en-US" dirty="0"/>
              <a:t>  </a:t>
            </a:r>
            <a:r>
              <a:rPr lang="en-US" dirty="0" err="1"/>
              <a:t>hanno</a:t>
            </a:r>
            <a:r>
              <a:rPr lang="en-US" dirty="0"/>
              <a:t> </a:t>
            </a:r>
            <a:r>
              <a:rPr lang="en-US" dirty="0" err="1"/>
              <a:t>diversa</a:t>
            </a:r>
            <a:r>
              <a:rPr lang="en-US" dirty="0"/>
              <a:t> </a:t>
            </a:r>
            <a:r>
              <a:rPr lang="en-US" dirty="0" err="1"/>
              <a:t>granularità</a:t>
            </a:r>
            <a:r>
              <a:rPr lang="en-US" dirty="0"/>
              <a:t> (date, </a:t>
            </a:r>
            <a:r>
              <a:rPr lang="en-US" dirty="0" err="1"/>
              <a:t>date+orario</a:t>
            </a:r>
            <a:r>
              <a:rPr lang="en-US" dirty="0"/>
              <a:t>)</a:t>
            </a:r>
          </a:p>
          <a:p>
            <a:r>
              <a:rPr lang="en-US" dirty="0"/>
              <a:t>A </a:t>
            </a:r>
            <a:r>
              <a:rPr lang="en-US" dirty="0" err="1"/>
              <a:t>partire</a:t>
            </a:r>
            <a:r>
              <a:rPr lang="en-US" dirty="0"/>
              <a:t> da JPA 2.2, </a:t>
            </a:r>
            <a:r>
              <a:rPr lang="en-US" dirty="0" err="1"/>
              <a:t>c’é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corrispondenza</a:t>
            </a:r>
            <a:r>
              <a:rPr lang="en-US" dirty="0"/>
              <a:t> </a:t>
            </a:r>
            <a:r>
              <a:rPr lang="en-US" dirty="0" err="1"/>
              <a:t>diretta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tipi SQL e le </a:t>
            </a:r>
            <a:r>
              <a:rPr lang="en-US" dirty="0" err="1"/>
              <a:t>classi</a:t>
            </a:r>
            <a:r>
              <a:rPr lang="en-US" dirty="0"/>
              <a:t> di </a:t>
            </a:r>
            <a:r>
              <a:rPr lang="en-US" dirty="0" err="1"/>
              <a:t>java.time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164511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700" dirty="0"/>
              <a:t>Object-Relational-Mapping</a:t>
            </a:r>
            <a:br>
              <a:rPr lang="en-US" sz="2700" dirty="0"/>
            </a:br>
            <a:r>
              <a:rPr lang="en-US" sz="2700" dirty="0"/>
              <a:t>Tipi info </a:t>
            </a:r>
            <a:r>
              <a:rPr lang="en-US" sz="2700" dirty="0" err="1"/>
              <a:t>temporali</a:t>
            </a:r>
            <a:endParaRPr lang="en-US" sz="2700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dirty="0" err="1"/>
              <a:t>partire</a:t>
            </a:r>
            <a:r>
              <a:rPr lang="en-US" dirty="0"/>
              <a:t> da JPA 2.2, </a:t>
            </a:r>
            <a:r>
              <a:rPr lang="en-US" dirty="0" err="1"/>
              <a:t>c’é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corrispondenza</a:t>
            </a:r>
            <a:r>
              <a:rPr lang="en-US" dirty="0"/>
              <a:t> </a:t>
            </a:r>
            <a:r>
              <a:rPr lang="en-US" dirty="0" err="1"/>
              <a:t>diretta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tipi SQL e le </a:t>
            </a:r>
            <a:r>
              <a:rPr lang="en-US" dirty="0" err="1"/>
              <a:t>classi</a:t>
            </a:r>
            <a:r>
              <a:rPr lang="en-US" dirty="0"/>
              <a:t> di </a:t>
            </a:r>
            <a:r>
              <a:rPr lang="en-US" dirty="0" err="1"/>
              <a:t>java.time</a:t>
            </a:r>
            <a:endParaRPr lang="en-US" dirty="0"/>
          </a:p>
        </p:txBody>
      </p:sp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F20AE66C-F9E2-6F43-8CD3-9556CDA6E4C8}"/>
              </a:ext>
            </a:extLst>
          </p:cNvPr>
          <p:cNvGraphicFramePr>
            <a:graphicFrameLocks noGrp="1"/>
          </p:cNvGraphicFramePr>
          <p:nvPr/>
        </p:nvGraphicFramePr>
        <p:xfrm>
          <a:off x="1525190" y="2236946"/>
          <a:ext cx="6093620" cy="2031687"/>
        </p:xfrm>
        <a:graphic>
          <a:graphicData uri="http://schemas.openxmlformats.org/drawingml/2006/table">
            <a:tbl>
              <a:tblPr/>
              <a:tblGrid>
                <a:gridCol w="3046810">
                  <a:extLst>
                    <a:ext uri="{9D8B030D-6E8A-4147-A177-3AD203B41FA5}">
                      <a16:colId xmlns:a16="http://schemas.microsoft.com/office/drawing/2014/main" val="2330479179"/>
                    </a:ext>
                  </a:extLst>
                </a:gridCol>
                <a:gridCol w="3046810">
                  <a:extLst>
                    <a:ext uri="{9D8B030D-6E8A-4147-A177-3AD203B41FA5}">
                      <a16:colId xmlns:a16="http://schemas.microsoft.com/office/drawing/2014/main" val="3562486673"/>
                    </a:ext>
                  </a:extLst>
                </a:gridCol>
              </a:tblGrid>
              <a:tr h="225743">
                <a:tc>
                  <a:txBody>
                    <a:bodyPr/>
                    <a:lstStyle/>
                    <a:p>
                      <a:r>
                        <a:rPr lang="it-IT" sz="1000" b="1" i="0">
                          <a:effectLst/>
                          <a:latin typeface="Helvetica Neue" panose="02000503000000020004" pitchFamily="2" charset="0"/>
                        </a:rPr>
                        <a:t>JAVA TYPE</a:t>
                      </a:r>
                    </a:p>
                  </a:txBody>
                  <a:tcPr marL="71438" marR="71438" marT="35719" marB="35719" anchor="ctr">
                    <a:lnL w="9525" cap="flat" cmpd="sng" algn="ctr">
                      <a:solidFill>
                        <a:srgbClr val="D9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84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000" b="1" i="0" dirty="0">
                          <a:effectLst/>
                          <a:latin typeface="Helvetica Neue" panose="02000503000000020004" pitchFamily="2" charset="0"/>
                        </a:rPr>
                        <a:t>SQL TYPE</a:t>
                      </a:r>
                    </a:p>
                  </a:txBody>
                  <a:tcPr marL="71438" marR="71438" marT="35719" marB="35719" anchor="ctr">
                    <a:lnL w="9525" cap="flat" cmpd="sng" algn="ctr">
                      <a:solidFill>
                        <a:srgbClr val="D9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8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4270252"/>
                  </a:ext>
                </a:extLst>
              </a:tr>
              <a:tr h="225743">
                <a:tc>
                  <a:txBody>
                    <a:bodyPr/>
                    <a:lstStyle/>
                    <a:p>
                      <a:r>
                        <a:rPr lang="it-IT" sz="1000" b="0">
                          <a:effectLst/>
                          <a:latin typeface="Cambira"/>
                        </a:rPr>
                        <a:t>java.time.Duration</a:t>
                      </a:r>
                    </a:p>
                  </a:txBody>
                  <a:tcPr marL="71438" marR="71438" marT="35719" marB="3571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000" b="0">
                          <a:effectLst/>
                          <a:latin typeface="Cambira"/>
                        </a:rPr>
                        <a:t>BIGINT</a:t>
                      </a:r>
                    </a:p>
                  </a:txBody>
                  <a:tcPr marL="71438" marR="71438" marT="35719" marB="3571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9477957"/>
                  </a:ext>
                </a:extLst>
              </a:tr>
              <a:tr h="225743">
                <a:tc>
                  <a:txBody>
                    <a:bodyPr/>
                    <a:lstStyle/>
                    <a:p>
                      <a:r>
                        <a:rPr lang="it-IT" sz="1000" b="0">
                          <a:effectLst/>
                          <a:latin typeface="Cambira"/>
                        </a:rPr>
                        <a:t>java.time.Instant</a:t>
                      </a:r>
                    </a:p>
                  </a:txBody>
                  <a:tcPr marL="71438" marR="71438" marT="35719" marB="3571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1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000" b="0">
                          <a:effectLst/>
                          <a:latin typeface="Cambira"/>
                        </a:rPr>
                        <a:t>TIMESTAMP</a:t>
                      </a:r>
                    </a:p>
                  </a:txBody>
                  <a:tcPr marL="71438" marR="71438" marT="35719" marB="3571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581158"/>
                  </a:ext>
                </a:extLst>
              </a:tr>
              <a:tr h="225743">
                <a:tc>
                  <a:txBody>
                    <a:bodyPr/>
                    <a:lstStyle/>
                    <a:p>
                      <a:r>
                        <a:rPr lang="it-IT" sz="1000" b="0">
                          <a:effectLst/>
                          <a:latin typeface="Cambira"/>
                        </a:rPr>
                        <a:t>java.time.LocalDateTime</a:t>
                      </a:r>
                    </a:p>
                  </a:txBody>
                  <a:tcPr marL="71438" marR="71438" marT="35719" marB="3571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000" b="0">
                          <a:effectLst/>
                          <a:latin typeface="Cambira"/>
                        </a:rPr>
                        <a:t>TIMESTAMP</a:t>
                      </a:r>
                    </a:p>
                  </a:txBody>
                  <a:tcPr marL="71438" marR="71438" marT="35719" marB="3571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1739738"/>
                  </a:ext>
                </a:extLst>
              </a:tr>
              <a:tr h="225743">
                <a:tc>
                  <a:txBody>
                    <a:bodyPr/>
                    <a:lstStyle/>
                    <a:p>
                      <a:r>
                        <a:rPr lang="it-IT" sz="1000" b="0">
                          <a:effectLst/>
                          <a:latin typeface="Cambira"/>
                        </a:rPr>
                        <a:t>java.time.LocalDate</a:t>
                      </a:r>
                    </a:p>
                  </a:txBody>
                  <a:tcPr marL="71438" marR="71438" marT="35719" marB="3571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1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000" b="0">
                          <a:effectLst/>
                          <a:latin typeface="Cambira"/>
                        </a:rPr>
                        <a:t>DATE</a:t>
                      </a:r>
                    </a:p>
                  </a:txBody>
                  <a:tcPr marL="71438" marR="71438" marT="35719" marB="3571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4336425"/>
                  </a:ext>
                </a:extLst>
              </a:tr>
              <a:tr h="225743">
                <a:tc>
                  <a:txBody>
                    <a:bodyPr/>
                    <a:lstStyle/>
                    <a:p>
                      <a:r>
                        <a:rPr lang="it-IT" sz="1000" b="0">
                          <a:effectLst/>
                          <a:latin typeface="Cambira"/>
                        </a:rPr>
                        <a:t>java.time.LocalTime</a:t>
                      </a:r>
                    </a:p>
                  </a:txBody>
                  <a:tcPr marL="71438" marR="71438" marT="35719" marB="3571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000" b="0">
                          <a:effectLst/>
                          <a:latin typeface="Cambira"/>
                        </a:rPr>
                        <a:t>TIME</a:t>
                      </a:r>
                    </a:p>
                  </a:txBody>
                  <a:tcPr marL="71438" marR="71438" marT="35719" marB="3571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144028"/>
                  </a:ext>
                </a:extLst>
              </a:tr>
              <a:tr h="225743">
                <a:tc>
                  <a:txBody>
                    <a:bodyPr/>
                    <a:lstStyle/>
                    <a:p>
                      <a:r>
                        <a:rPr lang="it-IT" sz="1000" b="0">
                          <a:effectLst/>
                          <a:latin typeface="Cambira"/>
                        </a:rPr>
                        <a:t>java.time.OffsetDateTime</a:t>
                      </a:r>
                    </a:p>
                  </a:txBody>
                  <a:tcPr marL="71438" marR="71438" marT="35719" marB="3571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1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000" b="0">
                          <a:effectLst/>
                          <a:latin typeface="Cambira"/>
                        </a:rPr>
                        <a:t>TIMESTAMP</a:t>
                      </a:r>
                    </a:p>
                  </a:txBody>
                  <a:tcPr marL="71438" marR="71438" marT="35719" marB="3571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8890714"/>
                  </a:ext>
                </a:extLst>
              </a:tr>
              <a:tr h="225743">
                <a:tc>
                  <a:txBody>
                    <a:bodyPr/>
                    <a:lstStyle/>
                    <a:p>
                      <a:r>
                        <a:rPr lang="it-IT" sz="1000" b="0">
                          <a:effectLst/>
                          <a:latin typeface="Cambira"/>
                        </a:rPr>
                        <a:t>java.time.OffsetTime</a:t>
                      </a:r>
                    </a:p>
                  </a:txBody>
                  <a:tcPr marL="71438" marR="71438" marT="35719" marB="3571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000" b="0">
                          <a:effectLst/>
                          <a:latin typeface="Cambira"/>
                        </a:rPr>
                        <a:t>TIME</a:t>
                      </a:r>
                    </a:p>
                  </a:txBody>
                  <a:tcPr marL="71438" marR="71438" marT="35719" marB="3571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4044224"/>
                  </a:ext>
                </a:extLst>
              </a:tr>
              <a:tr h="225743">
                <a:tc>
                  <a:txBody>
                    <a:bodyPr/>
                    <a:lstStyle/>
                    <a:p>
                      <a:r>
                        <a:rPr lang="it-IT" sz="1000" b="0">
                          <a:effectLst/>
                          <a:latin typeface="Cambira"/>
                        </a:rPr>
                        <a:t>java.time.ZonedDateTime</a:t>
                      </a:r>
                    </a:p>
                  </a:txBody>
                  <a:tcPr marL="71438" marR="71438" marT="35719" marB="3571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1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000" b="0" dirty="0">
                          <a:effectLst/>
                          <a:latin typeface="Cambira"/>
                        </a:rPr>
                        <a:t>TIMESTAMP</a:t>
                      </a:r>
                    </a:p>
                  </a:txBody>
                  <a:tcPr marL="71438" marR="71438" marT="35719" marB="3571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81786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43496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700" dirty="0"/>
              <a:t>Object-Relational-Mapping</a:t>
            </a:r>
            <a:br>
              <a:rPr lang="en-US" sz="2700" dirty="0"/>
            </a:br>
            <a:r>
              <a:rPr lang="en-US" sz="2700" dirty="0"/>
              <a:t>Tipi info </a:t>
            </a:r>
            <a:r>
              <a:rPr lang="en-US" sz="2700" dirty="0" err="1"/>
              <a:t>temporali</a:t>
            </a:r>
            <a:endParaRPr lang="en-US" sz="2700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Nella </a:t>
            </a:r>
            <a:r>
              <a:rPr lang="en-US" dirty="0" err="1"/>
              <a:t>classe</a:t>
            </a:r>
            <a:r>
              <a:rPr lang="en-US" dirty="0"/>
              <a:t> Customer: </a:t>
            </a:r>
          </a:p>
          <a:p>
            <a:pPr lvl="1"/>
            <a:r>
              <a:rPr lang="en-US" dirty="0"/>
              <a:t>per la data di </a:t>
            </a:r>
            <a:r>
              <a:rPr lang="en-US" dirty="0" err="1"/>
              <a:t>nascita</a:t>
            </a:r>
            <a:r>
              <a:rPr lang="en-US" dirty="0"/>
              <a:t>:</a:t>
            </a:r>
          </a:p>
          <a:p>
            <a:pPr marL="685800" lvl="2" indent="0">
              <a:buNone/>
            </a:pPr>
            <a:r>
              <a:rPr lang="en-US" b="1" dirty="0">
                <a:solidFill>
                  <a:srgbClr val="C0504D"/>
                </a:solidFill>
              </a:rPr>
              <a:t>private </a:t>
            </a:r>
            <a:r>
              <a:rPr lang="en-US" b="1" dirty="0" err="1">
                <a:solidFill>
                  <a:srgbClr val="C0504D"/>
                </a:solidFill>
              </a:rPr>
              <a:t>LocalDate</a:t>
            </a:r>
            <a:r>
              <a:rPr lang="en-US" b="1" dirty="0">
                <a:solidFill>
                  <a:srgbClr val="C0504D"/>
                </a:solidFill>
              </a:rPr>
              <a:t> </a:t>
            </a:r>
            <a:r>
              <a:rPr lang="en-US" b="1" dirty="0" err="1">
                <a:solidFill>
                  <a:srgbClr val="C0504D"/>
                </a:solidFill>
              </a:rPr>
              <a:t>dateOfBirth</a:t>
            </a:r>
            <a:r>
              <a:rPr lang="en-US" b="1" dirty="0">
                <a:solidFill>
                  <a:srgbClr val="C0504D"/>
                </a:solidFill>
              </a:rPr>
              <a:t>; </a:t>
            </a:r>
          </a:p>
          <a:p>
            <a:pPr lvl="1"/>
            <a:r>
              <a:rPr lang="en-US" dirty="0"/>
              <a:t>per data e </a:t>
            </a:r>
            <a:r>
              <a:rPr lang="en-US" dirty="0" err="1"/>
              <a:t>ora</a:t>
            </a:r>
            <a:r>
              <a:rPr lang="en-US" dirty="0"/>
              <a:t> di </a:t>
            </a:r>
            <a:r>
              <a:rPr lang="en-US" dirty="0" err="1"/>
              <a:t>registrazione</a:t>
            </a:r>
            <a:r>
              <a:rPr lang="en-US" dirty="0"/>
              <a:t>:</a:t>
            </a:r>
          </a:p>
          <a:p>
            <a:pPr marL="685800" lvl="2" indent="0">
              <a:buNone/>
            </a:pPr>
            <a:r>
              <a:rPr lang="en-US" b="1" dirty="0">
                <a:solidFill>
                  <a:srgbClr val="C0504D"/>
                </a:solidFill>
              </a:rPr>
              <a:t>private </a:t>
            </a:r>
            <a:r>
              <a:rPr lang="en-US" b="1" dirty="0" err="1">
                <a:solidFill>
                  <a:srgbClr val="C0504D"/>
                </a:solidFill>
              </a:rPr>
              <a:t>LocalDateTime</a:t>
            </a:r>
            <a:r>
              <a:rPr lang="en-US" b="1" dirty="0">
                <a:solidFill>
                  <a:srgbClr val="C0504D"/>
                </a:solidFill>
              </a:rPr>
              <a:t> registration;</a:t>
            </a:r>
          </a:p>
          <a:p>
            <a:r>
              <a:rPr lang="en-US" dirty="0"/>
              <a:t>I due tipi </a:t>
            </a:r>
            <a:r>
              <a:rPr lang="en-US" dirty="0" err="1"/>
              <a:t>sono</a:t>
            </a:r>
            <a:r>
              <a:rPr lang="en-US" dirty="0"/>
              <a:t> </a:t>
            </a:r>
            <a:r>
              <a:rPr lang="en-US" dirty="0" err="1"/>
              <a:t>mappati</a:t>
            </a:r>
            <a:r>
              <a:rPr lang="en-US" dirty="0"/>
              <a:t> </a:t>
            </a:r>
            <a:r>
              <a:rPr lang="en-US" dirty="0" err="1"/>
              <a:t>rispettivamente</a:t>
            </a:r>
            <a:r>
              <a:rPr lang="en-US" dirty="0"/>
              <a:t> </a:t>
            </a:r>
            <a:r>
              <a:rPr lang="en-US" dirty="0" err="1"/>
              <a:t>nei</a:t>
            </a:r>
            <a:r>
              <a:rPr lang="en-US" dirty="0"/>
              <a:t> tipi SQL </a:t>
            </a:r>
          </a:p>
          <a:p>
            <a:pPr lvl="1"/>
            <a:r>
              <a:rPr lang="en-US" dirty="0"/>
              <a:t>DATE (</a:t>
            </a:r>
            <a:r>
              <a:rPr lang="en-US" dirty="0" err="1"/>
              <a:t>giorno</a:t>
            </a:r>
            <a:r>
              <a:rPr lang="en-US" dirty="0"/>
              <a:t>, mese, anno) </a:t>
            </a:r>
          </a:p>
          <a:p>
            <a:pPr lvl="1"/>
            <a:r>
              <a:rPr lang="en-US" dirty="0"/>
              <a:t>TIMESTAMP (</a:t>
            </a:r>
            <a:r>
              <a:rPr lang="en-US" dirty="0" err="1"/>
              <a:t>giorno</a:t>
            </a:r>
            <a:r>
              <a:rPr lang="en-US" dirty="0"/>
              <a:t>, mese, anno, </a:t>
            </a:r>
            <a:r>
              <a:rPr lang="en-US" dirty="0" err="1"/>
              <a:t>ora</a:t>
            </a:r>
            <a:r>
              <a:rPr lang="en-US" dirty="0"/>
              <a:t>, </a:t>
            </a:r>
            <a:r>
              <a:rPr lang="en-US" dirty="0" err="1"/>
              <a:t>minuto</a:t>
            </a:r>
            <a:r>
              <a:rPr lang="en-US" dirty="0"/>
              <a:t>, secondo, msec)</a:t>
            </a:r>
          </a:p>
          <a:p>
            <a:pPr lvl="1"/>
            <a:endParaRPr lang="en-US" b="1" dirty="0">
              <a:solidFill>
                <a:srgbClr val="C0504D"/>
              </a:solidFill>
            </a:endParaRPr>
          </a:p>
          <a:p>
            <a:pPr marL="342900" lvl="1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82715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83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Mettiamo</a:t>
            </a:r>
            <a:r>
              <a:rPr lang="en-US"/>
              <a:t> </a:t>
            </a:r>
            <a:r>
              <a:rPr lang="en-US" err="1"/>
              <a:t>tutto</a:t>
            </a:r>
            <a:r>
              <a:rPr lang="en-US"/>
              <a:t> in </a:t>
            </a:r>
            <a:r>
              <a:rPr lang="en-US" err="1"/>
              <a:t>pratica</a:t>
            </a:r>
            <a:endParaRPr lang="en-US"/>
          </a:p>
        </p:txBody>
      </p:sp>
      <p:pic>
        <p:nvPicPr>
          <p:cNvPr id="4" name="Segnaposto contenuto 3"/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" b="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145928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83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F61339E-656F-6F4B-81D1-66A087528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Esercizio</a:t>
            </a:r>
            <a:r>
              <a:rPr lang="en-US" dirty="0"/>
              <a:t> 2 (1/12)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BDA1D8D-0E94-8348-8FAF-4054A85320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 err="1"/>
              <a:t>L'obiettivo</a:t>
            </a:r>
            <a:r>
              <a:rPr lang="en-US" sz="1800" dirty="0"/>
              <a:t> di </a:t>
            </a:r>
            <a:r>
              <a:rPr lang="en-US" sz="1800" dirty="0" err="1"/>
              <a:t>questo</a:t>
            </a:r>
            <a:r>
              <a:rPr lang="en-US" sz="1800" dirty="0"/>
              <a:t> </a:t>
            </a:r>
            <a:r>
              <a:rPr lang="en-US" sz="1800" dirty="0" err="1"/>
              <a:t>esercizio</a:t>
            </a:r>
            <a:r>
              <a:rPr lang="en-US" sz="1800" dirty="0"/>
              <a:t> </a:t>
            </a:r>
            <a:r>
              <a:rPr lang="en-US" sz="1800" dirty="0" err="1"/>
              <a:t>è</a:t>
            </a:r>
            <a:r>
              <a:rPr lang="en-US" sz="1800" dirty="0"/>
              <a:t> </a:t>
            </a:r>
            <a:r>
              <a:rPr lang="en-US" sz="1800" dirty="0" err="1"/>
              <a:t>capire</a:t>
            </a:r>
            <a:r>
              <a:rPr lang="en-US" sz="1800" dirty="0"/>
              <a:t> come </a:t>
            </a:r>
            <a:r>
              <a:rPr lang="en-US" sz="1800" dirty="0" err="1"/>
              <a:t>funziona</a:t>
            </a:r>
            <a:r>
              <a:rPr lang="en-US" sz="1800" dirty="0"/>
              <a:t> il mapping </a:t>
            </a:r>
            <a:r>
              <a:rPr lang="en-US" sz="1800" dirty="0" err="1"/>
              <a:t>delle</a:t>
            </a:r>
            <a:r>
              <a:rPr lang="en-US" sz="1800" dirty="0"/>
              <a:t> </a:t>
            </a:r>
            <a:r>
              <a:rPr lang="en-US" sz="1800" dirty="0" err="1"/>
              <a:t>associazioni</a:t>
            </a:r>
            <a:r>
              <a:rPr lang="en-US" sz="1800" dirty="0"/>
              <a:t>: </a:t>
            </a:r>
            <a:r>
              <a:rPr lang="en-US" sz="1800" dirty="0" err="1"/>
              <a:t>scriviamo</a:t>
            </a:r>
            <a:r>
              <a:rPr lang="en-US" sz="1800" dirty="0"/>
              <a:t> </a:t>
            </a:r>
            <a:r>
              <a:rPr lang="en-US" sz="1800" dirty="0" err="1"/>
              <a:t>codice</a:t>
            </a:r>
            <a:r>
              <a:rPr lang="en-US" sz="1800" dirty="0"/>
              <a:t> Java e  </a:t>
            </a:r>
            <a:r>
              <a:rPr lang="en-US" sz="1800" dirty="0" err="1"/>
              <a:t>verifichiamo</a:t>
            </a:r>
            <a:r>
              <a:rPr lang="en-US" sz="1800" dirty="0"/>
              <a:t> come JPA genera il database </a:t>
            </a:r>
            <a:r>
              <a:rPr lang="en-US" sz="1800" dirty="0" err="1"/>
              <a:t>corrispondente</a:t>
            </a:r>
            <a:r>
              <a:rPr lang="en-US" sz="1800" dirty="0"/>
              <a:t>. Non </a:t>
            </a:r>
            <a:r>
              <a:rPr lang="en-US" sz="1800" dirty="0" err="1"/>
              <a:t>faremo</a:t>
            </a:r>
            <a:r>
              <a:rPr lang="en-US" sz="1800" dirty="0"/>
              <a:t> </a:t>
            </a:r>
            <a:r>
              <a:rPr lang="en-US" sz="1800" dirty="0" err="1"/>
              <a:t>nessuna</a:t>
            </a:r>
            <a:r>
              <a:rPr lang="en-US" sz="1800" dirty="0"/>
              <a:t> </a:t>
            </a:r>
            <a:r>
              <a:rPr lang="en-US" sz="1800" dirty="0" err="1"/>
              <a:t>operazione</a:t>
            </a:r>
            <a:r>
              <a:rPr lang="en-US" sz="1800" dirty="0"/>
              <a:t> </a:t>
            </a:r>
            <a:r>
              <a:rPr lang="en-US" sz="1800" dirty="0" err="1"/>
              <a:t>sul</a:t>
            </a:r>
            <a:r>
              <a:rPr lang="en-US" sz="1800" dirty="0"/>
              <a:t> database. </a:t>
            </a:r>
            <a:br>
              <a:rPr lang="en-US" sz="1800" dirty="0"/>
            </a:br>
            <a:endParaRPr lang="en-US" sz="1800" dirty="0"/>
          </a:p>
          <a:p>
            <a:pPr marL="0" indent="0">
              <a:buNone/>
            </a:pPr>
            <a:r>
              <a:rPr lang="en-US" sz="1800" dirty="0"/>
              <a:t>1. </a:t>
            </a:r>
            <a:r>
              <a:rPr lang="en-US" sz="1800" dirty="0" err="1"/>
              <a:t>Continuiamo</a:t>
            </a:r>
            <a:r>
              <a:rPr lang="en-US" sz="1800" dirty="0"/>
              <a:t> a </a:t>
            </a:r>
            <a:r>
              <a:rPr lang="en-US" sz="1800" dirty="0" err="1"/>
              <a:t>lavorare</a:t>
            </a:r>
            <a:r>
              <a:rPr lang="en-US" sz="1800" dirty="0"/>
              <a:t> </a:t>
            </a:r>
            <a:r>
              <a:rPr lang="en-US" sz="1800" dirty="0" err="1"/>
              <a:t>sul</a:t>
            </a:r>
            <a:r>
              <a:rPr lang="en-US" sz="1800" dirty="0"/>
              <a:t> </a:t>
            </a:r>
            <a:r>
              <a:rPr lang="en-US" sz="1800" dirty="0" err="1"/>
              <a:t>progetto</a:t>
            </a:r>
            <a:r>
              <a:rPr lang="en-US" sz="1800" dirty="0"/>
              <a:t> </a:t>
            </a:r>
            <a:r>
              <a:rPr lang="en-US" sz="1800" b="1" dirty="0"/>
              <a:t>siw-jpa-es1 </a:t>
            </a:r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44138067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83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Esercizio</a:t>
            </a:r>
            <a:r>
              <a:rPr lang="en-US" dirty="0"/>
              <a:t> 2 (2/12)</a:t>
            </a:r>
          </a:p>
        </p:txBody>
      </p:sp>
      <p:graphicFrame>
        <p:nvGraphicFramePr>
          <p:cNvPr id="17" name="Segnaposto contenuto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01385045"/>
              </p:ext>
            </p:extLst>
          </p:nvPr>
        </p:nvGraphicFramePr>
        <p:xfrm>
          <a:off x="1156708" y="1489785"/>
          <a:ext cx="1508321" cy="12671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3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5151">
                <a:tc>
                  <a:txBody>
                    <a:bodyPr/>
                    <a:lstStyle/>
                    <a:p>
                      <a:pPr algn="ctr"/>
                      <a:r>
                        <a:rPr lang="it-IT" sz="1400" b="0" i="0" dirty="0">
                          <a:latin typeface="Calibri Light" panose="020F0302020204030204" pitchFamily="34" charset="0"/>
                        </a:rPr>
                        <a:t>Customer</a:t>
                      </a:r>
                      <a:endParaRPr lang="it-IT" sz="8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8685">
                <a:tc>
                  <a:txBody>
                    <a:bodyPr/>
                    <a:lstStyle/>
                    <a:p>
                      <a:r>
                        <a:rPr lang="it-IT" sz="800" b="0" i="0" dirty="0">
                          <a:latin typeface="Calibri Light" panose="020F0302020204030204" pitchFamily="34" charset="0"/>
                        </a:rPr>
                        <a:t>-id: Long</a:t>
                      </a:r>
                    </a:p>
                    <a:p>
                      <a:r>
                        <a:rPr lang="it-IT" sz="800" dirty="0"/>
                        <a:t>-</a:t>
                      </a:r>
                      <a:r>
                        <a:rPr lang="it-IT" sz="800" dirty="0" err="1"/>
                        <a:t>firstName</a:t>
                      </a:r>
                      <a:r>
                        <a:rPr lang="it-IT" sz="800" dirty="0"/>
                        <a:t>:</a:t>
                      </a:r>
                      <a:r>
                        <a:rPr lang="it-IT" sz="800" baseline="0" dirty="0"/>
                        <a:t> </a:t>
                      </a:r>
                      <a:r>
                        <a:rPr lang="it-IT" sz="800" baseline="0" dirty="0" err="1"/>
                        <a:t>String</a:t>
                      </a:r>
                      <a:endParaRPr lang="it-IT" sz="800" baseline="0" dirty="0"/>
                    </a:p>
                    <a:p>
                      <a:r>
                        <a:rPr lang="it-IT" sz="800" baseline="0" dirty="0"/>
                        <a:t>-</a:t>
                      </a:r>
                      <a:r>
                        <a:rPr lang="it-IT" sz="800" baseline="0" dirty="0" err="1"/>
                        <a:t>lastName</a:t>
                      </a:r>
                      <a:r>
                        <a:rPr lang="it-IT" sz="800" baseline="0" dirty="0"/>
                        <a:t>: </a:t>
                      </a:r>
                      <a:r>
                        <a:rPr lang="it-IT" sz="800" baseline="0" dirty="0" err="1"/>
                        <a:t>String</a:t>
                      </a:r>
                      <a:endParaRPr lang="it-IT" sz="800" baseline="0" dirty="0"/>
                    </a:p>
                    <a:p>
                      <a:r>
                        <a:rPr lang="it-IT" sz="800" baseline="0" dirty="0"/>
                        <a:t>-email: </a:t>
                      </a:r>
                      <a:r>
                        <a:rPr lang="it-IT" sz="800" baseline="0" dirty="0" err="1"/>
                        <a:t>String</a:t>
                      </a:r>
                      <a:endParaRPr lang="it-IT" sz="800" baseline="0" dirty="0"/>
                    </a:p>
                    <a:p>
                      <a:r>
                        <a:rPr lang="it-IT" sz="800" baseline="0" dirty="0"/>
                        <a:t>-</a:t>
                      </a:r>
                      <a:r>
                        <a:rPr lang="it-IT" sz="800" baseline="0" dirty="0" err="1"/>
                        <a:t>phoneNumber</a:t>
                      </a:r>
                      <a:r>
                        <a:rPr lang="it-IT" sz="800" baseline="0" dirty="0"/>
                        <a:t>: </a:t>
                      </a:r>
                      <a:r>
                        <a:rPr lang="it-IT" sz="800" baseline="0" dirty="0" err="1"/>
                        <a:t>String</a:t>
                      </a:r>
                      <a:endParaRPr lang="it-IT" sz="800" baseline="0" dirty="0"/>
                    </a:p>
                    <a:p>
                      <a:r>
                        <a:rPr lang="it-IT" sz="800" baseline="0" dirty="0"/>
                        <a:t>-</a:t>
                      </a:r>
                      <a:r>
                        <a:rPr lang="it-IT" sz="800" baseline="0" dirty="0" err="1"/>
                        <a:t>dateOfBirth</a:t>
                      </a:r>
                      <a:r>
                        <a:rPr lang="it-IT" sz="800" baseline="0" dirty="0"/>
                        <a:t>: </a:t>
                      </a:r>
                      <a:r>
                        <a:rPr lang="it-IT" sz="800" baseline="0" dirty="0" err="1"/>
                        <a:t>LocalDate</a:t>
                      </a:r>
                      <a:endParaRPr lang="it-IT" sz="800" baseline="0" dirty="0"/>
                    </a:p>
                    <a:p>
                      <a:r>
                        <a:rPr lang="it-IT" sz="800" baseline="0" dirty="0"/>
                        <a:t>-</a:t>
                      </a:r>
                      <a:r>
                        <a:rPr lang="it-IT" sz="800" baseline="0" dirty="0" err="1"/>
                        <a:t>registrationDate</a:t>
                      </a:r>
                      <a:r>
                        <a:rPr lang="it-IT" sz="800" baseline="0" dirty="0"/>
                        <a:t>: </a:t>
                      </a:r>
                      <a:r>
                        <a:rPr lang="it-IT" sz="800" baseline="0" dirty="0" err="1"/>
                        <a:t>LocalDateTime</a:t>
                      </a:r>
                      <a:endParaRPr lang="it-IT" sz="8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8" name="Segnaposto contenuto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01371383"/>
              </p:ext>
            </p:extLst>
          </p:nvPr>
        </p:nvGraphicFramePr>
        <p:xfrm>
          <a:off x="6058470" y="1549054"/>
          <a:ext cx="1511789" cy="11452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17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5151">
                <a:tc>
                  <a:txBody>
                    <a:bodyPr/>
                    <a:lstStyle/>
                    <a:p>
                      <a:pPr algn="ctr"/>
                      <a:r>
                        <a:rPr lang="it-IT" sz="1400" b="0" i="0" dirty="0" err="1">
                          <a:latin typeface="Calibri Light" panose="020F0302020204030204" pitchFamily="34" charset="0"/>
                        </a:rPr>
                        <a:t>Address</a:t>
                      </a:r>
                      <a:endParaRPr lang="it-IT" sz="8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8670">
                <a:tc>
                  <a:txBody>
                    <a:bodyPr/>
                    <a:lstStyle/>
                    <a:p>
                      <a:r>
                        <a:rPr lang="it-IT" sz="800" b="0" i="0" dirty="0">
                          <a:latin typeface="Calibri Light" panose="020F0302020204030204" pitchFamily="34" charset="0"/>
                        </a:rPr>
                        <a:t>-id: Long</a:t>
                      </a:r>
                    </a:p>
                    <a:p>
                      <a:r>
                        <a:rPr lang="it-IT" sz="800" dirty="0"/>
                        <a:t>-street: </a:t>
                      </a:r>
                      <a:r>
                        <a:rPr lang="it-IT" sz="800" dirty="0" err="1"/>
                        <a:t>String</a:t>
                      </a:r>
                      <a:endParaRPr lang="it-IT" sz="800" dirty="0"/>
                    </a:p>
                    <a:p>
                      <a:r>
                        <a:rPr lang="it-IT" sz="800" dirty="0"/>
                        <a:t>-city: </a:t>
                      </a:r>
                      <a:r>
                        <a:rPr lang="it-IT" sz="800" dirty="0" err="1"/>
                        <a:t>String</a:t>
                      </a:r>
                      <a:endParaRPr lang="it-IT" sz="800" dirty="0"/>
                    </a:p>
                    <a:p>
                      <a:r>
                        <a:rPr lang="it-IT" sz="800" dirty="0"/>
                        <a:t>-state:</a:t>
                      </a:r>
                      <a:r>
                        <a:rPr lang="it-IT" sz="800" baseline="0" dirty="0"/>
                        <a:t> </a:t>
                      </a:r>
                      <a:r>
                        <a:rPr lang="it-IT" sz="800" baseline="0" dirty="0" err="1"/>
                        <a:t>String</a:t>
                      </a:r>
                      <a:endParaRPr lang="it-IT" sz="800" baseline="0" dirty="0"/>
                    </a:p>
                    <a:p>
                      <a:r>
                        <a:rPr lang="it-IT" sz="800" baseline="0" dirty="0"/>
                        <a:t>-</a:t>
                      </a:r>
                      <a:r>
                        <a:rPr lang="it-IT" sz="800" baseline="0" dirty="0" err="1"/>
                        <a:t>zipcode</a:t>
                      </a:r>
                      <a:r>
                        <a:rPr lang="it-IT" sz="800" baseline="0" dirty="0"/>
                        <a:t>: </a:t>
                      </a:r>
                      <a:r>
                        <a:rPr lang="it-IT" sz="800" baseline="0" dirty="0" err="1"/>
                        <a:t>String</a:t>
                      </a:r>
                      <a:endParaRPr lang="it-IT" sz="800" baseline="0" dirty="0"/>
                    </a:p>
                    <a:p>
                      <a:r>
                        <a:rPr lang="it-IT" sz="800" baseline="0" dirty="0"/>
                        <a:t>-country: </a:t>
                      </a:r>
                      <a:r>
                        <a:rPr lang="it-IT" sz="800" baseline="0" dirty="0" err="1"/>
                        <a:t>String</a:t>
                      </a:r>
                      <a:endParaRPr lang="it-IT" sz="8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9" name="Connettore 2 18"/>
          <p:cNvCxnSpPr>
            <a:cxnSpLocks/>
            <a:stCxn id="17" idx="3"/>
            <a:endCxn id="18" idx="1"/>
          </p:cNvCxnSpPr>
          <p:nvPr/>
        </p:nvCxnSpPr>
        <p:spPr>
          <a:xfrm flipV="1">
            <a:off x="2665029" y="2121679"/>
            <a:ext cx="3393441" cy="1691"/>
          </a:xfrm>
          <a:prstGeom prst="straightConnector1">
            <a:avLst/>
          </a:prstGeom>
          <a:ln w="12700" cmpd="sng">
            <a:solidFill>
              <a:srgbClr val="000000"/>
            </a:solidFill>
            <a:prstDash val="solid"/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0546DD7-2547-01EE-456D-B2D5316AC6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 dirty="0"/>
              <a:t>2. </a:t>
            </a:r>
            <a:r>
              <a:rPr lang="en-US" sz="1800" dirty="0" err="1"/>
              <a:t>Scrivere</a:t>
            </a:r>
            <a:r>
              <a:rPr lang="en-US" sz="1800" dirty="0"/>
              <a:t> il </a:t>
            </a:r>
            <a:r>
              <a:rPr lang="en-US" sz="1800" dirty="0" err="1"/>
              <a:t>codice</a:t>
            </a:r>
            <a:r>
              <a:rPr lang="en-US" sz="1800" dirty="0"/>
              <a:t> </a:t>
            </a:r>
            <a:r>
              <a:rPr lang="en-US" sz="1800" dirty="0" err="1"/>
              <a:t>delle</a:t>
            </a:r>
            <a:r>
              <a:rPr lang="en-US" sz="1800" dirty="0"/>
              <a:t> </a:t>
            </a:r>
            <a:r>
              <a:rPr lang="en-US" sz="1800" dirty="0" err="1"/>
              <a:t>classi</a:t>
            </a:r>
            <a:r>
              <a:rPr lang="en-US" sz="1800" dirty="0"/>
              <a:t> </a:t>
            </a:r>
            <a:r>
              <a:rPr lang="en-US" sz="1800" b="1" dirty="0"/>
              <a:t>Customer</a:t>
            </a:r>
            <a:r>
              <a:rPr lang="en-US" sz="1800" dirty="0"/>
              <a:t> e </a:t>
            </a:r>
            <a:r>
              <a:rPr lang="en-US" sz="1800" b="1" dirty="0"/>
              <a:t>Address </a:t>
            </a:r>
            <a:r>
              <a:rPr lang="en-US" sz="1800" dirty="0" err="1"/>
              <a:t>rappresentate</a:t>
            </a:r>
            <a:r>
              <a:rPr lang="en-US" sz="1800" dirty="0"/>
              <a:t> </a:t>
            </a:r>
            <a:r>
              <a:rPr lang="en-US" sz="1800" dirty="0" err="1"/>
              <a:t>nel</a:t>
            </a:r>
            <a:r>
              <a:rPr lang="en-US" sz="1800" dirty="0"/>
              <a:t> class diagram</a:t>
            </a:r>
          </a:p>
          <a:p>
            <a:pPr marL="0" indent="0">
              <a:buNone/>
            </a:pPr>
            <a:r>
              <a:rPr lang="en-US" sz="1800" dirty="0"/>
              <a:t> 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3. </a:t>
            </a:r>
            <a:r>
              <a:rPr lang="en-US" sz="1800" dirty="0" err="1"/>
              <a:t>Quante</a:t>
            </a:r>
            <a:r>
              <a:rPr lang="en-US" sz="1800" dirty="0"/>
              <a:t> </a:t>
            </a:r>
            <a:r>
              <a:rPr lang="en-US" sz="1800" dirty="0" err="1"/>
              <a:t>tabelle</a:t>
            </a:r>
            <a:r>
              <a:rPr lang="en-US" sz="1800" dirty="0"/>
              <a:t> ci </a:t>
            </a:r>
            <a:r>
              <a:rPr lang="en-US" sz="1800" dirty="0" err="1"/>
              <a:t>aspettiamo</a:t>
            </a:r>
            <a:r>
              <a:rPr lang="en-US" sz="1800" dirty="0"/>
              <a:t> </a:t>
            </a:r>
            <a:r>
              <a:rPr lang="en-US" sz="1800" dirty="0" err="1"/>
              <a:t>che</a:t>
            </a:r>
            <a:r>
              <a:rPr lang="en-US" sz="1800" dirty="0"/>
              <a:t> </a:t>
            </a:r>
            <a:r>
              <a:rPr lang="en-US" sz="1800" dirty="0" err="1"/>
              <a:t>saranno</a:t>
            </a:r>
            <a:r>
              <a:rPr lang="en-US" sz="1800" dirty="0"/>
              <a:t> create da JPA? </a:t>
            </a:r>
            <a:br>
              <a:rPr lang="en-US" sz="1800" dirty="0"/>
            </a:br>
            <a:r>
              <a:rPr lang="en-US" sz="1800" dirty="0"/>
              <a:t>     	</a:t>
            </a:r>
            <a:r>
              <a:rPr lang="en-US" sz="1800" dirty="0" err="1"/>
              <a:t>Scrivere</a:t>
            </a:r>
            <a:r>
              <a:rPr lang="en-US" sz="1800" dirty="0"/>
              <a:t> il </a:t>
            </a:r>
            <a:r>
              <a:rPr lang="en-US" sz="1800" dirty="0" err="1"/>
              <a:t>numero</a:t>
            </a:r>
            <a:r>
              <a:rPr lang="en-US" sz="1800" dirty="0"/>
              <a:t> di un </a:t>
            </a:r>
            <a:r>
              <a:rPr lang="en-US" sz="1800" dirty="0" err="1"/>
              <a:t>foglio</a:t>
            </a:r>
            <a:r>
              <a:rPr lang="en-US" sz="1800" dirty="0"/>
              <a:t> di carta. </a:t>
            </a:r>
            <a:r>
              <a:rPr lang="en-US" sz="1800" dirty="0" err="1"/>
              <a:t>Sullo</a:t>
            </a:r>
            <a:r>
              <a:rPr lang="en-US" sz="1800" dirty="0"/>
              <a:t> </a:t>
            </a:r>
            <a:r>
              <a:rPr lang="en-US" sz="1800" dirty="0" err="1"/>
              <a:t>stesso</a:t>
            </a:r>
            <a:r>
              <a:rPr lang="en-US" sz="1800" dirty="0"/>
              <a:t> </a:t>
            </a:r>
            <a:r>
              <a:rPr lang="en-US" sz="1800" dirty="0" err="1"/>
              <a:t>foglio</a:t>
            </a:r>
            <a:r>
              <a:rPr lang="en-US" sz="1800" dirty="0"/>
              <a:t> </a:t>
            </a:r>
            <a:r>
              <a:rPr lang="en-US" sz="1800" dirty="0" err="1"/>
              <a:t>scrivere</a:t>
            </a:r>
            <a:r>
              <a:rPr lang="en-US" sz="1800" dirty="0"/>
              <a:t> lo schema </a:t>
            </a:r>
            <a:r>
              <a:rPr lang="en-US" sz="1800" dirty="0" err="1"/>
              <a:t>delle</a:t>
            </a:r>
            <a:r>
              <a:rPr lang="en-US" sz="1800" dirty="0"/>
              <a:t> </a:t>
            </a:r>
            <a:r>
              <a:rPr lang="en-US" sz="1800" dirty="0" err="1"/>
              <a:t>tabelle</a:t>
            </a:r>
            <a:r>
              <a:rPr lang="en-US" sz="1800" dirty="0"/>
              <a:t> 	</a:t>
            </a:r>
            <a:r>
              <a:rPr lang="en-US" sz="1800" dirty="0" err="1"/>
              <a:t>che</a:t>
            </a:r>
            <a:r>
              <a:rPr lang="en-US" sz="1800" dirty="0"/>
              <a:t> ci </a:t>
            </a:r>
            <a:r>
              <a:rPr lang="en-US" sz="1800" dirty="0" err="1"/>
              <a:t>aspettiamo</a:t>
            </a:r>
            <a:r>
              <a:rPr lang="en-US" sz="1800" dirty="0"/>
              <a:t> </a:t>
            </a:r>
            <a:r>
              <a:rPr lang="en-US" sz="1800" dirty="0" err="1"/>
              <a:t>saranno</a:t>
            </a:r>
            <a:r>
              <a:rPr lang="en-US" sz="1800" dirty="0"/>
              <a:t> create da JPA. </a:t>
            </a:r>
          </a:p>
          <a:p>
            <a:pPr marL="0" indent="0">
              <a:buNone/>
            </a:pPr>
            <a:r>
              <a:rPr lang="en-US" sz="1800" dirty="0"/>
              <a:t>4. </a:t>
            </a:r>
            <a:r>
              <a:rPr lang="en-US" sz="1800" dirty="0" err="1"/>
              <a:t>Eseguire</a:t>
            </a:r>
            <a:r>
              <a:rPr lang="en-US" sz="1800" dirty="0"/>
              <a:t> il </a:t>
            </a:r>
            <a:r>
              <a:rPr lang="en-US" sz="1800" dirty="0" err="1"/>
              <a:t>programma</a:t>
            </a:r>
            <a:r>
              <a:rPr lang="en-US" sz="1800" dirty="0"/>
              <a:t> (come Spring Boot App) </a:t>
            </a:r>
            <a:endParaRPr lang="en-US" sz="1800" b="1" dirty="0"/>
          </a:p>
          <a:p>
            <a:pPr marL="0" indent="0">
              <a:buNone/>
            </a:pPr>
            <a:r>
              <a:rPr lang="en-US" sz="1800" dirty="0"/>
              <a:t>5. </a:t>
            </a:r>
            <a:r>
              <a:rPr lang="en-US" sz="1800" dirty="0" err="1"/>
              <a:t>Controllare</a:t>
            </a:r>
            <a:r>
              <a:rPr lang="en-US" sz="1800" dirty="0"/>
              <a:t> lo schema </a:t>
            </a:r>
            <a:r>
              <a:rPr lang="en-US" sz="1800" dirty="0" err="1"/>
              <a:t>delle</a:t>
            </a:r>
            <a:r>
              <a:rPr lang="en-US" sz="1800" dirty="0"/>
              <a:t> </a:t>
            </a:r>
            <a:r>
              <a:rPr lang="en-US" sz="1800" dirty="0" err="1"/>
              <a:t>tabelle</a:t>
            </a:r>
            <a:r>
              <a:rPr lang="en-US" sz="1800" dirty="0"/>
              <a:t> create dal JPA </a:t>
            </a:r>
            <a:r>
              <a:rPr lang="en-US" sz="1800" dirty="0" err="1"/>
              <a:t>nel</a:t>
            </a:r>
            <a:r>
              <a:rPr lang="en-US" sz="1800" dirty="0"/>
              <a:t> database</a:t>
            </a:r>
            <a:r>
              <a:rPr lang="en-US" sz="1800" b="1" dirty="0"/>
              <a:t> products </a:t>
            </a:r>
            <a:r>
              <a:rPr lang="en-US" sz="1800" dirty="0"/>
              <a:t>e </a:t>
            </a:r>
            <a:r>
              <a:rPr lang="en-US" sz="1800" dirty="0" err="1"/>
              <a:t>confrontarle</a:t>
            </a:r>
            <a:r>
              <a:rPr lang="en-US" sz="1800" dirty="0"/>
              <a:t> con lo schema </a:t>
            </a:r>
            <a:r>
              <a:rPr lang="en-US" sz="1800" dirty="0" err="1"/>
              <a:t>che</a:t>
            </a:r>
            <a:r>
              <a:rPr lang="en-US" sz="1800" dirty="0"/>
              <a:t> </a:t>
            </a:r>
            <a:r>
              <a:rPr lang="en-US" sz="1800" dirty="0" err="1"/>
              <a:t>abbiamo</a:t>
            </a:r>
            <a:r>
              <a:rPr lang="en-US" sz="1800" dirty="0"/>
              <a:t> </a:t>
            </a:r>
            <a:r>
              <a:rPr lang="en-US" sz="1800" dirty="0" err="1"/>
              <a:t>scritto</a:t>
            </a:r>
            <a:r>
              <a:rPr lang="en-US" sz="1800" dirty="0"/>
              <a:t> al punto 4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46944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Object-Relational-Mapping</a:t>
            </a:r>
            <a:br>
              <a:rPr lang="en-US" dirty="0"/>
            </a:br>
            <a:r>
              <a:rPr lang="en-US" dirty="0" err="1"/>
              <a:t>Approfondimenti</a:t>
            </a:r>
            <a:endParaRPr lang="en-US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Nel mapping dal </a:t>
            </a:r>
            <a:r>
              <a:rPr lang="en-US" dirty="0" err="1"/>
              <a:t>mondo</a:t>
            </a:r>
            <a:r>
              <a:rPr lang="en-US" dirty="0"/>
              <a:t> OO a </a:t>
            </a:r>
            <a:r>
              <a:rPr lang="en-US" dirty="0" err="1"/>
              <a:t>quello</a:t>
            </a:r>
            <a:r>
              <a:rPr lang="en-US" dirty="0"/>
              <a:t> </a:t>
            </a:r>
            <a:r>
              <a:rPr lang="en-US" dirty="0" err="1"/>
              <a:t>relazionale</a:t>
            </a:r>
            <a:r>
              <a:rPr lang="en-US" dirty="0"/>
              <a:t> ci </a:t>
            </a:r>
            <a:r>
              <a:rPr lang="en-US" dirty="0" err="1"/>
              <a:t>dobbiamo</a:t>
            </a:r>
            <a:r>
              <a:rPr lang="en-US" dirty="0"/>
              <a:t> </a:t>
            </a:r>
            <a:r>
              <a:rPr lang="en-US" dirty="0" err="1"/>
              <a:t>preoccupare</a:t>
            </a:r>
            <a:r>
              <a:rPr lang="en-US" dirty="0"/>
              <a:t> </a:t>
            </a:r>
            <a:r>
              <a:rPr lang="en-US" dirty="0" err="1"/>
              <a:t>anche</a:t>
            </a:r>
            <a:r>
              <a:rPr lang="en-US" dirty="0"/>
              <a:t> </a:t>
            </a:r>
            <a:r>
              <a:rPr lang="en-US" dirty="0" err="1"/>
              <a:t>delle</a:t>
            </a:r>
            <a:r>
              <a:rPr lang="en-US" dirty="0"/>
              <a:t> </a:t>
            </a:r>
            <a:r>
              <a:rPr lang="en-US" dirty="0" err="1"/>
              <a:t>corrispondenze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Vincoli</a:t>
            </a:r>
            <a:r>
              <a:rPr lang="en-US" dirty="0"/>
              <a:t> di </a:t>
            </a:r>
            <a:r>
              <a:rPr lang="en-US" dirty="0" err="1"/>
              <a:t>unicità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656515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700"/>
              <a:t>Object-Relational-Mapping</a:t>
            </a:r>
            <a:br>
              <a:rPr lang="en-US" sz="2700"/>
            </a:br>
            <a:r>
              <a:rPr lang="en-US" sz="2700" err="1"/>
              <a:t>Vincoli</a:t>
            </a:r>
            <a:r>
              <a:rPr lang="en-US" sz="2700"/>
              <a:t> di </a:t>
            </a:r>
            <a:r>
              <a:rPr lang="en-US" sz="2700" err="1"/>
              <a:t>Unicità</a:t>
            </a:r>
            <a:endParaRPr lang="en-US" sz="270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Si </a:t>
            </a:r>
            <a:r>
              <a:rPr lang="en-US" err="1"/>
              <a:t>specificano</a:t>
            </a:r>
            <a:r>
              <a:rPr lang="en-US"/>
              <a:t> </a:t>
            </a:r>
            <a:r>
              <a:rPr lang="en-US" err="1"/>
              <a:t>attraverso</a:t>
            </a:r>
            <a:r>
              <a:rPr lang="en-US"/>
              <a:t> un </a:t>
            </a:r>
            <a:r>
              <a:rPr lang="en-US" err="1"/>
              <a:t>attributo</a:t>
            </a:r>
            <a:r>
              <a:rPr lang="en-US"/>
              <a:t> </a:t>
            </a:r>
            <a:r>
              <a:rPr lang="en-US" err="1"/>
              <a:t>della</a:t>
            </a:r>
            <a:r>
              <a:rPr lang="en-US"/>
              <a:t> </a:t>
            </a:r>
            <a:r>
              <a:rPr lang="en-US" err="1"/>
              <a:t>annotazione</a:t>
            </a:r>
            <a:r>
              <a:rPr lang="en-US"/>
              <a:t> @Table</a:t>
            </a:r>
          </a:p>
          <a:p>
            <a:r>
              <a:rPr lang="en-US"/>
              <a:t>Per </a:t>
            </a:r>
            <a:r>
              <a:rPr lang="en-US" err="1"/>
              <a:t>gli</a:t>
            </a:r>
            <a:r>
              <a:rPr lang="en-US"/>
              <a:t> </a:t>
            </a:r>
            <a:r>
              <a:rPr lang="en-US" err="1"/>
              <a:t>attributi</a:t>
            </a:r>
            <a:r>
              <a:rPr lang="en-US"/>
              <a:t> </a:t>
            </a:r>
            <a:r>
              <a:rPr lang="en-US" err="1"/>
              <a:t>semplici</a:t>
            </a:r>
            <a:r>
              <a:rPr lang="en-US"/>
              <a:t> (</a:t>
            </a:r>
            <a:r>
              <a:rPr lang="en-US" err="1"/>
              <a:t>una</a:t>
            </a:r>
            <a:r>
              <a:rPr lang="en-US"/>
              <a:t> </a:t>
            </a:r>
            <a:r>
              <a:rPr lang="en-US" err="1"/>
              <a:t>colonna</a:t>
            </a:r>
            <a:r>
              <a:rPr lang="en-US"/>
              <a:t>) </a:t>
            </a:r>
            <a:r>
              <a:rPr lang="en-US" err="1"/>
              <a:t>è</a:t>
            </a:r>
            <a:r>
              <a:rPr lang="en-US"/>
              <a:t> </a:t>
            </a:r>
            <a:r>
              <a:rPr lang="en-US" err="1"/>
              <a:t>sufficiente</a:t>
            </a:r>
            <a:r>
              <a:rPr lang="en-US"/>
              <a:t> </a:t>
            </a:r>
            <a:r>
              <a:rPr lang="en-US" err="1"/>
              <a:t>aggiungere</a:t>
            </a:r>
            <a:r>
              <a:rPr lang="en-US"/>
              <a:t> </a:t>
            </a:r>
            <a:r>
              <a:rPr lang="en-US" err="1"/>
              <a:t>l'annotazione</a:t>
            </a:r>
            <a:endParaRPr lang="en-US"/>
          </a:p>
          <a:p>
            <a:pPr lvl="1"/>
            <a:r>
              <a:rPr lang="en-US"/>
              <a:t>@Column(</a:t>
            </a:r>
            <a:r>
              <a:rPr lang="en-US" b="1">
                <a:solidFill>
                  <a:srgbClr val="C0504D"/>
                </a:solidFill>
              </a:rPr>
              <a:t>unique=true</a:t>
            </a:r>
            <a:r>
              <a:rPr lang="en-US"/>
              <a:t>)</a:t>
            </a:r>
          </a:p>
          <a:p>
            <a:r>
              <a:rPr lang="en-US"/>
              <a:t>Per </a:t>
            </a:r>
            <a:r>
              <a:rPr lang="en-US" err="1"/>
              <a:t>gli</a:t>
            </a:r>
            <a:r>
              <a:rPr lang="en-US"/>
              <a:t> </a:t>
            </a:r>
            <a:r>
              <a:rPr lang="en-US" err="1"/>
              <a:t>attributi</a:t>
            </a:r>
            <a:r>
              <a:rPr lang="en-US"/>
              <a:t> </a:t>
            </a:r>
            <a:r>
              <a:rPr lang="en-US" err="1"/>
              <a:t>composti</a:t>
            </a:r>
            <a:r>
              <a:rPr lang="en-US"/>
              <a:t> (&gt;1 </a:t>
            </a:r>
            <a:r>
              <a:rPr lang="en-US" err="1"/>
              <a:t>colonne</a:t>
            </a:r>
            <a:r>
              <a:rPr lang="en-US"/>
              <a:t>) la </a:t>
            </a:r>
            <a:r>
              <a:rPr lang="en-US" err="1"/>
              <a:t>sintassi</a:t>
            </a:r>
            <a:r>
              <a:rPr lang="en-US"/>
              <a:t> </a:t>
            </a:r>
            <a:r>
              <a:rPr lang="en-US" err="1"/>
              <a:t>è</a:t>
            </a:r>
            <a:r>
              <a:rPr lang="en-US"/>
              <a:t> un </a:t>
            </a:r>
            <a:r>
              <a:rPr lang="en-US" err="1"/>
              <a:t>po</a:t>
            </a:r>
            <a:r>
              <a:rPr lang="en-US"/>
              <a:t>' </a:t>
            </a:r>
            <a:r>
              <a:rPr lang="en-US" err="1"/>
              <a:t>articolata</a:t>
            </a:r>
            <a:endParaRPr lang="en-US"/>
          </a:p>
          <a:p>
            <a:r>
              <a:rPr lang="en-US" err="1"/>
              <a:t>Vediamola</a:t>
            </a:r>
            <a:r>
              <a:rPr lang="en-US"/>
              <a:t> </a:t>
            </a:r>
            <a:r>
              <a:rPr lang="en-US" err="1"/>
              <a:t>attraverso</a:t>
            </a:r>
            <a:r>
              <a:rPr lang="en-US"/>
              <a:t> due </a:t>
            </a:r>
            <a:r>
              <a:rPr lang="en-US" err="1"/>
              <a:t>esempi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64684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700"/>
              <a:t>Object-Relational-Mapping</a:t>
            </a:r>
            <a:br>
              <a:rPr lang="en-US" sz="2700"/>
            </a:br>
            <a:r>
              <a:rPr lang="en-US" sz="2700" err="1"/>
              <a:t>Vincoli</a:t>
            </a:r>
            <a:r>
              <a:rPr lang="en-US" sz="2700"/>
              <a:t> di </a:t>
            </a:r>
            <a:r>
              <a:rPr lang="en-US" sz="2700" err="1"/>
              <a:t>Unicità</a:t>
            </a:r>
            <a:endParaRPr lang="en-US" sz="270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1230582" y="895715"/>
            <a:ext cx="6354299" cy="339447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200" dirty="0"/>
              <a:t>@Entity</a:t>
            </a:r>
          </a:p>
          <a:p>
            <a:pPr marL="0" indent="0">
              <a:buNone/>
            </a:pPr>
            <a:r>
              <a:rPr lang="en-US" sz="1200" dirty="0"/>
              <a:t>public class Product {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/>
              <a:t>    @Id</a:t>
            </a:r>
          </a:p>
          <a:p>
            <a:pPr marL="0" indent="0">
              <a:buNone/>
            </a:pPr>
            <a:r>
              <a:rPr lang="en-US" sz="1200" dirty="0"/>
              <a:t>    @</a:t>
            </a:r>
            <a:r>
              <a:rPr lang="en-US" sz="1200" dirty="0" err="1"/>
              <a:t>GeneratedValue</a:t>
            </a:r>
            <a:r>
              <a:rPr lang="en-US" sz="1200" dirty="0"/>
              <a:t>(strategy = </a:t>
            </a:r>
            <a:r>
              <a:rPr lang="en-US" sz="1200" dirty="0" err="1"/>
              <a:t>GenerationType.</a:t>
            </a:r>
            <a:r>
              <a:rPr lang="en-US" sz="1200" i="1" dirty="0" err="1"/>
              <a:t>AUTO</a:t>
            </a:r>
            <a:r>
              <a:rPr lang="en-US" sz="1200" i="1" dirty="0"/>
              <a:t>)</a:t>
            </a:r>
          </a:p>
          <a:p>
            <a:pPr marL="0" indent="0">
              <a:buNone/>
            </a:pPr>
            <a:r>
              <a:rPr lang="en-US" sz="1200" dirty="0"/>
              <a:t>    private Long id;</a:t>
            </a:r>
          </a:p>
          <a:p>
            <a:pPr marL="0" indent="0">
              <a:buNone/>
            </a:pPr>
            <a:r>
              <a:rPr lang="en-US" sz="1200" dirty="0"/>
              <a:t>    @Column(nullable = false)</a:t>
            </a:r>
          </a:p>
          <a:p>
            <a:pPr marL="0" indent="0">
              <a:buNone/>
            </a:pPr>
            <a:r>
              <a:rPr lang="en-US" sz="1200" dirty="0"/>
              <a:t>    private String name;</a:t>
            </a:r>
          </a:p>
          <a:p>
            <a:pPr marL="0" indent="0">
              <a:buNone/>
            </a:pPr>
            <a:r>
              <a:rPr lang="en-US" sz="1200" dirty="0"/>
              <a:t>     …</a:t>
            </a:r>
          </a:p>
          <a:p>
            <a:pPr marL="0" indent="0">
              <a:buNone/>
            </a:pPr>
            <a:r>
              <a:rPr lang="en-US" sz="1200" dirty="0"/>
              <a:t>    @Column(</a:t>
            </a:r>
            <a:r>
              <a:rPr lang="en-US" sz="1200" b="1" dirty="0">
                <a:solidFill>
                  <a:srgbClr val="C0504D"/>
                </a:solidFill>
                <a:highlight>
                  <a:srgbClr val="FFFF00"/>
                </a:highlight>
              </a:rPr>
              <a:t>unique=true</a:t>
            </a:r>
            <a:r>
              <a:rPr lang="en-US" sz="1200" dirty="0"/>
              <a:t>, nullable = false)</a:t>
            </a:r>
          </a:p>
          <a:p>
            <a:pPr marL="0" indent="0">
              <a:buNone/>
            </a:pPr>
            <a:r>
              <a:rPr lang="en-US" sz="1200" dirty="0"/>
              <a:t>    private String code;</a:t>
            </a:r>
          </a:p>
          <a:p>
            <a:pPr marL="0" indent="0">
              <a:buNone/>
            </a:pPr>
            <a:r>
              <a:rPr lang="en-US" sz="1200" dirty="0"/>
              <a:t>…</a:t>
            </a:r>
          </a:p>
          <a:p>
            <a:pPr marL="0" indent="0">
              <a:buNone/>
            </a:pPr>
            <a:r>
              <a:rPr lang="en-US" sz="1200" dirty="0"/>
              <a:t>}</a:t>
            </a:r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5" name="CasellaDiTesto 4"/>
          <p:cNvSpPr txBox="1"/>
          <p:nvPr/>
        </p:nvSpPr>
        <p:spPr>
          <a:xfrm>
            <a:off x="4059972" y="3071877"/>
            <a:ext cx="3901570" cy="1962076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CREATE TABLE </a:t>
            </a:r>
            <a:r>
              <a:rPr kumimoji="0" lang="it-IT" sz="13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product</a:t>
            </a:r>
            <a:r>
              <a:rPr kumimoji="0" lang="it-IT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( 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  id </a:t>
            </a:r>
            <a:r>
              <a:rPr kumimoji="0" lang="it-IT" sz="13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bigint</a:t>
            </a:r>
            <a:r>
              <a:rPr kumimoji="0" lang="it-IT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 NOT NULL, 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  </a:t>
            </a:r>
            <a:r>
              <a:rPr kumimoji="0" lang="it-IT" sz="13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name</a:t>
            </a:r>
            <a:r>
              <a:rPr kumimoji="0" lang="it-IT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 </a:t>
            </a:r>
            <a:r>
              <a:rPr kumimoji="0" lang="it-IT" sz="13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character</a:t>
            </a:r>
            <a:r>
              <a:rPr kumimoji="0" lang="it-IT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 </a:t>
            </a:r>
            <a:r>
              <a:rPr kumimoji="0" lang="it-IT" sz="13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varying</a:t>
            </a:r>
            <a:r>
              <a:rPr kumimoji="0" lang="it-IT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(255) NOT NULL, 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  code </a:t>
            </a:r>
            <a:r>
              <a:rPr kumimoji="0" lang="it-IT" sz="13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character</a:t>
            </a:r>
            <a:r>
              <a:rPr kumimoji="0" lang="it-IT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 </a:t>
            </a:r>
            <a:r>
              <a:rPr kumimoji="0" lang="it-IT" sz="13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varying</a:t>
            </a:r>
            <a:r>
              <a:rPr kumimoji="0" lang="it-IT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(255) NOT NULL, 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  </a:t>
            </a:r>
            <a:r>
              <a:rPr kumimoji="0" lang="it-IT" sz="13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description</a:t>
            </a:r>
            <a:r>
              <a:rPr kumimoji="0" lang="it-IT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 </a:t>
            </a:r>
            <a:r>
              <a:rPr kumimoji="0" lang="it-IT" sz="13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character</a:t>
            </a:r>
            <a:r>
              <a:rPr kumimoji="0" lang="it-IT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 </a:t>
            </a:r>
            <a:r>
              <a:rPr kumimoji="0" lang="it-IT" sz="13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varying</a:t>
            </a:r>
            <a:r>
              <a:rPr kumimoji="0" lang="it-IT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(2000), 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  CONSTRAINT </a:t>
            </a:r>
            <a:r>
              <a:rPr kumimoji="0" lang="it-IT" sz="13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product_pkey</a:t>
            </a:r>
            <a:r>
              <a:rPr kumimoji="0" lang="it-IT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 PRIMARY KEY (id), 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  </a:t>
            </a:r>
            <a:r>
              <a:rPr kumimoji="0" lang="it-IT" sz="1350" b="0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highlight>
                  <a:srgbClr val="FFFF00"/>
                </a:highlight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CONSTRAINT </a:t>
            </a:r>
            <a:r>
              <a:rPr kumimoji="0" lang="it-IT" sz="1350" b="0" i="0" u="none" strike="noStrike" kern="1200" cap="none" spc="0" normalizeH="0" baseline="0" noProof="0" dirty="0" err="1">
                <a:ln>
                  <a:noFill/>
                </a:ln>
                <a:solidFill>
                  <a:srgbClr val="C0504D"/>
                </a:solidFill>
                <a:effectLst/>
                <a:highlight>
                  <a:srgbClr val="FFFF00"/>
                </a:highlight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u_product_code</a:t>
            </a:r>
            <a:r>
              <a:rPr kumimoji="0" lang="it-IT" sz="1350" b="0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highlight>
                  <a:srgbClr val="FFFF00"/>
                </a:highlight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 UNIQUE (code)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7158983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700"/>
              <a:t>Object-Relational-Mapping</a:t>
            </a:r>
            <a:br>
              <a:rPr lang="en-US" sz="2700"/>
            </a:br>
            <a:r>
              <a:rPr lang="en-US" sz="2700" err="1"/>
              <a:t>Vincoli</a:t>
            </a:r>
            <a:r>
              <a:rPr lang="en-US" sz="2700"/>
              <a:t> di </a:t>
            </a:r>
            <a:r>
              <a:rPr lang="en-US" sz="2700" err="1"/>
              <a:t>Unicità</a:t>
            </a:r>
            <a:endParaRPr lang="en-US" sz="270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1230582" y="895715"/>
            <a:ext cx="6354299" cy="339447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200" dirty="0"/>
              <a:t>@Entity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C0504D"/>
                </a:solidFill>
                <a:highlight>
                  <a:srgbClr val="FFFF00"/>
                </a:highlight>
              </a:rPr>
              <a:t>@Table(</a:t>
            </a:r>
            <a:r>
              <a:rPr lang="en-US" sz="1200" b="1" dirty="0" err="1">
                <a:solidFill>
                  <a:srgbClr val="C0504D"/>
                </a:solidFill>
                <a:highlight>
                  <a:srgbClr val="FFFF00"/>
                </a:highlight>
              </a:rPr>
              <a:t>uniqueConstraints</a:t>
            </a:r>
            <a:r>
              <a:rPr lang="en-US" sz="1200" b="1" dirty="0">
                <a:solidFill>
                  <a:srgbClr val="C0504D"/>
                </a:solidFill>
                <a:highlight>
                  <a:srgbClr val="FFFF00"/>
                </a:highlight>
              </a:rPr>
              <a:t>=@</a:t>
            </a:r>
            <a:r>
              <a:rPr lang="en-US" sz="1200" b="1" dirty="0" err="1">
                <a:solidFill>
                  <a:srgbClr val="C0504D"/>
                </a:solidFill>
                <a:highlight>
                  <a:srgbClr val="FFFF00"/>
                </a:highlight>
              </a:rPr>
              <a:t>UniqueConstraint</a:t>
            </a:r>
            <a:r>
              <a:rPr lang="en-US" sz="1200" b="1" dirty="0">
                <a:solidFill>
                  <a:srgbClr val="C0504D"/>
                </a:solidFill>
                <a:highlight>
                  <a:srgbClr val="FFFF00"/>
                </a:highlight>
              </a:rPr>
              <a:t>(</a:t>
            </a:r>
            <a:r>
              <a:rPr lang="en-US" sz="1200" b="1" dirty="0" err="1">
                <a:solidFill>
                  <a:srgbClr val="C0504D"/>
                </a:solidFill>
                <a:highlight>
                  <a:srgbClr val="FFFF00"/>
                </a:highlight>
              </a:rPr>
              <a:t>columnNames</a:t>
            </a:r>
            <a:r>
              <a:rPr lang="en-US" sz="1200" b="1" dirty="0">
                <a:solidFill>
                  <a:srgbClr val="C0504D"/>
                </a:solidFill>
                <a:highlight>
                  <a:srgbClr val="FFFF00"/>
                </a:highlight>
              </a:rPr>
              <a:t>={"</a:t>
            </a:r>
            <a:r>
              <a:rPr lang="en-US" sz="1200" b="1" dirty="0" err="1">
                <a:solidFill>
                  <a:srgbClr val="C0504D"/>
                </a:solidFill>
                <a:highlight>
                  <a:srgbClr val="FFFF00"/>
                </a:highlight>
              </a:rPr>
              <a:t>firstname</a:t>
            </a:r>
            <a:r>
              <a:rPr lang="en-US" sz="1200" b="1" dirty="0">
                <a:solidFill>
                  <a:srgbClr val="C0504D"/>
                </a:solidFill>
                <a:highlight>
                  <a:srgbClr val="FFFF00"/>
                </a:highlight>
              </a:rPr>
              <a:t>","</a:t>
            </a:r>
            <a:r>
              <a:rPr lang="en-US" sz="1200" b="1" dirty="0" err="1">
                <a:solidFill>
                  <a:srgbClr val="C0504D"/>
                </a:solidFill>
                <a:highlight>
                  <a:srgbClr val="FFFF00"/>
                </a:highlight>
              </a:rPr>
              <a:t>lastname</a:t>
            </a:r>
            <a:r>
              <a:rPr lang="en-US" sz="1200" b="1" dirty="0">
                <a:solidFill>
                  <a:srgbClr val="C0504D"/>
                </a:solidFill>
                <a:highlight>
                  <a:srgbClr val="FFFF00"/>
                </a:highlight>
              </a:rPr>
              <a:t>"}))</a:t>
            </a:r>
          </a:p>
          <a:p>
            <a:pPr marL="0" indent="0">
              <a:buNone/>
            </a:pPr>
            <a:r>
              <a:rPr lang="en-US" sz="1200" dirty="0"/>
              <a:t>public class Customer {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/>
              <a:t>    @Id</a:t>
            </a:r>
          </a:p>
          <a:p>
            <a:pPr marL="0" indent="0">
              <a:buNone/>
            </a:pPr>
            <a:r>
              <a:rPr lang="en-US" sz="1200" dirty="0"/>
              <a:t>    @</a:t>
            </a:r>
            <a:r>
              <a:rPr lang="en-US" sz="1200" dirty="0" err="1"/>
              <a:t>GeneratedValue</a:t>
            </a:r>
            <a:r>
              <a:rPr lang="en-US" sz="1200" dirty="0"/>
              <a:t>(strategy = </a:t>
            </a:r>
            <a:r>
              <a:rPr lang="en-US" sz="1200" dirty="0" err="1"/>
              <a:t>GenerationType.</a:t>
            </a:r>
            <a:r>
              <a:rPr lang="en-US" sz="1200" i="1" dirty="0" err="1"/>
              <a:t>AUTO</a:t>
            </a:r>
            <a:r>
              <a:rPr lang="en-US" sz="1200" i="1" dirty="0"/>
              <a:t>)</a:t>
            </a:r>
          </a:p>
          <a:p>
            <a:pPr marL="0" indent="0">
              <a:buNone/>
            </a:pPr>
            <a:r>
              <a:rPr lang="en-US" sz="1200" dirty="0"/>
              <a:t>    private Long id;</a:t>
            </a:r>
          </a:p>
          <a:p>
            <a:pPr marL="0" indent="0">
              <a:buNone/>
            </a:pPr>
            <a:r>
              <a:rPr lang="en-US" sz="1200" dirty="0"/>
              <a:t>    @Column(nullable = false)</a:t>
            </a:r>
          </a:p>
          <a:p>
            <a:pPr marL="0" indent="0">
              <a:buNone/>
            </a:pPr>
            <a:r>
              <a:rPr lang="en-US" sz="1200" dirty="0"/>
              <a:t>    private String </a:t>
            </a:r>
            <a:r>
              <a:rPr lang="en-US" sz="1200" dirty="0" err="1"/>
              <a:t>firstName</a:t>
            </a:r>
            <a:r>
              <a:rPr lang="en-US" sz="1200" dirty="0"/>
              <a:t>;</a:t>
            </a:r>
          </a:p>
          <a:p>
            <a:pPr marL="0" indent="0">
              <a:buNone/>
            </a:pPr>
            <a:r>
              <a:rPr lang="en-US" sz="1200" dirty="0"/>
              <a:t>    @Column(nullable = false)</a:t>
            </a:r>
          </a:p>
          <a:p>
            <a:pPr marL="0" indent="0">
              <a:buNone/>
            </a:pPr>
            <a:r>
              <a:rPr lang="en-US" sz="1200" dirty="0"/>
              <a:t>    private String </a:t>
            </a:r>
            <a:r>
              <a:rPr lang="en-US" sz="1200" dirty="0" err="1"/>
              <a:t>lastName</a:t>
            </a:r>
            <a:r>
              <a:rPr lang="en-US" sz="1200" dirty="0"/>
              <a:t>;</a:t>
            </a:r>
          </a:p>
          <a:p>
            <a:pPr marL="0" indent="0">
              <a:buNone/>
            </a:pPr>
            <a:r>
              <a:rPr lang="en-US" sz="1200" dirty="0"/>
              <a:t>    private String email;</a:t>
            </a:r>
          </a:p>
          <a:p>
            <a:pPr marL="0" indent="0">
              <a:buNone/>
            </a:pPr>
            <a:r>
              <a:rPr lang="en-US" sz="1200" dirty="0"/>
              <a:t>    …</a:t>
            </a:r>
          </a:p>
          <a:p>
            <a:pPr marL="0" indent="0">
              <a:buNone/>
            </a:pPr>
            <a:r>
              <a:rPr lang="en-US" sz="1200" dirty="0"/>
              <a:t>}</a:t>
            </a:r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5" name="CasellaDiTesto 4"/>
          <p:cNvSpPr txBox="1"/>
          <p:nvPr/>
        </p:nvSpPr>
        <p:spPr>
          <a:xfrm>
            <a:off x="2933900" y="3194687"/>
            <a:ext cx="5067100" cy="1962076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CREATE TABLE </a:t>
            </a:r>
            <a:r>
              <a:rPr kumimoji="0" lang="it-IT" sz="13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customer</a:t>
            </a:r>
            <a:r>
              <a:rPr kumimoji="0" lang="it-IT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 ( 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  id </a:t>
            </a:r>
            <a:r>
              <a:rPr kumimoji="0" lang="it-IT" sz="13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bigint</a:t>
            </a:r>
            <a:r>
              <a:rPr kumimoji="0" lang="it-IT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 NOT NULL, 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  </a:t>
            </a:r>
            <a:r>
              <a:rPr kumimoji="0" lang="it-IT" sz="13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firstname</a:t>
            </a:r>
            <a:r>
              <a:rPr kumimoji="0" lang="it-IT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 </a:t>
            </a:r>
            <a:r>
              <a:rPr kumimoji="0" lang="it-IT" sz="13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character</a:t>
            </a:r>
            <a:r>
              <a:rPr kumimoji="0" lang="it-IT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 </a:t>
            </a:r>
            <a:r>
              <a:rPr kumimoji="0" lang="it-IT" sz="13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varying</a:t>
            </a:r>
            <a:r>
              <a:rPr kumimoji="0" lang="it-IT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(255) NOT NULL, 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  </a:t>
            </a:r>
            <a:r>
              <a:rPr kumimoji="0" lang="it-IT" sz="13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lastname</a:t>
            </a:r>
            <a:r>
              <a:rPr kumimoji="0" lang="it-IT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 </a:t>
            </a:r>
            <a:r>
              <a:rPr kumimoji="0" lang="it-IT" sz="13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character</a:t>
            </a:r>
            <a:r>
              <a:rPr kumimoji="0" lang="it-IT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 </a:t>
            </a:r>
            <a:r>
              <a:rPr kumimoji="0" lang="it-IT" sz="13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varying</a:t>
            </a:r>
            <a:r>
              <a:rPr kumimoji="0" lang="it-IT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(255) NOT NULL, 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  email </a:t>
            </a:r>
            <a:r>
              <a:rPr kumimoji="0" lang="it-IT" sz="13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character</a:t>
            </a:r>
            <a:r>
              <a:rPr kumimoji="0" lang="it-IT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 </a:t>
            </a:r>
            <a:r>
              <a:rPr kumimoji="0" lang="it-IT" sz="13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varying</a:t>
            </a:r>
            <a:r>
              <a:rPr kumimoji="0" lang="it-IT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(255), 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  CONSTRAINT </a:t>
            </a:r>
            <a:r>
              <a:rPr kumimoji="0" lang="it-IT" sz="13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customer_pkey</a:t>
            </a:r>
            <a:r>
              <a:rPr kumimoji="0" lang="it-IT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 PRIMARY KEY (id), 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  </a:t>
            </a:r>
            <a:r>
              <a:rPr kumimoji="0" lang="it-IT" sz="1350" b="0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highlight>
                  <a:srgbClr val="FFFF00"/>
                </a:highlight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CONSTRAINT </a:t>
            </a:r>
            <a:r>
              <a:rPr kumimoji="0" lang="it-IT" sz="1350" b="0" i="0" u="none" strike="noStrike" kern="1200" cap="none" spc="0" normalizeH="0" baseline="0" noProof="0" dirty="0" err="1">
                <a:ln>
                  <a:noFill/>
                </a:ln>
                <a:solidFill>
                  <a:srgbClr val="C0504D"/>
                </a:solidFill>
                <a:effectLst/>
                <a:highlight>
                  <a:srgbClr val="FFFF00"/>
                </a:highlight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u_customer_firstname</a:t>
            </a:r>
            <a:r>
              <a:rPr kumimoji="0" lang="it-IT" sz="1350" b="0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highlight>
                  <a:srgbClr val="FFFF00"/>
                </a:highlight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 UNIQUE (</a:t>
            </a:r>
            <a:r>
              <a:rPr kumimoji="0" lang="it-IT" sz="1350" b="0" i="0" u="none" strike="noStrike" kern="1200" cap="none" spc="0" normalizeH="0" baseline="0" noProof="0" dirty="0" err="1">
                <a:ln>
                  <a:noFill/>
                </a:ln>
                <a:solidFill>
                  <a:srgbClr val="C0504D"/>
                </a:solidFill>
                <a:effectLst/>
                <a:highlight>
                  <a:srgbClr val="FFFF00"/>
                </a:highlight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firstname</a:t>
            </a:r>
            <a:r>
              <a:rPr kumimoji="0" lang="it-IT" sz="1350" b="0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highlight>
                  <a:srgbClr val="FFFF00"/>
                </a:highlight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, </a:t>
            </a:r>
            <a:r>
              <a:rPr kumimoji="0" lang="it-IT" sz="1350" b="0" i="0" u="none" strike="noStrike" kern="1200" cap="none" spc="0" normalizeH="0" baseline="0" noProof="0" dirty="0" err="1">
                <a:ln>
                  <a:noFill/>
                </a:ln>
                <a:solidFill>
                  <a:srgbClr val="C0504D"/>
                </a:solidFill>
                <a:effectLst/>
                <a:highlight>
                  <a:srgbClr val="FFFF00"/>
                </a:highlight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lastname</a:t>
            </a:r>
            <a:r>
              <a:rPr kumimoji="0" lang="it-IT" sz="1350" b="0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highlight>
                  <a:srgbClr val="FFFF00"/>
                </a:highlight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6656319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Mettiamo</a:t>
            </a:r>
            <a:r>
              <a:rPr lang="en-US"/>
              <a:t> </a:t>
            </a:r>
            <a:r>
              <a:rPr lang="en-US" err="1"/>
              <a:t>tutto</a:t>
            </a:r>
            <a:r>
              <a:rPr lang="en-US"/>
              <a:t> in </a:t>
            </a:r>
            <a:r>
              <a:rPr lang="en-US" err="1"/>
              <a:t>pratica</a:t>
            </a:r>
            <a:endParaRPr lang="en-US"/>
          </a:p>
        </p:txBody>
      </p:sp>
      <p:pic>
        <p:nvPicPr>
          <p:cNvPr id="4" name="Segnaposto contenuto 3"/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" b="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85040439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FC05AF3-1946-5B46-8BD0-5876ED0B7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Esercizio</a:t>
            </a:r>
            <a:r>
              <a:rPr lang="en-US" dirty="0"/>
              <a:t> 2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4D75DBA-7600-A940-91F5-35AB703C2158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/>
          <a:lstStyle/>
          <a:p>
            <a:r>
              <a:rPr lang="en-US" dirty="0" err="1"/>
              <a:t>Modificare</a:t>
            </a:r>
            <a:r>
              <a:rPr lang="en-US" dirty="0"/>
              <a:t> le </a:t>
            </a:r>
            <a:r>
              <a:rPr lang="en-US" dirty="0" err="1"/>
              <a:t>classi</a:t>
            </a:r>
            <a:r>
              <a:rPr lang="en-US" dirty="0"/>
              <a:t> </a:t>
            </a:r>
            <a:r>
              <a:rPr lang="en-US" dirty="0" err="1"/>
              <a:t>dell'Esercizio</a:t>
            </a:r>
            <a:r>
              <a:rPr lang="en-US" dirty="0"/>
              <a:t> 2 </a:t>
            </a:r>
            <a:r>
              <a:rPr lang="en-US" dirty="0" err="1"/>
              <a:t>affinchè</a:t>
            </a:r>
            <a:r>
              <a:rPr lang="en-US" dirty="0"/>
              <a:t> </a:t>
            </a:r>
            <a:r>
              <a:rPr lang="en-US" dirty="0" err="1"/>
              <a:t>siano</a:t>
            </a:r>
            <a:r>
              <a:rPr lang="en-US" dirty="0"/>
              <a:t> </a:t>
            </a:r>
            <a:r>
              <a:rPr lang="en-US" dirty="0" err="1"/>
              <a:t>espressi</a:t>
            </a:r>
            <a:r>
              <a:rPr lang="en-US" dirty="0"/>
              <a:t> i </a:t>
            </a:r>
            <a:r>
              <a:rPr lang="en-US" dirty="0" err="1"/>
              <a:t>seguenti</a:t>
            </a:r>
            <a:r>
              <a:rPr lang="en-US" dirty="0"/>
              <a:t> </a:t>
            </a:r>
            <a:r>
              <a:rPr lang="en-US" dirty="0" err="1"/>
              <a:t>vincoli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non </a:t>
            </a:r>
            <a:r>
              <a:rPr lang="en-US" dirty="0" err="1"/>
              <a:t>possono</a:t>
            </a:r>
            <a:r>
              <a:rPr lang="en-US" dirty="0"/>
              <a:t> </a:t>
            </a:r>
            <a:r>
              <a:rPr lang="en-US" dirty="0" err="1"/>
              <a:t>esserci</a:t>
            </a:r>
            <a:r>
              <a:rPr lang="en-US" dirty="0"/>
              <a:t> due </a:t>
            </a:r>
            <a:r>
              <a:rPr lang="en-US" dirty="0" err="1"/>
              <a:t>clienti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abbiano</a:t>
            </a:r>
            <a:r>
              <a:rPr lang="en-US" dirty="0"/>
              <a:t> </a:t>
            </a:r>
            <a:r>
              <a:rPr lang="en-US" dirty="0" err="1"/>
              <a:t>stesso</a:t>
            </a:r>
            <a:r>
              <a:rPr lang="en-US" dirty="0"/>
              <a:t> </a:t>
            </a:r>
            <a:r>
              <a:rPr lang="en-US" dirty="0" err="1"/>
              <a:t>nome</a:t>
            </a:r>
            <a:r>
              <a:rPr lang="en-US" dirty="0"/>
              <a:t>, </a:t>
            </a:r>
            <a:r>
              <a:rPr lang="en-US" dirty="0" err="1"/>
              <a:t>cognome</a:t>
            </a:r>
            <a:r>
              <a:rPr lang="en-US" dirty="0"/>
              <a:t>, data di </a:t>
            </a:r>
            <a:r>
              <a:rPr lang="en-US" dirty="0" err="1"/>
              <a:t>nascita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50558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Associazioni</a:t>
            </a:r>
            <a:r>
              <a:rPr lang="en-US" dirty="0"/>
              <a:t> </a:t>
            </a:r>
            <a:r>
              <a:rPr lang="en-US" dirty="0" err="1"/>
              <a:t>unidirezionali</a:t>
            </a:r>
            <a:br>
              <a:rPr lang="en-US" dirty="0"/>
            </a:br>
            <a:r>
              <a:rPr lang="en-US" dirty="0" err="1"/>
              <a:t>OneToOne</a:t>
            </a:r>
            <a:r>
              <a:rPr lang="en-US" dirty="0"/>
              <a:t>: </a:t>
            </a:r>
            <a:r>
              <a:rPr lang="en-US" dirty="0" err="1"/>
              <a:t>Esempio</a:t>
            </a:r>
            <a:r>
              <a:rPr lang="en-US" dirty="0"/>
              <a:t> (cont.)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Nel DB </a:t>
            </a:r>
            <a:r>
              <a:rPr lang="en-US" dirty="0" err="1"/>
              <a:t>vengono</a:t>
            </a:r>
            <a:r>
              <a:rPr lang="en-US" dirty="0"/>
              <a:t> generate le </a:t>
            </a:r>
            <a:r>
              <a:rPr lang="en-US" dirty="0" err="1"/>
              <a:t>tabelle</a:t>
            </a:r>
            <a:r>
              <a:rPr lang="en-US" dirty="0"/>
              <a:t> e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vincolo</a:t>
            </a:r>
            <a:r>
              <a:rPr lang="en-US" dirty="0"/>
              <a:t> di </a:t>
            </a:r>
            <a:r>
              <a:rPr lang="en-US" dirty="0" err="1"/>
              <a:t>chiave</a:t>
            </a:r>
            <a:r>
              <a:rPr lang="en-US" dirty="0"/>
              <a:t> </a:t>
            </a:r>
            <a:r>
              <a:rPr lang="en-US" dirty="0" err="1"/>
              <a:t>esterna</a:t>
            </a:r>
            <a:r>
              <a:rPr lang="en-US" dirty="0"/>
              <a:t> (FK)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rappresenta</a:t>
            </a:r>
            <a:r>
              <a:rPr lang="en-US" dirty="0"/>
              <a:t> </a:t>
            </a:r>
            <a:r>
              <a:rPr lang="en-US" dirty="0" err="1"/>
              <a:t>l'associazione</a:t>
            </a:r>
            <a:r>
              <a:rPr lang="en-US" dirty="0"/>
              <a:t> come </a:t>
            </a:r>
            <a:r>
              <a:rPr lang="en-US" dirty="0" err="1"/>
              <a:t>indicato</a:t>
            </a:r>
            <a:r>
              <a:rPr lang="en-US" dirty="0"/>
              <a:t> in </a:t>
            </a:r>
            <a:r>
              <a:rPr lang="en-US" dirty="0" err="1"/>
              <a:t>figura</a:t>
            </a:r>
            <a:endParaRPr lang="en-US" dirty="0"/>
          </a:p>
        </p:txBody>
      </p:sp>
      <p:graphicFrame>
        <p:nvGraphicFramePr>
          <p:cNvPr id="8" name="Segnaposto contenuto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12391748"/>
              </p:ext>
            </p:extLst>
          </p:nvPr>
        </p:nvGraphicFramePr>
        <p:xfrm>
          <a:off x="1666876" y="2486025"/>
          <a:ext cx="2619375" cy="208239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181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36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76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5740">
                <a:tc gridSpan="3">
                  <a:txBody>
                    <a:bodyPr/>
                    <a:lstStyle/>
                    <a:p>
                      <a:pPr algn="ctr"/>
                      <a:r>
                        <a:rPr lang="it-IT" sz="900" b="0" i="0" dirty="0">
                          <a:latin typeface="Calibri Light" panose="020F0302020204030204" pitchFamily="34" charset="0"/>
                        </a:rPr>
                        <a:t>customer</a:t>
                      </a:r>
                      <a:endParaRPr lang="it-IT" sz="900" dirty="0"/>
                    </a:p>
                  </a:txBody>
                  <a:tcPr marL="68580" marR="68580" marT="34290" marB="34290"/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it-IT" sz="900" b="0" i="0" dirty="0">
                          <a:latin typeface="Calibri Light" panose="020F0302020204030204" pitchFamily="34" charset="0"/>
                        </a:rPr>
                        <a:t>id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bigint</a:t>
                      </a:r>
                      <a:endParaRPr lang="it-IT" sz="9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nullable</a:t>
                      </a:r>
                      <a:r>
                        <a:rPr lang="it-IT" sz="900" dirty="0"/>
                        <a:t>=false</a:t>
                      </a:r>
                    </a:p>
                    <a:p>
                      <a:r>
                        <a:rPr lang="it-IT" sz="900" dirty="0"/>
                        <a:t>PK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989">
                <a:tc>
                  <a:txBody>
                    <a:bodyPr/>
                    <a:lstStyle/>
                    <a:p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firstname</a:t>
                      </a:r>
                      <a:endParaRPr lang="it-IT" sz="9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varchar</a:t>
                      </a:r>
                      <a:r>
                        <a:rPr lang="it-IT" sz="900" dirty="0"/>
                        <a:t>(255)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nullable</a:t>
                      </a:r>
                      <a:r>
                        <a:rPr lang="it-IT" sz="900" dirty="0"/>
                        <a:t>=false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1989">
                <a:tc>
                  <a:txBody>
                    <a:bodyPr/>
                    <a:lstStyle/>
                    <a:p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lastname</a:t>
                      </a:r>
                      <a:endParaRPr lang="it-IT" sz="9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varchar</a:t>
                      </a:r>
                      <a:r>
                        <a:rPr lang="it-IT" sz="900" dirty="0"/>
                        <a:t>(255)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nullable</a:t>
                      </a:r>
                      <a:r>
                        <a:rPr lang="it-IT" sz="900" dirty="0"/>
                        <a:t>=false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1989">
                <a:tc>
                  <a:txBody>
                    <a:bodyPr/>
                    <a:lstStyle/>
                    <a:p>
                      <a:r>
                        <a:rPr lang="it-IT" sz="900" b="0" i="0" dirty="0">
                          <a:latin typeface="Calibri Light" panose="020F0302020204030204" pitchFamily="34" charset="0"/>
                        </a:rPr>
                        <a:t>email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varchar</a:t>
                      </a:r>
                      <a:r>
                        <a:rPr lang="it-IT" sz="900" dirty="0"/>
                        <a:t>(255)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nullable</a:t>
                      </a:r>
                      <a:r>
                        <a:rPr lang="it-IT" sz="900" dirty="0"/>
                        <a:t>=</a:t>
                      </a:r>
                      <a:r>
                        <a:rPr lang="it-IT" sz="900" dirty="0" err="1"/>
                        <a:t>true</a:t>
                      </a:r>
                      <a:endParaRPr lang="it-IT" sz="9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1989">
                <a:tc>
                  <a:txBody>
                    <a:bodyPr/>
                    <a:lstStyle/>
                    <a:p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dateOfBirth</a:t>
                      </a:r>
                      <a:endParaRPr lang="it-IT" sz="9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00" b="0" i="0" dirty="0">
                          <a:latin typeface="Calibri Light" panose="020F0302020204030204" pitchFamily="34" charset="0"/>
                        </a:rPr>
                        <a:t>date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nullable</a:t>
                      </a:r>
                      <a:r>
                        <a:rPr lang="it-IT" sz="900" dirty="0"/>
                        <a:t>=</a:t>
                      </a:r>
                      <a:r>
                        <a:rPr lang="it-IT" sz="900" dirty="0" err="1"/>
                        <a:t>true</a:t>
                      </a:r>
                      <a:endParaRPr lang="it-IT" sz="9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registration</a:t>
                      </a:r>
                      <a:endParaRPr lang="it-IT" sz="9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timestamp</a:t>
                      </a:r>
                      <a:endParaRPr lang="it-IT" sz="9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nullable</a:t>
                      </a:r>
                      <a:r>
                        <a:rPr lang="it-IT" sz="900" dirty="0"/>
                        <a:t>=</a:t>
                      </a:r>
                      <a:r>
                        <a:rPr lang="it-IT" sz="900" dirty="0" err="1"/>
                        <a:t>true</a:t>
                      </a:r>
                      <a:endParaRPr lang="it-IT" sz="9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address_id</a:t>
                      </a:r>
                      <a:endParaRPr lang="it-IT" sz="9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bigint</a:t>
                      </a:r>
                      <a:endParaRPr lang="it-IT" sz="9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nullable</a:t>
                      </a:r>
                      <a:r>
                        <a:rPr lang="it-IT" sz="900" dirty="0"/>
                        <a:t>=</a:t>
                      </a:r>
                      <a:r>
                        <a:rPr lang="it-IT" sz="900" dirty="0" err="1"/>
                        <a:t>true</a:t>
                      </a:r>
                      <a:endParaRPr lang="it-IT" sz="900" dirty="0"/>
                    </a:p>
                    <a:p>
                      <a:r>
                        <a:rPr lang="it-IT" sz="900" dirty="0"/>
                        <a:t>FK </a:t>
                      </a:r>
                      <a:r>
                        <a:rPr lang="it-IT" sz="900" dirty="0" err="1"/>
                        <a:t>address.id</a:t>
                      </a:r>
                      <a:endParaRPr lang="it-IT" sz="9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972574265"/>
                  </a:ext>
                </a:extLst>
              </a:tr>
            </a:tbl>
          </a:graphicData>
        </a:graphic>
      </p:graphicFrame>
      <p:graphicFrame>
        <p:nvGraphicFramePr>
          <p:cNvPr id="10" name="Segnaposto contenuto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66512035"/>
              </p:ext>
            </p:extLst>
          </p:nvPr>
        </p:nvGraphicFramePr>
        <p:xfrm>
          <a:off x="4810126" y="2486025"/>
          <a:ext cx="2619375" cy="160858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181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36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76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5740">
                <a:tc gridSpan="3">
                  <a:txBody>
                    <a:bodyPr/>
                    <a:lstStyle/>
                    <a:p>
                      <a:pPr algn="ctr"/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address</a:t>
                      </a:r>
                      <a:endParaRPr lang="it-IT" sz="900" dirty="0"/>
                    </a:p>
                  </a:txBody>
                  <a:tcPr marL="68580" marR="68580" marT="34290" marB="34290"/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it-IT" sz="900" b="0" i="0" dirty="0">
                          <a:latin typeface="Calibri Light" panose="020F0302020204030204" pitchFamily="34" charset="0"/>
                        </a:rPr>
                        <a:t>id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bigint</a:t>
                      </a:r>
                      <a:endParaRPr lang="it-IT" sz="9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nullable</a:t>
                      </a:r>
                      <a:r>
                        <a:rPr lang="it-IT" sz="900" dirty="0"/>
                        <a:t>=false</a:t>
                      </a:r>
                    </a:p>
                    <a:p>
                      <a:r>
                        <a:rPr lang="it-IT" sz="900" dirty="0"/>
                        <a:t>PK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989">
                <a:tc>
                  <a:txBody>
                    <a:bodyPr/>
                    <a:lstStyle/>
                    <a:p>
                      <a:r>
                        <a:rPr lang="it-IT" sz="900" b="0" i="0" dirty="0">
                          <a:latin typeface="Calibri Light" panose="020F0302020204030204" pitchFamily="34" charset="0"/>
                        </a:rPr>
                        <a:t>street</a:t>
                      </a:r>
                      <a:endParaRPr lang="it-IT" sz="9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varchar</a:t>
                      </a:r>
                      <a:r>
                        <a:rPr lang="it-IT" sz="900" dirty="0"/>
                        <a:t>(255)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nullable</a:t>
                      </a:r>
                      <a:r>
                        <a:rPr lang="it-IT" sz="900" dirty="0"/>
                        <a:t>=false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1989">
                <a:tc>
                  <a:txBody>
                    <a:bodyPr/>
                    <a:lstStyle/>
                    <a:p>
                      <a:r>
                        <a:rPr lang="it-IT" sz="900" b="0" i="0" dirty="0">
                          <a:latin typeface="Calibri Light" panose="020F0302020204030204" pitchFamily="34" charset="0"/>
                        </a:rPr>
                        <a:t>city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varchar</a:t>
                      </a:r>
                      <a:r>
                        <a:rPr lang="it-IT" sz="900" dirty="0"/>
                        <a:t>(255)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nullable</a:t>
                      </a:r>
                      <a:r>
                        <a:rPr lang="it-IT" sz="900" dirty="0"/>
                        <a:t>=</a:t>
                      </a:r>
                      <a:r>
                        <a:rPr lang="it-IT" sz="900" dirty="0" err="1"/>
                        <a:t>true</a:t>
                      </a:r>
                      <a:endParaRPr lang="it-IT" sz="9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1989">
                <a:tc>
                  <a:txBody>
                    <a:bodyPr/>
                    <a:lstStyle/>
                    <a:p>
                      <a:r>
                        <a:rPr lang="it-IT" sz="900" b="0" i="0" dirty="0">
                          <a:latin typeface="Calibri Light" panose="020F0302020204030204" pitchFamily="34" charset="0"/>
                        </a:rPr>
                        <a:t>state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varchar</a:t>
                      </a:r>
                      <a:r>
                        <a:rPr lang="it-IT" sz="900" dirty="0"/>
                        <a:t>(255)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nullable</a:t>
                      </a:r>
                      <a:r>
                        <a:rPr lang="it-IT" sz="900" dirty="0"/>
                        <a:t>=</a:t>
                      </a:r>
                      <a:r>
                        <a:rPr lang="it-IT" sz="900" dirty="0" err="1"/>
                        <a:t>true</a:t>
                      </a:r>
                      <a:endParaRPr lang="it-IT" sz="9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1989">
                <a:tc>
                  <a:txBody>
                    <a:bodyPr/>
                    <a:lstStyle/>
                    <a:p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zipcode</a:t>
                      </a:r>
                      <a:endParaRPr lang="it-IT" sz="9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varchar</a:t>
                      </a:r>
                      <a:r>
                        <a:rPr lang="it-IT" sz="900" dirty="0"/>
                        <a:t>(8)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nullable</a:t>
                      </a:r>
                      <a:r>
                        <a:rPr lang="it-IT" sz="900" dirty="0"/>
                        <a:t>=</a:t>
                      </a:r>
                      <a:r>
                        <a:rPr lang="it-IT" sz="900" dirty="0" err="1"/>
                        <a:t>true</a:t>
                      </a:r>
                      <a:endParaRPr lang="it-IT" sz="9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1989">
                <a:tc>
                  <a:txBody>
                    <a:bodyPr/>
                    <a:lstStyle/>
                    <a:p>
                      <a:r>
                        <a:rPr lang="it-IT" sz="900" b="0" i="0" dirty="0">
                          <a:latin typeface="Calibri Light" panose="020F0302020204030204" pitchFamily="34" charset="0"/>
                        </a:rPr>
                        <a:t>country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varchar</a:t>
                      </a:r>
                      <a:r>
                        <a:rPr lang="it-IT" sz="900" dirty="0"/>
                        <a:t>(255)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nullable</a:t>
                      </a:r>
                      <a:r>
                        <a:rPr lang="it-IT" sz="900" dirty="0"/>
                        <a:t>=</a:t>
                      </a:r>
                      <a:r>
                        <a:rPr lang="it-IT" sz="900" dirty="0" err="1"/>
                        <a:t>true</a:t>
                      </a:r>
                      <a:endParaRPr lang="it-IT" sz="9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ettangolo arrotondato 5"/>
          <p:cNvSpPr/>
          <p:nvPr/>
        </p:nvSpPr>
        <p:spPr>
          <a:xfrm>
            <a:off x="3255640" y="4195622"/>
            <a:ext cx="1217673" cy="422283"/>
          </a:xfrm>
          <a:prstGeom prst="roundRect">
            <a:avLst/>
          </a:prstGeom>
          <a:solidFill>
            <a:schemeClr val="accent1">
              <a:alpha val="29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350" dirty="0"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005585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Configuration by Exception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Il mapping di default per la </a:t>
            </a:r>
            <a:r>
              <a:rPr lang="en-US" dirty="0" err="1"/>
              <a:t>colonna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rappresenta</a:t>
            </a:r>
            <a:r>
              <a:rPr lang="en-US" dirty="0"/>
              <a:t> la foreign key ha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nome</a:t>
            </a:r>
            <a:r>
              <a:rPr lang="en-US" dirty="0"/>
              <a:t> </a:t>
            </a:r>
            <a:r>
              <a:rPr lang="en-US" dirty="0" err="1"/>
              <a:t>costruito</a:t>
            </a:r>
            <a:r>
              <a:rPr lang="en-US" dirty="0"/>
              <a:t> come segue:</a:t>
            </a:r>
          </a:p>
          <a:p>
            <a:pPr lvl="1"/>
            <a:r>
              <a:rPr lang="en-US" dirty="0" err="1"/>
              <a:t>nome</a:t>
            </a:r>
            <a:r>
              <a:rPr lang="en-US" dirty="0"/>
              <a:t> </a:t>
            </a:r>
            <a:r>
              <a:rPr lang="en-US" dirty="0" err="1"/>
              <a:t>tabella</a:t>
            </a:r>
            <a:r>
              <a:rPr lang="en-US" dirty="0"/>
              <a:t> </a:t>
            </a:r>
            <a:r>
              <a:rPr lang="en-US" dirty="0" err="1"/>
              <a:t>corrispondente</a:t>
            </a:r>
            <a:r>
              <a:rPr lang="en-US" dirty="0"/>
              <a:t> </a:t>
            </a:r>
            <a:r>
              <a:rPr lang="en-US" dirty="0" err="1"/>
              <a:t>alla</a:t>
            </a:r>
            <a:r>
              <a:rPr lang="en-US" dirty="0"/>
              <a:t> </a:t>
            </a:r>
            <a:r>
              <a:rPr lang="en-US" dirty="0" err="1"/>
              <a:t>entità</a:t>
            </a:r>
            <a:r>
              <a:rPr lang="en-US" dirty="0"/>
              <a:t> </a:t>
            </a:r>
            <a:r>
              <a:rPr lang="en-US" dirty="0" err="1"/>
              <a:t>destinazione</a:t>
            </a:r>
            <a:r>
              <a:rPr lang="en-US" dirty="0"/>
              <a:t>, </a:t>
            </a:r>
            <a:r>
              <a:rPr lang="en-US" dirty="0" err="1"/>
              <a:t>seguito</a:t>
            </a:r>
            <a:r>
              <a:rPr lang="en-US" dirty="0"/>
              <a:t> dal </a:t>
            </a:r>
            <a:r>
              <a:rPr lang="en-US" dirty="0" err="1"/>
              <a:t>simbolo</a:t>
            </a:r>
            <a:r>
              <a:rPr lang="en-US" dirty="0"/>
              <a:t> _ </a:t>
            </a:r>
            <a:r>
              <a:rPr lang="en-US" dirty="0" err="1"/>
              <a:t>seguito</a:t>
            </a:r>
            <a:r>
              <a:rPr lang="en-US" dirty="0"/>
              <a:t> da </a:t>
            </a:r>
            <a:r>
              <a:rPr lang="en-US" dirty="0" err="1"/>
              <a:t>chiave</a:t>
            </a:r>
            <a:r>
              <a:rPr lang="en-US" dirty="0"/>
              <a:t> </a:t>
            </a:r>
            <a:r>
              <a:rPr lang="en-US" dirty="0" err="1"/>
              <a:t>primaria</a:t>
            </a:r>
            <a:r>
              <a:rPr lang="en-US" dirty="0"/>
              <a:t> </a:t>
            </a:r>
            <a:r>
              <a:rPr lang="en-US" dirty="0" err="1"/>
              <a:t>tabella</a:t>
            </a:r>
            <a:r>
              <a:rPr lang="en-US" dirty="0"/>
              <a:t> </a:t>
            </a:r>
            <a:r>
              <a:rPr lang="en-US" dirty="0" err="1"/>
              <a:t>corrispondente</a:t>
            </a:r>
            <a:r>
              <a:rPr lang="en-US" dirty="0"/>
              <a:t> </a:t>
            </a:r>
            <a:r>
              <a:rPr lang="en-US" dirty="0" err="1"/>
              <a:t>alla</a:t>
            </a:r>
            <a:r>
              <a:rPr lang="en-US" dirty="0"/>
              <a:t> </a:t>
            </a:r>
            <a:r>
              <a:rPr lang="en-US" dirty="0" err="1"/>
              <a:t>entità</a:t>
            </a:r>
            <a:r>
              <a:rPr lang="en-US" dirty="0"/>
              <a:t> </a:t>
            </a:r>
            <a:r>
              <a:rPr lang="en-US" dirty="0" err="1"/>
              <a:t>destinazione</a:t>
            </a:r>
            <a:endParaRPr lang="en-US" dirty="0"/>
          </a:p>
          <a:p>
            <a:pPr lvl="1"/>
            <a:r>
              <a:rPr lang="en-US" dirty="0"/>
              <a:t>Nel </a:t>
            </a:r>
            <a:r>
              <a:rPr lang="en-US" dirty="0" err="1"/>
              <a:t>nostro</a:t>
            </a:r>
            <a:r>
              <a:rPr lang="en-US" dirty="0"/>
              <a:t> </a:t>
            </a:r>
            <a:r>
              <a:rPr lang="en-US" dirty="0" err="1"/>
              <a:t>esempio</a:t>
            </a:r>
            <a:r>
              <a:rPr lang="en-US" dirty="0"/>
              <a:t>: </a:t>
            </a:r>
            <a:r>
              <a:rPr lang="en-US" b="1" dirty="0" err="1"/>
              <a:t>address_id</a:t>
            </a:r>
            <a:endParaRPr lang="en-US" b="1" dirty="0"/>
          </a:p>
          <a:p>
            <a:pPr lvl="1"/>
            <a:endParaRPr lang="en-US" b="1" dirty="0"/>
          </a:p>
          <a:p>
            <a:pPr lvl="1"/>
            <a:r>
              <a:rPr lang="en-US" i="1" dirty="0"/>
              <a:t>Configuration by exception</a:t>
            </a:r>
            <a:r>
              <a:rPr lang="en-US" dirty="0"/>
              <a:t>: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possibile</a:t>
            </a:r>
            <a:r>
              <a:rPr lang="en-US" dirty="0"/>
              <a:t> (</a:t>
            </a:r>
            <a:r>
              <a:rPr lang="en-US" b="1" dirty="0"/>
              <a:t>ma </a:t>
            </a:r>
            <a:r>
              <a:rPr lang="en-US" b="1" dirty="0" err="1"/>
              <a:t>sconsigliato</a:t>
            </a:r>
            <a:r>
              <a:rPr lang="en-US" dirty="0"/>
              <a:t>) </a:t>
            </a:r>
            <a:r>
              <a:rPr lang="en-US" dirty="0" err="1"/>
              <a:t>modificare</a:t>
            </a:r>
            <a:r>
              <a:rPr lang="en-US" dirty="0"/>
              <a:t>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nome</a:t>
            </a:r>
            <a:r>
              <a:rPr lang="en-US" dirty="0"/>
              <a:t> di </a:t>
            </a:r>
            <a:r>
              <a:rPr lang="en-US" dirty="0" err="1"/>
              <a:t>questa</a:t>
            </a:r>
            <a:r>
              <a:rPr lang="en-US" dirty="0"/>
              <a:t> </a:t>
            </a:r>
            <a:r>
              <a:rPr lang="en-US" dirty="0" err="1"/>
              <a:t>colonna</a:t>
            </a:r>
            <a:r>
              <a:rPr lang="en-US" dirty="0"/>
              <a:t> </a:t>
            </a:r>
            <a:r>
              <a:rPr lang="en-US" dirty="0" err="1"/>
              <a:t>usando</a:t>
            </a:r>
            <a:r>
              <a:rPr lang="en-US" dirty="0"/>
              <a:t> </a:t>
            </a:r>
            <a:r>
              <a:rPr lang="en-US" dirty="0" err="1"/>
              <a:t>l'annotazione</a:t>
            </a:r>
            <a:r>
              <a:rPr lang="en-US" dirty="0"/>
              <a:t> @</a:t>
            </a:r>
            <a:r>
              <a:rPr lang="en-US" dirty="0" err="1"/>
              <a:t>JoinColumn</a:t>
            </a:r>
            <a:r>
              <a:rPr lang="en-US" dirty="0"/>
              <a:t>(name="</a:t>
            </a:r>
            <a:r>
              <a:rPr lang="en-US" dirty="0" err="1"/>
              <a:t>nome</a:t>
            </a:r>
            <a:r>
              <a:rPr lang="en-US" dirty="0"/>
              <a:t> </a:t>
            </a:r>
            <a:r>
              <a:rPr lang="en-US" dirty="0" err="1"/>
              <a:t>colonna</a:t>
            </a:r>
            <a:r>
              <a:rPr lang="en-US" dirty="0"/>
              <a:t>")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posta</a:t>
            </a:r>
            <a:r>
              <a:rPr lang="en-US" dirty="0"/>
              <a:t> </a:t>
            </a:r>
            <a:r>
              <a:rPr lang="en-US" dirty="0" err="1"/>
              <a:t>immediatamente</a:t>
            </a:r>
            <a:r>
              <a:rPr lang="en-US" dirty="0"/>
              <a:t> </a:t>
            </a:r>
            <a:r>
              <a:rPr lang="en-US" dirty="0" err="1"/>
              <a:t>dopo</a:t>
            </a:r>
            <a:r>
              <a:rPr lang="en-US" dirty="0"/>
              <a:t> </a:t>
            </a:r>
            <a:r>
              <a:rPr lang="en-US" dirty="0" err="1"/>
              <a:t>l'annotazione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indica</a:t>
            </a:r>
            <a:r>
              <a:rPr lang="en-US" dirty="0"/>
              <a:t> la </a:t>
            </a:r>
            <a:r>
              <a:rPr lang="en-US" dirty="0" err="1"/>
              <a:t>cardinalità</a:t>
            </a:r>
            <a:r>
              <a:rPr lang="en-US" dirty="0"/>
              <a:t> </a:t>
            </a:r>
            <a:r>
              <a:rPr lang="en-US" dirty="0" err="1"/>
              <a:t>della</a:t>
            </a:r>
            <a:r>
              <a:rPr lang="en-US" dirty="0"/>
              <a:t> </a:t>
            </a:r>
            <a:r>
              <a:rPr lang="en-US" dirty="0" err="1"/>
              <a:t>associazione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 err="1"/>
              <a:t>Nel</a:t>
            </a:r>
            <a:r>
              <a:rPr lang="en-US" dirty="0"/>
              <a:t> </a:t>
            </a:r>
            <a:r>
              <a:rPr lang="en-US" dirty="0" err="1"/>
              <a:t>nostro</a:t>
            </a:r>
            <a:r>
              <a:rPr lang="en-US" dirty="0"/>
              <a:t> </a:t>
            </a:r>
            <a:r>
              <a:rPr lang="en-US" dirty="0" err="1"/>
              <a:t>esempio</a:t>
            </a:r>
            <a:r>
              <a:rPr lang="en-US" dirty="0"/>
              <a:t>:</a:t>
            </a:r>
            <a:br>
              <a:rPr lang="en-US" dirty="0"/>
            </a:br>
            <a:r>
              <a:rPr lang="en-US" b="1" dirty="0"/>
              <a:t>@</a:t>
            </a:r>
            <a:r>
              <a:rPr lang="en-US" b="1" dirty="0" err="1"/>
              <a:t>OneToOne</a:t>
            </a:r>
            <a:br>
              <a:rPr lang="en-US" b="1" dirty="0"/>
            </a:br>
            <a:r>
              <a:rPr lang="en-US" b="1" dirty="0"/>
              <a:t>@</a:t>
            </a:r>
            <a:r>
              <a:rPr lang="en-US" b="1" dirty="0" err="1"/>
              <a:t>JoinColumn</a:t>
            </a:r>
            <a:r>
              <a:rPr lang="en-US" b="1" dirty="0"/>
              <a:t>(name = "</a:t>
            </a:r>
            <a:r>
              <a:rPr lang="en-US" b="1" dirty="0" err="1"/>
              <a:t>address_fk</a:t>
            </a:r>
            <a:r>
              <a:rPr lang="en-US" b="1" dirty="0"/>
              <a:t>")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633781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Associazioni</a:t>
            </a:r>
            <a:r>
              <a:rPr lang="en-US" dirty="0"/>
              <a:t> </a:t>
            </a:r>
            <a:r>
              <a:rPr lang="en-US" dirty="0" err="1"/>
              <a:t>unidirezionali</a:t>
            </a:r>
            <a:br>
              <a:rPr lang="en-US" dirty="0"/>
            </a:br>
            <a:r>
              <a:rPr lang="en-US" dirty="0" err="1"/>
              <a:t>OneToMany</a:t>
            </a:r>
            <a:r>
              <a:rPr lang="en-US" dirty="0"/>
              <a:t>: </a:t>
            </a:r>
            <a:r>
              <a:rPr lang="en-US" dirty="0" err="1"/>
              <a:t>Esempio</a:t>
            </a:r>
            <a:endParaRPr lang="en-US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4" name="Segnaposto contenuto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14430408"/>
              </p:ext>
            </p:extLst>
          </p:nvPr>
        </p:nvGraphicFramePr>
        <p:xfrm>
          <a:off x="2114550" y="2325790"/>
          <a:ext cx="1843118" cy="6575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31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5151">
                <a:tc>
                  <a:txBody>
                    <a:bodyPr/>
                    <a:lstStyle/>
                    <a:p>
                      <a:pPr algn="ctr"/>
                      <a:r>
                        <a:rPr lang="it-IT" sz="1400" b="0" i="0" dirty="0">
                          <a:latin typeface="Calibri Light" panose="020F0302020204030204" pitchFamily="34" charset="0"/>
                        </a:rPr>
                        <a:t>Order</a:t>
                      </a:r>
                      <a:endParaRPr lang="it-IT" sz="8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r>
                        <a:rPr lang="it-IT" sz="800" b="0" i="0" dirty="0">
                          <a:latin typeface="Calibri Light" panose="020F0302020204030204" pitchFamily="34" charset="0"/>
                        </a:rPr>
                        <a:t>-id: Long</a:t>
                      </a:r>
                    </a:p>
                    <a:p>
                      <a:r>
                        <a:rPr lang="it-IT" sz="800" dirty="0"/>
                        <a:t>-</a:t>
                      </a:r>
                      <a:r>
                        <a:rPr lang="it-IT" sz="800" dirty="0" err="1"/>
                        <a:t>creationTime</a:t>
                      </a:r>
                      <a:r>
                        <a:rPr lang="it-IT" sz="800" dirty="0"/>
                        <a:t>:</a:t>
                      </a:r>
                      <a:r>
                        <a:rPr lang="it-IT" sz="800" baseline="0" dirty="0"/>
                        <a:t> </a:t>
                      </a:r>
                      <a:r>
                        <a:rPr lang="it-IT" sz="800" baseline="0" dirty="0" err="1"/>
                        <a:t>LocalDateTime</a:t>
                      </a:r>
                      <a:endParaRPr lang="it-IT" sz="800" baseline="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Segnaposto contenuto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73395100"/>
              </p:ext>
            </p:extLst>
          </p:nvPr>
        </p:nvGraphicFramePr>
        <p:xfrm>
          <a:off x="5070128" y="2268642"/>
          <a:ext cx="1511789" cy="779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17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5151">
                <a:tc>
                  <a:txBody>
                    <a:bodyPr/>
                    <a:lstStyle/>
                    <a:p>
                      <a:pPr algn="ctr"/>
                      <a:r>
                        <a:rPr lang="it-IT" sz="1400" b="0" i="0" dirty="0" err="1">
                          <a:latin typeface="Calibri Light" panose="020F0302020204030204" pitchFamily="34" charset="0"/>
                        </a:rPr>
                        <a:t>OrderLine</a:t>
                      </a:r>
                      <a:endParaRPr lang="it-IT" sz="8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lang="it-IT" sz="800" b="0" i="0" dirty="0">
                          <a:latin typeface="Calibri Light" panose="020F0302020204030204" pitchFamily="34" charset="0"/>
                        </a:rPr>
                        <a:t>-id: Long</a:t>
                      </a: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dirty="0"/>
                        <a:t>-</a:t>
                      </a:r>
                      <a:r>
                        <a:rPr lang="it-IT" sz="800" dirty="0" err="1"/>
                        <a:t>unitPrice</a:t>
                      </a:r>
                      <a:r>
                        <a:rPr lang="it-IT" sz="800" dirty="0"/>
                        <a:t>: Double</a:t>
                      </a:r>
                    </a:p>
                    <a:p>
                      <a:r>
                        <a:rPr lang="it-IT" sz="800" dirty="0"/>
                        <a:t>-</a:t>
                      </a:r>
                      <a:r>
                        <a:rPr lang="it-IT" sz="800" dirty="0" err="1"/>
                        <a:t>quantity</a:t>
                      </a:r>
                      <a:r>
                        <a:rPr lang="it-IT" sz="800" dirty="0"/>
                        <a:t>: </a:t>
                      </a:r>
                      <a:r>
                        <a:rPr lang="it-IT" sz="800" dirty="0" err="1"/>
                        <a:t>Integer</a:t>
                      </a:r>
                      <a:endParaRPr lang="it-IT" sz="8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6" name="Connettore 2 5"/>
          <p:cNvCxnSpPr>
            <a:cxnSpLocks/>
            <a:stCxn id="4" idx="3"/>
            <a:endCxn id="5" idx="1"/>
          </p:cNvCxnSpPr>
          <p:nvPr/>
        </p:nvCxnSpPr>
        <p:spPr>
          <a:xfrm>
            <a:off x="3957668" y="2654575"/>
            <a:ext cx="1112460" cy="3812"/>
          </a:xfrm>
          <a:prstGeom prst="straightConnector1">
            <a:avLst/>
          </a:prstGeom>
          <a:ln w="12700" cmpd="sng">
            <a:solidFill>
              <a:srgbClr val="000000"/>
            </a:solidFill>
            <a:prstDash val="solid"/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asellaDiTesto 6"/>
          <p:cNvSpPr txBox="1"/>
          <p:nvPr/>
        </p:nvSpPr>
        <p:spPr>
          <a:xfrm>
            <a:off x="4648342" y="2401150"/>
            <a:ext cx="44595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350" dirty="0">
                <a:latin typeface="Calibri Light" panose="020F0302020204030204" pitchFamily="34" charset="0"/>
              </a:rPr>
              <a:t>1..*</a:t>
            </a:r>
          </a:p>
        </p:txBody>
      </p:sp>
    </p:spTree>
    <p:extLst>
      <p:ext uri="{BB962C8B-B14F-4D97-AF65-F5344CB8AC3E}">
        <p14:creationId xmlns:p14="http://schemas.microsoft.com/office/powerpoint/2010/main" val="179223532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485900" y="205979"/>
            <a:ext cx="6172200" cy="857250"/>
          </a:xfrm>
        </p:spPr>
        <p:txBody>
          <a:bodyPr>
            <a:normAutofit/>
          </a:bodyPr>
          <a:lstStyle/>
          <a:p>
            <a:r>
              <a:rPr lang="en-US"/>
              <a:t>Esempio (cont.)</a:t>
            </a:r>
            <a:endParaRPr lang="en-US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119324" y="194034"/>
            <a:ext cx="3314700" cy="3394472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+import </a:t>
            </a:r>
            <a:r>
              <a:rPr lang="en-US" sz="1400" dirty="0" err="1"/>
              <a:t>javax.persistence.Entity</a:t>
            </a:r>
            <a:r>
              <a:rPr lang="en-US" sz="1400" dirty="0"/>
              <a:t>;[…]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@Entity</a:t>
            </a:r>
          </a:p>
          <a:p>
            <a:pPr marL="0" indent="0">
              <a:buNone/>
            </a:pPr>
            <a:r>
              <a:rPr lang="en-US" sz="1400" dirty="0"/>
              <a:t>@Table(name = "orders")</a:t>
            </a:r>
          </a:p>
          <a:p>
            <a:pPr marL="0" indent="0">
              <a:buNone/>
            </a:pPr>
            <a:r>
              <a:rPr lang="en-US" sz="1400" dirty="0"/>
              <a:t>public class </a:t>
            </a:r>
            <a:r>
              <a:rPr lang="en-US" sz="1400" b="1" dirty="0"/>
              <a:t>Order </a:t>
            </a:r>
            <a:r>
              <a:rPr lang="en-US" sz="1400" dirty="0"/>
              <a:t>{</a:t>
            </a:r>
          </a:p>
          <a:p>
            <a:pPr marL="0" indent="0">
              <a:buNone/>
            </a:pPr>
            <a:r>
              <a:rPr lang="en-US" sz="1400" dirty="0"/>
              <a:t>	</a:t>
            </a:r>
          </a:p>
          <a:p>
            <a:pPr marL="0" indent="0">
              <a:buNone/>
            </a:pPr>
            <a:r>
              <a:rPr lang="en-US" sz="1400" dirty="0"/>
              <a:t>    @Id </a:t>
            </a:r>
          </a:p>
          <a:p>
            <a:pPr marL="0" indent="0">
              <a:buNone/>
            </a:pPr>
            <a:r>
              <a:rPr lang="en-US" sz="1400" dirty="0"/>
              <a:t>    @</a:t>
            </a:r>
            <a:r>
              <a:rPr lang="en-US" sz="1400" dirty="0" err="1"/>
              <a:t>GeneratedValue</a:t>
            </a:r>
            <a:r>
              <a:rPr lang="en-US" sz="1400" dirty="0"/>
              <a:t>(strategy = </a:t>
            </a:r>
            <a:r>
              <a:rPr lang="en-US" sz="1400" dirty="0" err="1"/>
              <a:t>GenerationType.</a:t>
            </a:r>
            <a:r>
              <a:rPr lang="en-US" sz="1400" i="1" dirty="0" err="1"/>
              <a:t>AUTO</a:t>
            </a:r>
            <a:r>
              <a:rPr lang="en-US" sz="1400" i="1" dirty="0"/>
              <a:t>)</a:t>
            </a:r>
          </a:p>
          <a:p>
            <a:pPr marL="0" indent="0">
              <a:buNone/>
            </a:pPr>
            <a:r>
              <a:rPr lang="en-US" sz="1400" dirty="0"/>
              <a:t>    private Long id;	</a:t>
            </a:r>
          </a:p>
          <a:p>
            <a:pPr marL="0" indent="0">
              <a:buNone/>
            </a:pPr>
            <a:r>
              <a:rPr lang="en-US" sz="1400" dirty="0"/>
              <a:t>    private </a:t>
            </a:r>
            <a:r>
              <a:rPr lang="en-US" sz="1400" dirty="0" err="1"/>
              <a:t>LocalDateTime</a:t>
            </a:r>
            <a:r>
              <a:rPr lang="en-US" sz="1400" dirty="0"/>
              <a:t> </a:t>
            </a:r>
            <a:r>
              <a:rPr lang="en-US" sz="1400" dirty="0" err="1"/>
              <a:t>creationTime</a:t>
            </a:r>
            <a:r>
              <a:rPr lang="en-US" sz="1400" dirty="0"/>
              <a:t>;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C0504D"/>
                </a:solidFill>
              </a:rPr>
              <a:t>    @</a:t>
            </a:r>
            <a:r>
              <a:rPr lang="en-US" sz="1400" b="1" dirty="0" err="1">
                <a:solidFill>
                  <a:srgbClr val="C0504D"/>
                </a:solidFill>
              </a:rPr>
              <a:t>OneToMany</a:t>
            </a:r>
            <a:r>
              <a:rPr lang="en-US" sz="1400" b="1" dirty="0">
                <a:solidFill>
                  <a:srgbClr val="C0504D"/>
                </a:solidFill>
              </a:rPr>
              <a:t> 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C0504D"/>
                </a:solidFill>
              </a:rPr>
              <a:t>    private List&lt;</a:t>
            </a:r>
            <a:r>
              <a:rPr lang="en-US" sz="1400" b="1" dirty="0" err="1">
                <a:solidFill>
                  <a:srgbClr val="C0504D"/>
                </a:solidFill>
              </a:rPr>
              <a:t>OrderLine</a:t>
            </a:r>
            <a:r>
              <a:rPr lang="en-US" sz="1400" b="1" dirty="0">
                <a:solidFill>
                  <a:srgbClr val="C0504D"/>
                </a:solidFill>
              </a:rPr>
              <a:t>&gt; </a:t>
            </a:r>
            <a:r>
              <a:rPr lang="en-US" sz="1400" b="1" dirty="0" err="1">
                <a:solidFill>
                  <a:srgbClr val="C0504D"/>
                </a:solidFill>
              </a:rPr>
              <a:t>orderLines</a:t>
            </a:r>
            <a:r>
              <a:rPr lang="en-US" sz="1400" b="1" dirty="0">
                <a:solidFill>
                  <a:srgbClr val="C0504D"/>
                </a:solidFill>
              </a:rPr>
              <a:t>;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…</a:t>
            </a:r>
          </a:p>
          <a:p>
            <a:pPr marL="0" indent="0">
              <a:buNone/>
            </a:pPr>
            <a:r>
              <a:rPr lang="en-US" sz="1400" dirty="0"/>
              <a:t>}	</a:t>
            </a:r>
          </a:p>
        </p:txBody>
      </p:sp>
      <p:sp>
        <p:nvSpPr>
          <p:cNvPr id="4" name="Segnaposto contenuto 2"/>
          <p:cNvSpPr txBox="1">
            <a:spLocks/>
          </p:cNvSpPr>
          <p:nvPr/>
        </p:nvSpPr>
        <p:spPr>
          <a:xfrm>
            <a:off x="6023254" y="205979"/>
            <a:ext cx="4205968" cy="406503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600" dirty="0">
              <a:latin typeface="Calibri Light" panose="020F0302020204030204" pitchFamily="34" charset="0"/>
            </a:endParaRPr>
          </a:p>
          <a:p>
            <a:pPr marL="0" indent="0">
              <a:buNone/>
            </a:pPr>
            <a:r>
              <a:rPr lang="en-US" sz="1600" dirty="0">
                <a:latin typeface="Calibri Light" panose="020F0302020204030204" pitchFamily="34" charset="0"/>
              </a:rPr>
              <a:t>+import </a:t>
            </a:r>
            <a:r>
              <a:rPr lang="en-US" sz="1600" dirty="0" err="1">
                <a:latin typeface="Calibri Light" panose="020F0302020204030204" pitchFamily="34" charset="0"/>
              </a:rPr>
              <a:t>javax.persistence.Entity</a:t>
            </a:r>
            <a:r>
              <a:rPr lang="en-US" sz="1600" dirty="0">
                <a:latin typeface="Calibri Light" panose="020F0302020204030204" pitchFamily="34" charset="0"/>
              </a:rPr>
              <a:t>;[…]</a:t>
            </a:r>
          </a:p>
          <a:p>
            <a:pPr marL="0" indent="0">
              <a:buNone/>
            </a:pPr>
            <a:endParaRPr lang="en-US" sz="1600" dirty="0">
              <a:latin typeface="Calibri Light" panose="020F0302020204030204" pitchFamily="34" charset="0"/>
            </a:endParaRPr>
          </a:p>
          <a:p>
            <a:pPr marL="0" indent="0">
              <a:buNone/>
            </a:pPr>
            <a:r>
              <a:rPr lang="en-US" sz="1600" dirty="0">
                <a:latin typeface="Calibri Light" panose="020F0302020204030204" pitchFamily="34" charset="0"/>
              </a:rPr>
              <a:t>@Entity</a:t>
            </a:r>
          </a:p>
          <a:p>
            <a:pPr marL="0" indent="0">
              <a:buNone/>
            </a:pPr>
            <a:r>
              <a:rPr lang="en-US" sz="1600" dirty="0">
                <a:latin typeface="Calibri Light" panose="020F0302020204030204" pitchFamily="34" charset="0"/>
              </a:rPr>
              <a:t>public class </a:t>
            </a:r>
            <a:r>
              <a:rPr lang="en-US" sz="1600" dirty="0" err="1">
                <a:latin typeface="Calibri Light" panose="020F0302020204030204" pitchFamily="34" charset="0"/>
              </a:rPr>
              <a:t>OrderLine</a:t>
            </a:r>
            <a:r>
              <a:rPr lang="en-US" sz="1600" dirty="0">
                <a:latin typeface="Calibri Light" panose="020F0302020204030204" pitchFamily="34" charset="0"/>
              </a:rPr>
              <a:t> {</a:t>
            </a:r>
          </a:p>
          <a:p>
            <a:pPr marL="0" indent="0">
              <a:buNone/>
            </a:pPr>
            <a:endParaRPr lang="en-US" sz="1600" dirty="0">
              <a:latin typeface="Calibri Light" panose="020F0302020204030204" pitchFamily="34" charset="0"/>
            </a:endParaRPr>
          </a:p>
          <a:p>
            <a:pPr marL="0" indent="0">
              <a:buNone/>
            </a:pPr>
            <a:r>
              <a:rPr lang="en-US" sz="1600" dirty="0">
                <a:latin typeface="Calibri Light" panose="020F0302020204030204" pitchFamily="34" charset="0"/>
              </a:rPr>
              <a:t>    @Id </a:t>
            </a:r>
          </a:p>
          <a:p>
            <a:pPr marL="0" indent="0">
              <a:buNone/>
            </a:pPr>
            <a:r>
              <a:rPr lang="en-US" sz="1600" dirty="0">
                <a:latin typeface="Calibri Light" panose="020F0302020204030204" pitchFamily="34" charset="0"/>
              </a:rPr>
              <a:t>    @</a:t>
            </a:r>
            <a:r>
              <a:rPr lang="en-US" sz="1600" dirty="0" err="1">
                <a:latin typeface="Calibri Light" panose="020F0302020204030204" pitchFamily="34" charset="0"/>
              </a:rPr>
              <a:t>GeneratedValue</a:t>
            </a:r>
            <a:r>
              <a:rPr lang="en-US" sz="1600" dirty="0">
                <a:latin typeface="Calibri Light" panose="020F0302020204030204" pitchFamily="34" charset="0"/>
              </a:rPr>
              <a:t>(strategy = </a:t>
            </a:r>
            <a:r>
              <a:rPr lang="en-US" sz="1600" dirty="0" err="1">
                <a:latin typeface="Calibri Light" panose="020F0302020204030204" pitchFamily="34" charset="0"/>
              </a:rPr>
              <a:t>GenerationType.AUTO</a:t>
            </a:r>
            <a:r>
              <a:rPr lang="en-US" sz="1600" dirty="0">
                <a:latin typeface="Calibri Light" panose="020F0302020204030204" pitchFamily="34" charset="0"/>
              </a:rPr>
              <a:t>)</a:t>
            </a:r>
          </a:p>
          <a:p>
            <a:pPr marL="0" indent="0">
              <a:buNone/>
            </a:pPr>
            <a:r>
              <a:rPr lang="en-US" sz="1600" dirty="0">
                <a:latin typeface="Calibri Light" panose="020F0302020204030204" pitchFamily="34" charset="0"/>
              </a:rPr>
              <a:t>    private Long id;</a:t>
            </a:r>
          </a:p>
          <a:p>
            <a:pPr marL="0" indent="0">
              <a:buNone/>
            </a:pPr>
            <a:r>
              <a:rPr lang="en-US" sz="1600" dirty="0">
                <a:latin typeface="Calibri Light" panose="020F0302020204030204" pitchFamily="34" charset="0"/>
              </a:rPr>
              <a:t>    private int quantity;</a:t>
            </a:r>
          </a:p>
          <a:p>
            <a:pPr marL="0" indent="0">
              <a:buNone/>
            </a:pPr>
            <a:r>
              <a:rPr lang="en-US" sz="1600" dirty="0">
                <a:latin typeface="Calibri Light" panose="020F0302020204030204" pitchFamily="34" charset="0"/>
              </a:rPr>
              <a:t>    private Float price;</a:t>
            </a:r>
          </a:p>
        </p:txBody>
      </p:sp>
      <p:graphicFrame>
        <p:nvGraphicFramePr>
          <p:cNvPr id="5" name="Segnaposto contenuto 5">
            <a:extLst>
              <a:ext uri="{FF2B5EF4-FFF2-40B4-BE49-F238E27FC236}">
                <a16:creationId xmlns:a16="http://schemas.microsoft.com/office/drawing/2014/main" id="{13B96037-1422-6645-ACF9-2CE6922C30C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1898434"/>
              </p:ext>
            </p:extLst>
          </p:nvPr>
        </p:nvGraphicFramePr>
        <p:xfrm>
          <a:off x="2220685" y="4194572"/>
          <a:ext cx="1843118" cy="6575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31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5151">
                <a:tc>
                  <a:txBody>
                    <a:bodyPr/>
                    <a:lstStyle/>
                    <a:p>
                      <a:pPr algn="ctr"/>
                      <a:r>
                        <a:rPr lang="it-IT" sz="1400" b="0" i="0" dirty="0">
                          <a:latin typeface="Calibri Light" panose="020F0302020204030204" pitchFamily="34" charset="0"/>
                        </a:rPr>
                        <a:t>Order</a:t>
                      </a:r>
                      <a:endParaRPr lang="it-IT" sz="8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r>
                        <a:rPr lang="it-IT" sz="800" b="0" i="0" dirty="0">
                          <a:latin typeface="Calibri Light" panose="020F0302020204030204" pitchFamily="34" charset="0"/>
                        </a:rPr>
                        <a:t>-id: Long</a:t>
                      </a:r>
                    </a:p>
                    <a:p>
                      <a:r>
                        <a:rPr lang="it-IT" sz="800" dirty="0"/>
                        <a:t>-</a:t>
                      </a:r>
                      <a:r>
                        <a:rPr lang="it-IT" sz="800" dirty="0" err="1"/>
                        <a:t>creationTime</a:t>
                      </a:r>
                      <a:r>
                        <a:rPr lang="it-IT" sz="800" dirty="0"/>
                        <a:t>:</a:t>
                      </a:r>
                      <a:r>
                        <a:rPr lang="it-IT" sz="800" baseline="0" dirty="0"/>
                        <a:t> </a:t>
                      </a:r>
                      <a:r>
                        <a:rPr lang="it-IT" sz="800" baseline="0" dirty="0" err="1"/>
                        <a:t>LocalDateTime</a:t>
                      </a:r>
                      <a:endParaRPr lang="it-IT" sz="800" baseline="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Segnaposto contenuto 5">
            <a:extLst>
              <a:ext uri="{FF2B5EF4-FFF2-40B4-BE49-F238E27FC236}">
                <a16:creationId xmlns:a16="http://schemas.microsoft.com/office/drawing/2014/main" id="{B211455C-5286-6148-8797-0EC5EC33A87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6858139"/>
              </p:ext>
            </p:extLst>
          </p:nvPr>
        </p:nvGraphicFramePr>
        <p:xfrm>
          <a:off x="5176264" y="4080272"/>
          <a:ext cx="1511789" cy="9014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17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5151">
                <a:tc>
                  <a:txBody>
                    <a:bodyPr/>
                    <a:lstStyle/>
                    <a:p>
                      <a:pPr algn="ctr"/>
                      <a:r>
                        <a:rPr lang="it-IT" sz="1400" b="0" i="0" dirty="0" err="1">
                          <a:latin typeface="Calibri Light" panose="020F0302020204030204" pitchFamily="34" charset="0"/>
                        </a:rPr>
                        <a:t>OrderLine</a:t>
                      </a:r>
                      <a:endParaRPr lang="it-IT" sz="8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lang="it-IT" sz="800" b="0" i="0" dirty="0">
                          <a:latin typeface="Calibri Light" panose="020F0302020204030204" pitchFamily="34" charset="0"/>
                        </a:rPr>
                        <a:t>-id: Long</a:t>
                      </a:r>
                    </a:p>
                    <a:p>
                      <a:r>
                        <a:rPr lang="it-IT" sz="800" dirty="0"/>
                        <a:t>-item: </a:t>
                      </a:r>
                      <a:r>
                        <a:rPr lang="it-IT" sz="800" dirty="0" err="1"/>
                        <a:t>String</a:t>
                      </a:r>
                      <a:endParaRPr lang="it-IT" sz="800" dirty="0"/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dirty="0"/>
                        <a:t>-</a:t>
                      </a:r>
                      <a:r>
                        <a:rPr lang="it-IT" sz="800" dirty="0" err="1"/>
                        <a:t>unitPrice</a:t>
                      </a:r>
                      <a:r>
                        <a:rPr lang="it-IT" sz="800" dirty="0"/>
                        <a:t>: Double</a:t>
                      </a:r>
                    </a:p>
                    <a:p>
                      <a:r>
                        <a:rPr lang="it-IT" sz="800" dirty="0"/>
                        <a:t>-</a:t>
                      </a:r>
                      <a:r>
                        <a:rPr lang="it-IT" sz="800" dirty="0" err="1"/>
                        <a:t>quantity</a:t>
                      </a:r>
                      <a:r>
                        <a:rPr lang="it-IT" sz="800" dirty="0"/>
                        <a:t>: </a:t>
                      </a:r>
                      <a:r>
                        <a:rPr lang="it-IT" sz="800" dirty="0" err="1"/>
                        <a:t>Integer</a:t>
                      </a:r>
                      <a:endParaRPr lang="it-IT" sz="8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9B0219AF-72EF-374A-AC25-1C2D71514418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4063803" y="4523357"/>
            <a:ext cx="1112461" cy="7620"/>
          </a:xfrm>
          <a:prstGeom prst="straightConnector1">
            <a:avLst/>
          </a:prstGeom>
          <a:ln w="12700" cmpd="sng">
            <a:solidFill>
              <a:srgbClr val="000000"/>
            </a:solidFill>
            <a:prstDash val="solid"/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0AB5FF09-E2AF-B64F-A486-1BF69D5C9386}"/>
              </a:ext>
            </a:extLst>
          </p:cNvPr>
          <p:cNvSpPr txBox="1"/>
          <p:nvPr/>
        </p:nvSpPr>
        <p:spPr>
          <a:xfrm>
            <a:off x="4707698" y="4219126"/>
            <a:ext cx="44595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350" dirty="0">
                <a:latin typeface="Calibri Light" panose="020F0302020204030204" pitchFamily="34" charset="0"/>
              </a:rPr>
              <a:t>1..*</a:t>
            </a:r>
          </a:p>
        </p:txBody>
      </p:sp>
    </p:spTree>
    <p:extLst>
      <p:ext uri="{BB962C8B-B14F-4D97-AF65-F5344CB8AC3E}">
        <p14:creationId xmlns:p14="http://schemas.microsoft.com/office/powerpoint/2010/main" val="217462215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Associazioni</a:t>
            </a:r>
            <a:r>
              <a:rPr lang="en-US" dirty="0"/>
              <a:t> </a:t>
            </a:r>
            <a:r>
              <a:rPr lang="en-US" dirty="0" err="1"/>
              <a:t>unidirezionali</a:t>
            </a:r>
            <a:br>
              <a:rPr lang="en-US" dirty="0"/>
            </a:br>
            <a:r>
              <a:rPr lang="en-US" dirty="0" err="1"/>
              <a:t>OneToMany</a:t>
            </a:r>
            <a:endParaRPr lang="en-US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Per le </a:t>
            </a:r>
            <a:r>
              <a:rPr lang="en-US" dirty="0" err="1"/>
              <a:t>associazioni</a:t>
            </a:r>
            <a:r>
              <a:rPr lang="en-US" dirty="0"/>
              <a:t> </a:t>
            </a:r>
            <a:r>
              <a:rPr lang="en-US" dirty="0" err="1"/>
              <a:t>unidirezionali</a:t>
            </a:r>
            <a:r>
              <a:rPr lang="en-US" dirty="0"/>
              <a:t> </a:t>
            </a:r>
            <a:r>
              <a:rPr lang="en-US" dirty="0" err="1"/>
              <a:t>OneToMany</a:t>
            </a:r>
            <a:r>
              <a:rPr lang="en-US" dirty="0"/>
              <a:t> JPA </a:t>
            </a:r>
            <a:r>
              <a:rPr lang="en-US" dirty="0" err="1"/>
              <a:t>crea</a:t>
            </a:r>
            <a:r>
              <a:rPr lang="en-US" dirty="0"/>
              <a:t> di default una </a:t>
            </a:r>
            <a:r>
              <a:rPr lang="en-US" dirty="0" err="1"/>
              <a:t>tabella</a:t>
            </a:r>
            <a:r>
              <a:rPr lang="en-US" dirty="0"/>
              <a:t> di join</a:t>
            </a:r>
          </a:p>
          <a:p>
            <a:pPr lvl="1"/>
            <a:r>
              <a:rPr lang="en-US" dirty="0"/>
              <a:t>una </a:t>
            </a:r>
            <a:r>
              <a:rPr lang="en-US" dirty="0" err="1"/>
              <a:t>tabella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contiene</a:t>
            </a:r>
            <a:r>
              <a:rPr lang="en-US" dirty="0"/>
              <a:t> </a:t>
            </a:r>
            <a:r>
              <a:rPr lang="en-US" dirty="0" err="1"/>
              <a:t>coppie</a:t>
            </a:r>
            <a:r>
              <a:rPr lang="en-US" dirty="0"/>
              <a:t> di </a:t>
            </a:r>
            <a:r>
              <a:rPr lang="en-US" dirty="0" err="1"/>
              <a:t>chiavi</a:t>
            </a:r>
            <a:r>
              <a:rPr lang="en-US" dirty="0"/>
              <a:t> </a:t>
            </a:r>
            <a:r>
              <a:rPr lang="en-US" dirty="0" err="1"/>
              <a:t>esterne</a:t>
            </a:r>
            <a:r>
              <a:rPr lang="en-US" dirty="0"/>
              <a:t> </a:t>
            </a:r>
            <a:r>
              <a:rPr lang="en-US" dirty="0" err="1"/>
              <a:t>delle</a:t>
            </a:r>
            <a:r>
              <a:rPr lang="en-US" dirty="0"/>
              <a:t> due </a:t>
            </a:r>
            <a:r>
              <a:rPr lang="en-US" dirty="0" err="1"/>
              <a:t>tabelle</a:t>
            </a:r>
            <a:r>
              <a:rPr lang="en-US" dirty="0"/>
              <a:t> </a:t>
            </a:r>
            <a:r>
              <a:rPr lang="en-US" dirty="0" err="1"/>
              <a:t>corrispondenti</a:t>
            </a:r>
            <a:r>
              <a:rPr lang="en-US" dirty="0"/>
              <a:t> </a:t>
            </a:r>
            <a:r>
              <a:rPr lang="en-US" dirty="0" err="1"/>
              <a:t>alle</a:t>
            </a:r>
            <a:r>
              <a:rPr lang="en-US" dirty="0"/>
              <a:t> </a:t>
            </a:r>
            <a:r>
              <a:rPr lang="en-US" dirty="0" err="1"/>
              <a:t>entità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partecipano</a:t>
            </a:r>
            <a:r>
              <a:rPr lang="en-US" dirty="0"/>
              <a:t> </a:t>
            </a:r>
            <a:r>
              <a:rPr lang="en-US" dirty="0" err="1"/>
              <a:t>alla</a:t>
            </a:r>
            <a:r>
              <a:rPr lang="en-US" dirty="0"/>
              <a:t> </a:t>
            </a:r>
            <a:r>
              <a:rPr lang="en-US" dirty="0" err="1"/>
              <a:t>associazione</a:t>
            </a:r>
            <a:r>
              <a:rPr lang="en-US" dirty="0"/>
              <a:t>. </a:t>
            </a:r>
          </a:p>
          <a:p>
            <a:r>
              <a:rPr lang="en-US" dirty="0"/>
              <a:t>Nel </a:t>
            </a:r>
            <a:r>
              <a:rPr lang="en-US" dirty="0" err="1"/>
              <a:t>nostro</a:t>
            </a:r>
            <a:r>
              <a:rPr lang="en-US" dirty="0"/>
              <a:t> </a:t>
            </a:r>
            <a:r>
              <a:rPr lang="en-US" dirty="0" err="1"/>
              <a:t>esempio</a:t>
            </a:r>
            <a:r>
              <a:rPr lang="en-US" dirty="0"/>
              <a:t>, </a:t>
            </a:r>
            <a:r>
              <a:rPr lang="en-US" dirty="0" err="1"/>
              <a:t>vedi</a:t>
            </a:r>
            <a:r>
              <a:rPr lang="en-US" dirty="0"/>
              <a:t> </a:t>
            </a:r>
            <a:r>
              <a:rPr lang="en-US" dirty="0" err="1"/>
              <a:t>prossima</a:t>
            </a:r>
            <a:r>
              <a:rPr lang="en-US" dirty="0"/>
              <a:t> slide</a:t>
            </a:r>
          </a:p>
        </p:txBody>
      </p:sp>
    </p:spTree>
    <p:extLst>
      <p:ext uri="{BB962C8B-B14F-4D97-AF65-F5344CB8AC3E}">
        <p14:creationId xmlns:p14="http://schemas.microsoft.com/office/powerpoint/2010/main" val="17498099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Esempio</a:t>
            </a:r>
            <a:r>
              <a:rPr lang="en-US"/>
              <a:t> (cont.)</a:t>
            </a:r>
          </a:p>
        </p:txBody>
      </p:sp>
      <p:graphicFrame>
        <p:nvGraphicFramePr>
          <p:cNvPr id="5" name="Segnaposto contenuto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75877099"/>
              </p:ext>
            </p:extLst>
          </p:nvPr>
        </p:nvGraphicFramePr>
        <p:xfrm>
          <a:off x="1318533" y="2354036"/>
          <a:ext cx="2619375" cy="62971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181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36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76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5740">
                <a:tc gridSpan="3">
                  <a:txBody>
                    <a:bodyPr/>
                    <a:lstStyle/>
                    <a:p>
                      <a:pPr algn="ctr"/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orders</a:t>
                      </a:r>
                      <a:endParaRPr lang="it-IT" sz="900" dirty="0"/>
                    </a:p>
                  </a:txBody>
                  <a:tcPr marL="68580" marR="68580" marT="34290" marB="34290"/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989">
                <a:tc>
                  <a:txBody>
                    <a:bodyPr/>
                    <a:lstStyle/>
                    <a:p>
                      <a:r>
                        <a:rPr lang="it-IT" sz="900" b="0" i="0" dirty="0">
                          <a:latin typeface="Calibri Light" panose="020F0302020204030204" pitchFamily="34" charset="0"/>
                        </a:rPr>
                        <a:t>id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bigint</a:t>
                      </a:r>
                      <a:endParaRPr lang="it-IT" sz="9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nullable</a:t>
                      </a:r>
                      <a:r>
                        <a:rPr lang="it-IT" sz="900" dirty="0"/>
                        <a:t>=false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989">
                <a:tc>
                  <a:txBody>
                    <a:bodyPr/>
                    <a:lstStyle/>
                    <a:p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creationtime</a:t>
                      </a:r>
                      <a:endParaRPr lang="it-IT" sz="9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timestamp</a:t>
                      </a:r>
                      <a:endParaRPr lang="it-IT" sz="9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nullable</a:t>
                      </a:r>
                      <a:r>
                        <a:rPr lang="it-IT" sz="900" dirty="0"/>
                        <a:t>=false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Segnaposto contenuto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94733133"/>
              </p:ext>
            </p:extLst>
          </p:nvPr>
        </p:nvGraphicFramePr>
        <p:xfrm>
          <a:off x="5157108" y="2354036"/>
          <a:ext cx="2619375" cy="84170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181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36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76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5740">
                <a:tc gridSpan="3">
                  <a:txBody>
                    <a:bodyPr/>
                    <a:lstStyle/>
                    <a:p>
                      <a:pPr algn="ctr"/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orderline</a:t>
                      </a:r>
                      <a:endParaRPr lang="it-IT" sz="900" dirty="0"/>
                    </a:p>
                  </a:txBody>
                  <a:tcPr marL="68580" marR="68580" marT="34290" marB="34290"/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989">
                <a:tc>
                  <a:txBody>
                    <a:bodyPr/>
                    <a:lstStyle/>
                    <a:p>
                      <a:r>
                        <a:rPr lang="it-IT" sz="900" b="0" i="0" dirty="0">
                          <a:latin typeface="Calibri Light" panose="020F0302020204030204" pitchFamily="34" charset="0"/>
                        </a:rPr>
                        <a:t>id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bigint</a:t>
                      </a:r>
                      <a:endParaRPr lang="it-IT" sz="9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nullable</a:t>
                      </a:r>
                      <a:r>
                        <a:rPr lang="it-IT" sz="900" dirty="0"/>
                        <a:t>=false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989">
                <a:tc>
                  <a:txBody>
                    <a:bodyPr/>
                    <a:lstStyle/>
                    <a:p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quantity</a:t>
                      </a:r>
                      <a:endParaRPr lang="it-IT" sz="9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int</a:t>
                      </a:r>
                      <a:endParaRPr lang="it-IT" sz="9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nullable</a:t>
                      </a:r>
                      <a:r>
                        <a:rPr lang="it-IT" sz="900" dirty="0"/>
                        <a:t>=false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1989">
                <a:tc>
                  <a:txBody>
                    <a:bodyPr/>
                    <a:lstStyle/>
                    <a:p>
                      <a:r>
                        <a:rPr lang="it-IT" sz="900" b="0" i="0" dirty="0">
                          <a:latin typeface="Calibri Light" panose="020F0302020204030204" pitchFamily="34" charset="0"/>
                        </a:rPr>
                        <a:t>price</a:t>
                      </a:r>
                      <a:endParaRPr lang="it-IT" sz="9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real</a:t>
                      </a:r>
                      <a:endParaRPr lang="it-IT" sz="9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nullable</a:t>
                      </a:r>
                      <a:r>
                        <a:rPr lang="it-IT" sz="900" dirty="0"/>
                        <a:t>=</a:t>
                      </a:r>
                      <a:r>
                        <a:rPr lang="it-IT" sz="900" dirty="0" err="1"/>
                        <a:t>true</a:t>
                      </a:r>
                      <a:endParaRPr lang="it-IT" sz="9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Segnaposto contenuto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4314324"/>
              </p:ext>
            </p:extLst>
          </p:nvPr>
        </p:nvGraphicFramePr>
        <p:xfrm>
          <a:off x="3042557" y="3973286"/>
          <a:ext cx="3067050" cy="8915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75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18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5740">
                <a:tc gridSpan="3">
                  <a:txBody>
                    <a:bodyPr/>
                    <a:lstStyle/>
                    <a:p>
                      <a:pPr algn="ctr"/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orders_orderline</a:t>
                      </a:r>
                      <a:endParaRPr lang="it-IT" sz="900" dirty="0"/>
                    </a:p>
                  </a:txBody>
                  <a:tcPr marL="68580" marR="68580" marT="34290" marB="34290"/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orders_id</a:t>
                      </a:r>
                      <a:endParaRPr lang="it-IT" sz="9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bigint</a:t>
                      </a:r>
                      <a:endParaRPr lang="it-IT" sz="9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nullable</a:t>
                      </a:r>
                      <a:r>
                        <a:rPr lang="it-IT" sz="900" dirty="0"/>
                        <a:t>=false</a:t>
                      </a:r>
                    </a:p>
                    <a:p>
                      <a:r>
                        <a:rPr lang="it-IT" sz="900" b="1" dirty="0"/>
                        <a:t>FK </a:t>
                      </a:r>
                      <a:r>
                        <a:rPr lang="it-IT" sz="900" b="1" dirty="0" err="1"/>
                        <a:t>orders.id</a:t>
                      </a:r>
                      <a:endParaRPr lang="it-IT" sz="9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orderslines_id</a:t>
                      </a:r>
                      <a:endParaRPr lang="it-IT" sz="9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bigint</a:t>
                      </a:r>
                      <a:endParaRPr lang="it-IT" sz="9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nullable</a:t>
                      </a:r>
                      <a:r>
                        <a:rPr lang="it-IT" sz="900" dirty="0"/>
                        <a:t>=false</a:t>
                      </a:r>
                    </a:p>
                    <a:p>
                      <a:r>
                        <a:rPr lang="it-IT" sz="900" b="1" dirty="0"/>
                        <a:t>FK </a:t>
                      </a:r>
                      <a:r>
                        <a:rPr lang="it-IT" sz="900" b="1" dirty="0" err="1"/>
                        <a:t>orderline.id</a:t>
                      </a:r>
                      <a:endParaRPr lang="it-IT" sz="9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CasellaDiTesto 2">
            <a:extLst>
              <a:ext uri="{FF2B5EF4-FFF2-40B4-BE49-F238E27FC236}">
                <a16:creationId xmlns:a16="http://schemas.microsoft.com/office/drawing/2014/main" id="{42C50BD5-5E5D-B842-A1A2-722E50AA8FBA}"/>
              </a:ext>
            </a:extLst>
          </p:cNvPr>
          <p:cNvSpPr txBox="1"/>
          <p:nvPr/>
        </p:nvSpPr>
        <p:spPr>
          <a:xfrm>
            <a:off x="2929579" y="1351783"/>
            <a:ext cx="3328283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 err="1">
                <a:latin typeface="Calibri Light" panose="020F0302020204030204" pitchFamily="34" charset="0"/>
              </a:rPr>
              <a:t>Queste</a:t>
            </a:r>
            <a:r>
              <a:rPr lang="en-US" sz="1350" dirty="0">
                <a:latin typeface="Calibri Light" panose="020F0302020204030204" pitchFamily="34" charset="0"/>
              </a:rPr>
              <a:t> </a:t>
            </a:r>
            <a:r>
              <a:rPr lang="en-US" sz="1350" dirty="0" err="1">
                <a:latin typeface="Calibri Light" panose="020F0302020204030204" pitchFamily="34" charset="0"/>
              </a:rPr>
              <a:t>sono</a:t>
            </a:r>
            <a:r>
              <a:rPr lang="en-US" sz="1350" dirty="0">
                <a:latin typeface="Calibri Light" panose="020F0302020204030204" pitchFamily="34" charset="0"/>
              </a:rPr>
              <a:t> le </a:t>
            </a:r>
            <a:r>
              <a:rPr lang="en-US" sz="1350" dirty="0" err="1">
                <a:latin typeface="Calibri Light" panose="020F0302020204030204" pitchFamily="34" charset="0"/>
              </a:rPr>
              <a:t>tabelle</a:t>
            </a:r>
            <a:r>
              <a:rPr lang="en-US" sz="1350" dirty="0">
                <a:latin typeface="Calibri Light" panose="020F0302020204030204" pitchFamily="34" charset="0"/>
              </a:rPr>
              <a:t> generate dal mapping</a:t>
            </a:r>
          </a:p>
        </p:txBody>
      </p:sp>
    </p:spTree>
    <p:extLst>
      <p:ext uri="{BB962C8B-B14F-4D97-AF65-F5344CB8AC3E}">
        <p14:creationId xmlns:p14="http://schemas.microsoft.com/office/powerpoint/2010/main" val="52125568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Configuration by Exception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199" y="1200151"/>
            <a:ext cx="8466667" cy="3394472"/>
          </a:xfrm>
        </p:spPr>
        <p:txBody>
          <a:bodyPr>
            <a:normAutofit/>
          </a:bodyPr>
          <a:lstStyle/>
          <a:p>
            <a:r>
              <a:rPr lang="en-US" dirty="0" err="1"/>
              <a:t>Abbiamo</a:t>
            </a:r>
            <a:r>
              <a:rPr lang="en-US" dirty="0"/>
              <a:t> </a:t>
            </a:r>
            <a:r>
              <a:rPr lang="en-US" dirty="0" err="1"/>
              <a:t>cambiato</a:t>
            </a:r>
            <a:r>
              <a:rPr lang="en-US" dirty="0"/>
              <a:t>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nome</a:t>
            </a:r>
            <a:r>
              <a:rPr lang="en-US" dirty="0"/>
              <a:t> di default </a:t>
            </a:r>
            <a:r>
              <a:rPr lang="en-US" dirty="0" err="1"/>
              <a:t>della</a:t>
            </a:r>
            <a:r>
              <a:rPr lang="en-US" dirty="0"/>
              <a:t> </a:t>
            </a:r>
            <a:r>
              <a:rPr lang="en-US" dirty="0" err="1"/>
              <a:t>tabella</a:t>
            </a:r>
            <a:r>
              <a:rPr lang="en-US" dirty="0"/>
              <a:t> </a:t>
            </a:r>
            <a:r>
              <a:rPr lang="en-US" dirty="0" err="1"/>
              <a:t>corrispondente</a:t>
            </a:r>
            <a:r>
              <a:rPr lang="en-US" dirty="0"/>
              <a:t> </a:t>
            </a:r>
            <a:r>
              <a:rPr lang="en-US" dirty="0" err="1"/>
              <a:t>all'entità</a:t>
            </a:r>
            <a:r>
              <a:rPr lang="en-US" dirty="0"/>
              <a:t> Order </a:t>
            </a:r>
            <a:r>
              <a:rPr lang="en-US" dirty="0" err="1"/>
              <a:t>perchè</a:t>
            </a:r>
            <a:r>
              <a:rPr lang="en-US" dirty="0"/>
              <a:t> in Postgres Order </a:t>
            </a:r>
            <a:r>
              <a:rPr lang="en-US" dirty="0" err="1"/>
              <a:t>è</a:t>
            </a:r>
            <a:r>
              <a:rPr lang="en-US" dirty="0"/>
              <a:t> una </a:t>
            </a:r>
            <a:r>
              <a:rPr lang="en-US" dirty="0" err="1"/>
              <a:t>parola</a:t>
            </a:r>
            <a:r>
              <a:rPr lang="en-US" dirty="0"/>
              <a:t> </a:t>
            </a:r>
            <a:r>
              <a:rPr lang="en-US" dirty="0" err="1"/>
              <a:t>chiave</a:t>
            </a:r>
            <a:endParaRPr lang="en-US" dirty="0"/>
          </a:p>
          <a:p>
            <a:r>
              <a:rPr lang="en-US" dirty="0"/>
              <a:t>Il </a:t>
            </a:r>
            <a:r>
              <a:rPr lang="en-US" dirty="0" err="1"/>
              <a:t>nome</a:t>
            </a:r>
            <a:r>
              <a:rPr lang="en-US" dirty="0"/>
              <a:t> (di default) </a:t>
            </a:r>
            <a:r>
              <a:rPr lang="en-US" dirty="0" err="1"/>
              <a:t>della</a:t>
            </a:r>
            <a:r>
              <a:rPr lang="en-US" dirty="0"/>
              <a:t> </a:t>
            </a:r>
            <a:r>
              <a:rPr lang="en-US" dirty="0" err="1"/>
              <a:t>tabella</a:t>
            </a:r>
            <a:r>
              <a:rPr lang="en-US" dirty="0"/>
              <a:t> di join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formato</a:t>
            </a:r>
            <a:r>
              <a:rPr lang="en-US" dirty="0"/>
              <a:t> </a:t>
            </a:r>
            <a:r>
              <a:rPr lang="en-US" dirty="0" err="1"/>
              <a:t>dalla</a:t>
            </a:r>
            <a:r>
              <a:rPr lang="en-US" dirty="0"/>
              <a:t> </a:t>
            </a:r>
            <a:r>
              <a:rPr lang="en-US" dirty="0" err="1"/>
              <a:t>concatenazione</a:t>
            </a:r>
            <a:r>
              <a:rPr lang="en-US" dirty="0"/>
              <a:t> </a:t>
            </a:r>
            <a:r>
              <a:rPr lang="en-US" dirty="0" err="1"/>
              <a:t>dei</a:t>
            </a:r>
            <a:r>
              <a:rPr lang="en-US" dirty="0"/>
              <a:t> </a:t>
            </a:r>
            <a:r>
              <a:rPr lang="en-US" dirty="0" err="1"/>
              <a:t>nomi</a:t>
            </a:r>
            <a:r>
              <a:rPr lang="en-US" dirty="0"/>
              <a:t> </a:t>
            </a:r>
            <a:r>
              <a:rPr lang="en-US" dirty="0" err="1"/>
              <a:t>delle</a:t>
            </a:r>
            <a:r>
              <a:rPr lang="en-US" dirty="0"/>
              <a:t> due </a:t>
            </a:r>
            <a:r>
              <a:rPr lang="en-US" dirty="0" err="1"/>
              <a:t>tabelle</a:t>
            </a:r>
            <a:r>
              <a:rPr lang="en-US" dirty="0"/>
              <a:t>, </a:t>
            </a:r>
            <a:r>
              <a:rPr lang="en-US" dirty="0" err="1"/>
              <a:t>separati</a:t>
            </a:r>
            <a:r>
              <a:rPr lang="en-US" dirty="0"/>
              <a:t> dal </a:t>
            </a:r>
            <a:r>
              <a:rPr lang="en-US" dirty="0" err="1"/>
              <a:t>simbolo</a:t>
            </a:r>
            <a:r>
              <a:rPr lang="en-US" dirty="0"/>
              <a:t> _</a:t>
            </a:r>
            <a:endParaRPr lang="en-US" sz="105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931718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Associazioni</a:t>
            </a:r>
            <a:r>
              <a:rPr lang="en-US" dirty="0"/>
              <a:t> </a:t>
            </a:r>
            <a:r>
              <a:rPr lang="en-US" dirty="0" err="1"/>
              <a:t>unidirezionali</a:t>
            </a:r>
            <a:br>
              <a:rPr lang="en-US" dirty="0"/>
            </a:br>
            <a:r>
              <a:rPr lang="en-US" dirty="0" err="1"/>
              <a:t>OneToMany</a:t>
            </a:r>
            <a:endParaRPr lang="en-US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Dalla </a:t>
            </a:r>
            <a:r>
              <a:rPr lang="en-US" dirty="0" err="1"/>
              <a:t>progettazione</a:t>
            </a:r>
            <a:r>
              <a:rPr lang="en-US" dirty="0"/>
              <a:t> </a:t>
            </a:r>
            <a:r>
              <a:rPr lang="en-US" dirty="0" err="1"/>
              <a:t>logica</a:t>
            </a:r>
            <a:r>
              <a:rPr lang="en-US" dirty="0"/>
              <a:t> </a:t>
            </a:r>
            <a:r>
              <a:rPr lang="en-US" dirty="0" err="1"/>
              <a:t>studiata</a:t>
            </a:r>
            <a:r>
              <a:rPr lang="en-US" dirty="0"/>
              <a:t> </a:t>
            </a:r>
            <a:r>
              <a:rPr lang="en-US" dirty="0" err="1"/>
              <a:t>nel</a:t>
            </a:r>
            <a:r>
              <a:rPr lang="en-US" dirty="0"/>
              <a:t> </a:t>
            </a:r>
            <a:r>
              <a:rPr lang="en-US" dirty="0" err="1"/>
              <a:t>corso</a:t>
            </a:r>
            <a:r>
              <a:rPr lang="en-US" dirty="0"/>
              <a:t> "</a:t>
            </a:r>
            <a:r>
              <a:rPr lang="en-US" dirty="0" err="1"/>
              <a:t>Basi</a:t>
            </a:r>
            <a:r>
              <a:rPr lang="en-US" dirty="0"/>
              <a:t> di </a:t>
            </a:r>
            <a:r>
              <a:rPr lang="en-US" dirty="0" err="1"/>
              <a:t>dati</a:t>
            </a:r>
            <a:r>
              <a:rPr lang="en-US" dirty="0"/>
              <a:t>" </a:t>
            </a:r>
            <a:r>
              <a:rPr lang="en-US" dirty="0" err="1"/>
              <a:t>sappiamo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per le </a:t>
            </a:r>
            <a:r>
              <a:rPr lang="en-US" dirty="0" err="1"/>
              <a:t>associazioni</a:t>
            </a:r>
            <a:r>
              <a:rPr lang="en-US" dirty="0"/>
              <a:t> </a:t>
            </a:r>
            <a:r>
              <a:rPr lang="en-US" dirty="0" err="1"/>
              <a:t>OneToMany</a:t>
            </a:r>
            <a:r>
              <a:rPr lang="en-US" dirty="0"/>
              <a:t> la </a:t>
            </a:r>
            <a:r>
              <a:rPr lang="en-US" dirty="0" err="1"/>
              <a:t>tabella</a:t>
            </a:r>
            <a:r>
              <a:rPr lang="en-US" dirty="0"/>
              <a:t> di join non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necessaria</a:t>
            </a:r>
            <a:r>
              <a:rPr lang="en-US" dirty="0"/>
              <a:t>: </a:t>
            </a:r>
            <a:r>
              <a:rPr lang="en-US" dirty="0" err="1"/>
              <a:t>l'associazione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può</a:t>
            </a:r>
            <a:r>
              <a:rPr lang="en-US" dirty="0"/>
              <a:t> </a:t>
            </a:r>
            <a:r>
              <a:rPr lang="en-US" dirty="0" err="1"/>
              <a:t>rappresentare</a:t>
            </a:r>
            <a:r>
              <a:rPr lang="en-US" dirty="0"/>
              <a:t> con una </a:t>
            </a:r>
            <a:r>
              <a:rPr lang="en-US" dirty="0" err="1"/>
              <a:t>chiave</a:t>
            </a:r>
            <a:r>
              <a:rPr lang="en-US" dirty="0"/>
              <a:t> </a:t>
            </a:r>
            <a:r>
              <a:rPr lang="en-US" dirty="0" err="1"/>
              <a:t>esterna</a:t>
            </a:r>
            <a:r>
              <a:rPr lang="en-US" dirty="0"/>
              <a:t> </a:t>
            </a:r>
            <a:r>
              <a:rPr lang="en-US" dirty="0" err="1"/>
              <a:t>nella</a:t>
            </a:r>
            <a:r>
              <a:rPr lang="en-US" dirty="0"/>
              <a:t> </a:t>
            </a:r>
            <a:r>
              <a:rPr lang="en-US" dirty="0" err="1"/>
              <a:t>tabella</a:t>
            </a:r>
            <a:r>
              <a:rPr lang="en-US" dirty="0"/>
              <a:t> </a:t>
            </a:r>
            <a:r>
              <a:rPr lang="en-US" dirty="0" err="1"/>
              <a:t>dalla</a:t>
            </a:r>
            <a:r>
              <a:rPr lang="en-US" dirty="0"/>
              <a:t> </a:t>
            </a:r>
            <a:r>
              <a:rPr lang="en-US" dirty="0" err="1"/>
              <a:t>parte</a:t>
            </a:r>
            <a:r>
              <a:rPr lang="en-US" dirty="0"/>
              <a:t> "many"</a:t>
            </a:r>
          </a:p>
          <a:p>
            <a:r>
              <a:rPr lang="en-US" dirty="0"/>
              <a:t>Per </a:t>
            </a:r>
            <a:r>
              <a:rPr lang="en-US" dirty="0" err="1"/>
              <a:t>forzare</a:t>
            </a:r>
            <a:r>
              <a:rPr lang="en-US" dirty="0"/>
              <a:t> la </a:t>
            </a:r>
            <a:r>
              <a:rPr lang="en-US" dirty="0" err="1"/>
              <a:t>creazione</a:t>
            </a:r>
            <a:r>
              <a:rPr lang="en-US" dirty="0"/>
              <a:t> </a:t>
            </a:r>
            <a:r>
              <a:rPr lang="en-US" dirty="0" err="1"/>
              <a:t>della</a:t>
            </a:r>
            <a:r>
              <a:rPr lang="en-US" dirty="0"/>
              <a:t> foreign key </a:t>
            </a:r>
            <a:r>
              <a:rPr lang="en-US" dirty="0" err="1"/>
              <a:t>nella</a:t>
            </a:r>
            <a:r>
              <a:rPr lang="en-US" dirty="0"/>
              <a:t> </a:t>
            </a:r>
            <a:r>
              <a:rPr lang="en-US" dirty="0" err="1"/>
              <a:t>tabella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specificato</a:t>
            </a:r>
            <a:r>
              <a:rPr lang="en-US" dirty="0"/>
              <a:t>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nome</a:t>
            </a:r>
            <a:r>
              <a:rPr lang="en-US" dirty="0"/>
              <a:t> </a:t>
            </a:r>
            <a:r>
              <a:rPr lang="en-US" dirty="0" err="1"/>
              <a:t>della</a:t>
            </a:r>
            <a:r>
              <a:rPr lang="en-US" dirty="0"/>
              <a:t> </a:t>
            </a:r>
            <a:r>
              <a:rPr lang="en-US" dirty="0" err="1"/>
              <a:t>colonna</a:t>
            </a:r>
            <a:r>
              <a:rPr lang="en-US" dirty="0"/>
              <a:t> di join </a:t>
            </a:r>
            <a:r>
              <a:rPr lang="en-US" dirty="0" err="1"/>
              <a:t>attraverso</a:t>
            </a:r>
            <a:r>
              <a:rPr lang="en-US" dirty="0"/>
              <a:t> </a:t>
            </a:r>
            <a:r>
              <a:rPr lang="en-US" dirty="0" err="1"/>
              <a:t>l'annotazione</a:t>
            </a:r>
            <a:r>
              <a:rPr lang="en-US" dirty="0"/>
              <a:t> </a:t>
            </a:r>
            <a:br>
              <a:rPr lang="en-US" dirty="0"/>
            </a:br>
            <a:r>
              <a:rPr lang="en-US" b="1" dirty="0">
                <a:solidFill>
                  <a:srgbClr val="C0504D"/>
                </a:solidFill>
              </a:rPr>
              <a:t>@</a:t>
            </a:r>
            <a:r>
              <a:rPr lang="en-US" b="1" dirty="0" err="1">
                <a:solidFill>
                  <a:srgbClr val="C0504D"/>
                </a:solidFill>
              </a:rPr>
              <a:t>JoinColumn</a:t>
            </a:r>
            <a:r>
              <a:rPr lang="en-US" b="1" dirty="0">
                <a:solidFill>
                  <a:srgbClr val="C0504D"/>
                </a:solidFill>
              </a:rPr>
              <a:t>(name = "</a:t>
            </a:r>
            <a:r>
              <a:rPr lang="en-US" b="1" dirty="0" err="1">
                <a:solidFill>
                  <a:srgbClr val="C0504D"/>
                </a:solidFill>
              </a:rPr>
              <a:t>nome</a:t>
            </a:r>
            <a:r>
              <a:rPr lang="en-US" b="1" dirty="0">
                <a:solidFill>
                  <a:srgbClr val="C0504D"/>
                </a:solidFill>
              </a:rPr>
              <a:t> </a:t>
            </a:r>
            <a:r>
              <a:rPr lang="en-US" b="1" dirty="0" err="1">
                <a:solidFill>
                  <a:srgbClr val="C0504D"/>
                </a:solidFill>
              </a:rPr>
              <a:t>colonna</a:t>
            </a:r>
            <a:r>
              <a:rPr lang="en-US" b="1" dirty="0">
                <a:solidFill>
                  <a:srgbClr val="C0504D"/>
                </a:solidFill>
              </a:rPr>
              <a:t> FK")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messa</a:t>
            </a:r>
            <a:r>
              <a:rPr lang="en-US" dirty="0"/>
              <a:t> </a:t>
            </a:r>
            <a:r>
              <a:rPr lang="en-US" dirty="0" err="1"/>
              <a:t>ubito</a:t>
            </a:r>
            <a:r>
              <a:rPr lang="en-US" dirty="0"/>
              <a:t> </a:t>
            </a:r>
            <a:r>
              <a:rPr lang="en-US" dirty="0" err="1"/>
              <a:t>dopo</a:t>
            </a:r>
            <a:r>
              <a:rPr lang="en-US" dirty="0"/>
              <a:t> </a:t>
            </a:r>
            <a:r>
              <a:rPr lang="en-US" dirty="0" err="1"/>
              <a:t>l'annotazione</a:t>
            </a:r>
            <a:r>
              <a:rPr lang="en-US" dirty="0"/>
              <a:t> </a:t>
            </a:r>
            <a:r>
              <a:rPr lang="en-US" b="1" dirty="0">
                <a:solidFill>
                  <a:srgbClr val="C0504D"/>
                </a:solidFill>
              </a:rPr>
              <a:t>@</a:t>
            </a:r>
            <a:r>
              <a:rPr lang="en-US" b="1" dirty="0" err="1">
                <a:solidFill>
                  <a:srgbClr val="C0504D"/>
                </a:solidFill>
              </a:rPr>
              <a:t>OneToMany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036837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Esempio</a:t>
            </a:r>
            <a:endParaRPr lang="en-US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76291" y="-1896"/>
            <a:ext cx="4090935" cy="4061221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+ import </a:t>
            </a:r>
            <a:r>
              <a:rPr lang="en-US" sz="1600" dirty="0" err="1"/>
              <a:t>java.util.ArrayList</a:t>
            </a:r>
            <a:r>
              <a:rPr lang="en-US" sz="1600" dirty="0"/>
              <a:t>;[…]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@Entity</a:t>
            </a:r>
          </a:p>
          <a:p>
            <a:pPr marL="0" indent="0">
              <a:buNone/>
            </a:pPr>
            <a:r>
              <a:rPr lang="en-US" sz="1600" dirty="0"/>
              <a:t>@Table(name = "orders")</a:t>
            </a:r>
          </a:p>
          <a:p>
            <a:pPr marL="0" indent="0">
              <a:buNone/>
            </a:pPr>
            <a:r>
              <a:rPr lang="en-US" sz="1600" dirty="0"/>
              <a:t>public class </a:t>
            </a:r>
            <a:r>
              <a:rPr lang="en-US" sz="1600" b="1" dirty="0"/>
              <a:t>Order</a:t>
            </a:r>
            <a:r>
              <a:rPr lang="en-US" sz="1600" dirty="0"/>
              <a:t> {</a:t>
            </a:r>
          </a:p>
          <a:p>
            <a:pPr marL="0" indent="0">
              <a:buNone/>
            </a:pPr>
            <a:r>
              <a:rPr lang="en-US" sz="1600" dirty="0"/>
              <a:t>	</a:t>
            </a:r>
          </a:p>
          <a:p>
            <a:pPr marL="0" indent="0">
              <a:buNone/>
            </a:pPr>
            <a:r>
              <a:rPr lang="en-US" sz="1600" dirty="0"/>
              <a:t>    @Id </a:t>
            </a:r>
          </a:p>
          <a:p>
            <a:pPr marL="0" indent="0">
              <a:buNone/>
            </a:pPr>
            <a:r>
              <a:rPr lang="en-US" sz="1600" dirty="0"/>
              <a:t>    @</a:t>
            </a:r>
            <a:r>
              <a:rPr lang="en-US" sz="1600" dirty="0" err="1"/>
              <a:t>GeneratedValue</a:t>
            </a:r>
            <a:r>
              <a:rPr lang="en-US" sz="1600" dirty="0"/>
              <a:t>(strategy = </a:t>
            </a:r>
            <a:r>
              <a:rPr lang="en-US" sz="1600" dirty="0" err="1"/>
              <a:t>GenerationType.</a:t>
            </a:r>
            <a:r>
              <a:rPr lang="en-US" sz="1600" i="1" dirty="0" err="1"/>
              <a:t>AUTO</a:t>
            </a:r>
            <a:r>
              <a:rPr lang="en-US" sz="1600" i="1" dirty="0"/>
              <a:t>)</a:t>
            </a:r>
          </a:p>
          <a:p>
            <a:pPr marL="0" indent="0">
              <a:buNone/>
            </a:pPr>
            <a:r>
              <a:rPr lang="en-US" sz="1600" dirty="0"/>
              <a:t>    private Long id;	</a:t>
            </a:r>
          </a:p>
          <a:p>
            <a:pPr marL="0" indent="0">
              <a:buNone/>
            </a:pPr>
            <a:r>
              <a:rPr lang="en-US" sz="1600" dirty="0"/>
              <a:t>    private </a:t>
            </a:r>
            <a:r>
              <a:rPr lang="en-US" sz="1600" dirty="0" err="1"/>
              <a:t>LocalDateTime</a:t>
            </a:r>
            <a:r>
              <a:rPr lang="en-US" sz="1600" dirty="0"/>
              <a:t> </a:t>
            </a:r>
            <a:r>
              <a:rPr lang="en-US" sz="1600" dirty="0" err="1"/>
              <a:t>creationTime</a:t>
            </a:r>
            <a:r>
              <a:rPr lang="en-US" sz="1600" dirty="0"/>
              <a:t>;</a:t>
            </a:r>
          </a:p>
          <a:p>
            <a:pPr marL="0" indent="0">
              <a:buNone/>
            </a:pPr>
            <a:r>
              <a:rPr lang="en-US" sz="1600" dirty="0"/>
              <a:t>    private </a:t>
            </a:r>
            <a:r>
              <a:rPr lang="en-US" sz="1600" dirty="0" err="1"/>
              <a:t>LocalDateTime</a:t>
            </a:r>
            <a:r>
              <a:rPr lang="en-US" sz="1600" dirty="0"/>
              <a:t> </a:t>
            </a:r>
            <a:r>
              <a:rPr lang="en-US" sz="1600" dirty="0" err="1"/>
              <a:t>deliveryDate</a:t>
            </a:r>
            <a:r>
              <a:rPr lang="en-US" sz="1600" dirty="0"/>
              <a:t>;</a:t>
            </a:r>
          </a:p>
          <a:p>
            <a:pPr marL="0" indent="0">
              <a:buNone/>
            </a:pPr>
            <a:r>
              <a:rPr lang="en-US" sz="1600" dirty="0"/>
              <a:t>    </a:t>
            </a:r>
            <a:r>
              <a:rPr lang="en-US" sz="1600" b="1" dirty="0">
                <a:solidFill>
                  <a:srgbClr val="C0504D"/>
                </a:solidFill>
              </a:rPr>
              <a:t>@</a:t>
            </a:r>
            <a:r>
              <a:rPr lang="en-US" sz="1600" b="1" dirty="0" err="1">
                <a:solidFill>
                  <a:srgbClr val="C0504D"/>
                </a:solidFill>
              </a:rPr>
              <a:t>OneToMany</a:t>
            </a:r>
            <a:endParaRPr lang="en-US" sz="1600" b="1" dirty="0">
              <a:solidFill>
                <a:srgbClr val="C0504D"/>
              </a:solidFill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rgbClr val="C0504D"/>
                </a:solidFill>
              </a:rPr>
              <a:t>    @</a:t>
            </a:r>
            <a:r>
              <a:rPr lang="en-US" sz="1600" b="1" dirty="0" err="1">
                <a:solidFill>
                  <a:srgbClr val="C0504D"/>
                </a:solidFill>
              </a:rPr>
              <a:t>JoinColumn</a:t>
            </a:r>
            <a:r>
              <a:rPr lang="en-US" sz="1600" b="1" dirty="0">
                <a:solidFill>
                  <a:srgbClr val="C0504D"/>
                </a:solidFill>
              </a:rPr>
              <a:t>(name = "</a:t>
            </a:r>
            <a:r>
              <a:rPr lang="en-US" sz="1600" b="1" dirty="0" err="1">
                <a:solidFill>
                  <a:srgbClr val="C0504D"/>
                </a:solidFill>
              </a:rPr>
              <a:t>orders_id</a:t>
            </a:r>
            <a:r>
              <a:rPr lang="en-US" sz="1600" b="1" dirty="0">
                <a:solidFill>
                  <a:srgbClr val="C0504D"/>
                </a:solidFill>
              </a:rPr>
              <a:t>")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C0504D"/>
                </a:solidFill>
              </a:rPr>
              <a:t>    private List&lt;</a:t>
            </a:r>
            <a:r>
              <a:rPr lang="en-US" sz="1600" b="1" dirty="0" err="1">
                <a:solidFill>
                  <a:srgbClr val="C0504D"/>
                </a:solidFill>
              </a:rPr>
              <a:t>OrderLine</a:t>
            </a:r>
            <a:r>
              <a:rPr lang="en-US" sz="1600" b="1" dirty="0">
                <a:solidFill>
                  <a:srgbClr val="C0504D"/>
                </a:solidFill>
              </a:rPr>
              <a:t>&gt; </a:t>
            </a:r>
            <a:r>
              <a:rPr lang="en-US" sz="1600" b="1" dirty="0" err="1">
                <a:solidFill>
                  <a:srgbClr val="C0504D"/>
                </a:solidFill>
              </a:rPr>
              <a:t>orderLines</a:t>
            </a:r>
            <a:r>
              <a:rPr lang="en-US" sz="1600" b="1" dirty="0">
                <a:solidFill>
                  <a:srgbClr val="C0504D"/>
                </a:solidFill>
              </a:rPr>
              <a:t>;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…</a:t>
            </a:r>
          </a:p>
          <a:p>
            <a:pPr marL="0" indent="0">
              <a:buNone/>
            </a:pPr>
            <a:r>
              <a:rPr lang="en-US" sz="1600" dirty="0"/>
              <a:t>}	</a:t>
            </a:r>
          </a:p>
        </p:txBody>
      </p:sp>
      <p:sp>
        <p:nvSpPr>
          <p:cNvPr id="4" name="Segnaposto contenuto 2"/>
          <p:cNvSpPr txBox="1">
            <a:spLocks/>
          </p:cNvSpPr>
          <p:nvPr/>
        </p:nvSpPr>
        <p:spPr>
          <a:xfrm>
            <a:off x="4676775" y="1063228"/>
            <a:ext cx="3743744" cy="3960947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600" dirty="0">
              <a:latin typeface="Calibri Light" panose="020F0302020204030204" pitchFamily="34" charset="0"/>
            </a:endParaRPr>
          </a:p>
          <a:p>
            <a:pPr marL="0" indent="0">
              <a:buNone/>
            </a:pPr>
            <a:r>
              <a:rPr lang="en-US" sz="1600" dirty="0">
                <a:latin typeface="Calibri Light" panose="020F0302020204030204" pitchFamily="34" charset="0"/>
              </a:rPr>
              <a:t>+import </a:t>
            </a:r>
            <a:r>
              <a:rPr lang="en-US" sz="1600" dirty="0" err="1">
                <a:latin typeface="Calibri Light" panose="020F0302020204030204" pitchFamily="34" charset="0"/>
              </a:rPr>
              <a:t>javax.persistence.Entity</a:t>
            </a:r>
            <a:r>
              <a:rPr lang="en-US" sz="1600" dirty="0">
                <a:latin typeface="Calibri Light" panose="020F0302020204030204" pitchFamily="34" charset="0"/>
              </a:rPr>
              <a:t>;[…]</a:t>
            </a:r>
          </a:p>
          <a:p>
            <a:pPr marL="0" indent="0">
              <a:buNone/>
            </a:pPr>
            <a:endParaRPr lang="en-US" sz="1600" dirty="0">
              <a:latin typeface="Calibri Light" panose="020F0302020204030204" pitchFamily="34" charset="0"/>
            </a:endParaRPr>
          </a:p>
          <a:p>
            <a:pPr marL="0" indent="0">
              <a:buNone/>
            </a:pPr>
            <a:r>
              <a:rPr lang="en-US" sz="1600" dirty="0">
                <a:latin typeface="Calibri Light" panose="020F0302020204030204" pitchFamily="34" charset="0"/>
              </a:rPr>
              <a:t>@Entity</a:t>
            </a:r>
          </a:p>
          <a:p>
            <a:pPr marL="0" indent="0">
              <a:buNone/>
            </a:pPr>
            <a:r>
              <a:rPr lang="en-US" sz="1600" dirty="0">
                <a:latin typeface="Calibri Light" panose="020F0302020204030204" pitchFamily="34" charset="0"/>
              </a:rPr>
              <a:t>public class </a:t>
            </a:r>
            <a:r>
              <a:rPr lang="en-US" sz="1600" dirty="0" err="1">
                <a:latin typeface="Calibri Light" panose="020F0302020204030204" pitchFamily="34" charset="0"/>
              </a:rPr>
              <a:t>OrderLine</a:t>
            </a:r>
            <a:r>
              <a:rPr lang="en-US" sz="1600" dirty="0">
                <a:latin typeface="Calibri Light" panose="020F0302020204030204" pitchFamily="34" charset="0"/>
              </a:rPr>
              <a:t> {</a:t>
            </a:r>
          </a:p>
          <a:p>
            <a:pPr marL="0" indent="0">
              <a:buNone/>
            </a:pPr>
            <a:endParaRPr lang="en-US" sz="1600" dirty="0">
              <a:latin typeface="Calibri Light" panose="020F0302020204030204" pitchFamily="34" charset="0"/>
            </a:endParaRPr>
          </a:p>
          <a:p>
            <a:pPr marL="0" indent="0">
              <a:buNone/>
            </a:pPr>
            <a:r>
              <a:rPr lang="en-US" sz="1600" dirty="0">
                <a:latin typeface="Calibri Light" panose="020F0302020204030204" pitchFamily="34" charset="0"/>
              </a:rPr>
              <a:t>    @Id </a:t>
            </a:r>
          </a:p>
          <a:p>
            <a:pPr marL="0" indent="0">
              <a:buNone/>
            </a:pPr>
            <a:r>
              <a:rPr lang="en-US" sz="1600" dirty="0">
                <a:latin typeface="Calibri Light" panose="020F0302020204030204" pitchFamily="34" charset="0"/>
              </a:rPr>
              <a:t>    @</a:t>
            </a:r>
            <a:r>
              <a:rPr lang="en-US" sz="1600" dirty="0" err="1">
                <a:latin typeface="Calibri Light" panose="020F0302020204030204" pitchFamily="34" charset="0"/>
              </a:rPr>
              <a:t>GeneratedValue</a:t>
            </a:r>
            <a:r>
              <a:rPr lang="en-US" sz="1600" dirty="0">
                <a:latin typeface="Calibri Light" panose="020F0302020204030204" pitchFamily="34" charset="0"/>
              </a:rPr>
              <a:t>(strategy = </a:t>
            </a:r>
            <a:r>
              <a:rPr lang="en-US" sz="1600" dirty="0" err="1">
                <a:latin typeface="Calibri Light" panose="020F0302020204030204" pitchFamily="34" charset="0"/>
              </a:rPr>
              <a:t>GenerationType.AUTO</a:t>
            </a:r>
            <a:r>
              <a:rPr lang="en-US" sz="1600" dirty="0">
                <a:latin typeface="Calibri Light" panose="020F0302020204030204" pitchFamily="34" charset="0"/>
              </a:rPr>
              <a:t>)</a:t>
            </a:r>
          </a:p>
          <a:p>
            <a:pPr marL="0" indent="0">
              <a:buNone/>
            </a:pPr>
            <a:r>
              <a:rPr lang="en-US" sz="1600" dirty="0">
                <a:latin typeface="Calibri Light" panose="020F0302020204030204" pitchFamily="34" charset="0"/>
              </a:rPr>
              <a:t>    private Long id;</a:t>
            </a:r>
          </a:p>
          <a:p>
            <a:pPr marL="0" indent="0">
              <a:buNone/>
            </a:pPr>
            <a:r>
              <a:rPr lang="en-US" sz="1600" dirty="0">
                <a:latin typeface="Calibri Light" panose="020F0302020204030204" pitchFamily="34" charset="0"/>
              </a:rPr>
              <a:t>    private int quantity;</a:t>
            </a:r>
          </a:p>
          <a:p>
            <a:pPr marL="0" indent="0">
              <a:buNone/>
            </a:pPr>
            <a:r>
              <a:rPr lang="en-US" sz="1600" dirty="0">
                <a:latin typeface="Calibri Light" panose="020F0302020204030204" pitchFamily="34" charset="0"/>
              </a:rPr>
              <a:t>    private Float price;</a:t>
            </a:r>
          </a:p>
        </p:txBody>
      </p:sp>
      <p:sp>
        <p:nvSpPr>
          <p:cNvPr id="5" name="Freccia destra 4"/>
          <p:cNvSpPr/>
          <p:nvPr/>
        </p:nvSpPr>
        <p:spPr>
          <a:xfrm>
            <a:off x="48933" y="4293642"/>
            <a:ext cx="409575" cy="352425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350" dirty="0"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685434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Esempio</a:t>
            </a:r>
            <a:r>
              <a:rPr lang="en-US"/>
              <a:t> (cont.)</a:t>
            </a:r>
          </a:p>
        </p:txBody>
      </p:sp>
      <p:graphicFrame>
        <p:nvGraphicFramePr>
          <p:cNvPr id="5" name="Segnaposto contenuto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4945333"/>
              </p:ext>
            </p:extLst>
          </p:nvPr>
        </p:nvGraphicFramePr>
        <p:xfrm>
          <a:off x="1318533" y="2354036"/>
          <a:ext cx="2619375" cy="62971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181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36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76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5740">
                <a:tc gridSpan="3">
                  <a:txBody>
                    <a:bodyPr/>
                    <a:lstStyle/>
                    <a:p>
                      <a:pPr algn="ctr"/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orders</a:t>
                      </a:r>
                      <a:endParaRPr lang="it-IT" sz="900" dirty="0"/>
                    </a:p>
                  </a:txBody>
                  <a:tcPr marL="68580" marR="68580" marT="34290" marB="34290"/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989">
                <a:tc>
                  <a:txBody>
                    <a:bodyPr/>
                    <a:lstStyle/>
                    <a:p>
                      <a:r>
                        <a:rPr lang="it-IT" sz="900" b="0" i="0" dirty="0">
                          <a:latin typeface="Calibri Light" panose="020F0302020204030204" pitchFamily="34" charset="0"/>
                        </a:rPr>
                        <a:t>id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bigint</a:t>
                      </a:r>
                      <a:endParaRPr lang="it-IT" sz="9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nullable</a:t>
                      </a:r>
                      <a:r>
                        <a:rPr lang="it-IT" sz="900" dirty="0"/>
                        <a:t>=false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989">
                <a:tc>
                  <a:txBody>
                    <a:bodyPr/>
                    <a:lstStyle/>
                    <a:p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creationtime</a:t>
                      </a:r>
                      <a:endParaRPr lang="it-IT" sz="9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timestamp</a:t>
                      </a:r>
                      <a:endParaRPr lang="it-IT" sz="9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nullable</a:t>
                      </a:r>
                      <a:r>
                        <a:rPr lang="it-IT" sz="900" dirty="0"/>
                        <a:t>=false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Segnaposto contenuto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84955640"/>
              </p:ext>
            </p:extLst>
          </p:nvPr>
        </p:nvGraphicFramePr>
        <p:xfrm>
          <a:off x="5157108" y="2354036"/>
          <a:ext cx="2619375" cy="139659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181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36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76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5740">
                <a:tc gridSpan="3">
                  <a:txBody>
                    <a:bodyPr/>
                    <a:lstStyle/>
                    <a:p>
                      <a:pPr algn="ctr"/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orderline</a:t>
                      </a:r>
                      <a:endParaRPr lang="it-IT" sz="900" dirty="0"/>
                    </a:p>
                  </a:txBody>
                  <a:tcPr marL="68580" marR="68580" marT="34290" marB="34290"/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989">
                <a:tc>
                  <a:txBody>
                    <a:bodyPr/>
                    <a:lstStyle/>
                    <a:p>
                      <a:r>
                        <a:rPr lang="it-IT" sz="900" b="0" i="0" dirty="0">
                          <a:latin typeface="Calibri Light" panose="020F0302020204030204" pitchFamily="34" charset="0"/>
                        </a:rPr>
                        <a:t>id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bigint</a:t>
                      </a:r>
                      <a:endParaRPr lang="it-IT" sz="9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nullable</a:t>
                      </a:r>
                      <a:r>
                        <a:rPr lang="it-IT" sz="900" dirty="0"/>
                        <a:t>=false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989">
                <a:tc>
                  <a:txBody>
                    <a:bodyPr/>
                    <a:lstStyle/>
                    <a:p>
                      <a:r>
                        <a:rPr lang="it-IT" sz="900" b="0" i="0" dirty="0">
                          <a:latin typeface="Calibri Light" panose="020F0302020204030204" pitchFamily="34" charset="0"/>
                        </a:rPr>
                        <a:t>item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varchar</a:t>
                      </a:r>
                      <a:r>
                        <a:rPr lang="it-IT" sz="900" dirty="0"/>
                        <a:t>(255)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nullable</a:t>
                      </a:r>
                      <a:r>
                        <a:rPr lang="it-IT" sz="900" dirty="0"/>
                        <a:t>=false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1989">
                <a:tc>
                  <a:txBody>
                    <a:bodyPr/>
                    <a:lstStyle/>
                    <a:p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quantity</a:t>
                      </a:r>
                      <a:endParaRPr lang="it-IT" sz="9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int</a:t>
                      </a:r>
                      <a:endParaRPr lang="it-IT" sz="9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nullable</a:t>
                      </a:r>
                      <a:r>
                        <a:rPr lang="it-IT" sz="900" dirty="0"/>
                        <a:t>=false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1989">
                <a:tc>
                  <a:txBody>
                    <a:bodyPr/>
                    <a:lstStyle/>
                    <a:p>
                      <a:r>
                        <a:rPr lang="it-IT" sz="900" b="0" i="0" dirty="0">
                          <a:latin typeface="Calibri Light" panose="020F0302020204030204" pitchFamily="34" charset="0"/>
                        </a:rPr>
                        <a:t>price</a:t>
                      </a:r>
                      <a:endParaRPr lang="it-IT" sz="9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real</a:t>
                      </a:r>
                      <a:endParaRPr lang="it-IT" sz="9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nullable</a:t>
                      </a:r>
                      <a:r>
                        <a:rPr lang="it-IT" sz="900" dirty="0"/>
                        <a:t>=</a:t>
                      </a:r>
                      <a:r>
                        <a:rPr lang="it-IT" sz="900" dirty="0" err="1"/>
                        <a:t>true</a:t>
                      </a:r>
                      <a:endParaRPr lang="it-IT" sz="9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orders_id</a:t>
                      </a:r>
                      <a:endParaRPr lang="it-IT" sz="9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bigint</a:t>
                      </a:r>
                      <a:endParaRPr lang="it-IT" sz="9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nullable</a:t>
                      </a:r>
                      <a:r>
                        <a:rPr lang="it-IT" sz="900" dirty="0"/>
                        <a:t>=false</a:t>
                      </a:r>
                    </a:p>
                    <a:p>
                      <a:r>
                        <a:rPr lang="it-IT" sz="900" b="1" dirty="0"/>
                        <a:t>FK </a:t>
                      </a:r>
                      <a:r>
                        <a:rPr lang="it-IT" sz="900" b="1" dirty="0" err="1"/>
                        <a:t>orders.id</a:t>
                      </a:r>
                      <a:endParaRPr lang="it-IT" sz="9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80389537"/>
                  </a:ext>
                </a:extLst>
              </a:tr>
            </a:tbl>
          </a:graphicData>
        </a:graphic>
      </p:graphicFrame>
      <p:sp>
        <p:nvSpPr>
          <p:cNvPr id="3" name="CasellaDiTesto 2">
            <a:extLst>
              <a:ext uri="{FF2B5EF4-FFF2-40B4-BE49-F238E27FC236}">
                <a16:creationId xmlns:a16="http://schemas.microsoft.com/office/drawing/2014/main" id="{42C50BD5-5E5D-B842-A1A2-722E50AA8FBA}"/>
              </a:ext>
            </a:extLst>
          </p:cNvPr>
          <p:cNvSpPr txBox="1"/>
          <p:nvPr/>
        </p:nvSpPr>
        <p:spPr>
          <a:xfrm>
            <a:off x="2929579" y="1351783"/>
            <a:ext cx="3328283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 err="1">
                <a:latin typeface="Calibri Light" panose="020F0302020204030204" pitchFamily="34" charset="0"/>
              </a:rPr>
              <a:t>Queste</a:t>
            </a:r>
            <a:r>
              <a:rPr lang="en-US" sz="1350" dirty="0">
                <a:latin typeface="Calibri Light" panose="020F0302020204030204" pitchFamily="34" charset="0"/>
              </a:rPr>
              <a:t> </a:t>
            </a:r>
            <a:r>
              <a:rPr lang="en-US" sz="1350" dirty="0" err="1">
                <a:latin typeface="Calibri Light" panose="020F0302020204030204" pitchFamily="34" charset="0"/>
              </a:rPr>
              <a:t>sono</a:t>
            </a:r>
            <a:r>
              <a:rPr lang="en-US" sz="1350" dirty="0">
                <a:latin typeface="Calibri Light" panose="020F0302020204030204" pitchFamily="34" charset="0"/>
              </a:rPr>
              <a:t> le </a:t>
            </a:r>
            <a:r>
              <a:rPr lang="en-US" sz="1350" dirty="0" err="1">
                <a:latin typeface="Calibri Light" panose="020F0302020204030204" pitchFamily="34" charset="0"/>
              </a:rPr>
              <a:t>tabelle</a:t>
            </a:r>
            <a:r>
              <a:rPr lang="en-US" sz="1350" dirty="0">
                <a:latin typeface="Calibri Light" panose="020F0302020204030204" pitchFamily="34" charset="0"/>
              </a:rPr>
              <a:t> generate dal mapping</a:t>
            </a:r>
          </a:p>
        </p:txBody>
      </p:sp>
      <p:sp>
        <p:nvSpPr>
          <p:cNvPr id="8" name="Freccia destra 7">
            <a:extLst>
              <a:ext uri="{FF2B5EF4-FFF2-40B4-BE49-F238E27FC236}">
                <a16:creationId xmlns:a16="http://schemas.microsoft.com/office/drawing/2014/main" id="{A1DA33ED-62F3-3D4E-87FA-7F2C4609E6E1}"/>
              </a:ext>
            </a:extLst>
          </p:cNvPr>
          <p:cNvSpPr/>
          <p:nvPr/>
        </p:nvSpPr>
        <p:spPr>
          <a:xfrm>
            <a:off x="4678135" y="3398207"/>
            <a:ext cx="409575" cy="352425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350" dirty="0"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476553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Associazioni</a:t>
            </a:r>
            <a:r>
              <a:rPr lang="en-US"/>
              <a:t> </a:t>
            </a:r>
            <a:r>
              <a:rPr lang="en-US" err="1"/>
              <a:t>bidirezionali</a:t>
            </a:r>
            <a:endParaRPr lang="en-US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 vert="horz" lIns="68580" tIns="34290" rIns="68580" bIns="34290" rtlCol="0" anchor="t">
            <a:normAutofit/>
          </a:bodyPr>
          <a:lstStyle/>
          <a:p>
            <a:r>
              <a:rPr lang="it-CH" dirty="0"/>
              <a:t>In una associazione bidirezionale, le due entità coinvolte hanno un riferimento (o una collezione di riferimenti) l'una all'altra</a:t>
            </a:r>
          </a:p>
          <a:p>
            <a:r>
              <a:rPr lang="it-CH" dirty="0">
                <a:highlight>
                  <a:srgbClr val="FFFF00"/>
                </a:highlight>
              </a:rPr>
              <a:t>E' fondamentale esprimere la reciprocità dei riferimenti: i riferimenti nelle due entità rappresentano la stessa associazione</a:t>
            </a:r>
          </a:p>
          <a:p>
            <a:r>
              <a:rPr lang="en-US" dirty="0"/>
              <a:t>Nel </a:t>
            </a:r>
            <a:r>
              <a:rPr lang="en-US" dirty="0" err="1"/>
              <a:t>caso</a:t>
            </a:r>
            <a:r>
              <a:rPr lang="en-US" dirty="0"/>
              <a:t> </a:t>
            </a:r>
            <a:r>
              <a:rPr lang="en-US" dirty="0" err="1"/>
              <a:t>delle</a:t>
            </a:r>
            <a:r>
              <a:rPr lang="en-US" dirty="0"/>
              <a:t> </a:t>
            </a:r>
            <a:r>
              <a:rPr lang="en-US" dirty="0" err="1"/>
              <a:t>associazioni</a:t>
            </a:r>
            <a:r>
              <a:rPr lang="en-US" dirty="0"/>
              <a:t> </a:t>
            </a:r>
            <a:r>
              <a:rPr lang="en-US" dirty="0" err="1"/>
              <a:t>unidirezionali</a:t>
            </a:r>
            <a:r>
              <a:rPr lang="en-US" dirty="0"/>
              <a:t>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problema</a:t>
            </a:r>
            <a:r>
              <a:rPr lang="en-US" dirty="0"/>
              <a:t> non </a:t>
            </a:r>
            <a:r>
              <a:rPr lang="en-US" dirty="0" err="1"/>
              <a:t>si</a:t>
            </a:r>
            <a:r>
              <a:rPr lang="en-US" dirty="0"/>
              <a:t> pone, </a:t>
            </a:r>
            <a:r>
              <a:rPr lang="en-US" dirty="0" err="1"/>
              <a:t>perchè</a:t>
            </a:r>
            <a:r>
              <a:rPr lang="en-US" dirty="0"/>
              <a:t>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riferimento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uno</a:t>
            </a:r>
            <a:r>
              <a:rPr lang="en-US" dirty="0"/>
              <a:t> solo (</a:t>
            </a:r>
            <a:r>
              <a:rPr lang="en-US" dirty="0" err="1"/>
              <a:t>quello</a:t>
            </a:r>
            <a:r>
              <a:rPr lang="en-US" dirty="0"/>
              <a:t> </a:t>
            </a:r>
            <a:r>
              <a:rPr lang="en-US" dirty="0" err="1"/>
              <a:t>nella</a:t>
            </a:r>
            <a:r>
              <a:rPr lang="en-US" dirty="0"/>
              <a:t> </a:t>
            </a:r>
            <a:r>
              <a:rPr lang="en-US" dirty="0" err="1"/>
              <a:t>entità</a:t>
            </a:r>
            <a:r>
              <a:rPr lang="en-US" dirty="0"/>
              <a:t> </a:t>
            </a:r>
            <a:r>
              <a:rPr lang="en-US" dirty="0" err="1"/>
              <a:t>sorgente</a:t>
            </a:r>
            <a:r>
              <a:rPr lang="en-US" dirty="0"/>
              <a:t>)</a:t>
            </a:r>
          </a:p>
          <a:p>
            <a:endParaRPr lang="it-CH" dirty="0">
              <a:highlight>
                <a:srgbClr val="FFFF00"/>
              </a:highlight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355434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Esempio</a:t>
            </a:r>
            <a:endParaRPr lang="en-US"/>
          </a:p>
        </p:txBody>
      </p:sp>
      <p:graphicFrame>
        <p:nvGraphicFramePr>
          <p:cNvPr id="12" name="Segnaposto contenuto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00757034"/>
              </p:ext>
            </p:extLst>
          </p:nvPr>
        </p:nvGraphicFramePr>
        <p:xfrm>
          <a:off x="2957203" y="1195553"/>
          <a:ext cx="1164968" cy="10233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49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5151">
                <a:tc>
                  <a:txBody>
                    <a:bodyPr/>
                    <a:lstStyle/>
                    <a:p>
                      <a:pPr algn="ctr"/>
                      <a:r>
                        <a:rPr lang="it-IT" sz="1400" b="0" i="0" dirty="0">
                          <a:latin typeface="Calibri Light" panose="020F0302020204030204" pitchFamily="34" charset="0"/>
                        </a:rPr>
                        <a:t>Customer</a:t>
                      </a:r>
                      <a:endParaRPr lang="it-IT" sz="8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8655">
                <a:tc>
                  <a:txBody>
                    <a:bodyPr/>
                    <a:lstStyle/>
                    <a:p>
                      <a:r>
                        <a:rPr lang="it-IT" sz="800" b="0" i="0" dirty="0">
                          <a:latin typeface="Calibri Light" panose="020F0302020204030204" pitchFamily="34" charset="0"/>
                        </a:rPr>
                        <a:t>-id: Long</a:t>
                      </a:r>
                    </a:p>
                    <a:p>
                      <a:r>
                        <a:rPr lang="it-IT" sz="800" dirty="0"/>
                        <a:t>-</a:t>
                      </a:r>
                      <a:r>
                        <a:rPr lang="it-IT" sz="800" dirty="0" err="1"/>
                        <a:t>firstName</a:t>
                      </a:r>
                      <a:r>
                        <a:rPr lang="it-IT" sz="800" dirty="0"/>
                        <a:t>:</a:t>
                      </a:r>
                      <a:r>
                        <a:rPr lang="it-IT" sz="800" baseline="0" dirty="0"/>
                        <a:t> </a:t>
                      </a:r>
                      <a:r>
                        <a:rPr lang="it-IT" sz="800" baseline="0" dirty="0" err="1"/>
                        <a:t>String</a:t>
                      </a:r>
                      <a:endParaRPr lang="it-IT" sz="800" baseline="0" dirty="0"/>
                    </a:p>
                    <a:p>
                      <a:r>
                        <a:rPr lang="it-IT" sz="800" baseline="0" dirty="0"/>
                        <a:t>-</a:t>
                      </a:r>
                      <a:r>
                        <a:rPr lang="it-IT" sz="800" baseline="0" dirty="0" err="1"/>
                        <a:t>lastName</a:t>
                      </a:r>
                      <a:r>
                        <a:rPr lang="it-IT" sz="800" baseline="0" dirty="0"/>
                        <a:t>: </a:t>
                      </a:r>
                      <a:r>
                        <a:rPr lang="it-IT" sz="800" baseline="0" dirty="0" err="1"/>
                        <a:t>String</a:t>
                      </a:r>
                      <a:endParaRPr lang="it-IT" sz="800" baseline="0" dirty="0"/>
                    </a:p>
                    <a:p>
                      <a:r>
                        <a:rPr lang="it-IT" sz="800" baseline="0" dirty="0"/>
                        <a:t>-email: </a:t>
                      </a:r>
                      <a:r>
                        <a:rPr lang="it-IT" sz="800" baseline="0" dirty="0" err="1"/>
                        <a:t>String</a:t>
                      </a:r>
                      <a:endParaRPr lang="it-IT" sz="800" baseline="0" dirty="0"/>
                    </a:p>
                    <a:p>
                      <a:r>
                        <a:rPr lang="it-IT" sz="800" baseline="0" dirty="0"/>
                        <a:t>-</a:t>
                      </a:r>
                      <a:r>
                        <a:rPr lang="it-IT" sz="800" baseline="0" dirty="0" err="1"/>
                        <a:t>dateOfBirth</a:t>
                      </a:r>
                      <a:r>
                        <a:rPr lang="it-IT" sz="800" baseline="0" dirty="0"/>
                        <a:t>: </a:t>
                      </a:r>
                      <a:r>
                        <a:rPr lang="it-IT" sz="800" baseline="0" dirty="0" err="1"/>
                        <a:t>String</a:t>
                      </a:r>
                      <a:endParaRPr lang="it-IT" sz="8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" name="Segnaposto contenuto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5843336"/>
              </p:ext>
            </p:extLst>
          </p:nvPr>
        </p:nvGraphicFramePr>
        <p:xfrm>
          <a:off x="5225106" y="1376528"/>
          <a:ext cx="1511789" cy="6575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17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5151">
                <a:tc>
                  <a:txBody>
                    <a:bodyPr/>
                    <a:lstStyle/>
                    <a:p>
                      <a:pPr algn="ctr"/>
                      <a:r>
                        <a:rPr lang="it-IT" sz="1400" b="0" i="0" dirty="0">
                          <a:latin typeface="Calibri Light" panose="020F0302020204030204" pitchFamily="34" charset="0"/>
                        </a:rPr>
                        <a:t>Order</a:t>
                      </a:r>
                      <a:endParaRPr lang="it-IT" sz="8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r>
                        <a:rPr lang="it-IT" sz="800" b="0" i="0" dirty="0">
                          <a:latin typeface="Calibri Light" panose="020F0302020204030204" pitchFamily="34" charset="0"/>
                        </a:rPr>
                        <a:t>-id: Long</a:t>
                      </a:r>
                    </a:p>
                    <a:p>
                      <a:r>
                        <a:rPr lang="it-IT" sz="800" dirty="0"/>
                        <a:t>-</a:t>
                      </a:r>
                      <a:r>
                        <a:rPr lang="it-IT" sz="800" dirty="0" err="1"/>
                        <a:t>creationTime</a:t>
                      </a:r>
                      <a:r>
                        <a:rPr lang="it-IT" sz="800" dirty="0"/>
                        <a:t>: </a:t>
                      </a:r>
                      <a:r>
                        <a:rPr lang="it-IT" sz="800" dirty="0" err="1"/>
                        <a:t>String</a:t>
                      </a:r>
                      <a:endParaRPr lang="it-IT" sz="8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4" name="Connettore 2 13"/>
          <p:cNvCxnSpPr>
            <a:stCxn id="12" idx="3"/>
            <a:endCxn id="13" idx="1"/>
          </p:cNvCxnSpPr>
          <p:nvPr/>
        </p:nvCxnSpPr>
        <p:spPr>
          <a:xfrm flipV="1">
            <a:off x="4122171" y="1705313"/>
            <a:ext cx="1102935" cy="1905"/>
          </a:xfrm>
          <a:prstGeom prst="straightConnector1">
            <a:avLst/>
          </a:prstGeom>
          <a:ln w="12700" cmpd="sng">
            <a:solidFill>
              <a:srgbClr val="000000"/>
            </a:solidFill>
            <a:prstDash val="solid"/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asellaDiTesto 14"/>
          <p:cNvSpPr txBox="1"/>
          <p:nvPr/>
        </p:nvSpPr>
        <p:spPr>
          <a:xfrm>
            <a:off x="4822370" y="1432837"/>
            <a:ext cx="44595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350" dirty="0">
                <a:latin typeface="Calibri Light" panose="020F0302020204030204" pitchFamily="34" charset="0"/>
              </a:rPr>
              <a:t>0..*</a:t>
            </a:r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7F40778C-EF68-0147-8749-F0754840E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5772" y="2016332"/>
            <a:ext cx="3590950" cy="2335269"/>
          </a:xfrm>
        </p:spPr>
        <p:txBody>
          <a:bodyPr vert="horz" lIns="68580" tIns="34290" rIns="68580" bIns="34290" rtlCol="0" anchor="t">
            <a:normAutofit lnSpcReduction="10000"/>
          </a:bodyPr>
          <a:lstStyle/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public class </a:t>
            </a:r>
            <a:r>
              <a:rPr lang="en-US" sz="1600" b="1" dirty="0"/>
              <a:t>Order</a:t>
            </a:r>
            <a:r>
              <a:rPr lang="en-US" sz="1600" dirty="0"/>
              <a:t> {</a:t>
            </a:r>
            <a:endParaRPr lang="en-US" sz="4000" dirty="0"/>
          </a:p>
          <a:p>
            <a:pPr marL="0" indent="0">
              <a:buNone/>
            </a:pPr>
            <a:r>
              <a:rPr lang="en-US" sz="1600" dirty="0"/>
              <a:t>	</a:t>
            </a:r>
            <a:endParaRPr lang="en-US" sz="4000" dirty="0"/>
          </a:p>
          <a:p>
            <a:pPr marL="0" indent="0">
              <a:buNone/>
            </a:pPr>
            <a:r>
              <a:rPr lang="en-US" sz="1600" dirty="0"/>
              <a:t>    private Long id;	</a:t>
            </a:r>
            <a:endParaRPr lang="en-US" sz="4000" dirty="0"/>
          </a:p>
          <a:p>
            <a:pPr marL="0" indent="0">
              <a:buNone/>
            </a:pPr>
            <a:r>
              <a:rPr lang="en-US" sz="1600" dirty="0"/>
              <a:t>    private </a:t>
            </a:r>
            <a:r>
              <a:rPr lang="en-US" sz="1600" dirty="0" err="1"/>
              <a:t>LocalDateTime</a:t>
            </a:r>
            <a:r>
              <a:rPr lang="en-US" sz="1600" dirty="0"/>
              <a:t> </a:t>
            </a:r>
            <a:r>
              <a:rPr lang="en-US" sz="1600" dirty="0" err="1"/>
              <a:t>creationTime</a:t>
            </a:r>
            <a:r>
              <a:rPr lang="en-US" sz="1600" dirty="0"/>
              <a:t>;</a:t>
            </a:r>
            <a:endParaRPr lang="en-US" sz="4000" dirty="0"/>
          </a:p>
          <a:p>
            <a:pPr marL="0" indent="0">
              <a:buNone/>
            </a:pPr>
            <a:r>
              <a:rPr lang="en-US" sz="1600" b="1" dirty="0"/>
              <a:t>   </a:t>
            </a:r>
            <a:r>
              <a:rPr lang="en-US" sz="1600" b="1" dirty="0">
                <a:solidFill>
                  <a:srgbClr val="C0504D"/>
                </a:solidFill>
              </a:rPr>
              <a:t> private Customer customer;</a:t>
            </a:r>
            <a:endParaRPr lang="en-US" sz="4000" dirty="0"/>
          </a:p>
          <a:p>
            <a:pPr marL="0" indent="0">
              <a:buNone/>
            </a:pPr>
            <a:r>
              <a:rPr lang="en-US" sz="1600" dirty="0"/>
              <a:t>…</a:t>
            </a:r>
            <a:endParaRPr lang="en-US" sz="4000" dirty="0"/>
          </a:p>
          <a:p>
            <a:pPr marL="0" indent="0">
              <a:buNone/>
            </a:pPr>
            <a:r>
              <a:rPr lang="en-US" sz="1600" dirty="0"/>
              <a:t>}</a:t>
            </a:r>
            <a:endParaRPr lang="it-IT" sz="4000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01F5962A-45C4-C144-A15B-3B3395A39D31}"/>
              </a:ext>
            </a:extLst>
          </p:cNvPr>
          <p:cNvSpPr txBox="1"/>
          <p:nvPr/>
        </p:nvSpPr>
        <p:spPr>
          <a:xfrm>
            <a:off x="177608" y="199282"/>
            <a:ext cx="3176193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600" dirty="0">
              <a:latin typeface="Calibri Light" panose="020F0302020204030204" pitchFamily="34" charset="0"/>
            </a:endParaRPr>
          </a:p>
          <a:p>
            <a:endParaRPr lang="en-US" sz="1600" dirty="0">
              <a:latin typeface="Calibri Light" panose="020F0302020204030204" pitchFamily="34" charset="0"/>
            </a:endParaRPr>
          </a:p>
          <a:p>
            <a:r>
              <a:rPr lang="en-US" sz="1600" dirty="0">
                <a:latin typeface="Calibri Light" panose="020F0302020204030204" pitchFamily="34" charset="0"/>
              </a:rPr>
              <a:t>public class Customer {</a:t>
            </a:r>
          </a:p>
          <a:p>
            <a:endParaRPr lang="en-US" sz="1600" dirty="0">
              <a:latin typeface="Calibri Light" panose="020F0302020204030204" pitchFamily="34" charset="0"/>
            </a:endParaRPr>
          </a:p>
          <a:p>
            <a:r>
              <a:rPr lang="en-US" sz="1600" dirty="0">
                <a:latin typeface="Calibri Light" panose="020F0302020204030204" pitchFamily="34" charset="0"/>
              </a:rPr>
              <a:t>    private Long id;</a:t>
            </a:r>
          </a:p>
          <a:p>
            <a:r>
              <a:rPr lang="en-US" sz="1600" dirty="0">
                <a:latin typeface="Calibri Light" panose="020F0302020204030204" pitchFamily="34" charset="0"/>
              </a:rPr>
              <a:t>    private String </a:t>
            </a:r>
            <a:r>
              <a:rPr lang="en-US" sz="1600" dirty="0" err="1">
                <a:latin typeface="Calibri Light" panose="020F0302020204030204" pitchFamily="34" charset="0"/>
              </a:rPr>
              <a:t>firstName</a:t>
            </a:r>
            <a:r>
              <a:rPr lang="en-US" sz="1600" dirty="0">
                <a:latin typeface="Calibri Light" panose="020F0302020204030204" pitchFamily="34" charset="0"/>
              </a:rPr>
              <a:t>;</a:t>
            </a:r>
          </a:p>
          <a:p>
            <a:r>
              <a:rPr lang="en-US" sz="1600" dirty="0">
                <a:latin typeface="Calibri Light" panose="020F0302020204030204" pitchFamily="34" charset="0"/>
              </a:rPr>
              <a:t>    private String </a:t>
            </a:r>
            <a:r>
              <a:rPr lang="en-US" sz="1600" dirty="0" err="1">
                <a:latin typeface="Calibri Light" panose="020F0302020204030204" pitchFamily="34" charset="0"/>
              </a:rPr>
              <a:t>lastName</a:t>
            </a:r>
            <a:r>
              <a:rPr lang="en-US" sz="1600" dirty="0">
                <a:latin typeface="Calibri Light" panose="020F0302020204030204" pitchFamily="34" charset="0"/>
              </a:rPr>
              <a:t>;</a:t>
            </a:r>
          </a:p>
          <a:p>
            <a:r>
              <a:rPr lang="en-US" sz="1600" dirty="0">
                <a:latin typeface="Calibri Light" panose="020F0302020204030204" pitchFamily="34" charset="0"/>
              </a:rPr>
              <a:t>    private String email;</a:t>
            </a:r>
          </a:p>
          <a:p>
            <a:r>
              <a:rPr lang="en-US" sz="1600" dirty="0">
                <a:latin typeface="Calibri Light" panose="020F0302020204030204" pitchFamily="34" charset="0"/>
              </a:rPr>
              <a:t>    private </a:t>
            </a:r>
            <a:r>
              <a:rPr lang="en-US" sz="1600" dirty="0" err="1">
                <a:latin typeface="Calibri Light" panose="020F0302020204030204" pitchFamily="34" charset="0"/>
              </a:rPr>
              <a:t>LocalDate</a:t>
            </a:r>
            <a:r>
              <a:rPr lang="en-US" sz="1600" dirty="0">
                <a:latin typeface="Calibri Light" panose="020F0302020204030204" pitchFamily="34" charset="0"/>
              </a:rPr>
              <a:t> </a:t>
            </a:r>
            <a:r>
              <a:rPr lang="en-US" sz="1600" dirty="0" err="1">
                <a:latin typeface="Calibri Light" panose="020F0302020204030204" pitchFamily="34" charset="0"/>
              </a:rPr>
              <a:t>dateOfBirth</a:t>
            </a:r>
            <a:r>
              <a:rPr lang="en-US" sz="1600" dirty="0">
                <a:latin typeface="Calibri Light" panose="020F0302020204030204" pitchFamily="34" charset="0"/>
              </a:rPr>
              <a:t>;</a:t>
            </a:r>
          </a:p>
          <a:p>
            <a:r>
              <a:rPr lang="en-US" sz="1600" dirty="0">
                <a:latin typeface="Calibri Light" panose="020F0302020204030204" pitchFamily="34" charset="0"/>
              </a:rPr>
              <a:t>    </a:t>
            </a:r>
          </a:p>
          <a:p>
            <a:r>
              <a:rPr lang="en-US" sz="1600" dirty="0">
                <a:latin typeface="Calibri Light" panose="020F0302020204030204" pitchFamily="34" charset="0"/>
              </a:rPr>
              <a:t>    private Address address;</a:t>
            </a:r>
            <a:endParaRPr lang="en-US" sz="1600" dirty="0">
              <a:solidFill>
                <a:srgbClr val="C0504D"/>
              </a:solidFill>
              <a:latin typeface="Calibri Light" panose="020F0302020204030204" pitchFamily="34" charset="0"/>
            </a:endParaRPr>
          </a:p>
          <a:p>
            <a:r>
              <a:rPr lang="en-US" sz="1600" dirty="0">
                <a:solidFill>
                  <a:srgbClr val="C0504D"/>
                </a:solidFill>
                <a:latin typeface="Calibri Light" panose="020F0302020204030204" pitchFamily="34" charset="0"/>
              </a:rPr>
              <a:t>    private List&lt;Order&gt; orders;</a:t>
            </a:r>
          </a:p>
          <a:p>
            <a:r>
              <a:rPr lang="en-US" sz="1600" dirty="0">
                <a:latin typeface="Calibri Light" panose="020F0302020204030204" pitchFamily="34" charset="0"/>
              </a:rPr>
              <a:t>…</a:t>
            </a:r>
          </a:p>
          <a:p>
            <a:r>
              <a:rPr lang="en-US" sz="1600" dirty="0">
                <a:latin typeface="Calibri Light" panose="020F0302020204030204" pitchFamily="34" charset="0"/>
              </a:rPr>
              <a:t>}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6E81AFD1-64A7-374E-947B-F25B2FFBCADC}"/>
              </a:ext>
            </a:extLst>
          </p:cNvPr>
          <p:cNvSpPr txBox="1"/>
          <p:nvPr/>
        </p:nvSpPr>
        <p:spPr>
          <a:xfrm>
            <a:off x="3086100" y="4572000"/>
            <a:ext cx="2490810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 err="1">
                <a:highlight>
                  <a:srgbClr val="FFFF00"/>
                </a:highlight>
                <a:latin typeface="Calibri Light" panose="020F0302020204030204" pitchFamily="34" charset="0"/>
              </a:rPr>
              <a:t>Esprimono</a:t>
            </a:r>
            <a:r>
              <a:rPr lang="en-US" sz="1350" dirty="0">
                <a:highlight>
                  <a:srgbClr val="FFFF00"/>
                </a:highlight>
                <a:latin typeface="Calibri Light" panose="020F0302020204030204" pitchFamily="34" charset="0"/>
              </a:rPr>
              <a:t> la </a:t>
            </a:r>
            <a:r>
              <a:rPr lang="en-US" sz="1350" dirty="0" err="1">
                <a:highlight>
                  <a:srgbClr val="FFFF00"/>
                </a:highlight>
                <a:latin typeface="Calibri Light" panose="020F0302020204030204" pitchFamily="34" charset="0"/>
              </a:rPr>
              <a:t>stessa</a:t>
            </a:r>
            <a:r>
              <a:rPr lang="en-US" sz="1350" dirty="0">
                <a:highlight>
                  <a:srgbClr val="FFFF00"/>
                </a:highlight>
                <a:latin typeface="Calibri Light" panose="020F0302020204030204" pitchFamily="34" charset="0"/>
              </a:rPr>
              <a:t> </a:t>
            </a:r>
            <a:r>
              <a:rPr lang="en-US" sz="1350" dirty="0" err="1">
                <a:highlight>
                  <a:srgbClr val="FFFF00"/>
                </a:highlight>
                <a:latin typeface="Calibri Light" panose="020F0302020204030204" pitchFamily="34" charset="0"/>
              </a:rPr>
              <a:t>associazione</a:t>
            </a:r>
            <a:endParaRPr lang="en-US" sz="1350" dirty="0">
              <a:highlight>
                <a:srgbClr val="FFFF00"/>
              </a:highlight>
              <a:latin typeface="Calibri Light" panose="020F0302020204030204" pitchFamily="34" charset="0"/>
            </a:endParaRPr>
          </a:p>
        </p:txBody>
      </p:sp>
      <p:cxnSp>
        <p:nvCxnSpPr>
          <p:cNvPr id="5" name="Connettore 2 4">
            <a:extLst>
              <a:ext uri="{FF2B5EF4-FFF2-40B4-BE49-F238E27FC236}">
                <a16:creationId xmlns:a16="http://schemas.microsoft.com/office/drawing/2014/main" id="{818DF4F5-6348-F549-A91E-6307ECC325FB}"/>
              </a:ext>
            </a:extLst>
          </p:cNvPr>
          <p:cNvCxnSpPr>
            <a:cxnSpLocks/>
          </p:cNvCxnSpPr>
          <p:nvPr/>
        </p:nvCxnSpPr>
        <p:spPr>
          <a:xfrm flipV="1">
            <a:off x="4572000" y="3601130"/>
            <a:ext cx="783772" cy="8565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2DBB7D1B-82F9-F148-8A27-87379932296D}"/>
              </a:ext>
            </a:extLst>
          </p:cNvPr>
          <p:cNvCxnSpPr>
            <a:cxnSpLocks/>
          </p:cNvCxnSpPr>
          <p:nvPr/>
        </p:nvCxnSpPr>
        <p:spPr>
          <a:xfrm flipH="1" flipV="1">
            <a:off x="2773345" y="3261363"/>
            <a:ext cx="1087570" cy="11315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465345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Associazioni</a:t>
            </a:r>
            <a:r>
              <a:rPr lang="en-US"/>
              <a:t> </a:t>
            </a:r>
            <a:r>
              <a:rPr lang="en-US" err="1"/>
              <a:t>bidirezionali</a:t>
            </a:r>
            <a:endParaRPr lang="en-US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 vert="horz" lIns="68580" tIns="34290" rIns="68580" bIns="34290" rtlCol="0" anchor="t">
            <a:normAutofit/>
          </a:bodyPr>
          <a:lstStyle/>
          <a:p>
            <a:r>
              <a:rPr lang="it-CH" dirty="0"/>
              <a:t>Nota terminologica JPA</a:t>
            </a:r>
          </a:p>
          <a:p>
            <a:r>
              <a:rPr lang="it-CH" dirty="0"/>
              <a:t>Nelle associazioni bidirezionali, JPA distingue le due entità coinvolte in: </a:t>
            </a:r>
          </a:p>
          <a:p>
            <a:pPr lvl="1"/>
            <a:r>
              <a:rPr lang="it-CH" dirty="0"/>
              <a:t>parte </a:t>
            </a:r>
            <a:r>
              <a:rPr lang="it-CH" i="1" dirty="0"/>
              <a:t>proprietaria (owning side)</a:t>
            </a:r>
            <a:r>
              <a:rPr lang="it-CH" dirty="0"/>
              <a:t> </a:t>
            </a:r>
          </a:p>
          <a:p>
            <a:pPr lvl="1"/>
            <a:r>
              <a:rPr lang="it-CH" dirty="0"/>
              <a:t>parte </a:t>
            </a:r>
            <a:r>
              <a:rPr lang="it-CH" i="1" dirty="0"/>
              <a:t>inversa </a:t>
            </a:r>
            <a:r>
              <a:rPr lang="it-CH" dirty="0"/>
              <a:t>(</a:t>
            </a:r>
            <a:r>
              <a:rPr lang="it-CH" i="1" dirty="0"/>
              <a:t>inverse side</a:t>
            </a:r>
            <a:r>
              <a:rPr lang="it-CH" dirty="0"/>
              <a:t>)</a:t>
            </a:r>
            <a:endParaRPr lang="it-CH" dirty="0">
              <a:cs typeface="Calibri Light" panose="020F0302020204030204" pitchFamily="34" charset="0"/>
            </a:endParaRPr>
          </a:p>
          <a:p>
            <a:r>
              <a:rPr lang="it-CH" dirty="0"/>
              <a:t>La parte </a:t>
            </a:r>
            <a:r>
              <a:rPr lang="it-CH" b="1" dirty="0">
                <a:highlight>
                  <a:srgbClr val="FFFF00"/>
                </a:highlight>
              </a:rPr>
              <a:t>proprietaria</a:t>
            </a:r>
            <a:r>
              <a:rPr lang="it-CH" dirty="0"/>
              <a:t> è l'entità a cui corrisponde la tabella con la </a:t>
            </a:r>
            <a:r>
              <a:rPr lang="it-CH" b="1" dirty="0">
                <a:highlight>
                  <a:srgbClr val="FFFF00"/>
                </a:highlight>
              </a:rPr>
              <a:t>foreign key</a:t>
            </a:r>
            <a:r>
              <a:rPr lang="it-CH" b="1" dirty="0"/>
              <a:t> </a:t>
            </a:r>
            <a:r>
              <a:rPr lang="it-CH" dirty="0"/>
              <a:t>che rappresenta l'associazione nel database</a:t>
            </a:r>
          </a:p>
          <a:p>
            <a:pPr lvl="1"/>
            <a:r>
              <a:rPr lang="it-CH" dirty="0">
                <a:cs typeface="Calibri Light" panose="020F0302020204030204" pitchFamily="34" charset="0"/>
              </a:rPr>
              <a:t>In una associazione one-to-many è la </a:t>
            </a:r>
            <a:r>
              <a:rPr lang="it-CH" dirty="0">
                <a:highlight>
                  <a:srgbClr val="FFFF00"/>
                </a:highlight>
                <a:cs typeface="Calibri Light" panose="020F0302020204030204" pitchFamily="34" charset="0"/>
              </a:rPr>
              <a:t>parte many</a:t>
            </a:r>
          </a:p>
        </p:txBody>
      </p:sp>
    </p:spTree>
    <p:extLst>
      <p:ext uri="{BB962C8B-B14F-4D97-AF65-F5344CB8AC3E}">
        <p14:creationId xmlns:p14="http://schemas.microsoft.com/office/powerpoint/2010/main" val="203595843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Esempio</a:t>
            </a:r>
            <a:r>
              <a:rPr lang="en-US"/>
              <a:t> (cont.)</a:t>
            </a:r>
          </a:p>
        </p:txBody>
      </p:sp>
      <p:graphicFrame>
        <p:nvGraphicFramePr>
          <p:cNvPr id="4" name="Segnaposto contenuto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44674711"/>
              </p:ext>
            </p:extLst>
          </p:nvPr>
        </p:nvGraphicFramePr>
        <p:xfrm>
          <a:off x="2793919" y="1620090"/>
          <a:ext cx="1164968" cy="10233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49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5151">
                <a:tc>
                  <a:txBody>
                    <a:bodyPr/>
                    <a:lstStyle/>
                    <a:p>
                      <a:pPr algn="ctr"/>
                      <a:r>
                        <a:rPr lang="it-IT" sz="1400" b="0" i="0" dirty="0">
                          <a:latin typeface="Calibri Light" panose="020F0302020204030204" pitchFamily="34" charset="0"/>
                        </a:rPr>
                        <a:t>Customer</a:t>
                      </a:r>
                      <a:endParaRPr lang="it-IT" sz="8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8655">
                <a:tc>
                  <a:txBody>
                    <a:bodyPr/>
                    <a:lstStyle/>
                    <a:p>
                      <a:r>
                        <a:rPr lang="it-IT" sz="800" b="0" i="0" dirty="0">
                          <a:latin typeface="Calibri Light" panose="020F0302020204030204" pitchFamily="34" charset="0"/>
                        </a:rPr>
                        <a:t>-id: Long</a:t>
                      </a:r>
                    </a:p>
                    <a:p>
                      <a:r>
                        <a:rPr lang="it-IT" sz="800" dirty="0"/>
                        <a:t>-</a:t>
                      </a:r>
                      <a:r>
                        <a:rPr lang="it-IT" sz="800" dirty="0" err="1"/>
                        <a:t>firstName</a:t>
                      </a:r>
                      <a:r>
                        <a:rPr lang="it-IT" sz="800" dirty="0"/>
                        <a:t>:</a:t>
                      </a:r>
                      <a:r>
                        <a:rPr lang="it-IT" sz="800" baseline="0" dirty="0"/>
                        <a:t> </a:t>
                      </a:r>
                      <a:r>
                        <a:rPr lang="it-IT" sz="800" baseline="0" dirty="0" err="1"/>
                        <a:t>String</a:t>
                      </a:r>
                      <a:endParaRPr lang="it-IT" sz="800" baseline="0" dirty="0"/>
                    </a:p>
                    <a:p>
                      <a:r>
                        <a:rPr lang="it-IT" sz="800" baseline="0" dirty="0"/>
                        <a:t>-</a:t>
                      </a:r>
                      <a:r>
                        <a:rPr lang="it-IT" sz="800" baseline="0" dirty="0" err="1"/>
                        <a:t>lastName</a:t>
                      </a:r>
                      <a:r>
                        <a:rPr lang="it-IT" sz="800" baseline="0" dirty="0"/>
                        <a:t>: </a:t>
                      </a:r>
                      <a:r>
                        <a:rPr lang="it-IT" sz="800" baseline="0" dirty="0" err="1"/>
                        <a:t>String</a:t>
                      </a:r>
                      <a:endParaRPr lang="it-IT" sz="800" baseline="0" dirty="0"/>
                    </a:p>
                    <a:p>
                      <a:r>
                        <a:rPr lang="it-IT" sz="800" baseline="0" dirty="0"/>
                        <a:t>-email: </a:t>
                      </a:r>
                      <a:r>
                        <a:rPr lang="it-IT" sz="800" baseline="0" dirty="0" err="1"/>
                        <a:t>String</a:t>
                      </a:r>
                      <a:endParaRPr lang="it-IT" sz="800" baseline="0" dirty="0"/>
                    </a:p>
                    <a:p>
                      <a:r>
                        <a:rPr lang="it-IT" sz="800" baseline="0" dirty="0"/>
                        <a:t>-</a:t>
                      </a:r>
                      <a:r>
                        <a:rPr lang="it-IT" sz="800" baseline="0" dirty="0" err="1"/>
                        <a:t>dateOfBirth</a:t>
                      </a:r>
                      <a:r>
                        <a:rPr lang="it-IT" sz="800" baseline="0" dirty="0"/>
                        <a:t>: </a:t>
                      </a:r>
                      <a:r>
                        <a:rPr lang="it-IT" sz="800" baseline="0" dirty="0" err="1"/>
                        <a:t>String</a:t>
                      </a:r>
                      <a:endParaRPr lang="it-IT" sz="8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Segnaposto contenuto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46674346"/>
              </p:ext>
            </p:extLst>
          </p:nvPr>
        </p:nvGraphicFramePr>
        <p:xfrm>
          <a:off x="5061822" y="1801065"/>
          <a:ext cx="1511789" cy="6575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17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5151">
                <a:tc>
                  <a:txBody>
                    <a:bodyPr/>
                    <a:lstStyle/>
                    <a:p>
                      <a:pPr algn="ctr"/>
                      <a:r>
                        <a:rPr lang="it-IT" sz="1400" b="0" i="0" dirty="0">
                          <a:latin typeface="Calibri Light" panose="020F0302020204030204" pitchFamily="34" charset="0"/>
                        </a:rPr>
                        <a:t>Order</a:t>
                      </a:r>
                      <a:endParaRPr lang="it-IT" sz="8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r>
                        <a:rPr lang="it-IT" sz="800" b="0" i="0" dirty="0">
                          <a:latin typeface="Calibri Light" panose="020F0302020204030204" pitchFamily="34" charset="0"/>
                        </a:rPr>
                        <a:t>-id: Long</a:t>
                      </a:r>
                    </a:p>
                    <a:p>
                      <a:r>
                        <a:rPr lang="it-IT" sz="800" dirty="0"/>
                        <a:t>-</a:t>
                      </a:r>
                      <a:r>
                        <a:rPr lang="it-IT" sz="800" dirty="0" err="1"/>
                        <a:t>creationTime</a:t>
                      </a:r>
                      <a:r>
                        <a:rPr lang="it-IT" sz="800" dirty="0"/>
                        <a:t>: </a:t>
                      </a:r>
                      <a:r>
                        <a:rPr lang="it-IT" sz="800" dirty="0" err="1"/>
                        <a:t>String</a:t>
                      </a:r>
                      <a:endParaRPr lang="it-IT" sz="8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6" name="Connettore 2 5"/>
          <p:cNvCxnSpPr>
            <a:stCxn id="4" idx="3"/>
            <a:endCxn id="5" idx="1"/>
          </p:cNvCxnSpPr>
          <p:nvPr/>
        </p:nvCxnSpPr>
        <p:spPr>
          <a:xfrm flipV="1">
            <a:off x="3958887" y="2129850"/>
            <a:ext cx="1102935" cy="1905"/>
          </a:xfrm>
          <a:prstGeom prst="straightConnector1">
            <a:avLst/>
          </a:prstGeom>
          <a:ln w="12700" cmpd="sng">
            <a:solidFill>
              <a:srgbClr val="000000"/>
            </a:solidFill>
            <a:prstDash val="solid"/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asellaDiTesto 6"/>
          <p:cNvSpPr txBox="1"/>
          <p:nvPr/>
        </p:nvSpPr>
        <p:spPr>
          <a:xfrm>
            <a:off x="4659086" y="1857375"/>
            <a:ext cx="44595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350" dirty="0">
                <a:latin typeface="Calibri Light" panose="020F0302020204030204" pitchFamily="34" charset="0"/>
              </a:rPr>
              <a:t>0..*</a:t>
            </a:r>
          </a:p>
        </p:txBody>
      </p:sp>
      <p:graphicFrame>
        <p:nvGraphicFramePr>
          <p:cNvPr id="8" name="Segnaposto contenuto 6"/>
          <p:cNvGraphicFramePr>
            <a:graphicFrameLocks/>
          </p:cNvGraphicFramePr>
          <p:nvPr/>
        </p:nvGraphicFramePr>
        <p:xfrm>
          <a:off x="1666876" y="3023618"/>
          <a:ext cx="2619375" cy="139659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181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36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76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5740">
                <a:tc gridSpan="3">
                  <a:txBody>
                    <a:bodyPr/>
                    <a:lstStyle/>
                    <a:p>
                      <a:pPr algn="ctr"/>
                      <a:r>
                        <a:rPr lang="it-IT" sz="900" b="0" i="0" dirty="0">
                          <a:latin typeface="Calibri Light" panose="020F0302020204030204" pitchFamily="34" charset="0"/>
                        </a:rPr>
                        <a:t>CUSTOMER</a:t>
                      </a:r>
                    </a:p>
                  </a:txBody>
                  <a:tcPr marL="68580" marR="68580" marT="34290" marB="34290"/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it-IT" sz="900" b="0" i="0" dirty="0">
                          <a:latin typeface="Calibri Light" panose="020F0302020204030204" pitchFamily="34" charset="0"/>
                        </a:rPr>
                        <a:t>id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bigint</a:t>
                      </a:r>
                      <a:endParaRPr lang="it-IT" sz="9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nullable</a:t>
                      </a:r>
                      <a:r>
                        <a:rPr lang="it-IT" sz="900" dirty="0"/>
                        <a:t>=false</a:t>
                      </a:r>
                    </a:p>
                    <a:p>
                      <a:r>
                        <a:rPr lang="it-IT" sz="900" dirty="0"/>
                        <a:t>PK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989">
                <a:tc>
                  <a:txBody>
                    <a:bodyPr/>
                    <a:lstStyle/>
                    <a:p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firstname</a:t>
                      </a:r>
                      <a:endParaRPr lang="it-IT" sz="9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varchar</a:t>
                      </a:r>
                      <a:r>
                        <a:rPr lang="it-IT" sz="900" dirty="0"/>
                        <a:t>(255)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nullable</a:t>
                      </a:r>
                      <a:r>
                        <a:rPr lang="it-IT" sz="900" dirty="0"/>
                        <a:t>=false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1989">
                <a:tc>
                  <a:txBody>
                    <a:bodyPr/>
                    <a:lstStyle/>
                    <a:p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lastname</a:t>
                      </a:r>
                      <a:endParaRPr lang="it-IT" sz="9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varchar</a:t>
                      </a:r>
                      <a:r>
                        <a:rPr lang="it-IT" sz="900" dirty="0"/>
                        <a:t>(255)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nullable</a:t>
                      </a:r>
                      <a:r>
                        <a:rPr lang="it-IT" sz="900" dirty="0"/>
                        <a:t>=false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1989">
                <a:tc>
                  <a:txBody>
                    <a:bodyPr/>
                    <a:lstStyle/>
                    <a:p>
                      <a:r>
                        <a:rPr lang="it-IT" sz="900" b="0" i="0" dirty="0">
                          <a:latin typeface="Calibri Light" panose="020F0302020204030204" pitchFamily="34" charset="0"/>
                        </a:rPr>
                        <a:t>email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varchar</a:t>
                      </a:r>
                      <a:r>
                        <a:rPr lang="it-IT" sz="900" dirty="0"/>
                        <a:t>(255)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nullable</a:t>
                      </a:r>
                      <a:r>
                        <a:rPr lang="it-IT" sz="900" dirty="0"/>
                        <a:t>=</a:t>
                      </a:r>
                      <a:r>
                        <a:rPr lang="it-IT" sz="900" dirty="0" err="1"/>
                        <a:t>true</a:t>
                      </a:r>
                      <a:endParaRPr lang="it-IT" sz="9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1989">
                <a:tc>
                  <a:txBody>
                    <a:bodyPr/>
                    <a:lstStyle/>
                    <a:p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dateofbirth</a:t>
                      </a:r>
                      <a:endParaRPr lang="it-IT" sz="9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varchar</a:t>
                      </a:r>
                      <a:r>
                        <a:rPr lang="it-IT" sz="900" dirty="0"/>
                        <a:t>(255)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nullable</a:t>
                      </a:r>
                      <a:r>
                        <a:rPr lang="it-IT" sz="900" dirty="0"/>
                        <a:t>=</a:t>
                      </a:r>
                      <a:r>
                        <a:rPr lang="it-IT" sz="900" dirty="0" err="1"/>
                        <a:t>true</a:t>
                      </a:r>
                      <a:endParaRPr lang="it-IT" sz="9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9" name="Segnaposto contenuto 6"/>
          <p:cNvGraphicFramePr>
            <a:graphicFrameLocks/>
          </p:cNvGraphicFramePr>
          <p:nvPr/>
        </p:nvGraphicFramePr>
        <p:xfrm>
          <a:off x="4810125" y="3166038"/>
          <a:ext cx="2943225" cy="110352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316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54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61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5740">
                <a:tc gridSpan="3">
                  <a:txBody>
                    <a:bodyPr/>
                    <a:lstStyle/>
                    <a:p>
                      <a:pPr algn="ctr"/>
                      <a:r>
                        <a:rPr lang="it-IT" sz="900" b="0" i="0" dirty="0">
                          <a:latin typeface="Calibri Light" panose="020F0302020204030204" pitchFamily="34" charset="0"/>
                        </a:rPr>
                        <a:t>ORDER</a:t>
                      </a:r>
                    </a:p>
                  </a:txBody>
                  <a:tcPr marL="68580" marR="68580" marT="34290" marB="34290"/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it-IT" sz="900" b="0" i="0" dirty="0">
                          <a:latin typeface="Calibri Light" panose="020F0302020204030204" pitchFamily="34" charset="0"/>
                        </a:rPr>
                        <a:t>id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bigint</a:t>
                      </a:r>
                      <a:endParaRPr lang="it-IT" sz="9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nullable</a:t>
                      </a:r>
                      <a:r>
                        <a:rPr lang="it-IT" sz="900" dirty="0"/>
                        <a:t>=false</a:t>
                      </a:r>
                    </a:p>
                    <a:p>
                      <a:r>
                        <a:rPr lang="it-IT" sz="900" dirty="0"/>
                        <a:t>PK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989">
                <a:tc>
                  <a:txBody>
                    <a:bodyPr/>
                    <a:lstStyle/>
                    <a:p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creaationtime</a:t>
                      </a:r>
                      <a:endParaRPr lang="it-IT" sz="9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varchar</a:t>
                      </a:r>
                      <a:r>
                        <a:rPr lang="it-IT" sz="900" dirty="0"/>
                        <a:t>(255)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nullable</a:t>
                      </a:r>
                      <a:r>
                        <a:rPr lang="it-IT" sz="900" dirty="0"/>
                        <a:t>=false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customer_id</a:t>
                      </a:r>
                      <a:endParaRPr lang="it-IT" sz="9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bigint</a:t>
                      </a:r>
                      <a:endParaRPr lang="it-IT" sz="9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nullable</a:t>
                      </a:r>
                      <a:r>
                        <a:rPr lang="it-IT" sz="900" b="1" dirty="0"/>
                        <a:t>=</a:t>
                      </a:r>
                      <a:r>
                        <a:rPr lang="it-IT" sz="900" b="1" dirty="0" err="1"/>
                        <a:t>true</a:t>
                      </a:r>
                      <a:endParaRPr lang="it-IT" sz="900" b="1" dirty="0"/>
                    </a:p>
                    <a:p>
                      <a:r>
                        <a:rPr lang="it-IT" sz="900" b="1" dirty="0"/>
                        <a:t>FK </a:t>
                      </a:r>
                      <a:r>
                        <a:rPr lang="it-IT" sz="900" b="1" dirty="0" err="1"/>
                        <a:t>customer.id</a:t>
                      </a:r>
                      <a:endParaRPr lang="it-IT" sz="9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CasellaDiTesto 2">
            <a:extLst>
              <a:ext uri="{FF2B5EF4-FFF2-40B4-BE49-F238E27FC236}">
                <a16:creationId xmlns:a16="http://schemas.microsoft.com/office/drawing/2014/main" id="{D306594C-5A06-4E40-A00B-9011729A9AB1}"/>
              </a:ext>
            </a:extLst>
          </p:cNvPr>
          <p:cNvSpPr txBox="1"/>
          <p:nvPr/>
        </p:nvSpPr>
        <p:spPr>
          <a:xfrm>
            <a:off x="5658688" y="4505403"/>
            <a:ext cx="1437959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50" dirty="0" err="1">
                <a:highlight>
                  <a:srgbClr val="FFFF00"/>
                </a:highlight>
                <a:latin typeface="Calibri Light" panose="020F0302020204030204" pitchFamily="34" charset="0"/>
              </a:rPr>
              <a:t>Parte</a:t>
            </a:r>
            <a:r>
              <a:rPr lang="en-US" sz="1350" dirty="0">
                <a:highlight>
                  <a:srgbClr val="FFFF00"/>
                </a:highlight>
                <a:latin typeface="Calibri Light" panose="020F0302020204030204" pitchFamily="34" charset="0"/>
              </a:rPr>
              <a:t> </a:t>
            </a:r>
            <a:r>
              <a:rPr lang="en-US" sz="1350" dirty="0" err="1">
                <a:highlight>
                  <a:srgbClr val="FFFF00"/>
                </a:highlight>
                <a:latin typeface="Calibri Light" panose="020F0302020204030204" pitchFamily="34" charset="0"/>
              </a:rPr>
              <a:t>proprietaria</a:t>
            </a:r>
            <a:endParaRPr lang="en-US" sz="1350" dirty="0">
              <a:highlight>
                <a:srgbClr val="FFFF00"/>
              </a:highlight>
              <a:latin typeface="Calibri Light" panose="020F0302020204030204" pitchFamily="34" charset="0"/>
            </a:endParaRPr>
          </a:p>
          <a:p>
            <a:pPr algn="ctr"/>
            <a:r>
              <a:rPr lang="en-US" sz="1350" dirty="0">
                <a:highlight>
                  <a:srgbClr val="FFFF00"/>
                </a:highlight>
                <a:latin typeface="Calibri Light" panose="020F0302020204030204" pitchFamily="34" charset="0"/>
              </a:rPr>
              <a:t>(</a:t>
            </a:r>
            <a:r>
              <a:rPr lang="en-US" sz="1350" dirty="0" err="1">
                <a:highlight>
                  <a:srgbClr val="FFFF00"/>
                </a:highlight>
                <a:latin typeface="Calibri Light" panose="020F0302020204030204" pitchFamily="34" charset="0"/>
              </a:rPr>
              <a:t>c'è</a:t>
            </a:r>
            <a:r>
              <a:rPr lang="en-US" sz="1350" dirty="0">
                <a:highlight>
                  <a:srgbClr val="FFFF00"/>
                </a:highlight>
                <a:latin typeface="Calibri Light" panose="020F0302020204030204" pitchFamily="34" charset="0"/>
              </a:rPr>
              <a:t> la FK)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ECF6D2B0-BF20-A647-A051-D5FFE423EAD2}"/>
              </a:ext>
            </a:extLst>
          </p:cNvPr>
          <p:cNvSpPr txBox="1"/>
          <p:nvPr/>
        </p:nvSpPr>
        <p:spPr>
          <a:xfrm>
            <a:off x="2375881" y="4505402"/>
            <a:ext cx="109651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 err="1">
                <a:highlight>
                  <a:srgbClr val="FFFF00"/>
                </a:highlight>
                <a:latin typeface="Calibri Light" panose="020F0302020204030204" pitchFamily="34" charset="0"/>
              </a:rPr>
              <a:t>Parte</a:t>
            </a:r>
            <a:r>
              <a:rPr lang="en-US" sz="1350" dirty="0">
                <a:highlight>
                  <a:srgbClr val="FFFF00"/>
                </a:highlight>
                <a:latin typeface="Calibri Light" panose="020F0302020204030204" pitchFamily="34" charset="0"/>
              </a:rPr>
              <a:t> </a:t>
            </a:r>
            <a:r>
              <a:rPr lang="en-US" sz="1350" dirty="0" err="1">
                <a:highlight>
                  <a:srgbClr val="FFFF00"/>
                </a:highlight>
                <a:latin typeface="Calibri Light" panose="020F0302020204030204" pitchFamily="34" charset="0"/>
              </a:rPr>
              <a:t>inversa</a:t>
            </a:r>
            <a:endParaRPr lang="en-US" sz="1350" dirty="0">
              <a:highlight>
                <a:srgbClr val="FFFF00"/>
              </a:highlight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362288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Associazioni</a:t>
            </a:r>
            <a:r>
              <a:rPr lang="en-US"/>
              <a:t> </a:t>
            </a:r>
            <a:r>
              <a:rPr lang="en-US" err="1"/>
              <a:t>bidirezionali</a:t>
            </a:r>
            <a:endParaRPr lang="en-US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JPA, </a:t>
            </a:r>
            <a:r>
              <a:rPr lang="it-CH" dirty="0"/>
              <a:t>per esprimere la reciprocità dei riferimenti di una associazione bidirezionale</a:t>
            </a:r>
            <a:r>
              <a:rPr lang="en-US" dirty="0"/>
              <a:t> </a:t>
            </a:r>
            <a:r>
              <a:rPr lang="en-US" dirty="0" err="1"/>
              <a:t>adorniamo</a:t>
            </a:r>
            <a:r>
              <a:rPr lang="en-US" dirty="0"/>
              <a:t> </a:t>
            </a:r>
            <a:r>
              <a:rPr lang="en-US" dirty="0" err="1"/>
              <a:t>l'annotazione</a:t>
            </a:r>
            <a:r>
              <a:rPr lang="en-US" dirty="0"/>
              <a:t> </a:t>
            </a:r>
            <a:r>
              <a:rPr lang="en-US" dirty="0" err="1"/>
              <a:t>della</a:t>
            </a:r>
            <a:r>
              <a:rPr lang="en-US" dirty="0"/>
              <a:t> </a:t>
            </a:r>
            <a:r>
              <a:rPr lang="en-US" dirty="0" err="1"/>
              <a:t>parte</a:t>
            </a:r>
            <a:r>
              <a:rPr lang="en-US" dirty="0"/>
              <a:t> One-to-Many con </a:t>
            </a:r>
            <a:r>
              <a:rPr lang="en-US" dirty="0" err="1"/>
              <a:t>l'attributo</a:t>
            </a:r>
            <a:r>
              <a:rPr lang="en-US" dirty="0"/>
              <a:t> </a:t>
            </a:r>
            <a:r>
              <a:rPr lang="en-US" b="1" dirty="0" err="1"/>
              <a:t>mappedBy</a:t>
            </a:r>
            <a:r>
              <a:rPr lang="en-US" dirty="0"/>
              <a:t>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@</a:t>
            </a:r>
            <a:r>
              <a:rPr lang="en-US" dirty="0" err="1"/>
              <a:t>OneToMany</a:t>
            </a:r>
            <a:r>
              <a:rPr lang="en-US" b="1" dirty="0">
                <a:solidFill>
                  <a:srgbClr val="C0504D"/>
                </a:solidFill>
              </a:rPr>
              <a:t>(</a:t>
            </a:r>
            <a:r>
              <a:rPr lang="en-US" b="1" dirty="0" err="1">
                <a:solidFill>
                  <a:srgbClr val="C0504D"/>
                </a:solidFill>
              </a:rPr>
              <a:t>mappedBy</a:t>
            </a:r>
            <a:r>
              <a:rPr lang="en-US" b="1" dirty="0">
                <a:solidFill>
                  <a:srgbClr val="C0504D"/>
                </a:solidFill>
              </a:rPr>
              <a:t> = "</a:t>
            </a:r>
            <a:r>
              <a:rPr lang="en-US" b="1" dirty="0" err="1">
                <a:solidFill>
                  <a:srgbClr val="C0504D"/>
                </a:solidFill>
              </a:rPr>
              <a:t>nome</a:t>
            </a:r>
            <a:r>
              <a:rPr lang="en-US" b="1" dirty="0">
                <a:solidFill>
                  <a:srgbClr val="C0504D"/>
                </a:solidFill>
              </a:rPr>
              <a:t> </a:t>
            </a:r>
            <a:r>
              <a:rPr lang="en-US" b="1" dirty="0" err="1">
                <a:solidFill>
                  <a:srgbClr val="C0504D"/>
                </a:solidFill>
              </a:rPr>
              <a:t>della</a:t>
            </a:r>
            <a:r>
              <a:rPr lang="en-US" b="1" dirty="0">
                <a:solidFill>
                  <a:srgbClr val="C0504D"/>
                </a:solidFill>
              </a:rPr>
              <a:t> </a:t>
            </a:r>
            <a:r>
              <a:rPr lang="en-US" b="1" dirty="0" err="1">
                <a:solidFill>
                  <a:srgbClr val="C0504D"/>
                </a:solidFill>
              </a:rPr>
              <a:t>variabile</a:t>
            </a:r>
            <a:r>
              <a:rPr lang="en-US" b="1" dirty="0">
                <a:solidFill>
                  <a:srgbClr val="C0504D"/>
                </a:solidFill>
              </a:rPr>
              <a:t> </a:t>
            </a:r>
            <a:r>
              <a:rPr lang="en-US" b="1" dirty="0" err="1">
                <a:solidFill>
                  <a:srgbClr val="C0504D"/>
                </a:solidFill>
              </a:rPr>
              <a:t>della</a:t>
            </a:r>
            <a:r>
              <a:rPr lang="en-US" b="1" dirty="0">
                <a:solidFill>
                  <a:srgbClr val="C0504D"/>
                </a:solidFill>
              </a:rPr>
              <a:t> </a:t>
            </a:r>
            <a:r>
              <a:rPr lang="en-US" b="1" dirty="0" err="1">
                <a:solidFill>
                  <a:srgbClr val="C0504D"/>
                </a:solidFill>
              </a:rPr>
              <a:t>parte</a:t>
            </a:r>
            <a:r>
              <a:rPr lang="en-US" b="1" dirty="0">
                <a:solidFill>
                  <a:srgbClr val="C0504D"/>
                </a:solidFill>
              </a:rPr>
              <a:t> </a:t>
            </a:r>
            <a:r>
              <a:rPr lang="en-US" b="1" dirty="0" err="1">
                <a:solidFill>
                  <a:srgbClr val="C0504D"/>
                </a:solidFill>
              </a:rPr>
              <a:t>inversa</a:t>
            </a:r>
            <a:r>
              <a:rPr lang="en-US" b="1" dirty="0">
                <a:solidFill>
                  <a:srgbClr val="C0504D"/>
                </a:solidFill>
              </a:rPr>
              <a:t> </a:t>
            </a:r>
            <a:r>
              <a:rPr lang="en-US" b="1" dirty="0" err="1">
                <a:solidFill>
                  <a:srgbClr val="C0504D"/>
                </a:solidFill>
              </a:rPr>
              <a:t>che</a:t>
            </a:r>
            <a:r>
              <a:rPr lang="en-US" b="1" dirty="0">
                <a:solidFill>
                  <a:srgbClr val="C0504D"/>
                </a:solidFill>
              </a:rPr>
              <a:t> </a:t>
            </a:r>
            <a:r>
              <a:rPr lang="en-US" b="1" dirty="0" err="1">
                <a:solidFill>
                  <a:srgbClr val="C0504D"/>
                </a:solidFill>
              </a:rPr>
              <a:t>implementa</a:t>
            </a:r>
            <a:r>
              <a:rPr lang="en-US" b="1" dirty="0">
                <a:solidFill>
                  <a:srgbClr val="C0504D"/>
                </a:solidFill>
              </a:rPr>
              <a:t> </a:t>
            </a:r>
            <a:r>
              <a:rPr lang="en-US" b="1" dirty="0" err="1">
                <a:solidFill>
                  <a:srgbClr val="C0504D"/>
                </a:solidFill>
              </a:rPr>
              <a:t>l'associazione</a:t>
            </a:r>
            <a:r>
              <a:rPr lang="en-US" b="1" dirty="0">
                <a:solidFill>
                  <a:srgbClr val="C0504D"/>
                </a:solidFill>
              </a:rPr>
              <a:t>")</a:t>
            </a:r>
          </a:p>
        </p:txBody>
      </p:sp>
    </p:spTree>
    <p:extLst>
      <p:ext uri="{BB962C8B-B14F-4D97-AF65-F5344CB8AC3E}">
        <p14:creationId xmlns:p14="http://schemas.microsoft.com/office/powerpoint/2010/main" val="214133202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Esempio</a:t>
            </a:r>
            <a:r>
              <a:rPr lang="en-US"/>
              <a:t> (cont.)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Parte</a:t>
            </a:r>
            <a:r>
              <a:rPr lang="en-US" dirty="0"/>
              <a:t> </a:t>
            </a:r>
            <a:r>
              <a:rPr lang="en-US" dirty="0" err="1"/>
              <a:t>proprietaria</a:t>
            </a:r>
            <a:r>
              <a:rPr lang="en-US" dirty="0"/>
              <a:t>: Order</a:t>
            </a:r>
          </a:p>
          <a:p>
            <a:r>
              <a:rPr lang="en-US" dirty="0" err="1"/>
              <a:t>Parte</a:t>
            </a:r>
            <a:r>
              <a:rPr lang="en-US" dirty="0"/>
              <a:t> </a:t>
            </a:r>
            <a:r>
              <a:rPr lang="en-US" dirty="0" err="1"/>
              <a:t>inversa</a:t>
            </a:r>
            <a:r>
              <a:rPr lang="en-US" dirty="0"/>
              <a:t>: Customer </a:t>
            </a:r>
          </a:p>
          <a:p>
            <a:r>
              <a:rPr lang="en-US" dirty="0" err="1"/>
              <a:t>Quindi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nella</a:t>
            </a:r>
            <a:r>
              <a:rPr lang="en-US" dirty="0"/>
              <a:t> </a:t>
            </a:r>
            <a:r>
              <a:rPr lang="en-US" dirty="0" err="1"/>
              <a:t>classe</a:t>
            </a:r>
            <a:r>
              <a:rPr lang="en-US" dirty="0"/>
              <a:t> Order</a:t>
            </a:r>
            <a:br>
              <a:rPr lang="en-US" dirty="0"/>
            </a:br>
            <a:r>
              <a:rPr lang="en-US" b="1" dirty="0"/>
              <a:t>@</a:t>
            </a:r>
            <a:r>
              <a:rPr lang="en-US" b="1" dirty="0" err="1"/>
              <a:t>ManyToOne</a:t>
            </a:r>
            <a:br>
              <a:rPr lang="en-US" b="1" dirty="0"/>
            </a:br>
            <a:r>
              <a:rPr lang="en-US" b="1" dirty="0"/>
              <a:t>private Customer customer;</a:t>
            </a:r>
            <a:endParaRPr lang="en-US" dirty="0"/>
          </a:p>
          <a:p>
            <a:pPr lvl="1"/>
            <a:r>
              <a:rPr lang="en-US" dirty="0" err="1"/>
              <a:t>nella</a:t>
            </a:r>
            <a:r>
              <a:rPr lang="en-US" dirty="0"/>
              <a:t> </a:t>
            </a:r>
            <a:r>
              <a:rPr lang="en-US" dirty="0" err="1"/>
              <a:t>classe</a:t>
            </a:r>
            <a:r>
              <a:rPr lang="en-US" dirty="0"/>
              <a:t> Customer</a:t>
            </a:r>
            <a:br>
              <a:rPr lang="en-US" dirty="0"/>
            </a:br>
            <a:r>
              <a:rPr lang="en-US" b="1" dirty="0"/>
              <a:t>@</a:t>
            </a:r>
            <a:r>
              <a:rPr lang="en-US" b="1" dirty="0" err="1"/>
              <a:t>OneToMany</a:t>
            </a:r>
            <a:r>
              <a:rPr lang="en-US" b="1" dirty="0"/>
              <a:t>(</a:t>
            </a:r>
            <a:r>
              <a:rPr lang="en-US" b="1" dirty="0" err="1"/>
              <a:t>mappedBy</a:t>
            </a:r>
            <a:r>
              <a:rPr lang="en-US" b="1" dirty="0"/>
              <a:t> = "customer")</a:t>
            </a:r>
            <a:br>
              <a:rPr lang="en-US" b="1" dirty="0"/>
            </a:br>
            <a:r>
              <a:rPr lang="en-US" b="1" dirty="0"/>
              <a:t>private List&lt;Order&gt; orders;</a:t>
            </a:r>
          </a:p>
        </p:txBody>
      </p:sp>
      <p:sp>
        <p:nvSpPr>
          <p:cNvPr id="4" name="Freccia bidirezionale orizzontale 3"/>
          <p:cNvSpPr/>
          <p:nvPr/>
        </p:nvSpPr>
        <p:spPr>
          <a:xfrm rot="1607096">
            <a:off x="3737574" y="3666980"/>
            <a:ext cx="1127286" cy="175009"/>
          </a:xfrm>
          <a:prstGeom prst="left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350" dirty="0">
              <a:latin typeface="Calibri Light" panose="020F0302020204030204" pitchFamily="34" charset="0"/>
            </a:endParaRPr>
          </a:p>
        </p:txBody>
      </p:sp>
      <p:graphicFrame>
        <p:nvGraphicFramePr>
          <p:cNvPr id="5" name="Segnaposto contenuto 5">
            <a:extLst>
              <a:ext uri="{FF2B5EF4-FFF2-40B4-BE49-F238E27FC236}">
                <a16:creationId xmlns:a16="http://schemas.microsoft.com/office/drawing/2014/main" id="{3DFD737C-6B46-5E45-8994-1B1E1A6FCD3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84565369"/>
              </p:ext>
            </p:extLst>
          </p:nvPr>
        </p:nvGraphicFramePr>
        <p:xfrm>
          <a:off x="4947020" y="1819449"/>
          <a:ext cx="1164968" cy="10233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49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5151">
                <a:tc>
                  <a:txBody>
                    <a:bodyPr/>
                    <a:lstStyle/>
                    <a:p>
                      <a:pPr algn="ctr"/>
                      <a:r>
                        <a:rPr lang="it-IT" sz="1400" b="0" i="0" dirty="0">
                          <a:latin typeface="Calibri Light" panose="020F0302020204030204" pitchFamily="34" charset="0"/>
                        </a:rPr>
                        <a:t>Customer</a:t>
                      </a:r>
                      <a:endParaRPr lang="it-IT" sz="8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8655">
                <a:tc>
                  <a:txBody>
                    <a:bodyPr/>
                    <a:lstStyle/>
                    <a:p>
                      <a:r>
                        <a:rPr lang="it-IT" sz="800" b="0" i="0" dirty="0">
                          <a:latin typeface="Calibri Light" panose="020F0302020204030204" pitchFamily="34" charset="0"/>
                        </a:rPr>
                        <a:t>-id: Long</a:t>
                      </a:r>
                    </a:p>
                    <a:p>
                      <a:r>
                        <a:rPr lang="it-IT" sz="800" dirty="0"/>
                        <a:t>-</a:t>
                      </a:r>
                      <a:r>
                        <a:rPr lang="it-IT" sz="800" dirty="0" err="1"/>
                        <a:t>firstName</a:t>
                      </a:r>
                      <a:r>
                        <a:rPr lang="it-IT" sz="800" dirty="0"/>
                        <a:t>:</a:t>
                      </a:r>
                      <a:r>
                        <a:rPr lang="it-IT" sz="800" baseline="0" dirty="0"/>
                        <a:t> </a:t>
                      </a:r>
                      <a:r>
                        <a:rPr lang="it-IT" sz="800" baseline="0" dirty="0" err="1"/>
                        <a:t>String</a:t>
                      </a:r>
                      <a:endParaRPr lang="it-IT" sz="800" baseline="0" dirty="0"/>
                    </a:p>
                    <a:p>
                      <a:r>
                        <a:rPr lang="it-IT" sz="800" baseline="0" dirty="0"/>
                        <a:t>-</a:t>
                      </a:r>
                      <a:r>
                        <a:rPr lang="it-IT" sz="800" baseline="0" dirty="0" err="1"/>
                        <a:t>lastName</a:t>
                      </a:r>
                      <a:r>
                        <a:rPr lang="it-IT" sz="800" baseline="0" dirty="0"/>
                        <a:t>: </a:t>
                      </a:r>
                      <a:r>
                        <a:rPr lang="it-IT" sz="800" baseline="0" dirty="0" err="1"/>
                        <a:t>String</a:t>
                      </a:r>
                      <a:endParaRPr lang="it-IT" sz="800" baseline="0" dirty="0"/>
                    </a:p>
                    <a:p>
                      <a:r>
                        <a:rPr lang="it-IT" sz="800" baseline="0" dirty="0"/>
                        <a:t>-email: </a:t>
                      </a:r>
                      <a:r>
                        <a:rPr lang="it-IT" sz="800" baseline="0" dirty="0" err="1"/>
                        <a:t>String</a:t>
                      </a:r>
                      <a:endParaRPr lang="it-IT" sz="800" baseline="0" dirty="0"/>
                    </a:p>
                    <a:p>
                      <a:r>
                        <a:rPr lang="it-IT" sz="800" baseline="0" dirty="0"/>
                        <a:t>-</a:t>
                      </a:r>
                      <a:r>
                        <a:rPr lang="it-IT" sz="800" baseline="0" dirty="0" err="1"/>
                        <a:t>dateOfBirth</a:t>
                      </a:r>
                      <a:r>
                        <a:rPr lang="it-IT" sz="800" baseline="0" dirty="0"/>
                        <a:t>: </a:t>
                      </a:r>
                      <a:r>
                        <a:rPr lang="it-IT" sz="800" baseline="0" dirty="0" err="1"/>
                        <a:t>String</a:t>
                      </a:r>
                      <a:endParaRPr lang="it-IT" sz="8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Segnaposto contenuto 5">
            <a:extLst>
              <a:ext uri="{FF2B5EF4-FFF2-40B4-BE49-F238E27FC236}">
                <a16:creationId xmlns:a16="http://schemas.microsoft.com/office/drawing/2014/main" id="{1ECB0FAD-0F09-754F-9921-E6EE32C37AA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48217624"/>
              </p:ext>
            </p:extLst>
          </p:nvPr>
        </p:nvGraphicFramePr>
        <p:xfrm>
          <a:off x="6744429" y="2000424"/>
          <a:ext cx="1164968" cy="6575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49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5151">
                <a:tc>
                  <a:txBody>
                    <a:bodyPr/>
                    <a:lstStyle/>
                    <a:p>
                      <a:pPr algn="ctr"/>
                      <a:r>
                        <a:rPr lang="it-IT" sz="1400" b="0" i="0" dirty="0">
                          <a:latin typeface="Calibri Light" panose="020F0302020204030204" pitchFamily="34" charset="0"/>
                        </a:rPr>
                        <a:t>Order</a:t>
                      </a:r>
                      <a:endParaRPr lang="it-IT" sz="8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r>
                        <a:rPr lang="it-IT" sz="800" b="0" i="0" dirty="0">
                          <a:latin typeface="Calibri Light" panose="020F0302020204030204" pitchFamily="34" charset="0"/>
                        </a:rPr>
                        <a:t>-id: Long</a:t>
                      </a:r>
                    </a:p>
                    <a:p>
                      <a:r>
                        <a:rPr lang="it-IT" sz="800" dirty="0"/>
                        <a:t>-</a:t>
                      </a:r>
                      <a:r>
                        <a:rPr lang="it-IT" sz="800" dirty="0" err="1"/>
                        <a:t>creationTime</a:t>
                      </a:r>
                      <a:r>
                        <a:rPr lang="it-IT" sz="800" dirty="0"/>
                        <a:t>: </a:t>
                      </a:r>
                      <a:r>
                        <a:rPr lang="it-IT" sz="800" dirty="0" err="1"/>
                        <a:t>String</a:t>
                      </a:r>
                      <a:endParaRPr lang="it-IT" sz="8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3AD5CA61-5A44-AF48-A783-70FC53292AB4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6111988" y="2329209"/>
            <a:ext cx="632441" cy="1905"/>
          </a:xfrm>
          <a:prstGeom prst="straightConnector1">
            <a:avLst/>
          </a:prstGeom>
          <a:ln w="12700" cmpd="sng">
            <a:solidFill>
              <a:srgbClr val="000000"/>
            </a:solidFill>
            <a:prstDash val="solid"/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61A92A19-123D-0E45-92F7-E1A17FB04B62}"/>
              </a:ext>
            </a:extLst>
          </p:cNvPr>
          <p:cNvSpPr txBox="1"/>
          <p:nvPr/>
        </p:nvSpPr>
        <p:spPr>
          <a:xfrm>
            <a:off x="6437388" y="2120531"/>
            <a:ext cx="38824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050" dirty="0">
                <a:latin typeface="Calibri Light" panose="020F0302020204030204" pitchFamily="34" charset="0"/>
              </a:rPr>
              <a:t>0..*</a:t>
            </a:r>
          </a:p>
        </p:txBody>
      </p:sp>
    </p:spTree>
    <p:extLst>
      <p:ext uri="{BB962C8B-B14F-4D97-AF65-F5344CB8AC3E}">
        <p14:creationId xmlns:p14="http://schemas.microsoft.com/office/powerpoint/2010/main" val="94004742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Esempio</a:t>
            </a:r>
            <a:r>
              <a:rPr lang="en-US" dirty="0"/>
              <a:t> (cont.)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748576" y="952696"/>
            <a:ext cx="4405470" cy="4190803"/>
          </a:xfrm>
        </p:spPr>
        <p:txBody>
          <a:bodyPr vert="horz" lIns="68580" tIns="34290" rIns="68580" bIns="34290" rtlCol="0" anchor="t">
            <a:normAutofit/>
          </a:bodyPr>
          <a:lstStyle/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+import </a:t>
            </a:r>
            <a:r>
              <a:rPr lang="en-US" sz="1400" dirty="0" err="1"/>
              <a:t>javax.persistence.Entity</a:t>
            </a:r>
            <a:r>
              <a:rPr lang="en-US" sz="1400" dirty="0"/>
              <a:t>;[…]</a:t>
            </a:r>
            <a:endParaRPr lang="en-US" sz="36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@Entity</a:t>
            </a:r>
            <a:endParaRPr lang="en-US" sz="3600" dirty="0"/>
          </a:p>
          <a:p>
            <a:pPr marL="0" indent="0">
              <a:buNone/>
            </a:pPr>
            <a:r>
              <a:rPr lang="en-US" sz="1400" dirty="0"/>
              <a:t>@Table(name = "orders")</a:t>
            </a:r>
            <a:endParaRPr lang="en-US" sz="3600" dirty="0"/>
          </a:p>
          <a:p>
            <a:pPr marL="0" indent="0">
              <a:buNone/>
            </a:pPr>
            <a:r>
              <a:rPr lang="en-US" sz="1400" dirty="0"/>
              <a:t>public class </a:t>
            </a:r>
            <a:r>
              <a:rPr lang="en-US" sz="1400" b="1" dirty="0"/>
              <a:t>Order</a:t>
            </a:r>
            <a:r>
              <a:rPr lang="en-US" sz="1400" dirty="0"/>
              <a:t> {</a:t>
            </a:r>
            <a:endParaRPr lang="en-US" sz="3600" dirty="0"/>
          </a:p>
          <a:p>
            <a:pPr marL="0" indent="0">
              <a:buNone/>
            </a:pPr>
            <a:r>
              <a:rPr lang="en-US" sz="1400" dirty="0"/>
              <a:t>	</a:t>
            </a:r>
            <a:endParaRPr lang="en-US" sz="3600" dirty="0"/>
          </a:p>
          <a:p>
            <a:pPr marL="0" indent="0">
              <a:buNone/>
            </a:pPr>
            <a:r>
              <a:rPr lang="en-US" sz="1400" dirty="0"/>
              <a:t>    @Id </a:t>
            </a:r>
            <a:endParaRPr lang="en-US" sz="3600" dirty="0"/>
          </a:p>
          <a:p>
            <a:pPr marL="0" indent="0">
              <a:buNone/>
            </a:pPr>
            <a:r>
              <a:rPr lang="en-US" sz="1400" dirty="0"/>
              <a:t>    @</a:t>
            </a:r>
            <a:r>
              <a:rPr lang="en-US" sz="1400" dirty="0" err="1"/>
              <a:t>GeneratedValue</a:t>
            </a:r>
            <a:r>
              <a:rPr lang="en-US" sz="1400" dirty="0"/>
              <a:t>(strategy = </a:t>
            </a:r>
            <a:r>
              <a:rPr lang="en-US" sz="1400" dirty="0" err="1"/>
              <a:t>GenerationType.</a:t>
            </a:r>
            <a:r>
              <a:rPr lang="en-US" sz="1400" i="1" dirty="0" err="1"/>
              <a:t>AUTO</a:t>
            </a:r>
            <a:r>
              <a:rPr lang="en-US" sz="1400" i="1" dirty="0"/>
              <a:t>)</a:t>
            </a:r>
            <a:endParaRPr lang="en-US" sz="3600" dirty="0"/>
          </a:p>
          <a:p>
            <a:pPr marL="0" indent="0">
              <a:buNone/>
            </a:pPr>
            <a:r>
              <a:rPr lang="en-US" sz="1400" dirty="0"/>
              <a:t>    private Long id;	</a:t>
            </a:r>
            <a:endParaRPr lang="en-US" sz="3600" dirty="0"/>
          </a:p>
          <a:p>
            <a:pPr marL="0" indent="0">
              <a:buNone/>
            </a:pPr>
            <a:r>
              <a:rPr lang="en-US" sz="1400" dirty="0"/>
              <a:t>    @Column(nullable = false)</a:t>
            </a:r>
            <a:endParaRPr lang="en-US" sz="3600" dirty="0"/>
          </a:p>
          <a:p>
            <a:pPr marL="0" indent="0">
              <a:buNone/>
            </a:pPr>
            <a:r>
              <a:rPr lang="en-US" sz="1400" dirty="0"/>
              <a:t>    private </a:t>
            </a:r>
            <a:r>
              <a:rPr lang="en-US" sz="1400" dirty="0" err="1"/>
              <a:t>LocalDateTime</a:t>
            </a:r>
            <a:r>
              <a:rPr lang="en-US" sz="1400" dirty="0"/>
              <a:t> </a:t>
            </a:r>
            <a:r>
              <a:rPr lang="en-US" sz="1400" dirty="0" err="1"/>
              <a:t>creationTime</a:t>
            </a:r>
            <a:r>
              <a:rPr lang="en-US" sz="1400" dirty="0"/>
              <a:t>;</a:t>
            </a:r>
            <a:endParaRPr lang="en-US" sz="3600" dirty="0"/>
          </a:p>
          <a:p>
            <a:pPr marL="0" indent="0">
              <a:buNone/>
            </a:pPr>
            <a:r>
              <a:rPr lang="en-US" sz="1400" b="1" dirty="0"/>
              <a:t>   </a:t>
            </a:r>
            <a:r>
              <a:rPr lang="en-US" sz="1400" b="1" dirty="0">
                <a:solidFill>
                  <a:srgbClr val="C0504D"/>
                </a:solidFill>
              </a:rPr>
              <a:t> @</a:t>
            </a:r>
            <a:r>
              <a:rPr lang="en-US" sz="1400" b="1" dirty="0" err="1">
                <a:solidFill>
                  <a:srgbClr val="C0504D"/>
                </a:solidFill>
              </a:rPr>
              <a:t>ManyToOne</a:t>
            </a:r>
            <a:endParaRPr lang="en-US" sz="1400" b="1" dirty="0">
              <a:solidFill>
                <a:srgbClr val="C0504D"/>
              </a:solidFill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C0504D"/>
                </a:solidFill>
              </a:rPr>
              <a:t>    private Customer customer;</a:t>
            </a:r>
            <a:endParaRPr lang="en-US" sz="3600" dirty="0"/>
          </a:p>
          <a:p>
            <a:pPr marL="0" indent="0">
              <a:buNone/>
            </a:pPr>
            <a:r>
              <a:rPr lang="en-US" sz="1400" dirty="0"/>
              <a:t>…</a:t>
            </a:r>
            <a:endParaRPr lang="en-US" sz="3600" dirty="0"/>
          </a:p>
          <a:p>
            <a:pPr marL="0" indent="0">
              <a:buNone/>
            </a:pPr>
            <a:r>
              <a:rPr lang="en-US" sz="1400" dirty="0"/>
              <a:t>}</a:t>
            </a:r>
            <a:endParaRPr lang="it-IT" sz="3600" dirty="0"/>
          </a:p>
        </p:txBody>
      </p:sp>
      <p:sp>
        <p:nvSpPr>
          <p:cNvPr id="4" name="CasellaDiTesto 3"/>
          <p:cNvSpPr txBox="1"/>
          <p:nvPr/>
        </p:nvSpPr>
        <p:spPr>
          <a:xfrm>
            <a:off x="147463" y="205979"/>
            <a:ext cx="4685794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dirty="0">
              <a:latin typeface="Calibri Light" panose="020F0302020204030204" pitchFamily="34" charset="0"/>
            </a:endParaRPr>
          </a:p>
          <a:p>
            <a:r>
              <a:rPr lang="en-US" sz="1400" dirty="0">
                <a:latin typeface="Calibri Light" panose="020F0302020204030204" pitchFamily="34" charset="0"/>
              </a:rPr>
              <a:t>+import </a:t>
            </a:r>
            <a:r>
              <a:rPr lang="en-US" sz="1400" dirty="0" err="1">
                <a:latin typeface="Calibri Light" panose="020F0302020204030204" pitchFamily="34" charset="0"/>
              </a:rPr>
              <a:t>javax.persistence.Entity</a:t>
            </a:r>
            <a:r>
              <a:rPr lang="en-US" sz="1400" dirty="0">
                <a:latin typeface="Calibri Light" panose="020F0302020204030204" pitchFamily="34" charset="0"/>
              </a:rPr>
              <a:t>;[…]</a:t>
            </a:r>
          </a:p>
          <a:p>
            <a:endParaRPr lang="en-US" sz="1400" dirty="0">
              <a:latin typeface="Calibri Light" panose="020F0302020204030204" pitchFamily="34" charset="0"/>
            </a:endParaRPr>
          </a:p>
          <a:p>
            <a:r>
              <a:rPr lang="en-US" sz="1400" dirty="0">
                <a:latin typeface="Calibri Light" panose="020F0302020204030204" pitchFamily="34" charset="0"/>
              </a:rPr>
              <a:t>@Entity</a:t>
            </a:r>
          </a:p>
          <a:p>
            <a:r>
              <a:rPr lang="en-US" sz="1400" dirty="0">
                <a:latin typeface="Calibri Light" panose="020F0302020204030204" pitchFamily="34" charset="0"/>
              </a:rPr>
              <a:t>public class Customer {</a:t>
            </a:r>
          </a:p>
          <a:p>
            <a:endParaRPr lang="en-US" sz="1400" dirty="0">
              <a:latin typeface="Calibri Light" panose="020F0302020204030204" pitchFamily="34" charset="0"/>
            </a:endParaRPr>
          </a:p>
          <a:p>
            <a:r>
              <a:rPr lang="en-US" sz="1400" dirty="0">
                <a:latin typeface="Calibri Light" panose="020F0302020204030204" pitchFamily="34" charset="0"/>
              </a:rPr>
              <a:t>    @Id</a:t>
            </a:r>
          </a:p>
          <a:p>
            <a:r>
              <a:rPr lang="en-US" sz="1400" dirty="0">
                <a:latin typeface="Calibri Light" panose="020F0302020204030204" pitchFamily="34" charset="0"/>
              </a:rPr>
              <a:t>    @</a:t>
            </a:r>
            <a:r>
              <a:rPr lang="en-US" sz="1400" dirty="0" err="1">
                <a:latin typeface="Calibri Light" panose="020F0302020204030204" pitchFamily="34" charset="0"/>
              </a:rPr>
              <a:t>GeneratedValue</a:t>
            </a:r>
            <a:r>
              <a:rPr lang="en-US" sz="1400" dirty="0">
                <a:latin typeface="Calibri Light" panose="020F0302020204030204" pitchFamily="34" charset="0"/>
              </a:rPr>
              <a:t>(strategy = </a:t>
            </a:r>
            <a:r>
              <a:rPr lang="en-US" sz="1400" dirty="0" err="1">
                <a:latin typeface="Calibri Light" panose="020F0302020204030204" pitchFamily="34" charset="0"/>
              </a:rPr>
              <a:t>GenerationType.AUTO</a:t>
            </a:r>
            <a:r>
              <a:rPr lang="en-US" sz="1400" dirty="0">
                <a:latin typeface="Calibri Light" panose="020F0302020204030204" pitchFamily="34" charset="0"/>
              </a:rPr>
              <a:t>)</a:t>
            </a:r>
          </a:p>
          <a:p>
            <a:r>
              <a:rPr lang="en-US" sz="1400" dirty="0">
                <a:latin typeface="Calibri Light" panose="020F0302020204030204" pitchFamily="34" charset="0"/>
              </a:rPr>
              <a:t>    private Long id;</a:t>
            </a:r>
          </a:p>
          <a:p>
            <a:r>
              <a:rPr lang="en-US" sz="1400" dirty="0">
                <a:latin typeface="Calibri Light" panose="020F0302020204030204" pitchFamily="34" charset="0"/>
              </a:rPr>
              <a:t>    @Column(nullable = false)</a:t>
            </a:r>
          </a:p>
          <a:p>
            <a:r>
              <a:rPr lang="en-US" sz="1400" dirty="0">
                <a:latin typeface="Calibri Light" panose="020F0302020204030204" pitchFamily="34" charset="0"/>
              </a:rPr>
              <a:t>    private String </a:t>
            </a:r>
            <a:r>
              <a:rPr lang="en-US" sz="1400" dirty="0" err="1">
                <a:latin typeface="Calibri Light" panose="020F0302020204030204" pitchFamily="34" charset="0"/>
              </a:rPr>
              <a:t>firstName</a:t>
            </a:r>
            <a:r>
              <a:rPr lang="en-US" sz="1400" dirty="0">
                <a:latin typeface="Calibri Light" panose="020F0302020204030204" pitchFamily="34" charset="0"/>
              </a:rPr>
              <a:t>;</a:t>
            </a:r>
          </a:p>
          <a:p>
            <a:r>
              <a:rPr lang="en-US" sz="1400" dirty="0">
                <a:latin typeface="Calibri Light" panose="020F0302020204030204" pitchFamily="34" charset="0"/>
              </a:rPr>
              <a:t>    @Column(nullable = false)</a:t>
            </a:r>
          </a:p>
          <a:p>
            <a:r>
              <a:rPr lang="en-US" sz="1400" dirty="0">
                <a:latin typeface="Calibri Light" panose="020F0302020204030204" pitchFamily="34" charset="0"/>
              </a:rPr>
              <a:t>    private String </a:t>
            </a:r>
            <a:r>
              <a:rPr lang="en-US" sz="1400" dirty="0" err="1">
                <a:latin typeface="Calibri Light" panose="020F0302020204030204" pitchFamily="34" charset="0"/>
              </a:rPr>
              <a:t>lastName</a:t>
            </a:r>
            <a:r>
              <a:rPr lang="en-US" sz="1400" dirty="0">
                <a:latin typeface="Calibri Light" panose="020F0302020204030204" pitchFamily="34" charset="0"/>
              </a:rPr>
              <a:t>;</a:t>
            </a:r>
          </a:p>
          <a:p>
            <a:r>
              <a:rPr lang="en-US" sz="1400" dirty="0">
                <a:latin typeface="Calibri Light" panose="020F0302020204030204" pitchFamily="34" charset="0"/>
              </a:rPr>
              <a:t>    private String email;</a:t>
            </a:r>
          </a:p>
          <a:p>
            <a:r>
              <a:rPr lang="en-US" sz="1400" dirty="0">
                <a:latin typeface="Calibri Light" panose="020F0302020204030204" pitchFamily="34" charset="0"/>
              </a:rPr>
              <a:t>    private </a:t>
            </a:r>
            <a:r>
              <a:rPr lang="en-US" sz="1400" dirty="0" err="1">
                <a:latin typeface="Calibri Light" panose="020F0302020204030204" pitchFamily="34" charset="0"/>
              </a:rPr>
              <a:t>LocalDate</a:t>
            </a:r>
            <a:r>
              <a:rPr lang="en-US" sz="1400" dirty="0">
                <a:latin typeface="Calibri Light" panose="020F0302020204030204" pitchFamily="34" charset="0"/>
              </a:rPr>
              <a:t> </a:t>
            </a:r>
            <a:r>
              <a:rPr lang="en-US" sz="1400" dirty="0" err="1">
                <a:latin typeface="Calibri Light" panose="020F0302020204030204" pitchFamily="34" charset="0"/>
              </a:rPr>
              <a:t>dateOfBirth</a:t>
            </a:r>
            <a:r>
              <a:rPr lang="en-US" sz="1400" dirty="0">
                <a:latin typeface="Calibri Light" panose="020F0302020204030204" pitchFamily="34" charset="0"/>
              </a:rPr>
              <a:t>;</a:t>
            </a:r>
          </a:p>
          <a:p>
            <a:r>
              <a:rPr lang="en-US" sz="1400" dirty="0">
                <a:latin typeface="Calibri Light" panose="020F0302020204030204" pitchFamily="34" charset="0"/>
              </a:rPr>
              <a:t>    @</a:t>
            </a:r>
            <a:r>
              <a:rPr lang="en-US" sz="1400" dirty="0" err="1">
                <a:latin typeface="Calibri Light" panose="020F0302020204030204" pitchFamily="34" charset="0"/>
              </a:rPr>
              <a:t>OneToOne</a:t>
            </a:r>
            <a:endParaRPr lang="en-US" sz="1400" dirty="0">
              <a:latin typeface="Calibri Light" panose="020F0302020204030204" pitchFamily="34" charset="0"/>
            </a:endParaRPr>
          </a:p>
          <a:p>
            <a:r>
              <a:rPr lang="en-US" sz="1400" dirty="0">
                <a:latin typeface="Calibri Light" panose="020F0302020204030204" pitchFamily="34" charset="0"/>
              </a:rPr>
              <a:t>    private Address address;</a:t>
            </a:r>
          </a:p>
          <a:p>
            <a:r>
              <a:rPr lang="en-US" sz="1400" dirty="0">
                <a:solidFill>
                  <a:srgbClr val="C0504D"/>
                </a:solidFill>
                <a:latin typeface="Calibri Light" panose="020F0302020204030204" pitchFamily="34" charset="0"/>
              </a:rPr>
              <a:t>    @</a:t>
            </a:r>
            <a:r>
              <a:rPr lang="en-US" sz="1400" dirty="0" err="1">
                <a:solidFill>
                  <a:srgbClr val="C0504D"/>
                </a:solidFill>
                <a:latin typeface="Calibri Light" panose="020F0302020204030204" pitchFamily="34" charset="0"/>
              </a:rPr>
              <a:t>OneToMany</a:t>
            </a:r>
            <a:r>
              <a:rPr lang="en-US" sz="1400" dirty="0">
                <a:solidFill>
                  <a:srgbClr val="C0504D"/>
                </a:solidFill>
                <a:latin typeface="Calibri Light" panose="020F0302020204030204" pitchFamily="34" charset="0"/>
              </a:rPr>
              <a:t>(</a:t>
            </a:r>
            <a:r>
              <a:rPr lang="en-US" sz="1400" dirty="0" err="1">
                <a:solidFill>
                  <a:srgbClr val="C0504D"/>
                </a:solidFill>
                <a:latin typeface="Calibri Light" panose="020F0302020204030204" pitchFamily="34" charset="0"/>
              </a:rPr>
              <a:t>mappedBy</a:t>
            </a:r>
            <a:r>
              <a:rPr lang="en-US" sz="1400" dirty="0">
                <a:solidFill>
                  <a:srgbClr val="C0504D"/>
                </a:solidFill>
                <a:latin typeface="Calibri Light" panose="020F0302020204030204" pitchFamily="34" charset="0"/>
              </a:rPr>
              <a:t> = "customer")</a:t>
            </a:r>
          </a:p>
          <a:p>
            <a:r>
              <a:rPr lang="en-US" sz="1400" dirty="0">
                <a:solidFill>
                  <a:srgbClr val="C0504D"/>
                </a:solidFill>
                <a:latin typeface="Calibri Light" panose="020F0302020204030204" pitchFamily="34" charset="0"/>
              </a:rPr>
              <a:t>    private List&lt;Order&gt; orders;</a:t>
            </a:r>
          </a:p>
          <a:p>
            <a:r>
              <a:rPr lang="en-US" sz="1400" dirty="0">
                <a:latin typeface="Calibri Light" panose="020F0302020204030204" pitchFamily="34" charset="0"/>
              </a:rPr>
              <a:t>…</a:t>
            </a:r>
          </a:p>
          <a:p>
            <a:r>
              <a:rPr lang="en-US" sz="1400" dirty="0">
                <a:latin typeface="Calibri Light" panose="020F030202020403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6899559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Esempio</a:t>
            </a:r>
            <a:r>
              <a:rPr lang="en-US" dirty="0"/>
              <a:t> (cont.)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800600" y="1313453"/>
            <a:ext cx="4219575" cy="339447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/>
              <a:t>+import </a:t>
            </a:r>
            <a:r>
              <a:rPr lang="en-US" sz="1050" dirty="0" err="1"/>
              <a:t>javax.persistence.Entity</a:t>
            </a:r>
            <a:r>
              <a:rPr lang="en-US" sz="1050" dirty="0"/>
              <a:t>;[…]</a:t>
            </a:r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/>
              <a:t>@Entity</a:t>
            </a:r>
          </a:p>
          <a:p>
            <a:pPr marL="0" indent="0">
              <a:buNone/>
            </a:pPr>
            <a:r>
              <a:rPr lang="en-US" sz="1050" dirty="0"/>
              <a:t>@Table(name = "orders")</a:t>
            </a:r>
          </a:p>
          <a:p>
            <a:pPr marL="0" indent="0">
              <a:buNone/>
            </a:pPr>
            <a:r>
              <a:rPr lang="en-US" sz="1050" dirty="0"/>
              <a:t>public class </a:t>
            </a:r>
            <a:r>
              <a:rPr lang="en-US" sz="1050" b="1" dirty="0"/>
              <a:t>Order</a:t>
            </a:r>
            <a:r>
              <a:rPr lang="en-US" sz="1050" dirty="0"/>
              <a:t> {</a:t>
            </a:r>
          </a:p>
          <a:p>
            <a:pPr marL="0" indent="0">
              <a:buNone/>
            </a:pPr>
            <a:r>
              <a:rPr lang="en-US" sz="1050" dirty="0"/>
              <a:t>	</a:t>
            </a:r>
          </a:p>
          <a:p>
            <a:pPr marL="0" indent="0">
              <a:buNone/>
            </a:pPr>
            <a:r>
              <a:rPr lang="en-US" sz="1050" dirty="0"/>
              <a:t>    @Id </a:t>
            </a:r>
          </a:p>
          <a:p>
            <a:pPr marL="0" indent="0">
              <a:buNone/>
            </a:pPr>
            <a:r>
              <a:rPr lang="en-US" sz="1050" dirty="0"/>
              <a:t>    @</a:t>
            </a:r>
            <a:r>
              <a:rPr lang="en-US" sz="1050" dirty="0" err="1"/>
              <a:t>GeneratedValue</a:t>
            </a:r>
            <a:r>
              <a:rPr lang="en-US" sz="1050" dirty="0"/>
              <a:t>(strategy = </a:t>
            </a:r>
            <a:r>
              <a:rPr lang="en-US" sz="1050" dirty="0" err="1"/>
              <a:t>GenerationType.</a:t>
            </a:r>
            <a:r>
              <a:rPr lang="en-US" sz="1050" i="1" dirty="0" err="1"/>
              <a:t>AUTO</a:t>
            </a:r>
            <a:r>
              <a:rPr lang="en-US" sz="1050" i="1" dirty="0"/>
              <a:t>)</a:t>
            </a:r>
          </a:p>
          <a:p>
            <a:pPr marL="0" indent="0">
              <a:buNone/>
            </a:pPr>
            <a:r>
              <a:rPr lang="en-US" sz="1050" dirty="0"/>
              <a:t>    private Long id;	</a:t>
            </a:r>
          </a:p>
          <a:p>
            <a:pPr marL="0" indent="0">
              <a:buNone/>
            </a:pPr>
            <a:r>
              <a:rPr lang="en-US" sz="1050" dirty="0"/>
              <a:t>    @Column(nullable = false)</a:t>
            </a:r>
          </a:p>
          <a:p>
            <a:pPr marL="0" indent="0">
              <a:buNone/>
            </a:pPr>
            <a:r>
              <a:rPr lang="en-US" sz="1050" dirty="0"/>
              <a:t>    private </a:t>
            </a:r>
            <a:r>
              <a:rPr lang="en-US" sz="1050" dirty="0" err="1"/>
              <a:t>LocalDateTime</a:t>
            </a:r>
            <a:r>
              <a:rPr lang="en-US" sz="1050" dirty="0"/>
              <a:t> </a:t>
            </a:r>
            <a:r>
              <a:rPr lang="en-US" sz="1050" dirty="0" err="1"/>
              <a:t>creationTime</a:t>
            </a:r>
            <a:r>
              <a:rPr lang="en-US" sz="1050" dirty="0"/>
              <a:t>;</a:t>
            </a:r>
          </a:p>
          <a:p>
            <a:pPr marL="0" indent="0">
              <a:buNone/>
            </a:pPr>
            <a:r>
              <a:rPr lang="en-US" sz="1050" b="1" dirty="0"/>
              <a:t>   </a:t>
            </a:r>
            <a:r>
              <a:rPr lang="en-US" sz="1050" b="1" dirty="0">
                <a:solidFill>
                  <a:schemeClr val="accent2"/>
                </a:solidFill>
              </a:rPr>
              <a:t> @</a:t>
            </a:r>
            <a:r>
              <a:rPr lang="en-US" sz="1050" b="1" dirty="0" err="1">
                <a:solidFill>
                  <a:schemeClr val="accent2"/>
                </a:solidFill>
              </a:rPr>
              <a:t>ManyToOne</a:t>
            </a:r>
            <a:endParaRPr lang="en-US" sz="1050" b="1" dirty="0">
              <a:solidFill>
                <a:schemeClr val="accent2"/>
              </a:solidFill>
            </a:endParaRPr>
          </a:p>
          <a:p>
            <a:pPr marL="0" indent="0">
              <a:buNone/>
            </a:pPr>
            <a:r>
              <a:rPr lang="en-US" sz="1050" b="1" dirty="0">
                <a:solidFill>
                  <a:schemeClr val="accent2"/>
                </a:solidFill>
              </a:rPr>
              <a:t>    private Customer customer;</a:t>
            </a:r>
          </a:p>
          <a:p>
            <a:pPr marL="0" indent="0">
              <a:buNone/>
            </a:pPr>
            <a:r>
              <a:rPr lang="en-US" sz="1050" dirty="0"/>
              <a:t>…</a:t>
            </a:r>
          </a:p>
          <a:p>
            <a:pPr marL="0" indent="0">
              <a:buNone/>
            </a:pPr>
            <a:r>
              <a:rPr lang="en-US" sz="1050" dirty="0"/>
              <a:t>}</a:t>
            </a:r>
          </a:p>
        </p:txBody>
      </p:sp>
      <p:sp>
        <p:nvSpPr>
          <p:cNvPr id="4" name="CasellaDiTesto 3"/>
          <p:cNvSpPr txBox="1"/>
          <p:nvPr/>
        </p:nvSpPr>
        <p:spPr>
          <a:xfrm>
            <a:off x="1485900" y="1313453"/>
            <a:ext cx="3195105" cy="34855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050" dirty="0">
              <a:latin typeface="Calibri Light" panose="020F0302020204030204" pitchFamily="34" charset="0"/>
            </a:endParaRPr>
          </a:p>
          <a:p>
            <a:r>
              <a:rPr lang="en-US" sz="1050" dirty="0">
                <a:latin typeface="Calibri Light" panose="020F0302020204030204" pitchFamily="34" charset="0"/>
              </a:rPr>
              <a:t>+import </a:t>
            </a:r>
            <a:r>
              <a:rPr lang="en-US" sz="1050" dirty="0" err="1">
                <a:latin typeface="Calibri Light" panose="020F0302020204030204" pitchFamily="34" charset="0"/>
              </a:rPr>
              <a:t>javax.persistence.Entity</a:t>
            </a:r>
            <a:r>
              <a:rPr lang="en-US" sz="1050" dirty="0">
                <a:latin typeface="Calibri Light" panose="020F0302020204030204" pitchFamily="34" charset="0"/>
              </a:rPr>
              <a:t>;[…]</a:t>
            </a:r>
          </a:p>
          <a:p>
            <a:endParaRPr lang="en-US" sz="1050" dirty="0">
              <a:latin typeface="Calibri Light" panose="020F0302020204030204" pitchFamily="34" charset="0"/>
            </a:endParaRPr>
          </a:p>
          <a:p>
            <a:r>
              <a:rPr lang="en-US" sz="1050" dirty="0">
                <a:latin typeface="Calibri Light" panose="020F0302020204030204" pitchFamily="34" charset="0"/>
              </a:rPr>
              <a:t>@Entity</a:t>
            </a:r>
          </a:p>
          <a:p>
            <a:r>
              <a:rPr lang="en-US" sz="1050" dirty="0">
                <a:latin typeface="Calibri Light" panose="020F0302020204030204" pitchFamily="34" charset="0"/>
              </a:rPr>
              <a:t>public class Customer {</a:t>
            </a:r>
          </a:p>
          <a:p>
            <a:endParaRPr lang="en-US" sz="1050" dirty="0">
              <a:latin typeface="Calibri Light" panose="020F0302020204030204" pitchFamily="34" charset="0"/>
            </a:endParaRPr>
          </a:p>
          <a:p>
            <a:r>
              <a:rPr lang="en-US" sz="1050" dirty="0">
                <a:latin typeface="Calibri Light" panose="020F0302020204030204" pitchFamily="34" charset="0"/>
              </a:rPr>
              <a:t>    @Id</a:t>
            </a:r>
          </a:p>
          <a:p>
            <a:r>
              <a:rPr lang="en-US" sz="1050" dirty="0">
                <a:latin typeface="Calibri Light" panose="020F0302020204030204" pitchFamily="34" charset="0"/>
              </a:rPr>
              <a:t>    @</a:t>
            </a:r>
            <a:r>
              <a:rPr lang="en-US" sz="1050" dirty="0" err="1">
                <a:latin typeface="Calibri Light" panose="020F0302020204030204" pitchFamily="34" charset="0"/>
              </a:rPr>
              <a:t>GeneratedValue</a:t>
            </a:r>
            <a:r>
              <a:rPr lang="en-US" sz="1050" dirty="0">
                <a:latin typeface="Calibri Light" panose="020F0302020204030204" pitchFamily="34" charset="0"/>
              </a:rPr>
              <a:t>(strategy = </a:t>
            </a:r>
            <a:r>
              <a:rPr lang="en-US" sz="1050" dirty="0" err="1">
                <a:latin typeface="Calibri Light" panose="020F0302020204030204" pitchFamily="34" charset="0"/>
              </a:rPr>
              <a:t>GenerationType.AUTO</a:t>
            </a:r>
            <a:r>
              <a:rPr lang="en-US" sz="1050" dirty="0">
                <a:latin typeface="Calibri Light" panose="020F0302020204030204" pitchFamily="34" charset="0"/>
              </a:rPr>
              <a:t>)</a:t>
            </a:r>
          </a:p>
          <a:p>
            <a:r>
              <a:rPr lang="en-US" sz="1050" dirty="0">
                <a:latin typeface="Calibri Light" panose="020F0302020204030204" pitchFamily="34" charset="0"/>
              </a:rPr>
              <a:t>    private Long id;</a:t>
            </a:r>
          </a:p>
          <a:p>
            <a:r>
              <a:rPr lang="en-US" sz="1050" dirty="0">
                <a:latin typeface="Calibri Light" panose="020F0302020204030204" pitchFamily="34" charset="0"/>
              </a:rPr>
              <a:t>    @Column(nullable = false)</a:t>
            </a:r>
          </a:p>
          <a:p>
            <a:r>
              <a:rPr lang="en-US" sz="1050" dirty="0">
                <a:latin typeface="Calibri Light" panose="020F0302020204030204" pitchFamily="34" charset="0"/>
              </a:rPr>
              <a:t>    private String </a:t>
            </a:r>
            <a:r>
              <a:rPr lang="en-US" sz="1050" dirty="0" err="1">
                <a:latin typeface="Calibri Light" panose="020F0302020204030204" pitchFamily="34" charset="0"/>
              </a:rPr>
              <a:t>firstName</a:t>
            </a:r>
            <a:r>
              <a:rPr lang="en-US" sz="1050" dirty="0">
                <a:latin typeface="Calibri Light" panose="020F0302020204030204" pitchFamily="34" charset="0"/>
              </a:rPr>
              <a:t>;</a:t>
            </a:r>
          </a:p>
          <a:p>
            <a:r>
              <a:rPr lang="en-US" sz="1050" dirty="0">
                <a:latin typeface="Calibri Light" panose="020F0302020204030204" pitchFamily="34" charset="0"/>
              </a:rPr>
              <a:t>    @Column(nullable = false)</a:t>
            </a:r>
          </a:p>
          <a:p>
            <a:r>
              <a:rPr lang="en-US" sz="1050" dirty="0">
                <a:latin typeface="Calibri Light" panose="020F0302020204030204" pitchFamily="34" charset="0"/>
              </a:rPr>
              <a:t>    private String </a:t>
            </a:r>
            <a:r>
              <a:rPr lang="en-US" sz="1050" dirty="0" err="1">
                <a:latin typeface="Calibri Light" panose="020F0302020204030204" pitchFamily="34" charset="0"/>
              </a:rPr>
              <a:t>lastName</a:t>
            </a:r>
            <a:r>
              <a:rPr lang="en-US" sz="1050" dirty="0">
                <a:latin typeface="Calibri Light" panose="020F0302020204030204" pitchFamily="34" charset="0"/>
              </a:rPr>
              <a:t>;</a:t>
            </a:r>
          </a:p>
          <a:p>
            <a:r>
              <a:rPr lang="en-US" sz="1050" dirty="0">
                <a:latin typeface="Calibri Light" panose="020F0302020204030204" pitchFamily="34" charset="0"/>
              </a:rPr>
              <a:t>    private String email;</a:t>
            </a:r>
          </a:p>
          <a:p>
            <a:r>
              <a:rPr lang="en-US" sz="1050" dirty="0">
                <a:latin typeface="Calibri Light" panose="020F0302020204030204" pitchFamily="34" charset="0"/>
              </a:rPr>
              <a:t>    private </a:t>
            </a:r>
            <a:r>
              <a:rPr lang="en-US" sz="1050" dirty="0" err="1">
                <a:latin typeface="Calibri Light" panose="020F0302020204030204" pitchFamily="34" charset="0"/>
              </a:rPr>
              <a:t>LocalDate</a:t>
            </a:r>
            <a:r>
              <a:rPr lang="en-US" sz="1050" dirty="0">
                <a:latin typeface="Calibri Light" panose="020F0302020204030204" pitchFamily="34" charset="0"/>
              </a:rPr>
              <a:t> </a:t>
            </a:r>
            <a:r>
              <a:rPr lang="en-US" sz="1050" dirty="0" err="1">
                <a:latin typeface="Calibri Light" panose="020F0302020204030204" pitchFamily="34" charset="0"/>
              </a:rPr>
              <a:t>dateOfBirth</a:t>
            </a:r>
            <a:r>
              <a:rPr lang="en-US" sz="1050" dirty="0">
                <a:latin typeface="Calibri Light" panose="020F0302020204030204" pitchFamily="34" charset="0"/>
              </a:rPr>
              <a:t>;</a:t>
            </a:r>
          </a:p>
          <a:p>
            <a:r>
              <a:rPr lang="en-US" sz="1050" dirty="0">
                <a:latin typeface="Calibri Light" panose="020F0302020204030204" pitchFamily="34" charset="0"/>
              </a:rPr>
              <a:t>    @</a:t>
            </a:r>
            <a:r>
              <a:rPr lang="en-US" sz="1050" dirty="0" err="1">
                <a:latin typeface="Calibri Light" panose="020F0302020204030204" pitchFamily="34" charset="0"/>
              </a:rPr>
              <a:t>OneToOne</a:t>
            </a:r>
            <a:endParaRPr lang="en-US" sz="1050" dirty="0">
              <a:latin typeface="Calibri Light" panose="020F0302020204030204" pitchFamily="34" charset="0"/>
            </a:endParaRPr>
          </a:p>
          <a:p>
            <a:r>
              <a:rPr lang="en-US" sz="1050" dirty="0">
                <a:latin typeface="Calibri Light" panose="020F0302020204030204" pitchFamily="34" charset="0"/>
              </a:rPr>
              <a:t>    private Address address;</a:t>
            </a:r>
          </a:p>
          <a:p>
            <a:r>
              <a:rPr lang="en-US" sz="1050" dirty="0">
                <a:solidFill>
                  <a:srgbClr val="C0504D"/>
                </a:solidFill>
                <a:highlight>
                  <a:srgbClr val="FFFF00"/>
                </a:highlight>
                <a:latin typeface="Calibri Light" panose="020F0302020204030204" pitchFamily="34" charset="0"/>
              </a:rPr>
              <a:t>    @</a:t>
            </a:r>
            <a:r>
              <a:rPr lang="en-US" sz="1050" dirty="0" err="1">
                <a:solidFill>
                  <a:srgbClr val="C0504D"/>
                </a:solidFill>
                <a:highlight>
                  <a:srgbClr val="FFFF00"/>
                </a:highlight>
                <a:latin typeface="Calibri Light" panose="020F0302020204030204" pitchFamily="34" charset="0"/>
              </a:rPr>
              <a:t>OneToMany</a:t>
            </a:r>
            <a:endParaRPr lang="en-US" sz="1050" dirty="0">
              <a:solidFill>
                <a:srgbClr val="C0504D"/>
              </a:solidFill>
              <a:highlight>
                <a:srgbClr val="FFFF00"/>
              </a:highlight>
              <a:latin typeface="Calibri Light" panose="020F0302020204030204" pitchFamily="34" charset="0"/>
            </a:endParaRPr>
          </a:p>
          <a:p>
            <a:r>
              <a:rPr lang="en-US" sz="1050" dirty="0">
                <a:solidFill>
                  <a:srgbClr val="C0504D"/>
                </a:solidFill>
                <a:highlight>
                  <a:srgbClr val="FFFF00"/>
                </a:highlight>
                <a:latin typeface="Calibri Light" panose="020F0302020204030204" pitchFamily="34" charset="0"/>
              </a:rPr>
              <a:t>    private List&lt;Order&gt; orders;</a:t>
            </a:r>
          </a:p>
          <a:p>
            <a:r>
              <a:rPr lang="en-US" sz="1050" dirty="0">
                <a:latin typeface="Calibri Light" panose="020F0302020204030204" pitchFamily="34" charset="0"/>
              </a:rPr>
              <a:t>…</a:t>
            </a:r>
          </a:p>
          <a:p>
            <a:r>
              <a:rPr lang="en-US" sz="1050" dirty="0">
                <a:latin typeface="Calibri Light" panose="020F0302020204030204" pitchFamily="34" charset="0"/>
              </a:rPr>
              <a:t>}</a:t>
            </a:r>
          </a:p>
        </p:txBody>
      </p:sp>
      <p:sp>
        <p:nvSpPr>
          <p:cNvPr id="5" name="CasellaDiTesto 4"/>
          <p:cNvSpPr txBox="1"/>
          <p:nvPr/>
        </p:nvSpPr>
        <p:spPr>
          <a:xfrm>
            <a:off x="1485900" y="924729"/>
            <a:ext cx="283596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>
                <a:highlight>
                  <a:srgbClr val="FFFF00"/>
                </a:highlight>
                <a:latin typeface="Calibri Light" panose="020F0302020204030204" pitchFamily="34" charset="0"/>
              </a:rPr>
              <a:t>Cosa </a:t>
            </a:r>
            <a:r>
              <a:rPr lang="en-US" sz="1350" dirty="0" err="1">
                <a:highlight>
                  <a:srgbClr val="FFFF00"/>
                </a:highlight>
                <a:latin typeface="Calibri Light" panose="020F0302020204030204" pitchFamily="34" charset="0"/>
              </a:rPr>
              <a:t>succede</a:t>
            </a:r>
            <a:r>
              <a:rPr lang="en-US" sz="1350" dirty="0">
                <a:highlight>
                  <a:srgbClr val="FFFF00"/>
                </a:highlight>
                <a:latin typeface="Calibri Light" panose="020F0302020204030204" pitchFamily="34" charset="0"/>
              </a:rPr>
              <a:t> se </a:t>
            </a:r>
            <a:r>
              <a:rPr lang="en-US" sz="1350" dirty="0" err="1">
                <a:highlight>
                  <a:srgbClr val="FFFF00"/>
                </a:highlight>
                <a:latin typeface="Calibri Light" panose="020F0302020204030204" pitchFamily="34" charset="0"/>
              </a:rPr>
              <a:t>togliamo</a:t>
            </a:r>
            <a:r>
              <a:rPr lang="en-US" sz="1350" dirty="0">
                <a:highlight>
                  <a:srgbClr val="FFFF00"/>
                </a:highlight>
                <a:latin typeface="Calibri Light" panose="020F0302020204030204" pitchFamily="34" charset="0"/>
              </a:rPr>
              <a:t> </a:t>
            </a:r>
            <a:r>
              <a:rPr lang="en-US" sz="1350" dirty="0" err="1">
                <a:highlight>
                  <a:srgbClr val="FFFF00"/>
                </a:highlight>
                <a:latin typeface="Calibri Light" panose="020F0302020204030204" pitchFamily="34" charset="0"/>
              </a:rPr>
              <a:t>il</a:t>
            </a:r>
            <a:r>
              <a:rPr lang="en-US" sz="1350" dirty="0">
                <a:highlight>
                  <a:srgbClr val="FFFF00"/>
                </a:highlight>
                <a:latin typeface="Calibri Light" panose="020F0302020204030204" pitchFamily="34" charset="0"/>
              </a:rPr>
              <a:t> mapping?</a:t>
            </a:r>
          </a:p>
        </p:txBody>
      </p:sp>
    </p:spTree>
    <p:extLst>
      <p:ext uri="{BB962C8B-B14F-4D97-AF65-F5344CB8AC3E}">
        <p14:creationId xmlns:p14="http://schemas.microsoft.com/office/powerpoint/2010/main" val="116029242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8523E55-27E5-0E43-9184-44591A4BB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Perchè</a:t>
            </a:r>
            <a:r>
              <a:rPr lang="en-US" dirty="0"/>
              <a:t> serve </a:t>
            </a:r>
            <a:r>
              <a:rPr lang="en-US" dirty="0" err="1"/>
              <a:t>il</a:t>
            </a:r>
            <a:r>
              <a:rPr lang="en-US" dirty="0"/>
              <a:t> mapping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94B373B-7CE9-5E4B-B346-5A5C8950D3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Consideriamo</a:t>
            </a:r>
            <a:r>
              <a:rPr lang="en-US" dirty="0"/>
              <a:t>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seguente</a:t>
            </a:r>
            <a:r>
              <a:rPr lang="en-US" dirty="0"/>
              <a:t> schema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Ci </a:t>
            </a:r>
            <a:r>
              <a:rPr lang="en-US" dirty="0" err="1"/>
              <a:t>sono</a:t>
            </a:r>
            <a:r>
              <a:rPr lang="en-US" dirty="0"/>
              <a:t> due </a:t>
            </a:r>
            <a:r>
              <a:rPr lang="en-US" dirty="0" err="1"/>
              <a:t>associazioni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Customer e Order</a:t>
            </a:r>
          </a:p>
          <a:p>
            <a:r>
              <a:rPr lang="en-US" dirty="0" err="1"/>
              <a:t>Vediamo</a:t>
            </a:r>
            <a:r>
              <a:rPr lang="en-US" dirty="0"/>
              <a:t>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codice</a:t>
            </a:r>
            <a:r>
              <a:rPr lang="en-US" dirty="0"/>
              <a:t> </a:t>
            </a:r>
            <a:r>
              <a:rPr lang="en-US" dirty="0" err="1"/>
              <a:t>corrispondente</a:t>
            </a:r>
            <a:r>
              <a:rPr lang="en-US" dirty="0"/>
              <a:t> (</a:t>
            </a:r>
            <a:r>
              <a:rPr lang="en-US" dirty="0" err="1"/>
              <a:t>prossima</a:t>
            </a:r>
            <a:r>
              <a:rPr lang="en-US" dirty="0"/>
              <a:t> slide)</a:t>
            </a:r>
          </a:p>
        </p:txBody>
      </p:sp>
      <p:graphicFrame>
        <p:nvGraphicFramePr>
          <p:cNvPr id="4" name="Segnaposto contenuto 5">
            <a:extLst>
              <a:ext uri="{FF2B5EF4-FFF2-40B4-BE49-F238E27FC236}">
                <a16:creationId xmlns:a16="http://schemas.microsoft.com/office/drawing/2014/main" id="{34CDB83A-A48F-3A4F-8E17-65869E3BF90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31924203"/>
              </p:ext>
            </p:extLst>
          </p:nvPr>
        </p:nvGraphicFramePr>
        <p:xfrm>
          <a:off x="2304097" y="1922169"/>
          <a:ext cx="1164968" cy="10233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49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5151">
                <a:tc>
                  <a:txBody>
                    <a:bodyPr/>
                    <a:lstStyle/>
                    <a:p>
                      <a:pPr algn="ctr"/>
                      <a:r>
                        <a:rPr lang="it-IT" sz="1400" b="0" i="0" dirty="0">
                          <a:latin typeface="Calibri Light" panose="020F0302020204030204" pitchFamily="34" charset="0"/>
                        </a:rPr>
                        <a:t>Customer</a:t>
                      </a:r>
                      <a:endParaRPr lang="it-IT" sz="8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8655">
                <a:tc>
                  <a:txBody>
                    <a:bodyPr/>
                    <a:lstStyle/>
                    <a:p>
                      <a:r>
                        <a:rPr lang="it-IT" sz="800" b="0" i="0" dirty="0">
                          <a:latin typeface="Calibri Light" panose="020F0302020204030204" pitchFamily="34" charset="0"/>
                        </a:rPr>
                        <a:t>-id: Long</a:t>
                      </a:r>
                    </a:p>
                    <a:p>
                      <a:r>
                        <a:rPr lang="it-IT" sz="800" dirty="0"/>
                        <a:t>-</a:t>
                      </a:r>
                      <a:r>
                        <a:rPr lang="it-IT" sz="800" dirty="0" err="1"/>
                        <a:t>firstName</a:t>
                      </a:r>
                      <a:r>
                        <a:rPr lang="it-IT" sz="800" dirty="0"/>
                        <a:t>:</a:t>
                      </a:r>
                      <a:r>
                        <a:rPr lang="it-IT" sz="800" baseline="0" dirty="0"/>
                        <a:t> </a:t>
                      </a:r>
                      <a:r>
                        <a:rPr lang="it-IT" sz="800" baseline="0" dirty="0" err="1"/>
                        <a:t>String</a:t>
                      </a:r>
                      <a:endParaRPr lang="it-IT" sz="800" baseline="0" dirty="0"/>
                    </a:p>
                    <a:p>
                      <a:r>
                        <a:rPr lang="it-IT" sz="800" baseline="0" dirty="0"/>
                        <a:t>-</a:t>
                      </a:r>
                      <a:r>
                        <a:rPr lang="it-IT" sz="800" baseline="0" dirty="0" err="1"/>
                        <a:t>lastName</a:t>
                      </a:r>
                      <a:r>
                        <a:rPr lang="it-IT" sz="800" baseline="0" dirty="0"/>
                        <a:t>: </a:t>
                      </a:r>
                      <a:r>
                        <a:rPr lang="it-IT" sz="800" baseline="0" dirty="0" err="1"/>
                        <a:t>String</a:t>
                      </a:r>
                      <a:endParaRPr lang="it-IT" sz="800" baseline="0" dirty="0"/>
                    </a:p>
                    <a:p>
                      <a:r>
                        <a:rPr lang="it-IT" sz="800" baseline="0" dirty="0"/>
                        <a:t>-email: </a:t>
                      </a:r>
                      <a:r>
                        <a:rPr lang="it-IT" sz="800" baseline="0" dirty="0" err="1"/>
                        <a:t>String</a:t>
                      </a:r>
                      <a:endParaRPr lang="it-IT" sz="800" baseline="0" dirty="0"/>
                    </a:p>
                    <a:p>
                      <a:r>
                        <a:rPr lang="it-IT" sz="800" baseline="0" dirty="0"/>
                        <a:t>-</a:t>
                      </a:r>
                      <a:r>
                        <a:rPr lang="it-IT" sz="800" baseline="0" dirty="0" err="1"/>
                        <a:t>dateOfBirth</a:t>
                      </a:r>
                      <a:r>
                        <a:rPr lang="it-IT" sz="800" baseline="0" dirty="0"/>
                        <a:t>: </a:t>
                      </a:r>
                      <a:r>
                        <a:rPr lang="it-IT" sz="800" baseline="0" dirty="0" err="1"/>
                        <a:t>String</a:t>
                      </a:r>
                      <a:endParaRPr lang="it-IT" sz="8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Segnaposto contenuto 5">
            <a:extLst>
              <a:ext uri="{FF2B5EF4-FFF2-40B4-BE49-F238E27FC236}">
                <a16:creationId xmlns:a16="http://schemas.microsoft.com/office/drawing/2014/main" id="{CB3D55D4-74C2-954B-AF5C-D8B2DD0778C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15876180"/>
              </p:ext>
            </p:extLst>
          </p:nvPr>
        </p:nvGraphicFramePr>
        <p:xfrm>
          <a:off x="4572001" y="2103144"/>
          <a:ext cx="1511789" cy="6575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17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5151">
                <a:tc>
                  <a:txBody>
                    <a:bodyPr/>
                    <a:lstStyle/>
                    <a:p>
                      <a:pPr algn="ctr"/>
                      <a:r>
                        <a:rPr lang="it-IT" sz="1400" b="0" i="0" dirty="0">
                          <a:latin typeface="Calibri Light" panose="020F0302020204030204" pitchFamily="34" charset="0"/>
                        </a:rPr>
                        <a:t>Order</a:t>
                      </a:r>
                      <a:endParaRPr lang="it-IT" sz="8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r>
                        <a:rPr lang="it-IT" sz="800" b="0" i="0" dirty="0">
                          <a:latin typeface="Calibri Light" panose="020F0302020204030204" pitchFamily="34" charset="0"/>
                        </a:rPr>
                        <a:t>-id: Long</a:t>
                      </a:r>
                    </a:p>
                    <a:p>
                      <a:r>
                        <a:rPr lang="it-IT" sz="800" dirty="0"/>
                        <a:t>-</a:t>
                      </a:r>
                      <a:r>
                        <a:rPr lang="it-IT" sz="800" dirty="0" err="1"/>
                        <a:t>creationTime</a:t>
                      </a:r>
                      <a:r>
                        <a:rPr lang="it-IT" sz="800" dirty="0"/>
                        <a:t>: </a:t>
                      </a:r>
                      <a:r>
                        <a:rPr lang="it-IT" sz="800" dirty="0" err="1"/>
                        <a:t>String</a:t>
                      </a:r>
                      <a:endParaRPr lang="it-IT" sz="8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DB9443DA-FFB9-7543-8C81-0C6D45220AE0}"/>
              </a:ext>
            </a:extLst>
          </p:cNvPr>
          <p:cNvCxnSpPr/>
          <p:nvPr/>
        </p:nvCxnSpPr>
        <p:spPr>
          <a:xfrm>
            <a:off x="3469065" y="2297953"/>
            <a:ext cx="1102935" cy="953"/>
          </a:xfrm>
          <a:prstGeom prst="straightConnector1">
            <a:avLst/>
          </a:prstGeom>
          <a:ln w="12700" cmpd="sng">
            <a:solidFill>
              <a:srgbClr val="000000"/>
            </a:solidFill>
            <a:prstDash val="solid"/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C759BC4E-EE45-3C4E-B0BF-266C4E66E56C}"/>
              </a:ext>
            </a:extLst>
          </p:cNvPr>
          <p:cNvSpPr txBox="1"/>
          <p:nvPr/>
        </p:nvSpPr>
        <p:spPr>
          <a:xfrm>
            <a:off x="4169264" y="2020954"/>
            <a:ext cx="44595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350" dirty="0">
                <a:latin typeface="Calibri Light" panose="020F0302020204030204" pitchFamily="34" charset="0"/>
              </a:rPr>
              <a:t>0..*</a:t>
            </a:r>
          </a:p>
        </p:txBody>
      </p: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D4D54325-0A7A-6E4D-B887-F17BEB574376}"/>
              </a:ext>
            </a:extLst>
          </p:cNvPr>
          <p:cNvCxnSpPr/>
          <p:nvPr/>
        </p:nvCxnSpPr>
        <p:spPr>
          <a:xfrm>
            <a:off x="3469065" y="2580115"/>
            <a:ext cx="1102935" cy="953"/>
          </a:xfrm>
          <a:prstGeom prst="straightConnector1">
            <a:avLst/>
          </a:prstGeom>
          <a:ln w="12700" cmpd="sng">
            <a:solidFill>
              <a:srgbClr val="000000"/>
            </a:solidFill>
            <a:prstDash val="solid"/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641A0D9C-DB03-7241-BB0F-CEC720E663FC}"/>
              </a:ext>
            </a:extLst>
          </p:cNvPr>
          <p:cNvSpPr txBox="1"/>
          <p:nvPr/>
        </p:nvSpPr>
        <p:spPr>
          <a:xfrm>
            <a:off x="4169264" y="2310498"/>
            <a:ext cx="44595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350" dirty="0">
                <a:latin typeface="Calibri Light" panose="020F0302020204030204" pitchFamily="34" charset="0"/>
              </a:rPr>
              <a:t>0..*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2FA9A0C1-3D95-4046-B894-4A72401C56E2}"/>
              </a:ext>
            </a:extLst>
          </p:cNvPr>
          <p:cNvSpPr txBox="1"/>
          <p:nvPr/>
        </p:nvSpPr>
        <p:spPr>
          <a:xfrm>
            <a:off x="3527077" y="1937253"/>
            <a:ext cx="80663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>
                <a:latin typeface="Calibri Light" panose="020F0302020204030204" pitchFamily="34" charset="0"/>
              </a:rPr>
              <a:t>payment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FC568AC3-6124-8143-8B6C-92C465EB0F5F}"/>
              </a:ext>
            </a:extLst>
          </p:cNvPr>
          <p:cNvSpPr txBox="1"/>
          <p:nvPr/>
        </p:nvSpPr>
        <p:spPr>
          <a:xfrm>
            <a:off x="3554796" y="2346978"/>
            <a:ext cx="66710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>
                <a:latin typeface="Calibri Light" panose="020F0302020204030204" pitchFamily="34" charset="0"/>
              </a:rPr>
              <a:t>deliver</a:t>
            </a:r>
          </a:p>
        </p:txBody>
      </p:sp>
    </p:spTree>
    <p:extLst>
      <p:ext uri="{BB962C8B-B14F-4D97-AF65-F5344CB8AC3E}">
        <p14:creationId xmlns:p14="http://schemas.microsoft.com/office/powerpoint/2010/main" val="253807987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119930" y="133037"/>
            <a:ext cx="8229600" cy="857250"/>
          </a:xfrm>
        </p:spPr>
        <p:txBody>
          <a:bodyPr>
            <a:normAutofit/>
          </a:bodyPr>
          <a:lstStyle/>
          <a:p>
            <a:r>
              <a:rPr lang="en-US" dirty="0" err="1"/>
              <a:t>Perchè</a:t>
            </a:r>
            <a:r>
              <a:rPr lang="en-US" dirty="0"/>
              <a:t> serve </a:t>
            </a:r>
            <a:r>
              <a:rPr lang="en-US" dirty="0" err="1"/>
              <a:t>il</a:t>
            </a:r>
            <a:r>
              <a:rPr lang="en-US" dirty="0"/>
              <a:t> mapping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926197" y="990288"/>
            <a:ext cx="4219575" cy="415321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1400" dirty="0"/>
              <a:t>package it.uniroma3.siw;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+import </a:t>
            </a:r>
            <a:r>
              <a:rPr lang="en-US" sz="1400" dirty="0" err="1"/>
              <a:t>javax.persistence.Entity</a:t>
            </a:r>
            <a:r>
              <a:rPr lang="en-US" sz="1400" dirty="0"/>
              <a:t>;[…]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@Entity</a:t>
            </a:r>
          </a:p>
          <a:p>
            <a:pPr marL="0" indent="0">
              <a:buNone/>
            </a:pPr>
            <a:r>
              <a:rPr lang="en-US" sz="1400" dirty="0"/>
              <a:t>@Table(name = "orders")</a:t>
            </a:r>
          </a:p>
          <a:p>
            <a:pPr marL="0" indent="0">
              <a:buNone/>
            </a:pPr>
            <a:r>
              <a:rPr lang="en-US" sz="1400" dirty="0"/>
              <a:t>public class </a:t>
            </a:r>
            <a:r>
              <a:rPr lang="en-US" sz="1400" b="1" dirty="0"/>
              <a:t>Order</a:t>
            </a:r>
            <a:r>
              <a:rPr lang="en-US" sz="1400" dirty="0"/>
              <a:t> {</a:t>
            </a:r>
          </a:p>
          <a:p>
            <a:pPr marL="0" indent="0">
              <a:buNone/>
            </a:pPr>
            <a:r>
              <a:rPr lang="en-US" sz="1400" dirty="0"/>
              <a:t>	</a:t>
            </a:r>
          </a:p>
          <a:p>
            <a:pPr marL="0" indent="0">
              <a:buNone/>
            </a:pPr>
            <a:r>
              <a:rPr lang="en-US" sz="1400" dirty="0"/>
              <a:t>    @Id </a:t>
            </a:r>
          </a:p>
          <a:p>
            <a:pPr marL="0" indent="0">
              <a:buNone/>
            </a:pPr>
            <a:r>
              <a:rPr lang="en-US" sz="1400" dirty="0"/>
              <a:t>    @</a:t>
            </a:r>
            <a:r>
              <a:rPr lang="en-US" sz="1400" dirty="0" err="1"/>
              <a:t>GeneratedValue</a:t>
            </a:r>
            <a:r>
              <a:rPr lang="en-US" sz="1400" dirty="0"/>
              <a:t>(strategy = </a:t>
            </a:r>
            <a:r>
              <a:rPr lang="en-US" sz="1400" dirty="0" err="1"/>
              <a:t>GenerationType.</a:t>
            </a:r>
            <a:r>
              <a:rPr lang="en-US" sz="1400" i="1" dirty="0" err="1"/>
              <a:t>AUTO</a:t>
            </a:r>
            <a:r>
              <a:rPr lang="en-US" sz="1400" i="1" dirty="0"/>
              <a:t>)</a:t>
            </a:r>
          </a:p>
          <a:p>
            <a:pPr marL="0" indent="0">
              <a:buNone/>
            </a:pPr>
            <a:r>
              <a:rPr lang="en-US" sz="1400" dirty="0"/>
              <a:t>    private Long id;	</a:t>
            </a:r>
          </a:p>
          <a:p>
            <a:pPr marL="0" indent="0">
              <a:buNone/>
            </a:pPr>
            <a:r>
              <a:rPr lang="en-US" sz="1400" dirty="0"/>
              <a:t>    @Column(nullable = false)</a:t>
            </a:r>
          </a:p>
          <a:p>
            <a:pPr marL="0" indent="0">
              <a:buNone/>
            </a:pPr>
            <a:r>
              <a:rPr lang="en-US" sz="1400" dirty="0"/>
              <a:t>    private </a:t>
            </a:r>
            <a:r>
              <a:rPr lang="en-US" sz="1400" dirty="0" err="1"/>
              <a:t>LocalDateTime</a:t>
            </a:r>
            <a:r>
              <a:rPr lang="en-US" sz="1400" dirty="0"/>
              <a:t> </a:t>
            </a:r>
            <a:r>
              <a:rPr lang="en-US" sz="1400" dirty="0" err="1"/>
              <a:t>creationTime</a:t>
            </a:r>
            <a:r>
              <a:rPr lang="en-US" sz="1400" dirty="0"/>
              <a:t>;</a:t>
            </a:r>
          </a:p>
          <a:p>
            <a:pPr marL="0" indent="0">
              <a:buNone/>
            </a:pPr>
            <a:r>
              <a:rPr lang="en-US" sz="1400" b="1" dirty="0"/>
              <a:t>   </a:t>
            </a:r>
            <a:r>
              <a:rPr lang="en-US" sz="1400" b="1" dirty="0">
                <a:solidFill>
                  <a:schemeClr val="accent2"/>
                </a:solidFill>
              </a:rPr>
              <a:t> @</a:t>
            </a:r>
            <a:r>
              <a:rPr lang="en-US" sz="1400" b="1" dirty="0" err="1">
                <a:solidFill>
                  <a:schemeClr val="accent2"/>
                </a:solidFill>
              </a:rPr>
              <a:t>ManyToOne</a:t>
            </a:r>
            <a:endParaRPr lang="en-US" sz="1400" b="1" dirty="0">
              <a:solidFill>
                <a:schemeClr val="accent2"/>
              </a:solidFill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    private Customer </a:t>
            </a:r>
            <a:r>
              <a:rPr lang="en-US" sz="1400" b="1" dirty="0">
                <a:solidFill>
                  <a:schemeClr val="accent2"/>
                </a:solidFill>
                <a:highlight>
                  <a:srgbClr val="FFFF00"/>
                </a:highlight>
              </a:rPr>
              <a:t>payer</a:t>
            </a:r>
            <a:r>
              <a:rPr lang="en-US" sz="1400" b="1" dirty="0">
                <a:solidFill>
                  <a:schemeClr val="accent2"/>
                </a:solidFill>
              </a:rPr>
              <a:t>;</a:t>
            </a:r>
          </a:p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    @</a:t>
            </a:r>
            <a:r>
              <a:rPr lang="en-US" sz="1400" b="1" dirty="0" err="1">
                <a:solidFill>
                  <a:schemeClr val="accent2"/>
                </a:solidFill>
              </a:rPr>
              <a:t>ManyToOne</a:t>
            </a:r>
            <a:endParaRPr lang="en-US" sz="1400" b="1" dirty="0">
              <a:solidFill>
                <a:schemeClr val="accent2"/>
              </a:solidFill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    private Customer </a:t>
            </a:r>
            <a:r>
              <a:rPr lang="en-US" sz="1400" b="1" dirty="0">
                <a:solidFill>
                  <a:schemeClr val="accent2"/>
                </a:solidFill>
                <a:highlight>
                  <a:srgbClr val="00FF00"/>
                </a:highlight>
              </a:rPr>
              <a:t>deliver</a:t>
            </a:r>
            <a:r>
              <a:rPr lang="en-US" sz="1400" b="1" dirty="0">
                <a:solidFill>
                  <a:schemeClr val="accent2"/>
                </a:solidFill>
              </a:rPr>
              <a:t>;</a:t>
            </a:r>
          </a:p>
          <a:p>
            <a:pPr marL="0" indent="0">
              <a:buNone/>
            </a:pPr>
            <a:endParaRPr lang="en-US" sz="1400" b="1" dirty="0">
              <a:solidFill>
                <a:schemeClr val="accent2"/>
              </a:solidFill>
            </a:endParaRPr>
          </a:p>
          <a:p>
            <a:pPr marL="0" indent="0">
              <a:buNone/>
            </a:pPr>
            <a:r>
              <a:rPr lang="en-US" sz="1400" dirty="0"/>
              <a:t>…</a:t>
            </a:r>
          </a:p>
          <a:p>
            <a:pPr marL="0" indent="0">
              <a:buNone/>
            </a:pPr>
            <a:r>
              <a:rPr lang="en-US" sz="1400" dirty="0"/>
              <a:t>}</a:t>
            </a:r>
          </a:p>
        </p:txBody>
      </p:sp>
      <p:sp>
        <p:nvSpPr>
          <p:cNvPr id="4" name="CasellaDiTesto 3"/>
          <p:cNvSpPr txBox="1"/>
          <p:nvPr/>
        </p:nvSpPr>
        <p:spPr>
          <a:xfrm>
            <a:off x="0" y="2026"/>
            <a:ext cx="3547068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dirty="0">
              <a:latin typeface="Calibri Light" panose="020F0302020204030204" pitchFamily="34" charset="0"/>
            </a:endParaRPr>
          </a:p>
          <a:p>
            <a:r>
              <a:rPr lang="en-US" sz="1400" dirty="0">
                <a:latin typeface="Calibri Light" panose="020F0302020204030204" pitchFamily="34" charset="0"/>
              </a:rPr>
              <a:t>+import </a:t>
            </a:r>
            <a:r>
              <a:rPr lang="en-US" sz="1400" dirty="0" err="1">
                <a:latin typeface="Calibri Light" panose="020F0302020204030204" pitchFamily="34" charset="0"/>
              </a:rPr>
              <a:t>javax.persistence.Entity</a:t>
            </a:r>
            <a:r>
              <a:rPr lang="en-US" sz="1400" dirty="0">
                <a:latin typeface="Calibri Light" panose="020F0302020204030204" pitchFamily="34" charset="0"/>
              </a:rPr>
              <a:t>;[…]</a:t>
            </a:r>
          </a:p>
          <a:p>
            <a:endParaRPr lang="en-US" sz="1400" dirty="0">
              <a:latin typeface="Calibri Light" panose="020F0302020204030204" pitchFamily="34" charset="0"/>
            </a:endParaRPr>
          </a:p>
          <a:p>
            <a:r>
              <a:rPr lang="en-US" sz="1400" dirty="0">
                <a:latin typeface="Calibri Light" panose="020F0302020204030204" pitchFamily="34" charset="0"/>
              </a:rPr>
              <a:t>@Entity</a:t>
            </a:r>
          </a:p>
          <a:p>
            <a:r>
              <a:rPr lang="en-US" sz="1400" dirty="0">
                <a:latin typeface="Calibri Light" panose="020F0302020204030204" pitchFamily="34" charset="0"/>
              </a:rPr>
              <a:t>public class Customer {</a:t>
            </a:r>
          </a:p>
          <a:p>
            <a:endParaRPr lang="en-US" sz="1400" dirty="0">
              <a:latin typeface="Calibri Light" panose="020F0302020204030204" pitchFamily="34" charset="0"/>
            </a:endParaRPr>
          </a:p>
          <a:p>
            <a:r>
              <a:rPr lang="en-US" sz="1400" dirty="0">
                <a:latin typeface="Calibri Light" panose="020F0302020204030204" pitchFamily="34" charset="0"/>
              </a:rPr>
              <a:t>    @Id</a:t>
            </a:r>
          </a:p>
          <a:p>
            <a:r>
              <a:rPr lang="en-US" sz="1400" dirty="0">
                <a:latin typeface="Calibri Light" panose="020F0302020204030204" pitchFamily="34" charset="0"/>
              </a:rPr>
              <a:t>    @</a:t>
            </a:r>
            <a:r>
              <a:rPr lang="en-US" sz="1400" dirty="0" err="1">
                <a:latin typeface="Calibri Light" panose="020F0302020204030204" pitchFamily="34" charset="0"/>
              </a:rPr>
              <a:t>GeneratedValue</a:t>
            </a:r>
            <a:r>
              <a:rPr lang="en-US" sz="1400" dirty="0">
                <a:latin typeface="Calibri Light" panose="020F0302020204030204" pitchFamily="34" charset="0"/>
              </a:rPr>
              <a:t>(strategy = </a:t>
            </a:r>
            <a:r>
              <a:rPr lang="en-US" sz="1400" dirty="0" err="1">
                <a:latin typeface="Calibri Light" panose="020F0302020204030204" pitchFamily="34" charset="0"/>
              </a:rPr>
              <a:t>GenerationType.AUTO</a:t>
            </a:r>
            <a:r>
              <a:rPr lang="en-US" sz="1400" dirty="0">
                <a:latin typeface="Calibri Light" panose="020F0302020204030204" pitchFamily="34" charset="0"/>
              </a:rPr>
              <a:t>)</a:t>
            </a:r>
          </a:p>
          <a:p>
            <a:r>
              <a:rPr lang="en-US" sz="1400" dirty="0">
                <a:latin typeface="Calibri Light" panose="020F0302020204030204" pitchFamily="34" charset="0"/>
              </a:rPr>
              <a:t>    private Long id;</a:t>
            </a:r>
          </a:p>
          <a:p>
            <a:r>
              <a:rPr lang="en-US" sz="1400" dirty="0">
                <a:latin typeface="Calibri Light" panose="020F0302020204030204" pitchFamily="34" charset="0"/>
              </a:rPr>
              <a:t>    @Column(nullable = false)</a:t>
            </a:r>
          </a:p>
          <a:p>
            <a:r>
              <a:rPr lang="en-US" sz="1400" dirty="0">
                <a:latin typeface="Calibri Light" panose="020F0302020204030204" pitchFamily="34" charset="0"/>
              </a:rPr>
              <a:t>    private String </a:t>
            </a:r>
            <a:r>
              <a:rPr lang="en-US" sz="1400" dirty="0" err="1">
                <a:latin typeface="Calibri Light" panose="020F0302020204030204" pitchFamily="34" charset="0"/>
              </a:rPr>
              <a:t>firstName</a:t>
            </a:r>
            <a:r>
              <a:rPr lang="en-US" sz="1400" dirty="0">
                <a:latin typeface="Calibri Light" panose="020F0302020204030204" pitchFamily="34" charset="0"/>
              </a:rPr>
              <a:t>;</a:t>
            </a:r>
          </a:p>
          <a:p>
            <a:r>
              <a:rPr lang="en-US" sz="1400" dirty="0">
                <a:latin typeface="Calibri Light" panose="020F0302020204030204" pitchFamily="34" charset="0"/>
              </a:rPr>
              <a:t>    @Column(nullable = false)</a:t>
            </a:r>
          </a:p>
          <a:p>
            <a:r>
              <a:rPr lang="en-US" sz="1400" dirty="0">
                <a:latin typeface="Calibri Light" panose="020F0302020204030204" pitchFamily="34" charset="0"/>
              </a:rPr>
              <a:t>    private String </a:t>
            </a:r>
            <a:r>
              <a:rPr lang="en-US" sz="1400" dirty="0" err="1">
                <a:latin typeface="Calibri Light" panose="020F0302020204030204" pitchFamily="34" charset="0"/>
              </a:rPr>
              <a:t>lastName</a:t>
            </a:r>
            <a:r>
              <a:rPr lang="en-US" sz="1400" dirty="0">
                <a:latin typeface="Calibri Light" panose="020F0302020204030204" pitchFamily="34" charset="0"/>
              </a:rPr>
              <a:t>;</a:t>
            </a:r>
          </a:p>
          <a:p>
            <a:r>
              <a:rPr lang="en-US" sz="1400" dirty="0">
                <a:latin typeface="Calibri Light" panose="020F0302020204030204" pitchFamily="34" charset="0"/>
              </a:rPr>
              <a:t>    private String email;</a:t>
            </a:r>
          </a:p>
          <a:p>
            <a:r>
              <a:rPr lang="en-US" sz="1400" dirty="0">
                <a:latin typeface="Calibri Light" panose="020F0302020204030204" pitchFamily="34" charset="0"/>
              </a:rPr>
              <a:t>    private </a:t>
            </a:r>
            <a:r>
              <a:rPr lang="en-US" sz="1400" dirty="0" err="1">
                <a:latin typeface="Calibri Light" panose="020F0302020204030204" pitchFamily="34" charset="0"/>
              </a:rPr>
              <a:t>LocalDate</a:t>
            </a:r>
            <a:r>
              <a:rPr lang="en-US" sz="1400" dirty="0">
                <a:latin typeface="Calibri Light" panose="020F0302020204030204" pitchFamily="34" charset="0"/>
              </a:rPr>
              <a:t> </a:t>
            </a:r>
            <a:r>
              <a:rPr lang="en-US" sz="1400" dirty="0" err="1">
                <a:latin typeface="Calibri Light" panose="020F0302020204030204" pitchFamily="34" charset="0"/>
              </a:rPr>
              <a:t>dateOfBirth</a:t>
            </a:r>
            <a:r>
              <a:rPr lang="en-US" sz="1400" dirty="0">
                <a:latin typeface="Calibri Light" panose="020F0302020204030204" pitchFamily="34" charset="0"/>
              </a:rPr>
              <a:t>;</a:t>
            </a:r>
          </a:p>
          <a:p>
            <a:r>
              <a:rPr lang="en-US" sz="1400" dirty="0">
                <a:latin typeface="Calibri Light" panose="020F0302020204030204" pitchFamily="34" charset="0"/>
              </a:rPr>
              <a:t>    @</a:t>
            </a:r>
            <a:r>
              <a:rPr lang="en-US" sz="1400" dirty="0" err="1">
                <a:latin typeface="Calibri Light" panose="020F0302020204030204" pitchFamily="34" charset="0"/>
              </a:rPr>
              <a:t>OneToOne</a:t>
            </a:r>
            <a:endParaRPr lang="en-US" sz="1400" dirty="0">
              <a:latin typeface="Calibri Light" panose="020F0302020204030204" pitchFamily="34" charset="0"/>
            </a:endParaRPr>
          </a:p>
          <a:p>
            <a:r>
              <a:rPr lang="en-US" sz="1400" dirty="0">
                <a:latin typeface="Calibri Light" panose="020F0302020204030204" pitchFamily="34" charset="0"/>
              </a:rPr>
              <a:t>    private Address address;</a:t>
            </a:r>
          </a:p>
          <a:p>
            <a:r>
              <a:rPr lang="en-US" sz="1400" dirty="0">
                <a:solidFill>
                  <a:srgbClr val="C0504D"/>
                </a:solidFill>
                <a:latin typeface="Calibri Light" panose="020F0302020204030204" pitchFamily="34" charset="0"/>
              </a:rPr>
              <a:t>    @</a:t>
            </a:r>
            <a:r>
              <a:rPr lang="en-US" sz="1400" dirty="0" err="1">
                <a:solidFill>
                  <a:srgbClr val="C0504D"/>
                </a:solidFill>
                <a:latin typeface="Calibri Light" panose="020F0302020204030204" pitchFamily="34" charset="0"/>
              </a:rPr>
              <a:t>OneToMany</a:t>
            </a:r>
            <a:r>
              <a:rPr lang="en-US" sz="1400" dirty="0">
                <a:solidFill>
                  <a:srgbClr val="C0504D"/>
                </a:solidFill>
                <a:latin typeface="Calibri Light" panose="020F0302020204030204" pitchFamily="34" charset="0"/>
              </a:rPr>
              <a:t>(</a:t>
            </a:r>
            <a:r>
              <a:rPr lang="en-US" sz="1400" dirty="0" err="1">
                <a:solidFill>
                  <a:srgbClr val="C0504D"/>
                </a:solidFill>
                <a:highlight>
                  <a:srgbClr val="FFFF00"/>
                </a:highlight>
                <a:latin typeface="Calibri Light" panose="020F0302020204030204" pitchFamily="34" charset="0"/>
              </a:rPr>
              <a:t>mappedBy</a:t>
            </a:r>
            <a:r>
              <a:rPr lang="en-US" sz="1400" dirty="0">
                <a:solidFill>
                  <a:srgbClr val="C0504D"/>
                </a:solidFill>
                <a:highlight>
                  <a:srgbClr val="FFFF00"/>
                </a:highlight>
                <a:latin typeface="Calibri Light" panose="020F0302020204030204" pitchFamily="34" charset="0"/>
              </a:rPr>
              <a:t> = "payer"</a:t>
            </a:r>
            <a:r>
              <a:rPr lang="en-US" sz="1400" dirty="0">
                <a:solidFill>
                  <a:srgbClr val="C0504D"/>
                </a:solidFill>
                <a:latin typeface="Calibri Light" panose="020F0302020204030204" pitchFamily="34" charset="0"/>
              </a:rPr>
              <a:t>)</a:t>
            </a:r>
          </a:p>
          <a:p>
            <a:r>
              <a:rPr lang="en-US" sz="1400" dirty="0">
                <a:solidFill>
                  <a:srgbClr val="C0504D"/>
                </a:solidFill>
                <a:latin typeface="Calibri Light" panose="020F0302020204030204" pitchFamily="34" charset="0"/>
              </a:rPr>
              <a:t>    private List&lt;Order&gt; </a:t>
            </a:r>
            <a:r>
              <a:rPr lang="en-US" sz="1400" dirty="0" err="1">
                <a:solidFill>
                  <a:srgbClr val="C0504D"/>
                </a:solidFill>
                <a:latin typeface="Calibri Light" panose="020F0302020204030204" pitchFamily="34" charset="0"/>
              </a:rPr>
              <a:t>payedOrders</a:t>
            </a:r>
            <a:r>
              <a:rPr lang="en-US" sz="1400" dirty="0">
                <a:solidFill>
                  <a:srgbClr val="C0504D"/>
                </a:solidFill>
                <a:latin typeface="Calibri Light" panose="020F0302020204030204" pitchFamily="34" charset="0"/>
              </a:rPr>
              <a:t>;</a:t>
            </a:r>
          </a:p>
          <a:p>
            <a:r>
              <a:rPr lang="en-US" sz="1400" dirty="0">
                <a:solidFill>
                  <a:srgbClr val="C0504D"/>
                </a:solidFill>
                <a:latin typeface="Calibri Light" panose="020F0302020204030204" pitchFamily="34" charset="0"/>
              </a:rPr>
              <a:t>    @</a:t>
            </a:r>
            <a:r>
              <a:rPr lang="en-US" sz="1400" dirty="0" err="1">
                <a:solidFill>
                  <a:srgbClr val="C0504D"/>
                </a:solidFill>
                <a:latin typeface="Calibri Light" panose="020F0302020204030204" pitchFamily="34" charset="0"/>
              </a:rPr>
              <a:t>OneToMany</a:t>
            </a:r>
            <a:r>
              <a:rPr lang="en-US" sz="1400" dirty="0">
                <a:solidFill>
                  <a:srgbClr val="C0504D"/>
                </a:solidFill>
                <a:latin typeface="Calibri Light" panose="020F0302020204030204" pitchFamily="34" charset="0"/>
              </a:rPr>
              <a:t>(</a:t>
            </a:r>
            <a:r>
              <a:rPr lang="en-US" sz="1400" dirty="0" err="1">
                <a:solidFill>
                  <a:srgbClr val="C0504D"/>
                </a:solidFill>
                <a:highlight>
                  <a:srgbClr val="00FF00"/>
                </a:highlight>
                <a:latin typeface="Calibri Light" panose="020F0302020204030204" pitchFamily="34" charset="0"/>
              </a:rPr>
              <a:t>mappedBy</a:t>
            </a:r>
            <a:r>
              <a:rPr lang="en-US" sz="1400" dirty="0">
                <a:solidFill>
                  <a:srgbClr val="C0504D"/>
                </a:solidFill>
                <a:highlight>
                  <a:srgbClr val="00FF00"/>
                </a:highlight>
                <a:latin typeface="Calibri Light" panose="020F0302020204030204" pitchFamily="34" charset="0"/>
              </a:rPr>
              <a:t> = "deliver"</a:t>
            </a:r>
            <a:r>
              <a:rPr lang="en-US" sz="1400" dirty="0">
                <a:solidFill>
                  <a:srgbClr val="C0504D"/>
                </a:solidFill>
                <a:latin typeface="Calibri Light" panose="020F0302020204030204" pitchFamily="34" charset="0"/>
              </a:rPr>
              <a:t>)</a:t>
            </a:r>
          </a:p>
          <a:p>
            <a:r>
              <a:rPr lang="en-US" sz="1400" dirty="0">
                <a:solidFill>
                  <a:srgbClr val="C0504D"/>
                </a:solidFill>
                <a:latin typeface="Calibri Light" panose="020F0302020204030204" pitchFamily="34" charset="0"/>
              </a:rPr>
              <a:t>    private List&lt;Order&gt; orders;</a:t>
            </a:r>
          </a:p>
          <a:p>
            <a:r>
              <a:rPr lang="en-US" sz="1400" dirty="0">
                <a:latin typeface="Calibri Light" panose="020F0302020204030204" pitchFamily="34" charset="0"/>
              </a:rPr>
              <a:t>…</a:t>
            </a:r>
          </a:p>
          <a:p>
            <a:r>
              <a:rPr lang="en-US" sz="1400" dirty="0">
                <a:latin typeface="Calibri Light" panose="020F0302020204030204" pitchFamily="34" charset="0"/>
              </a:rPr>
              <a:t>}</a:t>
            </a:r>
          </a:p>
        </p:txBody>
      </p:sp>
      <p:sp>
        <p:nvSpPr>
          <p:cNvPr id="5" name="CasellaDiTesto 4"/>
          <p:cNvSpPr txBox="1"/>
          <p:nvPr/>
        </p:nvSpPr>
        <p:spPr>
          <a:xfrm>
            <a:off x="2507370" y="4843418"/>
            <a:ext cx="6179127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>
                <a:highlight>
                  <a:srgbClr val="00FFFF"/>
                </a:highlight>
                <a:latin typeface="Calibri Light" panose="020F0302020204030204" pitchFamily="34" charset="0"/>
              </a:rPr>
              <a:t>Senza </a:t>
            </a:r>
            <a:r>
              <a:rPr lang="en-US" sz="1350" dirty="0" err="1">
                <a:highlight>
                  <a:srgbClr val="00FFFF"/>
                </a:highlight>
                <a:latin typeface="Calibri Light" panose="020F0302020204030204" pitchFamily="34" charset="0"/>
              </a:rPr>
              <a:t>specificare</a:t>
            </a:r>
            <a:r>
              <a:rPr lang="en-US" sz="1350" dirty="0">
                <a:highlight>
                  <a:srgbClr val="00FFFF"/>
                </a:highlight>
                <a:latin typeface="Calibri Light" panose="020F0302020204030204" pitchFamily="34" charset="0"/>
              </a:rPr>
              <a:t> </a:t>
            </a:r>
            <a:r>
              <a:rPr lang="en-US" sz="1350" dirty="0" err="1">
                <a:highlight>
                  <a:srgbClr val="00FFFF"/>
                </a:highlight>
                <a:latin typeface="Calibri Light" panose="020F0302020204030204" pitchFamily="34" charset="0"/>
              </a:rPr>
              <a:t>mappedBy</a:t>
            </a:r>
            <a:r>
              <a:rPr lang="en-US" sz="1350" dirty="0">
                <a:highlight>
                  <a:srgbClr val="00FFFF"/>
                </a:highlight>
                <a:latin typeface="Calibri Light" panose="020F0302020204030204" pitchFamily="34" charset="0"/>
              </a:rPr>
              <a:t> non </a:t>
            </a:r>
            <a:r>
              <a:rPr lang="en-US" sz="1350" dirty="0" err="1">
                <a:highlight>
                  <a:srgbClr val="00FFFF"/>
                </a:highlight>
                <a:latin typeface="Calibri Light" panose="020F0302020204030204" pitchFamily="34" charset="0"/>
              </a:rPr>
              <a:t>sarebbe</a:t>
            </a:r>
            <a:r>
              <a:rPr lang="en-US" sz="1350" dirty="0">
                <a:highlight>
                  <a:srgbClr val="00FFFF"/>
                </a:highlight>
                <a:latin typeface="Calibri Light" panose="020F0302020204030204" pitchFamily="34" charset="0"/>
              </a:rPr>
              <a:t> </a:t>
            </a:r>
            <a:r>
              <a:rPr lang="en-US" sz="1350" dirty="0" err="1">
                <a:highlight>
                  <a:srgbClr val="00FFFF"/>
                </a:highlight>
                <a:latin typeface="Calibri Light" panose="020F0302020204030204" pitchFamily="34" charset="0"/>
              </a:rPr>
              <a:t>possibile</a:t>
            </a:r>
            <a:r>
              <a:rPr lang="en-US" sz="1350" dirty="0">
                <a:highlight>
                  <a:srgbClr val="00FFFF"/>
                </a:highlight>
                <a:latin typeface="Calibri Light" panose="020F0302020204030204" pitchFamily="34" charset="0"/>
              </a:rPr>
              <a:t> </a:t>
            </a:r>
            <a:r>
              <a:rPr lang="en-US" sz="1350" dirty="0" err="1">
                <a:highlight>
                  <a:srgbClr val="00FFFF"/>
                </a:highlight>
                <a:latin typeface="Calibri Light" panose="020F0302020204030204" pitchFamily="34" charset="0"/>
              </a:rPr>
              <a:t>capire</a:t>
            </a:r>
            <a:r>
              <a:rPr lang="en-US" sz="1350" dirty="0">
                <a:highlight>
                  <a:srgbClr val="00FFFF"/>
                </a:highlight>
                <a:latin typeface="Calibri Light" panose="020F0302020204030204" pitchFamily="34" charset="0"/>
              </a:rPr>
              <a:t> la </a:t>
            </a:r>
            <a:r>
              <a:rPr lang="en-US" sz="1350" dirty="0" err="1">
                <a:highlight>
                  <a:srgbClr val="00FFFF"/>
                </a:highlight>
                <a:latin typeface="Calibri Light" panose="020F0302020204030204" pitchFamily="34" charset="0"/>
              </a:rPr>
              <a:t>semantica</a:t>
            </a:r>
            <a:r>
              <a:rPr lang="en-US" sz="1350" dirty="0">
                <a:highlight>
                  <a:srgbClr val="00FFFF"/>
                </a:highlight>
                <a:latin typeface="Calibri Light" panose="020F0302020204030204" pitchFamily="34" charset="0"/>
              </a:rPr>
              <a:t> </a:t>
            </a:r>
            <a:r>
              <a:rPr lang="en-US" sz="1350" dirty="0" err="1">
                <a:highlight>
                  <a:srgbClr val="00FFFF"/>
                </a:highlight>
                <a:latin typeface="Calibri Light" panose="020F0302020204030204" pitchFamily="34" charset="0"/>
              </a:rPr>
              <a:t>dei</a:t>
            </a:r>
            <a:r>
              <a:rPr lang="en-US" sz="1350" dirty="0">
                <a:highlight>
                  <a:srgbClr val="00FFFF"/>
                </a:highlight>
                <a:latin typeface="Calibri Light" panose="020F0302020204030204" pitchFamily="34" charset="0"/>
              </a:rPr>
              <a:t> </a:t>
            </a:r>
            <a:r>
              <a:rPr lang="en-US" sz="1350" dirty="0" err="1">
                <a:highlight>
                  <a:srgbClr val="00FFFF"/>
                </a:highlight>
                <a:latin typeface="Calibri Light" panose="020F0302020204030204" pitchFamily="34" charset="0"/>
              </a:rPr>
              <a:t>riferimenti</a:t>
            </a:r>
            <a:endParaRPr lang="en-US" sz="1350" dirty="0">
              <a:highlight>
                <a:srgbClr val="00FFFF"/>
              </a:highlight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019830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Mettiamo</a:t>
            </a:r>
            <a:r>
              <a:rPr lang="en-US"/>
              <a:t> </a:t>
            </a:r>
            <a:r>
              <a:rPr lang="en-US" err="1"/>
              <a:t>tutto</a:t>
            </a:r>
            <a:r>
              <a:rPr lang="en-US"/>
              <a:t> in </a:t>
            </a:r>
            <a:r>
              <a:rPr lang="en-US" err="1"/>
              <a:t>pratica</a:t>
            </a:r>
            <a:endParaRPr lang="en-US"/>
          </a:p>
        </p:txBody>
      </p:sp>
      <p:pic>
        <p:nvPicPr>
          <p:cNvPr id="4" name="Segnaposto contenuto 3"/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" b="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0161512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Esercizio</a:t>
            </a:r>
            <a:r>
              <a:rPr lang="en-US" dirty="0"/>
              <a:t> 2 (3/12) </a:t>
            </a:r>
            <a:endParaRPr lang="en-US" sz="1650" dirty="0"/>
          </a:p>
        </p:txBody>
      </p:sp>
      <p:graphicFrame>
        <p:nvGraphicFramePr>
          <p:cNvPr id="10" name="Segnaposto contenuto 5"/>
          <p:cNvGraphicFramePr>
            <a:graphicFrameLocks/>
          </p:cNvGraphicFramePr>
          <p:nvPr/>
        </p:nvGraphicFramePr>
        <p:xfrm>
          <a:off x="1402241" y="2476225"/>
          <a:ext cx="1508321" cy="6575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3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5151">
                <a:tc>
                  <a:txBody>
                    <a:bodyPr/>
                    <a:lstStyle/>
                    <a:p>
                      <a:pPr algn="ctr"/>
                      <a:r>
                        <a:rPr lang="it-IT" sz="1400" b="0" i="0" dirty="0">
                          <a:latin typeface="Calibri Light" panose="020F0302020204030204" pitchFamily="34" charset="0"/>
                        </a:rPr>
                        <a:t>Order</a:t>
                      </a:r>
                      <a:endParaRPr lang="it-IT" sz="8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r>
                        <a:rPr lang="it-IT" sz="800" b="0" i="0" dirty="0">
                          <a:latin typeface="Calibri Light" panose="020F0302020204030204" pitchFamily="34" charset="0"/>
                        </a:rPr>
                        <a:t>-id: Long</a:t>
                      </a:r>
                    </a:p>
                    <a:p>
                      <a:r>
                        <a:rPr lang="it-IT" sz="800" dirty="0"/>
                        <a:t>-</a:t>
                      </a:r>
                      <a:r>
                        <a:rPr lang="it-IT" sz="800" dirty="0" err="1"/>
                        <a:t>creationTime</a:t>
                      </a:r>
                      <a:r>
                        <a:rPr lang="it-IT" sz="800" dirty="0"/>
                        <a:t>:</a:t>
                      </a:r>
                      <a:r>
                        <a:rPr lang="it-IT" sz="800" baseline="0" dirty="0"/>
                        <a:t> </a:t>
                      </a:r>
                      <a:r>
                        <a:rPr lang="it-IT" sz="800" baseline="0" dirty="0" err="1"/>
                        <a:t>LocalDateTime</a:t>
                      </a:r>
                      <a:endParaRPr lang="it-IT" sz="800" baseline="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" name="Segnaposto contenuto 5"/>
          <p:cNvGraphicFramePr>
            <a:graphicFrameLocks/>
          </p:cNvGraphicFramePr>
          <p:nvPr/>
        </p:nvGraphicFramePr>
        <p:xfrm>
          <a:off x="3782205" y="2412944"/>
          <a:ext cx="1511789" cy="779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17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5151">
                <a:tc>
                  <a:txBody>
                    <a:bodyPr/>
                    <a:lstStyle/>
                    <a:p>
                      <a:pPr algn="ctr"/>
                      <a:r>
                        <a:rPr lang="it-IT" sz="1400" b="0" i="0" dirty="0" err="1">
                          <a:latin typeface="Calibri Light" panose="020F0302020204030204" pitchFamily="34" charset="0"/>
                        </a:rPr>
                        <a:t>OrderLine</a:t>
                      </a:r>
                      <a:endParaRPr lang="it-IT" sz="8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lang="it-IT" sz="800" b="0" i="0" dirty="0">
                          <a:latin typeface="Calibri Light" panose="020F0302020204030204" pitchFamily="34" charset="0"/>
                        </a:rPr>
                        <a:t>-id: Long</a:t>
                      </a:r>
                    </a:p>
                    <a:p>
                      <a:r>
                        <a:rPr lang="it-IT" sz="800" dirty="0"/>
                        <a:t>-</a:t>
                      </a:r>
                      <a:r>
                        <a:rPr lang="it-IT" sz="800" dirty="0" err="1"/>
                        <a:t>unitPrice</a:t>
                      </a:r>
                      <a:r>
                        <a:rPr lang="it-IT" sz="800" dirty="0"/>
                        <a:t>: Float</a:t>
                      </a:r>
                    </a:p>
                    <a:p>
                      <a:r>
                        <a:rPr lang="it-IT" sz="800" dirty="0"/>
                        <a:t>-</a:t>
                      </a:r>
                      <a:r>
                        <a:rPr lang="it-IT" sz="800" dirty="0" err="1"/>
                        <a:t>quantity</a:t>
                      </a:r>
                      <a:r>
                        <a:rPr lang="it-IT" sz="800" dirty="0"/>
                        <a:t>: </a:t>
                      </a:r>
                      <a:r>
                        <a:rPr lang="it-IT" sz="800" dirty="0" err="1"/>
                        <a:t>Integer</a:t>
                      </a:r>
                      <a:endParaRPr lang="it-IT" sz="8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2" name="Connettore 2 11"/>
          <p:cNvCxnSpPr>
            <a:cxnSpLocks/>
            <a:stCxn id="10" idx="3"/>
            <a:endCxn id="11" idx="1"/>
          </p:cNvCxnSpPr>
          <p:nvPr/>
        </p:nvCxnSpPr>
        <p:spPr>
          <a:xfrm flipV="1">
            <a:off x="2910562" y="2802689"/>
            <a:ext cx="871643" cy="2321"/>
          </a:xfrm>
          <a:prstGeom prst="straightConnector1">
            <a:avLst/>
          </a:prstGeom>
          <a:ln w="12700" cmpd="sng">
            <a:solidFill>
              <a:srgbClr val="000000"/>
            </a:solidFill>
            <a:prstDash val="solid"/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/>
          <p:cNvSpPr txBox="1"/>
          <p:nvPr/>
        </p:nvSpPr>
        <p:spPr>
          <a:xfrm>
            <a:off x="3350894" y="2554978"/>
            <a:ext cx="44595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350" dirty="0">
                <a:latin typeface="Calibri Light" panose="020F0302020204030204" pitchFamily="34" charset="0"/>
              </a:rPr>
              <a:t>0..*</a:t>
            </a:r>
          </a:p>
        </p:txBody>
      </p:sp>
      <p:graphicFrame>
        <p:nvGraphicFramePr>
          <p:cNvPr id="17" name="Segnaposto contenuto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43192321"/>
              </p:ext>
            </p:extLst>
          </p:nvPr>
        </p:nvGraphicFramePr>
        <p:xfrm>
          <a:off x="1402241" y="3749646"/>
          <a:ext cx="1508321" cy="12671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3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5151">
                <a:tc>
                  <a:txBody>
                    <a:bodyPr/>
                    <a:lstStyle/>
                    <a:p>
                      <a:pPr algn="ctr"/>
                      <a:r>
                        <a:rPr lang="it-IT" sz="1400" b="0" i="0" dirty="0">
                          <a:latin typeface="Calibri Light" panose="020F0302020204030204" pitchFamily="34" charset="0"/>
                        </a:rPr>
                        <a:t>Customer</a:t>
                      </a:r>
                      <a:endParaRPr lang="it-IT" sz="8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8685">
                <a:tc>
                  <a:txBody>
                    <a:bodyPr/>
                    <a:lstStyle/>
                    <a:p>
                      <a:r>
                        <a:rPr lang="it-IT" sz="800" b="0" i="0" dirty="0">
                          <a:latin typeface="Calibri Light" panose="020F0302020204030204" pitchFamily="34" charset="0"/>
                        </a:rPr>
                        <a:t>-id: Long</a:t>
                      </a:r>
                    </a:p>
                    <a:p>
                      <a:r>
                        <a:rPr lang="it-IT" sz="800" dirty="0"/>
                        <a:t>-</a:t>
                      </a:r>
                      <a:r>
                        <a:rPr lang="it-IT" sz="800" dirty="0" err="1"/>
                        <a:t>firstName</a:t>
                      </a:r>
                      <a:r>
                        <a:rPr lang="it-IT" sz="800" dirty="0"/>
                        <a:t>:</a:t>
                      </a:r>
                      <a:r>
                        <a:rPr lang="it-IT" sz="800" baseline="0" dirty="0"/>
                        <a:t> </a:t>
                      </a:r>
                      <a:r>
                        <a:rPr lang="it-IT" sz="800" baseline="0" dirty="0" err="1"/>
                        <a:t>String</a:t>
                      </a:r>
                      <a:endParaRPr lang="it-IT" sz="800" baseline="0" dirty="0"/>
                    </a:p>
                    <a:p>
                      <a:r>
                        <a:rPr lang="it-IT" sz="800" baseline="0" dirty="0"/>
                        <a:t>-</a:t>
                      </a:r>
                      <a:r>
                        <a:rPr lang="it-IT" sz="800" baseline="0" dirty="0" err="1"/>
                        <a:t>lastName</a:t>
                      </a:r>
                      <a:r>
                        <a:rPr lang="it-IT" sz="800" baseline="0" dirty="0"/>
                        <a:t>: </a:t>
                      </a:r>
                      <a:r>
                        <a:rPr lang="it-IT" sz="800" baseline="0" dirty="0" err="1"/>
                        <a:t>String</a:t>
                      </a:r>
                      <a:endParaRPr lang="it-IT" sz="800" baseline="0" dirty="0"/>
                    </a:p>
                    <a:p>
                      <a:r>
                        <a:rPr lang="it-IT" sz="800" baseline="0" dirty="0"/>
                        <a:t>-email: </a:t>
                      </a:r>
                      <a:r>
                        <a:rPr lang="it-IT" sz="800" baseline="0" dirty="0" err="1"/>
                        <a:t>String</a:t>
                      </a:r>
                      <a:endParaRPr lang="it-IT" sz="800" baseline="0" dirty="0"/>
                    </a:p>
                    <a:p>
                      <a:r>
                        <a:rPr lang="it-IT" sz="800" baseline="0" dirty="0"/>
                        <a:t>-</a:t>
                      </a:r>
                      <a:r>
                        <a:rPr lang="it-IT" sz="800" baseline="0" dirty="0" err="1"/>
                        <a:t>phoneNumber</a:t>
                      </a:r>
                      <a:r>
                        <a:rPr lang="it-IT" sz="800" baseline="0" dirty="0"/>
                        <a:t>: </a:t>
                      </a:r>
                      <a:r>
                        <a:rPr lang="it-IT" sz="800" baseline="0" dirty="0" err="1"/>
                        <a:t>String</a:t>
                      </a:r>
                      <a:endParaRPr lang="it-IT" sz="800" baseline="0" dirty="0"/>
                    </a:p>
                    <a:p>
                      <a:r>
                        <a:rPr lang="it-IT" sz="800" baseline="0" dirty="0"/>
                        <a:t>-</a:t>
                      </a:r>
                      <a:r>
                        <a:rPr lang="it-IT" sz="800" baseline="0" dirty="0" err="1"/>
                        <a:t>dateOfBirth</a:t>
                      </a:r>
                      <a:r>
                        <a:rPr lang="it-IT" sz="800" baseline="0" dirty="0"/>
                        <a:t>: </a:t>
                      </a:r>
                      <a:r>
                        <a:rPr lang="it-IT" sz="800" baseline="0" dirty="0" err="1"/>
                        <a:t>LocalDate</a:t>
                      </a:r>
                      <a:endParaRPr lang="it-IT" sz="800" baseline="0" dirty="0"/>
                    </a:p>
                    <a:p>
                      <a:endParaRPr lang="it-IT" sz="800" baseline="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8" name="Segnaposto contenuto 5"/>
          <p:cNvGraphicFramePr>
            <a:graphicFrameLocks/>
          </p:cNvGraphicFramePr>
          <p:nvPr/>
        </p:nvGraphicFramePr>
        <p:xfrm>
          <a:off x="6270136" y="3809654"/>
          <a:ext cx="1511789" cy="11452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17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5151">
                <a:tc>
                  <a:txBody>
                    <a:bodyPr/>
                    <a:lstStyle/>
                    <a:p>
                      <a:pPr algn="ctr"/>
                      <a:r>
                        <a:rPr lang="it-IT" sz="1400" b="0" i="0" dirty="0" err="1">
                          <a:latin typeface="Calibri Light" panose="020F0302020204030204" pitchFamily="34" charset="0"/>
                        </a:rPr>
                        <a:t>Address</a:t>
                      </a:r>
                      <a:endParaRPr lang="it-IT" sz="8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8670">
                <a:tc>
                  <a:txBody>
                    <a:bodyPr/>
                    <a:lstStyle/>
                    <a:p>
                      <a:r>
                        <a:rPr lang="it-IT" sz="800" b="0" i="0" dirty="0">
                          <a:latin typeface="Calibri Light" panose="020F0302020204030204" pitchFamily="34" charset="0"/>
                        </a:rPr>
                        <a:t>-id: Long</a:t>
                      </a:r>
                    </a:p>
                    <a:p>
                      <a:r>
                        <a:rPr lang="it-IT" sz="800" dirty="0"/>
                        <a:t>-street: </a:t>
                      </a:r>
                      <a:r>
                        <a:rPr lang="it-IT" sz="800" dirty="0" err="1"/>
                        <a:t>String</a:t>
                      </a:r>
                      <a:endParaRPr lang="it-IT" sz="800" dirty="0"/>
                    </a:p>
                    <a:p>
                      <a:r>
                        <a:rPr lang="it-IT" sz="800" dirty="0"/>
                        <a:t>-city: </a:t>
                      </a:r>
                      <a:r>
                        <a:rPr lang="it-IT" sz="800" dirty="0" err="1"/>
                        <a:t>String</a:t>
                      </a:r>
                      <a:endParaRPr lang="it-IT" sz="800" dirty="0"/>
                    </a:p>
                    <a:p>
                      <a:r>
                        <a:rPr lang="it-IT" sz="800" dirty="0"/>
                        <a:t>-state:</a:t>
                      </a:r>
                      <a:r>
                        <a:rPr lang="it-IT" sz="800" baseline="0" dirty="0"/>
                        <a:t> </a:t>
                      </a:r>
                      <a:r>
                        <a:rPr lang="it-IT" sz="800" baseline="0" dirty="0" err="1"/>
                        <a:t>String</a:t>
                      </a:r>
                      <a:endParaRPr lang="it-IT" sz="800" baseline="0" dirty="0"/>
                    </a:p>
                    <a:p>
                      <a:r>
                        <a:rPr lang="it-IT" sz="800" baseline="0" dirty="0"/>
                        <a:t>-</a:t>
                      </a:r>
                      <a:r>
                        <a:rPr lang="it-IT" sz="800" baseline="0" dirty="0" err="1"/>
                        <a:t>zipcode</a:t>
                      </a:r>
                      <a:r>
                        <a:rPr lang="it-IT" sz="800" baseline="0" dirty="0"/>
                        <a:t>: </a:t>
                      </a:r>
                      <a:r>
                        <a:rPr lang="it-IT" sz="800" baseline="0" dirty="0" err="1"/>
                        <a:t>String</a:t>
                      </a:r>
                      <a:endParaRPr lang="it-IT" sz="800" baseline="0" dirty="0"/>
                    </a:p>
                    <a:p>
                      <a:r>
                        <a:rPr lang="it-IT" sz="800" baseline="0" dirty="0"/>
                        <a:t>-country: </a:t>
                      </a:r>
                      <a:r>
                        <a:rPr lang="it-IT" sz="800" baseline="0" dirty="0" err="1"/>
                        <a:t>String</a:t>
                      </a:r>
                      <a:endParaRPr lang="it-IT" sz="8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9" name="Connettore 2 18"/>
          <p:cNvCxnSpPr>
            <a:cxnSpLocks/>
            <a:stCxn id="17" idx="3"/>
            <a:endCxn id="18" idx="1"/>
          </p:cNvCxnSpPr>
          <p:nvPr/>
        </p:nvCxnSpPr>
        <p:spPr>
          <a:xfrm flipV="1">
            <a:off x="2910562" y="4382279"/>
            <a:ext cx="3359574" cy="952"/>
          </a:xfrm>
          <a:prstGeom prst="straightConnector1">
            <a:avLst/>
          </a:prstGeom>
          <a:ln w="12700" cmpd="sng">
            <a:solidFill>
              <a:srgbClr val="000000"/>
            </a:solidFill>
            <a:prstDash val="solid"/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C10A9647-9BFC-274E-B6BD-94EE4E33A1D2}"/>
              </a:ext>
            </a:extLst>
          </p:cNvPr>
          <p:cNvSpPr txBox="1"/>
          <p:nvPr/>
        </p:nvSpPr>
        <p:spPr>
          <a:xfrm>
            <a:off x="685715" y="1551264"/>
            <a:ext cx="622227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 err="1">
                <a:latin typeface="Calibri Light" panose="020F0302020204030204" pitchFamily="34" charset="0"/>
              </a:rPr>
              <a:t>Continuiamo</a:t>
            </a:r>
            <a:r>
              <a:rPr lang="en-US" sz="2100" dirty="0">
                <a:latin typeface="Calibri Light" panose="020F0302020204030204" pitchFamily="34" charset="0"/>
              </a:rPr>
              <a:t> a </a:t>
            </a:r>
            <a:r>
              <a:rPr lang="en-US" sz="2100" dirty="0" err="1">
                <a:latin typeface="Calibri Light" panose="020F0302020204030204" pitchFamily="34" charset="0"/>
              </a:rPr>
              <a:t>lavorare</a:t>
            </a:r>
            <a:r>
              <a:rPr lang="en-US" sz="2100" dirty="0">
                <a:latin typeface="Calibri Light" panose="020F0302020204030204" pitchFamily="34" charset="0"/>
              </a:rPr>
              <a:t> </a:t>
            </a:r>
            <a:r>
              <a:rPr lang="en-US" sz="2100" dirty="0" err="1">
                <a:latin typeface="Calibri Light" panose="020F0302020204030204" pitchFamily="34" charset="0"/>
              </a:rPr>
              <a:t>sul</a:t>
            </a:r>
            <a:r>
              <a:rPr lang="en-US" sz="2100" dirty="0">
                <a:latin typeface="Calibri Light" panose="020F0302020204030204" pitchFamily="34" charset="0"/>
              </a:rPr>
              <a:t> </a:t>
            </a:r>
            <a:r>
              <a:rPr lang="en-US" sz="2100" dirty="0" err="1">
                <a:latin typeface="Calibri Light" panose="020F0302020204030204" pitchFamily="34" charset="0"/>
              </a:rPr>
              <a:t>progetto</a:t>
            </a:r>
            <a:r>
              <a:rPr lang="en-US" sz="2100" dirty="0">
                <a:latin typeface="Calibri Light" panose="020F0302020204030204" pitchFamily="34" charset="0"/>
              </a:rPr>
              <a:t> siw-jpa-es1</a:t>
            </a:r>
          </a:p>
        </p:txBody>
      </p:sp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F60A379E-EDCE-A14A-8984-8E7C1E103971}"/>
              </a:ext>
            </a:extLst>
          </p:cNvPr>
          <p:cNvCxnSpPr>
            <a:cxnSpLocks/>
          </p:cNvCxnSpPr>
          <p:nvPr/>
        </p:nvCxnSpPr>
        <p:spPr>
          <a:xfrm flipV="1">
            <a:off x="2156401" y="3129986"/>
            <a:ext cx="0" cy="619660"/>
          </a:xfrm>
          <a:prstGeom prst="straightConnector1">
            <a:avLst/>
          </a:prstGeom>
          <a:ln w="12700" cmpd="sng">
            <a:solidFill>
              <a:srgbClr val="000000"/>
            </a:solidFill>
            <a:prstDash val="solid"/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7F1F4E55-FAD3-DE43-8076-AB16AB40C51C}"/>
              </a:ext>
            </a:extLst>
          </p:cNvPr>
          <p:cNvSpPr txBox="1"/>
          <p:nvPr/>
        </p:nvSpPr>
        <p:spPr>
          <a:xfrm>
            <a:off x="2142125" y="3161947"/>
            <a:ext cx="44595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350" dirty="0">
                <a:latin typeface="Calibri Light" panose="020F0302020204030204" pitchFamily="34" charset="0"/>
              </a:rPr>
              <a:t>0..*</a:t>
            </a:r>
          </a:p>
        </p:txBody>
      </p:sp>
    </p:spTree>
    <p:extLst>
      <p:ext uri="{BB962C8B-B14F-4D97-AF65-F5344CB8AC3E}">
        <p14:creationId xmlns:p14="http://schemas.microsoft.com/office/powerpoint/2010/main" val="172678592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F61339E-656F-6F4B-81D1-66A087528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Esercizio</a:t>
            </a:r>
            <a:r>
              <a:rPr lang="en-US" dirty="0"/>
              <a:t> 2 (4/12)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BDA1D8D-0E94-8348-8FAF-4054A85320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 dirty="0"/>
              <a:t>7.    </a:t>
            </a:r>
            <a:r>
              <a:rPr lang="en-US" sz="1800" dirty="0" err="1"/>
              <a:t>Aggiungere</a:t>
            </a:r>
            <a:r>
              <a:rPr lang="en-US" sz="1800" dirty="0"/>
              <a:t> il </a:t>
            </a:r>
            <a:r>
              <a:rPr lang="en-US" sz="1800" dirty="0" err="1"/>
              <a:t>codice</a:t>
            </a:r>
            <a:r>
              <a:rPr lang="en-US" sz="1800" dirty="0"/>
              <a:t> </a:t>
            </a:r>
            <a:r>
              <a:rPr lang="en-US" sz="1800" dirty="0" err="1"/>
              <a:t>delle</a:t>
            </a:r>
            <a:r>
              <a:rPr lang="en-US" sz="1800" dirty="0"/>
              <a:t> </a:t>
            </a:r>
            <a:r>
              <a:rPr lang="en-US" sz="1800" dirty="0" err="1"/>
              <a:t>classi</a:t>
            </a:r>
            <a:r>
              <a:rPr lang="en-US" sz="1800" dirty="0"/>
              <a:t> </a:t>
            </a:r>
            <a:r>
              <a:rPr lang="en-US" sz="1800" b="1" dirty="0"/>
              <a:t>Order</a:t>
            </a:r>
            <a:r>
              <a:rPr lang="en-US" sz="1800" dirty="0"/>
              <a:t> e </a:t>
            </a:r>
            <a:r>
              <a:rPr lang="en-US" sz="1800" b="1" dirty="0" err="1"/>
              <a:t>OrderLine</a:t>
            </a:r>
            <a:r>
              <a:rPr lang="en-US" sz="1800" dirty="0"/>
              <a:t> e </a:t>
            </a:r>
            <a:r>
              <a:rPr lang="en-US" sz="1800" dirty="0" err="1"/>
              <a:t>modificare</a:t>
            </a:r>
            <a:r>
              <a:rPr lang="en-US" sz="1800" dirty="0"/>
              <a:t> </a:t>
            </a:r>
            <a:br>
              <a:rPr lang="en-US" sz="1800" dirty="0"/>
            </a:br>
            <a:r>
              <a:rPr lang="en-US" sz="1800" dirty="0"/>
              <a:t>       il </a:t>
            </a:r>
            <a:r>
              <a:rPr lang="en-US" sz="1800" dirty="0" err="1"/>
              <a:t>codice</a:t>
            </a:r>
            <a:r>
              <a:rPr lang="en-US" sz="1800" dirty="0"/>
              <a:t> </a:t>
            </a:r>
            <a:r>
              <a:rPr lang="en-US" sz="1800" dirty="0" err="1"/>
              <a:t>della</a:t>
            </a:r>
            <a:r>
              <a:rPr lang="en-US" sz="1800" dirty="0"/>
              <a:t> </a:t>
            </a:r>
            <a:r>
              <a:rPr lang="en-US" sz="1800" dirty="0" err="1"/>
              <a:t>classe</a:t>
            </a:r>
            <a:r>
              <a:rPr lang="en-US" sz="1800" dirty="0"/>
              <a:t> </a:t>
            </a:r>
            <a:r>
              <a:rPr lang="en-US" sz="1800" b="1" dirty="0"/>
              <a:t>Customer</a:t>
            </a:r>
            <a:r>
              <a:rPr lang="en-US" sz="1800" dirty="0"/>
              <a:t> </a:t>
            </a:r>
            <a:r>
              <a:rPr lang="en-US" sz="1800" dirty="0" err="1"/>
              <a:t>rappresentate</a:t>
            </a:r>
            <a:r>
              <a:rPr lang="en-US" sz="1800" dirty="0"/>
              <a:t> </a:t>
            </a:r>
            <a:r>
              <a:rPr lang="en-US" sz="1800" dirty="0" err="1"/>
              <a:t>nel</a:t>
            </a:r>
            <a:r>
              <a:rPr lang="en-US" sz="1800" dirty="0"/>
              <a:t> class </a:t>
            </a:r>
            <a:br>
              <a:rPr lang="en-US" sz="1800" dirty="0"/>
            </a:br>
            <a:r>
              <a:rPr lang="en-US" sz="1800" dirty="0"/>
              <a:t>       diagram </a:t>
            </a:r>
            <a:r>
              <a:rPr lang="en-US" sz="1800" dirty="0" err="1"/>
              <a:t>della</a:t>
            </a:r>
            <a:r>
              <a:rPr lang="en-US" sz="1800" dirty="0"/>
              <a:t> slide </a:t>
            </a:r>
            <a:r>
              <a:rPr lang="en-US" sz="1800" dirty="0" err="1"/>
              <a:t>precedente</a:t>
            </a:r>
            <a:endParaRPr lang="en-US" sz="1800" b="1" dirty="0"/>
          </a:p>
          <a:p>
            <a:pPr marL="0" indent="0">
              <a:buNone/>
            </a:pPr>
            <a:r>
              <a:rPr lang="en-US" sz="1800" dirty="0"/>
              <a:t>8.    </a:t>
            </a:r>
            <a:r>
              <a:rPr lang="en-US" sz="1800" dirty="0" err="1"/>
              <a:t>Quante</a:t>
            </a:r>
            <a:r>
              <a:rPr lang="en-US" sz="1800" dirty="0"/>
              <a:t> </a:t>
            </a:r>
            <a:r>
              <a:rPr lang="en-US" sz="1800" dirty="0" err="1"/>
              <a:t>tabelle</a:t>
            </a:r>
            <a:r>
              <a:rPr lang="en-US" sz="1800" dirty="0"/>
              <a:t> ci </a:t>
            </a:r>
            <a:r>
              <a:rPr lang="en-US" sz="1800" dirty="0" err="1"/>
              <a:t>aspettiamo</a:t>
            </a:r>
            <a:r>
              <a:rPr lang="en-US" sz="1800" dirty="0"/>
              <a:t> </a:t>
            </a:r>
            <a:r>
              <a:rPr lang="en-US" sz="1800" dirty="0" err="1"/>
              <a:t>che</a:t>
            </a:r>
            <a:r>
              <a:rPr lang="en-US" sz="1800" dirty="0"/>
              <a:t> </a:t>
            </a:r>
            <a:r>
              <a:rPr lang="en-US" sz="1800" dirty="0" err="1"/>
              <a:t>saranno</a:t>
            </a:r>
            <a:r>
              <a:rPr lang="en-US" sz="1800" dirty="0"/>
              <a:t> create da JPA? </a:t>
            </a:r>
            <a:br>
              <a:rPr lang="en-US" sz="1800" dirty="0"/>
            </a:br>
            <a:r>
              <a:rPr lang="en-US" sz="1800" dirty="0"/>
              <a:t>       </a:t>
            </a:r>
            <a:r>
              <a:rPr lang="en-US" sz="1800" dirty="0" err="1"/>
              <a:t>Scrivere</a:t>
            </a:r>
            <a:r>
              <a:rPr lang="en-US" sz="1800" dirty="0"/>
              <a:t> </a:t>
            </a:r>
            <a:r>
              <a:rPr lang="en-US" sz="1800" dirty="0" err="1"/>
              <a:t>il</a:t>
            </a:r>
            <a:r>
              <a:rPr lang="en-US" sz="1800" dirty="0"/>
              <a:t> </a:t>
            </a:r>
            <a:r>
              <a:rPr lang="en-US" sz="1800" dirty="0" err="1"/>
              <a:t>numero</a:t>
            </a:r>
            <a:r>
              <a:rPr lang="en-US" sz="1800" dirty="0"/>
              <a:t> di un </a:t>
            </a:r>
            <a:r>
              <a:rPr lang="en-US" sz="1800" dirty="0" err="1"/>
              <a:t>foglio</a:t>
            </a:r>
            <a:r>
              <a:rPr lang="en-US" sz="1800" dirty="0"/>
              <a:t> di carta. </a:t>
            </a:r>
            <a:r>
              <a:rPr lang="en-US" sz="1800" dirty="0" err="1"/>
              <a:t>Sullo</a:t>
            </a:r>
            <a:r>
              <a:rPr lang="en-US" sz="1800" dirty="0"/>
              <a:t> </a:t>
            </a:r>
            <a:r>
              <a:rPr lang="en-US" sz="1800" dirty="0" err="1"/>
              <a:t>stesso</a:t>
            </a:r>
            <a:r>
              <a:rPr lang="en-US" sz="1800" dirty="0"/>
              <a:t> </a:t>
            </a:r>
            <a:r>
              <a:rPr lang="en-US" sz="1800" dirty="0" err="1"/>
              <a:t>foglio</a:t>
            </a:r>
            <a:r>
              <a:rPr lang="en-US" sz="1800" dirty="0"/>
              <a:t> </a:t>
            </a:r>
            <a:br>
              <a:rPr lang="en-US" sz="1800" dirty="0"/>
            </a:br>
            <a:r>
              <a:rPr lang="en-US" sz="1800" dirty="0"/>
              <a:t>       </a:t>
            </a:r>
            <a:r>
              <a:rPr lang="en-US" sz="1800" dirty="0" err="1"/>
              <a:t>scrivere</a:t>
            </a:r>
            <a:r>
              <a:rPr lang="en-US" sz="1800" dirty="0"/>
              <a:t> lo schema </a:t>
            </a:r>
            <a:r>
              <a:rPr lang="en-US" sz="1800" dirty="0" err="1"/>
              <a:t>delle</a:t>
            </a:r>
            <a:r>
              <a:rPr lang="en-US" sz="1800" dirty="0"/>
              <a:t> </a:t>
            </a:r>
            <a:r>
              <a:rPr lang="en-US" sz="1800" dirty="0" err="1"/>
              <a:t>tabelle</a:t>
            </a:r>
            <a:r>
              <a:rPr lang="en-US" sz="1800" dirty="0"/>
              <a:t> </a:t>
            </a:r>
            <a:r>
              <a:rPr lang="en-US" sz="1800" dirty="0" err="1"/>
              <a:t>che</a:t>
            </a:r>
            <a:r>
              <a:rPr lang="en-US" sz="1800" dirty="0"/>
              <a:t> ci </a:t>
            </a:r>
            <a:r>
              <a:rPr lang="en-US" sz="1800" dirty="0" err="1"/>
              <a:t>aspettiamo</a:t>
            </a:r>
            <a:r>
              <a:rPr lang="en-US" sz="1800" dirty="0"/>
              <a:t> </a:t>
            </a:r>
            <a:br>
              <a:rPr lang="en-US" sz="1800" dirty="0"/>
            </a:br>
            <a:r>
              <a:rPr lang="en-US" sz="1800" dirty="0"/>
              <a:t>       </a:t>
            </a:r>
            <a:r>
              <a:rPr lang="en-US" sz="1800" dirty="0" err="1"/>
              <a:t>saranno</a:t>
            </a:r>
            <a:r>
              <a:rPr lang="en-US" sz="1800" dirty="0"/>
              <a:t> create da JPA. </a:t>
            </a:r>
          </a:p>
          <a:p>
            <a:pPr marL="342900" indent="-342900">
              <a:buAutoNum type="arabicPeriod" startAt="9"/>
            </a:pPr>
            <a:r>
              <a:rPr lang="en-US" sz="1800" dirty="0" err="1"/>
              <a:t>Eseguire</a:t>
            </a:r>
            <a:r>
              <a:rPr lang="en-US" sz="1800" dirty="0"/>
              <a:t> il </a:t>
            </a:r>
            <a:r>
              <a:rPr lang="en-US" sz="1800" dirty="0" err="1"/>
              <a:t>programma</a:t>
            </a:r>
            <a:r>
              <a:rPr lang="en-US" sz="1800" dirty="0"/>
              <a:t> (come Spring Boot App)</a:t>
            </a:r>
          </a:p>
          <a:p>
            <a:pPr marL="342900" indent="-342900">
              <a:buAutoNum type="arabicPeriod" startAt="9"/>
            </a:pPr>
            <a:r>
              <a:rPr lang="en-US" sz="1800" dirty="0" err="1"/>
              <a:t>Controllare</a:t>
            </a:r>
            <a:r>
              <a:rPr lang="en-US" sz="1800" dirty="0"/>
              <a:t> lo schema </a:t>
            </a:r>
            <a:r>
              <a:rPr lang="en-US" sz="1800" dirty="0" err="1"/>
              <a:t>delle</a:t>
            </a:r>
            <a:r>
              <a:rPr lang="en-US" sz="1800" dirty="0"/>
              <a:t> </a:t>
            </a:r>
            <a:r>
              <a:rPr lang="en-US" sz="1800" dirty="0" err="1"/>
              <a:t>tabelle</a:t>
            </a:r>
            <a:r>
              <a:rPr lang="en-US" sz="1800" dirty="0"/>
              <a:t> create dal JPA </a:t>
            </a:r>
            <a:br>
              <a:rPr lang="en-US" sz="1800" dirty="0"/>
            </a:br>
            <a:r>
              <a:rPr lang="en-US" sz="1800" dirty="0" err="1"/>
              <a:t>nel</a:t>
            </a:r>
            <a:r>
              <a:rPr lang="en-US" sz="1800" dirty="0"/>
              <a:t> database</a:t>
            </a:r>
            <a:r>
              <a:rPr lang="en-US" sz="1800" b="1" dirty="0"/>
              <a:t> products </a:t>
            </a:r>
            <a:r>
              <a:rPr lang="en-US" sz="1800" dirty="0"/>
              <a:t>e </a:t>
            </a:r>
            <a:r>
              <a:rPr lang="en-US" sz="1800" dirty="0" err="1"/>
              <a:t>confrontarle</a:t>
            </a:r>
            <a:r>
              <a:rPr lang="en-US" sz="1800" dirty="0"/>
              <a:t> con lo schema </a:t>
            </a:r>
            <a:r>
              <a:rPr lang="en-US" sz="1800" dirty="0" err="1"/>
              <a:t>che</a:t>
            </a:r>
            <a:r>
              <a:rPr lang="en-US" sz="1800" dirty="0"/>
              <a:t> </a:t>
            </a:r>
            <a:r>
              <a:rPr lang="en-US" sz="1800" dirty="0" err="1"/>
              <a:t>abbiamo</a:t>
            </a:r>
            <a:r>
              <a:rPr lang="en-US" sz="1800" dirty="0"/>
              <a:t> </a:t>
            </a:r>
            <a:r>
              <a:rPr lang="en-US" sz="1800" dirty="0" err="1"/>
              <a:t>scritto</a:t>
            </a:r>
            <a:r>
              <a:rPr lang="en-US" sz="1800" dirty="0"/>
              <a:t> al punto 8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Per </a:t>
            </a:r>
            <a:r>
              <a:rPr lang="en-US" sz="1800" dirty="0" err="1"/>
              <a:t>i</a:t>
            </a:r>
            <a:r>
              <a:rPr lang="en-US" sz="1800" dirty="0"/>
              <a:t> </a:t>
            </a:r>
            <a:r>
              <a:rPr lang="en-US" sz="1800" dirty="0" err="1"/>
              <a:t>passi</a:t>
            </a:r>
            <a:r>
              <a:rPr lang="en-US" sz="1800" dirty="0"/>
              <a:t> </a:t>
            </a:r>
            <a:r>
              <a:rPr lang="en-US" sz="1800" dirty="0" err="1"/>
              <a:t>successivi</a:t>
            </a:r>
            <a:r>
              <a:rPr lang="en-US" sz="1800" dirty="0"/>
              <a:t>, </a:t>
            </a:r>
            <a:r>
              <a:rPr lang="en-US" sz="1800" dirty="0" err="1"/>
              <a:t>vedi</a:t>
            </a:r>
            <a:r>
              <a:rPr lang="en-US" sz="1800" dirty="0"/>
              <a:t> le </a:t>
            </a:r>
            <a:r>
              <a:rPr lang="en-US" sz="1800" dirty="0" err="1"/>
              <a:t>prossime</a:t>
            </a:r>
            <a:r>
              <a:rPr lang="en-US" sz="1800" dirty="0"/>
              <a:t> slide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01018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F61339E-656F-6F4B-81D1-66A087528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Esercizio</a:t>
            </a:r>
            <a:r>
              <a:rPr lang="en-US" dirty="0"/>
              <a:t> 2 (5/12)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BDA1D8D-0E94-8348-8FAF-4054A85320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1800" dirty="0"/>
              <a:t>11. Se </a:t>
            </a:r>
            <a:r>
              <a:rPr lang="en-US" sz="1800" dirty="0" err="1"/>
              <a:t>abbiamo</a:t>
            </a:r>
            <a:r>
              <a:rPr lang="en-US" sz="1800" dirty="0"/>
              <a:t> </a:t>
            </a:r>
            <a:r>
              <a:rPr lang="en-US" sz="1800" dirty="0" err="1"/>
              <a:t>svolto</a:t>
            </a:r>
            <a:r>
              <a:rPr lang="en-US" sz="1800" dirty="0"/>
              <a:t> </a:t>
            </a:r>
            <a:r>
              <a:rPr lang="en-US" sz="1800" dirty="0" err="1"/>
              <a:t>correttamente</a:t>
            </a:r>
            <a:r>
              <a:rPr lang="en-US" sz="1800" dirty="0"/>
              <a:t> </a:t>
            </a:r>
            <a:r>
              <a:rPr lang="en-US" sz="1800" dirty="0" err="1"/>
              <a:t>il</a:t>
            </a:r>
            <a:r>
              <a:rPr lang="en-US" sz="1800" dirty="0"/>
              <a:t> mapping </a:t>
            </a:r>
            <a:r>
              <a:rPr lang="en-US" sz="1800" dirty="0" err="1"/>
              <a:t>della</a:t>
            </a:r>
            <a:r>
              <a:rPr lang="en-US" sz="1800" dirty="0"/>
              <a:t> </a:t>
            </a:r>
            <a:br>
              <a:rPr lang="en-US" sz="1800" dirty="0"/>
            </a:br>
            <a:r>
              <a:rPr lang="en-US" sz="1800" dirty="0"/>
              <a:t>             </a:t>
            </a:r>
            <a:r>
              <a:rPr lang="en-US" sz="1800" dirty="0" err="1"/>
              <a:t>associazione</a:t>
            </a:r>
            <a:r>
              <a:rPr lang="en-US" sz="1800" dirty="0"/>
              <a:t> </a:t>
            </a:r>
            <a:r>
              <a:rPr lang="en-US" sz="1800" dirty="0" err="1"/>
              <a:t>tra</a:t>
            </a:r>
            <a:r>
              <a:rPr lang="en-US" sz="1800" dirty="0"/>
              <a:t> </a:t>
            </a:r>
            <a:r>
              <a:rPr lang="en-US" sz="1800" b="1" dirty="0"/>
              <a:t>Customer</a:t>
            </a:r>
            <a:r>
              <a:rPr lang="en-US" sz="1800" dirty="0"/>
              <a:t> e </a:t>
            </a:r>
            <a:r>
              <a:rPr lang="en-US" sz="1800" b="1" dirty="0"/>
              <a:t>Order</a:t>
            </a:r>
            <a:r>
              <a:rPr lang="en-US" sz="1800" dirty="0"/>
              <a:t>, </a:t>
            </a:r>
            <a:r>
              <a:rPr lang="en-US" sz="1800" dirty="0" err="1"/>
              <a:t>nella</a:t>
            </a:r>
            <a:r>
              <a:rPr lang="en-US" sz="1800" dirty="0"/>
              <a:t> </a:t>
            </a:r>
            <a:r>
              <a:rPr lang="en-US" sz="1800" dirty="0" err="1"/>
              <a:t>classe</a:t>
            </a:r>
            <a:r>
              <a:rPr lang="en-US" sz="1800" dirty="0"/>
              <a:t> </a:t>
            </a:r>
            <a:br>
              <a:rPr lang="en-US" sz="1800" dirty="0"/>
            </a:br>
            <a:r>
              <a:rPr lang="en-US" sz="1800" dirty="0"/>
              <a:t>             </a:t>
            </a:r>
            <a:r>
              <a:rPr lang="en-US" sz="1800" b="1" dirty="0"/>
              <a:t>Customer</a:t>
            </a:r>
            <a:r>
              <a:rPr lang="en-US" sz="1800" dirty="0"/>
              <a:t> </a:t>
            </a:r>
            <a:r>
              <a:rPr lang="en-US" sz="1800" dirty="0" err="1"/>
              <a:t>abbiamo</a:t>
            </a:r>
            <a:r>
              <a:rPr lang="en-US" sz="1800" dirty="0"/>
              <a:t> </a:t>
            </a:r>
            <a:r>
              <a:rPr lang="en-US" sz="1800" dirty="0" err="1"/>
              <a:t>usato</a:t>
            </a:r>
            <a:r>
              <a:rPr lang="en-US" sz="1800" dirty="0"/>
              <a:t> </a:t>
            </a:r>
            <a:r>
              <a:rPr lang="en-US" sz="1800" dirty="0" err="1"/>
              <a:t>l'attributo</a:t>
            </a:r>
            <a:r>
              <a:rPr lang="en-US" sz="1800" dirty="0"/>
              <a:t> </a:t>
            </a:r>
            <a:r>
              <a:rPr lang="en-US" sz="1800" dirty="0" err="1"/>
              <a:t>mappedBy</a:t>
            </a:r>
            <a:r>
              <a:rPr lang="en-US" sz="1800" dirty="0"/>
              <a:t> </a:t>
            </a:r>
            <a:r>
              <a:rPr lang="en-US" sz="1800" dirty="0" err="1"/>
              <a:t>nella</a:t>
            </a:r>
            <a:r>
              <a:rPr lang="en-US" sz="1800" dirty="0"/>
              <a:t> </a:t>
            </a:r>
            <a:r>
              <a:rPr lang="en-US" sz="1800" dirty="0" err="1"/>
              <a:t>relazione</a:t>
            </a:r>
            <a:r>
              <a:rPr lang="en-US" sz="1800" dirty="0"/>
              <a:t> </a:t>
            </a:r>
            <a:br>
              <a:rPr lang="en-US" sz="1800" dirty="0"/>
            </a:br>
            <a:r>
              <a:rPr lang="en-US" sz="1800" dirty="0"/>
              <a:t>             one-to-many. </a:t>
            </a:r>
            <a:r>
              <a:rPr lang="en-US" sz="1800" dirty="0" err="1"/>
              <a:t>Provare</a:t>
            </a:r>
            <a:r>
              <a:rPr lang="en-US" sz="1800" dirty="0"/>
              <a:t> a </a:t>
            </a:r>
            <a:r>
              <a:rPr lang="en-US" sz="1800" dirty="0" err="1"/>
              <a:t>rimuovere</a:t>
            </a:r>
            <a:r>
              <a:rPr lang="en-US" sz="1800" dirty="0"/>
              <a:t> </a:t>
            </a:r>
            <a:r>
              <a:rPr lang="en-US" sz="1800" dirty="0" err="1"/>
              <a:t>l'attributo</a:t>
            </a:r>
            <a:r>
              <a:rPr lang="en-US" sz="1800" dirty="0"/>
              <a:t> </a:t>
            </a:r>
            <a:r>
              <a:rPr lang="en-US" sz="1800" dirty="0" err="1"/>
              <a:t>mappedBy</a:t>
            </a:r>
            <a:endParaRPr lang="en-US" sz="1800" b="1" dirty="0"/>
          </a:p>
          <a:p>
            <a:pPr marL="0" indent="0">
              <a:buNone/>
            </a:pPr>
            <a:r>
              <a:rPr lang="en-US" sz="1800" dirty="0"/>
              <a:t>12. </a:t>
            </a:r>
            <a:r>
              <a:rPr lang="en-US" sz="1800" dirty="0" err="1"/>
              <a:t>Quante</a:t>
            </a:r>
            <a:r>
              <a:rPr lang="en-US" sz="1800" dirty="0"/>
              <a:t> </a:t>
            </a:r>
            <a:r>
              <a:rPr lang="en-US" sz="1800" dirty="0" err="1"/>
              <a:t>tabelle</a:t>
            </a:r>
            <a:r>
              <a:rPr lang="en-US" sz="1800" dirty="0"/>
              <a:t> ci </a:t>
            </a:r>
            <a:r>
              <a:rPr lang="en-US" sz="1800" dirty="0" err="1"/>
              <a:t>aspettiamo</a:t>
            </a:r>
            <a:r>
              <a:rPr lang="en-US" sz="1800" dirty="0"/>
              <a:t> </a:t>
            </a:r>
            <a:r>
              <a:rPr lang="en-US" sz="1800" dirty="0" err="1"/>
              <a:t>che</a:t>
            </a:r>
            <a:r>
              <a:rPr lang="en-US" sz="1800" dirty="0"/>
              <a:t> </a:t>
            </a:r>
            <a:r>
              <a:rPr lang="en-US" sz="1800" dirty="0" err="1"/>
              <a:t>saranno</a:t>
            </a:r>
            <a:r>
              <a:rPr lang="en-US" sz="1800" dirty="0"/>
              <a:t> create da JPA? </a:t>
            </a:r>
            <a:br>
              <a:rPr lang="en-US" sz="1800" dirty="0"/>
            </a:br>
            <a:r>
              <a:rPr lang="en-US" sz="1800" dirty="0"/>
              <a:t>             </a:t>
            </a:r>
            <a:r>
              <a:rPr lang="en-US" sz="1800" dirty="0" err="1"/>
              <a:t>Scrivere</a:t>
            </a:r>
            <a:r>
              <a:rPr lang="en-US" sz="1800" dirty="0"/>
              <a:t> </a:t>
            </a:r>
            <a:r>
              <a:rPr lang="en-US" sz="1800" dirty="0" err="1"/>
              <a:t>il</a:t>
            </a:r>
            <a:r>
              <a:rPr lang="en-US" sz="1800" dirty="0"/>
              <a:t> </a:t>
            </a:r>
            <a:r>
              <a:rPr lang="en-US" sz="1800" dirty="0" err="1"/>
              <a:t>numero</a:t>
            </a:r>
            <a:r>
              <a:rPr lang="en-US" sz="1800" dirty="0"/>
              <a:t> di un </a:t>
            </a:r>
            <a:r>
              <a:rPr lang="en-US" sz="1800" dirty="0" err="1"/>
              <a:t>foglio</a:t>
            </a:r>
            <a:r>
              <a:rPr lang="en-US" sz="1800" dirty="0"/>
              <a:t> di carta. </a:t>
            </a:r>
            <a:r>
              <a:rPr lang="en-US" sz="1800" dirty="0" err="1"/>
              <a:t>Sullo</a:t>
            </a:r>
            <a:r>
              <a:rPr lang="en-US" sz="1800" dirty="0"/>
              <a:t> </a:t>
            </a:r>
            <a:r>
              <a:rPr lang="en-US" sz="1800" dirty="0" err="1"/>
              <a:t>stesso</a:t>
            </a:r>
            <a:r>
              <a:rPr lang="en-US" sz="1800" dirty="0"/>
              <a:t> </a:t>
            </a:r>
            <a:r>
              <a:rPr lang="en-US" sz="1800" dirty="0" err="1"/>
              <a:t>foglio</a:t>
            </a:r>
            <a:r>
              <a:rPr lang="en-US" sz="1800" dirty="0"/>
              <a:t> </a:t>
            </a:r>
            <a:br>
              <a:rPr lang="en-US" sz="1800" dirty="0"/>
            </a:br>
            <a:r>
              <a:rPr lang="en-US" sz="1800" dirty="0"/>
              <a:t>             </a:t>
            </a:r>
            <a:r>
              <a:rPr lang="en-US" sz="1800" dirty="0" err="1"/>
              <a:t>scrivere</a:t>
            </a:r>
            <a:r>
              <a:rPr lang="en-US" sz="1800" dirty="0"/>
              <a:t> lo schema </a:t>
            </a:r>
            <a:r>
              <a:rPr lang="en-US" sz="1800" dirty="0" err="1"/>
              <a:t>delle</a:t>
            </a:r>
            <a:r>
              <a:rPr lang="en-US" sz="1800" dirty="0"/>
              <a:t> </a:t>
            </a:r>
            <a:r>
              <a:rPr lang="en-US" sz="1800" dirty="0" err="1"/>
              <a:t>tabelle</a:t>
            </a:r>
            <a:r>
              <a:rPr lang="en-US" sz="1800" dirty="0"/>
              <a:t> </a:t>
            </a:r>
            <a:r>
              <a:rPr lang="en-US" sz="1800" dirty="0" err="1"/>
              <a:t>che</a:t>
            </a:r>
            <a:r>
              <a:rPr lang="en-US" sz="1800" dirty="0"/>
              <a:t> ci </a:t>
            </a:r>
            <a:r>
              <a:rPr lang="en-US" sz="1800" dirty="0" err="1"/>
              <a:t>aspettiamo</a:t>
            </a:r>
            <a:r>
              <a:rPr lang="en-US" sz="1800" dirty="0"/>
              <a:t> </a:t>
            </a:r>
            <a:br>
              <a:rPr lang="en-US" sz="1800" dirty="0"/>
            </a:br>
            <a:r>
              <a:rPr lang="en-US" sz="1800" dirty="0"/>
              <a:t>             </a:t>
            </a:r>
            <a:r>
              <a:rPr lang="en-US" sz="1800" dirty="0" err="1"/>
              <a:t>saranno</a:t>
            </a:r>
            <a:r>
              <a:rPr lang="en-US" sz="1800" dirty="0"/>
              <a:t> create da JPA. </a:t>
            </a:r>
            <a:r>
              <a:rPr lang="en-US" sz="1800" dirty="0" err="1"/>
              <a:t>Confrontare</a:t>
            </a:r>
            <a:r>
              <a:rPr lang="en-US" sz="1800" dirty="0"/>
              <a:t> </a:t>
            </a:r>
            <a:r>
              <a:rPr lang="en-US" sz="1800" dirty="0" err="1"/>
              <a:t>questo</a:t>
            </a:r>
            <a:r>
              <a:rPr lang="en-US" sz="1800" dirty="0"/>
              <a:t> schema con </a:t>
            </a:r>
            <a:r>
              <a:rPr lang="en-US" sz="1800" dirty="0" err="1"/>
              <a:t>quello</a:t>
            </a:r>
            <a:r>
              <a:rPr lang="en-US" sz="1800" dirty="0"/>
              <a:t> </a:t>
            </a:r>
            <a:r>
              <a:rPr lang="en-US" sz="1800" dirty="0" err="1"/>
              <a:t>precedente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13. </a:t>
            </a:r>
            <a:r>
              <a:rPr lang="en-US" sz="1800" dirty="0" err="1"/>
              <a:t>Eseguire</a:t>
            </a:r>
            <a:r>
              <a:rPr lang="en-US" sz="1800" dirty="0"/>
              <a:t> il </a:t>
            </a:r>
            <a:r>
              <a:rPr lang="en-US" sz="1800" dirty="0" err="1"/>
              <a:t>programma</a:t>
            </a:r>
            <a:r>
              <a:rPr lang="en-US" sz="1800" dirty="0"/>
              <a:t>  (come Spring Boot App)</a:t>
            </a:r>
            <a:endParaRPr lang="en-US" sz="1800" b="1" dirty="0"/>
          </a:p>
          <a:p>
            <a:pPr marL="0" indent="0">
              <a:buNone/>
            </a:pPr>
            <a:r>
              <a:rPr lang="en-US" sz="1800" dirty="0"/>
              <a:t>14. </a:t>
            </a:r>
            <a:r>
              <a:rPr lang="en-US" sz="1800" dirty="0" err="1"/>
              <a:t>Controllare</a:t>
            </a:r>
            <a:r>
              <a:rPr lang="en-US" sz="1800" dirty="0"/>
              <a:t> lo schema </a:t>
            </a:r>
            <a:r>
              <a:rPr lang="en-US" sz="1800" dirty="0" err="1"/>
              <a:t>delle</a:t>
            </a:r>
            <a:r>
              <a:rPr lang="en-US" sz="1800" dirty="0"/>
              <a:t> </a:t>
            </a:r>
            <a:r>
              <a:rPr lang="en-US" sz="1800" dirty="0" err="1"/>
              <a:t>tabelle</a:t>
            </a:r>
            <a:r>
              <a:rPr lang="en-US" sz="1800" dirty="0"/>
              <a:t> create dal JPA </a:t>
            </a:r>
            <a:r>
              <a:rPr lang="en-US" sz="1800" dirty="0" err="1"/>
              <a:t>nel</a:t>
            </a:r>
            <a:r>
              <a:rPr lang="en-US" sz="1800" dirty="0"/>
              <a:t> database</a:t>
            </a:r>
            <a:r>
              <a:rPr lang="en-US" sz="1800" b="1" dirty="0"/>
              <a:t> products </a:t>
            </a:r>
            <a:r>
              <a:rPr lang="en-US" sz="1800" dirty="0"/>
              <a:t>e </a:t>
            </a:r>
            <a:r>
              <a:rPr lang="en-US" sz="1800" dirty="0" err="1"/>
              <a:t>confrontarle</a:t>
            </a:r>
            <a:r>
              <a:rPr lang="en-US" sz="1800" dirty="0"/>
              <a:t> con lo schema </a:t>
            </a:r>
            <a:r>
              <a:rPr lang="en-US" sz="1800" dirty="0" err="1"/>
              <a:t>che</a:t>
            </a:r>
            <a:r>
              <a:rPr lang="en-US" sz="1800" dirty="0"/>
              <a:t> </a:t>
            </a:r>
            <a:r>
              <a:rPr lang="en-US" sz="1800" dirty="0" err="1"/>
              <a:t>abbiamo</a:t>
            </a:r>
            <a:r>
              <a:rPr lang="en-US" sz="1800" dirty="0"/>
              <a:t> </a:t>
            </a:r>
            <a:r>
              <a:rPr lang="en-US" sz="1800" dirty="0" err="1"/>
              <a:t>scritto</a:t>
            </a:r>
            <a:r>
              <a:rPr lang="en-US" sz="1800" dirty="0"/>
              <a:t> al punto 12.</a:t>
            </a:r>
            <a:br>
              <a:rPr lang="en-US" sz="1800" dirty="0"/>
            </a:br>
            <a:r>
              <a:rPr lang="en-US" sz="1800" dirty="0"/>
              <a:t>             </a:t>
            </a:r>
            <a:r>
              <a:rPr lang="en-US" sz="1800" dirty="0" err="1"/>
              <a:t>Aggiungere</a:t>
            </a:r>
            <a:r>
              <a:rPr lang="en-US" sz="1800" dirty="0"/>
              <a:t> </a:t>
            </a:r>
            <a:r>
              <a:rPr lang="en-US" sz="1800" dirty="0" err="1"/>
              <a:t>l'attributo</a:t>
            </a:r>
            <a:r>
              <a:rPr lang="en-US" sz="1800" dirty="0"/>
              <a:t> </a:t>
            </a:r>
            <a:r>
              <a:rPr lang="en-US" sz="1800" dirty="0" err="1"/>
              <a:t>mappedBy</a:t>
            </a:r>
            <a:r>
              <a:rPr lang="en-US" sz="1800" dirty="0"/>
              <a:t> (</a:t>
            </a:r>
            <a:r>
              <a:rPr lang="en-US" sz="1800" dirty="0" err="1"/>
              <a:t>soluzione</a:t>
            </a:r>
            <a:r>
              <a:rPr lang="en-US" sz="1800" dirty="0"/>
              <a:t> </a:t>
            </a:r>
            <a:r>
              <a:rPr lang="en-US" sz="1800" dirty="0" err="1"/>
              <a:t>corretta</a:t>
            </a:r>
            <a:r>
              <a:rPr lang="en-US" sz="1800" dirty="0"/>
              <a:t>). 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Per </a:t>
            </a:r>
            <a:r>
              <a:rPr lang="en-US" sz="1800" dirty="0" err="1"/>
              <a:t>i</a:t>
            </a:r>
            <a:r>
              <a:rPr lang="en-US" sz="1800" dirty="0"/>
              <a:t> </a:t>
            </a:r>
            <a:r>
              <a:rPr lang="en-US" sz="1800" dirty="0" err="1"/>
              <a:t>passi</a:t>
            </a:r>
            <a:r>
              <a:rPr lang="en-US" sz="1800" dirty="0"/>
              <a:t> </a:t>
            </a:r>
            <a:r>
              <a:rPr lang="en-US" sz="1800" dirty="0" err="1"/>
              <a:t>successivi</a:t>
            </a:r>
            <a:r>
              <a:rPr lang="en-US" sz="1800" dirty="0"/>
              <a:t>, </a:t>
            </a:r>
            <a:r>
              <a:rPr lang="en-US" sz="1800" dirty="0" err="1"/>
              <a:t>vedi</a:t>
            </a:r>
            <a:r>
              <a:rPr lang="en-US" sz="1800" dirty="0"/>
              <a:t> le </a:t>
            </a:r>
            <a:r>
              <a:rPr lang="en-US" sz="1800" dirty="0" err="1"/>
              <a:t>prossime</a:t>
            </a:r>
            <a:r>
              <a:rPr lang="en-US" sz="1800" dirty="0"/>
              <a:t> slide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666794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Esercizio</a:t>
            </a:r>
            <a:r>
              <a:rPr lang="en-US" dirty="0"/>
              <a:t> 2 (6/12)</a:t>
            </a:r>
            <a:endParaRPr lang="en-US" sz="1650" dirty="0"/>
          </a:p>
        </p:txBody>
      </p:sp>
      <p:graphicFrame>
        <p:nvGraphicFramePr>
          <p:cNvPr id="5" name="Segnaposto contenuto 5"/>
          <p:cNvGraphicFramePr>
            <a:graphicFrameLocks/>
          </p:cNvGraphicFramePr>
          <p:nvPr/>
        </p:nvGraphicFramePr>
        <p:xfrm>
          <a:off x="3952875" y="1149862"/>
          <a:ext cx="1164968" cy="9014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49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5151">
                <a:tc>
                  <a:txBody>
                    <a:bodyPr/>
                    <a:lstStyle/>
                    <a:p>
                      <a:pPr algn="ctr"/>
                      <a:r>
                        <a:rPr lang="it-IT" sz="1400" b="0" i="0" dirty="0">
                          <a:latin typeface="Calibri Light" panose="020F0302020204030204" pitchFamily="34" charset="0"/>
                        </a:rPr>
                        <a:t>Product</a:t>
                      </a:r>
                      <a:endParaRPr lang="it-IT" sz="8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lang="it-IT" sz="800" b="0" i="0" dirty="0">
                          <a:latin typeface="Calibri Light" panose="020F0302020204030204" pitchFamily="34" charset="0"/>
                        </a:rPr>
                        <a:t>-id: Long</a:t>
                      </a:r>
                    </a:p>
                    <a:p>
                      <a:r>
                        <a:rPr lang="it-IT" sz="800" dirty="0"/>
                        <a:t>-</a:t>
                      </a:r>
                      <a:r>
                        <a:rPr lang="it-IT" sz="800" dirty="0" err="1"/>
                        <a:t>name</a:t>
                      </a:r>
                      <a:r>
                        <a:rPr lang="it-IT" sz="800" dirty="0"/>
                        <a:t>:</a:t>
                      </a:r>
                      <a:r>
                        <a:rPr lang="it-IT" sz="800" baseline="0" dirty="0"/>
                        <a:t> </a:t>
                      </a:r>
                      <a:r>
                        <a:rPr lang="it-IT" sz="800" baseline="0" dirty="0" err="1"/>
                        <a:t>String</a:t>
                      </a:r>
                      <a:endParaRPr lang="it-IT" sz="800" baseline="0" dirty="0"/>
                    </a:p>
                    <a:p>
                      <a:r>
                        <a:rPr lang="it-IT" sz="800" baseline="0" dirty="0"/>
                        <a:t>-</a:t>
                      </a:r>
                      <a:r>
                        <a:rPr lang="it-IT" sz="800" baseline="0" dirty="0" err="1"/>
                        <a:t>description</a:t>
                      </a:r>
                      <a:r>
                        <a:rPr lang="it-IT" sz="800" baseline="0" dirty="0"/>
                        <a:t>: </a:t>
                      </a:r>
                      <a:r>
                        <a:rPr lang="it-IT" sz="800" baseline="0" dirty="0" err="1"/>
                        <a:t>String</a:t>
                      </a:r>
                      <a:endParaRPr lang="it-IT" sz="800" baseline="0" dirty="0"/>
                    </a:p>
                    <a:p>
                      <a:r>
                        <a:rPr lang="it-IT" sz="800" baseline="0" dirty="0"/>
                        <a:t>-</a:t>
                      </a:r>
                      <a:r>
                        <a:rPr lang="it-IT" sz="800" baseline="0" dirty="0" err="1"/>
                        <a:t>price</a:t>
                      </a:r>
                      <a:r>
                        <a:rPr lang="it-IT" sz="800" baseline="0" dirty="0"/>
                        <a:t>: Float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Segnaposto contenuto 5"/>
          <p:cNvGraphicFramePr>
            <a:graphicFrameLocks/>
          </p:cNvGraphicFramePr>
          <p:nvPr/>
        </p:nvGraphicFramePr>
        <p:xfrm>
          <a:off x="1402241" y="2476225"/>
          <a:ext cx="1508321" cy="6575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3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5151">
                <a:tc>
                  <a:txBody>
                    <a:bodyPr/>
                    <a:lstStyle/>
                    <a:p>
                      <a:pPr algn="ctr"/>
                      <a:r>
                        <a:rPr lang="it-IT" sz="1400" b="0" i="0" dirty="0">
                          <a:latin typeface="Calibri Light" panose="020F0302020204030204" pitchFamily="34" charset="0"/>
                        </a:rPr>
                        <a:t>Order</a:t>
                      </a:r>
                      <a:endParaRPr lang="it-IT" sz="8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r>
                        <a:rPr lang="it-IT" sz="800" b="0" i="0" dirty="0">
                          <a:latin typeface="Calibri Light" panose="020F0302020204030204" pitchFamily="34" charset="0"/>
                        </a:rPr>
                        <a:t>-id: Long</a:t>
                      </a:r>
                    </a:p>
                    <a:p>
                      <a:r>
                        <a:rPr lang="it-IT" sz="800" dirty="0"/>
                        <a:t>-</a:t>
                      </a:r>
                      <a:r>
                        <a:rPr lang="it-IT" sz="800" dirty="0" err="1"/>
                        <a:t>creationTime</a:t>
                      </a:r>
                      <a:r>
                        <a:rPr lang="it-IT" sz="800" dirty="0"/>
                        <a:t>:</a:t>
                      </a:r>
                      <a:r>
                        <a:rPr lang="it-IT" sz="800" baseline="0" dirty="0"/>
                        <a:t> </a:t>
                      </a:r>
                      <a:r>
                        <a:rPr lang="it-IT" sz="800" baseline="0" dirty="0" err="1"/>
                        <a:t>LocalDateTime</a:t>
                      </a:r>
                      <a:endParaRPr lang="it-IT" sz="800" baseline="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" name="Segnaposto contenuto 5"/>
          <p:cNvGraphicFramePr>
            <a:graphicFrameLocks/>
          </p:cNvGraphicFramePr>
          <p:nvPr/>
        </p:nvGraphicFramePr>
        <p:xfrm>
          <a:off x="3782205" y="2412944"/>
          <a:ext cx="1511789" cy="779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17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5151">
                <a:tc>
                  <a:txBody>
                    <a:bodyPr/>
                    <a:lstStyle/>
                    <a:p>
                      <a:pPr algn="ctr"/>
                      <a:r>
                        <a:rPr lang="it-IT" sz="1400" b="0" i="0" dirty="0" err="1">
                          <a:latin typeface="Calibri Light" panose="020F0302020204030204" pitchFamily="34" charset="0"/>
                        </a:rPr>
                        <a:t>OrderLine</a:t>
                      </a:r>
                      <a:endParaRPr lang="it-IT" sz="8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lang="it-IT" sz="800" b="0" i="0" dirty="0">
                          <a:latin typeface="Calibri Light" panose="020F0302020204030204" pitchFamily="34" charset="0"/>
                        </a:rPr>
                        <a:t>-id: Long</a:t>
                      </a:r>
                    </a:p>
                    <a:p>
                      <a:r>
                        <a:rPr lang="it-IT" sz="800" dirty="0"/>
                        <a:t>-</a:t>
                      </a:r>
                      <a:r>
                        <a:rPr lang="it-IT" sz="800" dirty="0" err="1"/>
                        <a:t>unitPrice</a:t>
                      </a:r>
                      <a:r>
                        <a:rPr lang="it-IT" sz="800" dirty="0"/>
                        <a:t>: Float</a:t>
                      </a:r>
                    </a:p>
                    <a:p>
                      <a:r>
                        <a:rPr lang="it-IT" sz="800" dirty="0"/>
                        <a:t>-</a:t>
                      </a:r>
                      <a:r>
                        <a:rPr lang="it-IT" sz="800" dirty="0" err="1"/>
                        <a:t>quantity</a:t>
                      </a:r>
                      <a:r>
                        <a:rPr lang="it-IT" sz="800" dirty="0"/>
                        <a:t>: </a:t>
                      </a:r>
                      <a:r>
                        <a:rPr lang="it-IT" sz="800" dirty="0" err="1"/>
                        <a:t>Integer</a:t>
                      </a:r>
                      <a:endParaRPr lang="it-IT" sz="8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2" name="Connettore 2 11"/>
          <p:cNvCxnSpPr>
            <a:cxnSpLocks/>
            <a:stCxn id="10" idx="3"/>
            <a:endCxn id="11" idx="1"/>
          </p:cNvCxnSpPr>
          <p:nvPr/>
        </p:nvCxnSpPr>
        <p:spPr>
          <a:xfrm flipV="1">
            <a:off x="2910562" y="2802689"/>
            <a:ext cx="871643" cy="2321"/>
          </a:xfrm>
          <a:prstGeom prst="straightConnector1">
            <a:avLst/>
          </a:prstGeom>
          <a:ln w="12700" cmpd="sng">
            <a:solidFill>
              <a:srgbClr val="000000"/>
            </a:solidFill>
            <a:prstDash val="solid"/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/>
          <p:cNvSpPr txBox="1"/>
          <p:nvPr/>
        </p:nvSpPr>
        <p:spPr>
          <a:xfrm>
            <a:off x="3350894" y="2554978"/>
            <a:ext cx="44595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350" dirty="0">
                <a:latin typeface="Calibri Light" panose="020F0302020204030204" pitchFamily="34" charset="0"/>
              </a:rPr>
              <a:t>0..*</a:t>
            </a:r>
          </a:p>
        </p:txBody>
      </p:sp>
      <p:cxnSp>
        <p:nvCxnSpPr>
          <p:cNvPr id="14" name="Connettore 2 13"/>
          <p:cNvCxnSpPr>
            <a:stCxn id="11" idx="0"/>
            <a:endCxn id="5" idx="2"/>
          </p:cNvCxnSpPr>
          <p:nvPr/>
        </p:nvCxnSpPr>
        <p:spPr>
          <a:xfrm flipH="1" flipV="1">
            <a:off x="4535359" y="2051273"/>
            <a:ext cx="2740" cy="361671"/>
          </a:xfrm>
          <a:prstGeom prst="straightConnector1">
            <a:avLst/>
          </a:prstGeom>
          <a:ln w="12700" cmpd="sng">
            <a:solidFill>
              <a:srgbClr val="000000"/>
            </a:solidFill>
            <a:prstDash val="solid"/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Segnaposto contenuto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22117891"/>
              </p:ext>
            </p:extLst>
          </p:nvPr>
        </p:nvGraphicFramePr>
        <p:xfrm>
          <a:off x="1402241" y="3749646"/>
          <a:ext cx="1508321" cy="12671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3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5151">
                <a:tc>
                  <a:txBody>
                    <a:bodyPr/>
                    <a:lstStyle/>
                    <a:p>
                      <a:pPr algn="ctr"/>
                      <a:r>
                        <a:rPr lang="it-IT" sz="1400" b="0" i="0" dirty="0">
                          <a:latin typeface="Calibri Light" panose="020F0302020204030204" pitchFamily="34" charset="0"/>
                        </a:rPr>
                        <a:t>Customer</a:t>
                      </a:r>
                      <a:endParaRPr lang="it-IT" sz="8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8685">
                <a:tc>
                  <a:txBody>
                    <a:bodyPr/>
                    <a:lstStyle/>
                    <a:p>
                      <a:r>
                        <a:rPr lang="it-IT" sz="800" b="0" i="0" dirty="0">
                          <a:latin typeface="Calibri Light" panose="020F0302020204030204" pitchFamily="34" charset="0"/>
                        </a:rPr>
                        <a:t>-id: Long</a:t>
                      </a:r>
                    </a:p>
                    <a:p>
                      <a:r>
                        <a:rPr lang="it-IT" sz="800" dirty="0"/>
                        <a:t>-</a:t>
                      </a:r>
                      <a:r>
                        <a:rPr lang="it-IT" sz="800" dirty="0" err="1"/>
                        <a:t>firstName</a:t>
                      </a:r>
                      <a:r>
                        <a:rPr lang="it-IT" sz="800" dirty="0"/>
                        <a:t>:</a:t>
                      </a:r>
                      <a:r>
                        <a:rPr lang="it-IT" sz="800" baseline="0" dirty="0"/>
                        <a:t> </a:t>
                      </a:r>
                      <a:r>
                        <a:rPr lang="it-IT" sz="800" baseline="0" dirty="0" err="1"/>
                        <a:t>String</a:t>
                      </a:r>
                      <a:endParaRPr lang="it-IT" sz="800" baseline="0" dirty="0"/>
                    </a:p>
                    <a:p>
                      <a:r>
                        <a:rPr lang="it-IT" sz="800" baseline="0" dirty="0"/>
                        <a:t>-</a:t>
                      </a:r>
                      <a:r>
                        <a:rPr lang="it-IT" sz="800" baseline="0" dirty="0" err="1"/>
                        <a:t>lastName</a:t>
                      </a:r>
                      <a:r>
                        <a:rPr lang="it-IT" sz="800" baseline="0" dirty="0"/>
                        <a:t>: </a:t>
                      </a:r>
                      <a:r>
                        <a:rPr lang="it-IT" sz="800" baseline="0" dirty="0" err="1"/>
                        <a:t>String</a:t>
                      </a:r>
                      <a:endParaRPr lang="it-IT" sz="800" baseline="0" dirty="0"/>
                    </a:p>
                    <a:p>
                      <a:r>
                        <a:rPr lang="it-IT" sz="800" baseline="0" dirty="0"/>
                        <a:t>-email: </a:t>
                      </a:r>
                      <a:r>
                        <a:rPr lang="it-IT" sz="800" baseline="0" dirty="0" err="1"/>
                        <a:t>String</a:t>
                      </a:r>
                      <a:endParaRPr lang="it-IT" sz="800" baseline="0" dirty="0"/>
                    </a:p>
                    <a:p>
                      <a:r>
                        <a:rPr lang="it-IT" sz="800" baseline="0" dirty="0"/>
                        <a:t>-</a:t>
                      </a:r>
                      <a:r>
                        <a:rPr lang="it-IT" sz="800" baseline="0" dirty="0" err="1"/>
                        <a:t>phoneNumber</a:t>
                      </a:r>
                      <a:r>
                        <a:rPr lang="it-IT" sz="800" baseline="0" dirty="0"/>
                        <a:t>: </a:t>
                      </a:r>
                      <a:r>
                        <a:rPr lang="it-IT" sz="800" baseline="0" dirty="0" err="1"/>
                        <a:t>String</a:t>
                      </a:r>
                      <a:endParaRPr lang="it-IT" sz="800" baseline="0" dirty="0"/>
                    </a:p>
                    <a:p>
                      <a:r>
                        <a:rPr lang="it-IT" sz="800" baseline="0" dirty="0"/>
                        <a:t>-</a:t>
                      </a:r>
                      <a:r>
                        <a:rPr lang="it-IT" sz="800" baseline="0" dirty="0" err="1"/>
                        <a:t>dateOfBirth</a:t>
                      </a:r>
                      <a:r>
                        <a:rPr lang="it-IT" sz="800" baseline="0" dirty="0"/>
                        <a:t>: </a:t>
                      </a:r>
                      <a:r>
                        <a:rPr lang="it-IT" sz="800" baseline="0" dirty="0" err="1"/>
                        <a:t>LocalDate</a:t>
                      </a:r>
                      <a:endParaRPr lang="it-IT" sz="800" baseline="0" dirty="0"/>
                    </a:p>
                    <a:p>
                      <a:endParaRPr lang="it-IT" sz="800" baseline="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8" name="Segnaposto contenuto 5"/>
          <p:cNvGraphicFramePr>
            <a:graphicFrameLocks/>
          </p:cNvGraphicFramePr>
          <p:nvPr/>
        </p:nvGraphicFramePr>
        <p:xfrm>
          <a:off x="6270136" y="3809654"/>
          <a:ext cx="1511789" cy="11452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17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5151">
                <a:tc>
                  <a:txBody>
                    <a:bodyPr/>
                    <a:lstStyle/>
                    <a:p>
                      <a:pPr algn="ctr"/>
                      <a:r>
                        <a:rPr lang="it-IT" sz="1400" b="0" i="0" dirty="0" err="1">
                          <a:latin typeface="Calibri Light" panose="020F0302020204030204" pitchFamily="34" charset="0"/>
                        </a:rPr>
                        <a:t>Address</a:t>
                      </a:r>
                      <a:endParaRPr lang="it-IT" sz="8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8670">
                <a:tc>
                  <a:txBody>
                    <a:bodyPr/>
                    <a:lstStyle/>
                    <a:p>
                      <a:r>
                        <a:rPr lang="it-IT" sz="800" b="0" i="0" dirty="0">
                          <a:latin typeface="Calibri Light" panose="020F0302020204030204" pitchFamily="34" charset="0"/>
                        </a:rPr>
                        <a:t>-id: Long</a:t>
                      </a:r>
                    </a:p>
                    <a:p>
                      <a:r>
                        <a:rPr lang="it-IT" sz="800" dirty="0"/>
                        <a:t>-street: </a:t>
                      </a:r>
                      <a:r>
                        <a:rPr lang="it-IT" sz="800" dirty="0" err="1"/>
                        <a:t>String</a:t>
                      </a:r>
                      <a:endParaRPr lang="it-IT" sz="800" dirty="0"/>
                    </a:p>
                    <a:p>
                      <a:r>
                        <a:rPr lang="it-IT" sz="800" dirty="0"/>
                        <a:t>-city: </a:t>
                      </a:r>
                      <a:r>
                        <a:rPr lang="it-IT" sz="800" dirty="0" err="1"/>
                        <a:t>String</a:t>
                      </a:r>
                      <a:endParaRPr lang="it-IT" sz="800" dirty="0"/>
                    </a:p>
                    <a:p>
                      <a:r>
                        <a:rPr lang="it-IT" sz="800" dirty="0"/>
                        <a:t>-state:</a:t>
                      </a:r>
                      <a:r>
                        <a:rPr lang="it-IT" sz="800" baseline="0" dirty="0"/>
                        <a:t> </a:t>
                      </a:r>
                      <a:r>
                        <a:rPr lang="it-IT" sz="800" baseline="0" dirty="0" err="1"/>
                        <a:t>String</a:t>
                      </a:r>
                      <a:endParaRPr lang="it-IT" sz="800" baseline="0" dirty="0"/>
                    </a:p>
                    <a:p>
                      <a:r>
                        <a:rPr lang="it-IT" sz="800" baseline="0" dirty="0"/>
                        <a:t>-</a:t>
                      </a:r>
                      <a:r>
                        <a:rPr lang="it-IT" sz="800" baseline="0" dirty="0" err="1"/>
                        <a:t>zipcode</a:t>
                      </a:r>
                      <a:r>
                        <a:rPr lang="it-IT" sz="800" baseline="0" dirty="0"/>
                        <a:t>: </a:t>
                      </a:r>
                      <a:r>
                        <a:rPr lang="it-IT" sz="800" baseline="0" dirty="0" err="1"/>
                        <a:t>String</a:t>
                      </a:r>
                      <a:endParaRPr lang="it-IT" sz="800" baseline="0" dirty="0"/>
                    </a:p>
                    <a:p>
                      <a:r>
                        <a:rPr lang="it-IT" sz="800" baseline="0" dirty="0"/>
                        <a:t>-country: </a:t>
                      </a:r>
                      <a:r>
                        <a:rPr lang="it-IT" sz="800" baseline="0" dirty="0" err="1"/>
                        <a:t>String</a:t>
                      </a:r>
                      <a:endParaRPr lang="it-IT" sz="8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9" name="Connettore 2 18"/>
          <p:cNvCxnSpPr>
            <a:cxnSpLocks/>
            <a:stCxn id="17" idx="3"/>
            <a:endCxn id="18" idx="1"/>
          </p:cNvCxnSpPr>
          <p:nvPr/>
        </p:nvCxnSpPr>
        <p:spPr>
          <a:xfrm flipV="1">
            <a:off x="2910562" y="4382279"/>
            <a:ext cx="3359574" cy="952"/>
          </a:xfrm>
          <a:prstGeom prst="straightConnector1">
            <a:avLst/>
          </a:prstGeom>
          <a:ln w="12700" cmpd="sng">
            <a:solidFill>
              <a:srgbClr val="000000"/>
            </a:solidFill>
            <a:prstDash val="solid"/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ttore 2 19"/>
          <p:cNvCxnSpPr>
            <a:cxnSpLocks/>
            <a:stCxn id="17" idx="0"/>
            <a:endCxn id="10" idx="2"/>
          </p:cNvCxnSpPr>
          <p:nvPr/>
        </p:nvCxnSpPr>
        <p:spPr>
          <a:xfrm flipV="1">
            <a:off x="2156401" y="3133796"/>
            <a:ext cx="0" cy="615850"/>
          </a:xfrm>
          <a:prstGeom prst="straightConnector1">
            <a:avLst/>
          </a:prstGeom>
          <a:ln w="12700" cmpd="sng">
            <a:solidFill>
              <a:srgbClr val="000000"/>
            </a:solidFill>
            <a:prstDash val="solid"/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asellaDiTesto 22"/>
          <p:cNvSpPr txBox="1"/>
          <p:nvPr/>
        </p:nvSpPr>
        <p:spPr>
          <a:xfrm>
            <a:off x="2142125" y="3134515"/>
            <a:ext cx="44595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350" dirty="0">
                <a:latin typeface="Calibri Light" panose="020F0302020204030204" pitchFamily="34" charset="0"/>
              </a:rPr>
              <a:t>0..*</a:t>
            </a:r>
          </a:p>
        </p:txBody>
      </p:sp>
      <p:sp>
        <p:nvSpPr>
          <p:cNvPr id="21" name="CasellaDiTesto 20"/>
          <p:cNvSpPr txBox="1"/>
          <p:nvPr/>
        </p:nvSpPr>
        <p:spPr>
          <a:xfrm>
            <a:off x="4538099" y="2171602"/>
            <a:ext cx="44595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350" dirty="0">
                <a:latin typeface="Calibri Light" panose="020F0302020204030204" pitchFamily="34" charset="0"/>
              </a:rPr>
              <a:t>0..*</a:t>
            </a:r>
          </a:p>
        </p:txBody>
      </p:sp>
    </p:spTree>
    <p:extLst>
      <p:ext uri="{BB962C8B-B14F-4D97-AF65-F5344CB8AC3E}">
        <p14:creationId xmlns:p14="http://schemas.microsoft.com/office/powerpoint/2010/main" val="184860740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F61339E-656F-6F4B-81D1-66A087528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Esercizio</a:t>
            </a:r>
            <a:r>
              <a:rPr lang="en-US" dirty="0"/>
              <a:t> 2 (7/12)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BDA1D8D-0E94-8348-8FAF-4054A85320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 dirty="0"/>
              <a:t>15. </a:t>
            </a:r>
            <a:r>
              <a:rPr lang="en-US" sz="1800" dirty="0" err="1"/>
              <a:t>Aggiungere</a:t>
            </a:r>
            <a:r>
              <a:rPr lang="en-US" sz="1800" dirty="0"/>
              <a:t> </a:t>
            </a:r>
            <a:r>
              <a:rPr lang="en-US" sz="1800" dirty="0" err="1"/>
              <a:t>il</a:t>
            </a:r>
            <a:r>
              <a:rPr lang="en-US" sz="1800" dirty="0"/>
              <a:t> </a:t>
            </a:r>
            <a:r>
              <a:rPr lang="en-US" sz="1800" dirty="0" err="1"/>
              <a:t>codice</a:t>
            </a:r>
            <a:r>
              <a:rPr lang="en-US" sz="1800" dirty="0"/>
              <a:t> </a:t>
            </a:r>
            <a:r>
              <a:rPr lang="en-US" sz="1800" dirty="0" err="1"/>
              <a:t>della</a:t>
            </a:r>
            <a:r>
              <a:rPr lang="en-US" sz="1800" dirty="0"/>
              <a:t> </a:t>
            </a:r>
            <a:r>
              <a:rPr lang="en-US" sz="1800" dirty="0" err="1"/>
              <a:t>classe</a:t>
            </a:r>
            <a:r>
              <a:rPr lang="en-US" sz="1800" dirty="0"/>
              <a:t> </a:t>
            </a:r>
            <a:r>
              <a:rPr lang="en-US" sz="1800" b="1" dirty="0"/>
              <a:t>Product</a:t>
            </a:r>
            <a:r>
              <a:rPr lang="en-US" sz="1800" dirty="0"/>
              <a:t> e </a:t>
            </a:r>
            <a:r>
              <a:rPr lang="en-US" sz="1800" dirty="0" err="1"/>
              <a:t>modificare</a:t>
            </a:r>
            <a:r>
              <a:rPr lang="en-US" sz="1800" dirty="0"/>
              <a:t> </a:t>
            </a:r>
            <a:br>
              <a:rPr lang="en-US" sz="1800" dirty="0"/>
            </a:br>
            <a:r>
              <a:rPr lang="en-US" sz="1800" dirty="0"/>
              <a:t>       </a:t>
            </a:r>
            <a:r>
              <a:rPr lang="en-US" sz="1800" dirty="0" err="1"/>
              <a:t>il</a:t>
            </a:r>
            <a:r>
              <a:rPr lang="en-US" sz="1800" dirty="0"/>
              <a:t> </a:t>
            </a:r>
            <a:r>
              <a:rPr lang="en-US" sz="1800" dirty="0" err="1"/>
              <a:t>codice</a:t>
            </a:r>
            <a:r>
              <a:rPr lang="en-US" sz="1800" dirty="0"/>
              <a:t> </a:t>
            </a:r>
            <a:r>
              <a:rPr lang="en-US" sz="1800" dirty="0" err="1"/>
              <a:t>della</a:t>
            </a:r>
            <a:r>
              <a:rPr lang="en-US" sz="1800" dirty="0"/>
              <a:t> </a:t>
            </a:r>
            <a:r>
              <a:rPr lang="en-US" sz="1800" dirty="0" err="1"/>
              <a:t>classe</a:t>
            </a:r>
            <a:r>
              <a:rPr lang="en-US" sz="1800" dirty="0"/>
              <a:t> </a:t>
            </a:r>
            <a:r>
              <a:rPr lang="en-US" sz="1800" b="1" dirty="0" err="1"/>
              <a:t>OrderLine</a:t>
            </a:r>
            <a:r>
              <a:rPr lang="en-US" sz="1800" dirty="0"/>
              <a:t> </a:t>
            </a:r>
            <a:r>
              <a:rPr lang="en-US" sz="1800" dirty="0" err="1"/>
              <a:t>rappresentate</a:t>
            </a:r>
            <a:r>
              <a:rPr lang="en-US" sz="1800" dirty="0"/>
              <a:t> </a:t>
            </a:r>
            <a:r>
              <a:rPr lang="en-US" sz="1800" dirty="0" err="1"/>
              <a:t>nel</a:t>
            </a:r>
            <a:r>
              <a:rPr lang="en-US" sz="1800" dirty="0"/>
              <a:t> class </a:t>
            </a:r>
            <a:br>
              <a:rPr lang="en-US" sz="1800" dirty="0"/>
            </a:br>
            <a:r>
              <a:rPr lang="en-US" sz="1800" dirty="0"/>
              <a:t>       diagram </a:t>
            </a:r>
            <a:r>
              <a:rPr lang="en-US" sz="1800" dirty="0" err="1"/>
              <a:t>della</a:t>
            </a:r>
            <a:r>
              <a:rPr lang="en-US" sz="1800" dirty="0"/>
              <a:t> slide </a:t>
            </a:r>
            <a:r>
              <a:rPr lang="en-US" sz="1800" dirty="0" err="1"/>
              <a:t>precedente</a:t>
            </a:r>
            <a:endParaRPr lang="en-US" sz="1800" b="1" dirty="0"/>
          </a:p>
          <a:p>
            <a:pPr marL="0" indent="0">
              <a:buNone/>
            </a:pPr>
            <a:r>
              <a:rPr lang="en-US" sz="1800" dirty="0"/>
              <a:t>16. </a:t>
            </a:r>
            <a:r>
              <a:rPr lang="en-US" sz="1800" dirty="0" err="1"/>
              <a:t>Quante</a:t>
            </a:r>
            <a:r>
              <a:rPr lang="en-US" sz="1800" dirty="0"/>
              <a:t> </a:t>
            </a:r>
            <a:r>
              <a:rPr lang="en-US" sz="1800" dirty="0" err="1"/>
              <a:t>tabelle</a:t>
            </a:r>
            <a:r>
              <a:rPr lang="en-US" sz="1800" dirty="0"/>
              <a:t> ci </a:t>
            </a:r>
            <a:r>
              <a:rPr lang="en-US" sz="1800" dirty="0" err="1"/>
              <a:t>aspettiamo</a:t>
            </a:r>
            <a:r>
              <a:rPr lang="en-US" sz="1800" dirty="0"/>
              <a:t> </a:t>
            </a:r>
            <a:r>
              <a:rPr lang="en-US" sz="1800" dirty="0" err="1"/>
              <a:t>che</a:t>
            </a:r>
            <a:r>
              <a:rPr lang="en-US" sz="1800" dirty="0"/>
              <a:t> </a:t>
            </a:r>
            <a:r>
              <a:rPr lang="en-US" sz="1800" dirty="0" err="1"/>
              <a:t>saranno</a:t>
            </a:r>
            <a:r>
              <a:rPr lang="en-US" sz="1800" dirty="0"/>
              <a:t> create da JPA? </a:t>
            </a:r>
            <a:br>
              <a:rPr lang="en-US" sz="1800" dirty="0"/>
            </a:br>
            <a:r>
              <a:rPr lang="en-US" sz="1800" dirty="0"/>
              <a:t>       </a:t>
            </a:r>
            <a:r>
              <a:rPr lang="en-US" sz="1800" dirty="0" err="1"/>
              <a:t>Scrivere</a:t>
            </a:r>
            <a:r>
              <a:rPr lang="en-US" sz="1800" dirty="0"/>
              <a:t> </a:t>
            </a:r>
            <a:r>
              <a:rPr lang="en-US" sz="1800" dirty="0" err="1"/>
              <a:t>il</a:t>
            </a:r>
            <a:r>
              <a:rPr lang="en-US" sz="1800" dirty="0"/>
              <a:t> </a:t>
            </a:r>
            <a:r>
              <a:rPr lang="en-US" sz="1800" dirty="0" err="1"/>
              <a:t>numero</a:t>
            </a:r>
            <a:r>
              <a:rPr lang="en-US" sz="1800" dirty="0"/>
              <a:t> di un </a:t>
            </a:r>
            <a:r>
              <a:rPr lang="en-US" sz="1800" dirty="0" err="1"/>
              <a:t>foglio</a:t>
            </a:r>
            <a:r>
              <a:rPr lang="en-US" sz="1800" dirty="0"/>
              <a:t> di carta. </a:t>
            </a:r>
            <a:r>
              <a:rPr lang="en-US" sz="1800" dirty="0" err="1"/>
              <a:t>Sullo</a:t>
            </a:r>
            <a:r>
              <a:rPr lang="en-US" sz="1800" dirty="0"/>
              <a:t> </a:t>
            </a:r>
            <a:r>
              <a:rPr lang="en-US" sz="1800" dirty="0" err="1"/>
              <a:t>stesso</a:t>
            </a:r>
            <a:r>
              <a:rPr lang="en-US" sz="1800" dirty="0"/>
              <a:t> </a:t>
            </a:r>
            <a:r>
              <a:rPr lang="en-US" sz="1800" dirty="0" err="1"/>
              <a:t>foglio</a:t>
            </a:r>
            <a:r>
              <a:rPr lang="en-US" sz="1800" dirty="0"/>
              <a:t> </a:t>
            </a:r>
            <a:br>
              <a:rPr lang="en-US" sz="1800" dirty="0"/>
            </a:br>
            <a:r>
              <a:rPr lang="en-US" sz="1800" dirty="0"/>
              <a:t>       </a:t>
            </a:r>
            <a:r>
              <a:rPr lang="en-US" sz="1800" dirty="0" err="1"/>
              <a:t>scrivere</a:t>
            </a:r>
            <a:r>
              <a:rPr lang="en-US" sz="1800" dirty="0"/>
              <a:t> lo schema </a:t>
            </a:r>
            <a:r>
              <a:rPr lang="en-US" sz="1800" dirty="0" err="1"/>
              <a:t>delle</a:t>
            </a:r>
            <a:r>
              <a:rPr lang="en-US" sz="1800" dirty="0"/>
              <a:t> </a:t>
            </a:r>
            <a:r>
              <a:rPr lang="en-US" sz="1800" dirty="0" err="1"/>
              <a:t>tabelle</a:t>
            </a:r>
            <a:r>
              <a:rPr lang="en-US" sz="1800" dirty="0"/>
              <a:t> </a:t>
            </a:r>
            <a:r>
              <a:rPr lang="en-US" sz="1800" dirty="0" err="1"/>
              <a:t>che</a:t>
            </a:r>
            <a:r>
              <a:rPr lang="en-US" sz="1800" dirty="0"/>
              <a:t> ci </a:t>
            </a:r>
            <a:r>
              <a:rPr lang="en-US" sz="1800" dirty="0" err="1"/>
              <a:t>aspettiamo</a:t>
            </a:r>
            <a:r>
              <a:rPr lang="en-US" sz="1800" dirty="0"/>
              <a:t> </a:t>
            </a:r>
            <a:br>
              <a:rPr lang="en-US" sz="1800" dirty="0"/>
            </a:br>
            <a:r>
              <a:rPr lang="en-US" sz="1800" dirty="0"/>
              <a:t>       </a:t>
            </a:r>
            <a:r>
              <a:rPr lang="en-US" sz="1800" dirty="0" err="1"/>
              <a:t>saranno</a:t>
            </a:r>
            <a:r>
              <a:rPr lang="en-US" sz="1800" dirty="0"/>
              <a:t> create da JPA </a:t>
            </a:r>
          </a:p>
          <a:p>
            <a:pPr marL="0" indent="0">
              <a:buNone/>
            </a:pPr>
            <a:r>
              <a:rPr lang="en-US" sz="1800" dirty="0"/>
              <a:t>17. </a:t>
            </a:r>
            <a:r>
              <a:rPr lang="en-US" sz="1800" dirty="0" err="1"/>
              <a:t>Eseguire</a:t>
            </a:r>
            <a:r>
              <a:rPr lang="en-US" sz="1800" dirty="0"/>
              <a:t> il </a:t>
            </a:r>
            <a:r>
              <a:rPr lang="en-US" sz="1800" dirty="0" err="1"/>
              <a:t>programma</a:t>
            </a:r>
            <a:r>
              <a:rPr lang="en-US" sz="1800" dirty="0"/>
              <a:t> (come Spring Boot App)</a:t>
            </a:r>
          </a:p>
          <a:p>
            <a:pPr marL="0" indent="0">
              <a:buNone/>
            </a:pPr>
            <a:r>
              <a:rPr lang="en-US" sz="1800" dirty="0"/>
              <a:t>18. </a:t>
            </a:r>
            <a:r>
              <a:rPr lang="en-US" sz="1800" dirty="0" err="1"/>
              <a:t>Controllare</a:t>
            </a:r>
            <a:r>
              <a:rPr lang="en-US" sz="1800" dirty="0"/>
              <a:t> lo schema </a:t>
            </a:r>
            <a:r>
              <a:rPr lang="en-US" sz="1800" dirty="0" err="1"/>
              <a:t>delle</a:t>
            </a:r>
            <a:r>
              <a:rPr lang="en-US" sz="1800" dirty="0"/>
              <a:t> </a:t>
            </a:r>
            <a:r>
              <a:rPr lang="en-US" sz="1800" dirty="0" err="1"/>
              <a:t>tabelle</a:t>
            </a:r>
            <a:r>
              <a:rPr lang="en-US" sz="1800" dirty="0"/>
              <a:t> create dal JPA </a:t>
            </a:r>
            <a:br>
              <a:rPr lang="en-US" sz="1800" dirty="0"/>
            </a:br>
            <a:r>
              <a:rPr lang="en-US" sz="1800" dirty="0"/>
              <a:t>       </a:t>
            </a:r>
            <a:r>
              <a:rPr lang="en-US" sz="1800" dirty="0" err="1"/>
              <a:t>nel</a:t>
            </a:r>
            <a:r>
              <a:rPr lang="en-US" sz="1800" dirty="0"/>
              <a:t> database</a:t>
            </a:r>
            <a:r>
              <a:rPr lang="en-US" sz="1800" b="1" dirty="0"/>
              <a:t> products </a:t>
            </a:r>
            <a:r>
              <a:rPr lang="en-US" sz="1800" dirty="0"/>
              <a:t>e </a:t>
            </a:r>
            <a:r>
              <a:rPr lang="en-US" sz="1800" dirty="0" err="1"/>
              <a:t>confrontarle</a:t>
            </a:r>
            <a:r>
              <a:rPr lang="en-US" sz="1800" dirty="0"/>
              <a:t> con lo schema </a:t>
            </a:r>
            <a:r>
              <a:rPr lang="en-US" sz="1800" dirty="0" err="1"/>
              <a:t>che</a:t>
            </a:r>
            <a:r>
              <a:rPr lang="en-US" sz="1800" dirty="0"/>
              <a:t> </a:t>
            </a:r>
            <a:br>
              <a:rPr lang="en-US" sz="1800" dirty="0"/>
            </a:br>
            <a:r>
              <a:rPr lang="en-US" sz="1800" dirty="0"/>
              <a:t>       </a:t>
            </a:r>
            <a:r>
              <a:rPr lang="en-US" sz="1800" dirty="0" err="1"/>
              <a:t>abbiamo</a:t>
            </a:r>
            <a:r>
              <a:rPr lang="en-US" sz="1800" dirty="0"/>
              <a:t> </a:t>
            </a:r>
            <a:r>
              <a:rPr lang="en-US" sz="1800" dirty="0" err="1"/>
              <a:t>scritto</a:t>
            </a:r>
            <a:r>
              <a:rPr lang="en-US" sz="1800" dirty="0"/>
              <a:t> al punto 16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Per </a:t>
            </a:r>
            <a:r>
              <a:rPr lang="en-US" sz="1800" dirty="0" err="1"/>
              <a:t>i</a:t>
            </a:r>
            <a:r>
              <a:rPr lang="en-US" sz="1800" dirty="0"/>
              <a:t> </a:t>
            </a:r>
            <a:r>
              <a:rPr lang="en-US" sz="1800" dirty="0" err="1"/>
              <a:t>passi</a:t>
            </a:r>
            <a:r>
              <a:rPr lang="en-US" sz="1800" dirty="0"/>
              <a:t> </a:t>
            </a:r>
            <a:r>
              <a:rPr lang="en-US" sz="1800" dirty="0" err="1"/>
              <a:t>successivi</a:t>
            </a:r>
            <a:r>
              <a:rPr lang="en-US" sz="1800" dirty="0"/>
              <a:t>, </a:t>
            </a:r>
            <a:r>
              <a:rPr lang="en-US" sz="1800" dirty="0" err="1"/>
              <a:t>vedi</a:t>
            </a:r>
            <a:r>
              <a:rPr lang="en-US" sz="1800" dirty="0"/>
              <a:t> le </a:t>
            </a:r>
            <a:r>
              <a:rPr lang="en-US" sz="1800" dirty="0" err="1"/>
              <a:t>prossime</a:t>
            </a:r>
            <a:r>
              <a:rPr lang="en-US" sz="1800" dirty="0"/>
              <a:t> slide di </a:t>
            </a:r>
            <a:r>
              <a:rPr lang="en-US" sz="1800" dirty="0" err="1"/>
              <a:t>esercizi</a:t>
            </a:r>
            <a:endParaRPr lang="en-US" sz="18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988567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err="1"/>
              <a:t>Associazioni</a:t>
            </a:r>
            <a:r>
              <a:rPr lang="en-US"/>
              <a:t> </a:t>
            </a:r>
            <a:r>
              <a:rPr lang="en-US" err="1"/>
              <a:t>bidirezionali</a:t>
            </a:r>
            <a:br>
              <a:rPr lang="en-US"/>
            </a:br>
            <a:r>
              <a:rPr lang="en-US" err="1"/>
              <a:t>ManyToMany</a:t>
            </a:r>
            <a:endParaRPr lang="en-US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Nel </a:t>
            </a:r>
            <a:r>
              <a:rPr lang="en-US" dirty="0" err="1"/>
              <a:t>mondo</a:t>
            </a:r>
            <a:r>
              <a:rPr lang="en-US" dirty="0"/>
              <a:t> OO </a:t>
            </a:r>
            <a:r>
              <a:rPr lang="en-US" dirty="0" err="1"/>
              <a:t>abbiamo</a:t>
            </a:r>
            <a:r>
              <a:rPr lang="en-US" dirty="0"/>
              <a:t> una </a:t>
            </a:r>
            <a:r>
              <a:rPr lang="en-US" dirty="0" err="1"/>
              <a:t>collezione</a:t>
            </a:r>
            <a:r>
              <a:rPr lang="en-US" dirty="0"/>
              <a:t> di </a:t>
            </a:r>
            <a:r>
              <a:rPr lang="en-US" dirty="0" err="1"/>
              <a:t>riferimenti</a:t>
            </a:r>
            <a:r>
              <a:rPr lang="en-US" dirty="0"/>
              <a:t> in </a:t>
            </a:r>
            <a:r>
              <a:rPr lang="en-US" dirty="0" err="1"/>
              <a:t>entrambe</a:t>
            </a:r>
            <a:r>
              <a:rPr lang="en-US" dirty="0"/>
              <a:t> le </a:t>
            </a:r>
            <a:r>
              <a:rPr lang="en-US" dirty="0" err="1"/>
              <a:t>entità</a:t>
            </a:r>
            <a:endParaRPr lang="en-US" dirty="0"/>
          </a:p>
          <a:p>
            <a:r>
              <a:rPr lang="en-US" dirty="0"/>
              <a:t>Nel </a:t>
            </a:r>
            <a:r>
              <a:rPr lang="en-US" dirty="0" err="1"/>
              <a:t>mondo</a:t>
            </a:r>
            <a:r>
              <a:rPr lang="en-US" dirty="0"/>
              <a:t> </a:t>
            </a:r>
            <a:r>
              <a:rPr lang="en-US" dirty="0" err="1"/>
              <a:t>relazionale</a:t>
            </a:r>
            <a:r>
              <a:rPr lang="en-US" dirty="0"/>
              <a:t> </a:t>
            </a:r>
            <a:r>
              <a:rPr lang="en-US" dirty="0" err="1"/>
              <a:t>abbiamo</a:t>
            </a:r>
            <a:r>
              <a:rPr lang="en-US" dirty="0"/>
              <a:t> una </a:t>
            </a:r>
            <a:r>
              <a:rPr lang="en-US" dirty="0" err="1"/>
              <a:t>tabella</a:t>
            </a:r>
            <a:r>
              <a:rPr lang="en-US" dirty="0"/>
              <a:t> di join (</a:t>
            </a:r>
            <a:r>
              <a:rPr lang="en-US" dirty="0" err="1"/>
              <a:t>coppie</a:t>
            </a:r>
            <a:r>
              <a:rPr lang="en-US" dirty="0"/>
              <a:t> di foreign key </a:t>
            </a:r>
            <a:r>
              <a:rPr lang="en-US" dirty="0" err="1"/>
              <a:t>alle</a:t>
            </a:r>
            <a:r>
              <a:rPr lang="en-US" dirty="0"/>
              <a:t> </a:t>
            </a:r>
            <a:r>
              <a:rPr lang="en-US" dirty="0" err="1"/>
              <a:t>tabelle</a:t>
            </a:r>
            <a:r>
              <a:rPr lang="en-US" dirty="0"/>
              <a:t> </a:t>
            </a:r>
            <a:r>
              <a:rPr lang="en-US" dirty="0" err="1"/>
              <a:t>corrispondenti</a:t>
            </a:r>
            <a:r>
              <a:rPr lang="en-US" dirty="0"/>
              <a:t> </a:t>
            </a:r>
            <a:r>
              <a:rPr lang="en-US" dirty="0" err="1"/>
              <a:t>alle</a:t>
            </a:r>
            <a:r>
              <a:rPr lang="en-US" dirty="0"/>
              <a:t> due </a:t>
            </a:r>
            <a:r>
              <a:rPr lang="en-US" dirty="0" err="1"/>
              <a:t>entità</a:t>
            </a:r>
            <a:r>
              <a:rPr lang="en-US" dirty="0"/>
              <a:t>)</a:t>
            </a:r>
          </a:p>
          <a:p>
            <a:r>
              <a:rPr lang="en-US" dirty="0"/>
              <a:t>Una </a:t>
            </a:r>
            <a:r>
              <a:rPr lang="en-US" dirty="0" err="1"/>
              <a:t>associazione</a:t>
            </a:r>
            <a:r>
              <a:rPr lang="en-US" dirty="0"/>
              <a:t> </a:t>
            </a:r>
            <a:r>
              <a:rPr lang="en-US" dirty="0" err="1"/>
              <a:t>ManyToMany</a:t>
            </a:r>
            <a:r>
              <a:rPr lang="en-US" dirty="0"/>
              <a:t> </a:t>
            </a:r>
            <a:r>
              <a:rPr lang="en-US" dirty="0" err="1"/>
              <a:t>nel</a:t>
            </a:r>
            <a:r>
              <a:rPr lang="en-US" dirty="0"/>
              <a:t> </a:t>
            </a:r>
            <a:r>
              <a:rPr lang="en-US" dirty="0" err="1"/>
              <a:t>db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perfettamente</a:t>
            </a:r>
            <a:r>
              <a:rPr lang="en-US" dirty="0"/>
              <a:t> </a:t>
            </a:r>
            <a:r>
              <a:rPr lang="en-US" dirty="0" err="1"/>
              <a:t>simmetrica</a:t>
            </a:r>
            <a:r>
              <a:rPr lang="en-US" dirty="0"/>
              <a:t>. Ma </a:t>
            </a:r>
            <a:r>
              <a:rPr lang="en-US" dirty="0" err="1"/>
              <a:t>anche</a:t>
            </a:r>
            <a:r>
              <a:rPr lang="en-US" dirty="0"/>
              <a:t> in </a:t>
            </a:r>
            <a:r>
              <a:rPr lang="en-US" dirty="0" err="1"/>
              <a:t>questo</a:t>
            </a:r>
            <a:r>
              <a:rPr lang="en-US" dirty="0"/>
              <a:t> </a:t>
            </a:r>
            <a:r>
              <a:rPr lang="en-US" dirty="0" err="1"/>
              <a:t>caso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necessario</a:t>
            </a:r>
            <a:r>
              <a:rPr lang="en-US" dirty="0"/>
              <a:t> </a:t>
            </a:r>
            <a:r>
              <a:rPr lang="en-US" dirty="0" err="1"/>
              <a:t>specificare</a:t>
            </a:r>
            <a:r>
              <a:rPr lang="en-US" dirty="0"/>
              <a:t> la </a:t>
            </a:r>
            <a:r>
              <a:rPr lang="en-US" dirty="0" err="1"/>
              <a:t>reciprocità</a:t>
            </a:r>
            <a:r>
              <a:rPr lang="en-US" dirty="0"/>
              <a:t> </a:t>
            </a:r>
            <a:r>
              <a:rPr lang="en-US" dirty="0" err="1"/>
              <a:t>dei</a:t>
            </a:r>
            <a:r>
              <a:rPr lang="en-US" dirty="0"/>
              <a:t> </a:t>
            </a:r>
            <a:r>
              <a:rPr lang="en-US" dirty="0" err="1"/>
              <a:t>riferimenti</a:t>
            </a:r>
            <a:r>
              <a:rPr lang="en-US" dirty="0"/>
              <a:t>: se non lo </a:t>
            </a:r>
            <a:r>
              <a:rPr lang="en-US" dirty="0" err="1"/>
              <a:t>facciamo</a:t>
            </a:r>
            <a:r>
              <a:rPr lang="en-US" dirty="0"/>
              <a:t> JPA </a:t>
            </a:r>
            <a:r>
              <a:rPr lang="en-US" dirty="0" err="1"/>
              <a:t>interpreta</a:t>
            </a:r>
            <a:r>
              <a:rPr lang="en-US" dirty="0"/>
              <a:t> le due </a:t>
            </a:r>
            <a:r>
              <a:rPr lang="en-US" dirty="0" err="1"/>
              <a:t>collezioni</a:t>
            </a:r>
            <a:r>
              <a:rPr lang="en-US" dirty="0"/>
              <a:t> di </a:t>
            </a:r>
            <a:r>
              <a:rPr lang="en-US" dirty="0" err="1"/>
              <a:t>riferimenti</a:t>
            </a:r>
            <a:r>
              <a:rPr lang="en-US" dirty="0"/>
              <a:t> come due </a:t>
            </a:r>
            <a:r>
              <a:rPr lang="en-US" dirty="0" err="1"/>
              <a:t>associazioni</a:t>
            </a:r>
            <a:r>
              <a:rPr lang="en-US" dirty="0"/>
              <a:t> </a:t>
            </a:r>
            <a:r>
              <a:rPr lang="en-US" dirty="0" err="1"/>
              <a:t>indipendenti</a:t>
            </a:r>
            <a:endParaRPr lang="en-US" dirty="0"/>
          </a:p>
          <a:p>
            <a:r>
              <a:rPr lang="en-US" dirty="0"/>
              <a:t>Si </a:t>
            </a:r>
            <a:r>
              <a:rPr lang="en-US" dirty="0" err="1"/>
              <a:t>usa</a:t>
            </a:r>
            <a:r>
              <a:rPr lang="en-US" dirty="0"/>
              <a:t> la </a:t>
            </a:r>
            <a:r>
              <a:rPr lang="en-US" dirty="0" err="1"/>
              <a:t>stessa</a:t>
            </a:r>
            <a:r>
              <a:rPr lang="en-US" dirty="0"/>
              <a:t> </a:t>
            </a:r>
            <a:r>
              <a:rPr lang="en-US" dirty="0" err="1"/>
              <a:t>sintassi</a:t>
            </a:r>
            <a:r>
              <a:rPr lang="en-US" dirty="0"/>
              <a:t> vista per le </a:t>
            </a:r>
            <a:r>
              <a:rPr lang="en-US" dirty="0" err="1"/>
              <a:t>associazioni</a:t>
            </a:r>
            <a:r>
              <a:rPr lang="en-US" dirty="0"/>
              <a:t> </a:t>
            </a:r>
            <a:r>
              <a:rPr lang="en-US" dirty="0" err="1"/>
              <a:t>bidirezionali</a:t>
            </a:r>
            <a:r>
              <a:rPr lang="en-US" dirty="0"/>
              <a:t> one-to-many. Si </a:t>
            </a:r>
            <a:r>
              <a:rPr lang="en-US" dirty="0" err="1"/>
              <a:t>adorna</a:t>
            </a:r>
            <a:r>
              <a:rPr lang="en-US" dirty="0"/>
              <a:t> una </a:t>
            </a:r>
            <a:r>
              <a:rPr lang="en-US" dirty="0" err="1"/>
              <a:t>delle</a:t>
            </a:r>
            <a:r>
              <a:rPr lang="en-US" dirty="0"/>
              <a:t> due </a:t>
            </a:r>
            <a:r>
              <a:rPr lang="en-US" dirty="0" err="1"/>
              <a:t>annotazioni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esprimono</a:t>
            </a:r>
            <a:r>
              <a:rPr lang="en-US" dirty="0"/>
              <a:t> la </a:t>
            </a:r>
            <a:r>
              <a:rPr lang="en-US" dirty="0" err="1"/>
              <a:t>relazione</a:t>
            </a:r>
            <a:r>
              <a:rPr lang="en-US" dirty="0"/>
              <a:t> con </a:t>
            </a:r>
            <a:r>
              <a:rPr lang="en-US" dirty="0" err="1"/>
              <a:t>l'attributo</a:t>
            </a:r>
            <a:r>
              <a:rPr lang="en-US" dirty="0"/>
              <a:t> mapped-by:</a:t>
            </a:r>
            <a:br>
              <a:rPr lang="en-US" dirty="0"/>
            </a:br>
            <a:r>
              <a:rPr lang="en-US" b="1" dirty="0">
                <a:solidFill>
                  <a:srgbClr val="C0504D"/>
                </a:solidFill>
              </a:rPr>
              <a:t>(</a:t>
            </a:r>
            <a:r>
              <a:rPr lang="en-US" b="1" dirty="0" err="1">
                <a:solidFill>
                  <a:srgbClr val="C0504D"/>
                </a:solidFill>
              </a:rPr>
              <a:t>mappedBy</a:t>
            </a:r>
            <a:r>
              <a:rPr lang="en-US" b="1" dirty="0">
                <a:solidFill>
                  <a:srgbClr val="C0504D"/>
                </a:solidFill>
              </a:rPr>
              <a:t> = "</a:t>
            </a:r>
            <a:r>
              <a:rPr lang="en-US" b="1" dirty="0" err="1">
                <a:solidFill>
                  <a:srgbClr val="C0504D"/>
                </a:solidFill>
              </a:rPr>
              <a:t>attributo</a:t>
            </a:r>
            <a:r>
              <a:rPr lang="en-US" b="1" dirty="0">
                <a:solidFill>
                  <a:srgbClr val="C0504D"/>
                </a:solidFill>
              </a:rPr>
              <a:t> </a:t>
            </a:r>
            <a:r>
              <a:rPr lang="en-US" b="1" dirty="0" err="1">
                <a:solidFill>
                  <a:srgbClr val="C0504D"/>
                </a:solidFill>
              </a:rPr>
              <a:t>della</a:t>
            </a:r>
            <a:r>
              <a:rPr lang="en-US" b="1" dirty="0">
                <a:solidFill>
                  <a:srgbClr val="C0504D"/>
                </a:solidFill>
              </a:rPr>
              <a:t> owner side </a:t>
            </a:r>
            <a:r>
              <a:rPr lang="en-US" b="1" dirty="0" err="1">
                <a:solidFill>
                  <a:srgbClr val="C0504D"/>
                </a:solidFill>
              </a:rPr>
              <a:t>che</a:t>
            </a:r>
            <a:r>
              <a:rPr lang="en-US" b="1" dirty="0">
                <a:solidFill>
                  <a:srgbClr val="C0504D"/>
                </a:solidFill>
              </a:rPr>
              <a:t> </a:t>
            </a:r>
            <a:r>
              <a:rPr lang="en-US" b="1" dirty="0" err="1">
                <a:solidFill>
                  <a:srgbClr val="C0504D"/>
                </a:solidFill>
              </a:rPr>
              <a:t>implementa</a:t>
            </a:r>
            <a:r>
              <a:rPr lang="en-US" b="1" dirty="0">
                <a:solidFill>
                  <a:srgbClr val="C0504D"/>
                </a:solidFill>
              </a:rPr>
              <a:t> </a:t>
            </a:r>
            <a:r>
              <a:rPr lang="en-US" b="1" dirty="0" err="1">
                <a:solidFill>
                  <a:srgbClr val="C0504D"/>
                </a:solidFill>
              </a:rPr>
              <a:t>l'associazione</a:t>
            </a:r>
            <a:r>
              <a:rPr lang="en-US" b="1" dirty="0">
                <a:solidFill>
                  <a:srgbClr val="C0504D"/>
                </a:solidFill>
              </a:rPr>
              <a:t>")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6453996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err="1"/>
              <a:t>Esempio</a:t>
            </a:r>
            <a:endParaRPr lang="en-US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4" name="Segnaposto contenuto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72332966"/>
              </p:ext>
            </p:extLst>
          </p:nvPr>
        </p:nvGraphicFramePr>
        <p:xfrm>
          <a:off x="2389649" y="1735110"/>
          <a:ext cx="1164968" cy="9014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49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5151">
                <a:tc>
                  <a:txBody>
                    <a:bodyPr/>
                    <a:lstStyle/>
                    <a:p>
                      <a:pPr algn="ctr"/>
                      <a:r>
                        <a:rPr lang="it-IT" sz="1400" b="0" i="0" dirty="0">
                          <a:latin typeface="Calibri Light" panose="020F0302020204030204" pitchFamily="34" charset="0"/>
                        </a:rPr>
                        <a:t>Product</a:t>
                      </a:r>
                      <a:endParaRPr lang="it-IT" sz="8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lang="it-IT" sz="800" b="0" i="0" dirty="0">
                          <a:latin typeface="Calibri Light" panose="020F0302020204030204" pitchFamily="34" charset="0"/>
                        </a:rPr>
                        <a:t>-id: Long</a:t>
                      </a:r>
                    </a:p>
                    <a:p>
                      <a:r>
                        <a:rPr lang="it-IT" sz="800" dirty="0"/>
                        <a:t>-name:</a:t>
                      </a:r>
                      <a:r>
                        <a:rPr lang="it-IT" sz="800" baseline="0" dirty="0"/>
                        <a:t> </a:t>
                      </a:r>
                      <a:r>
                        <a:rPr lang="it-IT" sz="800" baseline="0" dirty="0" err="1"/>
                        <a:t>String</a:t>
                      </a:r>
                      <a:endParaRPr lang="it-IT" sz="800" baseline="0" dirty="0"/>
                    </a:p>
                    <a:p>
                      <a:r>
                        <a:rPr lang="it-IT" sz="800" baseline="0" dirty="0"/>
                        <a:t>-</a:t>
                      </a:r>
                      <a:r>
                        <a:rPr lang="it-IT" sz="800" baseline="0" dirty="0" err="1"/>
                        <a:t>description</a:t>
                      </a:r>
                      <a:r>
                        <a:rPr lang="it-IT" sz="800" baseline="0" dirty="0"/>
                        <a:t>: </a:t>
                      </a:r>
                      <a:r>
                        <a:rPr lang="it-IT" sz="800" baseline="0" dirty="0" err="1"/>
                        <a:t>String</a:t>
                      </a:r>
                      <a:endParaRPr lang="it-IT" sz="800" baseline="0" dirty="0"/>
                    </a:p>
                    <a:p>
                      <a:endParaRPr lang="it-IT" sz="8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Segnaposto contenuto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42998062"/>
              </p:ext>
            </p:extLst>
          </p:nvPr>
        </p:nvGraphicFramePr>
        <p:xfrm>
          <a:off x="4667077" y="1744635"/>
          <a:ext cx="1511789" cy="9014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17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5151">
                <a:tc>
                  <a:txBody>
                    <a:bodyPr/>
                    <a:lstStyle/>
                    <a:p>
                      <a:pPr algn="ctr"/>
                      <a:r>
                        <a:rPr lang="it-IT" sz="1400" b="0" i="0" dirty="0">
                          <a:latin typeface="Calibri Light" panose="020F0302020204030204" pitchFamily="34" charset="0"/>
                        </a:rPr>
                        <a:t>Provider</a:t>
                      </a:r>
                      <a:endParaRPr lang="it-IT" sz="8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lang="it-IT" sz="800" b="0" i="0" dirty="0">
                          <a:latin typeface="Calibri Light" panose="020F0302020204030204" pitchFamily="34" charset="0"/>
                        </a:rPr>
                        <a:t>-id: Long</a:t>
                      </a:r>
                    </a:p>
                    <a:p>
                      <a:r>
                        <a:rPr lang="it-IT" sz="800" dirty="0"/>
                        <a:t>-name: </a:t>
                      </a:r>
                      <a:r>
                        <a:rPr lang="it-IT" sz="800" dirty="0" err="1"/>
                        <a:t>String</a:t>
                      </a:r>
                      <a:endParaRPr lang="it-IT" sz="800" dirty="0"/>
                    </a:p>
                    <a:p>
                      <a:r>
                        <a:rPr lang="it-IT" sz="800" dirty="0"/>
                        <a:t>-</a:t>
                      </a:r>
                      <a:r>
                        <a:rPr lang="it-IT" sz="800" dirty="0" err="1"/>
                        <a:t>phoneNumber</a:t>
                      </a:r>
                      <a:r>
                        <a:rPr lang="it-IT" sz="800" dirty="0"/>
                        <a:t>: </a:t>
                      </a:r>
                      <a:r>
                        <a:rPr lang="it-IT" sz="800" dirty="0" err="1"/>
                        <a:t>String</a:t>
                      </a:r>
                      <a:endParaRPr lang="it-IT" sz="800" dirty="0"/>
                    </a:p>
                    <a:p>
                      <a:r>
                        <a:rPr lang="it-IT" sz="800" dirty="0"/>
                        <a:t>-email: </a:t>
                      </a:r>
                      <a:r>
                        <a:rPr lang="it-IT" sz="800" dirty="0" err="1"/>
                        <a:t>String</a:t>
                      </a:r>
                      <a:endParaRPr lang="it-IT" sz="8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6" name="Connettore 2 5"/>
          <p:cNvCxnSpPr>
            <a:stCxn id="4" idx="3"/>
            <a:endCxn id="5" idx="1"/>
          </p:cNvCxnSpPr>
          <p:nvPr/>
        </p:nvCxnSpPr>
        <p:spPr>
          <a:xfrm>
            <a:off x="3554617" y="2185815"/>
            <a:ext cx="1112460" cy="9525"/>
          </a:xfrm>
          <a:prstGeom prst="straightConnector1">
            <a:avLst/>
          </a:prstGeom>
          <a:ln w="12700" cmpd="sng">
            <a:solidFill>
              <a:srgbClr val="000000"/>
            </a:solidFill>
            <a:prstDash val="solid"/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asellaDiTesto 6"/>
          <p:cNvSpPr txBox="1"/>
          <p:nvPr/>
        </p:nvSpPr>
        <p:spPr>
          <a:xfrm>
            <a:off x="4245291" y="1915244"/>
            <a:ext cx="44595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350" dirty="0">
                <a:latin typeface="Calibri Light" panose="020F0302020204030204" pitchFamily="34" charset="0"/>
              </a:rPr>
              <a:t>0..*</a:t>
            </a:r>
          </a:p>
        </p:txBody>
      </p:sp>
      <p:sp>
        <p:nvSpPr>
          <p:cNvPr id="8" name="CasellaDiTesto 7"/>
          <p:cNvSpPr txBox="1"/>
          <p:nvPr/>
        </p:nvSpPr>
        <p:spPr>
          <a:xfrm>
            <a:off x="3563969" y="1912392"/>
            <a:ext cx="44595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350" dirty="0">
                <a:latin typeface="Calibri Light" panose="020F0302020204030204" pitchFamily="34" charset="0"/>
              </a:rPr>
              <a:t>1..*</a:t>
            </a:r>
          </a:p>
        </p:txBody>
      </p:sp>
    </p:spTree>
    <p:extLst>
      <p:ext uri="{BB962C8B-B14F-4D97-AF65-F5344CB8AC3E}">
        <p14:creationId xmlns:p14="http://schemas.microsoft.com/office/powerpoint/2010/main" val="268319615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Esempio</a:t>
            </a:r>
            <a:r>
              <a:rPr lang="en-US" dirty="0"/>
              <a:t> (cont.)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1210947" y="1200151"/>
            <a:ext cx="3575251" cy="3394472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1125" dirty="0"/>
          </a:p>
          <a:p>
            <a:pPr marL="0" indent="0">
              <a:buNone/>
            </a:pPr>
            <a:r>
              <a:rPr lang="en-US" sz="1125" dirty="0"/>
              <a:t>+import </a:t>
            </a:r>
            <a:r>
              <a:rPr lang="en-US" sz="1125" dirty="0" err="1"/>
              <a:t>java.util.ArrayList</a:t>
            </a:r>
            <a:r>
              <a:rPr lang="en-US" sz="1125" dirty="0"/>
              <a:t>;[…]</a:t>
            </a:r>
          </a:p>
          <a:p>
            <a:pPr marL="0" indent="0">
              <a:buNone/>
            </a:pPr>
            <a:endParaRPr lang="en-US" sz="1125" dirty="0"/>
          </a:p>
          <a:p>
            <a:pPr marL="0" indent="0">
              <a:buNone/>
            </a:pPr>
            <a:r>
              <a:rPr lang="en-US" sz="1125" dirty="0"/>
              <a:t>@Entity</a:t>
            </a:r>
          </a:p>
          <a:p>
            <a:pPr marL="0" indent="0">
              <a:buNone/>
            </a:pPr>
            <a:r>
              <a:rPr lang="en-US" sz="1125" dirty="0"/>
              <a:t>public class Product {</a:t>
            </a:r>
          </a:p>
          <a:p>
            <a:pPr marL="0" indent="0">
              <a:buNone/>
            </a:pPr>
            <a:endParaRPr lang="en-US" sz="1125" dirty="0"/>
          </a:p>
          <a:p>
            <a:pPr marL="0" indent="0">
              <a:buNone/>
            </a:pPr>
            <a:r>
              <a:rPr lang="en-US" sz="1125" dirty="0"/>
              <a:t>    @Id</a:t>
            </a:r>
          </a:p>
          <a:p>
            <a:pPr marL="0" indent="0">
              <a:buNone/>
            </a:pPr>
            <a:r>
              <a:rPr lang="en-US" sz="1125" dirty="0"/>
              <a:t>    @</a:t>
            </a:r>
            <a:r>
              <a:rPr lang="en-US" sz="1125" dirty="0" err="1"/>
              <a:t>GeneratedValue</a:t>
            </a:r>
            <a:r>
              <a:rPr lang="en-US" sz="1125" dirty="0"/>
              <a:t>(strategy = </a:t>
            </a:r>
            <a:r>
              <a:rPr lang="en-US" sz="1125" dirty="0" err="1"/>
              <a:t>GenerationType.</a:t>
            </a:r>
            <a:r>
              <a:rPr lang="en-US" sz="1125" i="1" dirty="0" err="1"/>
              <a:t>AUTO</a:t>
            </a:r>
            <a:r>
              <a:rPr lang="en-US" sz="1125" i="1" dirty="0"/>
              <a:t>)</a:t>
            </a:r>
          </a:p>
          <a:p>
            <a:pPr marL="0" indent="0">
              <a:buNone/>
            </a:pPr>
            <a:r>
              <a:rPr lang="en-US" sz="1125" dirty="0"/>
              <a:t>    private Long id;</a:t>
            </a:r>
          </a:p>
          <a:p>
            <a:pPr marL="0" indent="0">
              <a:buNone/>
            </a:pPr>
            <a:r>
              <a:rPr lang="en-US" sz="1125" dirty="0"/>
              <a:t>    @Column(nullable = false)</a:t>
            </a:r>
          </a:p>
          <a:p>
            <a:pPr marL="0" indent="0">
              <a:buNone/>
            </a:pPr>
            <a:r>
              <a:rPr lang="en-US" sz="1125" dirty="0"/>
              <a:t>    private String name;</a:t>
            </a:r>
          </a:p>
          <a:p>
            <a:pPr marL="0" indent="0">
              <a:buNone/>
            </a:pPr>
            <a:r>
              <a:rPr lang="en-US" sz="1125" dirty="0"/>
              <a:t>    private String description;</a:t>
            </a:r>
          </a:p>
          <a:p>
            <a:pPr marL="0" indent="0">
              <a:buNone/>
            </a:pPr>
            <a:r>
              <a:rPr lang="en-US" sz="1125" dirty="0"/>
              <a:t>    </a:t>
            </a:r>
            <a:r>
              <a:rPr lang="en-US" sz="1125" b="1" dirty="0">
                <a:solidFill>
                  <a:srgbClr val="C0504D"/>
                </a:solidFill>
              </a:rPr>
              <a:t>@</a:t>
            </a:r>
            <a:r>
              <a:rPr lang="en-US" sz="1125" b="1" dirty="0" err="1">
                <a:solidFill>
                  <a:srgbClr val="C0504D"/>
                </a:solidFill>
              </a:rPr>
              <a:t>ManyToMany</a:t>
            </a:r>
            <a:r>
              <a:rPr lang="en-US" sz="1125" b="1" dirty="0">
                <a:solidFill>
                  <a:srgbClr val="C0504D"/>
                </a:solidFill>
              </a:rPr>
              <a:t>(</a:t>
            </a:r>
            <a:r>
              <a:rPr lang="en-US" sz="1125" b="1" dirty="0" err="1">
                <a:solidFill>
                  <a:srgbClr val="C0504D"/>
                </a:solidFill>
              </a:rPr>
              <a:t>mappedBy</a:t>
            </a:r>
            <a:r>
              <a:rPr lang="en-US" sz="1125" b="1" dirty="0">
                <a:solidFill>
                  <a:srgbClr val="C0504D"/>
                </a:solidFill>
              </a:rPr>
              <a:t> = "</a:t>
            </a:r>
            <a:r>
              <a:rPr lang="en-US" sz="1125" b="1" dirty="0">
                <a:solidFill>
                  <a:srgbClr val="C0504D"/>
                </a:solidFill>
                <a:highlight>
                  <a:srgbClr val="FFFF00"/>
                </a:highlight>
              </a:rPr>
              <a:t>products</a:t>
            </a:r>
            <a:r>
              <a:rPr lang="en-US" sz="1125" b="1" dirty="0">
                <a:solidFill>
                  <a:srgbClr val="C0504D"/>
                </a:solidFill>
              </a:rPr>
              <a:t>")</a:t>
            </a:r>
          </a:p>
          <a:p>
            <a:pPr marL="0" indent="0">
              <a:buNone/>
            </a:pPr>
            <a:r>
              <a:rPr lang="en-US" sz="1125" b="1" dirty="0">
                <a:solidFill>
                  <a:srgbClr val="C0504D"/>
                </a:solidFill>
              </a:rPr>
              <a:t>    private List&lt;Provider&gt; providers;</a:t>
            </a:r>
          </a:p>
          <a:p>
            <a:pPr marL="0" indent="0">
              <a:buNone/>
            </a:pPr>
            <a:r>
              <a:rPr lang="en-US" sz="1125" dirty="0"/>
              <a:t>…</a:t>
            </a:r>
          </a:p>
          <a:p>
            <a:pPr marL="0" indent="0">
              <a:buNone/>
            </a:pPr>
            <a:r>
              <a:rPr lang="en-US" sz="1125" dirty="0"/>
              <a:t>}	</a:t>
            </a:r>
          </a:p>
          <a:p>
            <a:pPr marL="0" indent="0">
              <a:buNone/>
            </a:pPr>
            <a:endParaRPr lang="en-US" sz="1125" dirty="0"/>
          </a:p>
        </p:txBody>
      </p:sp>
      <p:sp>
        <p:nvSpPr>
          <p:cNvPr id="5" name="CasellaDiTesto 4"/>
          <p:cNvSpPr txBox="1"/>
          <p:nvPr/>
        </p:nvSpPr>
        <p:spPr>
          <a:xfrm>
            <a:off x="4826130" y="1593318"/>
            <a:ext cx="3385863" cy="30354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125" dirty="0">
              <a:latin typeface="Calibri Light" panose="020F0302020204030204" pitchFamily="34" charset="0"/>
            </a:endParaRPr>
          </a:p>
          <a:p>
            <a:r>
              <a:rPr lang="en-US" sz="1125" dirty="0">
                <a:latin typeface="Calibri Light" panose="020F0302020204030204" pitchFamily="34" charset="0"/>
              </a:rPr>
              <a:t>+import </a:t>
            </a:r>
            <a:r>
              <a:rPr lang="en-US" sz="1125" dirty="0" err="1">
                <a:latin typeface="Calibri Light" panose="020F0302020204030204" pitchFamily="34" charset="0"/>
              </a:rPr>
              <a:t>java.util.ArrayList</a:t>
            </a:r>
            <a:r>
              <a:rPr lang="en-US" sz="1125" dirty="0">
                <a:latin typeface="Calibri Light" panose="020F0302020204030204" pitchFamily="34" charset="0"/>
              </a:rPr>
              <a:t>;[…]</a:t>
            </a:r>
          </a:p>
          <a:p>
            <a:endParaRPr lang="en-US" sz="1125" dirty="0">
              <a:latin typeface="Calibri Light" panose="020F0302020204030204" pitchFamily="34" charset="0"/>
            </a:endParaRPr>
          </a:p>
          <a:p>
            <a:r>
              <a:rPr lang="en-US" sz="1125" dirty="0">
                <a:latin typeface="Calibri Light" panose="020F0302020204030204" pitchFamily="34" charset="0"/>
              </a:rPr>
              <a:t>@Entity</a:t>
            </a:r>
          </a:p>
          <a:p>
            <a:r>
              <a:rPr lang="en-US" sz="1125" dirty="0">
                <a:latin typeface="Calibri Light" panose="020F0302020204030204" pitchFamily="34" charset="0"/>
              </a:rPr>
              <a:t>public class Provider {</a:t>
            </a:r>
          </a:p>
          <a:p>
            <a:endParaRPr lang="en-US" sz="1125" dirty="0">
              <a:latin typeface="Calibri Light" panose="020F0302020204030204" pitchFamily="34" charset="0"/>
            </a:endParaRPr>
          </a:p>
          <a:p>
            <a:r>
              <a:rPr lang="en-US" sz="1125" dirty="0">
                <a:latin typeface="Calibri Light" panose="020F0302020204030204" pitchFamily="34" charset="0"/>
              </a:rPr>
              <a:t>    @Id</a:t>
            </a:r>
          </a:p>
          <a:p>
            <a:r>
              <a:rPr lang="en-US" sz="1125" dirty="0">
                <a:latin typeface="Calibri Light" panose="020F0302020204030204" pitchFamily="34" charset="0"/>
              </a:rPr>
              <a:t>    @</a:t>
            </a:r>
            <a:r>
              <a:rPr lang="en-US" sz="1125" dirty="0" err="1">
                <a:latin typeface="Calibri Light" panose="020F0302020204030204" pitchFamily="34" charset="0"/>
              </a:rPr>
              <a:t>GeneratedValue</a:t>
            </a:r>
            <a:r>
              <a:rPr lang="en-US" sz="1125" dirty="0">
                <a:latin typeface="Calibri Light" panose="020F0302020204030204" pitchFamily="34" charset="0"/>
              </a:rPr>
              <a:t>(strategy = </a:t>
            </a:r>
            <a:r>
              <a:rPr lang="en-US" sz="1125" dirty="0" err="1">
                <a:latin typeface="Calibri Light" panose="020F0302020204030204" pitchFamily="34" charset="0"/>
              </a:rPr>
              <a:t>GenerationType.AUTO</a:t>
            </a:r>
            <a:r>
              <a:rPr lang="en-US" sz="1125" dirty="0">
                <a:latin typeface="Calibri Light" panose="020F0302020204030204" pitchFamily="34" charset="0"/>
              </a:rPr>
              <a:t>)</a:t>
            </a:r>
          </a:p>
          <a:p>
            <a:r>
              <a:rPr lang="en-US" sz="1125" dirty="0">
                <a:latin typeface="Calibri Light" panose="020F0302020204030204" pitchFamily="34" charset="0"/>
              </a:rPr>
              <a:t>    private Long id;</a:t>
            </a:r>
          </a:p>
          <a:p>
            <a:r>
              <a:rPr lang="en-US" sz="1125" dirty="0">
                <a:latin typeface="Calibri Light" panose="020F0302020204030204" pitchFamily="34" charset="0"/>
              </a:rPr>
              <a:t>    @Column(nullable = false)</a:t>
            </a:r>
          </a:p>
          <a:p>
            <a:r>
              <a:rPr lang="en-US" sz="1125" dirty="0">
                <a:latin typeface="Calibri Light" panose="020F0302020204030204" pitchFamily="34" charset="0"/>
              </a:rPr>
              <a:t>    private String name;</a:t>
            </a:r>
          </a:p>
          <a:p>
            <a:r>
              <a:rPr lang="en-US" sz="1125" dirty="0">
                <a:latin typeface="Calibri Light" panose="020F0302020204030204" pitchFamily="34" charset="0"/>
              </a:rPr>
              <a:t>    private String email;</a:t>
            </a:r>
          </a:p>
          <a:p>
            <a:r>
              <a:rPr lang="en-US" sz="1125" dirty="0">
                <a:solidFill>
                  <a:srgbClr val="C0504D"/>
                </a:solidFill>
                <a:latin typeface="Calibri Light" panose="020F0302020204030204" pitchFamily="34" charset="0"/>
              </a:rPr>
              <a:t>    @</a:t>
            </a:r>
            <a:r>
              <a:rPr lang="en-US" sz="1125" dirty="0" err="1">
                <a:solidFill>
                  <a:srgbClr val="C0504D"/>
                </a:solidFill>
                <a:latin typeface="Calibri Light" panose="020F0302020204030204" pitchFamily="34" charset="0"/>
              </a:rPr>
              <a:t>ManyToMany</a:t>
            </a:r>
            <a:endParaRPr lang="en-US" sz="1125" dirty="0">
              <a:solidFill>
                <a:srgbClr val="C0504D"/>
              </a:solidFill>
              <a:latin typeface="Calibri Light" panose="020F0302020204030204" pitchFamily="34" charset="0"/>
            </a:endParaRPr>
          </a:p>
          <a:p>
            <a:r>
              <a:rPr lang="en-US" sz="1125" dirty="0">
                <a:solidFill>
                  <a:srgbClr val="C0504D"/>
                </a:solidFill>
                <a:latin typeface="Calibri Light" panose="020F0302020204030204" pitchFamily="34" charset="0"/>
              </a:rPr>
              <a:t>    private List&lt;Product&gt; </a:t>
            </a:r>
            <a:r>
              <a:rPr lang="en-US" sz="1125" dirty="0">
                <a:solidFill>
                  <a:srgbClr val="C0504D"/>
                </a:solidFill>
                <a:highlight>
                  <a:srgbClr val="FFFF00"/>
                </a:highlight>
                <a:latin typeface="Calibri Light" panose="020F0302020204030204" pitchFamily="34" charset="0"/>
              </a:rPr>
              <a:t>products</a:t>
            </a:r>
            <a:r>
              <a:rPr lang="en-US" sz="1125" dirty="0">
                <a:solidFill>
                  <a:srgbClr val="C0504D"/>
                </a:solidFill>
                <a:latin typeface="Calibri Light" panose="020F0302020204030204" pitchFamily="34" charset="0"/>
              </a:rPr>
              <a:t>;</a:t>
            </a:r>
          </a:p>
          <a:p>
            <a:r>
              <a:rPr lang="en-US" sz="1125" dirty="0">
                <a:latin typeface="Calibri Light" panose="020F0302020204030204" pitchFamily="34" charset="0"/>
              </a:rPr>
              <a:t>…</a:t>
            </a:r>
          </a:p>
          <a:p>
            <a:r>
              <a:rPr lang="en-US" sz="1125" dirty="0">
                <a:latin typeface="Calibri Light" panose="020F0302020204030204" pitchFamily="34" charset="0"/>
              </a:rPr>
              <a:t>}</a:t>
            </a:r>
          </a:p>
          <a:p>
            <a:endParaRPr lang="it-IT" sz="1125" dirty="0">
              <a:latin typeface="Calibri Light" panose="020F0302020204030204" pitchFamily="34" charset="0"/>
            </a:endParaRPr>
          </a:p>
        </p:txBody>
      </p:sp>
      <p:sp>
        <p:nvSpPr>
          <p:cNvPr id="13" name="Freccia circolare in su 12"/>
          <p:cNvSpPr/>
          <p:nvPr/>
        </p:nvSpPr>
        <p:spPr>
          <a:xfrm>
            <a:off x="3559629" y="4171951"/>
            <a:ext cx="2969840" cy="422672"/>
          </a:xfrm>
          <a:prstGeom prst="curvedUpArrow">
            <a:avLst>
              <a:gd name="adj1" fmla="val 25000"/>
              <a:gd name="adj2" fmla="val 50000"/>
              <a:gd name="adj3" fmla="val 2785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350" dirty="0">
              <a:solidFill>
                <a:schemeClr val="tx1"/>
              </a:solidFill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3741753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Esempio</a:t>
            </a:r>
            <a:r>
              <a:rPr lang="en-US"/>
              <a:t> (cont.)</a:t>
            </a:r>
          </a:p>
        </p:txBody>
      </p:sp>
      <p:graphicFrame>
        <p:nvGraphicFramePr>
          <p:cNvPr id="5" name="Segnaposto contenuto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47976669"/>
              </p:ext>
            </p:extLst>
          </p:nvPr>
        </p:nvGraphicFramePr>
        <p:xfrm>
          <a:off x="1343026" y="1733550"/>
          <a:ext cx="2619375" cy="84170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181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36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76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5740">
                <a:tc gridSpan="3">
                  <a:txBody>
                    <a:bodyPr/>
                    <a:lstStyle/>
                    <a:p>
                      <a:pPr algn="ctr"/>
                      <a:r>
                        <a:rPr lang="it-IT" sz="900" b="0" i="0" dirty="0">
                          <a:latin typeface="Calibri Light" panose="020F0302020204030204" pitchFamily="34" charset="0"/>
                        </a:rPr>
                        <a:t>product</a:t>
                      </a:r>
                      <a:endParaRPr lang="it-IT" sz="900" dirty="0"/>
                    </a:p>
                  </a:txBody>
                  <a:tcPr marL="68580" marR="68580" marT="34290" marB="34290"/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989">
                <a:tc>
                  <a:txBody>
                    <a:bodyPr/>
                    <a:lstStyle/>
                    <a:p>
                      <a:r>
                        <a:rPr lang="it-IT" sz="900" b="0" i="0" dirty="0">
                          <a:latin typeface="Calibri Light" panose="020F0302020204030204" pitchFamily="34" charset="0"/>
                        </a:rPr>
                        <a:t>id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bigint</a:t>
                      </a:r>
                      <a:endParaRPr lang="it-IT" sz="9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nullable</a:t>
                      </a:r>
                      <a:r>
                        <a:rPr lang="it-IT" sz="900" dirty="0"/>
                        <a:t>=false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989">
                <a:tc>
                  <a:txBody>
                    <a:bodyPr/>
                    <a:lstStyle/>
                    <a:p>
                      <a:r>
                        <a:rPr lang="it-IT" sz="900" b="0" i="0" dirty="0">
                          <a:latin typeface="Calibri Light" panose="020F0302020204030204" pitchFamily="34" charset="0"/>
                        </a:rPr>
                        <a:t>name</a:t>
                      </a:r>
                      <a:endParaRPr lang="it-IT" sz="9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varchar</a:t>
                      </a:r>
                      <a:r>
                        <a:rPr lang="it-IT" sz="900" dirty="0"/>
                        <a:t>(255)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nullable</a:t>
                      </a:r>
                      <a:r>
                        <a:rPr lang="it-IT" sz="900" dirty="0"/>
                        <a:t>=false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1989">
                <a:tc>
                  <a:txBody>
                    <a:bodyPr/>
                    <a:lstStyle/>
                    <a:p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description</a:t>
                      </a:r>
                      <a:endParaRPr lang="it-IT" sz="9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varchar</a:t>
                      </a:r>
                      <a:r>
                        <a:rPr lang="it-IT" sz="900" dirty="0"/>
                        <a:t>(255)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nullable</a:t>
                      </a:r>
                      <a:r>
                        <a:rPr lang="it-IT" sz="900" dirty="0"/>
                        <a:t>=</a:t>
                      </a:r>
                      <a:r>
                        <a:rPr lang="it-IT" sz="900" dirty="0" err="1"/>
                        <a:t>true</a:t>
                      </a:r>
                      <a:endParaRPr lang="it-IT" sz="9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Segnaposto contenuto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69692773"/>
              </p:ext>
            </p:extLst>
          </p:nvPr>
        </p:nvGraphicFramePr>
        <p:xfrm>
          <a:off x="4333876" y="1733550"/>
          <a:ext cx="3467100" cy="105369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7658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36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76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5740">
                <a:tc gridSpan="3">
                  <a:txBody>
                    <a:bodyPr/>
                    <a:lstStyle/>
                    <a:p>
                      <a:pPr algn="ctr"/>
                      <a:r>
                        <a:rPr lang="it-IT" sz="900" b="0" i="0" dirty="0">
                          <a:latin typeface="Calibri Light" panose="020F0302020204030204" pitchFamily="34" charset="0"/>
                        </a:rPr>
                        <a:t>provider</a:t>
                      </a:r>
                    </a:p>
                  </a:txBody>
                  <a:tcPr marL="68580" marR="68580" marT="34290" marB="34290"/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989">
                <a:tc>
                  <a:txBody>
                    <a:bodyPr/>
                    <a:lstStyle/>
                    <a:p>
                      <a:r>
                        <a:rPr lang="it-IT" sz="900" b="0" i="0" dirty="0">
                          <a:latin typeface="Calibri Light" panose="020F0302020204030204" pitchFamily="34" charset="0"/>
                        </a:rPr>
                        <a:t>id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bigint</a:t>
                      </a:r>
                      <a:endParaRPr lang="it-IT" sz="9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nullable</a:t>
                      </a:r>
                      <a:r>
                        <a:rPr lang="it-IT" sz="900" dirty="0"/>
                        <a:t>=false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989">
                <a:tc>
                  <a:txBody>
                    <a:bodyPr/>
                    <a:lstStyle/>
                    <a:p>
                      <a:r>
                        <a:rPr lang="it-IT" sz="900" b="0" i="0" dirty="0">
                          <a:latin typeface="Calibri Light" panose="020F0302020204030204" pitchFamily="34" charset="0"/>
                        </a:rPr>
                        <a:t>name</a:t>
                      </a:r>
                      <a:endParaRPr lang="it-IT" sz="9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varchar</a:t>
                      </a:r>
                      <a:r>
                        <a:rPr lang="it-IT" sz="900" dirty="0"/>
                        <a:t>(255)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nullable</a:t>
                      </a:r>
                      <a:r>
                        <a:rPr lang="it-IT" sz="900" dirty="0"/>
                        <a:t>=false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1989">
                <a:tc>
                  <a:txBody>
                    <a:bodyPr/>
                    <a:lstStyle/>
                    <a:p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phonenumber</a:t>
                      </a:r>
                      <a:endParaRPr lang="it-IT" sz="9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varchar</a:t>
                      </a:r>
                      <a:r>
                        <a:rPr lang="it-IT" sz="900" dirty="0"/>
                        <a:t>(255)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nullable</a:t>
                      </a:r>
                      <a:r>
                        <a:rPr lang="it-IT" sz="900" dirty="0"/>
                        <a:t>=</a:t>
                      </a:r>
                      <a:r>
                        <a:rPr lang="it-IT" sz="900" dirty="0" err="1"/>
                        <a:t>true</a:t>
                      </a:r>
                      <a:endParaRPr lang="it-IT" sz="9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1989">
                <a:tc>
                  <a:txBody>
                    <a:bodyPr/>
                    <a:lstStyle/>
                    <a:p>
                      <a:r>
                        <a:rPr lang="it-IT" sz="900" b="0" i="0" dirty="0">
                          <a:latin typeface="Calibri Light" panose="020F0302020204030204" pitchFamily="34" charset="0"/>
                        </a:rPr>
                        <a:t>email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varchar</a:t>
                      </a:r>
                      <a:r>
                        <a:rPr lang="it-IT" sz="900" dirty="0"/>
                        <a:t>(255)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nullable</a:t>
                      </a:r>
                      <a:r>
                        <a:rPr lang="it-IT" sz="900" dirty="0"/>
                        <a:t>=</a:t>
                      </a:r>
                      <a:r>
                        <a:rPr lang="it-IT" sz="900" dirty="0" err="1"/>
                        <a:t>true</a:t>
                      </a:r>
                      <a:endParaRPr lang="it-IT" sz="9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Segnaposto contenuto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27178547"/>
              </p:ext>
            </p:extLst>
          </p:nvPr>
        </p:nvGraphicFramePr>
        <p:xfrm>
          <a:off x="2800350" y="3352800"/>
          <a:ext cx="3067050" cy="8915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75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18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5740">
                <a:tc gridSpan="3">
                  <a:txBody>
                    <a:bodyPr/>
                    <a:lstStyle/>
                    <a:p>
                      <a:pPr algn="ctr"/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product_provider</a:t>
                      </a:r>
                      <a:endParaRPr lang="it-IT" sz="900" dirty="0"/>
                    </a:p>
                  </a:txBody>
                  <a:tcPr marL="68580" marR="68580" marT="34290" marB="34290"/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product_id</a:t>
                      </a:r>
                      <a:endParaRPr lang="it-IT" sz="9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bigint</a:t>
                      </a:r>
                      <a:endParaRPr lang="it-IT" sz="9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nullable</a:t>
                      </a:r>
                      <a:r>
                        <a:rPr lang="it-IT" sz="900" dirty="0"/>
                        <a:t>=false</a:t>
                      </a:r>
                    </a:p>
                    <a:p>
                      <a:r>
                        <a:rPr lang="it-IT" sz="900" b="1" dirty="0"/>
                        <a:t>FK </a:t>
                      </a:r>
                      <a:r>
                        <a:rPr lang="it-IT" sz="900" b="1" dirty="0" err="1"/>
                        <a:t>product.id</a:t>
                      </a:r>
                      <a:endParaRPr lang="it-IT" sz="9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provider_id</a:t>
                      </a:r>
                      <a:endParaRPr lang="it-IT" sz="9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bigint</a:t>
                      </a:r>
                      <a:endParaRPr lang="it-IT" sz="9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00" b="0" i="0" dirty="0" err="1">
                          <a:latin typeface="Calibri Light" panose="020F0302020204030204" pitchFamily="34" charset="0"/>
                        </a:rPr>
                        <a:t>nullable</a:t>
                      </a:r>
                      <a:r>
                        <a:rPr lang="it-IT" sz="900" dirty="0"/>
                        <a:t>=false</a:t>
                      </a:r>
                    </a:p>
                    <a:p>
                      <a:r>
                        <a:rPr lang="it-IT" sz="900" b="1" dirty="0"/>
                        <a:t>FK </a:t>
                      </a:r>
                      <a:r>
                        <a:rPr lang="it-IT" sz="900" b="1" dirty="0" err="1"/>
                        <a:t>provider.id</a:t>
                      </a:r>
                      <a:endParaRPr lang="it-IT" sz="9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382179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Mettiamo</a:t>
            </a:r>
            <a:r>
              <a:rPr lang="en-US"/>
              <a:t> </a:t>
            </a:r>
            <a:r>
              <a:rPr lang="en-US" err="1"/>
              <a:t>tutto</a:t>
            </a:r>
            <a:r>
              <a:rPr lang="en-US"/>
              <a:t> in </a:t>
            </a:r>
            <a:r>
              <a:rPr lang="en-US" err="1"/>
              <a:t>pratica</a:t>
            </a:r>
            <a:endParaRPr lang="en-US"/>
          </a:p>
        </p:txBody>
      </p:sp>
      <p:pic>
        <p:nvPicPr>
          <p:cNvPr id="4" name="Segnaposto contenuto 3"/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" b="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7726446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Esercizio</a:t>
            </a:r>
            <a:r>
              <a:rPr lang="en-US" dirty="0"/>
              <a:t> 2 (7/12) </a:t>
            </a:r>
            <a:br>
              <a:rPr lang="en-US" dirty="0"/>
            </a:br>
            <a:r>
              <a:rPr lang="en-US" sz="1650" dirty="0"/>
              <a:t>class diagram per il punto 19</a:t>
            </a:r>
            <a:br>
              <a:rPr lang="en-US" sz="1650" dirty="0"/>
            </a:br>
            <a:r>
              <a:rPr lang="en-US" sz="1650" dirty="0"/>
              <a:t>(</a:t>
            </a:r>
            <a:r>
              <a:rPr lang="en-US" sz="1650" dirty="0" err="1"/>
              <a:t>vedi</a:t>
            </a:r>
            <a:r>
              <a:rPr lang="en-US" sz="1650" dirty="0"/>
              <a:t> </a:t>
            </a:r>
            <a:r>
              <a:rPr lang="en-US" sz="1650" dirty="0" err="1"/>
              <a:t>prossima</a:t>
            </a:r>
            <a:r>
              <a:rPr lang="en-US" sz="1650" dirty="0"/>
              <a:t> slide)</a:t>
            </a:r>
          </a:p>
        </p:txBody>
      </p:sp>
      <p:graphicFrame>
        <p:nvGraphicFramePr>
          <p:cNvPr id="5" name="Segnaposto contenuto 5"/>
          <p:cNvGraphicFramePr>
            <a:graphicFrameLocks/>
          </p:cNvGraphicFramePr>
          <p:nvPr/>
        </p:nvGraphicFramePr>
        <p:xfrm>
          <a:off x="3952875" y="1149862"/>
          <a:ext cx="1164968" cy="9014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49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5151">
                <a:tc>
                  <a:txBody>
                    <a:bodyPr/>
                    <a:lstStyle/>
                    <a:p>
                      <a:pPr algn="ctr"/>
                      <a:r>
                        <a:rPr lang="it-IT" sz="1400" b="0" i="0" dirty="0">
                          <a:latin typeface="Calibri Light" panose="020F0302020204030204" pitchFamily="34" charset="0"/>
                        </a:rPr>
                        <a:t>Product</a:t>
                      </a:r>
                      <a:endParaRPr lang="it-IT" sz="8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lang="it-IT" sz="800" b="0" i="0" dirty="0">
                          <a:latin typeface="Calibri Light" panose="020F0302020204030204" pitchFamily="34" charset="0"/>
                        </a:rPr>
                        <a:t>-id: Long</a:t>
                      </a:r>
                    </a:p>
                    <a:p>
                      <a:r>
                        <a:rPr lang="it-IT" sz="800" dirty="0"/>
                        <a:t>-name:</a:t>
                      </a:r>
                      <a:r>
                        <a:rPr lang="it-IT" sz="800" baseline="0" dirty="0"/>
                        <a:t> </a:t>
                      </a:r>
                      <a:r>
                        <a:rPr lang="it-IT" sz="800" baseline="0" dirty="0" err="1"/>
                        <a:t>String</a:t>
                      </a:r>
                      <a:endParaRPr lang="it-IT" sz="800" baseline="0" dirty="0"/>
                    </a:p>
                    <a:p>
                      <a:r>
                        <a:rPr lang="it-IT" sz="800" baseline="0" dirty="0"/>
                        <a:t>-</a:t>
                      </a:r>
                      <a:r>
                        <a:rPr lang="it-IT" sz="800" baseline="0" dirty="0" err="1"/>
                        <a:t>description</a:t>
                      </a:r>
                      <a:r>
                        <a:rPr lang="it-IT" sz="800" baseline="0" dirty="0"/>
                        <a:t>: </a:t>
                      </a:r>
                      <a:r>
                        <a:rPr lang="it-IT" sz="800" baseline="0" dirty="0" err="1"/>
                        <a:t>String</a:t>
                      </a:r>
                      <a:endParaRPr lang="it-IT" sz="800" baseline="0" dirty="0"/>
                    </a:p>
                    <a:p>
                      <a:r>
                        <a:rPr lang="it-IT" sz="800" baseline="0" dirty="0"/>
                        <a:t>-price: Float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Segnaposto contenuto 5"/>
          <p:cNvGraphicFramePr>
            <a:graphicFrameLocks/>
          </p:cNvGraphicFramePr>
          <p:nvPr/>
        </p:nvGraphicFramePr>
        <p:xfrm>
          <a:off x="6268403" y="1083187"/>
          <a:ext cx="1511789" cy="10233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17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5151">
                <a:tc>
                  <a:txBody>
                    <a:bodyPr/>
                    <a:lstStyle/>
                    <a:p>
                      <a:pPr algn="ctr"/>
                      <a:r>
                        <a:rPr lang="it-IT" sz="1400" b="0" i="0" dirty="0">
                          <a:latin typeface="Calibri Light" panose="020F0302020204030204" pitchFamily="34" charset="0"/>
                        </a:rPr>
                        <a:t>Provider</a:t>
                      </a:r>
                      <a:endParaRPr lang="it-IT" sz="8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8655">
                <a:tc>
                  <a:txBody>
                    <a:bodyPr/>
                    <a:lstStyle/>
                    <a:p>
                      <a:r>
                        <a:rPr lang="it-IT" sz="800" b="0" i="0" dirty="0">
                          <a:latin typeface="Calibri Light" panose="020F0302020204030204" pitchFamily="34" charset="0"/>
                        </a:rPr>
                        <a:t>-id: Long</a:t>
                      </a:r>
                    </a:p>
                    <a:p>
                      <a:r>
                        <a:rPr lang="it-IT" sz="800" dirty="0"/>
                        <a:t>-name: </a:t>
                      </a:r>
                      <a:r>
                        <a:rPr lang="it-IT" sz="800" dirty="0" err="1"/>
                        <a:t>String</a:t>
                      </a:r>
                      <a:endParaRPr lang="it-IT" sz="800" dirty="0"/>
                    </a:p>
                    <a:p>
                      <a:r>
                        <a:rPr lang="it-IT" sz="800" dirty="0"/>
                        <a:t>-</a:t>
                      </a:r>
                      <a:r>
                        <a:rPr lang="it-IT" sz="800" dirty="0" err="1"/>
                        <a:t>phoneNumber</a:t>
                      </a:r>
                      <a:r>
                        <a:rPr lang="it-IT" sz="800" dirty="0"/>
                        <a:t>: </a:t>
                      </a:r>
                      <a:r>
                        <a:rPr lang="it-IT" sz="800" dirty="0" err="1"/>
                        <a:t>String</a:t>
                      </a:r>
                      <a:endParaRPr lang="it-IT" sz="800" dirty="0"/>
                    </a:p>
                    <a:p>
                      <a:r>
                        <a:rPr lang="it-IT" sz="800" dirty="0"/>
                        <a:t>-email: </a:t>
                      </a:r>
                      <a:r>
                        <a:rPr lang="it-IT" sz="800" dirty="0" err="1"/>
                        <a:t>String</a:t>
                      </a:r>
                      <a:endParaRPr lang="it-IT" sz="800" dirty="0"/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aseline="0" dirty="0"/>
                        <a:t>-</a:t>
                      </a:r>
                      <a:r>
                        <a:rPr lang="it-IT" sz="800" baseline="0" dirty="0" err="1"/>
                        <a:t>vatin</a:t>
                      </a:r>
                      <a:r>
                        <a:rPr lang="it-IT" sz="800" baseline="0" dirty="0"/>
                        <a:t>: </a:t>
                      </a:r>
                      <a:r>
                        <a:rPr lang="it-IT" sz="800" baseline="0" dirty="0" err="1"/>
                        <a:t>String</a:t>
                      </a:r>
                      <a:endParaRPr lang="it-IT" sz="800" baseline="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7" name="Connettore 2 6"/>
          <p:cNvCxnSpPr>
            <a:stCxn id="5" idx="3"/>
            <a:endCxn id="6" idx="1"/>
          </p:cNvCxnSpPr>
          <p:nvPr/>
        </p:nvCxnSpPr>
        <p:spPr>
          <a:xfrm flipV="1">
            <a:off x="5117843" y="1594852"/>
            <a:ext cx="1150560" cy="5715"/>
          </a:xfrm>
          <a:prstGeom prst="straightConnector1">
            <a:avLst/>
          </a:prstGeom>
          <a:ln w="3175" cmpd="sng">
            <a:solidFill>
              <a:srgbClr val="000000"/>
            </a:solidFill>
            <a:prstDash val="solid"/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asellaDiTesto 7"/>
          <p:cNvSpPr txBox="1"/>
          <p:nvPr/>
        </p:nvSpPr>
        <p:spPr>
          <a:xfrm>
            <a:off x="5846617" y="1263322"/>
            <a:ext cx="44595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350" dirty="0">
                <a:latin typeface="Calibri Light" panose="020F0302020204030204" pitchFamily="34" charset="0"/>
              </a:rPr>
              <a:t>1..*</a:t>
            </a:r>
          </a:p>
        </p:txBody>
      </p:sp>
      <p:sp>
        <p:nvSpPr>
          <p:cNvPr id="9" name="CasellaDiTesto 8"/>
          <p:cNvSpPr txBox="1"/>
          <p:nvPr/>
        </p:nvSpPr>
        <p:spPr>
          <a:xfrm>
            <a:off x="5165294" y="1260469"/>
            <a:ext cx="44595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350" dirty="0">
                <a:latin typeface="Calibri Light" panose="020F0302020204030204" pitchFamily="34" charset="0"/>
              </a:rPr>
              <a:t>0..*</a:t>
            </a:r>
          </a:p>
        </p:txBody>
      </p:sp>
      <p:graphicFrame>
        <p:nvGraphicFramePr>
          <p:cNvPr id="10" name="Segnaposto contenuto 5"/>
          <p:cNvGraphicFramePr>
            <a:graphicFrameLocks/>
          </p:cNvGraphicFramePr>
          <p:nvPr/>
        </p:nvGraphicFramePr>
        <p:xfrm>
          <a:off x="1402241" y="2476225"/>
          <a:ext cx="1508321" cy="6575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3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5151">
                <a:tc>
                  <a:txBody>
                    <a:bodyPr/>
                    <a:lstStyle/>
                    <a:p>
                      <a:pPr algn="ctr"/>
                      <a:r>
                        <a:rPr lang="it-IT" sz="1400" b="0" i="0" dirty="0">
                          <a:latin typeface="Calibri Light" panose="020F0302020204030204" pitchFamily="34" charset="0"/>
                        </a:rPr>
                        <a:t>Order</a:t>
                      </a:r>
                      <a:endParaRPr lang="it-IT" sz="8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r>
                        <a:rPr lang="it-IT" sz="800" b="0" i="0" dirty="0">
                          <a:latin typeface="Calibri Light" panose="020F0302020204030204" pitchFamily="34" charset="0"/>
                        </a:rPr>
                        <a:t>-id: Long</a:t>
                      </a:r>
                    </a:p>
                    <a:p>
                      <a:r>
                        <a:rPr lang="it-IT" sz="800" dirty="0"/>
                        <a:t>-</a:t>
                      </a:r>
                      <a:r>
                        <a:rPr lang="it-IT" sz="800" dirty="0" err="1"/>
                        <a:t>creationTime</a:t>
                      </a:r>
                      <a:r>
                        <a:rPr lang="it-IT" sz="800" dirty="0"/>
                        <a:t>:</a:t>
                      </a:r>
                      <a:r>
                        <a:rPr lang="it-IT" sz="800" baseline="0" dirty="0"/>
                        <a:t> </a:t>
                      </a:r>
                      <a:r>
                        <a:rPr lang="it-IT" sz="800" baseline="0" dirty="0" err="1"/>
                        <a:t>LocalDateTime</a:t>
                      </a:r>
                      <a:endParaRPr lang="it-IT" sz="800" baseline="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" name="Segnaposto contenuto 5"/>
          <p:cNvGraphicFramePr>
            <a:graphicFrameLocks/>
          </p:cNvGraphicFramePr>
          <p:nvPr/>
        </p:nvGraphicFramePr>
        <p:xfrm>
          <a:off x="3782205" y="2412944"/>
          <a:ext cx="1511789" cy="779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17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5151">
                <a:tc>
                  <a:txBody>
                    <a:bodyPr/>
                    <a:lstStyle/>
                    <a:p>
                      <a:pPr algn="ctr"/>
                      <a:r>
                        <a:rPr lang="it-IT" sz="1400" b="0" i="0" dirty="0" err="1">
                          <a:latin typeface="Calibri Light" panose="020F0302020204030204" pitchFamily="34" charset="0"/>
                        </a:rPr>
                        <a:t>OrderLine</a:t>
                      </a:r>
                      <a:endParaRPr lang="it-IT" sz="8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lang="it-IT" sz="800" b="0" i="0" dirty="0">
                          <a:latin typeface="Calibri Light" panose="020F0302020204030204" pitchFamily="34" charset="0"/>
                        </a:rPr>
                        <a:t>-id: Long</a:t>
                      </a:r>
                    </a:p>
                    <a:p>
                      <a:r>
                        <a:rPr lang="it-IT" sz="800" dirty="0"/>
                        <a:t>-</a:t>
                      </a:r>
                      <a:r>
                        <a:rPr lang="it-IT" sz="800" dirty="0" err="1"/>
                        <a:t>unitPrice</a:t>
                      </a:r>
                      <a:r>
                        <a:rPr lang="it-IT" sz="800" dirty="0"/>
                        <a:t>: Float</a:t>
                      </a:r>
                    </a:p>
                    <a:p>
                      <a:r>
                        <a:rPr lang="it-IT" sz="800" dirty="0"/>
                        <a:t>-</a:t>
                      </a:r>
                      <a:r>
                        <a:rPr lang="it-IT" sz="800" dirty="0" err="1"/>
                        <a:t>quantity</a:t>
                      </a:r>
                      <a:r>
                        <a:rPr lang="it-IT" sz="800" dirty="0"/>
                        <a:t>: </a:t>
                      </a:r>
                      <a:r>
                        <a:rPr lang="it-IT" sz="800" dirty="0" err="1"/>
                        <a:t>Integer</a:t>
                      </a:r>
                      <a:endParaRPr lang="it-IT" sz="8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2" name="Connettore 2 11"/>
          <p:cNvCxnSpPr>
            <a:cxnSpLocks/>
            <a:stCxn id="10" idx="3"/>
            <a:endCxn id="11" idx="1"/>
          </p:cNvCxnSpPr>
          <p:nvPr/>
        </p:nvCxnSpPr>
        <p:spPr>
          <a:xfrm flipV="1">
            <a:off x="2910562" y="2802689"/>
            <a:ext cx="871643" cy="2321"/>
          </a:xfrm>
          <a:prstGeom prst="straightConnector1">
            <a:avLst/>
          </a:prstGeom>
          <a:ln w="3175" cmpd="sng">
            <a:solidFill>
              <a:srgbClr val="000000"/>
            </a:solidFill>
            <a:prstDash val="solid"/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/>
          <p:cNvSpPr txBox="1"/>
          <p:nvPr/>
        </p:nvSpPr>
        <p:spPr>
          <a:xfrm>
            <a:off x="3350894" y="2554978"/>
            <a:ext cx="44595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350" dirty="0">
                <a:latin typeface="Calibri Light" panose="020F0302020204030204" pitchFamily="34" charset="0"/>
              </a:rPr>
              <a:t>0..*</a:t>
            </a:r>
          </a:p>
        </p:txBody>
      </p:sp>
      <p:cxnSp>
        <p:nvCxnSpPr>
          <p:cNvPr id="14" name="Connettore 2 13"/>
          <p:cNvCxnSpPr>
            <a:stCxn id="11" idx="0"/>
            <a:endCxn id="5" idx="2"/>
          </p:cNvCxnSpPr>
          <p:nvPr/>
        </p:nvCxnSpPr>
        <p:spPr>
          <a:xfrm flipH="1" flipV="1">
            <a:off x="4535359" y="2051273"/>
            <a:ext cx="2740" cy="361671"/>
          </a:xfrm>
          <a:prstGeom prst="straightConnector1">
            <a:avLst/>
          </a:prstGeom>
          <a:ln w="3175" cmpd="sng">
            <a:solidFill>
              <a:srgbClr val="000000"/>
            </a:solidFill>
            <a:prstDash val="solid"/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Segnaposto contenuto 5"/>
          <p:cNvGraphicFramePr>
            <a:graphicFrameLocks/>
          </p:cNvGraphicFramePr>
          <p:nvPr/>
        </p:nvGraphicFramePr>
        <p:xfrm>
          <a:off x="1402241" y="3806797"/>
          <a:ext cx="1508321" cy="11452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3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5151">
                <a:tc>
                  <a:txBody>
                    <a:bodyPr/>
                    <a:lstStyle/>
                    <a:p>
                      <a:pPr algn="ctr"/>
                      <a:r>
                        <a:rPr lang="it-IT" sz="1400" b="0" i="0" dirty="0" err="1">
                          <a:latin typeface="Calibri Light" panose="020F0302020204030204" pitchFamily="34" charset="0"/>
                        </a:rPr>
                        <a:t>Customer</a:t>
                      </a:r>
                      <a:endParaRPr lang="it-IT" sz="8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8670">
                <a:tc>
                  <a:txBody>
                    <a:bodyPr/>
                    <a:lstStyle/>
                    <a:p>
                      <a:r>
                        <a:rPr lang="it-IT" sz="800" b="0" i="0" dirty="0">
                          <a:latin typeface="Calibri Light" panose="020F0302020204030204" pitchFamily="34" charset="0"/>
                        </a:rPr>
                        <a:t>-id: Long</a:t>
                      </a:r>
                    </a:p>
                    <a:p>
                      <a:r>
                        <a:rPr lang="it-IT" sz="800" dirty="0"/>
                        <a:t>-</a:t>
                      </a:r>
                      <a:r>
                        <a:rPr lang="it-IT" sz="800" dirty="0" err="1"/>
                        <a:t>firstName</a:t>
                      </a:r>
                      <a:r>
                        <a:rPr lang="it-IT" sz="800" dirty="0"/>
                        <a:t>:</a:t>
                      </a:r>
                      <a:r>
                        <a:rPr lang="it-IT" sz="800" baseline="0" dirty="0"/>
                        <a:t> </a:t>
                      </a:r>
                      <a:r>
                        <a:rPr lang="it-IT" sz="800" baseline="0" dirty="0" err="1"/>
                        <a:t>String</a:t>
                      </a:r>
                      <a:endParaRPr lang="it-IT" sz="800" baseline="0" dirty="0"/>
                    </a:p>
                    <a:p>
                      <a:r>
                        <a:rPr lang="it-IT" sz="800" baseline="0" dirty="0"/>
                        <a:t>-</a:t>
                      </a:r>
                      <a:r>
                        <a:rPr lang="it-IT" sz="800" baseline="0" dirty="0" err="1"/>
                        <a:t>lastName</a:t>
                      </a:r>
                      <a:r>
                        <a:rPr lang="it-IT" sz="800" baseline="0" dirty="0"/>
                        <a:t>: </a:t>
                      </a:r>
                      <a:r>
                        <a:rPr lang="it-IT" sz="800" baseline="0" dirty="0" err="1"/>
                        <a:t>String</a:t>
                      </a:r>
                      <a:endParaRPr lang="it-IT" sz="800" baseline="0" dirty="0"/>
                    </a:p>
                    <a:p>
                      <a:r>
                        <a:rPr lang="it-IT" sz="800" baseline="0" dirty="0"/>
                        <a:t>-email: </a:t>
                      </a:r>
                      <a:r>
                        <a:rPr lang="it-IT" sz="800" baseline="0" dirty="0" err="1"/>
                        <a:t>String</a:t>
                      </a:r>
                      <a:endParaRPr lang="it-IT" sz="800" baseline="0" dirty="0"/>
                    </a:p>
                    <a:p>
                      <a:r>
                        <a:rPr lang="it-IT" sz="800" baseline="0" dirty="0"/>
                        <a:t>-</a:t>
                      </a:r>
                      <a:r>
                        <a:rPr lang="it-IT" sz="800" baseline="0" dirty="0" err="1"/>
                        <a:t>phoneNumber</a:t>
                      </a:r>
                      <a:r>
                        <a:rPr lang="it-IT" sz="800" baseline="0" dirty="0"/>
                        <a:t>: </a:t>
                      </a:r>
                      <a:r>
                        <a:rPr lang="it-IT" sz="800" baseline="0" dirty="0" err="1"/>
                        <a:t>String</a:t>
                      </a:r>
                      <a:endParaRPr lang="it-IT" sz="800" baseline="0" dirty="0"/>
                    </a:p>
                    <a:p>
                      <a:r>
                        <a:rPr lang="it-IT" sz="800" baseline="0" dirty="0"/>
                        <a:t>-</a:t>
                      </a:r>
                      <a:r>
                        <a:rPr lang="it-IT" sz="800" baseline="0" dirty="0" err="1"/>
                        <a:t>dateOfBirth</a:t>
                      </a:r>
                      <a:r>
                        <a:rPr lang="it-IT" sz="800" baseline="0" dirty="0"/>
                        <a:t>: </a:t>
                      </a:r>
                      <a:r>
                        <a:rPr lang="it-IT" sz="800" baseline="0" dirty="0" err="1"/>
                        <a:t>LocalDate</a:t>
                      </a:r>
                      <a:endParaRPr lang="it-IT" sz="800" baseline="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8" name="Segnaposto contenuto 5"/>
          <p:cNvGraphicFramePr>
            <a:graphicFrameLocks/>
          </p:cNvGraphicFramePr>
          <p:nvPr/>
        </p:nvGraphicFramePr>
        <p:xfrm>
          <a:off x="6270136" y="3809654"/>
          <a:ext cx="1511789" cy="11452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17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5151">
                <a:tc>
                  <a:txBody>
                    <a:bodyPr/>
                    <a:lstStyle/>
                    <a:p>
                      <a:pPr algn="ctr"/>
                      <a:r>
                        <a:rPr lang="it-IT" sz="1400" b="0" i="0" dirty="0" err="1">
                          <a:latin typeface="Calibri Light" panose="020F0302020204030204" pitchFamily="34" charset="0"/>
                        </a:rPr>
                        <a:t>Address</a:t>
                      </a:r>
                      <a:endParaRPr lang="it-IT" sz="8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8670">
                <a:tc>
                  <a:txBody>
                    <a:bodyPr/>
                    <a:lstStyle/>
                    <a:p>
                      <a:r>
                        <a:rPr lang="it-IT" sz="800" b="0" i="0" dirty="0">
                          <a:latin typeface="Calibri Light" panose="020F0302020204030204" pitchFamily="34" charset="0"/>
                        </a:rPr>
                        <a:t>-id: Long</a:t>
                      </a:r>
                    </a:p>
                    <a:p>
                      <a:r>
                        <a:rPr lang="it-IT" sz="800" dirty="0"/>
                        <a:t>-street: </a:t>
                      </a:r>
                      <a:r>
                        <a:rPr lang="it-IT" sz="800" dirty="0" err="1"/>
                        <a:t>String</a:t>
                      </a:r>
                      <a:endParaRPr lang="it-IT" sz="800" dirty="0"/>
                    </a:p>
                    <a:p>
                      <a:r>
                        <a:rPr lang="it-IT" sz="800" dirty="0"/>
                        <a:t>-city: </a:t>
                      </a:r>
                      <a:r>
                        <a:rPr lang="it-IT" sz="800" dirty="0" err="1"/>
                        <a:t>String</a:t>
                      </a:r>
                      <a:endParaRPr lang="it-IT" sz="800" dirty="0"/>
                    </a:p>
                    <a:p>
                      <a:r>
                        <a:rPr lang="it-IT" sz="800" dirty="0"/>
                        <a:t>-state:</a:t>
                      </a:r>
                      <a:r>
                        <a:rPr lang="it-IT" sz="800" baseline="0" dirty="0"/>
                        <a:t> </a:t>
                      </a:r>
                      <a:r>
                        <a:rPr lang="it-IT" sz="800" baseline="0" dirty="0" err="1"/>
                        <a:t>String</a:t>
                      </a:r>
                      <a:endParaRPr lang="it-IT" sz="800" baseline="0" dirty="0"/>
                    </a:p>
                    <a:p>
                      <a:r>
                        <a:rPr lang="it-IT" sz="800" baseline="0" dirty="0"/>
                        <a:t>-</a:t>
                      </a:r>
                      <a:r>
                        <a:rPr lang="it-IT" sz="800" baseline="0" dirty="0" err="1"/>
                        <a:t>zipcode</a:t>
                      </a:r>
                      <a:r>
                        <a:rPr lang="it-IT" sz="800" baseline="0" dirty="0"/>
                        <a:t>: </a:t>
                      </a:r>
                      <a:r>
                        <a:rPr lang="it-IT" sz="800" baseline="0" dirty="0" err="1"/>
                        <a:t>String</a:t>
                      </a:r>
                      <a:endParaRPr lang="it-IT" sz="800" baseline="0" dirty="0"/>
                    </a:p>
                    <a:p>
                      <a:r>
                        <a:rPr lang="it-IT" sz="800" baseline="0" dirty="0"/>
                        <a:t>-country: </a:t>
                      </a:r>
                      <a:r>
                        <a:rPr lang="it-IT" sz="800" baseline="0" dirty="0" err="1"/>
                        <a:t>String</a:t>
                      </a:r>
                      <a:endParaRPr lang="it-IT" sz="8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9" name="Connettore 2 18"/>
          <p:cNvCxnSpPr>
            <a:cxnSpLocks/>
            <a:stCxn id="17" idx="3"/>
            <a:endCxn id="18" idx="1"/>
          </p:cNvCxnSpPr>
          <p:nvPr/>
        </p:nvCxnSpPr>
        <p:spPr>
          <a:xfrm>
            <a:off x="2910562" y="4379422"/>
            <a:ext cx="3359574" cy="2857"/>
          </a:xfrm>
          <a:prstGeom prst="straightConnector1">
            <a:avLst/>
          </a:prstGeom>
          <a:ln w="3175" cmpd="sng">
            <a:solidFill>
              <a:srgbClr val="000000"/>
            </a:solidFill>
            <a:prstDash val="solid"/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ttore 2 19"/>
          <p:cNvCxnSpPr>
            <a:cxnSpLocks/>
            <a:stCxn id="17" idx="0"/>
            <a:endCxn id="10" idx="2"/>
          </p:cNvCxnSpPr>
          <p:nvPr/>
        </p:nvCxnSpPr>
        <p:spPr>
          <a:xfrm flipV="1">
            <a:off x="2156401" y="3133796"/>
            <a:ext cx="0" cy="673001"/>
          </a:xfrm>
          <a:prstGeom prst="straightConnector1">
            <a:avLst/>
          </a:prstGeom>
          <a:ln w="3175" cmpd="sng">
            <a:solidFill>
              <a:srgbClr val="000000"/>
            </a:solidFill>
            <a:prstDash val="solid"/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asellaDiTesto 22"/>
          <p:cNvSpPr txBox="1"/>
          <p:nvPr/>
        </p:nvSpPr>
        <p:spPr>
          <a:xfrm>
            <a:off x="2142125" y="3152803"/>
            <a:ext cx="44595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350" dirty="0">
                <a:latin typeface="Calibri Light" panose="020F0302020204030204" pitchFamily="34" charset="0"/>
              </a:rPr>
              <a:t>0..*</a:t>
            </a:r>
          </a:p>
        </p:txBody>
      </p:sp>
      <p:cxnSp>
        <p:nvCxnSpPr>
          <p:cNvPr id="25" name="Connettore 2 24"/>
          <p:cNvCxnSpPr>
            <a:stCxn id="6" idx="2"/>
            <a:endCxn id="18" idx="0"/>
          </p:cNvCxnSpPr>
          <p:nvPr/>
        </p:nvCxnSpPr>
        <p:spPr>
          <a:xfrm>
            <a:off x="7024297" y="2106518"/>
            <a:ext cx="1733" cy="1703136"/>
          </a:xfrm>
          <a:prstGeom prst="straightConnector1">
            <a:avLst/>
          </a:prstGeom>
          <a:ln w="3175" cmpd="sng">
            <a:solidFill>
              <a:srgbClr val="000000"/>
            </a:solidFill>
            <a:prstDash val="solid"/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asellaDiTesto 20"/>
          <p:cNvSpPr txBox="1"/>
          <p:nvPr/>
        </p:nvSpPr>
        <p:spPr>
          <a:xfrm>
            <a:off x="4538099" y="2171602"/>
            <a:ext cx="44595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350" dirty="0">
                <a:latin typeface="Calibri Light" panose="020F0302020204030204" pitchFamily="34" charset="0"/>
              </a:rPr>
              <a:t>0..*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6257CBA3-AC0C-EE41-9B00-ADB7B5236DF0}"/>
              </a:ext>
            </a:extLst>
          </p:cNvPr>
          <p:cNvSpPr txBox="1"/>
          <p:nvPr/>
        </p:nvSpPr>
        <p:spPr>
          <a:xfrm>
            <a:off x="378014" y="991887"/>
            <a:ext cx="296836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 err="1">
                <a:latin typeface="Calibri Light" panose="020F0302020204030204" pitchFamily="34" charset="0"/>
              </a:rPr>
              <a:t>Continuiamo</a:t>
            </a:r>
            <a:r>
              <a:rPr lang="en-US" sz="2100" dirty="0">
                <a:latin typeface="Calibri Light" panose="020F0302020204030204" pitchFamily="34" charset="0"/>
              </a:rPr>
              <a:t> a </a:t>
            </a:r>
            <a:r>
              <a:rPr lang="en-US" sz="2100" dirty="0" err="1">
                <a:latin typeface="Calibri Light" panose="020F0302020204030204" pitchFamily="34" charset="0"/>
              </a:rPr>
              <a:t>lavorare</a:t>
            </a:r>
            <a:r>
              <a:rPr lang="en-US" sz="2100" dirty="0">
                <a:latin typeface="Calibri Light" panose="020F0302020204030204" pitchFamily="34" charset="0"/>
              </a:rPr>
              <a:t> </a:t>
            </a:r>
            <a:r>
              <a:rPr lang="en-US" sz="2100" dirty="0" err="1">
                <a:latin typeface="Calibri Light" panose="020F0302020204030204" pitchFamily="34" charset="0"/>
              </a:rPr>
              <a:t>sul</a:t>
            </a:r>
            <a:r>
              <a:rPr lang="en-US" sz="2100" dirty="0">
                <a:latin typeface="Calibri Light" panose="020F0302020204030204" pitchFamily="34" charset="0"/>
              </a:rPr>
              <a:t> </a:t>
            </a:r>
            <a:r>
              <a:rPr lang="en-US" sz="2100" dirty="0" err="1">
                <a:latin typeface="Calibri Light" panose="020F0302020204030204" pitchFamily="34" charset="0"/>
              </a:rPr>
              <a:t>progetto</a:t>
            </a:r>
            <a:r>
              <a:rPr lang="en-US" sz="2100" dirty="0">
                <a:latin typeface="Calibri Light" panose="020F0302020204030204" pitchFamily="34" charset="0"/>
              </a:rPr>
              <a:t> siw-jpa-es2</a:t>
            </a:r>
          </a:p>
        </p:txBody>
      </p:sp>
    </p:spTree>
    <p:extLst>
      <p:ext uri="{BB962C8B-B14F-4D97-AF65-F5344CB8AC3E}">
        <p14:creationId xmlns:p14="http://schemas.microsoft.com/office/powerpoint/2010/main" val="2161641869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F61339E-656F-6F4B-81D1-66A087528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Esercizio</a:t>
            </a:r>
            <a:r>
              <a:rPr lang="en-US" dirty="0"/>
              <a:t> 2 (8/12)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BDA1D8D-0E94-8348-8FAF-4054A85320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 dirty="0"/>
              <a:t>19. </a:t>
            </a:r>
            <a:r>
              <a:rPr lang="en-US" sz="1800" dirty="0" err="1"/>
              <a:t>Aggiungere</a:t>
            </a:r>
            <a:r>
              <a:rPr lang="en-US" sz="1800" dirty="0"/>
              <a:t> </a:t>
            </a:r>
            <a:r>
              <a:rPr lang="en-US" sz="1800" dirty="0" err="1"/>
              <a:t>il</a:t>
            </a:r>
            <a:r>
              <a:rPr lang="en-US" sz="1800" dirty="0"/>
              <a:t> </a:t>
            </a:r>
            <a:r>
              <a:rPr lang="en-US" sz="1800" dirty="0" err="1"/>
              <a:t>codice</a:t>
            </a:r>
            <a:r>
              <a:rPr lang="en-US" sz="1800" dirty="0"/>
              <a:t> </a:t>
            </a:r>
            <a:r>
              <a:rPr lang="en-US" sz="1800" dirty="0" err="1"/>
              <a:t>della</a:t>
            </a:r>
            <a:r>
              <a:rPr lang="en-US" sz="1800" dirty="0"/>
              <a:t> </a:t>
            </a:r>
            <a:r>
              <a:rPr lang="en-US" sz="1800" dirty="0" err="1"/>
              <a:t>classe</a:t>
            </a:r>
            <a:r>
              <a:rPr lang="en-US" sz="1800" dirty="0"/>
              <a:t> </a:t>
            </a:r>
            <a:r>
              <a:rPr lang="en-US" sz="1800" b="1" dirty="0"/>
              <a:t>Provider</a:t>
            </a:r>
            <a:r>
              <a:rPr lang="en-US" sz="1800" dirty="0"/>
              <a:t> e </a:t>
            </a:r>
            <a:r>
              <a:rPr lang="en-US" sz="1800" dirty="0" err="1"/>
              <a:t>modificare</a:t>
            </a:r>
            <a:r>
              <a:rPr lang="en-US" sz="1800" dirty="0"/>
              <a:t> </a:t>
            </a:r>
            <a:br>
              <a:rPr lang="en-US" sz="1800" dirty="0"/>
            </a:br>
            <a:r>
              <a:rPr lang="en-US" sz="1800" dirty="0"/>
              <a:t>       </a:t>
            </a:r>
            <a:r>
              <a:rPr lang="en-US" sz="1800" dirty="0" err="1"/>
              <a:t>il</a:t>
            </a:r>
            <a:r>
              <a:rPr lang="en-US" sz="1800" dirty="0"/>
              <a:t> </a:t>
            </a:r>
            <a:r>
              <a:rPr lang="en-US" sz="1800" dirty="0" err="1"/>
              <a:t>codice</a:t>
            </a:r>
            <a:r>
              <a:rPr lang="en-US" sz="1800" dirty="0"/>
              <a:t> </a:t>
            </a:r>
            <a:r>
              <a:rPr lang="en-US" sz="1800" dirty="0" err="1"/>
              <a:t>della</a:t>
            </a:r>
            <a:r>
              <a:rPr lang="en-US" sz="1800" dirty="0"/>
              <a:t> </a:t>
            </a:r>
            <a:r>
              <a:rPr lang="en-US" sz="1800" dirty="0" err="1"/>
              <a:t>classe</a:t>
            </a:r>
            <a:r>
              <a:rPr lang="en-US" sz="1800" dirty="0"/>
              <a:t> </a:t>
            </a:r>
            <a:r>
              <a:rPr lang="en-US" sz="1800" b="1" dirty="0"/>
              <a:t>Product</a:t>
            </a:r>
            <a:r>
              <a:rPr lang="en-US" sz="1800" dirty="0"/>
              <a:t> </a:t>
            </a:r>
            <a:r>
              <a:rPr lang="en-US" sz="1800" dirty="0" err="1"/>
              <a:t>rappresentate</a:t>
            </a:r>
            <a:r>
              <a:rPr lang="en-US" sz="1800" dirty="0"/>
              <a:t> </a:t>
            </a:r>
            <a:r>
              <a:rPr lang="en-US" sz="1800" dirty="0" err="1"/>
              <a:t>nel</a:t>
            </a:r>
            <a:r>
              <a:rPr lang="en-US" sz="1800" dirty="0"/>
              <a:t> class </a:t>
            </a:r>
            <a:br>
              <a:rPr lang="en-US" sz="1800" dirty="0"/>
            </a:br>
            <a:r>
              <a:rPr lang="en-US" sz="1800" dirty="0"/>
              <a:t>       diagram </a:t>
            </a:r>
            <a:r>
              <a:rPr lang="en-US" sz="1800" dirty="0" err="1"/>
              <a:t>della</a:t>
            </a:r>
            <a:r>
              <a:rPr lang="en-US" sz="1800" dirty="0"/>
              <a:t> slide </a:t>
            </a:r>
            <a:r>
              <a:rPr lang="en-US" sz="1800" dirty="0" err="1"/>
              <a:t>precedente</a:t>
            </a:r>
            <a:endParaRPr lang="en-US" sz="1800" b="1" dirty="0"/>
          </a:p>
          <a:p>
            <a:pPr marL="0" indent="0">
              <a:buNone/>
            </a:pPr>
            <a:r>
              <a:rPr lang="en-US" sz="1800" dirty="0"/>
              <a:t>20. </a:t>
            </a:r>
            <a:r>
              <a:rPr lang="en-US" sz="1800" dirty="0" err="1"/>
              <a:t>Quante</a:t>
            </a:r>
            <a:r>
              <a:rPr lang="en-US" sz="1800" dirty="0"/>
              <a:t> </a:t>
            </a:r>
            <a:r>
              <a:rPr lang="en-US" sz="1800" dirty="0" err="1"/>
              <a:t>tabelle</a:t>
            </a:r>
            <a:r>
              <a:rPr lang="en-US" sz="1800" dirty="0"/>
              <a:t> ci </a:t>
            </a:r>
            <a:r>
              <a:rPr lang="en-US" sz="1800" dirty="0" err="1"/>
              <a:t>aspettiamo</a:t>
            </a:r>
            <a:r>
              <a:rPr lang="en-US" sz="1800" dirty="0"/>
              <a:t> </a:t>
            </a:r>
            <a:r>
              <a:rPr lang="en-US" sz="1800" dirty="0" err="1"/>
              <a:t>che</a:t>
            </a:r>
            <a:r>
              <a:rPr lang="en-US" sz="1800" dirty="0"/>
              <a:t> </a:t>
            </a:r>
            <a:r>
              <a:rPr lang="en-US" sz="1800" dirty="0" err="1"/>
              <a:t>saranno</a:t>
            </a:r>
            <a:r>
              <a:rPr lang="en-US" sz="1800" dirty="0"/>
              <a:t> create da JPA? </a:t>
            </a:r>
            <a:br>
              <a:rPr lang="en-US" sz="1800" dirty="0"/>
            </a:br>
            <a:r>
              <a:rPr lang="en-US" sz="1800" dirty="0"/>
              <a:t>       </a:t>
            </a:r>
            <a:r>
              <a:rPr lang="en-US" sz="1800" dirty="0" err="1"/>
              <a:t>Scrivere</a:t>
            </a:r>
            <a:r>
              <a:rPr lang="en-US" sz="1800" dirty="0"/>
              <a:t> </a:t>
            </a:r>
            <a:r>
              <a:rPr lang="en-US" sz="1800" dirty="0" err="1"/>
              <a:t>il</a:t>
            </a:r>
            <a:r>
              <a:rPr lang="en-US" sz="1800" dirty="0"/>
              <a:t> </a:t>
            </a:r>
            <a:r>
              <a:rPr lang="en-US" sz="1800" dirty="0" err="1"/>
              <a:t>numero</a:t>
            </a:r>
            <a:r>
              <a:rPr lang="en-US" sz="1800" dirty="0"/>
              <a:t> di un </a:t>
            </a:r>
            <a:r>
              <a:rPr lang="en-US" sz="1800" dirty="0" err="1"/>
              <a:t>foglio</a:t>
            </a:r>
            <a:r>
              <a:rPr lang="en-US" sz="1800" dirty="0"/>
              <a:t> di carta. </a:t>
            </a:r>
            <a:r>
              <a:rPr lang="en-US" sz="1800" dirty="0" err="1"/>
              <a:t>Sullo</a:t>
            </a:r>
            <a:r>
              <a:rPr lang="en-US" sz="1800" dirty="0"/>
              <a:t> </a:t>
            </a:r>
            <a:r>
              <a:rPr lang="en-US" sz="1800" dirty="0" err="1"/>
              <a:t>stesso</a:t>
            </a:r>
            <a:r>
              <a:rPr lang="en-US" sz="1800" dirty="0"/>
              <a:t> </a:t>
            </a:r>
            <a:r>
              <a:rPr lang="en-US" sz="1800" dirty="0" err="1"/>
              <a:t>foglio</a:t>
            </a:r>
            <a:r>
              <a:rPr lang="en-US" sz="1800" dirty="0"/>
              <a:t> </a:t>
            </a:r>
            <a:br>
              <a:rPr lang="en-US" sz="1800" dirty="0"/>
            </a:br>
            <a:r>
              <a:rPr lang="en-US" sz="1800" dirty="0"/>
              <a:t>       </a:t>
            </a:r>
            <a:r>
              <a:rPr lang="en-US" sz="1800" dirty="0" err="1"/>
              <a:t>scrivere</a:t>
            </a:r>
            <a:r>
              <a:rPr lang="en-US" sz="1800" dirty="0"/>
              <a:t> lo schema </a:t>
            </a:r>
            <a:r>
              <a:rPr lang="en-US" sz="1800" dirty="0" err="1"/>
              <a:t>delle</a:t>
            </a:r>
            <a:r>
              <a:rPr lang="en-US" sz="1800" dirty="0"/>
              <a:t> </a:t>
            </a:r>
            <a:r>
              <a:rPr lang="en-US" sz="1800" dirty="0" err="1"/>
              <a:t>tabelle</a:t>
            </a:r>
            <a:r>
              <a:rPr lang="en-US" sz="1800" dirty="0"/>
              <a:t> </a:t>
            </a:r>
            <a:r>
              <a:rPr lang="en-US" sz="1800" dirty="0" err="1"/>
              <a:t>che</a:t>
            </a:r>
            <a:r>
              <a:rPr lang="en-US" sz="1800" dirty="0"/>
              <a:t> ci </a:t>
            </a:r>
            <a:r>
              <a:rPr lang="en-US" sz="1800" dirty="0" err="1"/>
              <a:t>aspettiamo</a:t>
            </a:r>
            <a:r>
              <a:rPr lang="en-US" sz="1800" dirty="0"/>
              <a:t> </a:t>
            </a:r>
            <a:br>
              <a:rPr lang="en-US" sz="1800" dirty="0"/>
            </a:br>
            <a:r>
              <a:rPr lang="en-US" sz="1800" dirty="0"/>
              <a:t>       </a:t>
            </a:r>
            <a:r>
              <a:rPr lang="en-US" sz="1800" dirty="0" err="1"/>
              <a:t>saranno</a:t>
            </a:r>
            <a:r>
              <a:rPr lang="en-US" sz="1800" dirty="0"/>
              <a:t> create da JPA</a:t>
            </a:r>
          </a:p>
          <a:p>
            <a:pPr marL="0" indent="0">
              <a:buNone/>
            </a:pPr>
            <a:r>
              <a:rPr lang="en-US" sz="1800" dirty="0"/>
              <a:t>21. </a:t>
            </a:r>
            <a:r>
              <a:rPr lang="en-US" sz="1800" dirty="0" err="1"/>
              <a:t>Eseguire</a:t>
            </a:r>
            <a:r>
              <a:rPr lang="en-US" sz="1800" dirty="0"/>
              <a:t> il </a:t>
            </a:r>
            <a:r>
              <a:rPr lang="en-US" sz="1800" dirty="0" err="1"/>
              <a:t>programma</a:t>
            </a:r>
            <a:r>
              <a:rPr lang="en-US" sz="1800" dirty="0"/>
              <a:t> (come Spring Boot App) </a:t>
            </a:r>
          </a:p>
          <a:p>
            <a:pPr marL="0" indent="0">
              <a:buNone/>
            </a:pPr>
            <a:r>
              <a:rPr lang="en-US" sz="1800" dirty="0"/>
              <a:t>22. </a:t>
            </a:r>
            <a:r>
              <a:rPr lang="en-US" sz="1800" dirty="0" err="1"/>
              <a:t>Controllare</a:t>
            </a:r>
            <a:r>
              <a:rPr lang="en-US" sz="1800" dirty="0"/>
              <a:t> lo schema </a:t>
            </a:r>
            <a:r>
              <a:rPr lang="en-US" sz="1800" dirty="0" err="1"/>
              <a:t>delle</a:t>
            </a:r>
            <a:r>
              <a:rPr lang="en-US" sz="1800" dirty="0"/>
              <a:t> </a:t>
            </a:r>
            <a:r>
              <a:rPr lang="en-US" sz="1800" dirty="0" err="1"/>
              <a:t>tabelle</a:t>
            </a:r>
            <a:r>
              <a:rPr lang="en-US" sz="1800" dirty="0"/>
              <a:t> create dal JPA </a:t>
            </a:r>
            <a:br>
              <a:rPr lang="en-US" sz="1800" dirty="0"/>
            </a:br>
            <a:r>
              <a:rPr lang="en-US" sz="1800" dirty="0"/>
              <a:t>       </a:t>
            </a:r>
            <a:r>
              <a:rPr lang="en-US" sz="1800" dirty="0" err="1"/>
              <a:t>nel</a:t>
            </a:r>
            <a:r>
              <a:rPr lang="en-US" sz="1800" dirty="0"/>
              <a:t> database</a:t>
            </a:r>
            <a:r>
              <a:rPr lang="en-US" sz="1800" b="1" dirty="0"/>
              <a:t> products </a:t>
            </a:r>
            <a:r>
              <a:rPr lang="en-US" sz="1800" dirty="0"/>
              <a:t>e </a:t>
            </a:r>
            <a:r>
              <a:rPr lang="en-US" sz="1800" dirty="0" err="1"/>
              <a:t>confrontarle</a:t>
            </a:r>
            <a:r>
              <a:rPr lang="en-US" sz="1800" dirty="0"/>
              <a:t> con lo schema </a:t>
            </a:r>
            <a:r>
              <a:rPr lang="en-US" sz="1800" dirty="0" err="1"/>
              <a:t>che</a:t>
            </a:r>
            <a:r>
              <a:rPr lang="en-US" sz="1800" dirty="0"/>
              <a:t> </a:t>
            </a:r>
            <a:br>
              <a:rPr lang="en-US" sz="1800" dirty="0"/>
            </a:br>
            <a:r>
              <a:rPr lang="en-US" sz="1800" dirty="0"/>
              <a:t>       </a:t>
            </a:r>
            <a:r>
              <a:rPr lang="en-US" sz="1800" dirty="0" err="1"/>
              <a:t>abbiamo</a:t>
            </a:r>
            <a:r>
              <a:rPr lang="en-US" sz="1800" dirty="0"/>
              <a:t> </a:t>
            </a:r>
            <a:r>
              <a:rPr lang="en-US" sz="1800" dirty="0" err="1"/>
              <a:t>scritto</a:t>
            </a:r>
            <a:r>
              <a:rPr lang="en-US" sz="1800" dirty="0"/>
              <a:t> al punto 20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								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6967516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F61339E-656F-6F4B-81D1-66A087528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Esercizio</a:t>
            </a:r>
            <a:r>
              <a:rPr lang="en-US" dirty="0"/>
              <a:t> 2 (9/12)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BDA1D8D-0E94-8348-8FAF-4054A85320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1800" dirty="0"/>
              <a:t>19-bis. Se </a:t>
            </a:r>
            <a:r>
              <a:rPr lang="en-US" sz="1800" dirty="0" err="1"/>
              <a:t>abbiamo</a:t>
            </a:r>
            <a:r>
              <a:rPr lang="en-US" sz="1800" dirty="0"/>
              <a:t> </a:t>
            </a:r>
            <a:r>
              <a:rPr lang="en-US" sz="1800" dirty="0" err="1"/>
              <a:t>svolto</a:t>
            </a:r>
            <a:r>
              <a:rPr lang="en-US" sz="1800" dirty="0"/>
              <a:t> </a:t>
            </a:r>
            <a:r>
              <a:rPr lang="en-US" sz="1800" dirty="0" err="1"/>
              <a:t>correttamente</a:t>
            </a:r>
            <a:r>
              <a:rPr lang="en-US" sz="1800" dirty="0"/>
              <a:t> </a:t>
            </a:r>
            <a:r>
              <a:rPr lang="en-US" sz="1800" dirty="0" err="1"/>
              <a:t>il</a:t>
            </a:r>
            <a:r>
              <a:rPr lang="en-US" sz="1800" dirty="0"/>
              <a:t> mapping </a:t>
            </a:r>
            <a:r>
              <a:rPr lang="en-US" sz="1800" dirty="0" err="1"/>
              <a:t>della</a:t>
            </a:r>
            <a:r>
              <a:rPr lang="en-US" sz="1800" dirty="0"/>
              <a:t> </a:t>
            </a:r>
            <a:br>
              <a:rPr lang="en-US" sz="1800" dirty="0"/>
            </a:br>
            <a:r>
              <a:rPr lang="en-US" sz="1800" dirty="0"/>
              <a:t>             </a:t>
            </a:r>
            <a:r>
              <a:rPr lang="en-US" sz="1800" dirty="0" err="1"/>
              <a:t>associazione</a:t>
            </a:r>
            <a:r>
              <a:rPr lang="en-US" sz="1800" dirty="0"/>
              <a:t> </a:t>
            </a:r>
            <a:r>
              <a:rPr lang="en-US" sz="1800" dirty="0" err="1"/>
              <a:t>tra</a:t>
            </a:r>
            <a:r>
              <a:rPr lang="en-US" sz="1800" dirty="0"/>
              <a:t> Product e Provider, in una </a:t>
            </a:r>
            <a:r>
              <a:rPr lang="en-US" sz="1800" dirty="0" err="1"/>
              <a:t>delle</a:t>
            </a:r>
            <a:r>
              <a:rPr lang="en-US" sz="1800" dirty="0"/>
              <a:t> due </a:t>
            </a:r>
            <a:r>
              <a:rPr lang="en-US" sz="1800" dirty="0" err="1"/>
              <a:t>classi</a:t>
            </a:r>
            <a:r>
              <a:rPr lang="en-US" sz="1800" dirty="0"/>
              <a:t> </a:t>
            </a:r>
            <a:br>
              <a:rPr lang="en-US" sz="1800" dirty="0"/>
            </a:br>
            <a:r>
              <a:rPr lang="en-US" sz="1800" dirty="0"/>
              <a:t>             </a:t>
            </a:r>
            <a:r>
              <a:rPr lang="en-US" sz="1800" dirty="0" err="1"/>
              <a:t>abbiamo</a:t>
            </a:r>
            <a:r>
              <a:rPr lang="en-US" sz="1800" dirty="0"/>
              <a:t> </a:t>
            </a:r>
            <a:r>
              <a:rPr lang="en-US" sz="1800" dirty="0" err="1"/>
              <a:t>usato</a:t>
            </a:r>
            <a:r>
              <a:rPr lang="en-US" sz="1800" dirty="0"/>
              <a:t> </a:t>
            </a:r>
            <a:r>
              <a:rPr lang="en-US" sz="1800" dirty="0" err="1"/>
              <a:t>l'attributo</a:t>
            </a:r>
            <a:r>
              <a:rPr lang="en-US" sz="1800" dirty="0"/>
              <a:t> </a:t>
            </a:r>
            <a:r>
              <a:rPr lang="en-US" sz="1800" dirty="0" err="1"/>
              <a:t>mappedBy</a:t>
            </a:r>
            <a:r>
              <a:rPr lang="en-US" sz="1800" dirty="0"/>
              <a:t> </a:t>
            </a:r>
            <a:r>
              <a:rPr lang="en-US" sz="1800" dirty="0" err="1"/>
              <a:t>nella</a:t>
            </a:r>
            <a:r>
              <a:rPr lang="en-US" sz="1800" dirty="0"/>
              <a:t> </a:t>
            </a:r>
            <a:r>
              <a:rPr lang="en-US" sz="1800" dirty="0" err="1"/>
              <a:t>relazione</a:t>
            </a:r>
            <a:r>
              <a:rPr lang="en-US" sz="1800" dirty="0"/>
              <a:t> </a:t>
            </a:r>
            <a:br>
              <a:rPr lang="en-US" sz="1800" dirty="0"/>
            </a:br>
            <a:r>
              <a:rPr lang="en-US" sz="1800" dirty="0"/>
              <a:t>             many-to-many. </a:t>
            </a:r>
            <a:r>
              <a:rPr lang="en-US" sz="1800" dirty="0" err="1"/>
              <a:t>Provare</a:t>
            </a:r>
            <a:r>
              <a:rPr lang="en-US" sz="1800" dirty="0"/>
              <a:t> a </a:t>
            </a:r>
            <a:r>
              <a:rPr lang="en-US" sz="1800" dirty="0" err="1"/>
              <a:t>rimuovere</a:t>
            </a:r>
            <a:r>
              <a:rPr lang="en-US" sz="1800" dirty="0"/>
              <a:t> </a:t>
            </a:r>
            <a:r>
              <a:rPr lang="en-US" sz="1800" dirty="0" err="1"/>
              <a:t>l'attributo</a:t>
            </a:r>
            <a:r>
              <a:rPr lang="en-US" sz="1800" dirty="0"/>
              <a:t> </a:t>
            </a:r>
            <a:r>
              <a:rPr lang="en-US" sz="1800" dirty="0" err="1"/>
              <a:t>mappedBy</a:t>
            </a:r>
            <a:endParaRPr lang="en-US" sz="1800" b="1" dirty="0"/>
          </a:p>
          <a:p>
            <a:pPr marL="0" indent="0">
              <a:buNone/>
            </a:pPr>
            <a:r>
              <a:rPr lang="en-US" sz="1800" dirty="0"/>
              <a:t>20-bis. </a:t>
            </a:r>
            <a:r>
              <a:rPr lang="en-US" sz="1800" dirty="0" err="1"/>
              <a:t>Quante</a:t>
            </a:r>
            <a:r>
              <a:rPr lang="en-US" sz="1800" dirty="0"/>
              <a:t> </a:t>
            </a:r>
            <a:r>
              <a:rPr lang="en-US" sz="1800" dirty="0" err="1"/>
              <a:t>tabelle</a:t>
            </a:r>
            <a:r>
              <a:rPr lang="en-US" sz="1800" dirty="0"/>
              <a:t> ci </a:t>
            </a:r>
            <a:r>
              <a:rPr lang="en-US" sz="1800" dirty="0" err="1"/>
              <a:t>aspettiamo</a:t>
            </a:r>
            <a:r>
              <a:rPr lang="en-US" sz="1800" dirty="0"/>
              <a:t> </a:t>
            </a:r>
            <a:r>
              <a:rPr lang="en-US" sz="1800" dirty="0" err="1"/>
              <a:t>che</a:t>
            </a:r>
            <a:r>
              <a:rPr lang="en-US" sz="1800" dirty="0"/>
              <a:t> </a:t>
            </a:r>
            <a:r>
              <a:rPr lang="en-US" sz="1800" dirty="0" err="1"/>
              <a:t>saranno</a:t>
            </a:r>
            <a:r>
              <a:rPr lang="en-US" sz="1800" dirty="0"/>
              <a:t> create da JPA? </a:t>
            </a:r>
            <a:br>
              <a:rPr lang="en-US" sz="1800" dirty="0"/>
            </a:br>
            <a:r>
              <a:rPr lang="en-US" sz="1800" dirty="0"/>
              <a:t>             </a:t>
            </a:r>
            <a:r>
              <a:rPr lang="en-US" sz="1800" dirty="0" err="1"/>
              <a:t>Scrivere</a:t>
            </a:r>
            <a:r>
              <a:rPr lang="en-US" sz="1800" dirty="0"/>
              <a:t> </a:t>
            </a:r>
            <a:r>
              <a:rPr lang="en-US" sz="1800" dirty="0" err="1"/>
              <a:t>il</a:t>
            </a:r>
            <a:r>
              <a:rPr lang="en-US" sz="1800" dirty="0"/>
              <a:t> </a:t>
            </a:r>
            <a:r>
              <a:rPr lang="en-US" sz="1800" dirty="0" err="1"/>
              <a:t>numero</a:t>
            </a:r>
            <a:r>
              <a:rPr lang="en-US" sz="1800" dirty="0"/>
              <a:t> di un </a:t>
            </a:r>
            <a:r>
              <a:rPr lang="en-US" sz="1800" dirty="0" err="1"/>
              <a:t>foglio</a:t>
            </a:r>
            <a:r>
              <a:rPr lang="en-US" sz="1800" dirty="0"/>
              <a:t> di carta. </a:t>
            </a:r>
            <a:r>
              <a:rPr lang="en-US" sz="1800" dirty="0" err="1"/>
              <a:t>Sullo</a:t>
            </a:r>
            <a:r>
              <a:rPr lang="en-US" sz="1800" dirty="0"/>
              <a:t> </a:t>
            </a:r>
            <a:r>
              <a:rPr lang="en-US" sz="1800" dirty="0" err="1"/>
              <a:t>stesso</a:t>
            </a:r>
            <a:r>
              <a:rPr lang="en-US" sz="1800" dirty="0"/>
              <a:t> </a:t>
            </a:r>
            <a:r>
              <a:rPr lang="en-US" sz="1800" dirty="0" err="1"/>
              <a:t>foglio</a:t>
            </a:r>
            <a:r>
              <a:rPr lang="en-US" sz="1800" dirty="0"/>
              <a:t> </a:t>
            </a:r>
            <a:br>
              <a:rPr lang="en-US" sz="1800" dirty="0"/>
            </a:br>
            <a:r>
              <a:rPr lang="en-US" sz="1800" dirty="0"/>
              <a:t>             </a:t>
            </a:r>
            <a:r>
              <a:rPr lang="en-US" sz="1800" dirty="0" err="1"/>
              <a:t>scrivere</a:t>
            </a:r>
            <a:r>
              <a:rPr lang="en-US" sz="1800" dirty="0"/>
              <a:t> lo schema </a:t>
            </a:r>
            <a:r>
              <a:rPr lang="en-US" sz="1800" dirty="0" err="1"/>
              <a:t>delle</a:t>
            </a:r>
            <a:r>
              <a:rPr lang="en-US" sz="1800" dirty="0"/>
              <a:t> </a:t>
            </a:r>
            <a:r>
              <a:rPr lang="en-US" sz="1800" dirty="0" err="1"/>
              <a:t>tabelle</a:t>
            </a:r>
            <a:r>
              <a:rPr lang="en-US" sz="1800" dirty="0"/>
              <a:t> </a:t>
            </a:r>
            <a:r>
              <a:rPr lang="en-US" sz="1800" dirty="0" err="1"/>
              <a:t>che</a:t>
            </a:r>
            <a:r>
              <a:rPr lang="en-US" sz="1800" dirty="0"/>
              <a:t> ci </a:t>
            </a:r>
            <a:r>
              <a:rPr lang="en-US" sz="1800" dirty="0" err="1"/>
              <a:t>aspettiamo</a:t>
            </a:r>
            <a:r>
              <a:rPr lang="en-US" sz="1800" dirty="0"/>
              <a:t> </a:t>
            </a:r>
            <a:br>
              <a:rPr lang="en-US" sz="1800" dirty="0"/>
            </a:br>
            <a:r>
              <a:rPr lang="en-US" sz="1800" dirty="0"/>
              <a:t>             </a:t>
            </a:r>
            <a:r>
              <a:rPr lang="en-US" sz="1800" dirty="0" err="1"/>
              <a:t>saranno</a:t>
            </a:r>
            <a:r>
              <a:rPr lang="en-US" sz="1800" dirty="0"/>
              <a:t> create da JPA. </a:t>
            </a:r>
            <a:r>
              <a:rPr lang="en-US" sz="1800" dirty="0" err="1"/>
              <a:t>Confrontare</a:t>
            </a:r>
            <a:r>
              <a:rPr lang="en-US" sz="1800" dirty="0"/>
              <a:t> </a:t>
            </a:r>
            <a:r>
              <a:rPr lang="en-US" sz="1800" dirty="0" err="1"/>
              <a:t>questo</a:t>
            </a:r>
            <a:r>
              <a:rPr lang="en-US" sz="1800" dirty="0"/>
              <a:t> schema con </a:t>
            </a:r>
            <a:r>
              <a:rPr lang="en-US" sz="1800" dirty="0" err="1"/>
              <a:t>quello</a:t>
            </a:r>
            <a:r>
              <a:rPr lang="en-US" sz="1800" dirty="0"/>
              <a:t> </a:t>
            </a:r>
            <a:br>
              <a:rPr lang="en-US" sz="1800" dirty="0"/>
            </a:br>
            <a:r>
              <a:rPr lang="en-US" sz="1800" dirty="0"/>
              <a:t>             </a:t>
            </a:r>
            <a:r>
              <a:rPr lang="en-US" sz="1800" dirty="0" err="1"/>
              <a:t>dell'esercizio</a:t>
            </a:r>
            <a:r>
              <a:rPr lang="en-US" sz="1800" dirty="0"/>
              <a:t> 19. </a:t>
            </a:r>
          </a:p>
          <a:p>
            <a:pPr marL="0" indent="0">
              <a:buNone/>
            </a:pPr>
            <a:r>
              <a:rPr lang="en-US" sz="1800" dirty="0"/>
              <a:t>21-bis. </a:t>
            </a:r>
            <a:r>
              <a:rPr lang="en-US" sz="1800" dirty="0" err="1"/>
              <a:t>Eseguire</a:t>
            </a:r>
            <a:r>
              <a:rPr lang="en-US" sz="1800" dirty="0"/>
              <a:t> il </a:t>
            </a:r>
            <a:r>
              <a:rPr lang="en-US" sz="1800" dirty="0" err="1"/>
              <a:t>programma</a:t>
            </a:r>
            <a:r>
              <a:rPr lang="en-US" sz="1800" dirty="0"/>
              <a:t> (come Spring Boot App)</a:t>
            </a:r>
            <a:endParaRPr lang="en-US" sz="1800" b="1" dirty="0"/>
          </a:p>
          <a:p>
            <a:pPr marL="0" indent="0">
              <a:buNone/>
            </a:pPr>
            <a:r>
              <a:rPr lang="en-US" sz="1800" dirty="0"/>
              <a:t>22-bis. </a:t>
            </a:r>
            <a:r>
              <a:rPr lang="en-US" sz="1800" dirty="0" err="1"/>
              <a:t>Controllare</a:t>
            </a:r>
            <a:r>
              <a:rPr lang="en-US" sz="1800" dirty="0"/>
              <a:t> lo schema </a:t>
            </a:r>
            <a:r>
              <a:rPr lang="en-US" sz="1800" dirty="0" err="1"/>
              <a:t>delle</a:t>
            </a:r>
            <a:r>
              <a:rPr lang="en-US" sz="1800" dirty="0"/>
              <a:t> </a:t>
            </a:r>
            <a:r>
              <a:rPr lang="en-US" sz="1800" dirty="0" err="1"/>
              <a:t>tabelle</a:t>
            </a:r>
            <a:r>
              <a:rPr lang="en-US" sz="1800" dirty="0"/>
              <a:t> create dal JPA </a:t>
            </a:r>
            <a:br>
              <a:rPr lang="en-US" sz="1800" dirty="0"/>
            </a:br>
            <a:r>
              <a:rPr lang="en-US" sz="1800" dirty="0"/>
              <a:t>             </a:t>
            </a:r>
            <a:r>
              <a:rPr lang="en-US" sz="1800" dirty="0" err="1"/>
              <a:t>nel</a:t>
            </a:r>
            <a:r>
              <a:rPr lang="en-US" sz="1800" dirty="0"/>
              <a:t> database</a:t>
            </a:r>
            <a:r>
              <a:rPr lang="en-US" sz="1800" b="1" dirty="0"/>
              <a:t> products </a:t>
            </a:r>
            <a:r>
              <a:rPr lang="en-US" sz="1800" dirty="0"/>
              <a:t>e </a:t>
            </a:r>
            <a:r>
              <a:rPr lang="en-US" sz="1800" dirty="0" err="1"/>
              <a:t>confrontarle</a:t>
            </a:r>
            <a:r>
              <a:rPr lang="en-US" sz="1800" dirty="0"/>
              <a:t> con lo schema </a:t>
            </a:r>
            <a:r>
              <a:rPr lang="en-US" sz="1800" dirty="0" err="1"/>
              <a:t>che</a:t>
            </a:r>
            <a:r>
              <a:rPr lang="en-US" sz="1800" dirty="0"/>
              <a:t> </a:t>
            </a:r>
            <a:br>
              <a:rPr lang="en-US" sz="1800" dirty="0"/>
            </a:br>
            <a:r>
              <a:rPr lang="en-US" sz="1800" dirty="0"/>
              <a:t>             </a:t>
            </a:r>
            <a:r>
              <a:rPr lang="en-US" sz="1800" dirty="0" err="1"/>
              <a:t>abbiamo</a:t>
            </a:r>
            <a:r>
              <a:rPr lang="en-US" sz="1800" dirty="0"/>
              <a:t> </a:t>
            </a:r>
            <a:r>
              <a:rPr lang="en-US" sz="1800" dirty="0" err="1"/>
              <a:t>scritto</a:t>
            </a:r>
            <a:r>
              <a:rPr lang="en-US" sz="1800" dirty="0"/>
              <a:t> al punto 20-bis. </a:t>
            </a:r>
            <a:br>
              <a:rPr lang="en-US" sz="1800" dirty="0"/>
            </a:br>
            <a:r>
              <a:rPr lang="en-US" sz="1800" dirty="0"/>
              <a:t>             </a:t>
            </a:r>
            <a:r>
              <a:rPr lang="en-US" sz="1800" dirty="0" err="1"/>
              <a:t>Aggiungere</a:t>
            </a:r>
            <a:r>
              <a:rPr lang="en-US" sz="1800" dirty="0"/>
              <a:t> </a:t>
            </a:r>
            <a:r>
              <a:rPr lang="en-US" sz="1800" dirty="0" err="1"/>
              <a:t>l'attributo</a:t>
            </a:r>
            <a:r>
              <a:rPr lang="en-US" sz="1800" dirty="0"/>
              <a:t> </a:t>
            </a:r>
            <a:r>
              <a:rPr lang="en-US" sz="1800" dirty="0" err="1"/>
              <a:t>mappedBy</a:t>
            </a:r>
            <a:r>
              <a:rPr lang="en-US" sz="1800" dirty="0"/>
              <a:t> (</a:t>
            </a:r>
            <a:r>
              <a:rPr lang="en-US" sz="1800" dirty="0" err="1"/>
              <a:t>soluzione</a:t>
            </a:r>
            <a:r>
              <a:rPr lang="en-US" sz="1800" dirty="0"/>
              <a:t> </a:t>
            </a:r>
            <a:r>
              <a:rPr lang="en-US" sz="1800" dirty="0" err="1"/>
              <a:t>corretta</a:t>
            </a:r>
            <a:r>
              <a:rPr lang="en-US" sz="1800" dirty="0"/>
              <a:t>). 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								FINE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0924038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Cardinalità</a:t>
            </a:r>
            <a:r>
              <a:rPr lang="en-US"/>
              <a:t> e </a:t>
            </a:r>
            <a:r>
              <a:rPr lang="en-US" err="1"/>
              <a:t>direzione</a:t>
            </a:r>
            <a:r>
              <a:rPr lang="en-US"/>
              <a:t> </a:t>
            </a:r>
            <a:r>
              <a:rPr lang="en-US" err="1"/>
              <a:t>tra</a:t>
            </a:r>
            <a:r>
              <a:rPr lang="en-US"/>
              <a:t> </a:t>
            </a:r>
            <a:r>
              <a:rPr lang="en-US" err="1"/>
              <a:t>entità</a:t>
            </a:r>
            <a:endParaRPr lang="en-US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I </a:t>
            </a:r>
            <a:r>
              <a:rPr lang="en-US" err="1"/>
              <a:t>concetti</a:t>
            </a:r>
            <a:r>
              <a:rPr lang="en-US"/>
              <a:t> </a:t>
            </a:r>
            <a:r>
              <a:rPr lang="en-US" err="1"/>
              <a:t>visti</a:t>
            </a:r>
            <a:r>
              <a:rPr lang="en-US"/>
              <a:t> </a:t>
            </a:r>
            <a:r>
              <a:rPr lang="en-US" err="1"/>
              <a:t>fino</a:t>
            </a:r>
            <a:r>
              <a:rPr lang="en-US"/>
              <a:t> ad </a:t>
            </a:r>
            <a:r>
              <a:rPr lang="en-US" err="1"/>
              <a:t>ora</a:t>
            </a:r>
            <a:r>
              <a:rPr lang="en-US"/>
              <a:t> </a:t>
            </a:r>
            <a:r>
              <a:rPr lang="en-US" err="1"/>
              <a:t>si</a:t>
            </a:r>
            <a:r>
              <a:rPr lang="en-US"/>
              <a:t> </a:t>
            </a:r>
            <a:r>
              <a:rPr lang="en-US" err="1"/>
              <a:t>applicano</a:t>
            </a:r>
            <a:r>
              <a:rPr lang="en-US"/>
              <a:t> </a:t>
            </a:r>
            <a:r>
              <a:rPr lang="en-US" err="1"/>
              <a:t>nelle</a:t>
            </a:r>
            <a:r>
              <a:rPr lang="en-US"/>
              <a:t> diverse </a:t>
            </a:r>
            <a:r>
              <a:rPr lang="en-US" err="1"/>
              <a:t>combinazioni</a:t>
            </a:r>
            <a:r>
              <a:rPr lang="en-US"/>
              <a:t> di </a:t>
            </a:r>
            <a:r>
              <a:rPr lang="en-US" err="1"/>
              <a:t>cardinalità</a:t>
            </a:r>
            <a:r>
              <a:rPr lang="en-US"/>
              <a:t> e </a:t>
            </a:r>
            <a:r>
              <a:rPr lang="en-US" err="1"/>
              <a:t>direzione</a:t>
            </a:r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graphicFrame>
        <p:nvGraphicFramePr>
          <p:cNvPr id="4" name="Tabel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4388931"/>
              </p:ext>
            </p:extLst>
          </p:nvPr>
        </p:nvGraphicFramePr>
        <p:xfrm>
          <a:off x="2495550" y="2369582"/>
          <a:ext cx="4391026" cy="2377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550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60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r>
                        <a:rPr lang="it-IT" sz="1500" b="0" i="0" dirty="0">
                          <a:latin typeface="Calibri Light" panose="020F0302020204030204" pitchFamily="34" charset="0"/>
                        </a:rPr>
                        <a:t>CARDINALITA'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it-IT" sz="1500" b="0" i="0" dirty="0">
                          <a:latin typeface="Calibri Light" panose="020F0302020204030204" pitchFamily="34" charset="0"/>
                        </a:rPr>
                        <a:t>DIREZIONE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r>
                        <a:rPr lang="it-IT" sz="1500" b="0" i="0" dirty="0" err="1">
                          <a:latin typeface="Calibri Light" panose="020F0302020204030204" pitchFamily="34" charset="0"/>
                        </a:rPr>
                        <a:t>OneToOne</a:t>
                      </a:r>
                      <a:endParaRPr lang="it-IT" sz="15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it-IT" sz="1500" b="0" i="0" dirty="0" err="1">
                          <a:latin typeface="Calibri Light" panose="020F0302020204030204" pitchFamily="34" charset="0"/>
                        </a:rPr>
                        <a:t>unidirectional</a:t>
                      </a:r>
                      <a:endParaRPr lang="it-IT" sz="15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r>
                        <a:rPr lang="it-IT" sz="1500" b="0" i="0" dirty="0" err="1">
                          <a:latin typeface="Calibri Light" panose="020F0302020204030204" pitchFamily="34" charset="0"/>
                        </a:rPr>
                        <a:t>OneToOne</a:t>
                      </a:r>
                      <a:endParaRPr lang="it-IT" sz="15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it-IT" sz="1500" b="0" i="0" dirty="0" err="1">
                          <a:latin typeface="Calibri Light" panose="020F0302020204030204" pitchFamily="34" charset="0"/>
                        </a:rPr>
                        <a:t>bidirectional</a:t>
                      </a:r>
                      <a:endParaRPr lang="it-IT" sz="15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r>
                        <a:rPr lang="it-IT" sz="1500" b="0" i="0" dirty="0" err="1">
                          <a:latin typeface="Calibri Light" panose="020F0302020204030204" pitchFamily="34" charset="0"/>
                        </a:rPr>
                        <a:t>OneToMany</a:t>
                      </a:r>
                      <a:endParaRPr lang="it-IT" sz="15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500" b="0" i="0" dirty="0" err="1">
                          <a:latin typeface="Calibri Light" panose="020F0302020204030204" pitchFamily="34" charset="0"/>
                        </a:rPr>
                        <a:t>unidirectional</a:t>
                      </a:r>
                      <a:endParaRPr lang="it-IT" sz="15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r>
                        <a:rPr lang="it-IT" sz="1500" b="0" i="0" dirty="0" err="1">
                          <a:latin typeface="Calibri Light" panose="020F0302020204030204" pitchFamily="34" charset="0"/>
                        </a:rPr>
                        <a:t>ManyToOne</a:t>
                      </a:r>
                      <a:r>
                        <a:rPr lang="it-IT" sz="1500" dirty="0"/>
                        <a:t>/</a:t>
                      </a:r>
                      <a:r>
                        <a:rPr lang="it-IT" sz="1500" dirty="0" err="1"/>
                        <a:t>OneToMany</a:t>
                      </a:r>
                      <a:endParaRPr lang="it-IT" sz="15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500" b="0" i="0" dirty="0" err="1">
                          <a:latin typeface="Calibri Light" panose="020F0302020204030204" pitchFamily="34" charset="0"/>
                        </a:rPr>
                        <a:t>bidirectional</a:t>
                      </a:r>
                      <a:endParaRPr lang="it-IT" sz="15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r>
                        <a:rPr lang="it-IT" sz="1500" b="0" i="0" dirty="0" err="1">
                          <a:latin typeface="Calibri Light" panose="020F0302020204030204" pitchFamily="34" charset="0"/>
                        </a:rPr>
                        <a:t>ManyToOne</a:t>
                      </a:r>
                      <a:endParaRPr lang="it-IT" sz="15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500" b="0" i="0" dirty="0" err="1">
                          <a:latin typeface="Calibri Light" panose="020F0302020204030204" pitchFamily="34" charset="0"/>
                        </a:rPr>
                        <a:t>unidirectional</a:t>
                      </a:r>
                      <a:endParaRPr lang="it-IT" sz="15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r>
                        <a:rPr lang="it-IT" sz="1500" b="0" i="0" dirty="0" err="1">
                          <a:latin typeface="Calibri Light" panose="020F0302020204030204" pitchFamily="34" charset="0"/>
                        </a:rPr>
                        <a:t>ManyToMany</a:t>
                      </a:r>
                      <a:endParaRPr lang="it-IT" sz="15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500" b="0" i="0" dirty="0" err="1">
                          <a:latin typeface="Calibri Light" panose="020F0302020204030204" pitchFamily="34" charset="0"/>
                        </a:rPr>
                        <a:t>unidirectional</a:t>
                      </a:r>
                      <a:endParaRPr lang="it-IT" sz="15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500" b="0" i="0" dirty="0" err="1">
                          <a:latin typeface="Calibri Light" panose="020F0302020204030204" pitchFamily="34" charset="0"/>
                        </a:rPr>
                        <a:t>ManyToMany</a:t>
                      </a:r>
                      <a:endParaRPr lang="it-IT" sz="15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500" b="0" i="0" dirty="0" err="1">
                          <a:latin typeface="Calibri Light" panose="020F0302020204030204" pitchFamily="34" charset="0"/>
                        </a:rPr>
                        <a:t>bidirectional</a:t>
                      </a:r>
                      <a:endParaRPr lang="it-IT" sz="15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3760267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Mettiamo</a:t>
            </a:r>
            <a:r>
              <a:rPr lang="en-US"/>
              <a:t> </a:t>
            </a:r>
            <a:r>
              <a:rPr lang="en-US" err="1"/>
              <a:t>tutto</a:t>
            </a:r>
            <a:r>
              <a:rPr lang="en-US"/>
              <a:t> in </a:t>
            </a:r>
            <a:r>
              <a:rPr lang="en-US" err="1"/>
              <a:t>pratica</a:t>
            </a:r>
            <a:endParaRPr lang="en-US"/>
          </a:p>
        </p:txBody>
      </p:sp>
      <p:pic>
        <p:nvPicPr>
          <p:cNvPr id="4" name="Segnaposto contenuto 3"/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" b="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270176441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4588C3-42CD-754F-B7E9-C95719624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Esercizio</a:t>
            </a:r>
            <a:r>
              <a:rPr lang="en-US" dirty="0"/>
              <a:t> 3</a:t>
            </a:r>
          </a:p>
        </p:txBody>
      </p:sp>
      <p:sp>
        <p:nvSpPr>
          <p:cNvPr id="18" name="Segnaposto contenuto 17">
            <a:extLst>
              <a:ext uri="{FF2B5EF4-FFF2-40B4-BE49-F238E27FC236}">
                <a16:creationId xmlns:a16="http://schemas.microsoft.com/office/drawing/2014/main" id="{594BF8ED-5FFE-074C-AEA5-CD4552505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5900" y="1200151"/>
            <a:ext cx="6172200" cy="2347374"/>
          </a:xfrm>
        </p:spPr>
        <p:txBody>
          <a:bodyPr>
            <a:normAutofit/>
          </a:bodyPr>
          <a:lstStyle/>
          <a:p>
            <a:r>
              <a:rPr lang="en-US" sz="2100" dirty="0"/>
              <a:t>Il class diagram in </a:t>
            </a:r>
            <a:r>
              <a:rPr lang="en-US" sz="2100" dirty="0" err="1"/>
              <a:t>figura</a:t>
            </a:r>
            <a:r>
              <a:rPr lang="en-US" sz="2100" dirty="0"/>
              <a:t> </a:t>
            </a:r>
            <a:r>
              <a:rPr lang="en-US" sz="2100" dirty="0" err="1"/>
              <a:t>modella</a:t>
            </a:r>
            <a:r>
              <a:rPr lang="en-US" sz="2100" dirty="0"/>
              <a:t> la </a:t>
            </a:r>
            <a:r>
              <a:rPr lang="en-US" sz="2100" dirty="0" err="1"/>
              <a:t>seguente</a:t>
            </a:r>
            <a:r>
              <a:rPr lang="en-US" sz="2100" dirty="0"/>
              <a:t> </a:t>
            </a:r>
            <a:r>
              <a:rPr lang="en-US" sz="2100" dirty="0" err="1"/>
              <a:t>realtà</a:t>
            </a:r>
            <a:r>
              <a:rPr lang="en-US" sz="2100" dirty="0"/>
              <a:t>:</a:t>
            </a:r>
          </a:p>
          <a:p>
            <a:pPr lvl="1"/>
            <a:r>
              <a:rPr lang="en-US" sz="1800" dirty="0"/>
              <a:t>Un </a:t>
            </a:r>
            <a:r>
              <a:rPr lang="en-US" sz="1800" dirty="0" err="1"/>
              <a:t>professore</a:t>
            </a:r>
            <a:r>
              <a:rPr lang="en-US" sz="1800" dirty="0"/>
              <a:t> </a:t>
            </a:r>
            <a:r>
              <a:rPr lang="en-US" sz="1800" dirty="0" err="1"/>
              <a:t>è</a:t>
            </a:r>
            <a:r>
              <a:rPr lang="en-US" sz="1800" dirty="0"/>
              <a:t> </a:t>
            </a:r>
            <a:r>
              <a:rPr lang="en-US" sz="1800" dirty="0" err="1"/>
              <a:t>titolare</a:t>
            </a:r>
            <a:r>
              <a:rPr lang="en-US" sz="1800" dirty="0"/>
              <a:t> di </a:t>
            </a:r>
            <a:r>
              <a:rPr lang="en-US" sz="1800" dirty="0" err="1"/>
              <a:t>uno</a:t>
            </a:r>
            <a:r>
              <a:rPr lang="en-US" sz="1800" dirty="0"/>
              <a:t> o </a:t>
            </a:r>
            <a:r>
              <a:rPr lang="en-US" sz="1800" dirty="0" err="1"/>
              <a:t>più</a:t>
            </a:r>
            <a:r>
              <a:rPr lang="en-US" sz="1800" dirty="0"/>
              <a:t> </a:t>
            </a:r>
            <a:r>
              <a:rPr lang="en-US" sz="1800" dirty="0" err="1"/>
              <a:t>corsi</a:t>
            </a:r>
            <a:endParaRPr lang="en-US" sz="1800" dirty="0"/>
          </a:p>
          <a:p>
            <a:pPr lvl="1"/>
            <a:r>
              <a:rPr lang="en-US" sz="1800" dirty="0"/>
              <a:t>Un </a:t>
            </a:r>
            <a:r>
              <a:rPr lang="en-US" sz="1800" dirty="0" err="1"/>
              <a:t>corso</a:t>
            </a:r>
            <a:r>
              <a:rPr lang="en-US" sz="1800" dirty="0"/>
              <a:t> ha </a:t>
            </a:r>
            <a:r>
              <a:rPr lang="en-US" sz="1800" dirty="0" err="1"/>
              <a:t>uno</a:t>
            </a:r>
            <a:r>
              <a:rPr lang="en-US" sz="1800" dirty="0"/>
              <a:t> ed un solo </a:t>
            </a:r>
            <a:r>
              <a:rPr lang="en-US" sz="1800" dirty="0" err="1"/>
              <a:t>professore</a:t>
            </a:r>
            <a:r>
              <a:rPr lang="en-US" sz="1800" dirty="0"/>
              <a:t> </a:t>
            </a:r>
            <a:r>
              <a:rPr lang="en-US" sz="1800" dirty="0" err="1"/>
              <a:t>titolare</a:t>
            </a:r>
            <a:endParaRPr lang="en-US" sz="1800" dirty="0"/>
          </a:p>
          <a:p>
            <a:pPr lvl="1"/>
            <a:r>
              <a:rPr lang="en-US" sz="1800" dirty="0"/>
              <a:t>Un </a:t>
            </a:r>
            <a:r>
              <a:rPr lang="en-US" sz="1800" dirty="0" err="1"/>
              <a:t>professore</a:t>
            </a:r>
            <a:r>
              <a:rPr lang="en-US" sz="1800" dirty="0"/>
              <a:t> </a:t>
            </a:r>
            <a:r>
              <a:rPr lang="en-US" sz="1800" dirty="0" err="1"/>
              <a:t>può</a:t>
            </a:r>
            <a:r>
              <a:rPr lang="en-US" sz="1800" dirty="0"/>
              <a:t> </a:t>
            </a:r>
            <a:r>
              <a:rPr lang="en-US" sz="1800" dirty="0" err="1"/>
              <a:t>essere</a:t>
            </a:r>
            <a:r>
              <a:rPr lang="en-US" sz="1800" dirty="0"/>
              <a:t> </a:t>
            </a:r>
            <a:r>
              <a:rPr lang="en-US" sz="1800" dirty="0" err="1"/>
              <a:t>nella</a:t>
            </a:r>
            <a:r>
              <a:rPr lang="en-US" sz="1800" dirty="0"/>
              <a:t> </a:t>
            </a:r>
            <a:r>
              <a:rPr lang="en-US" sz="1800" dirty="0" err="1"/>
              <a:t>commissione</a:t>
            </a:r>
            <a:r>
              <a:rPr lang="en-US" sz="1800" dirty="0"/>
              <a:t> di </a:t>
            </a:r>
            <a:r>
              <a:rPr lang="en-US" sz="1800" dirty="0" err="1"/>
              <a:t>esame</a:t>
            </a:r>
            <a:r>
              <a:rPr lang="en-US" sz="1800" dirty="0"/>
              <a:t> di </a:t>
            </a:r>
            <a:r>
              <a:rPr lang="en-US" sz="1800" dirty="0" err="1"/>
              <a:t>uno</a:t>
            </a:r>
            <a:r>
              <a:rPr lang="en-US" sz="1800" dirty="0"/>
              <a:t> o </a:t>
            </a:r>
            <a:r>
              <a:rPr lang="en-US" sz="1800" dirty="0" err="1"/>
              <a:t>più</a:t>
            </a:r>
            <a:r>
              <a:rPr lang="en-US" sz="1800" dirty="0"/>
              <a:t> </a:t>
            </a:r>
            <a:r>
              <a:rPr lang="en-US" sz="1800" dirty="0" err="1"/>
              <a:t>corsi</a:t>
            </a:r>
            <a:endParaRPr lang="en-US" sz="1800" dirty="0"/>
          </a:p>
          <a:p>
            <a:pPr lvl="1"/>
            <a:r>
              <a:rPr lang="en-US" sz="1800" dirty="0"/>
              <a:t>Un </a:t>
            </a:r>
            <a:r>
              <a:rPr lang="en-US" sz="1800" dirty="0" err="1"/>
              <a:t>corso</a:t>
            </a:r>
            <a:r>
              <a:rPr lang="en-US" sz="1800" dirty="0"/>
              <a:t> ha una </a:t>
            </a:r>
            <a:r>
              <a:rPr lang="en-US" sz="1800" dirty="0" err="1"/>
              <a:t>commissione</a:t>
            </a:r>
            <a:r>
              <a:rPr lang="en-US" sz="1800" dirty="0"/>
              <a:t> di </a:t>
            </a:r>
            <a:r>
              <a:rPr lang="en-US" sz="1800" dirty="0" err="1"/>
              <a:t>esame</a:t>
            </a:r>
            <a:r>
              <a:rPr lang="en-US" sz="1800" dirty="0"/>
              <a:t> </a:t>
            </a:r>
            <a:r>
              <a:rPr lang="en-US" sz="1800" dirty="0" err="1"/>
              <a:t>alla</a:t>
            </a:r>
            <a:r>
              <a:rPr lang="en-US" sz="1800" dirty="0"/>
              <a:t> quale </a:t>
            </a:r>
            <a:r>
              <a:rPr lang="en-US" sz="1800" dirty="0" err="1"/>
              <a:t>partecipano</a:t>
            </a:r>
            <a:r>
              <a:rPr lang="en-US" sz="1800" dirty="0"/>
              <a:t> </a:t>
            </a:r>
            <a:r>
              <a:rPr lang="en-US" sz="1800" dirty="0" err="1"/>
              <a:t>uno</a:t>
            </a:r>
            <a:r>
              <a:rPr lang="en-US" sz="1800" dirty="0"/>
              <a:t> o </a:t>
            </a:r>
            <a:r>
              <a:rPr lang="en-US" sz="1800" dirty="0" err="1"/>
              <a:t>più</a:t>
            </a:r>
            <a:r>
              <a:rPr lang="en-US" sz="1800" dirty="0"/>
              <a:t> </a:t>
            </a:r>
            <a:r>
              <a:rPr lang="en-US" sz="1800" dirty="0" err="1"/>
              <a:t>professori</a:t>
            </a:r>
            <a:endParaRPr lang="en-US" sz="1800" dirty="0"/>
          </a:p>
        </p:txBody>
      </p:sp>
      <p:graphicFrame>
        <p:nvGraphicFramePr>
          <p:cNvPr id="4" name="Segnaposto contenuto 5">
            <a:extLst>
              <a:ext uri="{FF2B5EF4-FFF2-40B4-BE49-F238E27FC236}">
                <a16:creationId xmlns:a16="http://schemas.microsoft.com/office/drawing/2014/main" id="{A789934E-5755-CB4D-BCDA-CC4B7921D92D}"/>
              </a:ext>
            </a:extLst>
          </p:cNvPr>
          <p:cNvGraphicFramePr>
            <a:graphicFrameLocks/>
          </p:cNvGraphicFramePr>
          <p:nvPr/>
        </p:nvGraphicFramePr>
        <p:xfrm>
          <a:off x="2052328" y="3882743"/>
          <a:ext cx="1438066" cy="779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80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5151">
                <a:tc>
                  <a:txBody>
                    <a:bodyPr/>
                    <a:lstStyle/>
                    <a:p>
                      <a:pPr algn="ctr"/>
                      <a:r>
                        <a:rPr lang="it-IT" sz="1400" b="0" i="0" dirty="0">
                          <a:latin typeface="Calibri Light" panose="020F0302020204030204" pitchFamily="34" charset="0"/>
                        </a:rPr>
                        <a:t>Professore</a:t>
                      </a:r>
                      <a:endParaRPr lang="it-IT" sz="8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lang="it-IT" sz="800" b="0" i="0" dirty="0">
                          <a:latin typeface="Calibri Light" panose="020F0302020204030204" pitchFamily="34" charset="0"/>
                        </a:rPr>
                        <a:t>-id: Long</a:t>
                      </a:r>
                    </a:p>
                    <a:p>
                      <a:r>
                        <a:rPr lang="it-IT" sz="800" dirty="0"/>
                        <a:t>-nome:</a:t>
                      </a:r>
                      <a:r>
                        <a:rPr lang="it-IT" sz="800" baseline="0" dirty="0"/>
                        <a:t> </a:t>
                      </a:r>
                      <a:r>
                        <a:rPr lang="it-IT" sz="800" baseline="0" dirty="0" err="1"/>
                        <a:t>String</a:t>
                      </a:r>
                      <a:endParaRPr lang="it-IT" sz="800" baseline="0" dirty="0"/>
                    </a:p>
                    <a:p>
                      <a:r>
                        <a:rPr lang="it-IT" sz="800" baseline="0" dirty="0"/>
                        <a:t>-cognome: </a:t>
                      </a:r>
                      <a:r>
                        <a:rPr lang="it-IT" sz="800" baseline="0" dirty="0" err="1"/>
                        <a:t>String</a:t>
                      </a:r>
                      <a:endParaRPr lang="it-IT" sz="800" baseline="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Segnaposto contenuto 5">
            <a:extLst>
              <a:ext uri="{FF2B5EF4-FFF2-40B4-BE49-F238E27FC236}">
                <a16:creationId xmlns:a16="http://schemas.microsoft.com/office/drawing/2014/main" id="{E5D50803-D3B0-BD4B-A971-1892D7167920}"/>
              </a:ext>
            </a:extLst>
          </p:cNvPr>
          <p:cNvGraphicFramePr>
            <a:graphicFrameLocks/>
          </p:cNvGraphicFramePr>
          <p:nvPr/>
        </p:nvGraphicFramePr>
        <p:xfrm>
          <a:off x="6161764" y="3937350"/>
          <a:ext cx="1164968" cy="6575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49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5151">
                <a:tc>
                  <a:txBody>
                    <a:bodyPr/>
                    <a:lstStyle/>
                    <a:p>
                      <a:pPr algn="ctr"/>
                      <a:r>
                        <a:rPr lang="it-IT" sz="1400" b="0" i="0" dirty="0">
                          <a:latin typeface="Calibri Light" panose="020F0302020204030204" pitchFamily="34" charset="0"/>
                        </a:rPr>
                        <a:t>Corso</a:t>
                      </a:r>
                      <a:endParaRPr lang="it-IT" sz="8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r>
                        <a:rPr lang="it-IT" sz="800" b="0" i="0" dirty="0">
                          <a:latin typeface="Calibri Light" panose="020F0302020204030204" pitchFamily="34" charset="0"/>
                        </a:rPr>
                        <a:t>-id: Long</a:t>
                      </a:r>
                    </a:p>
                    <a:p>
                      <a:r>
                        <a:rPr lang="it-IT" sz="800" dirty="0"/>
                        <a:t>-denominazione:</a:t>
                      </a:r>
                      <a:r>
                        <a:rPr lang="it-IT" sz="800" baseline="0" dirty="0"/>
                        <a:t> </a:t>
                      </a:r>
                      <a:r>
                        <a:rPr lang="it-IT" sz="800" baseline="0" dirty="0" err="1"/>
                        <a:t>String</a:t>
                      </a:r>
                      <a:endParaRPr lang="it-IT" sz="800" baseline="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5A41F9C7-F73D-2942-B47B-589EA591DF4C}"/>
              </a:ext>
            </a:extLst>
          </p:cNvPr>
          <p:cNvCxnSpPr>
            <a:cxnSpLocks/>
          </p:cNvCxnSpPr>
          <p:nvPr/>
        </p:nvCxnSpPr>
        <p:spPr>
          <a:xfrm>
            <a:off x="3490394" y="4081852"/>
            <a:ext cx="2671370" cy="0"/>
          </a:xfrm>
          <a:prstGeom prst="straightConnector1">
            <a:avLst/>
          </a:prstGeom>
          <a:ln w="12700" cmpd="sng">
            <a:solidFill>
              <a:schemeClr val="tx1"/>
            </a:solidFill>
            <a:prstDash val="solid"/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0260FA67-A012-CA43-8EBE-07976D3762B3}"/>
              </a:ext>
            </a:extLst>
          </p:cNvPr>
          <p:cNvSpPr txBox="1"/>
          <p:nvPr/>
        </p:nvSpPr>
        <p:spPr>
          <a:xfrm>
            <a:off x="5630456" y="3798850"/>
            <a:ext cx="44595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350" dirty="0">
                <a:latin typeface="Calibri Light" panose="020F0302020204030204" pitchFamily="34" charset="0"/>
              </a:rPr>
              <a:t>1..*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BDB3448E-1EFA-F344-AC63-E26A9534B9DB}"/>
              </a:ext>
            </a:extLst>
          </p:cNvPr>
          <p:cNvSpPr txBox="1"/>
          <p:nvPr/>
        </p:nvSpPr>
        <p:spPr>
          <a:xfrm>
            <a:off x="3554511" y="3798850"/>
            <a:ext cx="44595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350" dirty="0">
                <a:latin typeface="Calibri Light" panose="020F0302020204030204" pitchFamily="34" charset="0"/>
              </a:rPr>
              <a:t>1..*</a:t>
            </a:r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A43DCF44-A2B9-EC4C-B3E1-3731E78BBF6B}"/>
              </a:ext>
            </a:extLst>
          </p:cNvPr>
          <p:cNvCxnSpPr>
            <a:cxnSpLocks/>
          </p:cNvCxnSpPr>
          <p:nvPr/>
        </p:nvCxnSpPr>
        <p:spPr>
          <a:xfrm>
            <a:off x="3490394" y="4471678"/>
            <a:ext cx="2671370" cy="0"/>
          </a:xfrm>
          <a:prstGeom prst="straightConnector1">
            <a:avLst/>
          </a:prstGeom>
          <a:ln w="12700" cmpd="sng">
            <a:solidFill>
              <a:schemeClr val="tx1"/>
            </a:solidFill>
            <a:prstDash val="solid"/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4CC819A2-CFC4-DD4F-A79D-62917D6C5581}"/>
              </a:ext>
            </a:extLst>
          </p:cNvPr>
          <p:cNvSpPr txBox="1"/>
          <p:nvPr/>
        </p:nvSpPr>
        <p:spPr>
          <a:xfrm>
            <a:off x="4235264" y="4194679"/>
            <a:ext cx="69846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 err="1">
                <a:latin typeface="Calibri Light" panose="020F0302020204030204" pitchFamily="34" charset="0"/>
              </a:rPr>
              <a:t>titolare</a:t>
            </a:r>
            <a:endParaRPr lang="en-US" sz="1350" dirty="0">
              <a:latin typeface="Calibri Light" panose="020F0302020204030204" pitchFamily="34" charset="0"/>
            </a:endParaRP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4EC5F434-8723-C64B-96C3-91B38BE4E8E2}"/>
              </a:ext>
            </a:extLst>
          </p:cNvPr>
          <p:cNvSpPr txBox="1"/>
          <p:nvPr/>
        </p:nvSpPr>
        <p:spPr>
          <a:xfrm>
            <a:off x="3992623" y="3798576"/>
            <a:ext cx="1568250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 err="1">
                <a:latin typeface="Calibri Light" panose="020F0302020204030204" pitchFamily="34" charset="0"/>
              </a:rPr>
              <a:t>commissioneEsame</a:t>
            </a:r>
            <a:endParaRPr lang="en-US" sz="1350" dirty="0">
              <a:latin typeface="Calibri Light" panose="020F0302020204030204" pitchFamily="34" charset="0"/>
            </a:endParaRP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2D9693A7-77F4-C443-BB1B-CE7F879A3F4A}"/>
              </a:ext>
            </a:extLst>
          </p:cNvPr>
          <p:cNvSpPr txBox="1"/>
          <p:nvPr/>
        </p:nvSpPr>
        <p:spPr>
          <a:xfrm>
            <a:off x="5630456" y="4182125"/>
            <a:ext cx="44595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350" dirty="0">
                <a:latin typeface="Calibri Light" panose="020F0302020204030204" pitchFamily="34" charset="0"/>
              </a:rPr>
              <a:t>1..*</a:t>
            </a:r>
          </a:p>
        </p:txBody>
      </p:sp>
    </p:spTree>
    <p:extLst>
      <p:ext uri="{BB962C8B-B14F-4D97-AF65-F5344CB8AC3E}">
        <p14:creationId xmlns:p14="http://schemas.microsoft.com/office/powerpoint/2010/main" val="3183511255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F61339E-656F-6F4B-81D1-66A087528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Esercizio</a:t>
            </a:r>
            <a:r>
              <a:rPr lang="en-US" dirty="0"/>
              <a:t> 3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BDA1D8D-0E94-8348-8FAF-4054A85320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 </a:t>
            </a:r>
          </a:p>
          <a:p>
            <a:pPr marL="342900" indent="-342900">
              <a:buAutoNum type="arabicPeriod"/>
            </a:pPr>
            <a:r>
              <a:rPr lang="en-US" sz="1800" dirty="0" err="1"/>
              <a:t>Avviare</a:t>
            </a:r>
            <a:r>
              <a:rPr lang="en-US" sz="1800" dirty="0"/>
              <a:t> </a:t>
            </a:r>
            <a:r>
              <a:rPr lang="en-US" sz="1800" dirty="0" err="1"/>
              <a:t>postgres</a:t>
            </a:r>
            <a:r>
              <a:rPr lang="en-US" sz="1800" dirty="0"/>
              <a:t>. </a:t>
            </a:r>
            <a:r>
              <a:rPr lang="en-US" sz="1800" dirty="0" err="1"/>
              <a:t>Creare</a:t>
            </a:r>
            <a:r>
              <a:rPr lang="en-US" sz="1800" dirty="0"/>
              <a:t> il database </a:t>
            </a:r>
            <a:r>
              <a:rPr lang="en-US" sz="1800" b="1" dirty="0"/>
              <a:t>university</a:t>
            </a:r>
          </a:p>
          <a:p>
            <a:pPr marL="342900" indent="-342900">
              <a:buAutoNum type="arabicPeriod"/>
            </a:pPr>
            <a:r>
              <a:rPr lang="en-US" sz="1800" dirty="0" err="1"/>
              <a:t>Creare</a:t>
            </a:r>
            <a:r>
              <a:rPr lang="en-US" sz="1800" dirty="0"/>
              <a:t> un </a:t>
            </a:r>
            <a:r>
              <a:rPr lang="en-US" sz="1800" dirty="0" err="1"/>
              <a:t>progetto</a:t>
            </a:r>
            <a:r>
              <a:rPr lang="en-US" sz="1800" dirty="0"/>
              <a:t> Eclipse </a:t>
            </a:r>
            <a:r>
              <a:rPr lang="en-US" sz="1800" b="1" dirty="0"/>
              <a:t>siw-jpa-es3 </a:t>
            </a:r>
            <a:r>
              <a:rPr lang="en-US" sz="1800" dirty="0"/>
              <a:t>e </a:t>
            </a:r>
            <a:r>
              <a:rPr lang="en-US" sz="1800" dirty="0" err="1"/>
              <a:t>impostare</a:t>
            </a:r>
            <a:r>
              <a:rPr lang="en-US" sz="1800" dirty="0"/>
              <a:t> </a:t>
            </a:r>
            <a:r>
              <a:rPr lang="en-US" sz="1800" dirty="0" err="1"/>
              <a:t>opportunamente</a:t>
            </a:r>
            <a:r>
              <a:rPr lang="en-US" sz="1800" dirty="0"/>
              <a:t> le </a:t>
            </a:r>
            <a:r>
              <a:rPr lang="en-US" sz="1800" dirty="0" err="1"/>
              <a:t>configurazioni</a:t>
            </a:r>
            <a:r>
              <a:rPr lang="en-US" sz="1800" dirty="0"/>
              <a:t> </a:t>
            </a:r>
            <a:r>
              <a:rPr lang="en-US" sz="1800" dirty="0" err="1"/>
              <a:t>nel</a:t>
            </a:r>
            <a:r>
              <a:rPr lang="en-US" sz="1800" dirty="0"/>
              <a:t> file </a:t>
            </a:r>
            <a:r>
              <a:rPr lang="en-US" sz="1800" b="1" dirty="0" err="1"/>
              <a:t>application.properties</a:t>
            </a:r>
            <a:endParaRPr lang="en-US" sz="1800" b="1" dirty="0"/>
          </a:p>
          <a:p>
            <a:pPr marL="342900" indent="-342900">
              <a:buAutoNum type="arabicPeriod"/>
            </a:pPr>
            <a:r>
              <a:rPr lang="en-US" sz="1800" dirty="0"/>
              <a:t>Come per </a:t>
            </a:r>
            <a:r>
              <a:rPr lang="en-US" sz="1800" dirty="0" err="1"/>
              <a:t>l'esercizio</a:t>
            </a:r>
            <a:r>
              <a:rPr lang="en-US" sz="1800" dirty="0"/>
              <a:t> 2, </a:t>
            </a:r>
            <a:r>
              <a:rPr lang="en-US" sz="1800" dirty="0" err="1"/>
              <a:t>l'obiettivo</a:t>
            </a:r>
            <a:r>
              <a:rPr lang="en-US" sz="1800" dirty="0"/>
              <a:t> di </a:t>
            </a:r>
            <a:r>
              <a:rPr lang="en-US" sz="1800" dirty="0" err="1"/>
              <a:t>questo</a:t>
            </a:r>
            <a:r>
              <a:rPr lang="en-US" sz="1800" dirty="0"/>
              <a:t> </a:t>
            </a:r>
            <a:r>
              <a:rPr lang="en-US" sz="1800" dirty="0" err="1"/>
              <a:t>esercizio</a:t>
            </a:r>
            <a:r>
              <a:rPr lang="en-US" sz="1800" dirty="0"/>
              <a:t> </a:t>
            </a:r>
            <a:r>
              <a:rPr lang="en-US" sz="1800" dirty="0" err="1"/>
              <a:t>è</a:t>
            </a:r>
            <a:r>
              <a:rPr lang="en-US" sz="1800" dirty="0"/>
              <a:t> </a:t>
            </a:r>
            <a:r>
              <a:rPr lang="en-US" sz="1800" dirty="0" err="1"/>
              <a:t>capire</a:t>
            </a:r>
            <a:r>
              <a:rPr lang="en-US" sz="1800" dirty="0"/>
              <a:t> </a:t>
            </a:r>
            <a:br>
              <a:rPr lang="en-US" sz="1800" dirty="0"/>
            </a:br>
            <a:r>
              <a:rPr lang="en-US" sz="1800" dirty="0"/>
              <a:t>    come </a:t>
            </a:r>
            <a:r>
              <a:rPr lang="en-US" sz="1800" dirty="0" err="1"/>
              <a:t>funziona</a:t>
            </a:r>
            <a:r>
              <a:rPr lang="en-US" sz="1800" dirty="0"/>
              <a:t> il mapping </a:t>
            </a:r>
            <a:r>
              <a:rPr lang="en-US" sz="1800" dirty="0" err="1"/>
              <a:t>delle</a:t>
            </a:r>
            <a:r>
              <a:rPr lang="en-US" sz="1800" dirty="0"/>
              <a:t> </a:t>
            </a:r>
            <a:r>
              <a:rPr lang="en-US" sz="1800" dirty="0" err="1"/>
              <a:t>associazioni</a:t>
            </a:r>
            <a:r>
              <a:rPr lang="en-US" sz="1800" dirty="0"/>
              <a:t>. </a:t>
            </a:r>
            <a:r>
              <a:rPr lang="en-US" sz="1800" dirty="0" err="1"/>
              <a:t>Anche</a:t>
            </a:r>
            <a:r>
              <a:rPr lang="en-US" sz="1800" dirty="0"/>
              <a:t> qui   </a:t>
            </a:r>
            <a:br>
              <a:rPr lang="en-US" sz="1800" dirty="0"/>
            </a:br>
            <a:r>
              <a:rPr lang="en-US" sz="1800" dirty="0"/>
              <a:t>     </a:t>
            </a:r>
            <a:r>
              <a:rPr lang="en-US" sz="1800" dirty="0" err="1"/>
              <a:t>scriviamo</a:t>
            </a:r>
            <a:r>
              <a:rPr lang="en-US" sz="1800" dirty="0"/>
              <a:t> </a:t>
            </a:r>
            <a:r>
              <a:rPr lang="en-US" sz="1800" dirty="0" err="1"/>
              <a:t>codice</a:t>
            </a:r>
            <a:r>
              <a:rPr lang="en-US" sz="1800" dirty="0"/>
              <a:t> Java e </a:t>
            </a:r>
            <a:r>
              <a:rPr lang="en-US" sz="1800" dirty="0" err="1"/>
              <a:t>verifichiamo</a:t>
            </a:r>
            <a:r>
              <a:rPr lang="en-US" sz="1800" dirty="0"/>
              <a:t> come JPA genera </a:t>
            </a:r>
            <a:br>
              <a:rPr lang="en-US" sz="1800" dirty="0"/>
            </a:br>
            <a:r>
              <a:rPr lang="en-US" sz="1800" dirty="0"/>
              <a:t>     il database </a:t>
            </a:r>
            <a:r>
              <a:rPr lang="en-US" sz="1800" dirty="0" err="1"/>
              <a:t>corrispondente</a:t>
            </a:r>
            <a:r>
              <a:rPr lang="en-US" sz="1800" dirty="0"/>
              <a:t>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4144629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F61339E-656F-6F4B-81D1-66A087528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Esercizio</a:t>
            </a:r>
            <a:r>
              <a:rPr lang="en-US" dirty="0"/>
              <a:t> 3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BDA1D8D-0E94-8348-8FAF-4054A85320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800" dirty="0"/>
              <a:t>4. </a:t>
            </a:r>
            <a:r>
              <a:rPr lang="en-US" sz="1800" dirty="0" err="1"/>
              <a:t>Scrivere</a:t>
            </a:r>
            <a:r>
              <a:rPr lang="en-US" sz="1800" dirty="0"/>
              <a:t> il </a:t>
            </a:r>
            <a:r>
              <a:rPr lang="en-US" sz="1800" dirty="0" err="1"/>
              <a:t>codice</a:t>
            </a:r>
            <a:r>
              <a:rPr lang="en-US" sz="1800" dirty="0"/>
              <a:t> </a:t>
            </a:r>
            <a:r>
              <a:rPr lang="en-US" sz="1800" dirty="0" err="1"/>
              <a:t>delle</a:t>
            </a:r>
            <a:r>
              <a:rPr lang="en-US" sz="1800" dirty="0"/>
              <a:t> </a:t>
            </a:r>
            <a:r>
              <a:rPr lang="en-US" sz="1800" dirty="0" err="1"/>
              <a:t>classi</a:t>
            </a:r>
            <a:r>
              <a:rPr lang="en-US" sz="1800" dirty="0"/>
              <a:t> </a:t>
            </a:r>
            <a:r>
              <a:rPr lang="en-US" sz="1800" b="1" dirty="0"/>
              <a:t>Corso </a:t>
            </a:r>
            <a:r>
              <a:rPr lang="en-US" sz="1800" dirty="0"/>
              <a:t>e </a:t>
            </a:r>
            <a:r>
              <a:rPr lang="en-US" sz="1800" b="1" dirty="0" err="1"/>
              <a:t>Professore</a:t>
            </a:r>
            <a:br>
              <a:rPr lang="en-US" sz="1800" dirty="0"/>
            </a:br>
            <a:r>
              <a:rPr lang="en-US" sz="1800" dirty="0"/>
              <a:t>    </a:t>
            </a:r>
            <a:r>
              <a:rPr lang="en-US" sz="1800" dirty="0" err="1"/>
              <a:t>rappresentate</a:t>
            </a:r>
            <a:r>
              <a:rPr lang="en-US" sz="1800" dirty="0"/>
              <a:t> </a:t>
            </a:r>
            <a:r>
              <a:rPr lang="en-US" sz="1800" dirty="0" err="1"/>
              <a:t>nel</a:t>
            </a:r>
            <a:r>
              <a:rPr lang="en-US" sz="1800" dirty="0"/>
              <a:t> </a:t>
            </a:r>
            <a:r>
              <a:rPr lang="en-US" sz="1800" dirty="0" err="1"/>
              <a:t>classe</a:t>
            </a:r>
            <a:r>
              <a:rPr lang="en-US" sz="1800" dirty="0"/>
              <a:t> diagram </a:t>
            </a:r>
            <a:r>
              <a:rPr lang="en-US" sz="1800" dirty="0" err="1"/>
              <a:t>della</a:t>
            </a:r>
            <a:r>
              <a:rPr lang="en-US" sz="1800" dirty="0"/>
              <a:t> slide </a:t>
            </a:r>
            <a:r>
              <a:rPr lang="en-US" sz="1800" dirty="0" err="1"/>
              <a:t>precedente</a:t>
            </a:r>
            <a:endParaRPr lang="en-US" sz="1800" b="1" dirty="0"/>
          </a:p>
          <a:p>
            <a:pPr marL="0" indent="0">
              <a:buNone/>
            </a:pPr>
            <a:r>
              <a:rPr lang="en-US" sz="1800" b="1" dirty="0"/>
              <a:t>5. </a:t>
            </a:r>
            <a:r>
              <a:rPr lang="en-US" sz="1800" dirty="0" err="1"/>
              <a:t>Quante</a:t>
            </a:r>
            <a:r>
              <a:rPr lang="en-US" sz="1800" dirty="0"/>
              <a:t> </a:t>
            </a:r>
            <a:r>
              <a:rPr lang="en-US" sz="1800" dirty="0" err="1"/>
              <a:t>tabelle</a:t>
            </a:r>
            <a:r>
              <a:rPr lang="en-US" sz="1800" dirty="0"/>
              <a:t> ci </a:t>
            </a:r>
            <a:r>
              <a:rPr lang="en-US" sz="1800" dirty="0" err="1"/>
              <a:t>aspettiamo</a:t>
            </a:r>
            <a:r>
              <a:rPr lang="en-US" sz="1800" dirty="0"/>
              <a:t> </a:t>
            </a:r>
            <a:r>
              <a:rPr lang="en-US" sz="1800" dirty="0" err="1"/>
              <a:t>che</a:t>
            </a:r>
            <a:r>
              <a:rPr lang="en-US" sz="1800" dirty="0"/>
              <a:t> </a:t>
            </a:r>
            <a:r>
              <a:rPr lang="en-US" sz="1800" dirty="0" err="1"/>
              <a:t>saranno</a:t>
            </a:r>
            <a:r>
              <a:rPr lang="en-US" sz="1800" dirty="0"/>
              <a:t> create da JPA? </a:t>
            </a:r>
            <a:br>
              <a:rPr lang="en-US" sz="1800" dirty="0"/>
            </a:br>
            <a:r>
              <a:rPr lang="en-US" sz="1800" dirty="0"/>
              <a:t>     </a:t>
            </a:r>
            <a:r>
              <a:rPr lang="en-US" sz="1800" dirty="0" err="1"/>
              <a:t>Scrivere</a:t>
            </a:r>
            <a:r>
              <a:rPr lang="en-US" sz="1800" dirty="0"/>
              <a:t> </a:t>
            </a:r>
            <a:r>
              <a:rPr lang="en-US" sz="1800" dirty="0" err="1"/>
              <a:t>il</a:t>
            </a:r>
            <a:r>
              <a:rPr lang="en-US" sz="1800" dirty="0"/>
              <a:t> </a:t>
            </a:r>
            <a:r>
              <a:rPr lang="en-US" sz="1800" dirty="0" err="1"/>
              <a:t>numero</a:t>
            </a:r>
            <a:r>
              <a:rPr lang="en-US" sz="1800" dirty="0"/>
              <a:t> di un </a:t>
            </a:r>
            <a:r>
              <a:rPr lang="en-US" sz="1800" dirty="0" err="1"/>
              <a:t>foglio</a:t>
            </a:r>
            <a:r>
              <a:rPr lang="en-US" sz="1800" dirty="0"/>
              <a:t> di carta. </a:t>
            </a:r>
            <a:r>
              <a:rPr lang="en-US" sz="1800" dirty="0" err="1"/>
              <a:t>Sullo</a:t>
            </a:r>
            <a:r>
              <a:rPr lang="en-US" sz="1800" dirty="0"/>
              <a:t> </a:t>
            </a:r>
            <a:r>
              <a:rPr lang="en-US" sz="1800" dirty="0" err="1"/>
              <a:t>stesso</a:t>
            </a:r>
            <a:r>
              <a:rPr lang="en-US" sz="1800" dirty="0"/>
              <a:t> </a:t>
            </a:r>
            <a:r>
              <a:rPr lang="en-US" sz="1800" dirty="0" err="1"/>
              <a:t>foglio</a:t>
            </a:r>
            <a:r>
              <a:rPr lang="en-US" sz="1800" dirty="0"/>
              <a:t> </a:t>
            </a:r>
            <a:br>
              <a:rPr lang="en-US" sz="1800" dirty="0"/>
            </a:br>
            <a:r>
              <a:rPr lang="en-US" sz="1800" dirty="0"/>
              <a:t>     </a:t>
            </a:r>
            <a:r>
              <a:rPr lang="en-US" sz="1800" dirty="0" err="1"/>
              <a:t>scrivere</a:t>
            </a:r>
            <a:r>
              <a:rPr lang="en-US" sz="1800" dirty="0"/>
              <a:t> lo schema </a:t>
            </a:r>
            <a:r>
              <a:rPr lang="en-US" sz="1800" dirty="0" err="1"/>
              <a:t>delle</a:t>
            </a:r>
            <a:r>
              <a:rPr lang="en-US" sz="1800" dirty="0"/>
              <a:t> </a:t>
            </a:r>
            <a:r>
              <a:rPr lang="en-US" sz="1800" dirty="0" err="1"/>
              <a:t>tabelle</a:t>
            </a:r>
            <a:r>
              <a:rPr lang="en-US" sz="1800" dirty="0"/>
              <a:t> </a:t>
            </a:r>
            <a:r>
              <a:rPr lang="en-US" sz="1800" dirty="0" err="1"/>
              <a:t>che</a:t>
            </a:r>
            <a:r>
              <a:rPr lang="en-US" sz="1800" dirty="0"/>
              <a:t> ci </a:t>
            </a:r>
            <a:r>
              <a:rPr lang="en-US" sz="1800" dirty="0" err="1"/>
              <a:t>aspettiamo</a:t>
            </a:r>
            <a:r>
              <a:rPr lang="en-US" sz="1800" dirty="0"/>
              <a:t> </a:t>
            </a:r>
            <a:br>
              <a:rPr lang="en-US" sz="1800" dirty="0"/>
            </a:br>
            <a:r>
              <a:rPr lang="en-US" sz="1800" dirty="0"/>
              <a:t>     </a:t>
            </a:r>
            <a:r>
              <a:rPr lang="en-US" sz="1800" dirty="0" err="1"/>
              <a:t>saranno</a:t>
            </a:r>
            <a:r>
              <a:rPr lang="en-US" sz="1800" dirty="0"/>
              <a:t> create da JPA</a:t>
            </a:r>
          </a:p>
          <a:p>
            <a:pPr marL="0" indent="0">
              <a:buNone/>
            </a:pPr>
            <a:r>
              <a:rPr lang="en-US" sz="1800" dirty="0"/>
              <a:t>6. </a:t>
            </a:r>
            <a:r>
              <a:rPr lang="en-US" sz="1800" dirty="0" err="1"/>
              <a:t>Eseguire</a:t>
            </a:r>
            <a:r>
              <a:rPr lang="en-US" sz="1800" dirty="0"/>
              <a:t> il </a:t>
            </a:r>
            <a:r>
              <a:rPr lang="en-US" sz="1800" dirty="0" err="1"/>
              <a:t>programma</a:t>
            </a:r>
            <a:r>
              <a:rPr lang="en-US" sz="1800" dirty="0"/>
              <a:t> (come Spring Boot App)</a:t>
            </a:r>
          </a:p>
          <a:p>
            <a:pPr marL="0" indent="0">
              <a:buNone/>
            </a:pPr>
            <a:r>
              <a:rPr lang="en-US" sz="1800" dirty="0"/>
              <a:t>7. </a:t>
            </a:r>
            <a:r>
              <a:rPr lang="en-US" sz="1800" dirty="0" err="1"/>
              <a:t>Controllare</a:t>
            </a:r>
            <a:r>
              <a:rPr lang="en-US" sz="1800" dirty="0"/>
              <a:t> lo schema </a:t>
            </a:r>
            <a:r>
              <a:rPr lang="en-US" sz="1800" dirty="0" err="1"/>
              <a:t>delle</a:t>
            </a:r>
            <a:r>
              <a:rPr lang="en-US" sz="1800" dirty="0"/>
              <a:t> </a:t>
            </a:r>
            <a:r>
              <a:rPr lang="en-US" sz="1800" dirty="0" err="1"/>
              <a:t>tabelle</a:t>
            </a:r>
            <a:r>
              <a:rPr lang="en-US" sz="1800" dirty="0"/>
              <a:t> create dal JPA </a:t>
            </a:r>
            <a:br>
              <a:rPr lang="en-US" sz="1800" dirty="0"/>
            </a:br>
            <a:r>
              <a:rPr lang="en-US" sz="1800" dirty="0"/>
              <a:t>    </a:t>
            </a:r>
            <a:r>
              <a:rPr lang="en-US" sz="1800" dirty="0" err="1"/>
              <a:t>nel</a:t>
            </a:r>
            <a:r>
              <a:rPr lang="en-US" sz="1800" dirty="0"/>
              <a:t> database</a:t>
            </a:r>
            <a:r>
              <a:rPr lang="en-US" sz="1800" b="1" dirty="0"/>
              <a:t> university </a:t>
            </a:r>
            <a:r>
              <a:rPr lang="en-US" sz="1800" dirty="0"/>
              <a:t>e </a:t>
            </a:r>
            <a:r>
              <a:rPr lang="en-US" sz="1800" dirty="0" err="1"/>
              <a:t>confrontarle</a:t>
            </a:r>
            <a:r>
              <a:rPr lang="en-US" sz="1800" dirty="0"/>
              <a:t> con lo schema </a:t>
            </a:r>
            <a:r>
              <a:rPr lang="en-US" sz="1800" dirty="0" err="1"/>
              <a:t>che</a:t>
            </a:r>
            <a:r>
              <a:rPr lang="en-US" sz="1800" dirty="0"/>
              <a:t> </a:t>
            </a:r>
            <a:br>
              <a:rPr lang="en-US" sz="1800" dirty="0"/>
            </a:br>
            <a:r>
              <a:rPr lang="en-US" sz="1800" dirty="0"/>
              <a:t>    </a:t>
            </a:r>
            <a:r>
              <a:rPr lang="en-US" sz="1800" dirty="0" err="1"/>
              <a:t>abbiamo</a:t>
            </a:r>
            <a:r>
              <a:rPr lang="en-US" sz="1800" dirty="0"/>
              <a:t> </a:t>
            </a:r>
            <a:r>
              <a:rPr lang="en-US" sz="1800" dirty="0" err="1"/>
              <a:t>scritto</a:t>
            </a:r>
            <a:r>
              <a:rPr lang="en-US" sz="1800" dirty="0"/>
              <a:t> al punto 5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Per </a:t>
            </a:r>
            <a:r>
              <a:rPr lang="en-US" sz="1800" dirty="0" err="1"/>
              <a:t>i</a:t>
            </a:r>
            <a:r>
              <a:rPr lang="en-US" sz="1800" dirty="0"/>
              <a:t> </a:t>
            </a:r>
            <a:r>
              <a:rPr lang="en-US" sz="1800" dirty="0" err="1"/>
              <a:t>passi</a:t>
            </a:r>
            <a:r>
              <a:rPr lang="en-US" sz="1800" dirty="0"/>
              <a:t> </a:t>
            </a:r>
            <a:r>
              <a:rPr lang="en-US" sz="1800" dirty="0" err="1"/>
              <a:t>successivi</a:t>
            </a:r>
            <a:r>
              <a:rPr lang="en-US" sz="1800" dirty="0"/>
              <a:t>, </a:t>
            </a:r>
            <a:r>
              <a:rPr lang="en-US" sz="1800" dirty="0" err="1"/>
              <a:t>vedi</a:t>
            </a:r>
            <a:r>
              <a:rPr lang="en-US" sz="1800" dirty="0"/>
              <a:t> le </a:t>
            </a:r>
            <a:r>
              <a:rPr lang="en-US" sz="1800" dirty="0" err="1"/>
              <a:t>prossime</a:t>
            </a:r>
            <a:r>
              <a:rPr lang="en-US" sz="1800" dirty="0"/>
              <a:t> slide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2860503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F61339E-656F-6F4B-81D1-66A087528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Esercizio</a:t>
            </a:r>
            <a:r>
              <a:rPr lang="en-US" dirty="0"/>
              <a:t> 3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BDA1D8D-0E94-8348-8FAF-4054A85320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 dirty="0"/>
              <a:t>8. </a:t>
            </a:r>
            <a:r>
              <a:rPr lang="en-US" sz="1800" dirty="0" err="1"/>
              <a:t>Modifichiamo</a:t>
            </a:r>
            <a:r>
              <a:rPr lang="en-US" sz="1800" dirty="0"/>
              <a:t> </a:t>
            </a:r>
            <a:r>
              <a:rPr lang="en-US" sz="1800" dirty="0" err="1"/>
              <a:t>il</a:t>
            </a:r>
            <a:r>
              <a:rPr lang="en-US" sz="1800" dirty="0"/>
              <a:t> </a:t>
            </a:r>
            <a:r>
              <a:rPr lang="en-US" sz="1800" dirty="0" err="1"/>
              <a:t>codice</a:t>
            </a:r>
            <a:r>
              <a:rPr lang="en-US" sz="1800" dirty="0"/>
              <a:t>: </a:t>
            </a:r>
            <a:r>
              <a:rPr lang="en-US" sz="1800" dirty="0" err="1"/>
              <a:t>togliamo</a:t>
            </a:r>
            <a:r>
              <a:rPr lang="en-US" sz="1800" dirty="0"/>
              <a:t> </a:t>
            </a:r>
            <a:r>
              <a:rPr lang="en-US" sz="1800" dirty="0" err="1"/>
              <a:t>l'attributo</a:t>
            </a:r>
            <a:r>
              <a:rPr lang="en-US" sz="1800" dirty="0"/>
              <a:t> </a:t>
            </a:r>
            <a:r>
              <a:rPr lang="en-US" sz="1800" dirty="0" err="1"/>
              <a:t>mappedBy</a:t>
            </a:r>
            <a:r>
              <a:rPr lang="en-US" sz="1800" dirty="0"/>
              <a:t> </a:t>
            </a:r>
            <a:br>
              <a:rPr lang="en-US" sz="1800" dirty="0"/>
            </a:br>
            <a:r>
              <a:rPr lang="en-US" sz="1800" dirty="0"/>
              <a:t>       </a:t>
            </a:r>
            <a:r>
              <a:rPr lang="en-US" sz="1800" dirty="0" err="1"/>
              <a:t>che</a:t>
            </a:r>
            <a:r>
              <a:rPr lang="en-US" sz="1800" dirty="0"/>
              <a:t> </a:t>
            </a:r>
            <a:r>
              <a:rPr lang="en-US" sz="1800" dirty="0" err="1"/>
              <a:t>abbiamo</a:t>
            </a:r>
            <a:r>
              <a:rPr lang="en-US" sz="1800" dirty="0"/>
              <a:t> </a:t>
            </a:r>
            <a:r>
              <a:rPr lang="en-US" sz="1800" dirty="0" err="1"/>
              <a:t>usato</a:t>
            </a:r>
            <a:r>
              <a:rPr lang="en-US" sz="1800" dirty="0"/>
              <a:t> (in una </a:t>
            </a:r>
            <a:r>
              <a:rPr lang="en-US" sz="1800" dirty="0" err="1"/>
              <a:t>delle</a:t>
            </a:r>
            <a:r>
              <a:rPr lang="en-US" sz="1800" dirty="0"/>
              <a:t> due </a:t>
            </a:r>
            <a:r>
              <a:rPr lang="en-US" sz="1800" dirty="0" err="1"/>
              <a:t>classi</a:t>
            </a:r>
            <a:r>
              <a:rPr lang="en-US" sz="1800" dirty="0"/>
              <a:t>) per </a:t>
            </a:r>
            <a:r>
              <a:rPr lang="en-US" sz="1800" dirty="0" err="1"/>
              <a:t>rappresentare</a:t>
            </a:r>
            <a:r>
              <a:rPr lang="en-US" sz="1800" dirty="0"/>
              <a:t> </a:t>
            </a:r>
            <a:br>
              <a:rPr lang="en-US" sz="1800" dirty="0"/>
            </a:br>
            <a:r>
              <a:rPr lang="en-US" sz="1800" dirty="0"/>
              <a:t>       la </a:t>
            </a:r>
            <a:r>
              <a:rPr lang="en-US" sz="1800" dirty="0" err="1"/>
              <a:t>reciprocità</a:t>
            </a:r>
            <a:r>
              <a:rPr lang="en-US" sz="1800" dirty="0"/>
              <a:t> </a:t>
            </a:r>
            <a:r>
              <a:rPr lang="en-US" sz="1800" dirty="0" err="1"/>
              <a:t>dei</a:t>
            </a:r>
            <a:r>
              <a:rPr lang="en-US" sz="1800" dirty="0"/>
              <a:t> </a:t>
            </a:r>
            <a:r>
              <a:rPr lang="en-US" sz="1800" dirty="0" err="1"/>
              <a:t>riferimenti</a:t>
            </a:r>
            <a:r>
              <a:rPr lang="en-US" sz="1800" dirty="0"/>
              <a:t> </a:t>
            </a:r>
            <a:r>
              <a:rPr lang="en-US" sz="1800" dirty="0" err="1"/>
              <a:t>nelle</a:t>
            </a:r>
            <a:r>
              <a:rPr lang="en-US" sz="1800" dirty="0"/>
              <a:t> </a:t>
            </a:r>
            <a:r>
              <a:rPr lang="en-US" sz="1800" dirty="0" err="1"/>
              <a:t>associazioni</a:t>
            </a:r>
            <a:endParaRPr lang="en-US" sz="1800" b="1" dirty="0"/>
          </a:p>
          <a:p>
            <a:pPr marL="0" indent="0">
              <a:buNone/>
            </a:pPr>
            <a:r>
              <a:rPr lang="en-US" sz="1800" dirty="0"/>
              <a:t>9. </a:t>
            </a:r>
            <a:r>
              <a:rPr lang="en-US" sz="1800" dirty="0" err="1"/>
              <a:t>Quante</a:t>
            </a:r>
            <a:r>
              <a:rPr lang="en-US" sz="1800" dirty="0"/>
              <a:t> </a:t>
            </a:r>
            <a:r>
              <a:rPr lang="en-US" sz="1800" dirty="0" err="1"/>
              <a:t>tabelle</a:t>
            </a:r>
            <a:r>
              <a:rPr lang="en-US" sz="1800" dirty="0"/>
              <a:t> ci </a:t>
            </a:r>
            <a:r>
              <a:rPr lang="en-US" sz="1800" dirty="0" err="1"/>
              <a:t>aspettiamo</a:t>
            </a:r>
            <a:r>
              <a:rPr lang="en-US" sz="1800" dirty="0"/>
              <a:t> </a:t>
            </a:r>
            <a:r>
              <a:rPr lang="en-US" sz="1800" dirty="0" err="1"/>
              <a:t>che</a:t>
            </a:r>
            <a:r>
              <a:rPr lang="en-US" sz="1800" dirty="0"/>
              <a:t> </a:t>
            </a:r>
            <a:r>
              <a:rPr lang="en-US" sz="1800" dirty="0" err="1"/>
              <a:t>saranno</a:t>
            </a:r>
            <a:r>
              <a:rPr lang="en-US" sz="1800" dirty="0"/>
              <a:t> create da JPA? </a:t>
            </a:r>
            <a:br>
              <a:rPr lang="en-US" sz="1800" dirty="0"/>
            </a:br>
            <a:r>
              <a:rPr lang="en-US" sz="1800" dirty="0"/>
              <a:t>       </a:t>
            </a:r>
            <a:r>
              <a:rPr lang="en-US" sz="1800" dirty="0" err="1"/>
              <a:t>Scrivere</a:t>
            </a:r>
            <a:r>
              <a:rPr lang="en-US" sz="1800" dirty="0"/>
              <a:t> </a:t>
            </a:r>
            <a:r>
              <a:rPr lang="en-US" sz="1800" dirty="0" err="1"/>
              <a:t>il</a:t>
            </a:r>
            <a:r>
              <a:rPr lang="en-US" sz="1800" dirty="0"/>
              <a:t> </a:t>
            </a:r>
            <a:r>
              <a:rPr lang="en-US" sz="1800" dirty="0" err="1"/>
              <a:t>numero</a:t>
            </a:r>
            <a:r>
              <a:rPr lang="en-US" sz="1800" dirty="0"/>
              <a:t> di un </a:t>
            </a:r>
            <a:r>
              <a:rPr lang="en-US" sz="1800" dirty="0" err="1"/>
              <a:t>foglio</a:t>
            </a:r>
            <a:r>
              <a:rPr lang="en-US" sz="1800" dirty="0"/>
              <a:t> di carta. </a:t>
            </a:r>
            <a:r>
              <a:rPr lang="en-US" sz="1800" dirty="0" err="1"/>
              <a:t>Sullo</a:t>
            </a:r>
            <a:r>
              <a:rPr lang="en-US" sz="1800" dirty="0"/>
              <a:t> </a:t>
            </a:r>
            <a:r>
              <a:rPr lang="en-US" sz="1800" dirty="0" err="1"/>
              <a:t>stesso</a:t>
            </a:r>
            <a:r>
              <a:rPr lang="en-US" sz="1800" dirty="0"/>
              <a:t> </a:t>
            </a:r>
            <a:r>
              <a:rPr lang="en-US" sz="1800" dirty="0" err="1"/>
              <a:t>foglio</a:t>
            </a:r>
            <a:r>
              <a:rPr lang="en-US" sz="1800" dirty="0"/>
              <a:t> </a:t>
            </a:r>
            <a:br>
              <a:rPr lang="en-US" sz="1800" dirty="0"/>
            </a:br>
            <a:r>
              <a:rPr lang="en-US" sz="1800" dirty="0"/>
              <a:t>       </a:t>
            </a:r>
            <a:r>
              <a:rPr lang="en-US" sz="1800" dirty="0" err="1"/>
              <a:t>scrivere</a:t>
            </a:r>
            <a:r>
              <a:rPr lang="en-US" sz="1800" dirty="0"/>
              <a:t> lo schema </a:t>
            </a:r>
            <a:r>
              <a:rPr lang="en-US" sz="1800" dirty="0" err="1"/>
              <a:t>delle</a:t>
            </a:r>
            <a:r>
              <a:rPr lang="en-US" sz="1800" dirty="0"/>
              <a:t> </a:t>
            </a:r>
            <a:r>
              <a:rPr lang="en-US" sz="1800" dirty="0" err="1"/>
              <a:t>tabelle</a:t>
            </a:r>
            <a:r>
              <a:rPr lang="en-US" sz="1800" dirty="0"/>
              <a:t> </a:t>
            </a:r>
            <a:r>
              <a:rPr lang="en-US" sz="1800" dirty="0" err="1"/>
              <a:t>che</a:t>
            </a:r>
            <a:r>
              <a:rPr lang="en-US" sz="1800" dirty="0"/>
              <a:t> ci </a:t>
            </a:r>
            <a:r>
              <a:rPr lang="en-US" sz="1800" dirty="0" err="1"/>
              <a:t>aspettiamo</a:t>
            </a:r>
            <a:r>
              <a:rPr lang="en-US" sz="1800" dirty="0"/>
              <a:t> </a:t>
            </a:r>
            <a:br>
              <a:rPr lang="en-US" sz="1800" dirty="0"/>
            </a:br>
            <a:r>
              <a:rPr lang="en-US" sz="1800" dirty="0"/>
              <a:t>       </a:t>
            </a:r>
            <a:r>
              <a:rPr lang="en-US" sz="1800" dirty="0" err="1"/>
              <a:t>saranno</a:t>
            </a:r>
            <a:r>
              <a:rPr lang="en-US" sz="1800" dirty="0"/>
              <a:t> create da JPA</a:t>
            </a:r>
          </a:p>
          <a:p>
            <a:pPr marL="0" indent="0">
              <a:buNone/>
            </a:pPr>
            <a:r>
              <a:rPr lang="en-US" sz="1800" dirty="0"/>
              <a:t>10. </a:t>
            </a:r>
            <a:r>
              <a:rPr lang="en-US" sz="1800" dirty="0" err="1"/>
              <a:t>Eseguire</a:t>
            </a:r>
            <a:r>
              <a:rPr lang="en-US" sz="1800" dirty="0"/>
              <a:t> il </a:t>
            </a:r>
            <a:r>
              <a:rPr lang="en-US" sz="1800" dirty="0" err="1"/>
              <a:t>programma</a:t>
            </a:r>
            <a:r>
              <a:rPr lang="en-US" sz="1800" dirty="0"/>
              <a:t> (come Spring Boot App) </a:t>
            </a:r>
          </a:p>
          <a:p>
            <a:pPr marL="0" indent="0">
              <a:buNone/>
            </a:pPr>
            <a:r>
              <a:rPr lang="en-US" sz="1800" dirty="0"/>
              <a:t>11. </a:t>
            </a:r>
            <a:r>
              <a:rPr lang="en-US" sz="1800" dirty="0" err="1"/>
              <a:t>Controllare</a:t>
            </a:r>
            <a:r>
              <a:rPr lang="en-US" sz="1800" dirty="0"/>
              <a:t> lo schema </a:t>
            </a:r>
            <a:r>
              <a:rPr lang="en-US" sz="1800" dirty="0" err="1"/>
              <a:t>delle</a:t>
            </a:r>
            <a:r>
              <a:rPr lang="en-US" sz="1800" dirty="0"/>
              <a:t> </a:t>
            </a:r>
            <a:r>
              <a:rPr lang="en-US" sz="1800" dirty="0" err="1"/>
              <a:t>tabelle</a:t>
            </a:r>
            <a:r>
              <a:rPr lang="en-US" sz="1800" dirty="0"/>
              <a:t> create dal JPA </a:t>
            </a:r>
            <a:br>
              <a:rPr lang="en-US" sz="1800" dirty="0"/>
            </a:br>
            <a:r>
              <a:rPr lang="en-US" sz="1800" dirty="0"/>
              <a:t>       </a:t>
            </a:r>
            <a:r>
              <a:rPr lang="en-US" sz="1800" dirty="0" err="1"/>
              <a:t>nel</a:t>
            </a:r>
            <a:r>
              <a:rPr lang="en-US" sz="1800" dirty="0"/>
              <a:t> database</a:t>
            </a:r>
            <a:r>
              <a:rPr lang="en-US" sz="1800" b="1" dirty="0"/>
              <a:t> university </a:t>
            </a:r>
            <a:r>
              <a:rPr lang="en-US" sz="1800" dirty="0"/>
              <a:t>e </a:t>
            </a:r>
            <a:r>
              <a:rPr lang="en-US" sz="1800" dirty="0" err="1"/>
              <a:t>confrontarle</a:t>
            </a:r>
            <a:r>
              <a:rPr lang="en-US" sz="1800" dirty="0"/>
              <a:t> con lo schema </a:t>
            </a:r>
            <a:r>
              <a:rPr lang="en-US" sz="1800" dirty="0" err="1"/>
              <a:t>che</a:t>
            </a:r>
            <a:r>
              <a:rPr lang="en-US" sz="1800" dirty="0"/>
              <a:t> </a:t>
            </a:r>
            <a:br>
              <a:rPr lang="en-US" sz="1800" dirty="0"/>
            </a:br>
            <a:r>
              <a:rPr lang="en-US" sz="1800" dirty="0"/>
              <a:t>       </a:t>
            </a:r>
            <a:r>
              <a:rPr lang="en-US" sz="1800" dirty="0" err="1"/>
              <a:t>abbiamo</a:t>
            </a:r>
            <a:r>
              <a:rPr lang="en-US" sz="1800" dirty="0"/>
              <a:t> </a:t>
            </a:r>
            <a:r>
              <a:rPr lang="en-US" sz="1800" dirty="0" err="1"/>
              <a:t>scritto</a:t>
            </a:r>
            <a:r>
              <a:rPr lang="en-US" sz="1800" dirty="0"/>
              <a:t> al punto 9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                                                           FINE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184587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err="1"/>
              <a:t>Approfondimenti</a:t>
            </a:r>
            <a:r>
              <a:rPr lang="en-US"/>
              <a:t> </a:t>
            </a:r>
            <a:br>
              <a:rPr lang="en-US"/>
            </a:br>
            <a:r>
              <a:rPr lang="en-US"/>
              <a:t>Mapping </a:t>
            </a:r>
            <a:r>
              <a:rPr lang="en-US" err="1"/>
              <a:t>Associazioni</a:t>
            </a:r>
            <a:endParaRPr lang="en-US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Strategie</a:t>
            </a:r>
            <a:r>
              <a:rPr lang="en-US" dirty="0"/>
              <a:t> di fetch</a:t>
            </a:r>
          </a:p>
          <a:p>
            <a:r>
              <a:rPr lang="en-US" dirty="0"/>
              <a:t>Mapping </a:t>
            </a:r>
            <a:r>
              <a:rPr lang="en-US" dirty="0" err="1"/>
              <a:t>classi</a:t>
            </a:r>
            <a:r>
              <a:rPr lang="en-US" dirty="0"/>
              <a:t> </a:t>
            </a:r>
            <a:r>
              <a:rPr lang="en-US" dirty="0" err="1"/>
              <a:t>estese</a:t>
            </a:r>
            <a:r>
              <a:rPr lang="en-US" dirty="0"/>
              <a:t> (</a:t>
            </a:r>
            <a:r>
              <a:rPr lang="en-US" dirty="0" err="1"/>
              <a:t>cenni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24925481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Class Diagram </a:t>
            </a:r>
            <a:r>
              <a:rPr lang="en-US" dirty="0" err="1"/>
              <a:t>Esercizio</a:t>
            </a:r>
            <a:r>
              <a:rPr lang="en-US" dirty="0"/>
              <a:t> 2</a:t>
            </a:r>
            <a:endParaRPr lang="en-US" sz="1650" dirty="0"/>
          </a:p>
        </p:txBody>
      </p:sp>
      <p:graphicFrame>
        <p:nvGraphicFramePr>
          <p:cNvPr id="5" name="Segnaposto contenuto 5"/>
          <p:cNvGraphicFramePr>
            <a:graphicFrameLocks/>
          </p:cNvGraphicFramePr>
          <p:nvPr/>
        </p:nvGraphicFramePr>
        <p:xfrm>
          <a:off x="3952875" y="1149862"/>
          <a:ext cx="1164968" cy="9014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49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5151">
                <a:tc>
                  <a:txBody>
                    <a:bodyPr/>
                    <a:lstStyle/>
                    <a:p>
                      <a:pPr algn="ctr"/>
                      <a:r>
                        <a:rPr lang="it-IT" sz="1400" b="0" i="0" dirty="0">
                          <a:latin typeface="Calibri Light" panose="020F0302020204030204" pitchFamily="34" charset="0"/>
                        </a:rPr>
                        <a:t>Product</a:t>
                      </a:r>
                      <a:endParaRPr lang="it-IT" sz="8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lang="it-IT" sz="800" b="0" i="0" dirty="0">
                          <a:latin typeface="Calibri Light" panose="020F0302020204030204" pitchFamily="34" charset="0"/>
                        </a:rPr>
                        <a:t>-id: Long</a:t>
                      </a:r>
                    </a:p>
                    <a:p>
                      <a:r>
                        <a:rPr lang="it-IT" sz="800" dirty="0"/>
                        <a:t>-name:</a:t>
                      </a:r>
                      <a:r>
                        <a:rPr lang="it-IT" sz="800" baseline="0" dirty="0"/>
                        <a:t> </a:t>
                      </a:r>
                      <a:r>
                        <a:rPr lang="it-IT" sz="800" baseline="0" dirty="0" err="1"/>
                        <a:t>String</a:t>
                      </a:r>
                      <a:endParaRPr lang="it-IT" sz="800" baseline="0" dirty="0"/>
                    </a:p>
                    <a:p>
                      <a:r>
                        <a:rPr lang="it-IT" sz="800" baseline="0" dirty="0"/>
                        <a:t>-</a:t>
                      </a:r>
                      <a:r>
                        <a:rPr lang="it-IT" sz="800" baseline="0" dirty="0" err="1"/>
                        <a:t>description</a:t>
                      </a:r>
                      <a:r>
                        <a:rPr lang="it-IT" sz="800" baseline="0" dirty="0"/>
                        <a:t>: </a:t>
                      </a:r>
                      <a:r>
                        <a:rPr lang="it-IT" sz="800" baseline="0" dirty="0" err="1"/>
                        <a:t>String</a:t>
                      </a:r>
                      <a:endParaRPr lang="it-IT" sz="800" baseline="0" dirty="0"/>
                    </a:p>
                    <a:p>
                      <a:r>
                        <a:rPr lang="it-IT" sz="800" baseline="0" dirty="0"/>
                        <a:t>-price: Float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Segnaposto contenuto 5"/>
          <p:cNvGraphicFramePr>
            <a:graphicFrameLocks/>
          </p:cNvGraphicFramePr>
          <p:nvPr/>
        </p:nvGraphicFramePr>
        <p:xfrm>
          <a:off x="6268403" y="1083187"/>
          <a:ext cx="1511789" cy="10233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17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5151">
                <a:tc>
                  <a:txBody>
                    <a:bodyPr/>
                    <a:lstStyle/>
                    <a:p>
                      <a:pPr algn="ctr"/>
                      <a:r>
                        <a:rPr lang="it-IT" sz="1400" b="0" i="0" dirty="0">
                          <a:latin typeface="Calibri Light" panose="020F0302020204030204" pitchFamily="34" charset="0"/>
                        </a:rPr>
                        <a:t>Provider</a:t>
                      </a:r>
                      <a:endParaRPr lang="it-IT" sz="8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8655">
                <a:tc>
                  <a:txBody>
                    <a:bodyPr/>
                    <a:lstStyle/>
                    <a:p>
                      <a:r>
                        <a:rPr lang="it-IT" sz="800" b="0" i="0" dirty="0">
                          <a:latin typeface="Calibri Light" panose="020F0302020204030204" pitchFamily="34" charset="0"/>
                        </a:rPr>
                        <a:t>-id: Long</a:t>
                      </a:r>
                    </a:p>
                    <a:p>
                      <a:r>
                        <a:rPr lang="it-IT" sz="800" dirty="0"/>
                        <a:t>-name: </a:t>
                      </a:r>
                      <a:r>
                        <a:rPr lang="it-IT" sz="800" dirty="0" err="1"/>
                        <a:t>String</a:t>
                      </a:r>
                      <a:endParaRPr lang="it-IT" sz="800" dirty="0"/>
                    </a:p>
                    <a:p>
                      <a:r>
                        <a:rPr lang="it-IT" sz="800" dirty="0"/>
                        <a:t>-</a:t>
                      </a:r>
                      <a:r>
                        <a:rPr lang="it-IT" sz="800" dirty="0" err="1"/>
                        <a:t>phoneNumber</a:t>
                      </a:r>
                      <a:r>
                        <a:rPr lang="it-IT" sz="800" dirty="0"/>
                        <a:t>: </a:t>
                      </a:r>
                      <a:r>
                        <a:rPr lang="it-IT" sz="800" dirty="0" err="1"/>
                        <a:t>String</a:t>
                      </a:r>
                      <a:endParaRPr lang="it-IT" sz="800" dirty="0"/>
                    </a:p>
                    <a:p>
                      <a:r>
                        <a:rPr lang="it-IT" sz="800" dirty="0"/>
                        <a:t>-email: </a:t>
                      </a:r>
                      <a:r>
                        <a:rPr lang="it-IT" sz="800" dirty="0" err="1"/>
                        <a:t>String</a:t>
                      </a:r>
                      <a:endParaRPr lang="it-IT" sz="800" dirty="0"/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aseline="0" dirty="0"/>
                        <a:t>-</a:t>
                      </a:r>
                      <a:r>
                        <a:rPr lang="it-IT" sz="800" baseline="0" dirty="0" err="1"/>
                        <a:t>vatin</a:t>
                      </a:r>
                      <a:r>
                        <a:rPr lang="it-IT" sz="800" baseline="0" dirty="0"/>
                        <a:t>: </a:t>
                      </a:r>
                      <a:r>
                        <a:rPr lang="it-IT" sz="800" baseline="0" dirty="0" err="1"/>
                        <a:t>String</a:t>
                      </a:r>
                      <a:endParaRPr lang="it-IT" sz="800" baseline="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7" name="Connettore 2 6"/>
          <p:cNvCxnSpPr>
            <a:stCxn id="5" idx="3"/>
            <a:endCxn id="6" idx="1"/>
          </p:cNvCxnSpPr>
          <p:nvPr/>
        </p:nvCxnSpPr>
        <p:spPr>
          <a:xfrm flipV="1">
            <a:off x="5117843" y="1594852"/>
            <a:ext cx="1150560" cy="5715"/>
          </a:xfrm>
          <a:prstGeom prst="straightConnector1">
            <a:avLst/>
          </a:prstGeom>
          <a:ln w="3175" cmpd="sng">
            <a:solidFill>
              <a:srgbClr val="000000"/>
            </a:solidFill>
            <a:prstDash val="solid"/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asellaDiTesto 7"/>
          <p:cNvSpPr txBox="1"/>
          <p:nvPr/>
        </p:nvSpPr>
        <p:spPr>
          <a:xfrm>
            <a:off x="5846617" y="1263322"/>
            <a:ext cx="44595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350" dirty="0">
                <a:latin typeface="Calibri Light" panose="020F0302020204030204" pitchFamily="34" charset="0"/>
              </a:rPr>
              <a:t>1..*</a:t>
            </a:r>
          </a:p>
        </p:txBody>
      </p:sp>
      <p:sp>
        <p:nvSpPr>
          <p:cNvPr id="9" name="CasellaDiTesto 8"/>
          <p:cNvSpPr txBox="1"/>
          <p:nvPr/>
        </p:nvSpPr>
        <p:spPr>
          <a:xfrm>
            <a:off x="5165294" y="1260469"/>
            <a:ext cx="44595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350" dirty="0">
                <a:latin typeface="Calibri Light" panose="020F0302020204030204" pitchFamily="34" charset="0"/>
              </a:rPr>
              <a:t>0..*</a:t>
            </a:r>
          </a:p>
        </p:txBody>
      </p:sp>
      <p:graphicFrame>
        <p:nvGraphicFramePr>
          <p:cNvPr id="10" name="Segnaposto contenuto 5"/>
          <p:cNvGraphicFramePr>
            <a:graphicFrameLocks/>
          </p:cNvGraphicFramePr>
          <p:nvPr/>
        </p:nvGraphicFramePr>
        <p:xfrm>
          <a:off x="1402241" y="2476225"/>
          <a:ext cx="1508321" cy="6575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3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5151">
                <a:tc>
                  <a:txBody>
                    <a:bodyPr/>
                    <a:lstStyle/>
                    <a:p>
                      <a:pPr algn="ctr"/>
                      <a:r>
                        <a:rPr lang="it-IT" sz="1400" b="0" i="0" dirty="0">
                          <a:latin typeface="Calibri Light" panose="020F0302020204030204" pitchFamily="34" charset="0"/>
                        </a:rPr>
                        <a:t>Order</a:t>
                      </a:r>
                      <a:endParaRPr lang="it-IT" sz="8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r>
                        <a:rPr lang="it-IT" sz="800" b="0" i="0" dirty="0">
                          <a:latin typeface="Calibri Light" panose="020F0302020204030204" pitchFamily="34" charset="0"/>
                        </a:rPr>
                        <a:t>-id: Long</a:t>
                      </a:r>
                    </a:p>
                    <a:p>
                      <a:r>
                        <a:rPr lang="it-IT" sz="800" dirty="0"/>
                        <a:t>-</a:t>
                      </a:r>
                      <a:r>
                        <a:rPr lang="it-IT" sz="800" dirty="0" err="1"/>
                        <a:t>creationTime</a:t>
                      </a:r>
                      <a:r>
                        <a:rPr lang="it-IT" sz="800" dirty="0"/>
                        <a:t>:</a:t>
                      </a:r>
                      <a:r>
                        <a:rPr lang="it-IT" sz="800" baseline="0" dirty="0"/>
                        <a:t> </a:t>
                      </a:r>
                      <a:r>
                        <a:rPr lang="it-IT" sz="800" baseline="0" dirty="0" err="1"/>
                        <a:t>LocalDateTime</a:t>
                      </a:r>
                      <a:endParaRPr lang="it-IT" sz="800" baseline="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" name="Segnaposto contenuto 5"/>
          <p:cNvGraphicFramePr>
            <a:graphicFrameLocks/>
          </p:cNvGraphicFramePr>
          <p:nvPr/>
        </p:nvGraphicFramePr>
        <p:xfrm>
          <a:off x="3782205" y="2412944"/>
          <a:ext cx="1511789" cy="779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17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5151">
                <a:tc>
                  <a:txBody>
                    <a:bodyPr/>
                    <a:lstStyle/>
                    <a:p>
                      <a:pPr algn="ctr"/>
                      <a:r>
                        <a:rPr lang="it-IT" sz="1400" b="0" i="0" dirty="0" err="1">
                          <a:latin typeface="Calibri Light" panose="020F0302020204030204" pitchFamily="34" charset="0"/>
                        </a:rPr>
                        <a:t>OrderLine</a:t>
                      </a:r>
                      <a:endParaRPr lang="it-IT" sz="8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lang="it-IT" sz="800" b="0" i="0" dirty="0">
                          <a:latin typeface="Calibri Light" panose="020F0302020204030204" pitchFamily="34" charset="0"/>
                        </a:rPr>
                        <a:t>-id: Long</a:t>
                      </a:r>
                    </a:p>
                    <a:p>
                      <a:r>
                        <a:rPr lang="it-IT" sz="800" dirty="0"/>
                        <a:t>-</a:t>
                      </a:r>
                      <a:r>
                        <a:rPr lang="it-IT" sz="800" dirty="0" err="1"/>
                        <a:t>unitPrice</a:t>
                      </a:r>
                      <a:r>
                        <a:rPr lang="it-IT" sz="800" dirty="0"/>
                        <a:t>: Float</a:t>
                      </a:r>
                    </a:p>
                    <a:p>
                      <a:r>
                        <a:rPr lang="it-IT" sz="800" dirty="0"/>
                        <a:t>-</a:t>
                      </a:r>
                      <a:r>
                        <a:rPr lang="it-IT" sz="800" dirty="0" err="1"/>
                        <a:t>quantity</a:t>
                      </a:r>
                      <a:r>
                        <a:rPr lang="it-IT" sz="800" dirty="0"/>
                        <a:t>: </a:t>
                      </a:r>
                      <a:r>
                        <a:rPr lang="it-IT" sz="800" dirty="0" err="1"/>
                        <a:t>Integer</a:t>
                      </a:r>
                      <a:endParaRPr lang="it-IT" sz="8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2" name="Connettore 2 11"/>
          <p:cNvCxnSpPr>
            <a:cxnSpLocks/>
            <a:stCxn id="10" idx="3"/>
            <a:endCxn id="11" idx="1"/>
          </p:cNvCxnSpPr>
          <p:nvPr/>
        </p:nvCxnSpPr>
        <p:spPr>
          <a:xfrm flipV="1">
            <a:off x="2910562" y="2802689"/>
            <a:ext cx="871643" cy="2321"/>
          </a:xfrm>
          <a:prstGeom prst="straightConnector1">
            <a:avLst/>
          </a:prstGeom>
          <a:ln w="3175" cmpd="sng">
            <a:solidFill>
              <a:srgbClr val="000000"/>
            </a:solidFill>
            <a:prstDash val="solid"/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/>
          <p:cNvSpPr txBox="1"/>
          <p:nvPr/>
        </p:nvSpPr>
        <p:spPr>
          <a:xfrm>
            <a:off x="3350894" y="2554978"/>
            <a:ext cx="44595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350" dirty="0">
                <a:latin typeface="Calibri Light" panose="020F0302020204030204" pitchFamily="34" charset="0"/>
              </a:rPr>
              <a:t>0..*</a:t>
            </a:r>
          </a:p>
        </p:txBody>
      </p:sp>
      <p:cxnSp>
        <p:nvCxnSpPr>
          <p:cNvPr id="14" name="Connettore 2 13"/>
          <p:cNvCxnSpPr>
            <a:stCxn id="11" idx="0"/>
            <a:endCxn id="5" idx="2"/>
          </p:cNvCxnSpPr>
          <p:nvPr/>
        </p:nvCxnSpPr>
        <p:spPr>
          <a:xfrm flipH="1" flipV="1">
            <a:off x="4535359" y="2051273"/>
            <a:ext cx="2740" cy="361671"/>
          </a:xfrm>
          <a:prstGeom prst="straightConnector1">
            <a:avLst/>
          </a:prstGeom>
          <a:ln w="3175" cmpd="sng">
            <a:solidFill>
              <a:srgbClr val="000000"/>
            </a:solidFill>
            <a:prstDash val="solid"/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Segnaposto contenuto 5"/>
          <p:cNvGraphicFramePr>
            <a:graphicFrameLocks/>
          </p:cNvGraphicFramePr>
          <p:nvPr/>
        </p:nvGraphicFramePr>
        <p:xfrm>
          <a:off x="1402241" y="3806797"/>
          <a:ext cx="1508321" cy="11452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3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5151">
                <a:tc>
                  <a:txBody>
                    <a:bodyPr/>
                    <a:lstStyle/>
                    <a:p>
                      <a:pPr algn="ctr"/>
                      <a:r>
                        <a:rPr lang="it-IT" sz="1400" b="0" i="0" dirty="0" err="1">
                          <a:latin typeface="Calibri Light" panose="020F0302020204030204" pitchFamily="34" charset="0"/>
                        </a:rPr>
                        <a:t>Customer</a:t>
                      </a:r>
                      <a:endParaRPr lang="it-IT" sz="8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8670">
                <a:tc>
                  <a:txBody>
                    <a:bodyPr/>
                    <a:lstStyle/>
                    <a:p>
                      <a:r>
                        <a:rPr lang="it-IT" sz="800" b="0" i="0" dirty="0">
                          <a:latin typeface="Calibri Light" panose="020F0302020204030204" pitchFamily="34" charset="0"/>
                        </a:rPr>
                        <a:t>-id: Long</a:t>
                      </a:r>
                    </a:p>
                    <a:p>
                      <a:r>
                        <a:rPr lang="it-IT" sz="800" dirty="0"/>
                        <a:t>-</a:t>
                      </a:r>
                      <a:r>
                        <a:rPr lang="it-IT" sz="800" dirty="0" err="1"/>
                        <a:t>firstName</a:t>
                      </a:r>
                      <a:r>
                        <a:rPr lang="it-IT" sz="800" dirty="0"/>
                        <a:t>:</a:t>
                      </a:r>
                      <a:r>
                        <a:rPr lang="it-IT" sz="800" baseline="0" dirty="0"/>
                        <a:t> </a:t>
                      </a:r>
                      <a:r>
                        <a:rPr lang="it-IT" sz="800" baseline="0" dirty="0" err="1"/>
                        <a:t>String</a:t>
                      </a:r>
                      <a:endParaRPr lang="it-IT" sz="800" baseline="0" dirty="0"/>
                    </a:p>
                    <a:p>
                      <a:r>
                        <a:rPr lang="it-IT" sz="800" baseline="0" dirty="0"/>
                        <a:t>-</a:t>
                      </a:r>
                      <a:r>
                        <a:rPr lang="it-IT" sz="800" baseline="0" dirty="0" err="1"/>
                        <a:t>lastName</a:t>
                      </a:r>
                      <a:r>
                        <a:rPr lang="it-IT" sz="800" baseline="0" dirty="0"/>
                        <a:t>: </a:t>
                      </a:r>
                      <a:r>
                        <a:rPr lang="it-IT" sz="800" baseline="0" dirty="0" err="1"/>
                        <a:t>String</a:t>
                      </a:r>
                      <a:endParaRPr lang="it-IT" sz="800" baseline="0" dirty="0"/>
                    </a:p>
                    <a:p>
                      <a:r>
                        <a:rPr lang="it-IT" sz="800" baseline="0" dirty="0"/>
                        <a:t>-email: </a:t>
                      </a:r>
                      <a:r>
                        <a:rPr lang="it-IT" sz="800" baseline="0" dirty="0" err="1"/>
                        <a:t>String</a:t>
                      </a:r>
                      <a:endParaRPr lang="it-IT" sz="800" baseline="0" dirty="0"/>
                    </a:p>
                    <a:p>
                      <a:r>
                        <a:rPr lang="it-IT" sz="800" baseline="0" dirty="0"/>
                        <a:t>-</a:t>
                      </a:r>
                      <a:r>
                        <a:rPr lang="it-IT" sz="800" baseline="0" dirty="0" err="1"/>
                        <a:t>phoneNumber</a:t>
                      </a:r>
                      <a:r>
                        <a:rPr lang="it-IT" sz="800" baseline="0" dirty="0"/>
                        <a:t>: </a:t>
                      </a:r>
                      <a:r>
                        <a:rPr lang="it-IT" sz="800" baseline="0" dirty="0" err="1"/>
                        <a:t>String</a:t>
                      </a:r>
                      <a:endParaRPr lang="it-IT" sz="800" baseline="0" dirty="0"/>
                    </a:p>
                    <a:p>
                      <a:r>
                        <a:rPr lang="it-IT" sz="800" baseline="0" dirty="0"/>
                        <a:t>-</a:t>
                      </a:r>
                      <a:r>
                        <a:rPr lang="it-IT" sz="800" baseline="0" dirty="0" err="1"/>
                        <a:t>dateOfBirth</a:t>
                      </a:r>
                      <a:r>
                        <a:rPr lang="it-IT" sz="800" baseline="0" dirty="0"/>
                        <a:t>: </a:t>
                      </a:r>
                      <a:r>
                        <a:rPr lang="it-IT" sz="800" baseline="0" dirty="0" err="1"/>
                        <a:t>LocalDate</a:t>
                      </a:r>
                      <a:endParaRPr lang="it-IT" sz="800" baseline="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8" name="Segnaposto contenuto 5"/>
          <p:cNvGraphicFramePr>
            <a:graphicFrameLocks/>
          </p:cNvGraphicFramePr>
          <p:nvPr/>
        </p:nvGraphicFramePr>
        <p:xfrm>
          <a:off x="6270136" y="3809654"/>
          <a:ext cx="1511789" cy="11452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17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5151">
                <a:tc>
                  <a:txBody>
                    <a:bodyPr/>
                    <a:lstStyle/>
                    <a:p>
                      <a:pPr algn="ctr"/>
                      <a:r>
                        <a:rPr lang="it-IT" sz="1400" b="0" i="0" dirty="0" err="1">
                          <a:latin typeface="Calibri Light" panose="020F0302020204030204" pitchFamily="34" charset="0"/>
                        </a:rPr>
                        <a:t>Address</a:t>
                      </a:r>
                      <a:endParaRPr lang="it-IT" sz="8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8670">
                <a:tc>
                  <a:txBody>
                    <a:bodyPr/>
                    <a:lstStyle/>
                    <a:p>
                      <a:r>
                        <a:rPr lang="it-IT" sz="800" b="0" i="0" dirty="0">
                          <a:latin typeface="Calibri Light" panose="020F0302020204030204" pitchFamily="34" charset="0"/>
                        </a:rPr>
                        <a:t>-id: Long</a:t>
                      </a:r>
                    </a:p>
                    <a:p>
                      <a:r>
                        <a:rPr lang="it-IT" sz="800" dirty="0"/>
                        <a:t>-street: </a:t>
                      </a:r>
                      <a:r>
                        <a:rPr lang="it-IT" sz="800" dirty="0" err="1"/>
                        <a:t>String</a:t>
                      </a:r>
                      <a:endParaRPr lang="it-IT" sz="800" dirty="0"/>
                    </a:p>
                    <a:p>
                      <a:r>
                        <a:rPr lang="it-IT" sz="800" dirty="0"/>
                        <a:t>-city: </a:t>
                      </a:r>
                      <a:r>
                        <a:rPr lang="it-IT" sz="800" dirty="0" err="1"/>
                        <a:t>String</a:t>
                      </a:r>
                      <a:endParaRPr lang="it-IT" sz="800" dirty="0"/>
                    </a:p>
                    <a:p>
                      <a:r>
                        <a:rPr lang="it-IT" sz="800" dirty="0"/>
                        <a:t>-state:</a:t>
                      </a:r>
                      <a:r>
                        <a:rPr lang="it-IT" sz="800" baseline="0" dirty="0"/>
                        <a:t> </a:t>
                      </a:r>
                      <a:r>
                        <a:rPr lang="it-IT" sz="800" baseline="0" dirty="0" err="1"/>
                        <a:t>String</a:t>
                      </a:r>
                      <a:endParaRPr lang="it-IT" sz="800" baseline="0" dirty="0"/>
                    </a:p>
                    <a:p>
                      <a:r>
                        <a:rPr lang="it-IT" sz="800" baseline="0" dirty="0"/>
                        <a:t>-</a:t>
                      </a:r>
                      <a:r>
                        <a:rPr lang="it-IT" sz="800" baseline="0" dirty="0" err="1"/>
                        <a:t>zipcode</a:t>
                      </a:r>
                      <a:r>
                        <a:rPr lang="it-IT" sz="800" baseline="0" dirty="0"/>
                        <a:t>: </a:t>
                      </a:r>
                      <a:r>
                        <a:rPr lang="it-IT" sz="800" baseline="0" dirty="0" err="1"/>
                        <a:t>String</a:t>
                      </a:r>
                      <a:endParaRPr lang="it-IT" sz="800" baseline="0" dirty="0"/>
                    </a:p>
                    <a:p>
                      <a:r>
                        <a:rPr lang="it-IT" sz="800" baseline="0" dirty="0"/>
                        <a:t>-country: </a:t>
                      </a:r>
                      <a:r>
                        <a:rPr lang="it-IT" sz="800" baseline="0" dirty="0" err="1"/>
                        <a:t>String</a:t>
                      </a:r>
                      <a:endParaRPr lang="it-IT" sz="8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9" name="Connettore 2 18"/>
          <p:cNvCxnSpPr>
            <a:cxnSpLocks/>
            <a:stCxn id="17" idx="3"/>
            <a:endCxn id="18" idx="1"/>
          </p:cNvCxnSpPr>
          <p:nvPr/>
        </p:nvCxnSpPr>
        <p:spPr>
          <a:xfrm>
            <a:off x="2910562" y="4379422"/>
            <a:ext cx="3359574" cy="2857"/>
          </a:xfrm>
          <a:prstGeom prst="straightConnector1">
            <a:avLst/>
          </a:prstGeom>
          <a:ln w="3175" cmpd="sng">
            <a:solidFill>
              <a:srgbClr val="000000"/>
            </a:solidFill>
            <a:prstDash val="solid"/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ttore 2 19"/>
          <p:cNvCxnSpPr>
            <a:cxnSpLocks/>
            <a:stCxn id="17" idx="0"/>
            <a:endCxn id="10" idx="2"/>
          </p:cNvCxnSpPr>
          <p:nvPr/>
        </p:nvCxnSpPr>
        <p:spPr>
          <a:xfrm flipV="1">
            <a:off x="2156401" y="3133796"/>
            <a:ext cx="0" cy="673001"/>
          </a:xfrm>
          <a:prstGeom prst="straightConnector1">
            <a:avLst/>
          </a:prstGeom>
          <a:ln w="3175" cmpd="sng">
            <a:solidFill>
              <a:srgbClr val="000000"/>
            </a:solidFill>
            <a:prstDash val="solid"/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asellaDiTesto 22"/>
          <p:cNvSpPr txBox="1"/>
          <p:nvPr/>
        </p:nvSpPr>
        <p:spPr>
          <a:xfrm>
            <a:off x="2142125" y="3152803"/>
            <a:ext cx="44595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350" dirty="0">
                <a:latin typeface="Calibri Light" panose="020F0302020204030204" pitchFamily="34" charset="0"/>
              </a:rPr>
              <a:t>0..*</a:t>
            </a:r>
          </a:p>
        </p:txBody>
      </p:sp>
      <p:cxnSp>
        <p:nvCxnSpPr>
          <p:cNvPr id="25" name="Connettore 2 24"/>
          <p:cNvCxnSpPr>
            <a:stCxn id="6" idx="2"/>
            <a:endCxn id="18" idx="0"/>
          </p:cNvCxnSpPr>
          <p:nvPr/>
        </p:nvCxnSpPr>
        <p:spPr>
          <a:xfrm>
            <a:off x="7024297" y="2106518"/>
            <a:ext cx="1733" cy="1703136"/>
          </a:xfrm>
          <a:prstGeom prst="straightConnector1">
            <a:avLst/>
          </a:prstGeom>
          <a:ln w="3175" cmpd="sng">
            <a:solidFill>
              <a:srgbClr val="000000"/>
            </a:solidFill>
            <a:prstDash val="solid"/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asellaDiTesto 20"/>
          <p:cNvSpPr txBox="1"/>
          <p:nvPr/>
        </p:nvSpPr>
        <p:spPr>
          <a:xfrm>
            <a:off x="4538099" y="2171602"/>
            <a:ext cx="44595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350" dirty="0">
                <a:latin typeface="Calibri Light" panose="020F0302020204030204" pitchFamily="34" charset="0"/>
              </a:rPr>
              <a:t>0..*</a:t>
            </a:r>
          </a:p>
        </p:txBody>
      </p:sp>
    </p:spTree>
    <p:extLst>
      <p:ext uri="{BB962C8B-B14F-4D97-AF65-F5344CB8AC3E}">
        <p14:creationId xmlns:p14="http://schemas.microsoft.com/office/powerpoint/2010/main" val="2675916233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Strategia</a:t>
            </a:r>
            <a:r>
              <a:rPr lang="en-US" dirty="0"/>
              <a:t> di </a:t>
            </a:r>
            <a:r>
              <a:rPr lang="en-US" i="1" dirty="0"/>
              <a:t>Fetch</a:t>
            </a:r>
            <a:endParaRPr lang="en-US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err="1"/>
              <a:t>Quando</a:t>
            </a:r>
            <a:r>
              <a:rPr lang="en-US" dirty="0"/>
              <a:t> JPA </a:t>
            </a:r>
            <a:r>
              <a:rPr lang="en-US" dirty="0" err="1"/>
              <a:t>recupera</a:t>
            </a:r>
            <a:r>
              <a:rPr lang="en-US" dirty="0"/>
              <a:t> </a:t>
            </a:r>
            <a:r>
              <a:rPr lang="en-US" dirty="0" err="1"/>
              <a:t>dati</a:t>
            </a:r>
            <a:r>
              <a:rPr lang="en-US" dirty="0"/>
              <a:t> dal database e </a:t>
            </a:r>
            <a:r>
              <a:rPr lang="en-US" dirty="0" err="1"/>
              <a:t>crea</a:t>
            </a:r>
            <a:r>
              <a:rPr lang="en-US" dirty="0"/>
              <a:t> </a:t>
            </a:r>
            <a:r>
              <a:rPr lang="en-US" dirty="0" err="1"/>
              <a:t>oggetti</a:t>
            </a:r>
            <a:r>
              <a:rPr lang="en-US" dirty="0"/>
              <a:t> in </a:t>
            </a:r>
            <a:r>
              <a:rPr lang="en-US" dirty="0" err="1"/>
              <a:t>memoria</a:t>
            </a:r>
            <a:r>
              <a:rPr lang="en-US" dirty="0"/>
              <a:t>, come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comporta</a:t>
            </a:r>
            <a:r>
              <a:rPr lang="en-US" dirty="0"/>
              <a:t> con I </a:t>
            </a:r>
            <a:r>
              <a:rPr lang="en-US" dirty="0" err="1"/>
              <a:t>riferimenti</a:t>
            </a:r>
            <a:r>
              <a:rPr lang="en-US" dirty="0"/>
              <a:t>?</a:t>
            </a:r>
          </a:p>
          <a:p>
            <a:r>
              <a:rPr lang="en-US" dirty="0"/>
              <a:t>Ad </a:t>
            </a:r>
            <a:r>
              <a:rPr lang="en-US" dirty="0" err="1"/>
              <a:t>esempio</a:t>
            </a:r>
            <a:r>
              <a:rPr lang="en-US" dirty="0"/>
              <a:t>, </a:t>
            </a:r>
            <a:r>
              <a:rPr lang="en-US" dirty="0" err="1"/>
              <a:t>consideriamo</a:t>
            </a:r>
            <a:r>
              <a:rPr lang="en-US" dirty="0"/>
              <a:t> </a:t>
            </a:r>
            <a:r>
              <a:rPr lang="en-US" dirty="0" err="1"/>
              <a:t>il</a:t>
            </a:r>
            <a:r>
              <a:rPr lang="en-US" dirty="0"/>
              <a:t> class diagram </a:t>
            </a:r>
            <a:r>
              <a:rPr lang="en-US" dirty="0" err="1"/>
              <a:t>dell'Esercizio</a:t>
            </a:r>
            <a:r>
              <a:rPr lang="en-US" dirty="0"/>
              <a:t> 2:</a:t>
            </a:r>
          </a:p>
          <a:p>
            <a:pPr lvl="1"/>
            <a:r>
              <a:rPr lang="en-US" dirty="0" err="1"/>
              <a:t>supponiamo</a:t>
            </a:r>
            <a:r>
              <a:rPr lang="en-US" dirty="0"/>
              <a:t> di dover </a:t>
            </a:r>
            <a:r>
              <a:rPr lang="en-US" dirty="0" err="1"/>
              <a:t>recuperare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dati</a:t>
            </a:r>
            <a:r>
              <a:rPr lang="en-US" dirty="0"/>
              <a:t> di un </a:t>
            </a:r>
            <a:r>
              <a:rPr lang="en-US" dirty="0" err="1"/>
              <a:t>oggetto</a:t>
            </a:r>
            <a:r>
              <a:rPr lang="en-US" dirty="0"/>
              <a:t> Customer (ci </a:t>
            </a:r>
            <a:r>
              <a:rPr lang="en-US" dirty="0" err="1"/>
              <a:t>servono</a:t>
            </a:r>
            <a:r>
              <a:rPr lang="en-US" dirty="0"/>
              <a:t> in una </a:t>
            </a:r>
            <a:r>
              <a:rPr lang="en-US" dirty="0" err="1"/>
              <a:t>operazione</a:t>
            </a:r>
            <a:r>
              <a:rPr lang="en-US" dirty="0"/>
              <a:t> del </a:t>
            </a:r>
            <a:r>
              <a:rPr lang="en-US" dirty="0" err="1"/>
              <a:t>sistema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prevede</a:t>
            </a:r>
            <a:r>
              <a:rPr lang="en-US" dirty="0"/>
              <a:t> di </a:t>
            </a:r>
            <a:r>
              <a:rPr lang="en-US" dirty="0" err="1"/>
              <a:t>recuperare</a:t>
            </a:r>
            <a:r>
              <a:rPr lang="en-US" dirty="0"/>
              <a:t> </a:t>
            </a:r>
            <a:r>
              <a:rPr lang="en-US" dirty="0" err="1"/>
              <a:t>nome</a:t>
            </a:r>
            <a:r>
              <a:rPr lang="en-US" dirty="0"/>
              <a:t> </a:t>
            </a:r>
            <a:r>
              <a:rPr lang="en-US" dirty="0" err="1"/>
              <a:t>cognome</a:t>
            </a:r>
            <a:r>
              <a:rPr lang="en-US" dirty="0"/>
              <a:t> e </a:t>
            </a:r>
            <a:r>
              <a:rPr lang="en-US" dirty="0" err="1"/>
              <a:t>numero</a:t>
            </a:r>
            <a:r>
              <a:rPr lang="en-US" dirty="0"/>
              <a:t> di </a:t>
            </a:r>
            <a:r>
              <a:rPr lang="en-US" dirty="0" err="1"/>
              <a:t>telefono</a:t>
            </a:r>
            <a:r>
              <a:rPr lang="en-US" dirty="0"/>
              <a:t> di un </a:t>
            </a:r>
            <a:r>
              <a:rPr lang="en-US" dirty="0" err="1"/>
              <a:t>cliente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un </a:t>
            </a:r>
            <a:r>
              <a:rPr lang="en-US" dirty="0" err="1"/>
              <a:t>oggetto</a:t>
            </a:r>
            <a:r>
              <a:rPr lang="en-US" dirty="0"/>
              <a:t> Customer ha </a:t>
            </a:r>
            <a:r>
              <a:rPr lang="en-US" dirty="0" err="1"/>
              <a:t>anche</a:t>
            </a:r>
            <a:r>
              <a:rPr lang="en-US" dirty="0"/>
              <a:t> una </a:t>
            </a:r>
            <a:r>
              <a:rPr lang="en-US" dirty="0" err="1"/>
              <a:t>lista</a:t>
            </a:r>
            <a:r>
              <a:rPr lang="en-US" dirty="0"/>
              <a:t> di </a:t>
            </a:r>
            <a:r>
              <a:rPr lang="en-US" dirty="0" err="1"/>
              <a:t>riferimenti</a:t>
            </a:r>
            <a:r>
              <a:rPr lang="en-US" dirty="0"/>
              <a:t> ai </a:t>
            </a:r>
            <a:r>
              <a:rPr lang="en-US" dirty="0" err="1"/>
              <a:t>suoi</a:t>
            </a:r>
            <a:r>
              <a:rPr lang="en-US" dirty="0"/>
              <a:t> </a:t>
            </a:r>
            <a:r>
              <a:rPr lang="en-US" dirty="0" err="1"/>
              <a:t>ordini</a:t>
            </a:r>
            <a:r>
              <a:rPr lang="en-US" dirty="0"/>
              <a:t>: </a:t>
            </a:r>
            <a:r>
              <a:rPr lang="en-US" dirty="0" err="1"/>
              <a:t>dobbiamo</a:t>
            </a:r>
            <a:r>
              <a:rPr lang="en-US" dirty="0"/>
              <a:t> </a:t>
            </a:r>
            <a:r>
              <a:rPr lang="en-US" dirty="0" err="1"/>
              <a:t>recuperare</a:t>
            </a:r>
            <a:r>
              <a:rPr lang="en-US" dirty="0"/>
              <a:t> </a:t>
            </a:r>
            <a:r>
              <a:rPr lang="en-US" dirty="0" err="1"/>
              <a:t>anche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dati</a:t>
            </a:r>
            <a:r>
              <a:rPr lang="en-US" dirty="0"/>
              <a:t> </a:t>
            </a:r>
            <a:r>
              <a:rPr lang="en-US" dirty="0" err="1"/>
              <a:t>degli</a:t>
            </a:r>
            <a:r>
              <a:rPr lang="en-US" dirty="0"/>
              <a:t> </a:t>
            </a:r>
            <a:r>
              <a:rPr lang="en-US" dirty="0" err="1"/>
              <a:t>ordini</a:t>
            </a:r>
            <a:r>
              <a:rPr lang="en-US" dirty="0"/>
              <a:t>, </a:t>
            </a:r>
            <a:r>
              <a:rPr lang="en-US" dirty="0" err="1"/>
              <a:t>costruire</a:t>
            </a:r>
            <a:r>
              <a:rPr lang="en-US" dirty="0"/>
              <a:t> </a:t>
            </a:r>
            <a:r>
              <a:rPr lang="en-US" dirty="0" err="1"/>
              <a:t>gli</a:t>
            </a:r>
            <a:r>
              <a:rPr lang="en-US" dirty="0"/>
              <a:t> </a:t>
            </a:r>
            <a:r>
              <a:rPr lang="en-US" dirty="0" err="1"/>
              <a:t>oggetti</a:t>
            </a:r>
            <a:r>
              <a:rPr lang="en-US" dirty="0"/>
              <a:t> Order e </a:t>
            </a:r>
            <a:r>
              <a:rPr lang="en-US" dirty="0" err="1"/>
              <a:t>riempire</a:t>
            </a:r>
            <a:r>
              <a:rPr lang="en-US" dirty="0"/>
              <a:t> la </a:t>
            </a:r>
            <a:r>
              <a:rPr lang="en-US" dirty="0" err="1"/>
              <a:t>lista</a:t>
            </a:r>
            <a:r>
              <a:rPr lang="en-US" dirty="0"/>
              <a:t> </a:t>
            </a:r>
            <a:r>
              <a:rPr lang="en-US" dirty="0" err="1"/>
              <a:t>dei</a:t>
            </a:r>
            <a:r>
              <a:rPr lang="en-US" dirty="0"/>
              <a:t> </a:t>
            </a:r>
            <a:r>
              <a:rPr lang="en-US" dirty="0" err="1"/>
              <a:t>riferimenti</a:t>
            </a:r>
            <a:r>
              <a:rPr lang="en-US" dirty="0"/>
              <a:t> </a:t>
            </a:r>
            <a:r>
              <a:rPr lang="en-US" dirty="0" err="1"/>
              <a:t>agli</a:t>
            </a:r>
            <a:r>
              <a:rPr lang="en-US" dirty="0"/>
              <a:t> </a:t>
            </a:r>
            <a:r>
              <a:rPr lang="en-US" dirty="0" err="1"/>
              <a:t>oggetti</a:t>
            </a:r>
            <a:r>
              <a:rPr lang="en-US" dirty="0"/>
              <a:t> Order di Customer?</a:t>
            </a:r>
          </a:p>
          <a:p>
            <a:pPr lvl="1"/>
            <a:r>
              <a:rPr lang="en-US" dirty="0"/>
              <a:t>e </a:t>
            </a:r>
            <a:r>
              <a:rPr lang="en-US" dirty="0" err="1"/>
              <a:t>ogni</a:t>
            </a:r>
            <a:r>
              <a:rPr lang="en-US" dirty="0"/>
              <a:t> </a:t>
            </a:r>
            <a:r>
              <a:rPr lang="en-US" dirty="0" err="1"/>
              <a:t>oggetto</a:t>
            </a:r>
            <a:r>
              <a:rPr lang="en-US" dirty="0"/>
              <a:t> Order ha una </a:t>
            </a:r>
            <a:r>
              <a:rPr lang="en-US" dirty="0" err="1"/>
              <a:t>lista</a:t>
            </a:r>
            <a:r>
              <a:rPr lang="en-US" dirty="0"/>
              <a:t> di </a:t>
            </a:r>
            <a:r>
              <a:rPr lang="en-US" dirty="0" err="1"/>
              <a:t>riferimenti</a:t>
            </a:r>
            <a:r>
              <a:rPr lang="en-US" dirty="0"/>
              <a:t> ad </a:t>
            </a:r>
            <a:r>
              <a:rPr lang="en-US" dirty="0" err="1"/>
              <a:t>oggetti</a:t>
            </a:r>
            <a:r>
              <a:rPr lang="en-US" dirty="0"/>
              <a:t> </a:t>
            </a:r>
            <a:r>
              <a:rPr lang="en-US" dirty="0" err="1"/>
              <a:t>OrderLine</a:t>
            </a:r>
            <a:r>
              <a:rPr lang="en-US" dirty="0"/>
              <a:t>, </a:t>
            </a:r>
            <a:r>
              <a:rPr lang="en-US" dirty="0" err="1"/>
              <a:t>ogni</a:t>
            </a:r>
            <a:r>
              <a:rPr lang="en-US" dirty="0"/>
              <a:t> </a:t>
            </a:r>
            <a:r>
              <a:rPr lang="en-US" dirty="0" err="1"/>
              <a:t>OrderLine</a:t>
            </a:r>
            <a:r>
              <a:rPr lang="en-US" dirty="0"/>
              <a:t> ad un Product, </a:t>
            </a:r>
            <a:r>
              <a:rPr lang="en-US" dirty="0" err="1"/>
              <a:t>ogni</a:t>
            </a:r>
            <a:r>
              <a:rPr lang="en-US" dirty="0"/>
              <a:t> Product ha una </a:t>
            </a:r>
            <a:r>
              <a:rPr lang="en-US" dirty="0" err="1"/>
              <a:t>lista</a:t>
            </a:r>
            <a:r>
              <a:rPr lang="en-US" dirty="0"/>
              <a:t> di </a:t>
            </a:r>
            <a:r>
              <a:rPr lang="en-US" dirty="0" err="1"/>
              <a:t>riferimenti</a:t>
            </a:r>
            <a:r>
              <a:rPr lang="en-US" dirty="0"/>
              <a:t> a </a:t>
            </a:r>
            <a:r>
              <a:rPr lang="en-US" dirty="0" err="1"/>
              <a:t>oggetti</a:t>
            </a:r>
            <a:r>
              <a:rPr lang="en-US" dirty="0"/>
              <a:t> Provider</a:t>
            </a:r>
          </a:p>
          <a:p>
            <a:pPr lvl="1"/>
            <a:r>
              <a:rPr lang="en-US" dirty="0" err="1"/>
              <a:t>Dobbiamo</a:t>
            </a:r>
            <a:r>
              <a:rPr lang="en-US" dirty="0"/>
              <a:t> </a:t>
            </a:r>
            <a:r>
              <a:rPr lang="en-US" dirty="0" err="1"/>
              <a:t>recuperare</a:t>
            </a:r>
            <a:r>
              <a:rPr lang="en-US" dirty="0"/>
              <a:t> dal database </a:t>
            </a:r>
            <a:r>
              <a:rPr lang="en-US" dirty="0" err="1"/>
              <a:t>tutti</a:t>
            </a:r>
            <a:r>
              <a:rPr lang="en-US" dirty="0"/>
              <a:t> </a:t>
            </a:r>
            <a:r>
              <a:rPr lang="en-US" dirty="0" err="1"/>
              <a:t>questi</a:t>
            </a:r>
            <a:r>
              <a:rPr lang="en-US" dirty="0"/>
              <a:t> </a:t>
            </a:r>
            <a:r>
              <a:rPr lang="en-US" dirty="0" err="1"/>
              <a:t>dati</a:t>
            </a:r>
            <a:r>
              <a:rPr lang="en-US" dirty="0"/>
              <a:t> per </a:t>
            </a:r>
            <a:r>
              <a:rPr lang="en-US" dirty="0" err="1"/>
              <a:t>costruire</a:t>
            </a:r>
            <a:r>
              <a:rPr lang="en-US" dirty="0"/>
              <a:t> un </a:t>
            </a:r>
            <a:r>
              <a:rPr lang="en-US" dirty="0" err="1"/>
              <a:t>oggetto</a:t>
            </a:r>
            <a:r>
              <a:rPr lang="en-US" dirty="0"/>
              <a:t> Customer? </a:t>
            </a:r>
            <a:r>
              <a:rPr lang="en-US" dirty="0" err="1"/>
              <a:t>Quanti</a:t>
            </a:r>
            <a:r>
              <a:rPr lang="en-US" dirty="0"/>
              <a:t> join (</a:t>
            </a:r>
            <a:r>
              <a:rPr lang="en-US" dirty="0" err="1"/>
              <a:t>operazione</a:t>
            </a:r>
            <a:r>
              <a:rPr lang="en-US" dirty="0"/>
              <a:t> </a:t>
            </a:r>
            <a:r>
              <a:rPr lang="en-US" dirty="0" err="1"/>
              <a:t>costosa</a:t>
            </a:r>
            <a:r>
              <a:rPr lang="en-US" dirty="0"/>
              <a:t>) </a:t>
            </a:r>
            <a:r>
              <a:rPr lang="en-US" dirty="0" err="1"/>
              <a:t>deve</a:t>
            </a:r>
            <a:r>
              <a:rPr lang="en-US" dirty="0"/>
              <a:t> fare </a:t>
            </a:r>
            <a:r>
              <a:rPr lang="en-US" dirty="0" err="1"/>
              <a:t>il</a:t>
            </a:r>
            <a:r>
              <a:rPr lang="en-US" dirty="0"/>
              <a:t> DBMS? </a:t>
            </a:r>
          </a:p>
          <a:p>
            <a:pPr lvl="1"/>
            <a:r>
              <a:rPr lang="en-US" dirty="0"/>
              <a:t>Ci </a:t>
            </a:r>
            <a:r>
              <a:rPr lang="en-US" dirty="0" err="1"/>
              <a:t>servivano</a:t>
            </a:r>
            <a:r>
              <a:rPr lang="en-US" dirty="0"/>
              <a:t> </a:t>
            </a:r>
            <a:r>
              <a:rPr lang="en-US" dirty="0" err="1"/>
              <a:t>nome</a:t>
            </a:r>
            <a:r>
              <a:rPr lang="en-US" dirty="0"/>
              <a:t>, </a:t>
            </a:r>
            <a:r>
              <a:rPr lang="en-US" dirty="0" err="1"/>
              <a:t>cognome</a:t>
            </a:r>
            <a:r>
              <a:rPr lang="en-US" dirty="0"/>
              <a:t> e </a:t>
            </a:r>
            <a:r>
              <a:rPr lang="en-US" dirty="0" err="1"/>
              <a:t>numero</a:t>
            </a:r>
            <a:r>
              <a:rPr lang="en-US" dirty="0"/>
              <a:t> di </a:t>
            </a:r>
            <a:r>
              <a:rPr lang="en-US" dirty="0" err="1"/>
              <a:t>telefono</a:t>
            </a:r>
            <a:r>
              <a:rPr lang="en-US" dirty="0"/>
              <a:t> di un </a:t>
            </a:r>
            <a:r>
              <a:rPr lang="en-US" dirty="0" err="1"/>
              <a:t>cliente</a:t>
            </a:r>
            <a:r>
              <a:rPr lang="en-US" dirty="0"/>
              <a:t> e </a:t>
            </a:r>
            <a:r>
              <a:rPr lang="en-US" dirty="0" err="1"/>
              <a:t>siamo</a:t>
            </a:r>
            <a:r>
              <a:rPr lang="en-US" dirty="0"/>
              <a:t> </a:t>
            </a:r>
            <a:r>
              <a:rPr lang="en-US" dirty="0" err="1"/>
              <a:t>arrivati</a:t>
            </a:r>
            <a:r>
              <a:rPr lang="en-US" dirty="0"/>
              <a:t> a </a:t>
            </a:r>
            <a:r>
              <a:rPr lang="en-US" dirty="0" err="1"/>
              <a:t>prendere</a:t>
            </a:r>
            <a:r>
              <a:rPr lang="en-US" dirty="0"/>
              <a:t> </a:t>
            </a:r>
            <a:r>
              <a:rPr lang="en-US" dirty="0" err="1"/>
              <a:t>l'indirizzo</a:t>
            </a:r>
            <a:r>
              <a:rPr lang="en-US" dirty="0"/>
              <a:t> di </a:t>
            </a:r>
            <a:r>
              <a:rPr lang="en-US" dirty="0" err="1"/>
              <a:t>tutti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fornitori</a:t>
            </a:r>
            <a:r>
              <a:rPr lang="en-US" dirty="0"/>
              <a:t> di </a:t>
            </a:r>
            <a:r>
              <a:rPr lang="en-US" dirty="0" err="1"/>
              <a:t>tutti</a:t>
            </a:r>
            <a:r>
              <a:rPr lang="en-US" dirty="0"/>
              <a:t> I </a:t>
            </a:r>
            <a:r>
              <a:rPr lang="en-US" dirty="0" err="1"/>
              <a:t>prodotti</a:t>
            </a:r>
            <a:r>
              <a:rPr lang="en-US" dirty="0"/>
              <a:t> </a:t>
            </a:r>
            <a:r>
              <a:rPr lang="en-US" dirty="0" err="1"/>
              <a:t>ordinati</a:t>
            </a:r>
            <a:r>
              <a:rPr lang="en-US" dirty="0"/>
              <a:t> dal </a:t>
            </a:r>
            <a:r>
              <a:rPr lang="en-US" dirty="0" err="1"/>
              <a:t>cliente</a:t>
            </a:r>
            <a:r>
              <a:rPr lang="en-US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874974309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Strategia</a:t>
            </a:r>
            <a:r>
              <a:rPr lang="en-US" dirty="0"/>
              <a:t> di </a:t>
            </a:r>
            <a:r>
              <a:rPr lang="en-US" i="1" dirty="0"/>
              <a:t>Fetch</a:t>
            </a:r>
            <a:endParaRPr lang="en-US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Per </a:t>
            </a:r>
            <a:r>
              <a:rPr lang="en-US" dirty="0" err="1"/>
              <a:t>evitare</a:t>
            </a:r>
            <a:r>
              <a:rPr lang="en-US" dirty="0"/>
              <a:t> </a:t>
            </a:r>
            <a:r>
              <a:rPr lang="en-US" dirty="0" err="1"/>
              <a:t>operazioni</a:t>
            </a:r>
            <a:r>
              <a:rPr lang="en-US" dirty="0"/>
              <a:t> </a:t>
            </a:r>
            <a:r>
              <a:rPr lang="en-US" dirty="0" err="1"/>
              <a:t>dispendiose</a:t>
            </a:r>
            <a:r>
              <a:rPr lang="en-US" dirty="0"/>
              <a:t> (e </a:t>
            </a:r>
            <a:r>
              <a:rPr lang="en-US" dirty="0" err="1"/>
              <a:t>magari</a:t>
            </a:r>
            <a:r>
              <a:rPr lang="en-US" dirty="0"/>
              <a:t> non </a:t>
            </a:r>
            <a:r>
              <a:rPr lang="en-US" dirty="0" err="1"/>
              <a:t>necessarie</a:t>
            </a:r>
            <a:r>
              <a:rPr lang="en-US" dirty="0"/>
              <a:t>) </a:t>
            </a:r>
            <a:r>
              <a:rPr lang="en-US" dirty="0" err="1"/>
              <a:t>sul</a:t>
            </a:r>
            <a:r>
              <a:rPr lang="en-US" dirty="0"/>
              <a:t> database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possibile</a:t>
            </a:r>
            <a:r>
              <a:rPr lang="en-US" dirty="0"/>
              <a:t> </a:t>
            </a:r>
            <a:r>
              <a:rPr lang="en-US" dirty="0" err="1"/>
              <a:t>specificare</a:t>
            </a:r>
            <a:r>
              <a:rPr lang="en-US" dirty="0"/>
              <a:t> come </a:t>
            </a:r>
            <a:r>
              <a:rPr lang="en-US" dirty="0" err="1"/>
              <a:t>deve</a:t>
            </a:r>
            <a:r>
              <a:rPr lang="en-US" dirty="0"/>
              <a:t> </a:t>
            </a:r>
            <a:r>
              <a:rPr lang="en-US" dirty="0" err="1"/>
              <a:t>essere</a:t>
            </a:r>
            <a:r>
              <a:rPr lang="en-US" dirty="0"/>
              <a:t> </a:t>
            </a:r>
            <a:r>
              <a:rPr lang="en-US" dirty="0" err="1"/>
              <a:t>fatto</a:t>
            </a:r>
            <a:r>
              <a:rPr lang="en-US" dirty="0"/>
              <a:t>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caricamento</a:t>
            </a:r>
            <a:r>
              <a:rPr lang="en-US" dirty="0"/>
              <a:t> </a:t>
            </a:r>
            <a:r>
              <a:rPr lang="en-US" dirty="0" err="1"/>
              <a:t>degli</a:t>
            </a:r>
            <a:r>
              <a:rPr lang="en-US" dirty="0"/>
              <a:t> </a:t>
            </a:r>
            <a:r>
              <a:rPr lang="en-US" dirty="0" err="1"/>
              <a:t>oggetti</a:t>
            </a:r>
            <a:r>
              <a:rPr lang="en-US" dirty="0"/>
              <a:t> "</a:t>
            </a:r>
            <a:r>
              <a:rPr lang="en-US" dirty="0" err="1"/>
              <a:t>collegati</a:t>
            </a:r>
            <a:r>
              <a:rPr lang="en-US" dirty="0"/>
              <a:t>" </a:t>
            </a:r>
            <a:r>
              <a:rPr lang="en-US" dirty="0" err="1"/>
              <a:t>dalle</a:t>
            </a:r>
            <a:r>
              <a:rPr lang="en-US" dirty="0"/>
              <a:t> </a:t>
            </a:r>
            <a:r>
              <a:rPr lang="en-US" dirty="0" err="1"/>
              <a:t>associazioni</a:t>
            </a:r>
            <a:endParaRPr lang="en-US" dirty="0"/>
          </a:p>
          <a:p>
            <a:pPr lvl="1"/>
            <a:r>
              <a:rPr lang="en-US" b="1" dirty="0"/>
              <a:t>Lazy Load </a:t>
            </a:r>
            <a:r>
              <a:rPr lang="en-US" dirty="0"/>
              <a:t>(</a:t>
            </a:r>
            <a:r>
              <a:rPr lang="en-US" dirty="0" err="1"/>
              <a:t>caricamento</a:t>
            </a:r>
            <a:r>
              <a:rPr lang="en-US" dirty="0"/>
              <a:t> </a:t>
            </a:r>
            <a:r>
              <a:rPr lang="en-US" dirty="0" err="1"/>
              <a:t>pigro</a:t>
            </a:r>
            <a:r>
              <a:rPr lang="en-US" dirty="0"/>
              <a:t>): </a:t>
            </a:r>
            <a:r>
              <a:rPr lang="en-US" dirty="0" err="1"/>
              <a:t>viene</a:t>
            </a:r>
            <a:r>
              <a:rPr lang="en-US" dirty="0"/>
              <a:t> </a:t>
            </a:r>
            <a:r>
              <a:rPr lang="en-US" dirty="0" err="1"/>
              <a:t>caricato</a:t>
            </a:r>
            <a:r>
              <a:rPr lang="en-US" dirty="0"/>
              <a:t> </a:t>
            </a:r>
            <a:r>
              <a:rPr lang="en-US" dirty="0" err="1"/>
              <a:t>il</a:t>
            </a:r>
            <a:r>
              <a:rPr lang="en-US" dirty="0"/>
              <a:t> solo </a:t>
            </a:r>
            <a:r>
              <a:rPr lang="en-US" dirty="0" err="1"/>
              <a:t>oggetto</a:t>
            </a:r>
            <a:r>
              <a:rPr lang="en-US" dirty="0"/>
              <a:t> </a:t>
            </a:r>
            <a:r>
              <a:rPr lang="en-US" dirty="0" err="1"/>
              <a:t>richiesto</a:t>
            </a:r>
            <a:r>
              <a:rPr lang="en-US" dirty="0"/>
              <a:t>; </a:t>
            </a:r>
            <a:r>
              <a:rPr lang="en-US" dirty="0" err="1"/>
              <a:t>gli</a:t>
            </a:r>
            <a:r>
              <a:rPr lang="en-US" dirty="0"/>
              <a:t> </a:t>
            </a:r>
            <a:r>
              <a:rPr lang="en-US" dirty="0" err="1"/>
              <a:t>oggetti</a:t>
            </a:r>
            <a:r>
              <a:rPr lang="en-US" dirty="0"/>
              <a:t> </a:t>
            </a:r>
            <a:r>
              <a:rPr lang="en-US" dirty="0" err="1"/>
              <a:t>collegati</a:t>
            </a:r>
            <a:r>
              <a:rPr lang="en-US" dirty="0"/>
              <a:t> </a:t>
            </a:r>
            <a:r>
              <a:rPr lang="en-US" dirty="0" err="1"/>
              <a:t>vengono</a:t>
            </a:r>
            <a:r>
              <a:rPr lang="en-US" dirty="0"/>
              <a:t> </a:t>
            </a:r>
            <a:r>
              <a:rPr lang="en-US" dirty="0" err="1"/>
              <a:t>richiesti</a:t>
            </a:r>
            <a:r>
              <a:rPr lang="en-US" dirty="0"/>
              <a:t> solo se </a:t>
            </a:r>
            <a:r>
              <a:rPr lang="en-US" dirty="0" err="1"/>
              <a:t>l'applicazione</a:t>
            </a:r>
            <a:r>
              <a:rPr lang="en-US" dirty="0"/>
              <a:t> </a:t>
            </a:r>
            <a:r>
              <a:rPr lang="en-US" dirty="0" err="1"/>
              <a:t>chiede</a:t>
            </a:r>
            <a:r>
              <a:rPr lang="en-US" dirty="0"/>
              <a:t> di </a:t>
            </a:r>
            <a:r>
              <a:rPr lang="en-US" dirty="0" err="1"/>
              <a:t>seguire</a:t>
            </a:r>
            <a:r>
              <a:rPr lang="en-US" dirty="0"/>
              <a:t> un </a:t>
            </a:r>
            <a:r>
              <a:rPr lang="en-US" dirty="0" err="1"/>
              <a:t>collegamento</a:t>
            </a:r>
            <a:endParaRPr lang="en-US" dirty="0"/>
          </a:p>
          <a:p>
            <a:pPr lvl="1"/>
            <a:r>
              <a:rPr lang="en-US" b="1" dirty="0"/>
              <a:t>Eager</a:t>
            </a:r>
            <a:r>
              <a:rPr lang="en-US" dirty="0"/>
              <a:t> (</a:t>
            </a:r>
            <a:r>
              <a:rPr lang="en-US" dirty="0" err="1"/>
              <a:t>impaziente</a:t>
            </a:r>
            <a:r>
              <a:rPr lang="en-US" dirty="0"/>
              <a:t>): </a:t>
            </a:r>
            <a:r>
              <a:rPr lang="en-US" dirty="0" err="1"/>
              <a:t>vengono</a:t>
            </a:r>
            <a:r>
              <a:rPr lang="en-US" dirty="0"/>
              <a:t> </a:t>
            </a:r>
            <a:r>
              <a:rPr lang="en-US" dirty="0" err="1"/>
              <a:t>caricati</a:t>
            </a:r>
            <a:r>
              <a:rPr lang="en-US" dirty="0"/>
              <a:t> </a:t>
            </a:r>
            <a:r>
              <a:rPr lang="en-US" dirty="0" err="1"/>
              <a:t>subito</a:t>
            </a:r>
            <a:r>
              <a:rPr lang="en-US" dirty="0"/>
              <a:t> </a:t>
            </a:r>
            <a:r>
              <a:rPr lang="en-US" dirty="0" err="1"/>
              <a:t>anche</a:t>
            </a:r>
            <a:r>
              <a:rPr lang="en-US" dirty="0"/>
              <a:t> </a:t>
            </a:r>
            <a:r>
              <a:rPr lang="en-US" dirty="0" err="1"/>
              <a:t>gli</a:t>
            </a:r>
            <a:r>
              <a:rPr lang="en-US" dirty="0"/>
              <a:t> </a:t>
            </a:r>
            <a:r>
              <a:rPr lang="en-US" dirty="0" err="1"/>
              <a:t>oggetti</a:t>
            </a:r>
            <a:r>
              <a:rPr lang="en-US" dirty="0"/>
              <a:t> </a:t>
            </a:r>
            <a:r>
              <a:rPr lang="en-US" dirty="0" err="1"/>
              <a:t>collegati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7865509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Strategia</a:t>
            </a:r>
            <a:r>
              <a:rPr lang="en-US"/>
              <a:t> di </a:t>
            </a:r>
            <a:r>
              <a:rPr lang="en-US" i="1"/>
              <a:t>Fetch</a:t>
            </a:r>
            <a:endParaRPr lang="en-US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Default					</a:t>
            </a:r>
            <a:r>
              <a:rPr lang="en-US" dirty="0" err="1"/>
              <a:t>Strategia</a:t>
            </a:r>
            <a:r>
              <a:rPr lang="en-US" dirty="0"/>
              <a:t> </a:t>
            </a:r>
            <a:r>
              <a:rPr lang="en-US" dirty="0" err="1"/>
              <a:t>applicata</a:t>
            </a:r>
            <a:br>
              <a:rPr lang="en-US" dirty="0"/>
            </a:br>
            <a:r>
              <a:rPr lang="en-US" dirty="0"/>
              <a:t>@</a:t>
            </a:r>
            <a:r>
              <a:rPr lang="en-US" dirty="0" err="1"/>
              <a:t>OneToOne</a:t>
            </a:r>
            <a:r>
              <a:rPr lang="en-US" dirty="0"/>
              <a:t>			EAGER</a:t>
            </a:r>
            <a:br>
              <a:rPr lang="en-US" dirty="0"/>
            </a:br>
            <a:r>
              <a:rPr lang="en-US" dirty="0"/>
              <a:t>@</a:t>
            </a:r>
            <a:r>
              <a:rPr lang="en-US" dirty="0" err="1"/>
              <a:t>ManyToOne</a:t>
            </a:r>
            <a:r>
              <a:rPr lang="en-US" dirty="0"/>
              <a:t>			EAGER</a:t>
            </a:r>
            <a:br>
              <a:rPr lang="en-US" dirty="0"/>
            </a:br>
            <a:r>
              <a:rPr lang="en-US" dirty="0"/>
              <a:t>@</a:t>
            </a:r>
            <a:r>
              <a:rPr lang="en-US" dirty="0" err="1"/>
              <a:t>OneToMany</a:t>
            </a:r>
            <a:r>
              <a:rPr lang="en-US" dirty="0"/>
              <a:t>			LAZY</a:t>
            </a:r>
            <a:br>
              <a:rPr lang="en-US" dirty="0"/>
            </a:br>
            <a:r>
              <a:rPr lang="en-US" dirty="0"/>
              <a:t>@</a:t>
            </a:r>
            <a:r>
              <a:rPr lang="en-US" dirty="0" err="1"/>
              <a:t>ManyToMany</a:t>
            </a:r>
            <a:r>
              <a:rPr lang="en-US" dirty="0"/>
              <a:t>		LAZY</a:t>
            </a:r>
          </a:p>
          <a:p>
            <a:r>
              <a:rPr lang="en-US" dirty="0"/>
              <a:t>Per </a:t>
            </a:r>
            <a:r>
              <a:rPr lang="en-US" dirty="0" err="1"/>
              <a:t>modificare</a:t>
            </a:r>
            <a:r>
              <a:rPr lang="en-US" dirty="0"/>
              <a:t> la </a:t>
            </a:r>
            <a:r>
              <a:rPr lang="en-US" dirty="0" err="1"/>
              <a:t>strategia</a:t>
            </a:r>
            <a:r>
              <a:rPr lang="en-US" dirty="0"/>
              <a:t> di fetch, </a:t>
            </a:r>
            <a:r>
              <a:rPr lang="en-US" dirty="0" err="1"/>
              <a:t>l'annotazione</a:t>
            </a:r>
            <a:r>
              <a:rPr lang="en-US" dirty="0"/>
              <a:t> </a:t>
            </a:r>
            <a:r>
              <a:rPr lang="en-US" dirty="0" err="1"/>
              <a:t>della</a:t>
            </a:r>
            <a:r>
              <a:rPr lang="en-US" dirty="0"/>
              <a:t> </a:t>
            </a:r>
            <a:r>
              <a:rPr lang="en-US" dirty="0" err="1"/>
              <a:t>associazione</a:t>
            </a:r>
            <a:r>
              <a:rPr lang="en-US" dirty="0"/>
              <a:t> </a:t>
            </a:r>
            <a:r>
              <a:rPr lang="en-US" dirty="0" err="1"/>
              <a:t>viene</a:t>
            </a:r>
            <a:r>
              <a:rPr lang="en-US" dirty="0"/>
              <a:t> </a:t>
            </a:r>
            <a:r>
              <a:rPr lang="en-US" dirty="0" err="1"/>
              <a:t>adornata</a:t>
            </a:r>
            <a:r>
              <a:rPr lang="en-US" dirty="0"/>
              <a:t> con </a:t>
            </a:r>
            <a:r>
              <a:rPr lang="en-US" dirty="0" err="1"/>
              <a:t>l'attributo</a:t>
            </a:r>
            <a:r>
              <a:rPr lang="en-US" dirty="0"/>
              <a:t> </a:t>
            </a:r>
            <a:r>
              <a:rPr lang="en-US" b="1" dirty="0"/>
              <a:t>fetch</a:t>
            </a:r>
            <a:br>
              <a:rPr lang="en-US" dirty="0"/>
            </a:br>
            <a:r>
              <a:rPr lang="en-US" dirty="0"/>
              <a:t>@</a:t>
            </a:r>
            <a:r>
              <a:rPr lang="en-US" dirty="0" err="1"/>
              <a:t>OneToOne</a:t>
            </a:r>
            <a:r>
              <a:rPr lang="en-US" dirty="0"/>
              <a:t>(</a:t>
            </a:r>
            <a:r>
              <a:rPr lang="en-US" dirty="0">
                <a:solidFill>
                  <a:srgbClr val="FF0000"/>
                </a:solidFill>
              </a:rPr>
              <a:t>fetch = </a:t>
            </a:r>
            <a:r>
              <a:rPr lang="en-US" dirty="0" err="1">
                <a:solidFill>
                  <a:srgbClr val="FF0000"/>
                </a:solidFill>
              </a:rPr>
              <a:t>FetchType.EAGER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@</a:t>
            </a:r>
            <a:r>
              <a:rPr lang="en-US" dirty="0" err="1"/>
              <a:t>ManyToMany</a:t>
            </a:r>
            <a:r>
              <a:rPr lang="en-US" dirty="0"/>
              <a:t>(</a:t>
            </a:r>
            <a:r>
              <a:rPr lang="en-US" dirty="0">
                <a:solidFill>
                  <a:srgbClr val="FF0000"/>
                </a:solidFill>
              </a:rPr>
              <a:t>fetch = </a:t>
            </a:r>
            <a:r>
              <a:rPr lang="en-US" dirty="0" err="1">
                <a:solidFill>
                  <a:srgbClr val="FF0000"/>
                </a:solidFill>
              </a:rPr>
              <a:t>FetchType.LAZY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95900955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Strategia</a:t>
            </a:r>
            <a:r>
              <a:rPr lang="en-US" dirty="0"/>
              <a:t> di </a:t>
            </a:r>
            <a:r>
              <a:rPr lang="en-US" i="1" dirty="0"/>
              <a:t>Fetch</a:t>
            </a:r>
            <a:endParaRPr lang="en-US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</a:t>
            </a:r>
            <a:r>
              <a:rPr lang="en-US" dirty="0" err="1"/>
              <a:t>generale</a:t>
            </a:r>
            <a:r>
              <a:rPr lang="en-US" dirty="0"/>
              <a:t> </a:t>
            </a:r>
            <a:r>
              <a:rPr lang="en-US" dirty="0" err="1"/>
              <a:t>conviene</a:t>
            </a:r>
            <a:r>
              <a:rPr lang="en-US" dirty="0"/>
              <a:t> </a:t>
            </a:r>
            <a:r>
              <a:rPr lang="en-US" dirty="0" err="1"/>
              <a:t>usare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valori</a:t>
            </a:r>
            <a:r>
              <a:rPr lang="en-US" dirty="0"/>
              <a:t> di default</a:t>
            </a:r>
          </a:p>
          <a:p>
            <a:pPr lvl="1"/>
            <a:r>
              <a:rPr lang="en-US" dirty="0"/>
              <a:t>ci </a:t>
            </a:r>
            <a:r>
              <a:rPr lang="en-US" dirty="0" err="1"/>
              <a:t>possono</a:t>
            </a:r>
            <a:r>
              <a:rPr lang="en-US" dirty="0"/>
              <a:t> </a:t>
            </a:r>
            <a:r>
              <a:rPr lang="en-US" dirty="0" err="1"/>
              <a:t>essere</a:t>
            </a:r>
            <a:r>
              <a:rPr lang="en-US" dirty="0"/>
              <a:t> significative </a:t>
            </a:r>
            <a:r>
              <a:rPr lang="en-US" dirty="0" err="1"/>
              <a:t>perdite</a:t>
            </a:r>
            <a:r>
              <a:rPr lang="en-US" dirty="0"/>
              <a:t> di </a:t>
            </a:r>
            <a:r>
              <a:rPr lang="en-US" dirty="0" err="1"/>
              <a:t>prestazioni</a:t>
            </a:r>
            <a:r>
              <a:rPr lang="en-US" dirty="0"/>
              <a:t> se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usa</a:t>
            </a:r>
            <a:r>
              <a:rPr lang="en-US" dirty="0"/>
              <a:t> in </a:t>
            </a:r>
            <a:r>
              <a:rPr lang="en-US" dirty="0" err="1"/>
              <a:t>maniera</a:t>
            </a:r>
            <a:r>
              <a:rPr lang="en-US" dirty="0"/>
              <a:t> </a:t>
            </a:r>
            <a:r>
              <a:rPr lang="en-US" dirty="0" err="1"/>
              <a:t>impropria</a:t>
            </a:r>
            <a:r>
              <a:rPr lang="en-US" dirty="0"/>
              <a:t> EAGER</a:t>
            </a:r>
          </a:p>
          <a:p>
            <a:r>
              <a:rPr lang="en-US" dirty="0" err="1"/>
              <a:t>Eventuali</a:t>
            </a:r>
            <a:r>
              <a:rPr lang="en-US" dirty="0"/>
              <a:t> </a:t>
            </a:r>
            <a:r>
              <a:rPr lang="en-US" dirty="0" err="1"/>
              <a:t>eccezioni</a:t>
            </a:r>
            <a:r>
              <a:rPr lang="en-US" dirty="0"/>
              <a:t> al default </a:t>
            </a:r>
            <a:r>
              <a:rPr lang="en-US" dirty="0" err="1"/>
              <a:t>devono</a:t>
            </a:r>
            <a:r>
              <a:rPr lang="en-US" dirty="0"/>
              <a:t> </a:t>
            </a:r>
            <a:r>
              <a:rPr lang="en-US" dirty="0" err="1"/>
              <a:t>essere</a:t>
            </a:r>
            <a:r>
              <a:rPr lang="en-US" dirty="0"/>
              <a:t> </a:t>
            </a:r>
            <a:r>
              <a:rPr lang="en-US" dirty="0" err="1"/>
              <a:t>giustificate</a:t>
            </a:r>
            <a:r>
              <a:rPr lang="en-US" dirty="0"/>
              <a:t> </a:t>
            </a:r>
            <a:r>
              <a:rPr lang="en-US" dirty="0" err="1"/>
              <a:t>dalle</a:t>
            </a:r>
            <a:r>
              <a:rPr lang="en-US" dirty="0"/>
              <a:t> </a:t>
            </a:r>
            <a:r>
              <a:rPr lang="en-US" dirty="0" err="1"/>
              <a:t>operazioni</a:t>
            </a:r>
            <a:r>
              <a:rPr lang="en-US" dirty="0"/>
              <a:t> </a:t>
            </a:r>
            <a:r>
              <a:rPr lang="en-US" dirty="0" err="1"/>
              <a:t>specificate</a:t>
            </a:r>
            <a:r>
              <a:rPr lang="en-US" dirty="0"/>
              <a:t> </a:t>
            </a:r>
            <a:r>
              <a:rPr lang="en-US" dirty="0" err="1"/>
              <a:t>nei</a:t>
            </a:r>
            <a:r>
              <a:rPr lang="en-US" dirty="0"/>
              <a:t> </a:t>
            </a:r>
            <a:r>
              <a:rPr lang="en-US" dirty="0" err="1"/>
              <a:t>casi</a:t>
            </a:r>
            <a:r>
              <a:rPr lang="en-US" dirty="0"/>
              <a:t> </a:t>
            </a:r>
            <a:r>
              <a:rPr lang="en-US" dirty="0" err="1"/>
              <a:t>d'uso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7511328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33F4BB8-D916-DF45-BC06-CD44DF0C7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Progettazione</a:t>
            </a:r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F1AD3E2-8EEC-C246-8AC6-A26E89BB54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Strategie</a:t>
            </a:r>
            <a:r>
              <a:rPr lang="en-US" dirty="0"/>
              <a:t> di Fetch </a:t>
            </a:r>
            <a:r>
              <a:rPr lang="en-US" dirty="0" err="1"/>
              <a:t>sono</a:t>
            </a:r>
            <a:r>
              <a:rPr lang="en-US" dirty="0"/>
              <a:t> </a:t>
            </a:r>
            <a:r>
              <a:rPr lang="en-US" dirty="0" err="1"/>
              <a:t>decisioni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vengono</a:t>
            </a:r>
            <a:r>
              <a:rPr lang="en-US" dirty="0"/>
              <a:t> prese in </a:t>
            </a:r>
            <a:r>
              <a:rPr lang="en-US" dirty="0" err="1"/>
              <a:t>fase</a:t>
            </a:r>
            <a:r>
              <a:rPr lang="en-US" dirty="0"/>
              <a:t> di </a:t>
            </a:r>
            <a:r>
              <a:rPr lang="en-US" dirty="0" err="1"/>
              <a:t>progettazione</a:t>
            </a:r>
            <a:endParaRPr lang="en-US" dirty="0"/>
          </a:p>
          <a:p>
            <a:r>
              <a:rPr lang="en-US" dirty="0"/>
              <a:t>Le </a:t>
            </a:r>
            <a:r>
              <a:rPr lang="en-US" dirty="0" err="1"/>
              <a:t>indichiamo</a:t>
            </a:r>
            <a:r>
              <a:rPr lang="en-US" dirty="0"/>
              <a:t> </a:t>
            </a:r>
            <a:r>
              <a:rPr lang="en-US" dirty="0" err="1"/>
              <a:t>nel</a:t>
            </a:r>
            <a:r>
              <a:rPr lang="en-US" dirty="0"/>
              <a:t> class diagram </a:t>
            </a:r>
            <a:r>
              <a:rPr lang="en-US" dirty="0" err="1"/>
              <a:t>attraverso</a:t>
            </a:r>
            <a:r>
              <a:rPr lang="en-US" dirty="0"/>
              <a:t> opportune </a:t>
            </a:r>
            <a:r>
              <a:rPr lang="en-US" dirty="0" err="1"/>
              <a:t>annotazioni</a:t>
            </a:r>
            <a:r>
              <a:rPr lang="en-US" dirty="0"/>
              <a:t> (</a:t>
            </a:r>
            <a:r>
              <a:rPr lang="en-US" dirty="0" err="1"/>
              <a:t>vedi</a:t>
            </a:r>
            <a:r>
              <a:rPr lang="en-US" dirty="0"/>
              <a:t> </a:t>
            </a:r>
            <a:r>
              <a:rPr lang="en-US" dirty="0" err="1"/>
              <a:t>esempio</a:t>
            </a:r>
            <a:r>
              <a:rPr lang="en-US" dirty="0"/>
              <a:t> </a:t>
            </a:r>
            <a:r>
              <a:rPr lang="en-US" dirty="0" err="1"/>
              <a:t>nella</a:t>
            </a:r>
            <a:r>
              <a:rPr lang="en-US" dirty="0"/>
              <a:t> slide </a:t>
            </a:r>
            <a:r>
              <a:rPr lang="en-US" dirty="0" err="1"/>
              <a:t>successiva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Se non </a:t>
            </a:r>
            <a:r>
              <a:rPr lang="en-US" dirty="0" err="1"/>
              <a:t>viene</a:t>
            </a:r>
            <a:r>
              <a:rPr lang="en-US" dirty="0"/>
              <a:t> </a:t>
            </a:r>
            <a:r>
              <a:rPr lang="en-US" dirty="0" err="1"/>
              <a:t>specificato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vale </a:t>
            </a:r>
            <a:r>
              <a:rPr lang="en-US" dirty="0" err="1"/>
              <a:t>il</a:t>
            </a:r>
            <a:r>
              <a:rPr lang="en-US" dirty="0"/>
              <a:t> default</a:t>
            </a:r>
          </a:p>
        </p:txBody>
      </p:sp>
    </p:spTree>
    <p:extLst>
      <p:ext uri="{BB962C8B-B14F-4D97-AF65-F5344CB8AC3E}">
        <p14:creationId xmlns:p14="http://schemas.microsoft.com/office/powerpoint/2010/main" val="1091385710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Esempio</a:t>
            </a:r>
            <a:endParaRPr lang="en-US" dirty="0"/>
          </a:p>
        </p:txBody>
      </p:sp>
      <p:graphicFrame>
        <p:nvGraphicFramePr>
          <p:cNvPr id="5" name="Segnaposto contenuto 5"/>
          <p:cNvGraphicFramePr>
            <a:graphicFrameLocks/>
          </p:cNvGraphicFramePr>
          <p:nvPr/>
        </p:nvGraphicFramePr>
        <p:xfrm>
          <a:off x="3952875" y="1149862"/>
          <a:ext cx="1164968" cy="9014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49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5151">
                <a:tc>
                  <a:txBody>
                    <a:bodyPr/>
                    <a:lstStyle/>
                    <a:p>
                      <a:pPr algn="ctr"/>
                      <a:r>
                        <a:rPr lang="it-IT" sz="1400" b="0" i="0" dirty="0">
                          <a:latin typeface="Calibri Light" panose="020F0302020204030204" pitchFamily="34" charset="0"/>
                        </a:rPr>
                        <a:t>Product</a:t>
                      </a:r>
                      <a:endParaRPr lang="it-IT" sz="8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lang="it-IT" sz="800" b="0" i="0" dirty="0">
                          <a:latin typeface="Calibri Light" panose="020F0302020204030204" pitchFamily="34" charset="0"/>
                        </a:rPr>
                        <a:t>-id: Long</a:t>
                      </a:r>
                    </a:p>
                    <a:p>
                      <a:r>
                        <a:rPr lang="it-IT" sz="800" dirty="0"/>
                        <a:t>-name:</a:t>
                      </a:r>
                      <a:r>
                        <a:rPr lang="it-IT" sz="800" baseline="0" dirty="0"/>
                        <a:t> </a:t>
                      </a:r>
                      <a:r>
                        <a:rPr lang="it-IT" sz="800" baseline="0" dirty="0" err="1"/>
                        <a:t>String</a:t>
                      </a:r>
                      <a:endParaRPr lang="it-IT" sz="800" baseline="0" dirty="0"/>
                    </a:p>
                    <a:p>
                      <a:r>
                        <a:rPr lang="it-IT" sz="800" baseline="0" dirty="0"/>
                        <a:t>-</a:t>
                      </a:r>
                      <a:r>
                        <a:rPr lang="it-IT" sz="800" baseline="0" dirty="0" err="1"/>
                        <a:t>description</a:t>
                      </a:r>
                      <a:r>
                        <a:rPr lang="it-IT" sz="800" baseline="0" dirty="0"/>
                        <a:t>: </a:t>
                      </a:r>
                      <a:r>
                        <a:rPr lang="it-IT" sz="800" baseline="0" dirty="0" err="1"/>
                        <a:t>String</a:t>
                      </a:r>
                      <a:endParaRPr lang="it-IT" sz="800" baseline="0" dirty="0"/>
                    </a:p>
                    <a:p>
                      <a:r>
                        <a:rPr lang="it-IT" sz="800" baseline="0" dirty="0"/>
                        <a:t>-price: Float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Segnaposto contenuto 5"/>
          <p:cNvGraphicFramePr>
            <a:graphicFrameLocks/>
          </p:cNvGraphicFramePr>
          <p:nvPr/>
        </p:nvGraphicFramePr>
        <p:xfrm>
          <a:off x="6268403" y="1083187"/>
          <a:ext cx="1511789" cy="10233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17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5151">
                <a:tc>
                  <a:txBody>
                    <a:bodyPr/>
                    <a:lstStyle/>
                    <a:p>
                      <a:pPr algn="ctr"/>
                      <a:r>
                        <a:rPr lang="it-IT" sz="1400" b="0" i="0" dirty="0">
                          <a:latin typeface="Calibri Light" panose="020F0302020204030204" pitchFamily="34" charset="0"/>
                        </a:rPr>
                        <a:t>Provider</a:t>
                      </a:r>
                      <a:endParaRPr lang="it-IT" sz="8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8655">
                <a:tc>
                  <a:txBody>
                    <a:bodyPr/>
                    <a:lstStyle/>
                    <a:p>
                      <a:r>
                        <a:rPr lang="it-IT" sz="800" b="0" i="0" dirty="0">
                          <a:latin typeface="Calibri Light" panose="020F0302020204030204" pitchFamily="34" charset="0"/>
                        </a:rPr>
                        <a:t>-id: Long</a:t>
                      </a:r>
                    </a:p>
                    <a:p>
                      <a:r>
                        <a:rPr lang="it-IT" sz="800" dirty="0"/>
                        <a:t>-name: </a:t>
                      </a:r>
                      <a:r>
                        <a:rPr lang="it-IT" sz="800" dirty="0" err="1"/>
                        <a:t>String</a:t>
                      </a:r>
                      <a:endParaRPr lang="it-IT" sz="800" dirty="0"/>
                    </a:p>
                    <a:p>
                      <a:r>
                        <a:rPr lang="it-IT" sz="800" dirty="0"/>
                        <a:t>-</a:t>
                      </a:r>
                      <a:r>
                        <a:rPr lang="it-IT" sz="800" dirty="0" err="1"/>
                        <a:t>phoneNumber</a:t>
                      </a:r>
                      <a:r>
                        <a:rPr lang="it-IT" sz="800" dirty="0"/>
                        <a:t>: </a:t>
                      </a:r>
                      <a:r>
                        <a:rPr lang="it-IT" sz="800" dirty="0" err="1"/>
                        <a:t>String</a:t>
                      </a:r>
                      <a:endParaRPr lang="it-IT" sz="800" dirty="0"/>
                    </a:p>
                    <a:p>
                      <a:r>
                        <a:rPr lang="it-IT" sz="800" dirty="0"/>
                        <a:t>-email: </a:t>
                      </a:r>
                      <a:r>
                        <a:rPr lang="it-IT" sz="800" dirty="0" err="1"/>
                        <a:t>String</a:t>
                      </a:r>
                      <a:endParaRPr lang="it-IT" sz="800" dirty="0"/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aseline="0" dirty="0"/>
                        <a:t>-</a:t>
                      </a:r>
                      <a:r>
                        <a:rPr lang="it-IT" sz="800" baseline="0" dirty="0" err="1"/>
                        <a:t>vatin</a:t>
                      </a:r>
                      <a:r>
                        <a:rPr lang="it-IT" sz="800" baseline="0" dirty="0"/>
                        <a:t>: </a:t>
                      </a:r>
                      <a:r>
                        <a:rPr lang="it-IT" sz="800" baseline="0" dirty="0" err="1"/>
                        <a:t>String</a:t>
                      </a:r>
                      <a:endParaRPr lang="it-IT" sz="800" baseline="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7" name="Connettore 2 6"/>
          <p:cNvCxnSpPr>
            <a:stCxn id="5" idx="3"/>
            <a:endCxn id="6" idx="1"/>
          </p:cNvCxnSpPr>
          <p:nvPr/>
        </p:nvCxnSpPr>
        <p:spPr>
          <a:xfrm flipV="1">
            <a:off x="5117843" y="1594852"/>
            <a:ext cx="1150560" cy="5715"/>
          </a:xfrm>
          <a:prstGeom prst="straightConnector1">
            <a:avLst/>
          </a:prstGeom>
          <a:ln w="12700" cmpd="sng">
            <a:solidFill>
              <a:srgbClr val="000000"/>
            </a:solidFill>
            <a:prstDash val="solid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asellaDiTesto 7"/>
          <p:cNvSpPr txBox="1"/>
          <p:nvPr/>
        </p:nvSpPr>
        <p:spPr>
          <a:xfrm>
            <a:off x="5846617" y="1263322"/>
            <a:ext cx="44595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350" dirty="0">
                <a:latin typeface="Calibri Light" panose="020F0302020204030204" pitchFamily="34" charset="0"/>
              </a:rPr>
              <a:t>1..*</a:t>
            </a:r>
          </a:p>
        </p:txBody>
      </p:sp>
      <p:sp>
        <p:nvSpPr>
          <p:cNvPr id="9" name="CasellaDiTesto 8"/>
          <p:cNvSpPr txBox="1"/>
          <p:nvPr/>
        </p:nvSpPr>
        <p:spPr>
          <a:xfrm>
            <a:off x="5165294" y="1260469"/>
            <a:ext cx="44595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350" dirty="0">
                <a:latin typeface="Calibri Light" panose="020F0302020204030204" pitchFamily="34" charset="0"/>
              </a:rPr>
              <a:t>0..*</a:t>
            </a:r>
          </a:p>
        </p:txBody>
      </p:sp>
      <p:graphicFrame>
        <p:nvGraphicFramePr>
          <p:cNvPr id="10" name="Segnaposto contenuto 5"/>
          <p:cNvGraphicFramePr>
            <a:graphicFrameLocks/>
          </p:cNvGraphicFramePr>
          <p:nvPr/>
        </p:nvGraphicFramePr>
        <p:xfrm>
          <a:off x="1504777" y="2470094"/>
          <a:ext cx="1164968" cy="6575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49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5151">
                <a:tc>
                  <a:txBody>
                    <a:bodyPr/>
                    <a:lstStyle/>
                    <a:p>
                      <a:pPr algn="ctr"/>
                      <a:r>
                        <a:rPr lang="it-IT" sz="1400" b="0" i="0" dirty="0">
                          <a:latin typeface="Calibri Light" panose="020F0302020204030204" pitchFamily="34" charset="0"/>
                        </a:rPr>
                        <a:t>Order</a:t>
                      </a:r>
                      <a:endParaRPr lang="it-IT" sz="8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r>
                        <a:rPr lang="it-IT" sz="800" b="0" i="0" dirty="0">
                          <a:latin typeface="Calibri Light" panose="020F0302020204030204" pitchFamily="34" charset="0"/>
                        </a:rPr>
                        <a:t>-id: Long</a:t>
                      </a:r>
                    </a:p>
                    <a:p>
                      <a:r>
                        <a:rPr lang="it-IT" sz="800" dirty="0"/>
                        <a:t>-</a:t>
                      </a:r>
                      <a:r>
                        <a:rPr lang="it-IT" sz="800" dirty="0" err="1"/>
                        <a:t>creationTime</a:t>
                      </a:r>
                      <a:r>
                        <a:rPr lang="it-IT" sz="800" dirty="0"/>
                        <a:t>:</a:t>
                      </a:r>
                      <a:r>
                        <a:rPr lang="it-IT" sz="800" baseline="0" dirty="0"/>
                        <a:t> Date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" name="Segnaposto contenuto 5"/>
          <p:cNvGraphicFramePr>
            <a:graphicFrameLocks/>
          </p:cNvGraphicFramePr>
          <p:nvPr/>
        </p:nvGraphicFramePr>
        <p:xfrm>
          <a:off x="3782205" y="2412944"/>
          <a:ext cx="1511789" cy="779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17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5151">
                <a:tc>
                  <a:txBody>
                    <a:bodyPr/>
                    <a:lstStyle/>
                    <a:p>
                      <a:pPr algn="ctr"/>
                      <a:r>
                        <a:rPr lang="it-IT" sz="1400" b="0" i="0" dirty="0" err="1">
                          <a:latin typeface="Calibri Light" panose="020F0302020204030204" pitchFamily="34" charset="0"/>
                        </a:rPr>
                        <a:t>OrderLine</a:t>
                      </a:r>
                      <a:endParaRPr lang="it-IT" sz="8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lang="it-IT" sz="800" b="0" i="0" dirty="0">
                          <a:latin typeface="Calibri Light" panose="020F0302020204030204" pitchFamily="34" charset="0"/>
                        </a:rPr>
                        <a:t>-id: Long</a:t>
                      </a:r>
                    </a:p>
                    <a:p>
                      <a:r>
                        <a:rPr lang="it-IT" sz="800" dirty="0"/>
                        <a:t>-</a:t>
                      </a:r>
                      <a:r>
                        <a:rPr lang="it-IT" sz="800" dirty="0" err="1"/>
                        <a:t>unitPrice</a:t>
                      </a:r>
                      <a:r>
                        <a:rPr lang="it-IT" sz="800" dirty="0"/>
                        <a:t>: Float</a:t>
                      </a:r>
                    </a:p>
                    <a:p>
                      <a:r>
                        <a:rPr lang="it-IT" sz="800" dirty="0"/>
                        <a:t>-</a:t>
                      </a:r>
                      <a:r>
                        <a:rPr lang="it-IT" sz="800" dirty="0" err="1"/>
                        <a:t>quantity</a:t>
                      </a:r>
                      <a:r>
                        <a:rPr lang="it-IT" sz="800" dirty="0"/>
                        <a:t>: </a:t>
                      </a:r>
                      <a:r>
                        <a:rPr lang="it-IT" sz="800" dirty="0" err="1"/>
                        <a:t>Integer</a:t>
                      </a:r>
                      <a:endParaRPr lang="it-IT" sz="8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2" name="Connettore 2 11"/>
          <p:cNvCxnSpPr>
            <a:stCxn id="10" idx="3"/>
            <a:endCxn id="11" idx="1"/>
          </p:cNvCxnSpPr>
          <p:nvPr/>
        </p:nvCxnSpPr>
        <p:spPr>
          <a:xfrm>
            <a:off x="2669745" y="2798879"/>
            <a:ext cx="1112460" cy="3810"/>
          </a:xfrm>
          <a:prstGeom prst="straightConnector1">
            <a:avLst/>
          </a:prstGeom>
          <a:ln w="12700" cmpd="sng">
            <a:solidFill>
              <a:srgbClr val="000000"/>
            </a:solidFill>
            <a:prstDash val="solid"/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/>
          <p:cNvSpPr txBox="1"/>
          <p:nvPr/>
        </p:nvSpPr>
        <p:spPr>
          <a:xfrm>
            <a:off x="3350894" y="2554978"/>
            <a:ext cx="44595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350" dirty="0">
                <a:latin typeface="Calibri Light" panose="020F0302020204030204" pitchFamily="34" charset="0"/>
              </a:rPr>
              <a:t>0..*</a:t>
            </a:r>
          </a:p>
        </p:txBody>
      </p:sp>
      <p:cxnSp>
        <p:nvCxnSpPr>
          <p:cNvPr id="14" name="Connettore 2 13"/>
          <p:cNvCxnSpPr>
            <a:stCxn id="11" idx="0"/>
            <a:endCxn id="5" idx="2"/>
          </p:cNvCxnSpPr>
          <p:nvPr/>
        </p:nvCxnSpPr>
        <p:spPr>
          <a:xfrm flipH="1" flipV="1">
            <a:off x="4535359" y="2051273"/>
            <a:ext cx="2740" cy="361671"/>
          </a:xfrm>
          <a:prstGeom prst="straightConnector1">
            <a:avLst/>
          </a:prstGeom>
          <a:ln w="12700" cmpd="sng">
            <a:solidFill>
              <a:srgbClr val="000000"/>
            </a:solidFill>
            <a:prstDash val="solid"/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Segnaposto contenuto 5"/>
          <p:cNvGraphicFramePr>
            <a:graphicFrameLocks/>
          </p:cNvGraphicFramePr>
          <p:nvPr/>
        </p:nvGraphicFramePr>
        <p:xfrm>
          <a:off x="1504777" y="3748695"/>
          <a:ext cx="1164968" cy="12671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49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5151">
                <a:tc>
                  <a:txBody>
                    <a:bodyPr/>
                    <a:lstStyle/>
                    <a:p>
                      <a:pPr algn="ctr"/>
                      <a:r>
                        <a:rPr lang="it-IT" sz="1400" b="0" i="0" dirty="0">
                          <a:latin typeface="Calibri Light" panose="020F0302020204030204" pitchFamily="34" charset="0"/>
                        </a:rPr>
                        <a:t>Customer</a:t>
                      </a:r>
                      <a:endParaRPr lang="it-IT" sz="8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8685">
                <a:tc>
                  <a:txBody>
                    <a:bodyPr/>
                    <a:lstStyle/>
                    <a:p>
                      <a:r>
                        <a:rPr lang="it-IT" sz="800" b="0" i="0" dirty="0">
                          <a:latin typeface="Calibri Light" panose="020F0302020204030204" pitchFamily="34" charset="0"/>
                        </a:rPr>
                        <a:t>-id: Long</a:t>
                      </a:r>
                    </a:p>
                    <a:p>
                      <a:r>
                        <a:rPr lang="it-IT" sz="800" dirty="0"/>
                        <a:t>-</a:t>
                      </a:r>
                      <a:r>
                        <a:rPr lang="it-IT" sz="800" dirty="0" err="1"/>
                        <a:t>firstName</a:t>
                      </a:r>
                      <a:r>
                        <a:rPr lang="it-IT" sz="800" dirty="0"/>
                        <a:t>:</a:t>
                      </a:r>
                      <a:r>
                        <a:rPr lang="it-IT" sz="800" baseline="0" dirty="0"/>
                        <a:t> </a:t>
                      </a:r>
                      <a:r>
                        <a:rPr lang="it-IT" sz="800" baseline="0" dirty="0" err="1"/>
                        <a:t>String</a:t>
                      </a:r>
                      <a:endParaRPr lang="it-IT" sz="800" baseline="0" dirty="0"/>
                    </a:p>
                    <a:p>
                      <a:r>
                        <a:rPr lang="it-IT" sz="800" baseline="0" dirty="0"/>
                        <a:t>-</a:t>
                      </a:r>
                      <a:r>
                        <a:rPr lang="it-IT" sz="800" baseline="0" dirty="0" err="1"/>
                        <a:t>lastName</a:t>
                      </a:r>
                      <a:r>
                        <a:rPr lang="it-IT" sz="800" baseline="0" dirty="0"/>
                        <a:t>: </a:t>
                      </a:r>
                      <a:r>
                        <a:rPr lang="it-IT" sz="800" baseline="0" dirty="0" err="1"/>
                        <a:t>String</a:t>
                      </a:r>
                      <a:endParaRPr lang="it-IT" sz="800" baseline="0" dirty="0"/>
                    </a:p>
                    <a:p>
                      <a:r>
                        <a:rPr lang="it-IT" sz="800" baseline="0" dirty="0"/>
                        <a:t>-email: </a:t>
                      </a:r>
                      <a:r>
                        <a:rPr lang="it-IT" sz="800" baseline="0" dirty="0" err="1"/>
                        <a:t>String</a:t>
                      </a:r>
                      <a:endParaRPr lang="it-IT" sz="800" baseline="0" dirty="0"/>
                    </a:p>
                    <a:p>
                      <a:r>
                        <a:rPr lang="it-IT" sz="800" baseline="0" dirty="0"/>
                        <a:t>-</a:t>
                      </a:r>
                      <a:r>
                        <a:rPr lang="it-IT" sz="800" baseline="0" dirty="0" err="1"/>
                        <a:t>phoneNumber</a:t>
                      </a:r>
                      <a:r>
                        <a:rPr lang="it-IT" sz="800" baseline="0" dirty="0"/>
                        <a:t>: </a:t>
                      </a:r>
                      <a:r>
                        <a:rPr lang="it-IT" sz="800" baseline="0" dirty="0" err="1"/>
                        <a:t>String</a:t>
                      </a:r>
                      <a:endParaRPr lang="it-IT" sz="800" baseline="0" dirty="0"/>
                    </a:p>
                    <a:p>
                      <a:r>
                        <a:rPr lang="it-IT" sz="800" baseline="0" dirty="0"/>
                        <a:t>-</a:t>
                      </a:r>
                      <a:r>
                        <a:rPr lang="it-IT" sz="800" baseline="0" dirty="0" err="1"/>
                        <a:t>dateOfBirth</a:t>
                      </a:r>
                      <a:r>
                        <a:rPr lang="it-IT" sz="800" baseline="0" dirty="0"/>
                        <a:t>: Date</a:t>
                      </a:r>
                    </a:p>
                    <a:p>
                      <a:endParaRPr lang="it-IT" sz="800" baseline="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8" name="Segnaposto contenuto 5"/>
          <p:cNvGraphicFramePr>
            <a:graphicFrameLocks/>
          </p:cNvGraphicFramePr>
          <p:nvPr/>
        </p:nvGraphicFramePr>
        <p:xfrm>
          <a:off x="6270136" y="3809654"/>
          <a:ext cx="1511789" cy="11452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17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5151">
                <a:tc>
                  <a:txBody>
                    <a:bodyPr/>
                    <a:lstStyle/>
                    <a:p>
                      <a:pPr algn="ctr"/>
                      <a:r>
                        <a:rPr lang="it-IT" sz="1400" b="0" i="0" dirty="0" err="1">
                          <a:latin typeface="Calibri Light" panose="020F0302020204030204" pitchFamily="34" charset="0"/>
                        </a:rPr>
                        <a:t>Address</a:t>
                      </a:r>
                      <a:endParaRPr lang="it-IT" sz="8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8670">
                <a:tc>
                  <a:txBody>
                    <a:bodyPr/>
                    <a:lstStyle/>
                    <a:p>
                      <a:r>
                        <a:rPr lang="it-IT" sz="800" b="0" i="0" dirty="0">
                          <a:latin typeface="Calibri Light" panose="020F0302020204030204" pitchFamily="34" charset="0"/>
                        </a:rPr>
                        <a:t>-id: Long</a:t>
                      </a:r>
                    </a:p>
                    <a:p>
                      <a:r>
                        <a:rPr lang="it-IT" sz="800" dirty="0"/>
                        <a:t>-street: </a:t>
                      </a:r>
                      <a:r>
                        <a:rPr lang="it-IT" sz="800" dirty="0" err="1"/>
                        <a:t>String</a:t>
                      </a:r>
                      <a:endParaRPr lang="it-IT" sz="800" dirty="0"/>
                    </a:p>
                    <a:p>
                      <a:r>
                        <a:rPr lang="it-IT" sz="800" dirty="0"/>
                        <a:t>-city: </a:t>
                      </a:r>
                      <a:r>
                        <a:rPr lang="it-IT" sz="800" dirty="0" err="1"/>
                        <a:t>String</a:t>
                      </a:r>
                      <a:endParaRPr lang="it-IT" sz="800" dirty="0"/>
                    </a:p>
                    <a:p>
                      <a:r>
                        <a:rPr lang="it-IT" sz="800" dirty="0"/>
                        <a:t>-state:</a:t>
                      </a:r>
                      <a:r>
                        <a:rPr lang="it-IT" sz="800" baseline="0" dirty="0"/>
                        <a:t> </a:t>
                      </a:r>
                      <a:r>
                        <a:rPr lang="it-IT" sz="800" baseline="0" dirty="0" err="1"/>
                        <a:t>String</a:t>
                      </a:r>
                      <a:endParaRPr lang="it-IT" sz="800" baseline="0" dirty="0"/>
                    </a:p>
                    <a:p>
                      <a:r>
                        <a:rPr lang="it-IT" sz="800" baseline="0" dirty="0"/>
                        <a:t>-</a:t>
                      </a:r>
                      <a:r>
                        <a:rPr lang="it-IT" sz="800" baseline="0" dirty="0" err="1"/>
                        <a:t>zipcode</a:t>
                      </a:r>
                      <a:r>
                        <a:rPr lang="it-IT" sz="800" baseline="0" dirty="0"/>
                        <a:t>: </a:t>
                      </a:r>
                      <a:r>
                        <a:rPr lang="it-IT" sz="800" baseline="0" dirty="0" err="1"/>
                        <a:t>String</a:t>
                      </a:r>
                      <a:endParaRPr lang="it-IT" sz="800" baseline="0" dirty="0"/>
                    </a:p>
                    <a:p>
                      <a:r>
                        <a:rPr lang="it-IT" sz="800" baseline="0" dirty="0"/>
                        <a:t>-country: </a:t>
                      </a:r>
                      <a:r>
                        <a:rPr lang="it-IT" sz="800" baseline="0" dirty="0" err="1"/>
                        <a:t>String</a:t>
                      </a:r>
                      <a:endParaRPr lang="it-IT" sz="8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9" name="Connettore 2 18"/>
          <p:cNvCxnSpPr>
            <a:stCxn id="17" idx="3"/>
            <a:endCxn id="18" idx="1"/>
          </p:cNvCxnSpPr>
          <p:nvPr/>
        </p:nvCxnSpPr>
        <p:spPr>
          <a:xfrm flipV="1">
            <a:off x="2669745" y="4382279"/>
            <a:ext cx="3600391" cy="1"/>
          </a:xfrm>
          <a:prstGeom prst="straightConnector1">
            <a:avLst/>
          </a:prstGeom>
          <a:ln w="12700" cmpd="sng">
            <a:solidFill>
              <a:srgbClr val="000000"/>
            </a:solidFill>
            <a:prstDash val="solid"/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ttore 2 19"/>
          <p:cNvCxnSpPr>
            <a:stCxn id="17" idx="0"/>
            <a:endCxn id="10" idx="2"/>
          </p:cNvCxnSpPr>
          <p:nvPr/>
        </p:nvCxnSpPr>
        <p:spPr>
          <a:xfrm flipV="1">
            <a:off x="2087261" y="3127665"/>
            <a:ext cx="0" cy="621030"/>
          </a:xfrm>
          <a:prstGeom prst="straightConnector1">
            <a:avLst/>
          </a:prstGeom>
          <a:ln w="12700" cmpd="sng">
            <a:solidFill>
              <a:srgbClr val="000000"/>
            </a:solidFill>
            <a:prstDash val="solid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asellaDiTesto 22"/>
          <p:cNvSpPr txBox="1"/>
          <p:nvPr/>
        </p:nvSpPr>
        <p:spPr>
          <a:xfrm>
            <a:off x="2087260" y="3144815"/>
            <a:ext cx="44595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350" dirty="0">
                <a:latin typeface="Calibri Light" panose="020F0302020204030204" pitchFamily="34" charset="0"/>
              </a:rPr>
              <a:t>0..*</a:t>
            </a:r>
          </a:p>
        </p:txBody>
      </p:sp>
      <p:cxnSp>
        <p:nvCxnSpPr>
          <p:cNvPr id="25" name="Connettore 2 24"/>
          <p:cNvCxnSpPr>
            <a:stCxn id="6" idx="2"/>
            <a:endCxn id="18" idx="0"/>
          </p:cNvCxnSpPr>
          <p:nvPr/>
        </p:nvCxnSpPr>
        <p:spPr>
          <a:xfrm>
            <a:off x="7024297" y="2106518"/>
            <a:ext cx="1733" cy="1703136"/>
          </a:xfrm>
          <a:prstGeom prst="straightConnector1">
            <a:avLst/>
          </a:prstGeom>
          <a:ln w="12700" cmpd="sng">
            <a:solidFill>
              <a:srgbClr val="000000"/>
            </a:solidFill>
            <a:prstDash val="solid"/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asellaDiTesto 20"/>
          <p:cNvSpPr txBox="1"/>
          <p:nvPr/>
        </p:nvSpPr>
        <p:spPr>
          <a:xfrm>
            <a:off x="4538099" y="2171602"/>
            <a:ext cx="44595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350" dirty="0">
                <a:latin typeface="Calibri Light" panose="020F0302020204030204" pitchFamily="34" charset="0"/>
              </a:rPr>
              <a:t>0..*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45AB94B8-55A9-5547-9375-6CECE59D8A38}"/>
              </a:ext>
            </a:extLst>
          </p:cNvPr>
          <p:cNvSpPr txBox="1"/>
          <p:nvPr/>
        </p:nvSpPr>
        <p:spPr>
          <a:xfrm>
            <a:off x="2713855" y="2814823"/>
            <a:ext cx="113460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accent3">
                    <a:lumMod val="50000"/>
                  </a:schemeClr>
                </a:solidFill>
                <a:latin typeface="Calibri Light" panose="020F0302020204030204" pitchFamily="34" charset="0"/>
              </a:rPr>
              <a:t>Fetch: EAGER</a:t>
            </a:r>
          </a:p>
        </p:txBody>
      </p:sp>
    </p:spTree>
    <p:extLst>
      <p:ext uri="{BB962C8B-B14F-4D97-AF65-F5344CB8AC3E}">
        <p14:creationId xmlns:p14="http://schemas.microsoft.com/office/powerpoint/2010/main" val="3521070049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Mettiamo</a:t>
            </a:r>
            <a:r>
              <a:rPr lang="en-US"/>
              <a:t> </a:t>
            </a:r>
            <a:r>
              <a:rPr lang="en-US" err="1"/>
              <a:t>tutto</a:t>
            </a:r>
            <a:r>
              <a:rPr lang="en-US"/>
              <a:t> in </a:t>
            </a:r>
            <a:r>
              <a:rPr lang="en-US" err="1"/>
              <a:t>pratica</a:t>
            </a:r>
            <a:endParaRPr lang="en-US"/>
          </a:p>
        </p:txBody>
      </p:sp>
      <p:pic>
        <p:nvPicPr>
          <p:cNvPr id="4" name="Segnaposto contenuto 3"/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" b="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5365378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FC05AF3-1946-5B46-8BD0-5876ED0B7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Esercizio</a:t>
            </a:r>
            <a:r>
              <a:rPr lang="en-US" dirty="0"/>
              <a:t> 5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4D75DBA-7600-A940-91F5-35AB703C2158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/>
          <a:lstStyle/>
          <a:p>
            <a:r>
              <a:rPr lang="en-US" dirty="0" err="1"/>
              <a:t>Modificare</a:t>
            </a:r>
            <a:r>
              <a:rPr lang="en-US" dirty="0"/>
              <a:t> le </a:t>
            </a:r>
            <a:r>
              <a:rPr lang="en-US" dirty="0" err="1"/>
              <a:t>classi</a:t>
            </a:r>
            <a:r>
              <a:rPr lang="en-US" dirty="0"/>
              <a:t> </a:t>
            </a:r>
            <a:r>
              <a:rPr lang="en-US" dirty="0" err="1"/>
              <a:t>dell'Esercizio</a:t>
            </a:r>
            <a:r>
              <a:rPr lang="en-US" dirty="0"/>
              <a:t> 2 </a:t>
            </a:r>
            <a:r>
              <a:rPr lang="en-US" dirty="0" err="1"/>
              <a:t>affinchè</a:t>
            </a:r>
            <a:r>
              <a:rPr lang="en-US" dirty="0"/>
              <a:t> </a:t>
            </a:r>
            <a:r>
              <a:rPr lang="en-US" dirty="0" err="1"/>
              <a:t>siano</a:t>
            </a:r>
            <a:r>
              <a:rPr lang="en-US" dirty="0"/>
              <a:t> </a:t>
            </a:r>
            <a:r>
              <a:rPr lang="en-US" dirty="0" err="1"/>
              <a:t>rispettate</a:t>
            </a:r>
            <a:r>
              <a:rPr lang="en-US" dirty="0"/>
              <a:t> le </a:t>
            </a:r>
            <a:r>
              <a:rPr lang="en-US" dirty="0" err="1"/>
              <a:t>strategie</a:t>
            </a:r>
            <a:r>
              <a:rPr lang="en-US" dirty="0"/>
              <a:t> di fetch</a:t>
            </a:r>
          </a:p>
        </p:txBody>
      </p:sp>
    </p:spTree>
    <p:extLst>
      <p:ext uri="{BB962C8B-B14F-4D97-AF65-F5344CB8AC3E}">
        <p14:creationId xmlns:p14="http://schemas.microsoft.com/office/powerpoint/2010/main" val="2226726535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Mapping </a:t>
            </a:r>
            <a:r>
              <a:rPr lang="en-US" err="1"/>
              <a:t>Classi</a:t>
            </a:r>
            <a:r>
              <a:rPr lang="en-US"/>
              <a:t> </a:t>
            </a:r>
            <a:r>
              <a:rPr lang="en-US" err="1"/>
              <a:t>Estese</a:t>
            </a:r>
            <a:r>
              <a:rPr lang="en-US"/>
              <a:t> (</a:t>
            </a:r>
            <a:r>
              <a:rPr lang="en-US" err="1"/>
              <a:t>cenni</a:t>
            </a:r>
            <a:r>
              <a:rPr lang="en-US"/>
              <a:t>)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Diverse </a:t>
            </a:r>
            <a:r>
              <a:rPr lang="en-US" err="1"/>
              <a:t>Strategie</a:t>
            </a:r>
            <a:r>
              <a:rPr lang="en-US"/>
              <a:t>:</a:t>
            </a:r>
          </a:p>
          <a:p>
            <a:pPr lvl="1"/>
            <a:r>
              <a:rPr lang="en-US"/>
              <a:t>Single Table Strategy</a:t>
            </a:r>
          </a:p>
          <a:p>
            <a:pPr lvl="1"/>
            <a:r>
              <a:rPr lang="en-US"/>
              <a:t>Joined Strategy</a:t>
            </a:r>
          </a:p>
          <a:p>
            <a:pPr lvl="1"/>
            <a:r>
              <a:rPr lang="en-US"/>
              <a:t>Table-per-Class Strategy</a:t>
            </a:r>
          </a:p>
          <a:p>
            <a:r>
              <a:rPr lang="en-US" err="1"/>
              <a:t>Principi</a:t>
            </a:r>
            <a:r>
              <a:rPr lang="en-US"/>
              <a:t> </a:t>
            </a:r>
            <a:r>
              <a:rPr lang="en-US" err="1"/>
              <a:t>simili</a:t>
            </a:r>
            <a:r>
              <a:rPr lang="en-US"/>
              <a:t> a </a:t>
            </a:r>
            <a:r>
              <a:rPr lang="en-US" err="1"/>
              <a:t>quelli</a:t>
            </a:r>
            <a:r>
              <a:rPr lang="en-US"/>
              <a:t> </a:t>
            </a:r>
            <a:r>
              <a:rPr lang="en-US" err="1"/>
              <a:t>visti</a:t>
            </a:r>
            <a:r>
              <a:rPr lang="en-US"/>
              <a:t> </a:t>
            </a:r>
            <a:r>
              <a:rPr lang="en-US" err="1"/>
              <a:t>nel</a:t>
            </a:r>
            <a:r>
              <a:rPr lang="en-US"/>
              <a:t> </a:t>
            </a:r>
            <a:r>
              <a:rPr lang="en-US" err="1"/>
              <a:t>corso</a:t>
            </a:r>
            <a:r>
              <a:rPr lang="en-US"/>
              <a:t> di </a:t>
            </a:r>
            <a:r>
              <a:rPr lang="en-US" err="1"/>
              <a:t>Basi</a:t>
            </a:r>
            <a:r>
              <a:rPr lang="en-US"/>
              <a:t> di </a:t>
            </a:r>
            <a:r>
              <a:rPr lang="en-US" err="1"/>
              <a:t>dati</a:t>
            </a:r>
            <a:r>
              <a:rPr lang="en-US"/>
              <a:t> per la </a:t>
            </a:r>
            <a:r>
              <a:rPr lang="en-US" err="1"/>
              <a:t>traduzione</a:t>
            </a:r>
            <a:r>
              <a:rPr lang="en-US"/>
              <a:t> </a:t>
            </a:r>
            <a:r>
              <a:rPr lang="en-US" err="1"/>
              <a:t>delle</a:t>
            </a:r>
            <a:r>
              <a:rPr lang="en-US"/>
              <a:t> </a:t>
            </a:r>
            <a:r>
              <a:rPr lang="en-US" err="1"/>
              <a:t>gerarchie</a:t>
            </a:r>
            <a:r>
              <a:rPr lang="en-US"/>
              <a:t> da ER a </a:t>
            </a:r>
            <a:r>
              <a:rPr lang="en-US" err="1"/>
              <a:t>relazionale</a:t>
            </a:r>
            <a:endParaRPr lang="en-US"/>
          </a:p>
          <a:p>
            <a:r>
              <a:rPr lang="en-US"/>
              <a:t>Non </a:t>
            </a:r>
            <a:r>
              <a:rPr lang="en-US" err="1"/>
              <a:t>approfondiamo</a:t>
            </a:r>
            <a:r>
              <a:rPr lang="en-US"/>
              <a:t> </a:t>
            </a:r>
            <a:r>
              <a:rPr lang="en-US" err="1"/>
              <a:t>l'argomento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751033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Lazy</a:t>
            </a:r>
            <a:r>
              <a:rPr lang="it-IT" dirty="0"/>
              <a:t> </a:t>
            </a:r>
            <a:r>
              <a:rPr lang="it-IT" dirty="0" err="1"/>
              <a:t>Load</a:t>
            </a:r>
            <a:r>
              <a:rPr lang="it-IT" dirty="0"/>
              <a:t>: Come funziona?</a:t>
            </a:r>
            <a:endParaRPr lang="en-US" dirty="0"/>
          </a:p>
        </p:txBody>
      </p:sp>
      <p:sp>
        <p:nvSpPr>
          <p:cNvPr id="5120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eaLnBrk="1" hangingPunct="1">
              <a:lnSpc>
                <a:spcPct val="120000"/>
              </a:lnSpc>
            </a:pPr>
            <a:r>
              <a:rPr lang="it-IT" dirty="0"/>
              <a:t>Obiettivo: caricare i dati solo quando questi sono effettivamente richiesti</a:t>
            </a:r>
          </a:p>
          <a:p>
            <a:pPr eaLnBrk="1" hangingPunct="1">
              <a:lnSpc>
                <a:spcPct val="120000"/>
              </a:lnSpc>
            </a:pPr>
            <a:r>
              <a:rPr lang="it-IT" dirty="0"/>
              <a:t>Vediamo come dovrebbe agire il metodo </a:t>
            </a:r>
            <a:r>
              <a:rPr lang="it-IT" dirty="0" err="1"/>
              <a:t>getOrders</a:t>
            </a:r>
            <a:r>
              <a:rPr lang="it-IT" dirty="0"/>
              <a:t>() della classe </a:t>
            </a:r>
            <a:r>
              <a:rPr lang="it-IT" dirty="0" err="1"/>
              <a:t>Customer</a:t>
            </a:r>
            <a:r>
              <a:rPr lang="it-IT" dirty="0"/>
              <a:t> seguendo questa strategia</a:t>
            </a:r>
          </a:p>
          <a:p>
            <a:pPr lvl="1" eaLnBrk="1" hangingPunct="1">
              <a:lnSpc>
                <a:spcPct val="120000"/>
              </a:lnSpc>
            </a:pPr>
            <a:r>
              <a:rPr lang="it-IT" sz="2400" dirty="0"/>
              <a:t>quando invocato il metodo </a:t>
            </a:r>
            <a:r>
              <a:rPr lang="it-IT" sz="2400" dirty="0" err="1"/>
              <a:t>getOrders</a:t>
            </a:r>
            <a:r>
              <a:rPr lang="it-IT" sz="2400" dirty="0"/>
              <a:t>() esegue la </a:t>
            </a:r>
            <a:r>
              <a:rPr lang="it-IT" sz="2400" dirty="0" err="1"/>
              <a:t>query</a:t>
            </a:r>
            <a:r>
              <a:rPr lang="it-IT" sz="2400" dirty="0"/>
              <a:t> per costruire gli oggetti Order associati al </a:t>
            </a:r>
            <a:r>
              <a:rPr lang="it-IT" sz="2400" dirty="0" err="1"/>
              <a:t>customer</a:t>
            </a:r>
            <a:r>
              <a:rPr lang="it-IT" sz="2400" dirty="0"/>
              <a:t>, aggiunge i riferimenti a questi oggetti nella collezione dell'oggetto </a:t>
            </a:r>
            <a:r>
              <a:rPr lang="it-IT" sz="2400" dirty="0" err="1"/>
              <a:t>Customer</a:t>
            </a:r>
            <a:r>
              <a:rPr lang="it-IT" sz="2400" dirty="0"/>
              <a:t>, e restituisce la collezione</a:t>
            </a:r>
          </a:p>
          <a:p>
            <a:pPr eaLnBrk="1" hangingPunct="1">
              <a:lnSpc>
                <a:spcPct val="120000"/>
              </a:lnSpc>
            </a:pPr>
            <a:r>
              <a:rPr lang="it-IT" dirty="0"/>
              <a:t>E' importante osservare che se il metodo non viene mai invocato, il costo di caricare i dati relativi agli ordini non viene mai pagato</a:t>
            </a:r>
          </a:p>
          <a:p>
            <a:pPr eaLnBrk="1" hangingPunct="1">
              <a:lnSpc>
                <a:spcPct val="120000"/>
              </a:lnSpc>
            </a:pPr>
            <a:r>
              <a:rPr lang="it-IT" dirty="0"/>
              <a:t>Non possiamo però implementare questa strategia nella classe </a:t>
            </a:r>
            <a:r>
              <a:rPr lang="it-IT" dirty="0" err="1"/>
              <a:t>Customer</a:t>
            </a:r>
            <a:r>
              <a:rPr lang="it-IT" dirty="0"/>
              <a:t>: metteremmo codice di gestione della persistenza in una classe del dominio</a:t>
            </a:r>
          </a:p>
          <a:p>
            <a:pPr eaLnBrk="1" hangingPunct="1">
              <a:lnSpc>
                <a:spcPct val="120000"/>
              </a:lnSpc>
            </a:pPr>
            <a:r>
              <a:rPr lang="it-IT" dirty="0"/>
              <a:t>Per implementare bene la strategia </a:t>
            </a:r>
            <a:r>
              <a:rPr lang="it-IT" dirty="0" err="1"/>
              <a:t>Lazy</a:t>
            </a:r>
            <a:r>
              <a:rPr lang="it-IT" dirty="0"/>
              <a:t> </a:t>
            </a:r>
            <a:r>
              <a:rPr lang="it-IT" dirty="0" err="1"/>
              <a:t>Load</a:t>
            </a:r>
            <a:r>
              <a:rPr lang="it-IT" dirty="0"/>
              <a:t> senza ridurre la coesione nella classe del modello è utile fare riferimento al pattern Proxy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2632619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dirty="0">
                <a:latin typeface="Calibri Light" panose="020F0302020204030204" pitchFamily="34" charset="0"/>
              </a:rPr>
              <a:t>Il pattern proxy: </a:t>
            </a:r>
            <a:r>
              <a:rPr lang="it-IT" dirty="0" err="1">
                <a:latin typeface="Calibri Light" panose="020F0302020204030204" pitchFamily="34" charset="0"/>
              </a:rPr>
              <a:t>structure</a:t>
            </a:r>
            <a:endParaRPr lang="en-US" dirty="0">
              <a:latin typeface="Calibri Light" panose="020F0302020204030204" pitchFamily="34" charset="0"/>
            </a:endParaRPr>
          </a:p>
        </p:txBody>
      </p:sp>
      <p:grpSp>
        <p:nvGrpSpPr>
          <p:cNvPr id="30723" name="Group 41"/>
          <p:cNvGrpSpPr>
            <a:grpSpLocks/>
          </p:cNvGrpSpPr>
          <p:nvPr/>
        </p:nvGrpSpPr>
        <p:grpSpPr bwMode="auto">
          <a:xfrm>
            <a:off x="2032397" y="1762125"/>
            <a:ext cx="4699397" cy="1753791"/>
            <a:chOff x="793" y="1933"/>
            <a:chExt cx="3947" cy="1473"/>
          </a:xfrm>
        </p:grpSpPr>
        <p:grpSp>
          <p:nvGrpSpPr>
            <p:cNvPr id="30724" name="Group 27"/>
            <p:cNvGrpSpPr>
              <a:grpSpLocks/>
            </p:cNvGrpSpPr>
            <p:nvPr/>
          </p:nvGrpSpPr>
          <p:grpSpPr bwMode="auto">
            <a:xfrm>
              <a:off x="2245" y="2886"/>
              <a:ext cx="817" cy="499"/>
              <a:chOff x="612" y="2886"/>
              <a:chExt cx="817" cy="499"/>
            </a:xfrm>
          </p:grpSpPr>
          <p:grpSp>
            <p:nvGrpSpPr>
              <p:cNvPr id="30748" name="Group 15"/>
              <p:cNvGrpSpPr>
                <a:grpSpLocks/>
              </p:cNvGrpSpPr>
              <p:nvPr/>
            </p:nvGrpSpPr>
            <p:grpSpPr bwMode="auto">
              <a:xfrm>
                <a:off x="612" y="2886"/>
                <a:ext cx="817" cy="499"/>
                <a:chOff x="612" y="1933"/>
                <a:chExt cx="817" cy="499"/>
              </a:xfrm>
            </p:grpSpPr>
            <p:sp>
              <p:nvSpPr>
                <p:cNvPr id="30750" name="Rectangle 16"/>
                <p:cNvSpPr>
                  <a:spLocks noChangeArrowheads="1"/>
                </p:cNvSpPr>
                <p:nvPr/>
              </p:nvSpPr>
              <p:spPr bwMode="auto">
                <a:xfrm>
                  <a:off x="612" y="1933"/>
                  <a:ext cx="817" cy="499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blurRad="63500" dist="53882" dir="2700000" algn="ctr" rotWithShape="0">
                    <a:schemeClr val="tx2">
                      <a:alpha val="50000"/>
                    </a:schemeClr>
                  </a:outerShdw>
                </a:effectLst>
              </p:spPr>
              <p:txBody>
                <a:bodyPr wrap="none" anchor="ctr"/>
                <a:lstStyle/>
                <a:p>
                  <a:endParaRPr lang="it-IT" sz="1350" dirty="0">
                    <a:latin typeface="Calibri Light" panose="020F0302020204030204" pitchFamily="34" charset="0"/>
                  </a:endParaRPr>
                </a:p>
              </p:txBody>
            </p:sp>
            <p:sp>
              <p:nvSpPr>
                <p:cNvPr id="30751" name="Line 17"/>
                <p:cNvSpPr>
                  <a:spLocks noChangeShapeType="1"/>
                </p:cNvSpPr>
                <p:nvPr/>
              </p:nvSpPr>
              <p:spPr bwMode="auto">
                <a:xfrm>
                  <a:off x="612" y="2160"/>
                  <a:ext cx="81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350" dirty="0">
                    <a:latin typeface="Calibri Light" panose="020F0302020204030204" pitchFamily="34" charset="0"/>
                  </a:endParaRPr>
                </a:p>
              </p:txBody>
            </p:sp>
            <p:sp>
              <p:nvSpPr>
                <p:cNvPr id="30752" name="Text Box 18"/>
                <p:cNvSpPr txBox="1">
                  <a:spLocks noChangeArrowheads="1"/>
                </p:cNvSpPr>
                <p:nvPr/>
              </p:nvSpPr>
              <p:spPr bwMode="auto">
                <a:xfrm>
                  <a:off x="800" y="1952"/>
                  <a:ext cx="424" cy="1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eaLnBrk="1" hangingPunct="1">
                    <a:lnSpc>
                      <a:spcPct val="80000"/>
                    </a:lnSpc>
                  </a:pPr>
                  <a:r>
                    <a:rPr lang="it-IT" sz="900" b="1"/>
                    <a:t>Proxy</a:t>
                  </a:r>
                  <a:endParaRPr lang="en-US" sz="900" b="1"/>
                </a:p>
              </p:txBody>
            </p:sp>
          </p:grpSp>
          <p:sp>
            <p:nvSpPr>
              <p:cNvPr id="30749" name="Text Box 23"/>
              <p:cNvSpPr txBox="1">
                <a:spLocks noChangeArrowheads="1"/>
              </p:cNvSpPr>
              <p:nvPr/>
            </p:nvSpPr>
            <p:spPr bwMode="auto">
              <a:xfrm>
                <a:off x="618" y="3158"/>
                <a:ext cx="570" cy="1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it-IT" sz="900" b="1"/>
                  <a:t>request()</a:t>
                </a:r>
                <a:endParaRPr lang="en-US" sz="900" b="1"/>
              </a:p>
            </p:txBody>
          </p:sp>
        </p:grpSp>
        <p:grpSp>
          <p:nvGrpSpPr>
            <p:cNvPr id="30725" name="Group 28"/>
            <p:cNvGrpSpPr>
              <a:grpSpLocks/>
            </p:cNvGrpSpPr>
            <p:nvPr/>
          </p:nvGrpSpPr>
          <p:grpSpPr bwMode="auto">
            <a:xfrm>
              <a:off x="3923" y="2907"/>
              <a:ext cx="817" cy="499"/>
              <a:chOff x="1609" y="2886"/>
              <a:chExt cx="817" cy="499"/>
            </a:xfrm>
          </p:grpSpPr>
          <p:grpSp>
            <p:nvGrpSpPr>
              <p:cNvPr id="30743" name="Group 19"/>
              <p:cNvGrpSpPr>
                <a:grpSpLocks/>
              </p:cNvGrpSpPr>
              <p:nvPr/>
            </p:nvGrpSpPr>
            <p:grpSpPr bwMode="auto">
              <a:xfrm>
                <a:off x="1609" y="2886"/>
                <a:ext cx="817" cy="499"/>
                <a:chOff x="612" y="1933"/>
                <a:chExt cx="817" cy="499"/>
              </a:xfrm>
            </p:grpSpPr>
            <p:sp>
              <p:nvSpPr>
                <p:cNvPr id="30745" name="Rectangle 20"/>
                <p:cNvSpPr>
                  <a:spLocks noChangeArrowheads="1"/>
                </p:cNvSpPr>
                <p:nvPr/>
              </p:nvSpPr>
              <p:spPr bwMode="auto">
                <a:xfrm>
                  <a:off x="612" y="1933"/>
                  <a:ext cx="817" cy="499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blurRad="63500" dist="53882" dir="2700000" algn="ctr" rotWithShape="0">
                    <a:schemeClr val="tx2">
                      <a:alpha val="50000"/>
                    </a:schemeClr>
                  </a:outerShdw>
                </a:effectLst>
              </p:spPr>
              <p:txBody>
                <a:bodyPr wrap="none" anchor="ctr"/>
                <a:lstStyle/>
                <a:p>
                  <a:endParaRPr lang="it-IT" sz="1350" dirty="0">
                    <a:latin typeface="Calibri Light" panose="020F0302020204030204" pitchFamily="34" charset="0"/>
                  </a:endParaRPr>
                </a:p>
              </p:txBody>
            </p:sp>
            <p:sp>
              <p:nvSpPr>
                <p:cNvPr id="30746" name="Line 21"/>
                <p:cNvSpPr>
                  <a:spLocks noChangeShapeType="1"/>
                </p:cNvSpPr>
                <p:nvPr/>
              </p:nvSpPr>
              <p:spPr bwMode="auto">
                <a:xfrm>
                  <a:off x="612" y="2160"/>
                  <a:ext cx="81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350" dirty="0">
                    <a:latin typeface="Calibri Light" panose="020F0302020204030204" pitchFamily="34" charset="0"/>
                  </a:endParaRPr>
                </a:p>
              </p:txBody>
            </p:sp>
            <p:sp>
              <p:nvSpPr>
                <p:cNvPr id="30747" name="Text Box 22"/>
                <p:cNvSpPr txBox="1">
                  <a:spLocks noChangeArrowheads="1"/>
                </p:cNvSpPr>
                <p:nvPr/>
              </p:nvSpPr>
              <p:spPr bwMode="auto">
                <a:xfrm>
                  <a:off x="660" y="1952"/>
                  <a:ext cx="710" cy="1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eaLnBrk="1" hangingPunct="1">
                    <a:lnSpc>
                      <a:spcPct val="80000"/>
                    </a:lnSpc>
                  </a:pPr>
                  <a:r>
                    <a:rPr lang="it-IT" sz="900" b="1"/>
                    <a:t>RealSubject</a:t>
                  </a:r>
                  <a:endParaRPr lang="en-US" sz="900" b="1"/>
                </a:p>
              </p:txBody>
            </p:sp>
          </p:grpSp>
          <p:sp>
            <p:nvSpPr>
              <p:cNvPr id="30744" name="Text Box 24"/>
              <p:cNvSpPr txBox="1">
                <a:spLocks noChangeArrowheads="1"/>
              </p:cNvSpPr>
              <p:nvPr/>
            </p:nvSpPr>
            <p:spPr bwMode="auto">
              <a:xfrm>
                <a:off x="1628" y="3166"/>
                <a:ext cx="570" cy="1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it-IT" sz="900" b="1"/>
                  <a:t>request()</a:t>
                </a:r>
                <a:endParaRPr lang="en-US" sz="900" b="1"/>
              </a:p>
            </p:txBody>
          </p:sp>
        </p:grpSp>
        <p:grpSp>
          <p:nvGrpSpPr>
            <p:cNvPr id="30726" name="Group 26"/>
            <p:cNvGrpSpPr>
              <a:grpSpLocks/>
            </p:cNvGrpSpPr>
            <p:nvPr/>
          </p:nvGrpSpPr>
          <p:grpSpPr bwMode="auto">
            <a:xfrm>
              <a:off x="3106" y="1933"/>
              <a:ext cx="817" cy="499"/>
              <a:chOff x="612" y="1933"/>
              <a:chExt cx="817" cy="499"/>
            </a:xfrm>
          </p:grpSpPr>
          <p:grpSp>
            <p:nvGrpSpPr>
              <p:cNvPr id="30738" name="Group 14"/>
              <p:cNvGrpSpPr>
                <a:grpSpLocks/>
              </p:cNvGrpSpPr>
              <p:nvPr/>
            </p:nvGrpSpPr>
            <p:grpSpPr bwMode="auto">
              <a:xfrm>
                <a:off x="612" y="1933"/>
                <a:ext cx="817" cy="499"/>
                <a:chOff x="612" y="1933"/>
                <a:chExt cx="817" cy="499"/>
              </a:xfrm>
            </p:grpSpPr>
            <p:sp>
              <p:nvSpPr>
                <p:cNvPr id="30740" name="Rectangle 4"/>
                <p:cNvSpPr>
                  <a:spLocks noChangeArrowheads="1"/>
                </p:cNvSpPr>
                <p:nvPr/>
              </p:nvSpPr>
              <p:spPr bwMode="auto">
                <a:xfrm>
                  <a:off x="612" y="1933"/>
                  <a:ext cx="817" cy="499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blurRad="63500" dist="53882" dir="2700000" algn="ctr" rotWithShape="0">
                    <a:schemeClr val="tx2">
                      <a:alpha val="50000"/>
                    </a:schemeClr>
                  </a:outerShdw>
                </a:effectLst>
              </p:spPr>
              <p:txBody>
                <a:bodyPr wrap="none" anchor="ctr"/>
                <a:lstStyle/>
                <a:p>
                  <a:endParaRPr lang="it-IT" sz="1350" dirty="0">
                    <a:latin typeface="Calibri Light" panose="020F0302020204030204" pitchFamily="34" charset="0"/>
                  </a:endParaRPr>
                </a:p>
              </p:txBody>
            </p:sp>
            <p:sp>
              <p:nvSpPr>
                <p:cNvPr id="30741" name="Line 12"/>
                <p:cNvSpPr>
                  <a:spLocks noChangeShapeType="1"/>
                </p:cNvSpPr>
                <p:nvPr/>
              </p:nvSpPr>
              <p:spPr bwMode="auto">
                <a:xfrm>
                  <a:off x="612" y="2160"/>
                  <a:ext cx="81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350" dirty="0">
                    <a:latin typeface="Calibri Light" panose="020F0302020204030204" pitchFamily="34" charset="0"/>
                  </a:endParaRPr>
                </a:p>
              </p:txBody>
            </p:sp>
            <p:sp>
              <p:nvSpPr>
                <p:cNvPr id="30742" name="Text Box 13"/>
                <p:cNvSpPr txBox="1">
                  <a:spLocks noChangeArrowheads="1"/>
                </p:cNvSpPr>
                <p:nvPr/>
              </p:nvSpPr>
              <p:spPr bwMode="auto">
                <a:xfrm>
                  <a:off x="758" y="1952"/>
                  <a:ext cx="505" cy="1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eaLnBrk="1" hangingPunct="1">
                    <a:lnSpc>
                      <a:spcPct val="80000"/>
                    </a:lnSpc>
                  </a:pPr>
                  <a:r>
                    <a:rPr lang="it-IT" sz="900" b="1"/>
                    <a:t>Subject</a:t>
                  </a:r>
                  <a:endParaRPr lang="en-US" sz="900" b="1"/>
                </a:p>
              </p:txBody>
            </p:sp>
          </p:grpSp>
          <p:sp>
            <p:nvSpPr>
              <p:cNvPr id="30739" name="Text Box 25"/>
              <p:cNvSpPr txBox="1">
                <a:spLocks noChangeArrowheads="1"/>
              </p:cNvSpPr>
              <p:nvPr/>
            </p:nvSpPr>
            <p:spPr bwMode="auto">
              <a:xfrm>
                <a:off x="612" y="2205"/>
                <a:ext cx="570" cy="1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it-IT" sz="900" b="1"/>
                  <a:t>request()</a:t>
                </a:r>
                <a:endParaRPr lang="en-US" sz="900" b="1"/>
              </a:p>
            </p:txBody>
          </p:sp>
        </p:grpSp>
        <p:cxnSp>
          <p:nvCxnSpPr>
            <p:cNvPr id="30727" name="AutoShape 30"/>
            <p:cNvCxnSpPr>
              <a:cxnSpLocks noChangeShapeType="1"/>
            </p:cNvCxnSpPr>
            <p:nvPr/>
          </p:nvCxnSpPr>
          <p:spPr bwMode="auto">
            <a:xfrm flipV="1">
              <a:off x="2654" y="2432"/>
              <a:ext cx="861" cy="45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30728" name="AutoShape 31"/>
            <p:cNvCxnSpPr>
              <a:cxnSpLocks noChangeShapeType="1"/>
              <a:stCxn id="30745" idx="0"/>
            </p:cNvCxnSpPr>
            <p:nvPr/>
          </p:nvCxnSpPr>
          <p:spPr bwMode="auto">
            <a:xfrm flipH="1" flipV="1">
              <a:off x="3515" y="2432"/>
              <a:ext cx="817" cy="47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sp>
          <p:nvSpPr>
            <p:cNvPr id="30729" name="AutoShape 32"/>
            <p:cNvSpPr>
              <a:spLocks noChangeArrowheads="1"/>
            </p:cNvSpPr>
            <p:nvPr/>
          </p:nvSpPr>
          <p:spPr bwMode="auto">
            <a:xfrm>
              <a:off x="3062" y="3113"/>
              <a:ext cx="90" cy="45"/>
            </a:xfrm>
            <a:prstGeom prst="diamond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it-IT" sz="1350" dirty="0">
                <a:latin typeface="Calibri Light" panose="020F0302020204030204" pitchFamily="34" charset="0"/>
              </a:endParaRPr>
            </a:p>
          </p:txBody>
        </p:sp>
        <p:cxnSp>
          <p:nvCxnSpPr>
            <p:cNvPr id="30730" name="AutoShape 33"/>
            <p:cNvCxnSpPr>
              <a:cxnSpLocks noChangeShapeType="1"/>
              <a:stCxn id="30729" idx="3"/>
              <a:endCxn id="30746" idx="0"/>
            </p:cNvCxnSpPr>
            <p:nvPr/>
          </p:nvCxnSpPr>
          <p:spPr bwMode="auto">
            <a:xfrm flipV="1">
              <a:off x="3152" y="3134"/>
              <a:ext cx="771" cy="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grpSp>
          <p:nvGrpSpPr>
            <p:cNvPr id="30731" name="Group 34"/>
            <p:cNvGrpSpPr>
              <a:grpSpLocks/>
            </p:cNvGrpSpPr>
            <p:nvPr/>
          </p:nvGrpSpPr>
          <p:grpSpPr bwMode="auto">
            <a:xfrm>
              <a:off x="793" y="2042"/>
              <a:ext cx="817" cy="499"/>
              <a:chOff x="1609" y="2886"/>
              <a:chExt cx="817" cy="499"/>
            </a:xfrm>
          </p:grpSpPr>
          <p:grpSp>
            <p:nvGrpSpPr>
              <p:cNvPr id="30733" name="Group 35"/>
              <p:cNvGrpSpPr>
                <a:grpSpLocks/>
              </p:cNvGrpSpPr>
              <p:nvPr/>
            </p:nvGrpSpPr>
            <p:grpSpPr bwMode="auto">
              <a:xfrm>
                <a:off x="1609" y="2886"/>
                <a:ext cx="817" cy="499"/>
                <a:chOff x="612" y="1933"/>
                <a:chExt cx="817" cy="499"/>
              </a:xfrm>
            </p:grpSpPr>
            <p:sp>
              <p:nvSpPr>
                <p:cNvPr id="30735" name="Rectangle 36"/>
                <p:cNvSpPr>
                  <a:spLocks noChangeArrowheads="1"/>
                </p:cNvSpPr>
                <p:nvPr/>
              </p:nvSpPr>
              <p:spPr bwMode="auto">
                <a:xfrm>
                  <a:off x="612" y="1933"/>
                  <a:ext cx="817" cy="499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blurRad="63500" dist="53882" dir="2700000" algn="ctr" rotWithShape="0">
                    <a:schemeClr val="tx2">
                      <a:alpha val="50000"/>
                    </a:schemeClr>
                  </a:outerShdw>
                </a:effectLst>
              </p:spPr>
              <p:txBody>
                <a:bodyPr wrap="none" anchor="ctr"/>
                <a:lstStyle/>
                <a:p>
                  <a:endParaRPr lang="it-IT" sz="1350" dirty="0">
                    <a:latin typeface="Calibri Light" panose="020F0302020204030204" pitchFamily="34" charset="0"/>
                  </a:endParaRPr>
                </a:p>
              </p:txBody>
            </p:sp>
            <p:sp>
              <p:nvSpPr>
                <p:cNvPr id="30736" name="Line 37"/>
                <p:cNvSpPr>
                  <a:spLocks noChangeShapeType="1"/>
                </p:cNvSpPr>
                <p:nvPr/>
              </p:nvSpPr>
              <p:spPr bwMode="auto">
                <a:xfrm>
                  <a:off x="612" y="2160"/>
                  <a:ext cx="81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350" dirty="0">
                    <a:latin typeface="Calibri Light" panose="020F0302020204030204" pitchFamily="34" charset="0"/>
                  </a:endParaRPr>
                </a:p>
              </p:txBody>
            </p:sp>
            <p:sp>
              <p:nvSpPr>
                <p:cNvPr id="30737" name="Text Box 38"/>
                <p:cNvSpPr txBox="1">
                  <a:spLocks noChangeArrowheads="1"/>
                </p:cNvSpPr>
                <p:nvPr/>
              </p:nvSpPr>
              <p:spPr bwMode="auto">
                <a:xfrm>
                  <a:off x="805" y="1952"/>
                  <a:ext cx="424" cy="1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eaLnBrk="1" hangingPunct="1">
                    <a:lnSpc>
                      <a:spcPct val="80000"/>
                    </a:lnSpc>
                  </a:pPr>
                  <a:r>
                    <a:rPr lang="it-IT" sz="900" b="1"/>
                    <a:t>Client</a:t>
                  </a:r>
                  <a:endParaRPr lang="en-US" sz="900" b="1"/>
                </a:p>
              </p:txBody>
            </p:sp>
          </p:grpSp>
          <p:sp>
            <p:nvSpPr>
              <p:cNvPr id="30734" name="Text Box 39"/>
              <p:cNvSpPr txBox="1">
                <a:spLocks noChangeArrowheads="1"/>
              </p:cNvSpPr>
              <p:nvPr/>
            </p:nvSpPr>
            <p:spPr bwMode="auto">
              <a:xfrm>
                <a:off x="1628" y="3166"/>
                <a:ext cx="155" cy="1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eaLnBrk="1" hangingPunct="1"/>
                <a:endParaRPr lang="it-IT" sz="900" b="1"/>
              </a:p>
            </p:txBody>
          </p:sp>
        </p:grpSp>
        <p:cxnSp>
          <p:nvCxnSpPr>
            <p:cNvPr id="30732" name="AutoShape 40"/>
            <p:cNvCxnSpPr>
              <a:cxnSpLocks noChangeShapeType="1"/>
              <a:stCxn id="30735" idx="3"/>
              <a:endCxn id="30739" idx="1"/>
            </p:cNvCxnSpPr>
            <p:nvPr/>
          </p:nvCxnSpPr>
          <p:spPr bwMode="auto">
            <a:xfrm>
              <a:off x="1610" y="2291"/>
              <a:ext cx="1496" cy="1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3233174485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Line 54"/>
          <p:cNvSpPr>
            <a:spLocks noChangeShapeType="1"/>
          </p:cNvSpPr>
          <p:nvPr/>
        </p:nvSpPr>
        <p:spPr bwMode="auto">
          <a:xfrm>
            <a:off x="2761060" y="1977629"/>
            <a:ext cx="0" cy="2484834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sz="1350" dirty="0">
              <a:latin typeface="Calibri Light" panose="020F0302020204030204" pitchFamily="34" charset="0"/>
            </a:endParaRPr>
          </a:p>
        </p:txBody>
      </p:sp>
      <p:sp>
        <p:nvSpPr>
          <p:cNvPr id="31747" name="Line 55"/>
          <p:cNvSpPr>
            <a:spLocks noChangeShapeType="1"/>
          </p:cNvSpPr>
          <p:nvPr/>
        </p:nvSpPr>
        <p:spPr bwMode="auto">
          <a:xfrm>
            <a:off x="3762375" y="1977629"/>
            <a:ext cx="0" cy="2484834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sz="1350" dirty="0">
              <a:latin typeface="Calibri Light" panose="020F0302020204030204" pitchFamily="34" charset="0"/>
            </a:endParaRPr>
          </a:p>
        </p:txBody>
      </p:sp>
      <p:sp>
        <p:nvSpPr>
          <p:cNvPr id="31748" name="Line 56"/>
          <p:cNvSpPr>
            <a:spLocks noChangeShapeType="1"/>
          </p:cNvSpPr>
          <p:nvPr/>
        </p:nvSpPr>
        <p:spPr bwMode="auto">
          <a:xfrm>
            <a:off x="4758929" y="1977629"/>
            <a:ext cx="0" cy="2484834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sz="1350" dirty="0">
              <a:latin typeface="Calibri Light" panose="020F0302020204030204" pitchFamily="34" charset="0"/>
            </a:endParaRPr>
          </a:p>
        </p:txBody>
      </p:sp>
      <p:sp>
        <p:nvSpPr>
          <p:cNvPr id="31749" name="Line 57"/>
          <p:cNvSpPr>
            <a:spLocks noChangeShapeType="1"/>
          </p:cNvSpPr>
          <p:nvPr/>
        </p:nvSpPr>
        <p:spPr bwMode="auto">
          <a:xfrm>
            <a:off x="5806679" y="1977629"/>
            <a:ext cx="0" cy="2484834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sz="1350" dirty="0">
              <a:latin typeface="Calibri Light" panose="020F0302020204030204" pitchFamily="34" charset="0"/>
            </a:endParaRPr>
          </a:p>
        </p:txBody>
      </p:sp>
      <p:sp>
        <p:nvSpPr>
          <p:cNvPr id="317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lnSpc>
                <a:spcPct val="70000"/>
              </a:lnSpc>
            </a:pPr>
            <a:r>
              <a:rPr lang="en-US" sz="2400" dirty="0">
                <a:latin typeface="Calibri Light" panose="020F0302020204030204" pitchFamily="34" charset="0"/>
              </a:rPr>
              <a:t>Pattern Proxy: </a:t>
            </a:r>
            <a:br>
              <a:rPr lang="en-US" sz="2400" dirty="0">
                <a:latin typeface="Calibri Light" panose="020F0302020204030204" pitchFamily="34" charset="0"/>
              </a:rPr>
            </a:br>
            <a:r>
              <a:rPr lang="en-US" sz="2400" dirty="0">
                <a:latin typeface="Calibri Light" panose="020F0302020204030204" pitchFamily="34" charset="0"/>
              </a:rPr>
              <a:t>Participants and Responsibilities</a:t>
            </a:r>
          </a:p>
        </p:txBody>
      </p:sp>
      <p:sp>
        <p:nvSpPr>
          <p:cNvPr id="31751" name="Rectangle 9"/>
          <p:cNvSpPr>
            <a:spLocks noChangeArrowheads="1"/>
          </p:cNvSpPr>
          <p:nvPr/>
        </p:nvSpPr>
        <p:spPr bwMode="auto">
          <a:xfrm>
            <a:off x="3437335" y="1653778"/>
            <a:ext cx="701278" cy="27027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53882" dir="2700000" algn="ctr" rotWithShape="0">
              <a:schemeClr val="tx2">
                <a:alpha val="50000"/>
              </a:schemeClr>
            </a:outerShdw>
          </a:effectLst>
        </p:spPr>
        <p:txBody>
          <a:bodyPr wrap="none" anchor="ctr"/>
          <a:lstStyle/>
          <a:p>
            <a:endParaRPr lang="it-IT" sz="1350" dirty="0">
              <a:latin typeface="Calibri Light" panose="020F0302020204030204" pitchFamily="34" charset="0"/>
            </a:endParaRPr>
          </a:p>
        </p:txBody>
      </p:sp>
      <p:sp>
        <p:nvSpPr>
          <p:cNvPr id="31752" name="Text Box 11"/>
          <p:cNvSpPr txBox="1">
            <a:spLocks noChangeArrowheads="1"/>
          </p:cNvSpPr>
          <p:nvPr/>
        </p:nvSpPr>
        <p:spPr bwMode="auto">
          <a:xfrm>
            <a:off x="3526412" y="1700213"/>
            <a:ext cx="505267" cy="2031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r>
              <a:rPr lang="it-IT" sz="900" b="1"/>
              <a:t>Proxy</a:t>
            </a:r>
            <a:endParaRPr lang="en-US" sz="900" b="1"/>
          </a:p>
        </p:txBody>
      </p:sp>
      <p:sp>
        <p:nvSpPr>
          <p:cNvPr id="31753" name="Text Box 12"/>
          <p:cNvSpPr txBox="1">
            <a:spLocks noChangeArrowheads="1"/>
          </p:cNvSpPr>
          <p:nvPr/>
        </p:nvSpPr>
        <p:spPr bwMode="auto">
          <a:xfrm>
            <a:off x="2897982" y="2031206"/>
            <a:ext cx="678391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it-IT" sz="900" b="1"/>
              <a:t>request()</a:t>
            </a:r>
            <a:endParaRPr lang="en-US" sz="900" b="1"/>
          </a:p>
        </p:txBody>
      </p:sp>
      <p:sp>
        <p:nvSpPr>
          <p:cNvPr id="31754" name="Rectangle 36"/>
          <p:cNvSpPr>
            <a:spLocks noChangeArrowheads="1"/>
          </p:cNvSpPr>
          <p:nvPr/>
        </p:nvSpPr>
        <p:spPr bwMode="auto">
          <a:xfrm>
            <a:off x="2736056" y="2085976"/>
            <a:ext cx="53579" cy="188952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 sz="1350" dirty="0">
              <a:latin typeface="Calibri Light" panose="020F0302020204030204" pitchFamily="34" charset="0"/>
            </a:endParaRPr>
          </a:p>
        </p:txBody>
      </p:sp>
      <p:sp>
        <p:nvSpPr>
          <p:cNvPr id="31755" name="Line 37"/>
          <p:cNvSpPr>
            <a:spLocks noChangeShapeType="1"/>
          </p:cNvSpPr>
          <p:nvPr/>
        </p:nvSpPr>
        <p:spPr bwMode="auto">
          <a:xfrm>
            <a:off x="2844404" y="2193131"/>
            <a:ext cx="86320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sz="1350" dirty="0">
              <a:latin typeface="Calibri Light" panose="020F0302020204030204" pitchFamily="34" charset="0"/>
            </a:endParaRPr>
          </a:p>
        </p:txBody>
      </p:sp>
      <p:sp>
        <p:nvSpPr>
          <p:cNvPr id="31756" name="Rectangle 38"/>
          <p:cNvSpPr>
            <a:spLocks noChangeArrowheads="1"/>
          </p:cNvSpPr>
          <p:nvPr/>
        </p:nvSpPr>
        <p:spPr bwMode="auto">
          <a:xfrm>
            <a:off x="2412206" y="1653778"/>
            <a:ext cx="701279" cy="27027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53882" dir="2700000" algn="ctr" rotWithShape="0">
              <a:schemeClr val="tx2">
                <a:alpha val="50000"/>
              </a:schemeClr>
            </a:outerShdw>
          </a:effectLst>
        </p:spPr>
        <p:txBody>
          <a:bodyPr wrap="none" anchor="ctr"/>
          <a:lstStyle/>
          <a:p>
            <a:endParaRPr lang="it-IT" sz="1350" dirty="0">
              <a:latin typeface="Calibri Light" panose="020F0302020204030204" pitchFamily="34" charset="0"/>
            </a:endParaRPr>
          </a:p>
        </p:txBody>
      </p:sp>
      <p:sp>
        <p:nvSpPr>
          <p:cNvPr id="31757" name="Text Box 39"/>
          <p:cNvSpPr txBox="1">
            <a:spLocks noChangeArrowheads="1"/>
          </p:cNvSpPr>
          <p:nvPr/>
        </p:nvSpPr>
        <p:spPr bwMode="auto">
          <a:xfrm>
            <a:off x="2510213" y="1697832"/>
            <a:ext cx="505267" cy="2031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r>
              <a:rPr lang="it-IT" sz="900" b="1"/>
              <a:t>Client</a:t>
            </a:r>
            <a:endParaRPr lang="en-US" sz="900" b="1"/>
          </a:p>
        </p:txBody>
      </p:sp>
      <p:sp>
        <p:nvSpPr>
          <p:cNvPr id="31758" name="Rectangle 40"/>
          <p:cNvSpPr>
            <a:spLocks noChangeArrowheads="1"/>
          </p:cNvSpPr>
          <p:nvPr/>
        </p:nvSpPr>
        <p:spPr bwMode="auto">
          <a:xfrm>
            <a:off x="4460081" y="1653778"/>
            <a:ext cx="701279" cy="27027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53882" dir="2700000" algn="ctr" rotWithShape="0">
              <a:schemeClr val="tx2">
                <a:alpha val="50000"/>
              </a:schemeClr>
            </a:outerShdw>
          </a:effectLst>
        </p:spPr>
        <p:txBody>
          <a:bodyPr wrap="none" anchor="ctr"/>
          <a:lstStyle/>
          <a:p>
            <a:endParaRPr lang="it-IT" sz="1350" dirty="0">
              <a:latin typeface="Calibri Light" panose="020F0302020204030204" pitchFamily="34" charset="0"/>
            </a:endParaRPr>
          </a:p>
        </p:txBody>
      </p:sp>
      <p:sp>
        <p:nvSpPr>
          <p:cNvPr id="31759" name="Text Box 41"/>
          <p:cNvSpPr txBox="1">
            <a:spLocks noChangeArrowheads="1"/>
          </p:cNvSpPr>
          <p:nvPr/>
        </p:nvSpPr>
        <p:spPr bwMode="auto">
          <a:xfrm>
            <a:off x="4383407" y="1700213"/>
            <a:ext cx="845103" cy="2031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r>
              <a:rPr lang="it-IT" sz="900" b="1"/>
              <a:t>RealSubject</a:t>
            </a:r>
            <a:endParaRPr lang="en-US" sz="900" b="1"/>
          </a:p>
        </p:txBody>
      </p:sp>
      <p:sp>
        <p:nvSpPr>
          <p:cNvPr id="31760" name="Rectangle 42"/>
          <p:cNvSpPr>
            <a:spLocks noChangeArrowheads="1"/>
          </p:cNvSpPr>
          <p:nvPr/>
        </p:nvSpPr>
        <p:spPr bwMode="auto">
          <a:xfrm>
            <a:off x="3733800" y="2085976"/>
            <a:ext cx="53579" cy="188952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 sz="1350" dirty="0">
              <a:latin typeface="Calibri Light" panose="020F0302020204030204" pitchFamily="34" charset="0"/>
            </a:endParaRPr>
          </a:p>
        </p:txBody>
      </p:sp>
      <p:sp>
        <p:nvSpPr>
          <p:cNvPr id="31761" name="Text Box 43"/>
          <p:cNvSpPr txBox="1">
            <a:spLocks noChangeArrowheads="1"/>
          </p:cNvSpPr>
          <p:nvPr/>
        </p:nvSpPr>
        <p:spPr bwMode="auto">
          <a:xfrm>
            <a:off x="3870723" y="2193131"/>
            <a:ext cx="678391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it-IT" sz="900" b="1"/>
              <a:t>request()</a:t>
            </a:r>
            <a:endParaRPr lang="en-US" sz="900" b="1"/>
          </a:p>
        </p:txBody>
      </p:sp>
      <p:sp>
        <p:nvSpPr>
          <p:cNvPr id="31762" name="Line 44"/>
          <p:cNvSpPr>
            <a:spLocks noChangeShapeType="1"/>
          </p:cNvSpPr>
          <p:nvPr/>
        </p:nvSpPr>
        <p:spPr bwMode="auto">
          <a:xfrm>
            <a:off x="3817144" y="2355056"/>
            <a:ext cx="86320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sz="1350" dirty="0">
              <a:latin typeface="Calibri Light" panose="020F0302020204030204" pitchFamily="34" charset="0"/>
            </a:endParaRPr>
          </a:p>
        </p:txBody>
      </p:sp>
      <p:sp>
        <p:nvSpPr>
          <p:cNvPr id="31763" name="Rectangle 45"/>
          <p:cNvSpPr>
            <a:spLocks noChangeArrowheads="1"/>
          </p:cNvSpPr>
          <p:nvPr/>
        </p:nvSpPr>
        <p:spPr bwMode="auto">
          <a:xfrm>
            <a:off x="4733925" y="2247900"/>
            <a:ext cx="53579" cy="118824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 sz="1350" dirty="0">
              <a:latin typeface="Calibri Light" panose="020F0302020204030204" pitchFamily="34" charset="0"/>
            </a:endParaRPr>
          </a:p>
        </p:txBody>
      </p:sp>
      <p:sp>
        <p:nvSpPr>
          <p:cNvPr id="31764" name="Line 46"/>
          <p:cNvSpPr>
            <a:spLocks noChangeShapeType="1"/>
          </p:cNvSpPr>
          <p:nvPr/>
        </p:nvSpPr>
        <p:spPr bwMode="auto">
          <a:xfrm>
            <a:off x="3815954" y="3274219"/>
            <a:ext cx="86320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sz="1350" dirty="0">
              <a:latin typeface="Calibri Light" panose="020F0302020204030204" pitchFamily="34" charset="0"/>
            </a:endParaRPr>
          </a:p>
        </p:txBody>
      </p:sp>
      <p:sp>
        <p:nvSpPr>
          <p:cNvPr id="31765" name="Line 47"/>
          <p:cNvSpPr>
            <a:spLocks noChangeShapeType="1"/>
          </p:cNvSpPr>
          <p:nvPr/>
        </p:nvSpPr>
        <p:spPr bwMode="auto">
          <a:xfrm>
            <a:off x="2825354" y="3759994"/>
            <a:ext cx="86320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sz="1350" dirty="0">
              <a:latin typeface="Calibri Light" panose="020F0302020204030204" pitchFamily="34" charset="0"/>
            </a:endParaRPr>
          </a:p>
        </p:txBody>
      </p:sp>
      <p:sp>
        <p:nvSpPr>
          <p:cNvPr id="31766" name="Rectangle 48"/>
          <p:cNvSpPr>
            <a:spLocks noChangeArrowheads="1"/>
          </p:cNvSpPr>
          <p:nvPr/>
        </p:nvSpPr>
        <p:spPr bwMode="auto">
          <a:xfrm>
            <a:off x="5504260" y="1653778"/>
            <a:ext cx="701278" cy="27027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53882" dir="2700000" algn="ctr" rotWithShape="0">
              <a:schemeClr val="tx2">
                <a:alpha val="50000"/>
              </a:schemeClr>
            </a:outerShdw>
          </a:effectLst>
        </p:spPr>
        <p:txBody>
          <a:bodyPr wrap="none" anchor="ctr"/>
          <a:lstStyle/>
          <a:p>
            <a:endParaRPr lang="it-IT" sz="1350" dirty="0">
              <a:latin typeface="Calibri Light" panose="020F0302020204030204" pitchFamily="34" charset="0"/>
            </a:endParaRPr>
          </a:p>
        </p:txBody>
      </p:sp>
      <p:sp>
        <p:nvSpPr>
          <p:cNvPr id="31767" name="Text Box 49"/>
          <p:cNvSpPr txBox="1">
            <a:spLocks noChangeArrowheads="1"/>
          </p:cNvSpPr>
          <p:nvPr/>
        </p:nvSpPr>
        <p:spPr bwMode="auto">
          <a:xfrm>
            <a:off x="5499079" y="1700213"/>
            <a:ext cx="710451" cy="2031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r>
              <a:rPr lang="it-IT" sz="900" b="1"/>
              <a:t>Resource</a:t>
            </a:r>
            <a:endParaRPr lang="en-US" sz="900" b="1"/>
          </a:p>
        </p:txBody>
      </p:sp>
      <p:sp>
        <p:nvSpPr>
          <p:cNvPr id="31768" name="Line 51"/>
          <p:cNvSpPr>
            <a:spLocks noChangeShapeType="1"/>
          </p:cNvSpPr>
          <p:nvPr/>
        </p:nvSpPr>
        <p:spPr bwMode="auto">
          <a:xfrm>
            <a:off x="4861323" y="2787254"/>
            <a:ext cx="86320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sz="1350" dirty="0">
              <a:latin typeface="Calibri Light" panose="020F0302020204030204" pitchFamily="34" charset="0"/>
            </a:endParaRPr>
          </a:p>
        </p:txBody>
      </p:sp>
      <p:sp>
        <p:nvSpPr>
          <p:cNvPr id="31769" name="Rectangle 52"/>
          <p:cNvSpPr>
            <a:spLocks noChangeArrowheads="1"/>
          </p:cNvSpPr>
          <p:nvPr/>
        </p:nvSpPr>
        <p:spPr bwMode="auto">
          <a:xfrm>
            <a:off x="5778104" y="2680097"/>
            <a:ext cx="53578" cy="6477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 sz="1350" dirty="0">
              <a:latin typeface="Calibri Light" panose="020F0302020204030204" pitchFamily="34" charset="0"/>
            </a:endParaRPr>
          </a:p>
        </p:txBody>
      </p:sp>
      <p:sp>
        <p:nvSpPr>
          <p:cNvPr id="31770" name="Line 53"/>
          <p:cNvSpPr>
            <a:spLocks noChangeShapeType="1"/>
          </p:cNvSpPr>
          <p:nvPr/>
        </p:nvSpPr>
        <p:spPr bwMode="auto">
          <a:xfrm>
            <a:off x="4860131" y="3274219"/>
            <a:ext cx="86320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sz="1350" dirty="0"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629703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Calibri Light" panose="020F0302020204030204" pitchFamily="34" charset="0"/>
              </a:rPr>
              <a:t>Lazy Load e </a:t>
            </a:r>
            <a:r>
              <a:rPr lang="en-US" dirty="0" err="1">
                <a:latin typeface="Calibri Light" panose="020F0302020204030204" pitchFamily="34" charset="0"/>
              </a:rPr>
              <a:t>classi</a:t>
            </a:r>
            <a:r>
              <a:rPr lang="en-US" dirty="0">
                <a:latin typeface="Calibri Light" panose="020F0302020204030204" pitchFamily="34" charset="0"/>
              </a:rPr>
              <a:t> proxy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dirty="0"/>
              <a:t>JPA </a:t>
            </a:r>
            <a:r>
              <a:rPr lang="en-US" dirty="0" err="1"/>
              <a:t>sostituisce</a:t>
            </a:r>
            <a:r>
              <a:rPr lang="en-US" dirty="0"/>
              <a:t> la nostra </a:t>
            </a:r>
            <a:r>
              <a:rPr lang="en-US" dirty="0" err="1"/>
              <a:t>entità</a:t>
            </a:r>
            <a:r>
              <a:rPr lang="en-US" dirty="0"/>
              <a:t> </a:t>
            </a:r>
            <a:r>
              <a:rPr lang="it-IT" dirty="0"/>
              <a:t>con un </a:t>
            </a:r>
            <a:r>
              <a:rPr lang="en-US" i="1" dirty="0"/>
              <a:t>proxy</a:t>
            </a:r>
          </a:p>
          <a:p>
            <a:pPr lvl="1" eaLnBrk="1" hangingPunct="1"/>
            <a:r>
              <a:rPr lang="en-US" dirty="0"/>
              <a:t>Il </a:t>
            </a:r>
            <a:r>
              <a:rPr lang="en-US" i="1" dirty="0"/>
              <a:t>proxy</a:t>
            </a:r>
            <a:r>
              <a:rPr lang="en-US" dirty="0"/>
              <a:t> ha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compito</a:t>
            </a:r>
            <a:r>
              <a:rPr lang="en-US" dirty="0"/>
              <a:t> di </a:t>
            </a:r>
            <a:r>
              <a:rPr lang="en-US" dirty="0" err="1"/>
              <a:t>gestire</a:t>
            </a:r>
            <a:r>
              <a:rPr lang="en-US" dirty="0"/>
              <a:t>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caricamento</a:t>
            </a:r>
            <a:r>
              <a:rPr lang="en-US" dirty="0"/>
              <a:t> </a:t>
            </a:r>
            <a:r>
              <a:rPr lang="en-US" dirty="0" err="1"/>
              <a:t>degli</a:t>
            </a:r>
            <a:r>
              <a:rPr lang="en-US" dirty="0"/>
              <a:t>  </a:t>
            </a:r>
            <a:r>
              <a:rPr lang="en-US" dirty="0" err="1"/>
              <a:t>oggetti</a:t>
            </a:r>
            <a:r>
              <a:rPr lang="en-US" dirty="0"/>
              <a:t> </a:t>
            </a:r>
            <a:r>
              <a:rPr lang="en-US" dirty="0" err="1"/>
              <a:t>collegati</a:t>
            </a:r>
            <a:endParaRPr lang="en-US" dirty="0"/>
          </a:p>
          <a:p>
            <a:pPr lvl="1" eaLnBrk="1" hangingPunct="1"/>
            <a:r>
              <a:rPr lang="en-US" dirty="0"/>
              <a:t>Il </a:t>
            </a:r>
            <a:r>
              <a:rPr lang="en-US" i="1" dirty="0"/>
              <a:t>proxy</a:t>
            </a:r>
            <a:r>
              <a:rPr lang="en-US" dirty="0"/>
              <a:t> </a:t>
            </a:r>
            <a:r>
              <a:rPr lang="en-US" dirty="0" err="1"/>
              <a:t>deve</a:t>
            </a:r>
            <a:r>
              <a:rPr lang="en-US" dirty="0"/>
              <a:t> </a:t>
            </a:r>
            <a:r>
              <a:rPr lang="en-US" dirty="0" err="1"/>
              <a:t>contenere</a:t>
            </a:r>
            <a:r>
              <a:rPr lang="en-US" dirty="0"/>
              <a:t> </a:t>
            </a:r>
            <a:r>
              <a:rPr lang="en-US" dirty="0" err="1"/>
              <a:t>tutte</a:t>
            </a:r>
            <a:r>
              <a:rPr lang="en-US" dirty="0"/>
              <a:t> le </a:t>
            </a:r>
            <a:r>
              <a:rPr lang="en-US" dirty="0" err="1"/>
              <a:t>informazioni</a:t>
            </a:r>
            <a:r>
              <a:rPr lang="en-US" dirty="0"/>
              <a:t> </a:t>
            </a:r>
            <a:r>
              <a:rPr lang="en-US" dirty="0" err="1"/>
              <a:t>necessarie</a:t>
            </a:r>
            <a:r>
              <a:rPr lang="en-US" dirty="0"/>
              <a:t> per </a:t>
            </a:r>
            <a:r>
              <a:rPr lang="en-US" dirty="0" err="1"/>
              <a:t>effettuare</a:t>
            </a:r>
            <a:r>
              <a:rPr lang="en-US" dirty="0"/>
              <a:t>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caricamento</a:t>
            </a:r>
            <a:r>
              <a:rPr lang="en-US" dirty="0"/>
              <a:t> </a:t>
            </a:r>
            <a:r>
              <a:rPr lang="ja-JP" altLang="en-US" dirty="0"/>
              <a:t>“</a:t>
            </a:r>
            <a:r>
              <a:rPr lang="en-US" dirty="0"/>
              <a:t>lazy</a:t>
            </a:r>
            <a:r>
              <a:rPr lang="ja-JP" altLang="en-US" dirty="0"/>
              <a:t>”</a:t>
            </a:r>
            <a:endParaRPr lang="en-US" dirty="0"/>
          </a:p>
          <a:p>
            <a:pPr lvl="1" eaLnBrk="1" hangingPunct="1"/>
            <a:r>
              <a:rPr lang="en-US" dirty="0" err="1"/>
              <a:t>Gli</a:t>
            </a:r>
            <a:r>
              <a:rPr lang="en-US" dirty="0"/>
              <a:t> </a:t>
            </a:r>
            <a:r>
              <a:rPr lang="en-US" dirty="0" err="1"/>
              <a:t>oggetti</a:t>
            </a:r>
            <a:r>
              <a:rPr lang="en-US" dirty="0"/>
              <a:t> </a:t>
            </a:r>
            <a:r>
              <a:rPr lang="en-US" dirty="0" err="1"/>
              <a:t>collegati</a:t>
            </a:r>
            <a:r>
              <a:rPr lang="en-US" dirty="0"/>
              <a:t> </a:t>
            </a:r>
            <a:r>
              <a:rPr lang="en-US" dirty="0" err="1"/>
              <a:t>vengono</a:t>
            </a:r>
            <a:r>
              <a:rPr lang="en-US" dirty="0"/>
              <a:t> </a:t>
            </a:r>
            <a:r>
              <a:rPr lang="en-US" dirty="0" err="1"/>
              <a:t>caricati</a:t>
            </a:r>
            <a:r>
              <a:rPr lang="en-US" dirty="0"/>
              <a:t> solo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richiesta</a:t>
            </a:r>
            <a:endParaRPr lang="en-US" dirty="0"/>
          </a:p>
          <a:p>
            <a:pPr lvl="1" eaLnBrk="1" hangingPunct="1"/>
            <a:r>
              <a:rPr lang="en-US" dirty="0"/>
              <a:t>Il </a:t>
            </a:r>
            <a:r>
              <a:rPr lang="en-US" i="1" dirty="0"/>
              <a:t>proxy</a:t>
            </a:r>
            <a:r>
              <a:rPr lang="en-US" dirty="0"/>
              <a:t> </a:t>
            </a:r>
            <a:r>
              <a:rPr lang="it-IT" altLang="ja-JP" dirty="0"/>
              <a:t>nasconde l'accesso al database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4041287363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Lazy Load: proxy</a:t>
            </a:r>
          </a:p>
        </p:txBody>
      </p:sp>
      <p:sp>
        <p:nvSpPr>
          <p:cNvPr id="20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1200" b="1" dirty="0">
                <a:latin typeface="Courier New" charset="0"/>
              </a:rPr>
              <a:t>public class Customer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1200" b="1" dirty="0">
                <a:latin typeface="Courier New" charset="0"/>
              </a:rPr>
              <a:t>	private Long id;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1200" b="1" dirty="0">
                <a:latin typeface="Courier New" charset="0"/>
              </a:rPr>
              <a:t>	private List&lt;Order&gt; orders;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1200" b="1" dirty="0">
                <a:latin typeface="Courier New" charset="0"/>
              </a:rPr>
              <a:t>	…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1200" b="1" dirty="0">
                <a:solidFill>
                  <a:srgbClr val="FF0000"/>
                </a:solidFill>
                <a:latin typeface="Courier New" charset="0"/>
              </a:rPr>
              <a:t>	public List&lt;Order&gt; </a:t>
            </a:r>
            <a:r>
              <a:rPr lang="en-US" sz="1200" b="1" dirty="0" err="1">
                <a:solidFill>
                  <a:srgbClr val="FF0000"/>
                </a:solidFill>
                <a:latin typeface="Courier New" charset="0"/>
              </a:rPr>
              <a:t>getOrders</a:t>
            </a:r>
            <a:r>
              <a:rPr lang="en-US" sz="1200" b="1" dirty="0">
                <a:solidFill>
                  <a:srgbClr val="FF0000"/>
                </a:solidFill>
                <a:latin typeface="Courier New" charset="0"/>
              </a:rPr>
              <a:t> {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1200" b="1" dirty="0">
                <a:latin typeface="Courier New" charset="0"/>
              </a:rPr>
              <a:t>		return </a:t>
            </a:r>
            <a:r>
              <a:rPr lang="en-US" sz="1200" b="1" dirty="0" err="1">
                <a:latin typeface="Courier New" charset="0"/>
              </a:rPr>
              <a:t>this.orders</a:t>
            </a:r>
            <a:r>
              <a:rPr lang="en-US" sz="1200" b="1" dirty="0">
                <a:latin typeface="Courier New" charset="0"/>
              </a:rPr>
              <a:t>;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1200" b="1" dirty="0">
                <a:latin typeface="Courier New" charset="0"/>
              </a:rPr>
              <a:t>	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1200" b="1" dirty="0">
                <a:latin typeface="Courier New" charset="0"/>
              </a:rPr>
              <a:t>	...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1200" b="1" dirty="0">
                <a:latin typeface="Courier New" charset="0"/>
              </a:rPr>
              <a:t>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sz="1200" b="1" dirty="0">
              <a:latin typeface="Courier New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sz="1200" b="1" dirty="0">
              <a:latin typeface="Courier New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1200" b="1" dirty="0">
                <a:latin typeface="Courier New" charset="0"/>
              </a:rPr>
              <a:t>public class </a:t>
            </a:r>
            <a:r>
              <a:rPr lang="en-US" sz="1200" b="1" dirty="0" err="1">
                <a:latin typeface="Courier New" charset="0"/>
              </a:rPr>
              <a:t>CustomerProxy</a:t>
            </a:r>
            <a:r>
              <a:rPr lang="en-US" sz="1200" b="1" dirty="0">
                <a:latin typeface="Courier New" charset="0"/>
              </a:rPr>
              <a:t> </a:t>
            </a:r>
            <a:r>
              <a:rPr lang="en-US" sz="1200" b="1" dirty="0">
                <a:solidFill>
                  <a:srgbClr val="FF3300"/>
                </a:solidFill>
                <a:latin typeface="Courier New" charset="0"/>
              </a:rPr>
              <a:t>extends</a:t>
            </a:r>
            <a:r>
              <a:rPr lang="en-US" sz="1200" b="1" dirty="0">
                <a:latin typeface="Courier New" charset="0"/>
              </a:rPr>
              <a:t> </a:t>
            </a:r>
            <a:r>
              <a:rPr lang="en-US" sz="1200" b="1" dirty="0" err="1">
                <a:latin typeface="Courier New" charset="0"/>
              </a:rPr>
              <a:t>Cutomer</a:t>
            </a:r>
            <a:r>
              <a:rPr lang="en-US" sz="1200" b="1" dirty="0">
                <a:latin typeface="Courier New" charset="0"/>
              </a:rPr>
              <a:t>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1200" b="1" dirty="0">
                <a:solidFill>
                  <a:srgbClr val="FF0000"/>
                </a:solidFill>
                <a:latin typeface="Courier New" charset="0"/>
              </a:rPr>
              <a:t>	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1200" b="1" dirty="0">
                <a:solidFill>
                  <a:srgbClr val="FF0000"/>
                </a:solidFill>
                <a:latin typeface="Courier New" charset="0"/>
              </a:rPr>
              <a:t>	public List&lt;Order&gt; </a:t>
            </a:r>
            <a:r>
              <a:rPr lang="en-US" sz="1200" b="1" dirty="0" err="1">
                <a:solidFill>
                  <a:srgbClr val="FF0000"/>
                </a:solidFill>
                <a:latin typeface="Courier New" charset="0"/>
              </a:rPr>
              <a:t>getOrders</a:t>
            </a:r>
            <a:r>
              <a:rPr lang="en-US" sz="1200" b="1" dirty="0">
                <a:solidFill>
                  <a:srgbClr val="FF0000"/>
                </a:solidFill>
                <a:latin typeface="Courier New" charset="0"/>
              </a:rPr>
              <a:t> {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1200" b="1" dirty="0">
                <a:latin typeface="Courier New" charset="0"/>
              </a:rPr>
              <a:t>	  List&lt;Order&gt; orders = new </a:t>
            </a:r>
            <a:r>
              <a:rPr lang="en-US" sz="1200" b="1" dirty="0" err="1">
                <a:latin typeface="Courier New" charset="0"/>
              </a:rPr>
              <a:t>ArrayList</a:t>
            </a:r>
            <a:r>
              <a:rPr lang="en-US" sz="1200" b="1" dirty="0">
                <a:latin typeface="Courier New" charset="0"/>
              </a:rPr>
              <a:t>&lt;Order&gt;();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sz="1200" b="1" dirty="0">
              <a:latin typeface="Courier New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1200" b="1" dirty="0">
                <a:latin typeface="Courier New" charset="0"/>
              </a:rPr>
              <a:t>     // code to retrieve orders from the </a:t>
            </a:r>
            <a:r>
              <a:rPr lang="en-US" sz="1200" b="1" dirty="0" err="1">
                <a:latin typeface="Courier New" charset="0"/>
              </a:rPr>
              <a:t>db</a:t>
            </a:r>
            <a:endParaRPr lang="en-US" sz="1200" b="1" dirty="0">
              <a:latin typeface="Courier New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1200" b="1" dirty="0">
                <a:latin typeface="Courier New" charset="0"/>
              </a:rPr>
              <a:t>     </a:t>
            </a:r>
            <a:endParaRPr lang="it-IT" sz="1200" b="1" dirty="0">
              <a:latin typeface="Courier New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1200" b="1" dirty="0">
                <a:latin typeface="Courier New" charset="0"/>
              </a:rPr>
              <a:t>	  </a:t>
            </a:r>
            <a:r>
              <a:rPr lang="en-US" sz="1200" b="1" dirty="0" err="1">
                <a:latin typeface="Courier New" charset="0"/>
              </a:rPr>
              <a:t>this.setOrdini</a:t>
            </a:r>
            <a:r>
              <a:rPr lang="en-US" sz="1200" b="1" dirty="0">
                <a:latin typeface="Courier New" charset="0"/>
              </a:rPr>
              <a:t>(orders);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1200" b="1" dirty="0">
                <a:latin typeface="Courier New" charset="0"/>
              </a:rPr>
              <a:t>	  return orders;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1200" b="1" dirty="0">
                <a:latin typeface="Courier New" charset="0"/>
              </a:rPr>
              <a:t>	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1200" b="1" dirty="0">
                <a:latin typeface="Courier New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19047791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Ordinamento</a:t>
            </a:r>
            <a:endParaRPr lang="en-US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In Java le </a:t>
            </a:r>
            <a:r>
              <a:rPr lang="en-US" dirty="0" err="1"/>
              <a:t>collezioni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rappresentano</a:t>
            </a:r>
            <a:r>
              <a:rPr lang="en-US" dirty="0"/>
              <a:t> le </a:t>
            </a:r>
            <a:r>
              <a:rPr lang="en-US" dirty="0" err="1"/>
              <a:t>associazioni</a:t>
            </a:r>
            <a:r>
              <a:rPr lang="en-US" dirty="0"/>
              <a:t> </a:t>
            </a:r>
            <a:r>
              <a:rPr lang="en-US" dirty="0" err="1"/>
              <a:t>possono</a:t>
            </a:r>
            <a:r>
              <a:rPr lang="en-US" dirty="0"/>
              <a:t> </a:t>
            </a:r>
            <a:r>
              <a:rPr lang="en-US" dirty="0" err="1"/>
              <a:t>essere</a:t>
            </a:r>
            <a:r>
              <a:rPr lang="en-US" dirty="0"/>
              <a:t> </a:t>
            </a:r>
            <a:r>
              <a:rPr lang="en-US" dirty="0" err="1"/>
              <a:t>implementate</a:t>
            </a:r>
            <a:r>
              <a:rPr lang="en-US" dirty="0"/>
              <a:t> da </a:t>
            </a:r>
            <a:r>
              <a:rPr lang="en-US" dirty="0" err="1"/>
              <a:t>classi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mantengono</a:t>
            </a:r>
            <a:r>
              <a:rPr lang="en-US" dirty="0"/>
              <a:t> </a:t>
            </a:r>
            <a:r>
              <a:rPr lang="en-US" dirty="0" err="1"/>
              <a:t>l'ordine</a:t>
            </a:r>
            <a:r>
              <a:rPr lang="en-US" dirty="0"/>
              <a:t> (List)</a:t>
            </a:r>
          </a:p>
          <a:p>
            <a:r>
              <a:rPr lang="en-US" dirty="0"/>
              <a:t>Se </a:t>
            </a:r>
            <a:r>
              <a:rPr lang="en-US" dirty="0" err="1"/>
              <a:t>l'ordine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rilevante</a:t>
            </a:r>
            <a:r>
              <a:rPr lang="en-US" dirty="0"/>
              <a:t> ai </a:t>
            </a:r>
            <a:r>
              <a:rPr lang="en-US" dirty="0" err="1"/>
              <a:t>fini</a:t>
            </a:r>
            <a:r>
              <a:rPr lang="en-US" dirty="0"/>
              <a:t> </a:t>
            </a:r>
            <a:r>
              <a:rPr lang="en-US" dirty="0" err="1"/>
              <a:t>della</a:t>
            </a:r>
            <a:r>
              <a:rPr lang="en-US" dirty="0"/>
              <a:t> </a:t>
            </a:r>
            <a:r>
              <a:rPr lang="en-US" dirty="0" err="1"/>
              <a:t>applicazione</a:t>
            </a:r>
            <a:r>
              <a:rPr lang="en-US" dirty="0"/>
              <a:t>, </a:t>
            </a:r>
            <a:r>
              <a:rPr lang="en-US" dirty="0" err="1"/>
              <a:t>il</a:t>
            </a:r>
            <a:r>
              <a:rPr lang="en-US" dirty="0"/>
              <a:t> database </a:t>
            </a:r>
            <a:r>
              <a:rPr lang="en-US" dirty="0" err="1"/>
              <a:t>può</a:t>
            </a:r>
            <a:r>
              <a:rPr lang="en-US" dirty="0"/>
              <a:t> </a:t>
            </a:r>
            <a:r>
              <a:rPr lang="en-US" dirty="0" err="1"/>
              <a:t>memorizzarlo</a:t>
            </a:r>
            <a:r>
              <a:rPr lang="en-US" dirty="0"/>
              <a:t> (</a:t>
            </a:r>
            <a:r>
              <a:rPr lang="en-US" dirty="0" err="1"/>
              <a:t>tramite</a:t>
            </a:r>
            <a:r>
              <a:rPr lang="en-US" dirty="0"/>
              <a:t> </a:t>
            </a:r>
            <a:r>
              <a:rPr lang="en-US" dirty="0" err="1"/>
              <a:t>un'opportuna</a:t>
            </a:r>
            <a:r>
              <a:rPr lang="en-US" dirty="0"/>
              <a:t> </a:t>
            </a:r>
            <a:r>
              <a:rPr lang="en-US" dirty="0" err="1"/>
              <a:t>colonna</a:t>
            </a:r>
            <a:r>
              <a:rPr lang="en-US" dirty="0"/>
              <a:t>)</a:t>
            </a:r>
          </a:p>
          <a:p>
            <a:r>
              <a:rPr lang="en-US" dirty="0"/>
              <a:t>E' </a:t>
            </a:r>
            <a:r>
              <a:rPr lang="en-US" dirty="0" err="1"/>
              <a:t>possibile</a:t>
            </a:r>
            <a:r>
              <a:rPr lang="en-US" dirty="0"/>
              <a:t> </a:t>
            </a:r>
            <a:r>
              <a:rPr lang="en-US" dirty="0" err="1"/>
              <a:t>mappare</a:t>
            </a:r>
            <a:r>
              <a:rPr lang="en-US" dirty="0"/>
              <a:t> </a:t>
            </a:r>
            <a:r>
              <a:rPr lang="en-US" dirty="0" err="1"/>
              <a:t>l'ordine</a:t>
            </a:r>
            <a:r>
              <a:rPr lang="en-US" dirty="0"/>
              <a:t> </a:t>
            </a:r>
            <a:r>
              <a:rPr lang="en-US" dirty="0" err="1"/>
              <a:t>mediante</a:t>
            </a:r>
            <a:r>
              <a:rPr lang="en-US" dirty="0"/>
              <a:t> </a:t>
            </a:r>
            <a:r>
              <a:rPr lang="en-US" dirty="0" err="1"/>
              <a:t>l'annotazione</a:t>
            </a:r>
            <a:r>
              <a:rPr lang="en-US" dirty="0"/>
              <a:t> @</a:t>
            </a:r>
            <a:r>
              <a:rPr lang="en-US" dirty="0" err="1"/>
              <a:t>OrderBy</a:t>
            </a:r>
            <a:endParaRPr lang="en-US" dirty="0"/>
          </a:p>
          <a:p>
            <a:r>
              <a:rPr lang="en-US" dirty="0" err="1"/>
              <a:t>Esempio</a:t>
            </a:r>
            <a:r>
              <a:rPr lang="en-US" dirty="0"/>
              <a:t> (</a:t>
            </a:r>
            <a:r>
              <a:rPr lang="en-US" dirty="0" err="1"/>
              <a:t>nella</a:t>
            </a:r>
            <a:r>
              <a:rPr lang="en-US" dirty="0"/>
              <a:t> </a:t>
            </a:r>
            <a:r>
              <a:rPr lang="en-US" dirty="0" err="1"/>
              <a:t>classe</a:t>
            </a:r>
            <a:r>
              <a:rPr lang="en-US" dirty="0"/>
              <a:t> Customer):</a:t>
            </a:r>
          </a:p>
          <a:p>
            <a:pPr marL="342900" lvl="1" indent="0">
              <a:buNone/>
            </a:pPr>
            <a:r>
              <a:rPr lang="en-US" dirty="0"/>
              <a:t>	@</a:t>
            </a:r>
            <a:r>
              <a:rPr lang="en-US" dirty="0" err="1"/>
              <a:t>OneToMany</a:t>
            </a:r>
            <a:endParaRPr lang="en-US" dirty="0"/>
          </a:p>
          <a:p>
            <a:pPr marL="342900" lvl="1" indent="0">
              <a:buNone/>
            </a:pPr>
            <a:r>
              <a:rPr lang="en-US" dirty="0"/>
              <a:t>	@</a:t>
            </a:r>
            <a:r>
              <a:rPr lang="en-US" dirty="0" err="1"/>
              <a:t>OrderBy</a:t>
            </a:r>
            <a:r>
              <a:rPr lang="en-US" dirty="0"/>
              <a:t>("</a:t>
            </a:r>
            <a:r>
              <a:rPr lang="en-US" dirty="0" err="1"/>
              <a:t>creationTime</a:t>
            </a:r>
            <a:r>
              <a:rPr lang="en-US" dirty="0"/>
              <a:t> </a:t>
            </a:r>
            <a:r>
              <a:rPr lang="en-US" dirty="0" err="1"/>
              <a:t>asc</a:t>
            </a:r>
            <a:r>
              <a:rPr lang="en-US" dirty="0"/>
              <a:t>")</a:t>
            </a:r>
          </a:p>
          <a:p>
            <a:pPr marL="342900" lvl="1" indent="0">
              <a:buNone/>
            </a:pPr>
            <a:r>
              <a:rPr lang="en-US" dirty="0"/>
              <a:t>	private List&lt;Order&gt; orders;</a:t>
            </a:r>
          </a:p>
          <a:p>
            <a:endParaRPr lang="en-US" dirty="0"/>
          </a:p>
          <a:p>
            <a:r>
              <a:rPr lang="en-US" dirty="0">
                <a:highlight>
                  <a:srgbClr val="FFFF00"/>
                </a:highlight>
              </a:rPr>
              <a:t>ATTENZIONE: non </a:t>
            </a:r>
            <a:r>
              <a:rPr lang="en-US" dirty="0" err="1">
                <a:highlight>
                  <a:srgbClr val="FFFF00"/>
                </a:highlight>
              </a:rPr>
              <a:t>tutte</a:t>
            </a:r>
            <a:r>
              <a:rPr lang="en-US" dirty="0">
                <a:highlight>
                  <a:srgbClr val="FFFF00"/>
                </a:highlight>
              </a:rPr>
              <a:t> le </a:t>
            </a:r>
            <a:r>
              <a:rPr lang="en-US" dirty="0" err="1">
                <a:highlight>
                  <a:srgbClr val="FFFF00"/>
                </a:highlight>
              </a:rPr>
              <a:t>implementazioni</a:t>
            </a:r>
            <a:r>
              <a:rPr lang="en-US" dirty="0">
                <a:highlight>
                  <a:srgbClr val="FFFF00"/>
                </a:highlight>
              </a:rPr>
              <a:t> di JPA lo </a:t>
            </a:r>
            <a:r>
              <a:rPr lang="en-US" dirty="0" err="1">
                <a:highlight>
                  <a:srgbClr val="FFFF00"/>
                </a:highlight>
              </a:rPr>
              <a:t>supportano</a:t>
            </a:r>
            <a:endParaRPr lang="en-US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43532196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88525</TotalTime>
  <Words>9228</Words>
  <Application>Microsoft Macintosh PowerPoint</Application>
  <PresentationFormat>Presentazione su schermo (16:9)</PresentationFormat>
  <Paragraphs>1719</Paragraphs>
  <Slides>114</Slides>
  <Notes>6</Notes>
  <HiddenSlides>8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114</vt:i4>
      </vt:variant>
    </vt:vector>
  </HeadingPairs>
  <TitlesOfParts>
    <vt:vector size="121" baseType="lpstr">
      <vt:lpstr>Arial</vt:lpstr>
      <vt:lpstr>Calibri Light</vt:lpstr>
      <vt:lpstr>Cambira</vt:lpstr>
      <vt:lpstr>Courier New</vt:lpstr>
      <vt:lpstr>Helvetica Neue</vt:lpstr>
      <vt:lpstr>Wingdings</vt:lpstr>
      <vt:lpstr>Tema di Office</vt:lpstr>
      <vt:lpstr>Sistemi informativi su Web Gestione Persistenza:  Java Persistence API: Object Relational Mapping aa 2024-2025 </vt:lpstr>
      <vt:lpstr>Anatomia  di un sistema informativo su Web</vt:lpstr>
      <vt:lpstr>Sommario</vt:lpstr>
      <vt:lpstr>Introduzione</vt:lpstr>
      <vt:lpstr>Introduzione</vt:lpstr>
      <vt:lpstr>Introduzione</vt:lpstr>
      <vt:lpstr>Nota terminologica</vt:lpstr>
      <vt:lpstr>Rappresentazioni Grafiche</vt:lpstr>
      <vt:lpstr>JPA</vt:lpstr>
      <vt:lpstr>Entity</vt:lpstr>
      <vt:lpstr>Object-Relational-Mapping</vt:lpstr>
      <vt:lpstr>Object-Relational-Mapping</vt:lpstr>
      <vt:lpstr>Object-Relational-Mapping</vt:lpstr>
      <vt:lpstr>Object-Relational-Mapping</vt:lpstr>
      <vt:lpstr>Corrispondenza tra tipi Java e SQL</vt:lpstr>
      <vt:lpstr>Esempio (1/3)</vt:lpstr>
      <vt:lpstr>Esempio (2/3)</vt:lpstr>
      <vt:lpstr>Esempio (3/3)</vt:lpstr>
      <vt:lpstr>Esempio (dettagli)</vt:lpstr>
      <vt:lpstr>Entity: restrizioni sul codice Java</vt:lpstr>
      <vt:lpstr>Annotazioni principali</vt:lpstr>
      <vt:lpstr>Equals - HashCode</vt:lpstr>
      <vt:lpstr>Esempio</vt:lpstr>
      <vt:lpstr>Object-Relational-Mapping</vt:lpstr>
      <vt:lpstr>Mettiamo tutto in pratica</vt:lpstr>
      <vt:lpstr>Esercizio 1</vt:lpstr>
      <vt:lpstr>Esercizio 1 class diagram (vedi prossima slide)</vt:lpstr>
      <vt:lpstr>Sommario</vt:lpstr>
      <vt:lpstr>Relationship Mapping</vt:lpstr>
      <vt:lpstr>Associazioni nel mondo OO</vt:lpstr>
      <vt:lpstr>Associazioni nel mondo OO:  direzione e molteplicità</vt:lpstr>
      <vt:lpstr>Associazioni nel mondo OO:  direzione e molteplicità</vt:lpstr>
      <vt:lpstr>Associazioni nel mondo OO:  direzione e molteplicità</vt:lpstr>
      <vt:lpstr>Associazioni nel mondo OO:  direzione e molteplicità</vt:lpstr>
      <vt:lpstr>Associazioni nel mondo OO:  direzione e molteplicità</vt:lpstr>
      <vt:lpstr>Associazioni nel mondo OO:  direzione e molteplicità</vt:lpstr>
      <vt:lpstr>Associazioni nel mondo OO:  direzione e molteplicità</vt:lpstr>
      <vt:lpstr>Associazioni nel mondo relazionale</vt:lpstr>
      <vt:lpstr>Associazioni nel mondo relazionale</vt:lpstr>
      <vt:lpstr>Associazioni nel mondo relazionale</vt:lpstr>
      <vt:lpstr>Mapping delle Associazioni</vt:lpstr>
      <vt:lpstr>Mapping delle Associazioni</vt:lpstr>
      <vt:lpstr>Associazioni unidirezionali</vt:lpstr>
      <vt:lpstr>Associazioni unidirezionali OneToOne: Esempio</vt:lpstr>
      <vt:lpstr>Associazioni unidirezionali OneToOne: Esempio (cont.)</vt:lpstr>
      <vt:lpstr>Object-Relational-Mapping Tipi info temporali</vt:lpstr>
      <vt:lpstr>Object-Relational-Mapping Tipi info temporali</vt:lpstr>
      <vt:lpstr>Object-Relational-Mapping Tipi info temporali</vt:lpstr>
      <vt:lpstr>Mettiamo tutto in pratica</vt:lpstr>
      <vt:lpstr>Esercizio 2 (1/12)</vt:lpstr>
      <vt:lpstr>Esercizio 2 (2/12)</vt:lpstr>
      <vt:lpstr>Object-Relational-Mapping Approfondimenti</vt:lpstr>
      <vt:lpstr>Object-Relational-Mapping Vincoli di Unicità</vt:lpstr>
      <vt:lpstr>Object-Relational-Mapping Vincoli di Unicità</vt:lpstr>
      <vt:lpstr>Object-Relational-Mapping Vincoli di Unicità</vt:lpstr>
      <vt:lpstr>Mettiamo tutto in pratica</vt:lpstr>
      <vt:lpstr>Esercizio 2</vt:lpstr>
      <vt:lpstr>Associazioni unidirezionali OneToOne: Esempio (cont.)</vt:lpstr>
      <vt:lpstr>Configuration by Exception</vt:lpstr>
      <vt:lpstr>Associazioni unidirezionali OneToMany: Esempio</vt:lpstr>
      <vt:lpstr>Esempio (cont.)</vt:lpstr>
      <vt:lpstr>Associazioni unidirezionali OneToMany</vt:lpstr>
      <vt:lpstr>Esempio (cont.)</vt:lpstr>
      <vt:lpstr>Configuration by Exception</vt:lpstr>
      <vt:lpstr>Associazioni unidirezionali OneToMany</vt:lpstr>
      <vt:lpstr>Esempio</vt:lpstr>
      <vt:lpstr>Esempio (cont.)</vt:lpstr>
      <vt:lpstr>Associazioni bidirezionali</vt:lpstr>
      <vt:lpstr>Esempio</vt:lpstr>
      <vt:lpstr>Associazioni bidirezionali</vt:lpstr>
      <vt:lpstr>Esempio (cont.)</vt:lpstr>
      <vt:lpstr>Associazioni bidirezionali</vt:lpstr>
      <vt:lpstr>Esempio (cont.)</vt:lpstr>
      <vt:lpstr>Esempio (cont.)</vt:lpstr>
      <vt:lpstr>Esempio (cont.)</vt:lpstr>
      <vt:lpstr>Perchè serve il mapping</vt:lpstr>
      <vt:lpstr>Perchè serve il mapping</vt:lpstr>
      <vt:lpstr>Mettiamo tutto in pratica</vt:lpstr>
      <vt:lpstr>Esercizio 2 (3/12) </vt:lpstr>
      <vt:lpstr>Esercizio 2 (4/12)</vt:lpstr>
      <vt:lpstr>Esercizio 2 (5/12)</vt:lpstr>
      <vt:lpstr>Esercizio 2 (6/12)</vt:lpstr>
      <vt:lpstr>Esercizio 2 (7/12)</vt:lpstr>
      <vt:lpstr>Associazioni bidirezionali ManyToMany</vt:lpstr>
      <vt:lpstr>Esempio</vt:lpstr>
      <vt:lpstr>Esempio (cont.)</vt:lpstr>
      <vt:lpstr>Esempio (cont.)</vt:lpstr>
      <vt:lpstr>Mettiamo tutto in pratica</vt:lpstr>
      <vt:lpstr>Esercizio 2 (7/12)  class diagram per il punto 19 (vedi prossima slide)</vt:lpstr>
      <vt:lpstr>Esercizio 2 (8/12)</vt:lpstr>
      <vt:lpstr>Esercizio 2 (9/12)</vt:lpstr>
      <vt:lpstr>Cardinalità e direzione tra entità</vt:lpstr>
      <vt:lpstr>Mettiamo tutto in pratica</vt:lpstr>
      <vt:lpstr>Esercizio 3</vt:lpstr>
      <vt:lpstr>Esercizio 3</vt:lpstr>
      <vt:lpstr>Esercizio 3</vt:lpstr>
      <vt:lpstr>Esercizio 3</vt:lpstr>
      <vt:lpstr>Approfondimenti  Mapping Associazioni</vt:lpstr>
      <vt:lpstr>Class Diagram Esercizio 2</vt:lpstr>
      <vt:lpstr>Strategia di Fetch</vt:lpstr>
      <vt:lpstr>Strategia di Fetch</vt:lpstr>
      <vt:lpstr>Strategia di Fetch</vt:lpstr>
      <vt:lpstr>Strategia di Fetch</vt:lpstr>
      <vt:lpstr>Progettazione</vt:lpstr>
      <vt:lpstr>Esempio</vt:lpstr>
      <vt:lpstr>Mettiamo tutto in pratica</vt:lpstr>
      <vt:lpstr>Esercizio 5</vt:lpstr>
      <vt:lpstr>Mapping Classi Estese (cenni)</vt:lpstr>
      <vt:lpstr>Lazy Load: Come funziona?</vt:lpstr>
      <vt:lpstr>Il pattern proxy: structure</vt:lpstr>
      <vt:lpstr>Pattern Proxy:  Participants and Responsibilities</vt:lpstr>
      <vt:lpstr>Lazy Load e classi proxy</vt:lpstr>
      <vt:lpstr>Lazy Load: proxy</vt:lpstr>
      <vt:lpstr>Ordinamento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Sistemi informativi su Web Persistenza: JPA aa 2017-2018 </dc:title>
  <cp:lastModifiedBy>Paolo Merialdo</cp:lastModifiedBy>
  <cp:revision>240</cp:revision>
  <cp:lastPrinted>2019-03-25T15:30:29Z</cp:lastPrinted>
  <dcterms:modified xsi:type="dcterms:W3CDTF">2025-03-25T10:15:11Z</dcterms:modified>
</cp:coreProperties>
</file>