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9"/>
  </p:notesMasterIdLst>
  <p:sldIdLst>
    <p:sldId id="367" r:id="rId2"/>
    <p:sldId id="302" r:id="rId3"/>
    <p:sldId id="281" r:id="rId4"/>
    <p:sldId id="284" r:id="rId5"/>
    <p:sldId id="270" r:id="rId6"/>
    <p:sldId id="275" r:id="rId7"/>
    <p:sldId id="263" r:id="rId8"/>
    <p:sldId id="277" r:id="rId9"/>
    <p:sldId id="294" r:id="rId10"/>
    <p:sldId id="268" r:id="rId11"/>
    <p:sldId id="368" r:id="rId12"/>
    <p:sldId id="369" r:id="rId13"/>
    <p:sldId id="286" r:id="rId14"/>
    <p:sldId id="371" r:id="rId15"/>
    <p:sldId id="372" r:id="rId16"/>
    <p:sldId id="373" r:id="rId17"/>
    <p:sldId id="374" r:id="rId18"/>
    <p:sldId id="375" r:id="rId19"/>
    <p:sldId id="376" r:id="rId20"/>
    <p:sldId id="295" r:id="rId21"/>
    <p:sldId id="296" r:id="rId22"/>
    <p:sldId id="297" r:id="rId23"/>
    <p:sldId id="377" r:id="rId24"/>
    <p:sldId id="378" r:id="rId25"/>
    <p:sldId id="299" r:id="rId26"/>
    <p:sldId id="300" r:id="rId27"/>
    <p:sldId id="258" r:id="rId28"/>
  </p:sldIdLst>
  <p:sldSz cx="9144000" cy="5143500" type="screen16x9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2055"/>
  </p:normalViewPr>
  <p:slideViewPr>
    <p:cSldViewPr snapToGrid="0" snapToObjects="1">
      <p:cViewPr varScale="1">
        <p:scale>
          <a:sx n="150" d="100"/>
          <a:sy n="150" d="100"/>
        </p:scale>
        <p:origin x="664" y="1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Merialdo" userId="6b2f726f-c277-4207-bbd5-daf1d09aaa87" providerId="ADAL" clId="{841F0B69-6331-4E40-8F5D-C639B9B180F6}"/>
    <pc:docChg chg="addSld delSld modSld">
      <pc:chgData name="Paolo Merialdo" userId="6b2f726f-c277-4207-bbd5-daf1d09aaa87" providerId="ADAL" clId="{841F0B69-6331-4E40-8F5D-C639B9B180F6}" dt="2025-02-27T15:28:21.265" v="30" actId="729"/>
      <pc:docMkLst>
        <pc:docMk/>
      </pc:docMkLst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676672180" sldId="258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235761828" sldId="263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917601325" sldId="268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607134968" sldId="270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3687917932" sldId="275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3698130290" sldId="277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590863120" sldId="281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370309305" sldId="284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176138339" sldId="286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115080789" sldId="294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3383952529" sldId="295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8496490" sldId="296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67715843" sldId="297"/>
        </pc:sldMkLst>
      </pc:sldChg>
      <pc:sldChg chg="del">
        <pc:chgData name="Paolo Merialdo" userId="6b2f726f-c277-4207-bbd5-daf1d09aaa87" providerId="ADAL" clId="{841F0B69-6331-4E40-8F5D-C639B9B180F6}" dt="2025-02-27T15:27:50.724" v="14" actId="2696"/>
        <pc:sldMkLst>
          <pc:docMk/>
          <pc:sldMk cId="1825082971" sldId="298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129011619" sldId="299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122463096" sldId="300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010750111" sldId="302"/>
        </pc:sldMkLst>
      </pc:sldChg>
      <pc:sldChg chg="modSp mod">
        <pc:chgData name="Paolo Merialdo" userId="6b2f726f-c277-4207-bbd5-daf1d09aaa87" providerId="ADAL" clId="{841F0B69-6331-4E40-8F5D-C639B9B180F6}" dt="2025-02-27T15:27:22.402" v="3" actId="20577"/>
        <pc:sldMkLst>
          <pc:docMk/>
          <pc:sldMk cId="359190754" sldId="367"/>
        </pc:sldMkLst>
        <pc:spChg chg="mod">
          <ac:chgData name="Paolo Merialdo" userId="6b2f726f-c277-4207-bbd5-daf1d09aaa87" providerId="ADAL" clId="{841F0B69-6331-4E40-8F5D-C639B9B180F6}" dt="2025-02-27T15:27:22.402" v="3" actId="20577"/>
          <ac:spMkLst>
            <pc:docMk/>
            <pc:sldMk cId="359190754" sldId="367"/>
            <ac:spMk id="3074" creationId="{00000000-0000-0000-0000-000000000000}"/>
          </ac:spMkLst>
        </pc:spChg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1767775276" sldId="368"/>
        </pc:sldMkLst>
      </pc:sldChg>
      <pc:sldChg chg="add del">
        <pc:chgData name="Paolo Merialdo" userId="6b2f726f-c277-4207-bbd5-daf1d09aaa87" providerId="ADAL" clId="{841F0B69-6331-4E40-8F5D-C639B9B180F6}" dt="2025-02-27T15:27:52.724" v="29"/>
        <pc:sldMkLst>
          <pc:docMk/>
          <pc:sldMk cId="2493323855" sldId="369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286338066" sldId="371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3316120995" sldId="372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3686950020" sldId="373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2884207147" sldId="374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3135522423" sldId="375"/>
        </pc:sldMkLst>
      </pc:sldChg>
      <pc:sldChg chg="add del mod modShow">
        <pc:chgData name="Paolo Merialdo" userId="6b2f726f-c277-4207-bbd5-daf1d09aaa87" providerId="ADAL" clId="{841F0B69-6331-4E40-8F5D-C639B9B180F6}" dt="2025-02-27T15:28:21.265" v="30" actId="729"/>
        <pc:sldMkLst>
          <pc:docMk/>
          <pc:sldMk cId="3526675826" sldId="376"/>
        </pc:sldMkLst>
      </pc:sldChg>
      <pc:sldChg chg="add">
        <pc:chgData name="Paolo Merialdo" userId="6b2f726f-c277-4207-bbd5-daf1d09aaa87" providerId="ADAL" clId="{841F0B69-6331-4E40-8F5D-C639B9B180F6}" dt="2025-02-27T15:27:52.724" v="29"/>
        <pc:sldMkLst>
          <pc:docMk/>
          <pc:sldMk cId="1368010998" sldId="377"/>
        </pc:sldMkLst>
      </pc:sldChg>
      <pc:sldChg chg="add">
        <pc:chgData name="Paolo Merialdo" userId="6b2f726f-c277-4207-bbd5-daf1d09aaa87" providerId="ADAL" clId="{841F0B69-6331-4E40-8F5D-C639B9B180F6}" dt="2025-02-27T15:27:52.724" v="29"/>
        <pc:sldMkLst>
          <pc:docMk/>
          <pc:sldMk cId="1272783436" sldId="3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6AF75452-8E9B-2A4A-993A-81C6082A6AE5}" type="datetimeFigureOut">
              <a:rPr lang="it-IT" smtClean="0"/>
              <a:pPr/>
              <a:t>27/02/25</a:t>
            </a:fld>
            <a:endParaRPr lang="en-US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 Light" panose="020F0302020204030204" pitchFamily="34" charset="0"/>
              </a:defRPr>
            </a:lvl1pPr>
          </a:lstStyle>
          <a:p>
            <a:fld id="{B48FDC54-0F6D-2A4D-9375-4DA1EF8B8D51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1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8EB111A-9E8D-AE42-AF40-7D7AD69A6457}" type="slidenum">
              <a:rPr lang="it-IT">
                <a:latin typeface="Calibri Light" panose="020F0302020204030204" pitchFamily="34" charset="0"/>
              </a:rPr>
              <a:pPr eaLnBrk="1" hangingPunct="1"/>
              <a:t>1</a:t>
            </a:fld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923A3CE-C6AA-F143-8F4E-6553FC3FF19C}" type="slidenum">
              <a:rPr lang="it-IT">
                <a:latin typeface="Calibri Light" panose="020F0302020204030204" pitchFamily="34" charset="0"/>
              </a:rPr>
              <a:pPr eaLnBrk="1" hangingPunct="1"/>
              <a:t>7</a:t>
            </a:fld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91238" cy="3427412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4988"/>
            <a:ext cx="5032375" cy="411162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76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09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6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86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19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38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14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6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33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41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3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A805A2E-4434-7E48-B506-6CB9726E48D0}" type="datetimeFigureOut">
              <a:rPr lang="it-IT" smtClean="0">
                <a:solidFill>
                  <a:prstClr val="black">
                    <a:tint val="75000"/>
                  </a:prstClr>
                </a:solidFill>
              </a:rPr>
              <a:pPr/>
              <a:t>27/02/25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FDAF911D-13AB-8148-AE42-EE897161D6F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92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342900" rtl="0" eaLnBrk="1" latinLnBrk="0" hangingPunct="1">
        <a:spcBef>
          <a:spcPct val="0"/>
        </a:spcBef>
        <a:buNone/>
        <a:defRPr sz="33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paolo.merialdo@gmail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OllLb2MmaJObPjxuS_fYcI7rO5kj6j2xfrGdHozzyu4/edit?usp=shari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mparison_of_web_frameworks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598616"/>
            <a:ext cx="5829300" cy="1101725"/>
          </a:xfrm>
          <a:extLst>
            <a:ext uri="{91240B29-F687-4f45-9708-019B960494DF}">
              <a14:hiddenLine xmlns:a14="http://schemas.microsoft.com/office/drawing/2010/main" xmlns="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1500" dirty="0">
                <a:latin typeface="Calibri Light" panose="020F0302020204030204" pitchFamily="34" charset="0"/>
              </a:rPr>
              <a:t>Sistemi informativi su Web</a:t>
            </a:r>
            <a:br>
              <a:rPr lang="it-IT" sz="1500" dirty="0">
                <a:latin typeface="Calibri Light" panose="020F0302020204030204" pitchFamily="34" charset="0"/>
              </a:rPr>
            </a:br>
            <a:r>
              <a:rPr lang="it-IT" dirty="0">
                <a:solidFill>
                  <a:srgbClr val="7030A0"/>
                </a:solidFill>
                <a:latin typeface="Calibri Light" panose="020F0302020204030204" pitchFamily="34" charset="0"/>
              </a:rPr>
              <a:t>PRESENTAZIONE DEL CORSO</a:t>
            </a:r>
            <a:br>
              <a:rPr lang="it-IT" dirty="0">
                <a:solidFill>
                  <a:srgbClr val="7030A0"/>
                </a:solidFill>
                <a:latin typeface="Calibri Light" panose="020F0302020204030204" pitchFamily="34" charset="0"/>
              </a:rPr>
            </a:br>
            <a:r>
              <a:rPr lang="it-IT" sz="2025" dirty="0">
                <a:solidFill>
                  <a:srgbClr val="7030A0"/>
                </a:solidFill>
                <a:latin typeface="Calibri Light" panose="020F0302020204030204" pitchFamily="34" charset="0"/>
              </a:rPr>
              <a:t>aa 2024-2025</a:t>
            </a:r>
            <a:br>
              <a:rPr lang="it-IT" dirty="0">
                <a:solidFill>
                  <a:schemeClr val="accent3">
                    <a:lumMod val="75000"/>
                  </a:schemeClr>
                </a:solidFill>
                <a:latin typeface="Calibri Light" panose="020F0302020204030204" pitchFamily="34" charset="0"/>
              </a:rPr>
            </a:br>
            <a:endParaRPr lang="it-IT" dirty="0">
              <a:solidFill>
                <a:schemeClr val="accent3">
                  <a:lumMod val="75000"/>
                </a:schemeClr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171700" y="4743450"/>
            <a:ext cx="51587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900" dirty="0">
                <a:latin typeface="Calibri Light" panose="020F0302020204030204" pitchFamily="34" charset="0"/>
              </a:rPr>
            </a:br>
            <a:r>
              <a:rPr lang="en-US" sz="900" dirty="0">
                <a:latin typeface="Calibri Light" panose="020F0302020204030204" pitchFamily="34" charset="0"/>
              </a:rPr>
              <a:t>See http://</a:t>
            </a:r>
            <a:r>
              <a:rPr lang="en-US" sz="900" dirty="0" err="1">
                <a:latin typeface="Calibri Light" panose="020F0302020204030204" pitchFamily="34" charset="0"/>
              </a:rPr>
              <a:t>creativecommons.org</a:t>
            </a:r>
            <a:r>
              <a:rPr lang="en-US" sz="900" dirty="0">
                <a:latin typeface="Calibri Light" panose="020F0302020204030204" pitchFamily="34" charset="0"/>
              </a:rPr>
              <a:t>/licenses/by-</a:t>
            </a:r>
            <a:r>
              <a:rPr lang="en-US" sz="900" dirty="0" err="1">
                <a:latin typeface="Calibri Light" panose="020F0302020204030204" pitchFamily="34" charset="0"/>
              </a:rPr>
              <a:t>nc</a:t>
            </a:r>
            <a:r>
              <a:rPr lang="en-US" sz="900" dirty="0">
                <a:latin typeface="Calibri Light" panose="020F0302020204030204" pitchFamily="34" charset="0"/>
              </a:rPr>
              <a:t>-</a:t>
            </a:r>
            <a:r>
              <a:rPr lang="en-US" sz="900" dirty="0" err="1">
                <a:latin typeface="Calibri Light" panose="020F0302020204030204" pitchFamily="34" charset="0"/>
              </a:rPr>
              <a:t>sa</a:t>
            </a:r>
            <a:r>
              <a:rPr lang="en-US" sz="900" dirty="0">
                <a:latin typeface="Calibri Light" panose="020F0302020204030204" pitchFamily="34" charset="0"/>
              </a:rPr>
              <a:t>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4743450"/>
            <a:ext cx="8382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4815" y="3001007"/>
            <a:ext cx="705953" cy="383568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049900" y="2931551"/>
            <a:ext cx="23292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350" dirty="0">
                <a:latin typeface="Calibri Light" panose="020F0302020204030204" pitchFamily="34" charset="0"/>
                <a:ea typeface="+mj-ea"/>
                <a:cs typeface="+mj-cs"/>
              </a:rPr>
              <a:t>Paolo Merialdo</a:t>
            </a:r>
          </a:p>
          <a:p>
            <a:r>
              <a:rPr lang="it-IT" sz="1350" dirty="0">
                <a:latin typeface="Calibri Light" panose="020F0302020204030204" pitchFamily="34" charset="0"/>
                <a:ea typeface="+mj-ea"/>
                <a:cs typeface="+mj-cs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35919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611872-DFD3-7712-AC47-783FC6D2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SIW: </a:t>
            </a:r>
            <a:r>
              <a:rPr lang="en-US" dirty="0" err="1"/>
              <a:t>Benvenuti</a:t>
            </a:r>
            <a:endParaRPr lang="en-US" dirty="0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8B0DA037-D900-8094-5336-BCEE29B8B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295"/>
          <a:stretch/>
        </p:blipFill>
        <p:spPr>
          <a:xfrm>
            <a:off x="4612" y="-19050"/>
            <a:ext cx="9139388" cy="5143500"/>
          </a:xfrm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67FB0BC2-E52A-C05E-AD41-3EF133E5CBEF}"/>
              </a:ext>
            </a:extLst>
          </p:cNvPr>
          <p:cNvSpPr txBox="1">
            <a:spLocks/>
          </p:cNvSpPr>
          <p:nvPr/>
        </p:nvSpPr>
        <p:spPr>
          <a:xfrm>
            <a:off x="116456" y="1700316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5400" dirty="0" err="1">
                <a:solidFill>
                  <a:schemeClr val="bg1"/>
                </a:solidFill>
              </a:rPr>
              <a:t>Sistemi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Informativi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su</a:t>
            </a:r>
            <a:r>
              <a:rPr lang="en-US" sz="5400" dirty="0">
                <a:solidFill>
                  <a:schemeClr val="bg1"/>
                </a:solidFill>
              </a:rPr>
              <a:t> Web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D2C0395-BEE4-0B54-352F-6967FDCF3F65}"/>
              </a:ext>
            </a:extLst>
          </p:cNvPr>
          <p:cNvSpPr txBox="1">
            <a:spLocks/>
          </p:cNvSpPr>
          <p:nvPr/>
        </p:nvSpPr>
        <p:spPr>
          <a:xfrm>
            <a:off x="897466" y="3421219"/>
            <a:ext cx="7789334" cy="1098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err="1">
                <a:solidFill>
                  <a:srgbClr val="FFFFFF"/>
                </a:solidFill>
                <a:latin typeface="+mj-lt"/>
              </a:rPr>
              <a:t>Presentazione</a:t>
            </a:r>
            <a:r>
              <a:rPr lang="en-US" sz="3200" dirty="0">
                <a:solidFill>
                  <a:srgbClr val="FFFFFF"/>
                </a:solidFill>
                <a:latin typeface="+mj-lt"/>
              </a:rPr>
              <a:t> del </a:t>
            </a:r>
            <a:r>
              <a:rPr lang="en-US" sz="3200" dirty="0" err="1">
                <a:solidFill>
                  <a:srgbClr val="FFFFFF"/>
                </a:solidFill>
                <a:latin typeface="+mj-lt"/>
              </a:rPr>
              <a:t>corso</a:t>
            </a:r>
            <a:r>
              <a:rPr lang="en-US" sz="3200" dirty="0">
                <a:solidFill>
                  <a:srgbClr val="FFFFFF"/>
                </a:solidFill>
                <a:latin typeface="+mj-lt"/>
              </a:rPr>
              <a:t> (aa 2024-2025)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1626057-1746-DBA8-D7DD-51F95541E0FF}"/>
              </a:ext>
            </a:extLst>
          </p:cNvPr>
          <p:cNvSpPr txBox="1"/>
          <p:nvPr/>
        </p:nvSpPr>
        <p:spPr>
          <a:xfrm>
            <a:off x="6096000" y="5772100"/>
            <a:ext cx="31644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Paolo Merialdo</a:t>
            </a:r>
          </a:p>
          <a:p>
            <a:r>
              <a:rPr lang="en-US" sz="2000" dirty="0">
                <a:latin typeface="+mj-lt"/>
              </a:rPr>
              <a:t>paolo.merialdo@uniroma3.it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0FA4D62-AF57-C645-8DE5-C8938E3A1D4A}"/>
              </a:ext>
            </a:extLst>
          </p:cNvPr>
          <p:cNvSpPr txBox="1"/>
          <p:nvPr/>
        </p:nvSpPr>
        <p:spPr>
          <a:xfrm>
            <a:off x="5537200" y="4176360"/>
            <a:ext cx="2912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Paolo Merialdo</a:t>
            </a:r>
          </a:p>
          <a:p>
            <a:r>
              <a:rPr lang="en-US" dirty="0">
                <a:solidFill>
                  <a:schemeClr val="bg1"/>
                </a:solidFill>
              </a:rPr>
              <a:t>paolo.merialdo@uniroma3.it</a:t>
            </a:r>
          </a:p>
        </p:txBody>
      </p:sp>
    </p:spTree>
    <p:extLst>
      <p:ext uri="{BB962C8B-B14F-4D97-AF65-F5344CB8AC3E}">
        <p14:creationId xmlns:p14="http://schemas.microsoft.com/office/powerpoint/2010/main" val="101075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 Light" panose="020F0302020204030204" pitchFamily="34" charset="0"/>
              </a:rPr>
              <a:t>Docente</a:t>
            </a:r>
            <a:endParaRPr lang="en-US" dirty="0">
              <a:latin typeface="Calibri Light" panose="020F030202020403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Paolo </a:t>
            </a:r>
            <a:r>
              <a:rPr lang="en-US" dirty="0" err="1">
                <a:latin typeface="Calibri Light" panose="020F0302020204030204" pitchFamily="34" charset="0"/>
              </a:rPr>
              <a:t>Merialdo</a:t>
            </a:r>
            <a:endParaRPr lang="en-US" dirty="0">
              <a:latin typeface="Calibri Light" panose="020F0302020204030204" pitchFamily="34" charset="0"/>
            </a:endParaRPr>
          </a:p>
          <a:p>
            <a:pPr lvl="1"/>
            <a:r>
              <a:rPr lang="en-US" dirty="0">
                <a:latin typeface="Calibri Light" panose="020F0302020204030204" pitchFamily="34" charset="0"/>
              </a:rPr>
              <a:t>http://merialdo.dia.uniroma3.it </a:t>
            </a:r>
          </a:p>
          <a:p>
            <a:pPr lvl="1"/>
            <a:r>
              <a:rPr lang="en-US" dirty="0">
                <a:latin typeface="Calibri Light" panose="020F0302020204030204" pitchFamily="34" charset="0"/>
              </a:rPr>
              <a:t>paolo.merialdo@uniroma3.it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(alias </a:t>
            </a:r>
            <a:r>
              <a:rPr lang="en-US" dirty="0">
                <a:latin typeface="Calibri Light" panose="020F0302020204030204" pitchFamily="34" charset="0"/>
                <a:hlinkClick r:id="rId2"/>
              </a:rPr>
              <a:t>paolo.merialdo@gmail.com</a:t>
            </a:r>
            <a:r>
              <a:rPr lang="en-US" dirty="0">
                <a:latin typeface="Calibri Light" panose="020F0302020204030204" pitchFamily="34" charset="0"/>
              </a:rPr>
              <a:t>)</a:t>
            </a:r>
          </a:p>
          <a:p>
            <a:pPr lvl="1"/>
            <a:r>
              <a:rPr lang="en-US" dirty="0">
                <a:latin typeface="Calibri Light" panose="020F0302020204030204" pitchFamily="34" charset="0"/>
              </a:rPr>
              <a:t>Via </a:t>
            </a:r>
            <a:r>
              <a:rPr lang="en-US" dirty="0" err="1">
                <a:latin typeface="Calibri Light" panose="020F0302020204030204" pitchFamily="34" charset="0"/>
              </a:rPr>
              <a:t>della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Vasca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Navale</a:t>
            </a:r>
            <a:r>
              <a:rPr lang="en-US" dirty="0">
                <a:latin typeface="Calibri Light" panose="020F0302020204030204" pitchFamily="34" charset="0"/>
              </a:rPr>
              <a:t> 79, stanza 2.13</a:t>
            </a:r>
          </a:p>
          <a:p>
            <a:pPr lvl="1"/>
            <a:r>
              <a:rPr lang="en-US" dirty="0" err="1">
                <a:latin typeface="Calibri Light" panose="020F0302020204030204" pitchFamily="34" charset="0"/>
              </a:rPr>
              <a:t>Orario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ricevimento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studenti</a:t>
            </a:r>
            <a:r>
              <a:rPr lang="en-US" dirty="0">
                <a:latin typeface="Calibri Light" panose="020F0302020204030204" pitchFamily="34" charset="0"/>
              </a:rPr>
              <a:t>: </a:t>
            </a:r>
            <a:br>
              <a:rPr lang="en-US" dirty="0">
                <a:latin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</a:rPr>
              <a:t>dopo la </a:t>
            </a:r>
            <a:r>
              <a:rPr lang="en-US" dirty="0" err="1">
                <a:latin typeface="Calibri Light" panose="020F0302020204030204" pitchFamily="34" charset="0"/>
              </a:rPr>
              <a:t>lezione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oppure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lun</a:t>
            </a:r>
            <a:r>
              <a:rPr lang="en-US" dirty="0">
                <a:latin typeface="Calibri Light" panose="020F0302020204030204" pitchFamily="34" charset="0"/>
              </a:rPr>
              <a:t> alle 12.45</a:t>
            </a:r>
          </a:p>
          <a:p>
            <a:pPr lvl="1"/>
            <a:endParaRPr lang="en-US" dirty="0">
              <a:latin typeface="Calibri Light" panose="020F0302020204030204" pitchFamily="34" charset="0"/>
            </a:endParaRPr>
          </a:p>
          <a:p>
            <a:pPr lvl="1"/>
            <a:r>
              <a:rPr lang="en-US" dirty="0" err="1">
                <a:latin typeface="Calibri Light" panose="020F0302020204030204" pitchFamily="34" charset="0"/>
              </a:rPr>
              <a:t>Materiale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didattico</a:t>
            </a:r>
            <a:r>
              <a:rPr lang="en-US" dirty="0">
                <a:latin typeface="Calibri Light" panose="020F0302020204030204" pitchFamily="34" charset="0"/>
              </a:rPr>
              <a:t> e </a:t>
            </a:r>
            <a:r>
              <a:rPr lang="en-US" dirty="0" err="1">
                <a:latin typeface="Calibri Light" panose="020F0302020204030204" pitchFamily="34" charset="0"/>
              </a:rPr>
              <a:t>comunicazioni</a:t>
            </a:r>
            <a:r>
              <a:rPr lang="en-US" dirty="0">
                <a:latin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</a:rPr>
              <a:t>su</a:t>
            </a:r>
            <a:r>
              <a:rPr lang="en-US" dirty="0">
                <a:latin typeface="Calibri Light" panose="020F0302020204030204" pitchFamily="34" charset="0"/>
              </a:rPr>
              <a:t> Moodle</a:t>
            </a:r>
          </a:p>
          <a:p>
            <a:pPr marL="342900" lvl="1" indent="0">
              <a:buNone/>
            </a:pPr>
            <a:r>
              <a:rPr lang="en-US" dirty="0">
                <a:latin typeface="Calibri Light" panose="020F0302020204030204" pitchFamily="34" charset="0"/>
              </a:rPr>
              <a:t> </a:t>
            </a:r>
          </a:p>
          <a:p>
            <a:endParaRPr lang="en-US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86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Contenuti</a:t>
            </a:r>
            <a:r>
              <a:rPr lang="en-US" dirty="0"/>
              <a:t> del </a:t>
            </a:r>
            <a:r>
              <a:rPr lang="en-US" dirty="0" err="1"/>
              <a:t>corso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Tecnologie</a:t>
            </a:r>
            <a:r>
              <a:rPr lang="en-US" dirty="0"/>
              <a:t> e </a:t>
            </a:r>
            <a:r>
              <a:rPr lang="en-US" dirty="0" err="1"/>
              <a:t>metodologie</a:t>
            </a:r>
            <a:r>
              <a:rPr lang="en-US" dirty="0"/>
              <a:t> per la </a:t>
            </a:r>
            <a:r>
              <a:rPr lang="en-US" dirty="0" err="1"/>
              <a:t>progettazione</a:t>
            </a:r>
            <a:r>
              <a:rPr lang="en-US" dirty="0"/>
              <a:t> e la </a:t>
            </a:r>
            <a:r>
              <a:rPr lang="en-US" dirty="0" err="1"/>
              <a:t>realizzazione</a:t>
            </a:r>
            <a:r>
              <a:rPr lang="en-US" dirty="0"/>
              <a:t> di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informativi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Web</a:t>
            </a:r>
          </a:p>
          <a:p>
            <a:r>
              <a:rPr lang="en-US" dirty="0"/>
              <a:t>Il </a:t>
            </a:r>
            <a:r>
              <a:rPr lang="en-US" dirty="0" err="1"/>
              <a:t>corso</a:t>
            </a:r>
            <a:r>
              <a:rPr lang="en-US" dirty="0"/>
              <a:t> </a:t>
            </a:r>
            <a:r>
              <a:rPr lang="en-US" dirty="0" err="1"/>
              <a:t>affronta</a:t>
            </a:r>
            <a:r>
              <a:rPr lang="en-US" dirty="0"/>
              <a:t> 3 </a:t>
            </a:r>
            <a:r>
              <a:rPr lang="en-US" dirty="0" err="1"/>
              <a:t>principali</a:t>
            </a:r>
            <a:r>
              <a:rPr lang="en-US" dirty="0"/>
              <a:t> </a:t>
            </a:r>
            <a:r>
              <a:rPr lang="en-US" dirty="0" err="1"/>
              <a:t>argomenti</a:t>
            </a:r>
            <a:endParaRPr lang="en-US" dirty="0"/>
          </a:p>
          <a:p>
            <a:pPr lvl="1"/>
            <a:r>
              <a:rPr lang="en-US" dirty="0" err="1"/>
              <a:t>Tecnologie</a:t>
            </a:r>
            <a:r>
              <a:rPr lang="en-US" dirty="0"/>
              <a:t> e </a:t>
            </a:r>
            <a:r>
              <a:rPr lang="en-US" dirty="0" err="1"/>
              <a:t>metodologie</a:t>
            </a:r>
            <a:r>
              <a:rPr lang="en-US" dirty="0"/>
              <a:t> per la </a:t>
            </a:r>
            <a:r>
              <a:rPr lang="en-US" dirty="0" err="1"/>
              <a:t>gestione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persistenza</a:t>
            </a:r>
            <a:endParaRPr lang="en-US" dirty="0"/>
          </a:p>
          <a:p>
            <a:pPr lvl="1"/>
            <a:r>
              <a:rPr lang="en-US" dirty="0" err="1"/>
              <a:t>Tecnologie</a:t>
            </a:r>
            <a:r>
              <a:rPr lang="en-US" dirty="0"/>
              <a:t> e </a:t>
            </a:r>
            <a:r>
              <a:rPr lang="en-US" dirty="0" err="1"/>
              <a:t>metodologie</a:t>
            </a:r>
            <a:r>
              <a:rPr lang="en-US" dirty="0"/>
              <a:t> Web </a:t>
            </a:r>
            <a:r>
              <a:rPr lang="en-US" dirty="0" err="1"/>
              <a:t>lato</a:t>
            </a:r>
            <a:r>
              <a:rPr lang="en-US" dirty="0"/>
              <a:t> server</a:t>
            </a:r>
          </a:p>
          <a:p>
            <a:pPr lvl="1"/>
            <a:r>
              <a:rPr lang="en-US" dirty="0" err="1"/>
              <a:t>Tecnologie</a:t>
            </a:r>
            <a:r>
              <a:rPr lang="en-US" dirty="0"/>
              <a:t> e </a:t>
            </a:r>
            <a:r>
              <a:rPr lang="en-US" dirty="0" err="1"/>
              <a:t>metodologie</a:t>
            </a:r>
            <a:r>
              <a:rPr lang="en-US" dirty="0"/>
              <a:t> Web </a:t>
            </a:r>
            <a:r>
              <a:rPr lang="en-US" dirty="0" err="1"/>
              <a:t>lato</a:t>
            </a:r>
            <a:r>
              <a:rPr lang="en-US" dirty="0"/>
              <a:t> client</a:t>
            </a:r>
          </a:p>
          <a:p>
            <a:r>
              <a:rPr lang="en-US" dirty="0" err="1"/>
              <a:t>Tecnologie</a:t>
            </a:r>
            <a:r>
              <a:rPr lang="en-US" dirty="0"/>
              <a:t>: HTML, CSS, Java EE, Spring Boot, JavaScript, RDBMS</a:t>
            </a:r>
          </a:p>
        </p:txBody>
      </p:sp>
    </p:spTree>
    <p:extLst>
      <p:ext uri="{BB962C8B-B14F-4D97-AF65-F5344CB8AC3E}">
        <p14:creationId xmlns:p14="http://schemas.microsoft.com/office/powerpoint/2010/main" val="137030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Difficoltà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Calibri Light" panose="020F0302020204030204" pitchFamily="34" charset="0"/>
              </a:rPr>
              <a:t>Sistemistiche</a:t>
            </a:r>
          </a:p>
          <a:p>
            <a:pPr lvl="1"/>
            <a:r>
              <a:rPr lang="it-IT" dirty="0">
                <a:latin typeface="Calibri Light" panose="020F0302020204030204" pitchFamily="34" charset="0"/>
              </a:rPr>
              <a:t>installare e far funzionare diversi componenti</a:t>
            </a:r>
          </a:p>
          <a:p>
            <a:r>
              <a:rPr lang="it-IT" dirty="0">
                <a:latin typeface="Calibri Light" panose="020F0302020204030204" pitchFamily="34" charset="0"/>
              </a:rPr>
              <a:t>Tecnologiche</a:t>
            </a:r>
          </a:p>
          <a:p>
            <a:pPr lvl="1"/>
            <a:r>
              <a:rPr lang="it-IT" dirty="0">
                <a:latin typeface="Calibri Light" panose="020F0302020204030204" pitchFamily="34" charset="0"/>
              </a:rPr>
              <a:t>capire e imparare ad usare (insieme) diversi linguaggi, librerie, sistemi</a:t>
            </a:r>
          </a:p>
          <a:p>
            <a:r>
              <a:rPr lang="it-IT" dirty="0">
                <a:latin typeface="Calibri Light" panose="020F0302020204030204" pitchFamily="34" charset="0"/>
              </a:rPr>
              <a:t>Metodologiche</a:t>
            </a:r>
          </a:p>
          <a:p>
            <a:pPr lvl="1"/>
            <a:r>
              <a:rPr lang="it-IT" dirty="0">
                <a:latin typeface="Calibri Light" panose="020F0302020204030204" pitchFamily="34" charset="0"/>
              </a:rPr>
              <a:t>capire e imparare come applicare concetti e metodi, </a:t>
            </a:r>
          </a:p>
          <a:p>
            <a:pPr lvl="1"/>
            <a:r>
              <a:rPr lang="it-IT" dirty="0">
                <a:latin typeface="Calibri Light" panose="020F0302020204030204" pitchFamily="34" charset="0"/>
              </a:rPr>
              <a:t>capire e imparare come progettare e implementare SIW con gli strumenti proposti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3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Prerequisiti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Programmazione</a:t>
            </a:r>
            <a:r>
              <a:rPr lang="en-US" dirty="0"/>
              <a:t> OO</a:t>
            </a:r>
          </a:p>
          <a:p>
            <a:pPr lvl="1"/>
            <a:r>
              <a:rPr lang="en-US" dirty="0" err="1"/>
              <a:t>Tutto</a:t>
            </a:r>
            <a:r>
              <a:rPr lang="en-US" dirty="0"/>
              <a:t> (ma proprio </a:t>
            </a:r>
            <a:r>
              <a:rPr lang="en-US" dirty="0" err="1"/>
              <a:t>tutto</a:t>
            </a:r>
            <a:r>
              <a:rPr lang="en-US" dirty="0"/>
              <a:t>)</a:t>
            </a:r>
          </a:p>
          <a:p>
            <a:r>
              <a:rPr lang="en-US" dirty="0" err="1"/>
              <a:t>Basi</a:t>
            </a:r>
            <a:r>
              <a:rPr lang="en-US" dirty="0"/>
              <a:t> di </a:t>
            </a:r>
            <a:r>
              <a:rPr lang="en-US" dirty="0" err="1"/>
              <a:t>dati</a:t>
            </a:r>
            <a:endParaRPr lang="en-US" dirty="0"/>
          </a:p>
          <a:p>
            <a:pPr lvl="1"/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relazionale</a:t>
            </a:r>
            <a:endParaRPr lang="en-US" dirty="0"/>
          </a:p>
          <a:p>
            <a:pPr lvl="1"/>
            <a:r>
              <a:rPr lang="en-US" dirty="0" err="1"/>
              <a:t>Progettazione</a:t>
            </a:r>
            <a:r>
              <a:rPr lang="en-US" dirty="0"/>
              <a:t> </a:t>
            </a:r>
            <a:r>
              <a:rPr lang="en-US" dirty="0" err="1"/>
              <a:t>concettuale</a:t>
            </a:r>
            <a:r>
              <a:rPr lang="en-US" dirty="0"/>
              <a:t> e </a:t>
            </a:r>
            <a:r>
              <a:rPr lang="en-US" dirty="0" err="1"/>
              <a:t>logica</a:t>
            </a:r>
            <a:endParaRPr lang="en-US" dirty="0"/>
          </a:p>
          <a:p>
            <a:pPr lvl="1"/>
            <a:r>
              <a:rPr lang="en-US" dirty="0"/>
              <a:t>SQL: query "</a:t>
            </a:r>
            <a:r>
              <a:rPr lang="en-US" dirty="0" err="1"/>
              <a:t>semplici</a:t>
            </a:r>
            <a:r>
              <a:rPr lang="en-US" dirty="0"/>
              <a:t> (SPJ)", aggiornamenti</a:t>
            </a:r>
          </a:p>
          <a:p>
            <a:r>
              <a:rPr lang="en-US" dirty="0" err="1"/>
              <a:t>Reti</a:t>
            </a:r>
            <a:r>
              <a:rPr lang="en-US" dirty="0"/>
              <a:t> di </a:t>
            </a:r>
            <a:r>
              <a:rPr lang="en-US" dirty="0" err="1"/>
              <a:t>calcolatori</a:t>
            </a:r>
            <a:endParaRPr lang="en-US" dirty="0"/>
          </a:p>
          <a:p>
            <a:pPr lvl="1"/>
            <a:r>
              <a:rPr lang="en-US" dirty="0" err="1"/>
              <a:t>Protocolli</a:t>
            </a:r>
            <a:endParaRPr lang="en-US" dirty="0"/>
          </a:p>
          <a:p>
            <a:pPr lvl="1"/>
            <a:r>
              <a:rPr lang="en-US" dirty="0" err="1"/>
              <a:t>Architetture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1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Calibri Light" panose="020F0302020204030204" pitchFamily="34" charset="0"/>
              </a:rPr>
              <a:t>Organizzazione didattica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t-IT" dirty="0">
              <a:latin typeface="Calibri Light" panose="020F0302020204030204" pitchFamily="34" charset="0"/>
            </a:endParaRPr>
          </a:p>
          <a:p>
            <a:pPr eaLnBrk="1" hangingPunct="1"/>
            <a:r>
              <a:rPr lang="it-IT" dirty="0">
                <a:latin typeface="Calibri Light" panose="020F0302020204030204" pitchFamily="34" charset="0"/>
              </a:rPr>
              <a:t>Lezioni frontali (</a:t>
            </a:r>
            <a:r>
              <a:rPr lang="it-IT" dirty="0" err="1">
                <a:latin typeface="Calibri Light" panose="020F0302020204030204" pitchFamily="34" charset="0"/>
              </a:rPr>
              <a:t>ca</a:t>
            </a:r>
            <a:r>
              <a:rPr lang="it-IT" dirty="0">
                <a:latin typeface="Calibri Light" panose="020F0302020204030204" pitchFamily="34" charset="0"/>
              </a:rPr>
              <a:t> 35h)</a:t>
            </a:r>
          </a:p>
          <a:p>
            <a:pPr eaLnBrk="1" hangingPunct="1"/>
            <a:r>
              <a:rPr lang="it-IT" dirty="0">
                <a:latin typeface="Calibri Light" panose="020F0302020204030204" pitchFamily="34" charset="0"/>
              </a:rPr>
              <a:t>Laboratorio (ca 20h)</a:t>
            </a:r>
          </a:p>
          <a:p>
            <a:pPr lvl="1" eaLnBrk="1" hangingPunct="1"/>
            <a:r>
              <a:rPr lang="it-IT" dirty="0">
                <a:latin typeface="Calibri Light" panose="020F0302020204030204" pitchFamily="34" charset="0"/>
              </a:rPr>
              <a:t>In aula con il calcolatore</a:t>
            </a:r>
          </a:p>
          <a:p>
            <a:r>
              <a:rPr lang="it-IT" dirty="0"/>
              <a:t>E' un corso molto pratico: useremo molto spesso il calcolatore </a:t>
            </a:r>
          </a:p>
          <a:p>
            <a:pPr lvl="1"/>
            <a:r>
              <a:rPr lang="it-IT" dirty="0"/>
              <a:t>quindi portatelo sempre, con la batteria bella carica</a:t>
            </a:r>
            <a:endParaRPr lang="it-IT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76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Materiale</a:t>
            </a:r>
            <a:r>
              <a:rPr lang="en-US" dirty="0"/>
              <a:t> </a:t>
            </a:r>
            <a:r>
              <a:rPr lang="en-US" dirty="0" err="1"/>
              <a:t>didattico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Copia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trasparenze</a:t>
            </a:r>
            <a:r>
              <a:rPr lang="en-US" dirty="0"/>
              <a:t> e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sorgenti</a:t>
            </a:r>
            <a:r>
              <a:rPr lang="en-US" dirty="0"/>
              <a:t> </a:t>
            </a:r>
            <a:r>
              <a:rPr lang="en-US" dirty="0" err="1"/>
              <a:t>sw</a:t>
            </a:r>
            <a:endParaRPr lang="en-US" dirty="0"/>
          </a:p>
          <a:p>
            <a:pPr lvl="1"/>
            <a:r>
              <a:rPr lang="en-US" dirty="0"/>
              <a:t>Sul </a:t>
            </a:r>
            <a:r>
              <a:rPr lang="en-US" dirty="0" err="1"/>
              <a:t>sito</a:t>
            </a:r>
            <a:r>
              <a:rPr lang="en-US" dirty="0"/>
              <a:t> web del </a:t>
            </a:r>
            <a:r>
              <a:rPr lang="en-US" dirty="0" err="1"/>
              <a:t>corso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genere</a:t>
            </a:r>
            <a:r>
              <a:rPr lang="en-US" dirty="0"/>
              <a:t>, le </a:t>
            </a:r>
            <a:r>
              <a:rPr lang="en-US" dirty="0" err="1"/>
              <a:t>trasparenze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pubblicate</a:t>
            </a:r>
            <a:r>
              <a:rPr lang="en-US" dirty="0"/>
              <a:t> prima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lezione</a:t>
            </a:r>
            <a:r>
              <a:rPr lang="en-US" dirty="0"/>
              <a:t>, ma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aggiornate</a:t>
            </a:r>
            <a:r>
              <a:rPr lang="en-US" dirty="0"/>
              <a:t> subito dopo la </a:t>
            </a:r>
            <a:r>
              <a:rPr lang="en-US" dirty="0" err="1"/>
              <a:t>lezione</a:t>
            </a:r>
            <a:endParaRPr lang="en-US" dirty="0"/>
          </a:p>
          <a:p>
            <a:r>
              <a:rPr lang="en-US" dirty="0" err="1"/>
              <a:t>Riferimenti</a:t>
            </a:r>
            <a:r>
              <a:rPr lang="en-US" dirty="0"/>
              <a:t> web</a:t>
            </a:r>
          </a:p>
          <a:p>
            <a:pPr lvl="1"/>
            <a:r>
              <a:rPr lang="en-US" dirty="0" err="1"/>
              <a:t>Articoli</a:t>
            </a:r>
            <a:r>
              <a:rPr lang="en-US" dirty="0"/>
              <a:t> e </a:t>
            </a:r>
            <a:r>
              <a:rPr lang="en-US" dirty="0" err="1"/>
              <a:t>documentazione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Web </a:t>
            </a:r>
            <a:r>
              <a:rPr lang="en-US" dirty="0" err="1"/>
              <a:t>segnalati</a:t>
            </a:r>
            <a:r>
              <a:rPr lang="en-US" dirty="0"/>
              <a:t> dal </a:t>
            </a:r>
            <a:r>
              <a:rPr lang="en-US" dirty="0" err="1"/>
              <a:t>docente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3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Esame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</a:t>
            </a:r>
            <a:r>
              <a:rPr lang="en-US" dirty="0" err="1"/>
              <a:t>progetti</a:t>
            </a:r>
            <a:r>
              <a:rPr lang="en-US" dirty="0"/>
              <a:t> (</a:t>
            </a:r>
            <a:r>
              <a:rPr lang="en-US" dirty="0" err="1"/>
              <a:t>obbligatori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proposto</a:t>
            </a:r>
            <a:r>
              <a:rPr lang="en-US" dirty="0"/>
              <a:t> dal </a:t>
            </a:r>
            <a:r>
              <a:rPr lang="en-US" dirty="0" err="1"/>
              <a:t>docente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ideato</a:t>
            </a:r>
            <a:r>
              <a:rPr lang="en-US" dirty="0"/>
              <a:t> </a:t>
            </a:r>
            <a:r>
              <a:rPr lang="en-US" dirty="0" err="1"/>
              <a:t>dallo</a:t>
            </a:r>
            <a:r>
              <a:rPr lang="en-US" dirty="0"/>
              <a:t> </a:t>
            </a:r>
            <a:r>
              <a:rPr lang="en-US" dirty="0" err="1"/>
              <a:t>studente</a:t>
            </a:r>
            <a:endParaRPr lang="en-US" dirty="0"/>
          </a:p>
          <a:p>
            <a:r>
              <a:rPr lang="en-US" dirty="0" err="1"/>
              <a:t>Orale</a:t>
            </a:r>
            <a:endParaRPr lang="en-US" dirty="0"/>
          </a:p>
          <a:p>
            <a:pPr lvl="1"/>
            <a:r>
              <a:rPr lang="en-US" dirty="0" err="1"/>
              <a:t>discussione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progetto</a:t>
            </a:r>
            <a:endParaRPr lang="en-US" dirty="0"/>
          </a:p>
          <a:p>
            <a:r>
              <a:rPr lang="en-US" dirty="0" err="1"/>
              <a:t>Voto</a:t>
            </a:r>
            <a:r>
              <a:rPr lang="en-US" dirty="0"/>
              <a:t>: </a:t>
            </a:r>
            <a:r>
              <a:rPr lang="en-US" dirty="0" err="1"/>
              <a:t>orale</a:t>
            </a:r>
            <a:r>
              <a:rPr lang="en-US" dirty="0"/>
              <a:t> 20 </a:t>
            </a:r>
            <a:r>
              <a:rPr lang="en-US" dirty="0" err="1"/>
              <a:t>punti</a:t>
            </a:r>
            <a:r>
              <a:rPr lang="en-US" dirty="0"/>
              <a:t> + </a:t>
            </a:r>
            <a:r>
              <a:rPr lang="en-US" dirty="0" err="1"/>
              <a:t>progetti</a:t>
            </a:r>
            <a:r>
              <a:rPr lang="en-US" dirty="0"/>
              <a:t> 12 </a:t>
            </a:r>
            <a:r>
              <a:rPr lang="en-US" dirty="0" err="1"/>
              <a:t>punti</a:t>
            </a:r>
            <a:endParaRPr lang="en-US" dirty="0"/>
          </a:p>
          <a:p>
            <a:r>
              <a:rPr lang="en-US" dirty="0" err="1"/>
              <a:t>Attenzione</a:t>
            </a:r>
            <a:r>
              <a:rPr lang="en-US" dirty="0"/>
              <a:t>: ad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appello</a:t>
            </a:r>
            <a:r>
              <a:rPr lang="en-US" dirty="0"/>
              <a:t> il </a:t>
            </a:r>
            <a:r>
              <a:rPr lang="en-US" dirty="0" err="1"/>
              <a:t>progetto</a:t>
            </a:r>
            <a:r>
              <a:rPr lang="en-US" dirty="0"/>
              <a:t> </a:t>
            </a:r>
            <a:r>
              <a:rPr lang="en-US" dirty="0" err="1"/>
              <a:t>assegnato</a:t>
            </a:r>
            <a:r>
              <a:rPr lang="en-US" dirty="0"/>
              <a:t> dal </a:t>
            </a:r>
            <a:r>
              <a:rPr lang="en-US" dirty="0" err="1"/>
              <a:t>docente</a:t>
            </a:r>
            <a:r>
              <a:rPr lang="en-US" dirty="0"/>
              <a:t> cambia</a:t>
            </a:r>
          </a:p>
        </p:txBody>
      </p:sp>
    </p:spTree>
    <p:extLst>
      <p:ext uri="{BB962C8B-B14F-4D97-AF65-F5344CB8AC3E}">
        <p14:creationId xmlns:p14="http://schemas.microsoft.com/office/powerpoint/2010/main" val="111508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Progetto (</a:t>
            </a:r>
            <a:r>
              <a:rPr lang="en-US" dirty="0" err="1"/>
              <a:t>appelli</a:t>
            </a:r>
            <a:r>
              <a:rPr lang="en-US" dirty="0"/>
              <a:t> </a:t>
            </a:r>
            <a:r>
              <a:rPr lang="en-US" dirty="0" err="1"/>
              <a:t>giugno</a:t>
            </a:r>
            <a:r>
              <a:rPr lang="en-US" dirty="0"/>
              <a:t>/</a:t>
            </a:r>
            <a:r>
              <a:rPr lang="en-US" dirty="0" err="1"/>
              <a:t>luglio</a:t>
            </a:r>
            <a:r>
              <a:rPr lang="en-US" dirty="0"/>
              <a:t>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257175" lvl="2" indent="-257175"/>
            <a:r>
              <a:rPr lang="en-US" sz="2400" dirty="0" err="1"/>
              <a:t>Progetto</a:t>
            </a:r>
            <a:r>
              <a:rPr lang="en-US" sz="2400" dirty="0"/>
              <a:t> </a:t>
            </a:r>
            <a:r>
              <a:rPr lang="en-US" sz="2400" dirty="0" err="1"/>
              <a:t>proposto</a:t>
            </a:r>
            <a:r>
              <a:rPr lang="en-US" sz="2400" dirty="0"/>
              <a:t> dal </a:t>
            </a:r>
            <a:r>
              <a:rPr lang="en-US" sz="2400" dirty="0" err="1"/>
              <a:t>docente</a:t>
            </a:r>
            <a:endParaRPr lang="en-US" sz="2400" dirty="0"/>
          </a:p>
          <a:p>
            <a:pPr marL="600075" lvl="3" indent="-257175"/>
            <a:r>
              <a:rPr lang="en-US" sz="1800" dirty="0"/>
              <a:t>le </a:t>
            </a:r>
            <a:r>
              <a:rPr lang="en-US" sz="1800" dirty="0" err="1"/>
              <a:t>specifiche</a:t>
            </a:r>
            <a:r>
              <a:rPr lang="en-US" sz="1800" dirty="0"/>
              <a:t> </a:t>
            </a:r>
            <a:r>
              <a:rPr lang="en-US" sz="1800" dirty="0" err="1"/>
              <a:t>sono</a:t>
            </a:r>
            <a:r>
              <a:rPr lang="en-US" sz="1800" dirty="0"/>
              <a:t> </a:t>
            </a:r>
            <a:r>
              <a:rPr lang="en-US" sz="1800" dirty="0" err="1"/>
              <a:t>fornite</a:t>
            </a:r>
            <a:r>
              <a:rPr lang="en-US" sz="1800" dirty="0"/>
              <a:t> circa un </a:t>
            </a:r>
            <a:r>
              <a:rPr lang="en-US" sz="1800" dirty="0" err="1"/>
              <a:t>mese</a:t>
            </a:r>
            <a:r>
              <a:rPr lang="en-US" sz="1800" dirty="0"/>
              <a:t> prima </a:t>
            </a:r>
            <a:r>
              <a:rPr lang="en-US" sz="1800" dirty="0" err="1"/>
              <a:t>dell'esame</a:t>
            </a:r>
            <a:endParaRPr lang="en-US" sz="1800" dirty="0"/>
          </a:p>
          <a:p>
            <a:pPr marL="600075" lvl="3" indent="-257175"/>
            <a:r>
              <a:rPr lang="en-US" sz="1800" dirty="0"/>
              <a:t>il </a:t>
            </a:r>
            <a:r>
              <a:rPr lang="en-US" sz="1800" dirty="0" err="1"/>
              <a:t>progetto</a:t>
            </a:r>
            <a:r>
              <a:rPr lang="en-US" sz="1800" dirty="0"/>
              <a:t> </a:t>
            </a:r>
            <a:r>
              <a:rPr lang="en-US" sz="1800" dirty="0" err="1"/>
              <a:t>deve</a:t>
            </a:r>
            <a:r>
              <a:rPr lang="en-US" sz="1800" dirty="0"/>
              <a:t> </a:t>
            </a:r>
            <a:r>
              <a:rPr lang="en-US" sz="1800" dirty="0" err="1"/>
              <a:t>essere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b="1" dirty="0" err="1"/>
              <a:t>individualmente</a:t>
            </a:r>
            <a:endParaRPr lang="en-US" sz="1800" b="1" dirty="0"/>
          </a:p>
          <a:p>
            <a:pPr marL="600075" lvl="3" indent="-257175"/>
            <a:r>
              <a:rPr lang="en-US" sz="1800" dirty="0" err="1"/>
              <a:t>tecnologie</a:t>
            </a:r>
            <a:r>
              <a:rPr lang="en-US" sz="1800" dirty="0"/>
              <a:t>: quelle </a:t>
            </a:r>
            <a:r>
              <a:rPr lang="en-US" sz="1800" dirty="0" err="1"/>
              <a:t>proproste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</a:t>
            </a:r>
            <a:r>
              <a:rPr lang="en-US" sz="1800" dirty="0" err="1"/>
              <a:t>corso</a:t>
            </a:r>
            <a:endParaRPr lang="en-US" sz="1800" dirty="0"/>
          </a:p>
          <a:p>
            <a:pPr marL="257175" lvl="2" indent="-257175"/>
            <a:r>
              <a:rPr lang="en-US" sz="2400" dirty="0" err="1"/>
              <a:t>Progetto</a:t>
            </a:r>
            <a:r>
              <a:rPr lang="en-US" sz="2400" dirty="0"/>
              <a:t> </a:t>
            </a:r>
            <a:r>
              <a:rPr lang="en-US" sz="2400" dirty="0" err="1"/>
              <a:t>proposto</a:t>
            </a:r>
            <a:r>
              <a:rPr lang="en-US" sz="2400" dirty="0"/>
              <a:t> </a:t>
            </a:r>
            <a:r>
              <a:rPr lang="en-US" sz="2400" dirty="0" err="1"/>
              <a:t>dallo</a:t>
            </a:r>
            <a:r>
              <a:rPr lang="en-US" sz="2400" dirty="0"/>
              <a:t> </a:t>
            </a:r>
            <a:r>
              <a:rPr lang="en-US" sz="2400" dirty="0" err="1"/>
              <a:t>studente</a:t>
            </a:r>
            <a:endParaRPr lang="en-US" sz="2400" dirty="0"/>
          </a:p>
          <a:p>
            <a:pPr marL="600075" lvl="3" indent="-257175"/>
            <a:r>
              <a:rPr lang="en-US" sz="1800" dirty="0" err="1"/>
              <a:t>gli</a:t>
            </a:r>
            <a:r>
              <a:rPr lang="en-US" sz="1800" dirty="0"/>
              <a:t> </a:t>
            </a:r>
            <a:r>
              <a:rPr lang="en-US" sz="1800" dirty="0" err="1"/>
              <a:t>studenti</a:t>
            </a:r>
            <a:r>
              <a:rPr lang="en-US" sz="1800" dirty="0"/>
              <a:t> </a:t>
            </a:r>
            <a:r>
              <a:rPr lang="en-US" sz="1800" dirty="0" err="1"/>
              <a:t>propongono</a:t>
            </a:r>
            <a:r>
              <a:rPr lang="en-US" sz="1800" dirty="0"/>
              <a:t> e </a:t>
            </a:r>
            <a:r>
              <a:rPr lang="en-US" sz="1800" dirty="0" err="1"/>
              <a:t>discutono</a:t>
            </a:r>
            <a:r>
              <a:rPr lang="en-US" sz="1800" dirty="0"/>
              <a:t> con il </a:t>
            </a:r>
            <a:r>
              <a:rPr lang="en-US" sz="1800" dirty="0" err="1"/>
              <a:t>docente</a:t>
            </a:r>
            <a:r>
              <a:rPr lang="en-US" sz="1800" dirty="0"/>
              <a:t> la propria idea di </a:t>
            </a:r>
            <a:r>
              <a:rPr lang="en-US" sz="1800" dirty="0" err="1"/>
              <a:t>progetto</a:t>
            </a:r>
            <a:r>
              <a:rPr lang="en-US" sz="1800" dirty="0"/>
              <a:t> verso la </a:t>
            </a:r>
            <a:r>
              <a:rPr lang="en-US" sz="1800" dirty="0" err="1"/>
              <a:t>metà</a:t>
            </a:r>
            <a:r>
              <a:rPr lang="en-US" sz="1800" dirty="0"/>
              <a:t> di </a:t>
            </a:r>
            <a:r>
              <a:rPr lang="en-US" sz="1800" dirty="0" err="1"/>
              <a:t>aprile</a:t>
            </a:r>
            <a:endParaRPr lang="en-US" sz="1800" dirty="0"/>
          </a:p>
          <a:p>
            <a:pPr marL="600075" lvl="3" indent="-257175"/>
            <a:r>
              <a:rPr lang="en-US" sz="1800" dirty="0"/>
              <a:t>per </a:t>
            </a:r>
            <a:r>
              <a:rPr lang="en-US" sz="1800" dirty="0" err="1"/>
              <a:t>gli</a:t>
            </a:r>
            <a:r>
              <a:rPr lang="en-US" sz="1800" dirty="0"/>
              <a:t> </a:t>
            </a:r>
            <a:r>
              <a:rPr lang="en-US" sz="1800" dirty="0" err="1"/>
              <a:t>studenti</a:t>
            </a:r>
            <a:r>
              <a:rPr lang="en-US" sz="1800" dirty="0"/>
              <a:t> </a:t>
            </a:r>
            <a:r>
              <a:rPr lang="en-US" sz="1800" dirty="0" err="1"/>
              <a:t>frequentanti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sostengono</a:t>
            </a:r>
            <a:r>
              <a:rPr lang="en-US" sz="1800" dirty="0"/>
              <a:t> il </a:t>
            </a:r>
            <a:r>
              <a:rPr lang="en-US" sz="1800" dirty="0" err="1"/>
              <a:t>progetto</a:t>
            </a:r>
            <a:r>
              <a:rPr lang="en-US" sz="1800" dirty="0"/>
              <a:t> </a:t>
            </a:r>
            <a:r>
              <a:rPr lang="en-US" sz="1800" dirty="0" err="1"/>
              <a:t>deve</a:t>
            </a:r>
            <a:r>
              <a:rPr lang="en-US" sz="1800" dirty="0"/>
              <a:t> </a:t>
            </a:r>
            <a:r>
              <a:rPr lang="en-US" sz="1800" dirty="0" err="1"/>
              <a:t>essere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in </a:t>
            </a:r>
            <a:r>
              <a:rPr lang="en-US" sz="1800" b="1" dirty="0" err="1"/>
              <a:t>gruppi</a:t>
            </a:r>
            <a:r>
              <a:rPr lang="en-US" sz="1800" b="1" dirty="0"/>
              <a:t> </a:t>
            </a:r>
            <a:r>
              <a:rPr lang="en-US" sz="1800" dirty="0"/>
              <a:t>di 2-3 </a:t>
            </a:r>
            <a:r>
              <a:rPr lang="en-US" sz="1800" dirty="0" err="1"/>
              <a:t>persone</a:t>
            </a:r>
            <a:endParaRPr lang="en-US" sz="1800" dirty="0"/>
          </a:p>
          <a:p>
            <a:pPr marL="600075" lvl="3" indent="-257175"/>
            <a:r>
              <a:rPr lang="en-US" sz="1800" dirty="0" err="1"/>
              <a:t>tecnologie</a:t>
            </a:r>
            <a:r>
              <a:rPr lang="en-US" sz="1800" dirty="0"/>
              <a:t>: quelle </a:t>
            </a:r>
            <a:r>
              <a:rPr lang="en-US" sz="1800" dirty="0" err="1"/>
              <a:t>proproste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</a:t>
            </a:r>
            <a:r>
              <a:rPr lang="en-US" sz="1800" dirty="0" err="1"/>
              <a:t>corso</a:t>
            </a:r>
            <a:r>
              <a:rPr lang="en-US" sz="1800" dirty="0"/>
              <a:t> + </a:t>
            </a:r>
            <a:r>
              <a:rPr lang="en-US" sz="1800" dirty="0" err="1"/>
              <a:t>altre</a:t>
            </a:r>
            <a:r>
              <a:rPr lang="en-US" sz="1800" dirty="0"/>
              <a:t> </a:t>
            </a:r>
            <a:r>
              <a:rPr lang="en-US" sz="1800" dirty="0" err="1"/>
              <a:t>tecnologie</a:t>
            </a:r>
            <a:r>
              <a:rPr lang="en-US" sz="1800" dirty="0"/>
              <a:t> (</a:t>
            </a:r>
            <a:r>
              <a:rPr lang="en-US" sz="1800" dirty="0" err="1"/>
              <a:t>proposte</a:t>
            </a:r>
            <a:r>
              <a:rPr lang="en-US" sz="1800" dirty="0"/>
              <a:t> dal </a:t>
            </a:r>
            <a:r>
              <a:rPr lang="en-US" sz="1800" dirty="0" err="1"/>
              <a:t>docente</a:t>
            </a:r>
            <a:r>
              <a:rPr lang="en-US" sz="1800" dirty="0"/>
              <a:t>) </a:t>
            </a:r>
            <a:r>
              <a:rPr lang="en-US" sz="1800" dirty="0" err="1"/>
              <a:t>su</a:t>
            </a:r>
            <a:r>
              <a:rPr lang="en-US" sz="1800" dirty="0"/>
              <a:t> cui il </a:t>
            </a:r>
            <a:r>
              <a:rPr lang="en-US" sz="1800" dirty="0" err="1"/>
              <a:t>gruppo</a:t>
            </a:r>
            <a:r>
              <a:rPr lang="en-US" sz="1800" dirty="0"/>
              <a:t> </a:t>
            </a:r>
            <a:r>
              <a:rPr lang="en-US" sz="1800" dirty="0" err="1"/>
              <a:t>lavora</a:t>
            </a:r>
            <a:r>
              <a:rPr lang="en-US" sz="1800" dirty="0"/>
              <a:t> </a:t>
            </a:r>
            <a:r>
              <a:rPr lang="en-US" sz="1800" dirty="0" err="1"/>
              <a:t>autonomamente</a:t>
            </a:r>
            <a:endParaRPr lang="en-US" sz="1800" dirty="0"/>
          </a:p>
          <a:p>
            <a:pPr marL="600075" lvl="3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1760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Progetto (</a:t>
            </a:r>
            <a:r>
              <a:rPr lang="en-US" dirty="0" err="1"/>
              <a:t>appelli</a:t>
            </a:r>
            <a:r>
              <a:rPr lang="en-US" dirty="0"/>
              <a:t> </a:t>
            </a:r>
            <a:r>
              <a:rPr lang="en-US" dirty="0" err="1"/>
              <a:t>settembre</a:t>
            </a:r>
            <a:r>
              <a:rPr lang="en-US" dirty="0"/>
              <a:t>/</a:t>
            </a:r>
            <a:r>
              <a:rPr lang="en-US" dirty="0" err="1"/>
              <a:t>febbraio</a:t>
            </a:r>
            <a:r>
              <a:rPr lang="en-US" dirty="0"/>
              <a:t>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49"/>
          </a:xfrm>
        </p:spPr>
        <p:txBody>
          <a:bodyPr>
            <a:normAutofit/>
          </a:bodyPr>
          <a:lstStyle/>
          <a:p>
            <a:pPr marL="257175" lvl="2" indent="-257175"/>
            <a:r>
              <a:rPr lang="en-US" sz="2400" dirty="0" err="1"/>
              <a:t>Progetto</a:t>
            </a:r>
            <a:r>
              <a:rPr lang="en-US" sz="2400" dirty="0"/>
              <a:t> </a:t>
            </a:r>
            <a:r>
              <a:rPr lang="en-US" sz="2400" dirty="0" err="1"/>
              <a:t>proposto</a:t>
            </a:r>
            <a:r>
              <a:rPr lang="en-US" sz="2400" dirty="0"/>
              <a:t> dal </a:t>
            </a:r>
            <a:r>
              <a:rPr lang="en-US" sz="2400" dirty="0" err="1"/>
              <a:t>docente</a:t>
            </a:r>
            <a:endParaRPr lang="en-US" sz="2400" dirty="0"/>
          </a:p>
          <a:p>
            <a:pPr marL="600075" lvl="3" indent="-257175"/>
            <a:r>
              <a:rPr lang="en-US" sz="1800" dirty="0"/>
              <a:t>le </a:t>
            </a:r>
            <a:r>
              <a:rPr lang="en-US" sz="1800" dirty="0" err="1"/>
              <a:t>specifiche</a:t>
            </a:r>
            <a:r>
              <a:rPr lang="en-US" sz="1800" dirty="0"/>
              <a:t> </a:t>
            </a:r>
            <a:r>
              <a:rPr lang="en-US" sz="1800" dirty="0" err="1"/>
              <a:t>sono</a:t>
            </a:r>
            <a:r>
              <a:rPr lang="en-US" sz="1800" dirty="0"/>
              <a:t> </a:t>
            </a:r>
            <a:r>
              <a:rPr lang="en-US" sz="1800" dirty="0" err="1"/>
              <a:t>fornite</a:t>
            </a:r>
            <a:r>
              <a:rPr lang="en-US" sz="1800" dirty="0"/>
              <a:t> circa un </a:t>
            </a:r>
            <a:r>
              <a:rPr lang="en-US" sz="1800" dirty="0" err="1"/>
              <a:t>mese</a:t>
            </a:r>
            <a:r>
              <a:rPr lang="en-US" sz="1800" dirty="0"/>
              <a:t> prima </a:t>
            </a:r>
            <a:r>
              <a:rPr lang="en-US" sz="1800" dirty="0" err="1"/>
              <a:t>dell'esame</a:t>
            </a:r>
            <a:endParaRPr lang="en-US" sz="1800" dirty="0"/>
          </a:p>
          <a:p>
            <a:pPr marL="600075" lvl="3" indent="-257175"/>
            <a:r>
              <a:rPr lang="en-US" sz="1800" dirty="0"/>
              <a:t>il </a:t>
            </a:r>
            <a:r>
              <a:rPr lang="en-US" sz="1800" dirty="0" err="1"/>
              <a:t>progetto</a:t>
            </a:r>
            <a:r>
              <a:rPr lang="en-US" sz="1800" dirty="0"/>
              <a:t> </a:t>
            </a:r>
            <a:r>
              <a:rPr lang="en-US" sz="1800" dirty="0" err="1"/>
              <a:t>deve</a:t>
            </a:r>
            <a:r>
              <a:rPr lang="en-US" sz="1800" dirty="0"/>
              <a:t> </a:t>
            </a:r>
            <a:r>
              <a:rPr lang="en-US" sz="1800" dirty="0" err="1"/>
              <a:t>essere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b="1" dirty="0" err="1"/>
              <a:t>individualmente</a:t>
            </a:r>
            <a:endParaRPr lang="en-US" sz="1800" b="1" dirty="0"/>
          </a:p>
          <a:p>
            <a:pPr marL="600075" lvl="3" indent="-257175"/>
            <a:r>
              <a:rPr lang="en-US" sz="1800" dirty="0" err="1"/>
              <a:t>tecnologie</a:t>
            </a:r>
            <a:r>
              <a:rPr lang="en-US" sz="1800" dirty="0"/>
              <a:t>: quelle </a:t>
            </a:r>
            <a:r>
              <a:rPr lang="en-US" sz="1800" dirty="0" err="1"/>
              <a:t>proproste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</a:t>
            </a:r>
            <a:r>
              <a:rPr lang="en-US" sz="1800" dirty="0" err="1"/>
              <a:t>corso</a:t>
            </a:r>
            <a:endParaRPr lang="en-US" sz="1800" dirty="0"/>
          </a:p>
          <a:p>
            <a:pPr marL="257175" lvl="2" indent="-257175"/>
            <a:r>
              <a:rPr lang="en-US" sz="2400" dirty="0" err="1"/>
              <a:t>Progetto</a:t>
            </a:r>
            <a:r>
              <a:rPr lang="en-US" sz="2400" dirty="0"/>
              <a:t> </a:t>
            </a:r>
            <a:r>
              <a:rPr lang="en-US" sz="2400" dirty="0" err="1"/>
              <a:t>proposto</a:t>
            </a:r>
            <a:r>
              <a:rPr lang="en-US" sz="2400" dirty="0"/>
              <a:t> </a:t>
            </a:r>
            <a:r>
              <a:rPr lang="en-US" sz="2400" dirty="0" err="1"/>
              <a:t>dallo</a:t>
            </a:r>
            <a:r>
              <a:rPr lang="en-US" sz="2400" dirty="0"/>
              <a:t> </a:t>
            </a:r>
            <a:r>
              <a:rPr lang="en-US" sz="2400" dirty="0" err="1"/>
              <a:t>studente</a:t>
            </a:r>
            <a:endParaRPr lang="en-US" sz="2400" dirty="0"/>
          </a:p>
          <a:p>
            <a:pPr marL="600075" lvl="3" indent="-257175"/>
            <a:r>
              <a:rPr lang="en-US" sz="1800" dirty="0" err="1"/>
              <a:t>gli</a:t>
            </a:r>
            <a:r>
              <a:rPr lang="en-US" sz="1800" dirty="0"/>
              <a:t> </a:t>
            </a:r>
            <a:r>
              <a:rPr lang="en-US" sz="1800" dirty="0" err="1"/>
              <a:t>studenti</a:t>
            </a:r>
            <a:r>
              <a:rPr lang="en-US" sz="1800" dirty="0"/>
              <a:t> </a:t>
            </a:r>
            <a:r>
              <a:rPr lang="en-US" sz="1800" dirty="0" err="1"/>
              <a:t>propongono</a:t>
            </a:r>
            <a:r>
              <a:rPr lang="en-US" sz="1800" dirty="0"/>
              <a:t> e </a:t>
            </a:r>
            <a:r>
              <a:rPr lang="en-US" sz="1800" dirty="0" err="1"/>
              <a:t>discutono</a:t>
            </a:r>
            <a:r>
              <a:rPr lang="en-US" sz="1800" dirty="0"/>
              <a:t> con il </a:t>
            </a:r>
            <a:r>
              <a:rPr lang="en-US" sz="1800" dirty="0" err="1"/>
              <a:t>docente</a:t>
            </a:r>
            <a:r>
              <a:rPr lang="en-US" sz="1800" dirty="0"/>
              <a:t> la propria idea di </a:t>
            </a:r>
            <a:r>
              <a:rPr lang="en-US" sz="1800" dirty="0" err="1"/>
              <a:t>progetto</a:t>
            </a:r>
            <a:r>
              <a:rPr lang="en-US" sz="1800" dirty="0"/>
              <a:t> circa un mese prima </a:t>
            </a:r>
            <a:r>
              <a:rPr lang="en-US" sz="1800" dirty="0" err="1"/>
              <a:t>dell'esame</a:t>
            </a:r>
            <a:endParaRPr lang="en-US" sz="1800" dirty="0"/>
          </a:p>
          <a:p>
            <a:pPr marL="600075" lvl="3" indent="-257175"/>
            <a:r>
              <a:rPr lang="en-US" sz="1800" dirty="0"/>
              <a:t>il </a:t>
            </a:r>
            <a:r>
              <a:rPr lang="en-US" sz="1800" dirty="0" err="1"/>
              <a:t>progetto</a:t>
            </a:r>
            <a:r>
              <a:rPr lang="en-US" sz="1800" dirty="0"/>
              <a:t> </a:t>
            </a:r>
            <a:r>
              <a:rPr lang="en-US" sz="1800" dirty="0" err="1"/>
              <a:t>deve</a:t>
            </a:r>
            <a:r>
              <a:rPr lang="en-US" sz="1800" dirty="0"/>
              <a:t> </a:t>
            </a:r>
            <a:r>
              <a:rPr lang="en-US" sz="1800" dirty="0" err="1"/>
              <a:t>essere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b="1" dirty="0" err="1"/>
              <a:t>individualmente</a:t>
            </a:r>
            <a:endParaRPr lang="en-US" sz="1800" b="1" dirty="0"/>
          </a:p>
          <a:p>
            <a:pPr marL="600075" lvl="3" indent="-257175"/>
            <a:r>
              <a:rPr lang="en-US" sz="1800" dirty="0" err="1"/>
              <a:t>tecnologie</a:t>
            </a:r>
            <a:r>
              <a:rPr lang="en-US" sz="1800" dirty="0"/>
              <a:t>: quelle </a:t>
            </a:r>
            <a:r>
              <a:rPr lang="en-US" sz="1800" dirty="0" err="1"/>
              <a:t>proproste</a:t>
            </a:r>
            <a:r>
              <a:rPr lang="en-US" sz="1800" dirty="0"/>
              <a:t> </a:t>
            </a:r>
            <a:r>
              <a:rPr lang="en-US" sz="1800" dirty="0" err="1"/>
              <a:t>nel</a:t>
            </a:r>
            <a:r>
              <a:rPr lang="en-US" sz="1800" dirty="0"/>
              <a:t> </a:t>
            </a:r>
            <a:r>
              <a:rPr lang="en-US" sz="1800" dirty="0" err="1"/>
              <a:t>corso</a:t>
            </a:r>
            <a:r>
              <a:rPr lang="en-US" sz="1800" dirty="0"/>
              <a:t> + </a:t>
            </a:r>
            <a:r>
              <a:rPr lang="en-US" sz="1800" dirty="0" err="1"/>
              <a:t>altre</a:t>
            </a:r>
            <a:r>
              <a:rPr lang="en-US" sz="1800" dirty="0"/>
              <a:t> </a:t>
            </a:r>
            <a:r>
              <a:rPr lang="en-US" sz="1800" dirty="0" err="1"/>
              <a:t>tecnologie</a:t>
            </a:r>
            <a:r>
              <a:rPr lang="en-US" sz="1800" dirty="0"/>
              <a:t> (</a:t>
            </a:r>
            <a:r>
              <a:rPr lang="en-US" sz="1800" dirty="0" err="1"/>
              <a:t>proposte</a:t>
            </a:r>
            <a:r>
              <a:rPr lang="en-US" sz="1800" dirty="0"/>
              <a:t> dal </a:t>
            </a:r>
            <a:r>
              <a:rPr lang="en-US" sz="1800" dirty="0" err="1"/>
              <a:t>docente</a:t>
            </a:r>
            <a:r>
              <a:rPr lang="en-US" sz="1800" dirty="0"/>
              <a:t>) </a:t>
            </a:r>
            <a:r>
              <a:rPr lang="en-US" sz="1800" dirty="0" err="1"/>
              <a:t>su</a:t>
            </a:r>
            <a:r>
              <a:rPr lang="en-US" sz="1800" dirty="0"/>
              <a:t> cui il </a:t>
            </a:r>
            <a:r>
              <a:rPr lang="en-US" sz="1800" dirty="0" err="1"/>
              <a:t>gruppo</a:t>
            </a:r>
            <a:r>
              <a:rPr lang="en-US" sz="1800" dirty="0"/>
              <a:t> </a:t>
            </a:r>
            <a:r>
              <a:rPr lang="en-US" sz="1800" dirty="0" err="1"/>
              <a:t>lavora</a:t>
            </a:r>
            <a:r>
              <a:rPr lang="en-US" sz="1800" dirty="0"/>
              <a:t> </a:t>
            </a:r>
            <a:r>
              <a:rPr lang="en-US" sz="1800" dirty="0" err="1"/>
              <a:t>autonomamente</a:t>
            </a:r>
            <a:endParaRPr lang="en-US" sz="1800" dirty="0"/>
          </a:p>
          <a:p>
            <a:pPr marL="600075" lvl="3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777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1DEE23DC-B738-8589-923D-AAC4A12755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modalità</a:t>
            </a:r>
            <a:r>
              <a:rPr lang="en-US" dirty="0"/>
              <a:t> di </a:t>
            </a:r>
            <a:r>
              <a:rPr lang="en-US" dirty="0" err="1"/>
              <a:t>esame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chiare</a:t>
            </a:r>
            <a:r>
              <a:rPr lang="en-US" dirty="0"/>
              <a:t>?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BEFFEF9B-5FF9-BBC2-7743-A35CC920E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2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Regole generali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lezioni iniziano alle 8:30 e finiscono alle 10.00</a:t>
            </a:r>
          </a:p>
          <a:p>
            <a:r>
              <a:rPr lang="it-IT" b="1" dirty="0">
                <a:solidFill>
                  <a:srgbClr val="FF0000"/>
                </a:solidFill>
              </a:rPr>
              <a:t>Fate domande </a:t>
            </a:r>
          </a:p>
          <a:p>
            <a:r>
              <a:rPr lang="it-IT" b="1" dirty="0">
                <a:solidFill>
                  <a:srgbClr val="FF0000"/>
                </a:solidFill>
              </a:rPr>
              <a:t>Fate domande </a:t>
            </a:r>
          </a:p>
          <a:p>
            <a:r>
              <a:rPr lang="it-IT" b="1" dirty="0">
                <a:solidFill>
                  <a:srgbClr val="FF0000"/>
                </a:solidFill>
              </a:rPr>
              <a:t>Fate domande </a:t>
            </a:r>
          </a:p>
          <a:p>
            <a:r>
              <a:rPr lang="it-IT" dirty="0"/>
              <a:t>Usate Google e/o un LLM (non reinventiamo la ruota), </a:t>
            </a:r>
            <a:br>
              <a:rPr lang="it-IT" dirty="0"/>
            </a:br>
            <a:r>
              <a:rPr lang="it-IT" dirty="0"/>
              <a:t>ma con la testa!</a:t>
            </a:r>
          </a:p>
        </p:txBody>
      </p:sp>
    </p:spTree>
    <p:extLst>
      <p:ext uri="{BB962C8B-B14F-4D97-AF65-F5344CB8AC3E}">
        <p14:creationId xmlns:p14="http://schemas.microsoft.com/office/powerpoint/2010/main" val="217613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3C486-AA20-A1D2-CC1A-88D52EC8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754CF2-FF0A-B0B4-EFAE-87F7CA8B0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4CC58F-C735-CC21-03E1-5C85116CE0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8"/>
          <a:stretch/>
        </p:blipFill>
        <p:spPr>
          <a:xfrm>
            <a:off x="1346199" y="1063229"/>
            <a:ext cx="6212226" cy="408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8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3C486-AA20-A1D2-CC1A-88D52EC8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754CF2-FF0A-B0B4-EFAE-87F7CA8B0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4CC58F-C735-CC21-03E1-5C85116CE0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8"/>
          <a:stretch/>
        </p:blipFill>
        <p:spPr>
          <a:xfrm>
            <a:off x="1346199" y="978559"/>
            <a:ext cx="6212226" cy="408794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9E4020-561C-0917-C498-A2934B287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199" y="1337729"/>
            <a:ext cx="6210830" cy="451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20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3C486-AA20-A1D2-CC1A-88D52EC8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754CF2-FF0A-B0B4-EFAE-87F7CA8B0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4CC58F-C735-CC21-03E1-5C85116CE0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8" b="52870"/>
          <a:stretch/>
        </p:blipFill>
        <p:spPr>
          <a:xfrm>
            <a:off x="1346199" y="978559"/>
            <a:ext cx="6212226" cy="187470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089D2BF-DA1D-534F-5B6F-6D8A9AA4A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41372"/>
            <a:ext cx="6165654" cy="30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50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3C486-AA20-A1D2-CC1A-88D52EC8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754CF2-FF0A-B0B4-EFAE-87F7CA8B0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D4CC58F-C735-CC21-03E1-5C85116CE0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8" b="52870"/>
          <a:stretch/>
        </p:blipFill>
        <p:spPr>
          <a:xfrm>
            <a:off x="1346199" y="978559"/>
            <a:ext cx="6212226" cy="187470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4DDAF72-5DCB-82B1-1074-F4CC1910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80857"/>
            <a:ext cx="6066400" cy="187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07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B3C486-AA20-A1D2-CC1A-88D52EC8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5DA126D-6AA9-52BA-3937-6DB3C361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95" y="1063228"/>
            <a:ext cx="2924888" cy="408027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D7E686B-CFBF-A76F-2AA3-4B8617E40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139" y="1078838"/>
            <a:ext cx="2863866" cy="385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22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858D1E-CAEA-7C70-DB26-B13C492D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Valutazioni</a:t>
            </a:r>
            <a:r>
              <a:rPr lang="en-US" dirty="0"/>
              <a:t> </a:t>
            </a:r>
            <a:r>
              <a:rPr lang="en-US" dirty="0" err="1"/>
              <a:t>studenti</a:t>
            </a:r>
            <a:r>
              <a:rPr lang="en-US" dirty="0"/>
              <a:t> 2022/2023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66529F-CDF2-A12F-333E-E1BEC43F6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Suggerimenti/commenti studenti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75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FC9C6-F6B2-194C-BE36-ED96F497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didattiche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AAD1F7-E0B4-9940-B8CF-FA30A0EF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Lato back-end, il corso approfondisce le vostre conoscenze Java</a:t>
            </a:r>
          </a:p>
          <a:p>
            <a:pPr lvl="1"/>
            <a:r>
              <a:rPr lang="it-IT" dirty="0"/>
              <a:t>Spring Boot framework</a:t>
            </a:r>
          </a:p>
          <a:p>
            <a:r>
              <a:rPr lang="it-IT" dirty="0"/>
              <a:t>Vedremo una parte (limitata, ma significativa e didatticamente fondamentale) di queste tecnologie</a:t>
            </a:r>
          </a:p>
          <a:p>
            <a:r>
              <a:rPr lang="it-IT" dirty="0"/>
              <a:t>Perché una piattaforma Java </a:t>
            </a:r>
          </a:p>
          <a:p>
            <a:pPr lvl="1"/>
            <a:r>
              <a:rPr lang="it-IT" dirty="0"/>
              <a:t>non esiste LA soluzione (vedi slide successiva)</a:t>
            </a:r>
          </a:p>
          <a:p>
            <a:pPr lvl="1"/>
            <a:r>
              <a:rPr lang="it-IT" dirty="0"/>
              <a:t>è (ancora) molto usata, soprattutto in ambito </a:t>
            </a:r>
            <a:r>
              <a:rPr lang="it-IT" dirty="0" err="1"/>
              <a:t>enterprise</a:t>
            </a:r>
            <a:endParaRPr lang="it-IT" dirty="0"/>
          </a:p>
          <a:p>
            <a:pPr lvl="1"/>
            <a:r>
              <a:rPr lang="it-IT" dirty="0"/>
              <a:t>ci permette di concentrarci sugli aspetti metodologici, che sono comuni a tutte le piattaforme (vedi slide successiva)</a:t>
            </a:r>
          </a:p>
        </p:txBody>
      </p:sp>
    </p:spTree>
    <p:extLst>
      <p:ext uri="{BB962C8B-B14F-4D97-AF65-F5344CB8AC3E}">
        <p14:creationId xmlns:p14="http://schemas.microsoft.com/office/powerpoint/2010/main" val="338395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8047F1-9BEA-F44B-91C6-BCC83AAB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Piattaforme alternative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200A05-0A22-AC4F-8931-D7B5AE7F9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JSF</a:t>
            </a:r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Java</a:t>
            </a:r>
          </a:p>
          <a:p>
            <a:r>
              <a:rPr lang="it-IT" dirty="0"/>
              <a:t>Ruby on </a:t>
            </a:r>
            <a:r>
              <a:rPr lang="it-IT" dirty="0" err="1"/>
              <a:t>Rails</a:t>
            </a:r>
            <a:endParaRPr lang="it-IT" dirty="0"/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Ruby</a:t>
            </a:r>
          </a:p>
          <a:p>
            <a:r>
              <a:rPr lang="it-IT" dirty="0"/>
              <a:t>Django</a:t>
            </a:r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Python</a:t>
            </a:r>
          </a:p>
          <a:p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F209F57-74DE-1447-A523-046DFF3BDD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Laravel</a:t>
            </a:r>
            <a:endParaRPr lang="it-IT" dirty="0"/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PHP</a:t>
            </a:r>
          </a:p>
          <a:p>
            <a:r>
              <a:rPr lang="it-IT" dirty="0"/>
              <a:t>Express </a:t>
            </a:r>
            <a:r>
              <a:rPr lang="it-IT" dirty="0" err="1"/>
              <a:t>js</a:t>
            </a:r>
            <a:endParaRPr lang="it-IT" dirty="0"/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JavaScript</a:t>
            </a:r>
          </a:p>
          <a:p>
            <a:r>
              <a:rPr lang="it-IT" dirty="0"/>
              <a:t>Genie</a:t>
            </a:r>
          </a:p>
          <a:p>
            <a:pPr lvl="1"/>
            <a:r>
              <a:rPr lang="it-IT" dirty="0"/>
              <a:t>Framework MVC</a:t>
            </a:r>
          </a:p>
          <a:p>
            <a:pPr lvl="1"/>
            <a:r>
              <a:rPr lang="it-IT" dirty="0"/>
              <a:t>Linguaggio Julia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6DABCD-1C6F-8B4B-A6B4-5E0C04C3EC39}"/>
              </a:ext>
            </a:extLst>
          </p:cNvPr>
          <p:cNvSpPr txBox="1"/>
          <p:nvPr/>
        </p:nvSpPr>
        <p:spPr>
          <a:xfrm>
            <a:off x="1397772" y="4546879"/>
            <a:ext cx="6196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alibri Light" panose="020F0302020204030204" pitchFamily="34" charset="0"/>
                <a:hlinkClick r:id="rId2"/>
              </a:rPr>
              <a:t>https://en.wikipedia.org/wiki/Comparison_of_web_frameworks</a:t>
            </a:r>
            <a:endParaRPr lang="it-IT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6FC9C6-F6B2-194C-BE36-ED96F497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Scelte didattiche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AAD1F7-E0B4-9940-B8CF-FA30A0EF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Lato front-end, il corso introduce concetti base</a:t>
            </a:r>
          </a:p>
          <a:p>
            <a:pPr lvl="1"/>
            <a:r>
              <a:rPr lang="it-IT" dirty="0"/>
              <a:t>HTML</a:t>
            </a:r>
          </a:p>
          <a:p>
            <a:pPr lvl="1"/>
            <a:r>
              <a:rPr lang="it-IT" dirty="0"/>
              <a:t>CSS</a:t>
            </a:r>
          </a:p>
          <a:p>
            <a:pPr lvl="1"/>
            <a:r>
              <a:rPr lang="it-IT" dirty="0"/>
              <a:t>JavaScript</a:t>
            </a:r>
          </a:p>
          <a:p>
            <a:r>
              <a:rPr lang="it-IT" dirty="0"/>
              <a:t>Vedremo una parte (molto limitata, ma didatticamente rilevante) di un framework front-end</a:t>
            </a:r>
          </a:p>
          <a:p>
            <a:r>
              <a:rPr lang="it-IT" dirty="0"/>
              <a:t>Perché poco spazio al front-end?</a:t>
            </a:r>
          </a:p>
          <a:p>
            <a:pPr lvl="1"/>
            <a:r>
              <a:rPr lang="it-IT" dirty="0"/>
              <a:t>abbiamo 6 </a:t>
            </a:r>
            <a:r>
              <a:rPr lang="it-IT" dirty="0" err="1"/>
              <a:t>cfu</a:t>
            </a:r>
            <a:endParaRPr lang="it-IT" dirty="0"/>
          </a:p>
          <a:p>
            <a:pPr lvl="1"/>
            <a:r>
              <a:rPr lang="it-IT" dirty="0"/>
              <a:t>i framework front-end hanno un'evoluzione tumultuosa (da un paio di anni hanno iniziato a stabilizzarsi) </a:t>
            </a:r>
          </a:p>
        </p:txBody>
      </p:sp>
    </p:spTree>
    <p:extLst>
      <p:ext uri="{BB962C8B-B14F-4D97-AF65-F5344CB8AC3E}">
        <p14:creationId xmlns:p14="http://schemas.microsoft.com/office/powerpoint/2010/main" val="6771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5BAC45F1-FBCF-0451-378B-EDA88C06F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L'elefante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stanza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9661E6C0-59E7-BCDB-A9A9-F89F8A5AD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1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45BB9A-AA0E-6BF7-AD9E-A25044AC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081CC-6201-8643-E041-2F8CFA41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 realistic elephant sitting in front of a computer, using its trunk to type on the keyboard. The elephant has the text 'ChatGPT' integrated into its skin, blending naturally like a pattern. The computer screen displays lines of programming code. The setting is a cozy indoor workspace with a wooden desk and a warm atmosphere.">
            <a:extLst>
              <a:ext uri="{FF2B5EF4-FFF2-40B4-BE49-F238E27FC236}">
                <a16:creationId xmlns:a16="http://schemas.microsoft.com/office/drawing/2014/main" id="{D92E1F38-C2D5-5AA6-DEC5-B3C3D8F66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917" y="0"/>
            <a:ext cx="6034616" cy="603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78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AC376C-3660-EC48-B6CC-C1AB909A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Un progetto </a:t>
            </a:r>
            <a:r>
              <a:rPr lang="it-IT" dirty="0" err="1"/>
              <a:t>sw</a:t>
            </a:r>
            <a:r>
              <a:rPr lang="it-IT" dirty="0"/>
              <a:t> (reale) implica l'uso di molteplici strumenti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CBB454-29C7-334A-BBC5-2925E668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it-IT" dirty="0"/>
              <a:t>Ide</a:t>
            </a:r>
          </a:p>
          <a:p>
            <a:pPr lvl="2"/>
            <a:r>
              <a:rPr lang="it-IT" dirty="0"/>
              <a:t>Useremo </a:t>
            </a:r>
            <a:r>
              <a:rPr lang="it-IT" dirty="0" err="1"/>
              <a:t>Eclipse</a:t>
            </a:r>
            <a:r>
              <a:rPr lang="it-IT" dirty="0"/>
              <a:t> (e una sua variante, STS)</a:t>
            </a:r>
          </a:p>
          <a:p>
            <a:pPr lvl="2"/>
            <a:r>
              <a:rPr lang="it-IT" dirty="0"/>
              <a:t>Ma potete usare </a:t>
            </a:r>
            <a:r>
              <a:rPr lang="it-IT" dirty="0" err="1"/>
              <a:t>IntelliJ</a:t>
            </a:r>
            <a:r>
              <a:rPr lang="it-IT" dirty="0"/>
              <a:t> o Visual Studio Code </a:t>
            </a:r>
          </a:p>
          <a:p>
            <a:pPr lvl="1"/>
            <a:r>
              <a:rPr lang="it-IT" dirty="0"/>
              <a:t>Version control </a:t>
            </a:r>
            <a:r>
              <a:rPr lang="it-IT" dirty="0" err="1"/>
              <a:t>system</a:t>
            </a:r>
            <a:endParaRPr lang="it-IT" dirty="0"/>
          </a:p>
          <a:p>
            <a:pPr lvl="2"/>
            <a:r>
              <a:rPr lang="it-IT" dirty="0"/>
              <a:t>Useremo </a:t>
            </a:r>
            <a:r>
              <a:rPr lang="it-IT" dirty="0" err="1"/>
              <a:t>git</a:t>
            </a:r>
            <a:r>
              <a:rPr lang="it-IT" dirty="0"/>
              <a:t> (con </a:t>
            </a:r>
            <a:r>
              <a:rPr lang="it-IT" dirty="0" err="1"/>
              <a:t>github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Sistema di gestione di progetti </a:t>
            </a:r>
          </a:p>
          <a:p>
            <a:pPr lvl="2"/>
            <a:r>
              <a:rPr lang="it-IT" dirty="0"/>
              <a:t>Useremo </a:t>
            </a:r>
            <a:r>
              <a:rPr lang="it-IT" dirty="0" err="1"/>
              <a:t>Maven</a:t>
            </a:r>
            <a:endParaRPr lang="it-IT" dirty="0"/>
          </a:p>
          <a:p>
            <a:pPr lvl="2"/>
            <a:r>
              <a:rPr lang="it-IT" dirty="0"/>
              <a:t>Ma potete usare </a:t>
            </a:r>
            <a:r>
              <a:rPr lang="it-IT" dirty="0" err="1"/>
              <a:t>Gradle</a:t>
            </a:r>
            <a:endParaRPr lang="it-IT" dirty="0"/>
          </a:p>
          <a:p>
            <a:pPr lvl="1"/>
            <a:r>
              <a:rPr lang="it-IT" dirty="0"/>
              <a:t>Sistema di </a:t>
            </a:r>
            <a:r>
              <a:rPr lang="it-IT" dirty="0" err="1"/>
              <a:t>logging</a:t>
            </a:r>
            <a:endParaRPr lang="it-IT" dirty="0"/>
          </a:p>
          <a:p>
            <a:pPr lvl="2"/>
            <a:r>
              <a:rPr lang="it-IT" dirty="0"/>
              <a:t>Useremo Log4j2 e SLF4J</a:t>
            </a:r>
          </a:p>
          <a:p>
            <a:pPr lvl="2"/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901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AC376C-3660-EC48-B6CC-C1AB909A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Un progetto </a:t>
            </a:r>
            <a:r>
              <a:rPr lang="it-IT" dirty="0" err="1"/>
              <a:t>sw</a:t>
            </a:r>
            <a:r>
              <a:rPr lang="it-IT" dirty="0"/>
              <a:t> (reale) implica l'uso di molteplici tecnologie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CBB454-29C7-334A-BBC5-2925E668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it-IT" dirty="0"/>
              <a:t>Linguaggi di programmazione</a:t>
            </a:r>
          </a:p>
          <a:p>
            <a:pPr lvl="2"/>
            <a:r>
              <a:rPr lang="it-IT" dirty="0"/>
              <a:t>Java, </a:t>
            </a:r>
            <a:r>
              <a:rPr lang="it-IT" dirty="0" err="1"/>
              <a:t>Javascript</a:t>
            </a:r>
            <a:r>
              <a:rPr lang="it-IT" dirty="0"/>
              <a:t>, SQL</a:t>
            </a:r>
            <a:br>
              <a:rPr lang="it-IT" dirty="0"/>
            </a:br>
            <a:r>
              <a:rPr lang="it-IT" dirty="0"/>
              <a:t>(come minimo)</a:t>
            </a:r>
          </a:p>
          <a:p>
            <a:pPr lvl="1"/>
            <a:r>
              <a:rPr lang="it-IT" dirty="0"/>
              <a:t>Linguaggi di marcatura e presentazione</a:t>
            </a:r>
          </a:p>
          <a:p>
            <a:pPr lvl="2"/>
            <a:r>
              <a:rPr lang="it-IT" dirty="0"/>
              <a:t>HTML</a:t>
            </a:r>
          </a:p>
          <a:p>
            <a:pPr lvl="2"/>
            <a:r>
              <a:rPr lang="it-IT" dirty="0"/>
              <a:t>CSS</a:t>
            </a:r>
          </a:p>
          <a:p>
            <a:pPr lvl="1"/>
            <a:r>
              <a:rPr lang="it-IT" dirty="0"/>
              <a:t>DBMS</a:t>
            </a:r>
          </a:p>
          <a:p>
            <a:pPr lvl="2"/>
            <a:r>
              <a:rPr lang="it-IT" dirty="0"/>
              <a:t>Usiamo </a:t>
            </a:r>
            <a:r>
              <a:rPr lang="it-IT" dirty="0" err="1"/>
              <a:t>Postgres</a:t>
            </a:r>
            <a:endParaRPr lang="it-IT" dirty="0"/>
          </a:p>
          <a:p>
            <a:pPr lvl="2"/>
            <a:r>
              <a:rPr lang="it-IT" dirty="0"/>
              <a:t>Ma potete usare </a:t>
            </a:r>
            <a:r>
              <a:rPr lang="it-IT" dirty="0" err="1"/>
              <a:t>MySql</a:t>
            </a:r>
            <a:r>
              <a:rPr lang="it-IT" dirty="0"/>
              <a:t>, </a:t>
            </a:r>
            <a:r>
              <a:rPr lang="it-IT" dirty="0" err="1"/>
              <a:t>SQLite</a:t>
            </a:r>
            <a:r>
              <a:rPr lang="it-IT" dirty="0"/>
              <a:t>, </a:t>
            </a:r>
            <a:r>
              <a:rPr lang="it-IT" dirty="0" err="1"/>
              <a:t>MariaDb</a:t>
            </a:r>
            <a:endParaRPr lang="it-IT" dirty="0"/>
          </a:p>
          <a:p>
            <a:pPr lvl="1"/>
            <a:r>
              <a:rPr lang="it-IT" dirty="0"/>
              <a:t>Librerie</a:t>
            </a:r>
          </a:p>
          <a:p>
            <a:pPr lvl="2"/>
            <a:r>
              <a:rPr lang="it-IT" dirty="0"/>
              <a:t>Gestione della persistenza</a:t>
            </a:r>
          </a:p>
          <a:p>
            <a:pPr lvl="2"/>
            <a:r>
              <a:rPr lang="it-IT" dirty="0"/>
              <a:t>Gestione della sicurezza</a:t>
            </a:r>
          </a:p>
          <a:p>
            <a:pPr lvl="2"/>
            <a:r>
              <a:rPr lang="it-IT" dirty="0"/>
              <a:t>Gestione della validazione delle </a:t>
            </a:r>
            <a:r>
              <a:rPr lang="it-IT" dirty="0" err="1"/>
              <a:t>form</a:t>
            </a:r>
            <a:endParaRPr lang="it-IT" dirty="0"/>
          </a:p>
          <a:p>
            <a:pPr lvl="2"/>
            <a:r>
              <a:rPr lang="it-IT" dirty="0"/>
              <a:t>Gestione delle viste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246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BD76BF-23A4-034C-ABBD-ED229605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Ingegnere informatico consapevole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E9230-B410-9549-A909-B7F0982F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it-IT" dirty="0"/>
              <a:t>Ha chiari i concetti chiave</a:t>
            </a:r>
          </a:p>
          <a:p>
            <a:pPr lvl="1"/>
            <a:r>
              <a:rPr lang="it-IT" dirty="0"/>
              <a:t>Sa governare i dettagli sistemistici </a:t>
            </a:r>
          </a:p>
          <a:p>
            <a:pPr lvl="1"/>
            <a:r>
              <a:rPr lang="it-IT" dirty="0"/>
              <a:t>Sa scegliere le tecnologie più adatte al contesto</a:t>
            </a:r>
          </a:p>
          <a:p>
            <a:pPr lvl="1"/>
            <a:r>
              <a:rPr lang="it-IT" dirty="0"/>
              <a:t>Impara ad approfondire autonomamente e criticamente</a:t>
            </a:r>
          </a:p>
          <a:p>
            <a:pPr lvl="1"/>
            <a:r>
              <a:rPr lang="it-IT" dirty="0"/>
              <a:t>Sa usare un LLM per diventare più produttivo (non per farsi sostituire: verresti sostituito da un ingegnere più consapevole)</a:t>
            </a:r>
          </a:p>
        </p:txBody>
      </p:sp>
    </p:spTree>
    <p:extLst>
      <p:ext uri="{BB962C8B-B14F-4D97-AF65-F5344CB8AC3E}">
        <p14:creationId xmlns:p14="http://schemas.microsoft.com/office/powerpoint/2010/main" val="167667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31035</TotalTime>
  <Words>979</Words>
  <Application>Microsoft Macintosh PowerPoint</Application>
  <PresentationFormat>Presentazione su schermo (16:9)</PresentationFormat>
  <Paragraphs>169</Paragraphs>
  <Slides>27</Slides>
  <Notes>2</Notes>
  <HiddenSlides>6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0" baseType="lpstr">
      <vt:lpstr>Arial</vt:lpstr>
      <vt:lpstr>Calibri Light</vt:lpstr>
      <vt:lpstr>4_Tema di Office</vt:lpstr>
      <vt:lpstr>Sistemi informativi su Web PRESENTAZIONE DEL CORSO aa 2024-2025 </vt:lpstr>
      <vt:lpstr>SIW: Benvenuti</vt:lpstr>
      <vt:lpstr>Docente</vt:lpstr>
      <vt:lpstr>Contenuti del corso</vt:lpstr>
      <vt:lpstr>Difficoltà</vt:lpstr>
      <vt:lpstr>Prerequisiti</vt:lpstr>
      <vt:lpstr>Organizzazione didattica</vt:lpstr>
      <vt:lpstr>Materiale didattico</vt:lpstr>
      <vt:lpstr>Esame</vt:lpstr>
      <vt:lpstr>Progetto (appelli giugno/luglio)</vt:lpstr>
      <vt:lpstr>Progetto (appelli settembre/febbraio)</vt:lpstr>
      <vt:lpstr>Le modalità di esame sono chiare?</vt:lpstr>
      <vt:lpstr>Regole generali</vt:lpstr>
      <vt:lpstr>Valutazioni studenti 2022/2023</vt:lpstr>
      <vt:lpstr>Valutazioni studenti 2022/2023</vt:lpstr>
      <vt:lpstr>Valutazioni studenti 2022/2023</vt:lpstr>
      <vt:lpstr>Valutazioni studenti 2022/2023</vt:lpstr>
      <vt:lpstr>Valutazioni studenti 2022/2023</vt:lpstr>
      <vt:lpstr>Valutazioni studenti 2022/2023</vt:lpstr>
      <vt:lpstr>Scelte didattiche</vt:lpstr>
      <vt:lpstr>Piattaforme alternative</vt:lpstr>
      <vt:lpstr>Scelte didattiche</vt:lpstr>
      <vt:lpstr>L'elefante nella stanza</vt:lpstr>
      <vt:lpstr>Presentazione standard di PowerPoint</vt:lpstr>
      <vt:lpstr>Un progetto sw (reale) implica l'uso di molteplici strumenti</vt:lpstr>
      <vt:lpstr>Un progetto sw (reale) implica l'uso di molteplici tecnologie</vt:lpstr>
      <vt:lpstr>Un Ingegnere informatico consapevole</vt:lpstr>
    </vt:vector>
  </TitlesOfParts>
  <Company>università roma 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</dc:title>
  <dc:creator>Paolo Merialdo</dc:creator>
  <cp:lastModifiedBy>Paolo Merialdo</cp:lastModifiedBy>
  <cp:revision>109</cp:revision>
  <dcterms:created xsi:type="dcterms:W3CDTF">2014-02-26T16:59:56Z</dcterms:created>
  <dcterms:modified xsi:type="dcterms:W3CDTF">2025-02-27T15:28:26Z</dcterms:modified>
</cp:coreProperties>
</file>