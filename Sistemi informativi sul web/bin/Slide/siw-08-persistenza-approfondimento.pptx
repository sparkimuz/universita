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1"/>
  </p:notesMasterIdLst>
  <p:sldIdLst>
    <p:sldId id="258" r:id="rId2"/>
    <p:sldId id="585" r:id="rId3"/>
    <p:sldId id="262" r:id="rId4"/>
    <p:sldId id="263" r:id="rId5"/>
    <p:sldId id="264" r:id="rId6"/>
    <p:sldId id="265" r:id="rId7"/>
    <p:sldId id="266" r:id="rId8"/>
    <p:sldId id="271" r:id="rId9"/>
    <p:sldId id="272" r:id="rId10"/>
    <p:sldId id="273" r:id="rId11"/>
    <p:sldId id="275" r:id="rId12"/>
    <p:sldId id="276" r:id="rId13"/>
    <p:sldId id="277" r:id="rId14"/>
    <p:sldId id="278" r:id="rId15"/>
    <p:sldId id="279" r:id="rId16"/>
    <p:sldId id="280" r:id="rId17"/>
    <p:sldId id="281" r:id="rId18"/>
    <p:sldId id="282" r:id="rId19"/>
    <p:sldId id="283" r:id="rId20"/>
    <p:sldId id="285" r:id="rId21"/>
    <p:sldId id="286" r:id="rId22"/>
    <p:sldId id="287" r:id="rId23"/>
    <p:sldId id="288" r:id="rId24"/>
    <p:sldId id="289" r:id="rId25"/>
    <p:sldId id="290" r:id="rId26"/>
    <p:sldId id="291" r:id="rId27"/>
    <p:sldId id="292" r:id="rId28"/>
    <p:sldId id="293" r:id="rId29"/>
    <p:sldId id="294" r:id="rId30"/>
    <p:sldId id="299" r:id="rId31"/>
    <p:sldId id="295" r:id="rId32"/>
    <p:sldId id="356" r:id="rId33"/>
    <p:sldId id="317" r:id="rId34"/>
    <p:sldId id="318" r:id="rId35"/>
    <p:sldId id="319" r:id="rId36"/>
    <p:sldId id="320" r:id="rId37"/>
    <p:sldId id="321" r:id="rId38"/>
    <p:sldId id="329" r:id="rId39"/>
    <p:sldId id="339" r:id="rId40"/>
    <p:sldId id="334" r:id="rId41"/>
    <p:sldId id="335" r:id="rId42"/>
    <p:sldId id="336" r:id="rId43"/>
    <p:sldId id="337" r:id="rId44"/>
    <p:sldId id="338" r:id="rId45"/>
    <p:sldId id="331" r:id="rId46"/>
    <p:sldId id="332" r:id="rId47"/>
    <p:sldId id="333" r:id="rId48"/>
    <p:sldId id="340" r:id="rId49"/>
    <p:sldId id="341" r:id="rId50"/>
    <p:sldId id="342" r:id="rId51"/>
    <p:sldId id="343" r:id="rId52"/>
    <p:sldId id="344" r:id="rId53"/>
    <p:sldId id="345" r:id="rId54"/>
    <p:sldId id="347" r:id="rId55"/>
    <p:sldId id="346" r:id="rId56"/>
    <p:sldId id="586" r:id="rId57"/>
    <p:sldId id="267" r:id="rId58"/>
    <p:sldId id="259" r:id="rId59"/>
    <p:sldId id="260" r:id="rId60"/>
    <p:sldId id="587" r:id="rId61"/>
    <p:sldId id="261" r:id="rId62"/>
    <p:sldId id="268" r:id="rId63"/>
    <p:sldId id="589" r:id="rId64"/>
    <p:sldId id="590" r:id="rId65"/>
    <p:sldId id="355" r:id="rId66"/>
    <p:sldId id="592" r:id="rId67"/>
    <p:sldId id="594" r:id="rId68"/>
    <p:sldId id="274" r:id="rId69"/>
    <p:sldId id="595" r:id="rId70"/>
    <p:sldId id="596" r:id="rId71"/>
    <p:sldId id="597" r:id="rId72"/>
    <p:sldId id="487" r:id="rId73"/>
    <p:sldId id="488" r:id="rId74"/>
    <p:sldId id="490" r:id="rId75"/>
    <p:sldId id="489" r:id="rId76"/>
    <p:sldId id="598" r:id="rId77"/>
    <p:sldId id="599" r:id="rId78"/>
    <p:sldId id="600" r:id="rId79"/>
    <p:sldId id="284" r:id="rId80"/>
    <p:sldId id="493" r:id="rId81"/>
    <p:sldId id="601" r:id="rId82"/>
    <p:sldId id="491" r:id="rId83"/>
    <p:sldId id="441" r:id="rId84"/>
    <p:sldId id="602" r:id="rId85"/>
    <p:sldId id="606" r:id="rId86"/>
    <p:sldId id="398" r:id="rId87"/>
    <p:sldId id="392" r:id="rId88"/>
    <p:sldId id="397" r:id="rId89"/>
    <p:sldId id="399" r:id="rId90"/>
    <p:sldId id="400" r:id="rId91"/>
    <p:sldId id="608" r:id="rId92"/>
    <p:sldId id="393" r:id="rId93"/>
    <p:sldId id="395" r:id="rId94"/>
    <p:sldId id="396" r:id="rId95"/>
    <p:sldId id="394" r:id="rId96"/>
    <p:sldId id="439" r:id="rId97"/>
    <p:sldId id="413" r:id="rId98"/>
    <p:sldId id="553" r:id="rId99"/>
    <p:sldId id="533" r:id="rId100"/>
    <p:sldId id="539" r:id="rId101"/>
    <p:sldId id="541" r:id="rId102"/>
    <p:sldId id="540" r:id="rId103"/>
    <p:sldId id="415" r:id="rId104"/>
    <p:sldId id="534" r:id="rId105"/>
    <p:sldId id="550" r:id="rId106"/>
    <p:sldId id="551" r:id="rId107"/>
    <p:sldId id="538" r:id="rId108"/>
    <p:sldId id="542" r:id="rId109"/>
    <p:sldId id="535" r:id="rId110"/>
    <p:sldId id="543" r:id="rId111"/>
    <p:sldId id="537" r:id="rId112"/>
    <p:sldId id="607" r:id="rId113"/>
    <p:sldId id="517" r:id="rId114"/>
    <p:sldId id="566" r:id="rId115"/>
    <p:sldId id="567" r:id="rId116"/>
    <p:sldId id="521" r:id="rId117"/>
    <p:sldId id="581" r:id="rId118"/>
    <p:sldId id="519" r:id="rId119"/>
    <p:sldId id="570" r:id="rId120"/>
    <p:sldId id="531" r:id="rId121"/>
    <p:sldId id="532" r:id="rId122"/>
    <p:sldId id="572" r:id="rId123"/>
    <p:sldId id="573" r:id="rId124"/>
    <p:sldId id="574" r:id="rId125"/>
    <p:sldId id="580" r:id="rId126"/>
    <p:sldId id="582" r:id="rId127"/>
    <p:sldId id="584" r:id="rId128"/>
    <p:sldId id="575" r:id="rId129"/>
    <p:sldId id="609" r:id="rId130"/>
  </p:sldIdLst>
  <p:sldSz cx="9144000" cy="5143500" type="screen16x9"/>
  <p:notesSz cx="6858000" cy="9144000"/>
  <p:defaultText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olo Merialdo" initials="p.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8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35950E-1698-E848-A07E-D5B7F85B042B}" v="41" dt="2025-04-10T15:44:25.7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2671" autoAdjust="0"/>
  </p:normalViewPr>
  <p:slideViewPr>
    <p:cSldViewPr snapToGrid="0" snapToObjects="1">
      <p:cViewPr varScale="1">
        <p:scale>
          <a:sx n="143" d="100"/>
          <a:sy n="143" d="100"/>
        </p:scale>
        <p:origin x="200" y="312"/>
      </p:cViewPr>
      <p:guideLst>
        <p:guide orient="horz" pos="1620"/>
        <p:guide pos="2880"/>
      </p:guideLst>
    </p:cSldViewPr>
  </p:slideViewPr>
  <p:notesTextViewPr>
    <p:cViewPr>
      <p:scale>
        <a:sx n="100" d="100"/>
        <a:sy n="100" d="100"/>
      </p:scale>
      <p:origin x="0" y="0"/>
    </p:cViewPr>
  </p:notesTextViewPr>
  <p:sorterViewPr>
    <p:cViewPr varScale="1">
      <p:scale>
        <a:sx n="100" d="100"/>
        <a:sy n="100" d="100"/>
      </p:scale>
      <p:origin x="0" y="31872"/>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notesMaster" Target="notesMasters/notesMaster1.xml"/><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commentAuthors" Target="commentAuthor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Calibri Light" panose="020F0302020204030204" pitchFamily="34" charset="0"/>
              </a:defRPr>
            </a:lvl1pPr>
          </a:lstStyle>
          <a:p>
            <a:endParaRPr lang="en-US" dirty="0"/>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Calibri Light" panose="020F0302020204030204" pitchFamily="34" charset="0"/>
              </a:defRPr>
            </a:lvl1pPr>
          </a:lstStyle>
          <a:p>
            <a:fld id="{6AF75452-8E9B-2A4A-993A-81C6082A6AE5}" type="datetimeFigureOut">
              <a:rPr lang="it-IT" smtClean="0"/>
              <a:pPr/>
              <a:t>10/04/25</a:t>
            </a:fld>
            <a:endParaRPr lang="en-US" dirty="0"/>
          </a:p>
        </p:txBody>
      </p:sp>
      <p:sp>
        <p:nvSpPr>
          <p:cNvPr id="4" name="Segnaposto immagine diapositiva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endParaRPr lang="en-US" dirty="0"/>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Calibri Light" panose="020F0302020204030204" pitchFamily="34" charset="0"/>
              </a:defRPr>
            </a:lvl1pPr>
          </a:lstStyle>
          <a:p>
            <a:endParaRPr lang="en-US" dirty="0"/>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Calibri Light" panose="020F0302020204030204" pitchFamily="34" charset="0"/>
              </a:defRPr>
            </a:lvl1pPr>
          </a:lstStyle>
          <a:p>
            <a:fld id="{B48FDC54-0F6D-2A4D-9375-4DA1EF8B8D51}" type="slidenum">
              <a:rPr lang="en-US" smtClean="0"/>
              <a:pPr/>
              <a:t>‹N›</a:t>
            </a:fld>
            <a:endParaRPr lang="en-US" dirty="0"/>
          </a:p>
        </p:txBody>
      </p:sp>
    </p:spTree>
    <p:extLst>
      <p:ext uri="{BB962C8B-B14F-4D97-AF65-F5344CB8AC3E}">
        <p14:creationId xmlns:p14="http://schemas.microsoft.com/office/powerpoint/2010/main" val="2531917712"/>
      </p:ext>
    </p:extLst>
  </p:cSld>
  <p:clrMap bg1="lt1" tx1="dk1" bg2="lt2" tx2="dk2" accent1="accent1" accent2="accent2" accent3="accent3" accent4="accent4" accent5="accent5" accent6="accent6" hlink="hlink" folHlink="folHlink"/>
  <p:notesStyle>
    <a:lvl1pPr marL="0" algn="l" defTabSz="457200" rtl="0" eaLnBrk="1" latinLnBrk="0" hangingPunct="1">
      <a:defRPr sz="1200" b="0" i="0" kern="1200">
        <a:solidFill>
          <a:schemeClr val="tx1"/>
        </a:solidFill>
        <a:latin typeface="Calibri Light" panose="020F0302020204030204" pitchFamily="34" charset="0"/>
        <a:ea typeface="+mn-ea"/>
        <a:cs typeface="+mn-cs"/>
      </a:defRPr>
    </a:lvl1pPr>
    <a:lvl2pPr marL="457200" algn="l" defTabSz="457200" rtl="0" eaLnBrk="1" latinLnBrk="0" hangingPunct="1">
      <a:defRPr sz="1200" b="0" i="0" kern="1200">
        <a:solidFill>
          <a:schemeClr val="tx1"/>
        </a:solidFill>
        <a:latin typeface="Calibri Light" panose="020F0302020204030204" pitchFamily="34" charset="0"/>
        <a:ea typeface="+mn-ea"/>
        <a:cs typeface="+mn-cs"/>
      </a:defRPr>
    </a:lvl2pPr>
    <a:lvl3pPr marL="914400" algn="l" defTabSz="457200" rtl="0" eaLnBrk="1" latinLnBrk="0" hangingPunct="1">
      <a:defRPr sz="1200" b="0" i="0" kern="1200">
        <a:solidFill>
          <a:schemeClr val="tx1"/>
        </a:solidFill>
        <a:latin typeface="Calibri Light" panose="020F0302020204030204" pitchFamily="34" charset="0"/>
        <a:ea typeface="+mn-ea"/>
        <a:cs typeface="+mn-cs"/>
      </a:defRPr>
    </a:lvl3pPr>
    <a:lvl4pPr marL="1371600" algn="l" defTabSz="457200" rtl="0" eaLnBrk="1" latinLnBrk="0" hangingPunct="1">
      <a:defRPr sz="1200" b="0" i="0" kern="1200">
        <a:solidFill>
          <a:schemeClr val="tx1"/>
        </a:solidFill>
        <a:latin typeface="Calibri Light" panose="020F0302020204030204" pitchFamily="34" charset="0"/>
        <a:ea typeface="+mn-ea"/>
        <a:cs typeface="+mn-cs"/>
      </a:defRPr>
    </a:lvl4pPr>
    <a:lvl5pPr marL="1828800" algn="l" defTabSz="457200" rtl="0" eaLnBrk="1" latinLnBrk="0" hangingPunct="1">
      <a:defRPr sz="1200" b="0" i="0" kern="1200">
        <a:solidFill>
          <a:schemeClr val="tx1"/>
        </a:solidFill>
        <a:latin typeface="Calibri Light" panose="020F0302020204030204"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18EB111A-9E8D-AE42-AF40-7D7AD69A6457}" type="slidenum">
              <a:rPr lang="it-IT">
                <a:latin typeface="Calibri Light" panose="020F0302020204030204" pitchFamily="34" charset="0"/>
              </a:rPr>
              <a:pPr eaLnBrk="1" hangingPunct="1"/>
              <a:t>1</a:t>
            </a:fld>
            <a:endParaRPr lang="it-IT" dirty="0">
              <a:latin typeface="Calibri Light" panose="020F0302020204030204" pitchFamily="34" charset="0"/>
            </a:endParaRPr>
          </a:p>
        </p:txBody>
      </p:sp>
      <p:sp>
        <p:nvSpPr>
          <p:cNvPr id="15363" name="Rectangle 2"/>
          <p:cNvSpPr>
            <a:spLocks noGrp="1" noRot="1" noChangeAspect="1" noChangeArrowheads="1" noTextEdit="1"/>
          </p:cNvSpPr>
          <p:nvPr>
            <p:ph type="sldImg"/>
          </p:nvPr>
        </p:nvSpPr>
        <p:spPr>
          <a:xfrm>
            <a:off x="381000" y="685800"/>
            <a:ext cx="6096000" cy="3429000"/>
          </a:xfrm>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61FB667F-DDCC-404D-A81F-B39A5EB193E8}" type="slidenum">
              <a:rPr lang="it-IT">
                <a:latin typeface="Calibri Light" panose="020F0302020204030204" pitchFamily="34" charset="0"/>
              </a:rPr>
              <a:pPr eaLnBrk="1" hangingPunct="1"/>
              <a:t>3</a:t>
            </a:fld>
            <a:endParaRPr lang="it-IT" dirty="0">
              <a:latin typeface="Calibri Light" panose="020F0302020204030204" pitchFamily="34" charset="0"/>
            </a:endParaRPr>
          </a:p>
        </p:txBody>
      </p:sp>
      <p:sp>
        <p:nvSpPr>
          <p:cNvPr id="44035" name="Rectangle 2"/>
          <p:cNvSpPr>
            <a:spLocks noGrp="1" noRot="1" noChangeAspect="1" noChangeArrowheads="1" noTextEdit="1"/>
          </p:cNvSpPr>
          <p:nvPr>
            <p:ph type="sldImg"/>
          </p:nvPr>
        </p:nvSpPr>
        <p:spPr>
          <a:xfrm>
            <a:off x="384175" y="687388"/>
            <a:ext cx="6091238" cy="3427412"/>
          </a:xfrm>
          <a:ln/>
        </p:spPr>
      </p:sp>
      <p:sp>
        <p:nvSpPr>
          <p:cNvPr id="44036"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4C11B008-7478-8840-8646-713C889DAA9F}" type="slidenum">
              <a:rPr lang="it-IT">
                <a:latin typeface="Calibri Light" panose="020F0302020204030204" pitchFamily="34" charset="0"/>
              </a:rPr>
              <a:pPr eaLnBrk="1" hangingPunct="1"/>
              <a:t>4</a:t>
            </a:fld>
            <a:endParaRPr lang="it-IT" dirty="0">
              <a:latin typeface="Calibri Light" panose="020F0302020204030204" pitchFamily="34" charset="0"/>
            </a:endParaRPr>
          </a:p>
        </p:txBody>
      </p:sp>
      <p:sp>
        <p:nvSpPr>
          <p:cNvPr id="45059" name="Rectangle 2"/>
          <p:cNvSpPr>
            <a:spLocks noGrp="1" noRot="1" noChangeAspect="1" noChangeArrowheads="1" noTextEdit="1"/>
          </p:cNvSpPr>
          <p:nvPr>
            <p:ph type="sldImg"/>
          </p:nvPr>
        </p:nvSpPr>
        <p:spPr>
          <a:xfrm>
            <a:off x="384175" y="687388"/>
            <a:ext cx="6091238" cy="3427412"/>
          </a:xfrm>
          <a:ln/>
        </p:spPr>
      </p:sp>
      <p:sp>
        <p:nvSpPr>
          <p:cNvPr id="45060"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5F230396-E609-F84E-84F0-4353D2227529}" type="slidenum">
              <a:rPr lang="it-IT">
                <a:latin typeface="Calibri Light" panose="020F0302020204030204" pitchFamily="34" charset="0"/>
              </a:rPr>
              <a:pPr eaLnBrk="1" hangingPunct="1"/>
              <a:t>5</a:t>
            </a:fld>
            <a:endParaRPr lang="it-IT" dirty="0">
              <a:latin typeface="Calibri Light" panose="020F0302020204030204" pitchFamily="34"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E8FC9485-951B-A643-82DF-BB2CD9938554}" type="slidenum">
              <a:rPr lang="it-IT">
                <a:latin typeface="Calibri Light" panose="020F0302020204030204" pitchFamily="34" charset="0"/>
              </a:rPr>
              <a:pPr eaLnBrk="1" hangingPunct="1"/>
              <a:t>6</a:t>
            </a:fld>
            <a:endParaRPr lang="it-IT" dirty="0">
              <a:latin typeface="Calibri Light" panose="020F0302020204030204" pitchFamily="34"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B05222EE-FBB9-2548-8AA8-EE01FD263A12}" type="slidenum">
              <a:rPr lang="it-IT">
                <a:latin typeface="Calibri Light" panose="020F0302020204030204" pitchFamily="34" charset="0"/>
              </a:rPr>
              <a:pPr eaLnBrk="1" hangingPunct="1"/>
              <a:t>7</a:t>
            </a:fld>
            <a:endParaRPr lang="it-IT" dirty="0">
              <a:latin typeface="Calibri Light" panose="020F0302020204030204" pitchFamily="34" charset="0"/>
            </a:endParaRPr>
          </a:p>
        </p:txBody>
      </p:sp>
      <p:sp>
        <p:nvSpPr>
          <p:cNvPr id="48131" name="Rectangle 2"/>
          <p:cNvSpPr>
            <a:spLocks noGrp="1" noRot="1" noChangeAspect="1" noChangeArrowheads="1" noTextEdit="1"/>
          </p:cNvSpPr>
          <p:nvPr>
            <p:ph type="sldImg"/>
          </p:nvPr>
        </p:nvSpPr>
        <p:spPr>
          <a:xfrm>
            <a:off x="384175" y="687388"/>
            <a:ext cx="6091238" cy="3427412"/>
          </a:xfrm>
          <a:ln/>
        </p:spPr>
      </p:sp>
      <p:sp>
        <p:nvSpPr>
          <p:cNvPr id="48132"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16579015-DEA9-4F45-ADDF-2F226170453D}" type="slidenum">
              <a:rPr lang="it-IT">
                <a:latin typeface="Calibri Light" panose="020F0302020204030204" pitchFamily="34" charset="0"/>
              </a:rPr>
              <a:pPr eaLnBrk="1" hangingPunct="1"/>
              <a:t>8</a:t>
            </a:fld>
            <a:endParaRPr lang="it-IT" dirty="0">
              <a:latin typeface="Calibri Light" panose="020F0302020204030204" pitchFamily="34" charset="0"/>
            </a:endParaRPr>
          </a:p>
        </p:txBody>
      </p:sp>
      <p:sp>
        <p:nvSpPr>
          <p:cNvPr id="53251" name="Rectangle 2"/>
          <p:cNvSpPr>
            <a:spLocks noGrp="1" noRot="1" noChangeAspect="1" noChangeArrowheads="1" noTextEdit="1"/>
          </p:cNvSpPr>
          <p:nvPr>
            <p:ph type="sldImg"/>
          </p:nvPr>
        </p:nvSpPr>
        <p:spPr>
          <a:xfrm>
            <a:off x="384175" y="687388"/>
            <a:ext cx="6091238" cy="3427412"/>
          </a:xfrm>
          <a:ln/>
        </p:spPr>
      </p:sp>
      <p:sp>
        <p:nvSpPr>
          <p:cNvPr id="53252"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gnaposto immagine diapositiva 1"/>
          <p:cNvSpPr>
            <a:spLocks noGrp="1" noRot="1" noChangeAspect="1" noTextEdit="1"/>
          </p:cNvSpPr>
          <p:nvPr>
            <p:ph type="sldImg"/>
          </p:nvPr>
        </p:nvSpPr>
        <p:spPr>
          <a:ln/>
        </p:spPr>
      </p:sp>
      <p:sp>
        <p:nvSpPr>
          <p:cNvPr id="54275" name="Segnaposto note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
        <p:nvSpPr>
          <p:cNvPr id="54276" name="Segnaposto numero diapositiva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E15E6E03-6F30-804A-B006-7988F9B22BDD}" type="slidenum">
              <a:rPr lang="it-IT">
                <a:latin typeface="Calibri Light" panose="020F0302020204030204" pitchFamily="34" charset="0"/>
              </a:rPr>
              <a:pPr eaLnBrk="1" hangingPunct="1"/>
              <a:t>9</a:t>
            </a:fld>
            <a:endParaRPr lang="it-IT" dirty="0">
              <a:latin typeface="Calibri Light" panose="020F03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01593F79-E014-1B4B-AFB3-B679E4BBE253}" type="slidenum">
              <a:rPr lang="it-IT">
                <a:latin typeface="Calibri Light" panose="020F0302020204030204" pitchFamily="34" charset="0"/>
              </a:rPr>
              <a:pPr eaLnBrk="1" hangingPunct="1"/>
              <a:t>10</a:t>
            </a:fld>
            <a:endParaRPr lang="it-IT" dirty="0">
              <a:latin typeface="Calibri Light" panose="020F0302020204030204" pitchFamily="34"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7A601DDF-4FDD-7E49-AC41-CA50CED017D9}" type="slidenum">
              <a:rPr lang="it-IT">
                <a:latin typeface="Calibri Light" panose="020F0302020204030204" pitchFamily="34" charset="0"/>
              </a:rPr>
              <a:pPr eaLnBrk="1" hangingPunct="1"/>
              <a:t>11</a:t>
            </a:fld>
            <a:endParaRPr lang="it-IT" dirty="0">
              <a:latin typeface="Calibri Light" panose="020F0302020204030204" pitchFamily="34" charset="0"/>
            </a:endParaRPr>
          </a:p>
        </p:txBody>
      </p:sp>
      <p:sp>
        <p:nvSpPr>
          <p:cNvPr id="57347" name="Rectangle 2"/>
          <p:cNvSpPr>
            <a:spLocks noGrp="1" noRot="1" noChangeAspect="1" noChangeArrowheads="1" noTextEdit="1"/>
          </p:cNvSpPr>
          <p:nvPr>
            <p:ph type="sldImg"/>
          </p:nvPr>
        </p:nvSpPr>
        <p:spPr>
          <a:xfrm>
            <a:off x="384175" y="687388"/>
            <a:ext cx="6091238" cy="3427412"/>
          </a:xfrm>
          <a:ln/>
        </p:spPr>
      </p:sp>
      <p:sp>
        <p:nvSpPr>
          <p:cNvPr id="57348"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1DD09177-5D9A-2442-B6A7-292EE0CAF53C}" type="slidenum">
              <a:rPr lang="it-IT">
                <a:latin typeface="Calibri Light" panose="020F0302020204030204" pitchFamily="34" charset="0"/>
              </a:rPr>
              <a:pPr eaLnBrk="1" hangingPunct="1"/>
              <a:t>12</a:t>
            </a:fld>
            <a:endParaRPr lang="it-IT" dirty="0">
              <a:latin typeface="Calibri Light" panose="020F0302020204030204" pitchFamily="34" charset="0"/>
            </a:endParaRPr>
          </a:p>
        </p:txBody>
      </p:sp>
      <p:sp>
        <p:nvSpPr>
          <p:cNvPr id="58371" name="Rectangle 2"/>
          <p:cNvSpPr>
            <a:spLocks noGrp="1" noRot="1" noChangeAspect="1" noChangeArrowheads="1" noTextEdit="1"/>
          </p:cNvSpPr>
          <p:nvPr>
            <p:ph type="sldImg"/>
          </p:nvPr>
        </p:nvSpPr>
        <p:spPr>
          <a:xfrm>
            <a:off x="384175" y="687388"/>
            <a:ext cx="6091238" cy="3427412"/>
          </a:xfrm>
          <a:ln/>
        </p:spPr>
      </p:sp>
      <p:sp>
        <p:nvSpPr>
          <p:cNvPr id="58372"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75C378DE-822A-E44B-A37F-5218991EE214}" type="slidenum">
              <a:rPr lang="it-IT">
                <a:latin typeface="Calibri Light" panose="020F0302020204030204" pitchFamily="34" charset="0"/>
              </a:rPr>
              <a:pPr eaLnBrk="1" hangingPunct="1"/>
              <a:t>13</a:t>
            </a:fld>
            <a:endParaRPr lang="it-IT" dirty="0">
              <a:latin typeface="Calibri Light" panose="020F0302020204030204" pitchFamily="34" charset="0"/>
            </a:endParaRPr>
          </a:p>
        </p:txBody>
      </p:sp>
      <p:sp>
        <p:nvSpPr>
          <p:cNvPr id="59395" name="Rectangle 2"/>
          <p:cNvSpPr>
            <a:spLocks noGrp="1" noRot="1" noChangeAspect="1" noChangeArrowheads="1" noTextEdit="1"/>
          </p:cNvSpPr>
          <p:nvPr>
            <p:ph type="sldImg"/>
          </p:nvPr>
        </p:nvSpPr>
        <p:spPr>
          <a:xfrm>
            <a:off x="384175" y="687388"/>
            <a:ext cx="6091238" cy="3427412"/>
          </a:xfrm>
          <a:ln/>
        </p:spPr>
      </p:sp>
      <p:sp>
        <p:nvSpPr>
          <p:cNvPr id="59396"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DBE7820B-CC3E-9F4D-BD74-7554C7B6810C}" type="slidenum">
              <a:rPr lang="it-IT">
                <a:latin typeface="Calibri Light" panose="020F0302020204030204" pitchFamily="34" charset="0"/>
              </a:rPr>
              <a:pPr eaLnBrk="1" hangingPunct="1"/>
              <a:t>14</a:t>
            </a:fld>
            <a:endParaRPr lang="it-IT" dirty="0">
              <a:latin typeface="Calibri Light" panose="020F0302020204030204" pitchFamily="34" charset="0"/>
            </a:endParaRPr>
          </a:p>
        </p:txBody>
      </p:sp>
      <p:sp>
        <p:nvSpPr>
          <p:cNvPr id="60419" name="Rectangle 2"/>
          <p:cNvSpPr>
            <a:spLocks noGrp="1" noRot="1" noChangeAspect="1" noChangeArrowheads="1" noTextEdit="1"/>
          </p:cNvSpPr>
          <p:nvPr>
            <p:ph type="sldImg"/>
          </p:nvPr>
        </p:nvSpPr>
        <p:spPr>
          <a:xfrm>
            <a:off x="384175" y="687388"/>
            <a:ext cx="6091238" cy="3427412"/>
          </a:xfrm>
          <a:ln/>
        </p:spPr>
      </p:sp>
      <p:sp>
        <p:nvSpPr>
          <p:cNvPr id="60420"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DCD46B2C-4CFD-EF46-BBFD-3404F149A30C}" type="slidenum">
              <a:rPr lang="it-IT">
                <a:latin typeface="Calibri Light" panose="020F0302020204030204" pitchFamily="34" charset="0"/>
              </a:rPr>
              <a:pPr eaLnBrk="1" hangingPunct="1"/>
              <a:t>15</a:t>
            </a:fld>
            <a:endParaRPr lang="it-IT" dirty="0">
              <a:latin typeface="Calibri Light" panose="020F0302020204030204" pitchFamily="34" charset="0"/>
            </a:endParaRPr>
          </a:p>
        </p:txBody>
      </p:sp>
      <p:sp>
        <p:nvSpPr>
          <p:cNvPr id="61443" name="Rectangle 2"/>
          <p:cNvSpPr>
            <a:spLocks noGrp="1" noRot="1" noChangeAspect="1" noChangeArrowheads="1" noTextEdit="1"/>
          </p:cNvSpPr>
          <p:nvPr>
            <p:ph type="sldImg"/>
          </p:nvPr>
        </p:nvSpPr>
        <p:spPr>
          <a:xfrm>
            <a:off x="384175" y="687388"/>
            <a:ext cx="6091238" cy="3427412"/>
          </a:xfrm>
          <a:ln/>
        </p:spPr>
      </p:sp>
      <p:sp>
        <p:nvSpPr>
          <p:cNvPr id="61444"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9E889B7D-AA0E-5A41-BE2D-1FE36488AA19}" type="slidenum">
              <a:rPr lang="it-IT">
                <a:latin typeface="Calibri Light" panose="020F0302020204030204" pitchFamily="34" charset="0"/>
              </a:rPr>
              <a:pPr eaLnBrk="1" hangingPunct="1"/>
              <a:t>16</a:t>
            </a:fld>
            <a:endParaRPr lang="it-IT" dirty="0">
              <a:latin typeface="Calibri Light" panose="020F0302020204030204" pitchFamily="34" charset="0"/>
            </a:endParaRPr>
          </a:p>
        </p:txBody>
      </p:sp>
      <p:sp>
        <p:nvSpPr>
          <p:cNvPr id="62467" name="Rectangle 2"/>
          <p:cNvSpPr>
            <a:spLocks noGrp="1" noRot="1" noChangeAspect="1" noChangeArrowheads="1" noTextEdit="1"/>
          </p:cNvSpPr>
          <p:nvPr>
            <p:ph type="sldImg"/>
          </p:nvPr>
        </p:nvSpPr>
        <p:spPr>
          <a:xfrm>
            <a:off x="384175" y="687388"/>
            <a:ext cx="6091238" cy="3427412"/>
          </a:xfrm>
          <a:ln/>
        </p:spPr>
      </p:sp>
      <p:sp>
        <p:nvSpPr>
          <p:cNvPr id="62468"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04EB5444-2E6F-454C-B1F0-83DC93D32851}" type="slidenum">
              <a:rPr lang="it-IT">
                <a:latin typeface="Calibri Light" panose="020F0302020204030204" pitchFamily="34" charset="0"/>
              </a:rPr>
              <a:pPr eaLnBrk="1" hangingPunct="1"/>
              <a:t>17</a:t>
            </a:fld>
            <a:endParaRPr lang="it-IT" dirty="0">
              <a:latin typeface="Calibri Light" panose="020F0302020204030204" pitchFamily="34" charset="0"/>
            </a:endParaRPr>
          </a:p>
        </p:txBody>
      </p:sp>
      <p:sp>
        <p:nvSpPr>
          <p:cNvPr id="63491" name="Rectangle 2"/>
          <p:cNvSpPr>
            <a:spLocks noGrp="1" noRot="1" noChangeAspect="1" noChangeArrowheads="1" noTextEdit="1"/>
          </p:cNvSpPr>
          <p:nvPr>
            <p:ph type="sldImg"/>
          </p:nvPr>
        </p:nvSpPr>
        <p:spPr>
          <a:xfrm>
            <a:off x="384175" y="687388"/>
            <a:ext cx="6091238" cy="3427412"/>
          </a:xfrm>
          <a:ln/>
        </p:spPr>
      </p:sp>
      <p:sp>
        <p:nvSpPr>
          <p:cNvPr id="63492"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E200A6D9-3D3B-7740-A42C-27022887D369}" type="slidenum">
              <a:rPr lang="it-IT">
                <a:latin typeface="Calibri Light" panose="020F0302020204030204" pitchFamily="34" charset="0"/>
              </a:rPr>
              <a:pPr eaLnBrk="1" hangingPunct="1"/>
              <a:t>18</a:t>
            </a:fld>
            <a:endParaRPr lang="it-IT" dirty="0">
              <a:latin typeface="Calibri Light" panose="020F0302020204030204" pitchFamily="34" charset="0"/>
            </a:endParaRPr>
          </a:p>
        </p:txBody>
      </p:sp>
      <p:sp>
        <p:nvSpPr>
          <p:cNvPr id="64515" name="Rectangle 2"/>
          <p:cNvSpPr>
            <a:spLocks noGrp="1" noRot="1" noChangeAspect="1" noChangeArrowheads="1" noTextEdit="1"/>
          </p:cNvSpPr>
          <p:nvPr>
            <p:ph type="sldImg"/>
          </p:nvPr>
        </p:nvSpPr>
        <p:spPr>
          <a:xfrm>
            <a:off x="384175" y="687388"/>
            <a:ext cx="6091238" cy="3427412"/>
          </a:xfrm>
          <a:ln/>
        </p:spPr>
      </p:sp>
      <p:sp>
        <p:nvSpPr>
          <p:cNvPr id="64516"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89D5CAB6-9DD5-BC49-A333-6DE1774DD94F}" type="slidenum">
              <a:rPr lang="it-IT">
                <a:latin typeface="Calibri Light" panose="020F0302020204030204" pitchFamily="34" charset="0"/>
              </a:rPr>
              <a:pPr eaLnBrk="1" hangingPunct="1"/>
              <a:t>19</a:t>
            </a:fld>
            <a:endParaRPr lang="it-IT" dirty="0">
              <a:latin typeface="Calibri Light" panose="020F0302020204030204" pitchFamily="34" charset="0"/>
            </a:endParaRPr>
          </a:p>
        </p:txBody>
      </p:sp>
      <p:sp>
        <p:nvSpPr>
          <p:cNvPr id="65539" name="Rectangle 2"/>
          <p:cNvSpPr>
            <a:spLocks noGrp="1" noRot="1" noChangeAspect="1" noChangeArrowheads="1" noTextEdit="1"/>
          </p:cNvSpPr>
          <p:nvPr>
            <p:ph type="sldImg"/>
          </p:nvPr>
        </p:nvSpPr>
        <p:spPr>
          <a:xfrm>
            <a:off x="384175" y="687388"/>
            <a:ext cx="6091238" cy="3427412"/>
          </a:xfrm>
          <a:ln/>
        </p:spPr>
      </p:sp>
      <p:sp>
        <p:nvSpPr>
          <p:cNvPr id="65540"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CA66D467-79D0-7B44-ABDD-8823B3D8ACEB}" type="slidenum">
              <a:rPr lang="it-IT">
                <a:latin typeface="Calibri Light" panose="020F0302020204030204" pitchFamily="34" charset="0"/>
              </a:rPr>
              <a:pPr eaLnBrk="1" hangingPunct="1"/>
              <a:t>20</a:t>
            </a:fld>
            <a:endParaRPr lang="it-IT" dirty="0">
              <a:latin typeface="Calibri Light" panose="020F0302020204030204" pitchFamily="34" charset="0"/>
            </a:endParaRPr>
          </a:p>
        </p:txBody>
      </p:sp>
      <p:sp>
        <p:nvSpPr>
          <p:cNvPr id="66563" name="Rectangle 2"/>
          <p:cNvSpPr>
            <a:spLocks noGrp="1" noRot="1" noChangeAspect="1" noChangeArrowheads="1" noTextEdit="1"/>
          </p:cNvSpPr>
          <p:nvPr>
            <p:ph type="sldImg"/>
          </p:nvPr>
        </p:nvSpPr>
        <p:spPr>
          <a:xfrm>
            <a:off x="384175" y="687388"/>
            <a:ext cx="6091238" cy="3427412"/>
          </a:xfrm>
          <a:ln/>
        </p:spPr>
      </p:sp>
      <p:sp>
        <p:nvSpPr>
          <p:cNvPr id="66564"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D36A9159-FA6E-1148-AB3F-BA5D6EAC0CC8}" type="slidenum">
              <a:rPr lang="it-IT">
                <a:latin typeface="Calibri Light" panose="020F0302020204030204" pitchFamily="34" charset="0"/>
              </a:rPr>
              <a:pPr eaLnBrk="1" hangingPunct="1"/>
              <a:t>21</a:t>
            </a:fld>
            <a:endParaRPr lang="it-IT" dirty="0">
              <a:latin typeface="Calibri Light" panose="020F0302020204030204" pitchFamily="34" charset="0"/>
            </a:endParaRPr>
          </a:p>
        </p:txBody>
      </p:sp>
      <p:sp>
        <p:nvSpPr>
          <p:cNvPr id="67587" name="Rectangle 2"/>
          <p:cNvSpPr>
            <a:spLocks noGrp="1" noRot="1" noChangeAspect="1" noChangeArrowheads="1" noTextEdit="1"/>
          </p:cNvSpPr>
          <p:nvPr>
            <p:ph type="sldImg"/>
          </p:nvPr>
        </p:nvSpPr>
        <p:spPr>
          <a:xfrm>
            <a:off x="384175" y="687388"/>
            <a:ext cx="6091238" cy="3427412"/>
          </a:xfrm>
          <a:ln/>
        </p:spPr>
      </p:sp>
      <p:sp>
        <p:nvSpPr>
          <p:cNvPr id="67588"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D2EB9C02-6442-A94A-B590-FFC9D3BF93E9}" type="slidenum">
              <a:rPr lang="it-IT">
                <a:latin typeface="Calibri Light" panose="020F0302020204030204" pitchFamily="34" charset="0"/>
              </a:rPr>
              <a:pPr eaLnBrk="1" hangingPunct="1"/>
              <a:t>22</a:t>
            </a:fld>
            <a:endParaRPr lang="it-IT" dirty="0">
              <a:latin typeface="Calibri Light" panose="020F0302020204030204" pitchFamily="34"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B353303D-F06D-A444-A7FA-6839627DD3A7}" type="slidenum">
              <a:rPr lang="it-IT">
                <a:latin typeface="Calibri Light" panose="020F0302020204030204" pitchFamily="34" charset="0"/>
              </a:rPr>
              <a:pPr eaLnBrk="1" hangingPunct="1"/>
              <a:t>23</a:t>
            </a:fld>
            <a:endParaRPr lang="it-IT" dirty="0">
              <a:latin typeface="Calibri Light" panose="020F0302020204030204" pitchFamily="34"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BC75265F-9A31-F849-92F2-030F19571D07}" type="slidenum">
              <a:rPr lang="it-IT">
                <a:latin typeface="Calibri Light" panose="020F0302020204030204" pitchFamily="34" charset="0"/>
              </a:rPr>
              <a:pPr eaLnBrk="1" hangingPunct="1"/>
              <a:t>24</a:t>
            </a:fld>
            <a:endParaRPr lang="it-IT" dirty="0">
              <a:latin typeface="Calibri Light" panose="020F0302020204030204" pitchFamily="34" charset="0"/>
            </a:endParaRPr>
          </a:p>
        </p:txBody>
      </p:sp>
      <p:sp>
        <p:nvSpPr>
          <p:cNvPr id="70659" name="Rectangle 2"/>
          <p:cNvSpPr>
            <a:spLocks noGrp="1" noRot="1" noChangeAspect="1" noChangeArrowheads="1" noTextEdit="1"/>
          </p:cNvSpPr>
          <p:nvPr>
            <p:ph type="sldImg"/>
          </p:nvPr>
        </p:nvSpPr>
        <p:spPr>
          <a:xfrm>
            <a:off x="384175" y="687388"/>
            <a:ext cx="6091238" cy="3427412"/>
          </a:xfrm>
          <a:ln/>
        </p:spPr>
      </p:sp>
      <p:sp>
        <p:nvSpPr>
          <p:cNvPr id="70660"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611C362E-08B3-8B40-8C62-E11662A740E6}" type="slidenum">
              <a:rPr lang="it-IT">
                <a:latin typeface="Calibri Light" panose="020F0302020204030204" pitchFamily="34" charset="0"/>
              </a:rPr>
              <a:pPr eaLnBrk="1" hangingPunct="1"/>
              <a:t>25</a:t>
            </a:fld>
            <a:endParaRPr lang="it-IT" dirty="0">
              <a:latin typeface="Calibri Light" panose="020F0302020204030204" pitchFamily="34" charset="0"/>
            </a:endParaRPr>
          </a:p>
        </p:txBody>
      </p:sp>
      <p:sp>
        <p:nvSpPr>
          <p:cNvPr id="71683" name="Rectangle 2"/>
          <p:cNvSpPr>
            <a:spLocks noGrp="1" noRot="1" noChangeAspect="1" noChangeArrowheads="1" noTextEdit="1"/>
          </p:cNvSpPr>
          <p:nvPr>
            <p:ph type="sldImg"/>
          </p:nvPr>
        </p:nvSpPr>
        <p:spPr>
          <a:xfrm>
            <a:off x="384175" y="687388"/>
            <a:ext cx="6091238" cy="3427412"/>
          </a:xfrm>
          <a:ln/>
        </p:spPr>
      </p:sp>
      <p:sp>
        <p:nvSpPr>
          <p:cNvPr id="71684"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A91FF406-92F1-7141-BEC2-7E9739F4965C}" type="slidenum">
              <a:rPr lang="it-IT">
                <a:latin typeface="Calibri Light" panose="020F0302020204030204" pitchFamily="34" charset="0"/>
              </a:rPr>
              <a:pPr eaLnBrk="1" hangingPunct="1"/>
              <a:t>26</a:t>
            </a:fld>
            <a:endParaRPr lang="it-IT" dirty="0">
              <a:latin typeface="Calibri Light" panose="020F0302020204030204" pitchFamily="34" charset="0"/>
            </a:endParaRPr>
          </a:p>
        </p:txBody>
      </p:sp>
      <p:sp>
        <p:nvSpPr>
          <p:cNvPr id="72707" name="Rectangle 2"/>
          <p:cNvSpPr>
            <a:spLocks noGrp="1" noRot="1" noChangeAspect="1" noChangeArrowheads="1" noTextEdit="1"/>
          </p:cNvSpPr>
          <p:nvPr>
            <p:ph type="sldImg"/>
          </p:nvPr>
        </p:nvSpPr>
        <p:spPr>
          <a:xfrm>
            <a:off x="384175" y="687388"/>
            <a:ext cx="6091238" cy="3427412"/>
          </a:xfrm>
          <a:ln/>
        </p:spPr>
      </p:sp>
      <p:sp>
        <p:nvSpPr>
          <p:cNvPr id="72708"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F7F031E4-7BB9-D444-9399-2F7B2706FED7}" type="slidenum">
              <a:rPr lang="it-IT">
                <a:latin typeface="Calibri Light" panose="020F0302020204030204" pitchFamily="34" charset="0"/>
              </a:rPr>
              <a:pPr eaLnBrk="1" hangingPunct="1"/>
              <a:t>27</a:t>
            </a:fld>
            <a:endParaRPr lang="it-IT" dirty="0">
              <a:latin typeface="Calibri Light" panose="020F0302020204030204" pitchFamily="34" charset="0"/>
            </a:endParaRPr>
          </a:p>
        </p:txBody>
      </p:sp>
      <p:sp>
        <p:nvSpPr>
          <p:cNvPr id="73731" name="Rectangle 2"/>
          <p:cNvSpPr>
            <a:spLocks noGrp="1" noRot="1" noChangeAspect="1" noChangeArrowheads="1" noTextEdit="1"/>
          </p:cNvSpPr>
          <p:nvPr>
            <p:ph type="sldImg"/>
          </p:nvPr>
        </p:nvSpPr>
        <p:spPr>
          <a:xfrm>
            <a:off x="384175" y="687388"/>
            <a:ext cx="6091238" cy="3427412"/>
          </a:xfrm>
          <a:ln/>
        </p:spPr>
      </p:sp>
      <p:sp>
        <p:nvSpPr>
          <p:cNvPr id="73732"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C83FC483-BFE5-7C4D-8C7F-72EC2D598A33}" type="slidenum">
              <a:rPr lang="it-IT">
                <a:latin typeface="Calibri Light" panose="020F0302020204030204" pitchFamily="34" charset="0"/>
              </a:rPr>
              <a:pPr eaLnBrk="1" hangingPunct="1"/>
              <a:t>28</a:t>
            </a:fld>
            <a:endParaRPr lang="it-IT" dirty="0">
              <a:latin typeface="Calibri Light" panose="020F0302020204030204" pitchFamily="34" charset="0"/>
            </a:endParaRPr>
          </a:p>
        </p:txBody>
      </p:sp>
      <p:sp>
        <p:nvSpPr>
          <p:cNvPr id="74755" name="Rectangle 2"/>
          <p:cNvSpPr>
            <a:spLocks noGrp="1" noRot="1" noChangeAspect="1" noChangeArrowheads="1" noTextEdit="1"/>
          </p:cNvSpPr>
          <p:nvPr>
            <p:ph type="sldImg"/>
          </p:nvPr>
        </p:nvSpPr>
        <p:spPr>
          <a:xfrm>
            <a:off x="384175" y="687388"/>
            <a:ext cx="6091238" cy="3427412"/>
          </a:xfrm>
          <a:ln/>
        </p:spPr>
      </p:sp>
      <p:sp>
        <p:nvSpPr>
          <p:cNvPr id="74756"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9A40164A-BF1A-B649-AFCC-FDEF32A98BCA}" type="slidenum">
              <a:rPr lang="it-IT">
                <a:latin typeface="Calibri Light" panose="020F0302020204030204" pitchFamily="34" charset="0"/>
              </a:rPr>
              <a:pPr eaLnBrk="1" hangingPunct="1"/>
              <a:t>29</a:t>
            </a:fld>
            <a:endParaRPr lang="it-IT" dirty="0">
              <a:latin typeface="Calibri Light" panose="020F0302020204030204" pitchFamily="34"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807F3355-36F0-874A-A08F-96D919418338}" type="slidenum">
              <a:rPr lang="it-IT">
                <a:latin typeface="Calibri Light" panose="020F0302020204030204" pitchFamily="34" charset="0"/>
              </a:rPr>
              <a:pPr eaLnBrk="1" hangingPunct="1"/>
              <a:t>31</a:t>
            </a:fld>
            <a:endParaRPr lang="it-IT" dirty="0">
              <a:latin typeface="Calibri Light" panose="020F0302020204030204" pitchFamily="34"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61FB667F-DDCC-404D-A81F-B39A5EB193E8}" type="slidenum">
              <a:rPr lang="it-IT">
                <a:latin typeface="Calibri Light" panose="020F0302020204030204" pitchFamily="34" charset="0"/>
              </a:rPr>
              <a:pPr eaLnBrk="1" hangingPunct="1"/>
              <a:t>32</a:t>
            </a:fld>
            <a:endParaRPr lang="it-IT" dirty="0">
              <a:latin typeface="Calibri Light" panose="020F0302020204030204" pitchFamily="34" charset="0"/>
            </a:endParaRPr>
          </a:p>
        </p:txBody>
      </p:sp>
      <p:sp>
        <p:nvSpPr>
          <p:cNvPr id="44035" name="Rectangle 2"/>
          <p:cNvSpPr>
            <a:spLocks noGrp="1" noRot="1" noChangeAspect="1" noChangeArrowheads="1" noTextEdit="1"/>
          </p:cNvSpPr>
          <p:nvPr>
            <p:ph type="sldImg"/>
          </p:nvPr>
        </p:nvSpPr>
        <p:spPr>
          <a:xfrm>
            <a:off x="384175" y="687388"/>
            <a:ext cx="6091238" cy="3427412"/>
          </a:xfrm>
          <a:ln/>
        </p:spPr>
      </p:sp>
      <p:sp>
        <p:nvSpPr>
          <p:cNvPr id="44036"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48131812-963C-F84E-B21D-AE22D268E969}" type="slidenum">
              <a:rPr lang="it-IT">
                <a:latin typeface="Calibri Light" panose="020F0302020204030204" pitchFamily="34" charset="0"/>
              </a:rPr>
              <a:pPr eaLnBrk="1" hangingPunct="1"/>
              <a:t>38</a:t>
            </a:fld>
            <a:endParaRPr lang="it-IT" dirty="0">
              <a:latin typeface="Calibri Light" panose="020F0302020204030204" pitchFamily="34"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it-IT"/>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998E0535-2146-C84E-A91D-A38D567A0B0A}" type="slidenum">
              <a:rPr lang="it-IT">
                <a:latin typeface="Calibri Light" panose="020F0302020204030204" pitchFamily="34" charset="0"/>
              </a:rPr>
              <a:pPr eaLnBrk="1" hangingPunct="1"/>
              <a:t>39</a:t>
            </a:fld>
            <a:endParaRPr lang="it-IT" dirty="0">
              <a:latin typeface="Calibri Light" panose="020F0302020204030204" pitchFamily="34"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it-IT"/>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2D4832BF-B08D-C14D-99B1-E3DA54E1E3EB}" type="slidenum">
              <a:rPr lang="it-IT">
                <a:latin typeface="Calibri Light" panose="020F0302020204030204" pitchFamily="34" charset="0"/>
              </a:rPr>
              <a:pPr eaLnBrk="1" hangingPunct="1"/>
              <a:t>45</a:t>
            </a:fld>
            <a:endParaRPr lang="it-IT" dirty="0">
              <a:latin typeface="Calibri Light" panose="020F0302020204030204" pitchFamily="34"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it-IT"/>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63BA2137-1CF9-DA4D-808E-5F67BD5E3703}" type="slidenum">
              <a:rPr lang="it-IT">
                <a:latin typeface="Calibri Light" panose="020F0302020204030204" pitchFamily="34" charset="0"/>
              </a:rPr>
              <a:pPr eaLnBrk="1" hangingPunct="1"/>
              <a:t>46</a:t>
            </a:fld>
            <a:endParaRPr lang="it-IT" dirty="0">
              <a:latin typeface="Calibri Light" panose="020F0302020204030204" pitchFamily="34"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it-IT"/>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egnaposto immagine diapositiva 1"/>
          <p:cNvSpPr>
            <a:spLocks noGrp="1" noRot="1" noChangeAspect="1" noTextEdit="1"/>
          </p:cNvSpPr>
          <p:nvPr>
            <p:ph type="sldImg"/>
          </p:nvPr>
        </p:nvSpPr>
        <p:spPr>
          <a:ln/>
        </p:spPr>
      </p:sp>
      <p:sp>
        <p:nvSpPr>
          <p:cNvPr id="86019" name="Segnaposto note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it-IT"/>
          </a:p>
        </p:txBody>
      </p:sp>
      <p:sp>
        <p:nvSpPr>
          <p:cNvPr id="86020" name="Segnaposto numero diapositiva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86885E23-379A-7D45-8854-43A1FA3CABB7}" type="slidenum">
              <a:rPr lang="it-IT">
                <a:latin typeface="Calibri Light" panose="020F0302020204030204" pitchFamily="34" charset="0"/>
              </a:rPr>
              <a:pPr eaLnBrk="1" hangingPunct="1"/>
              <a:t>47</a:t>
            </a:fld>
            <a:endParaRPr lang="it-IT" dirty="0">
              <a:latin typeface="Calibri Light" panose="020F030202020403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4FDF4DB0-CE07-7249-A41A-53F891899139}" type="slidenum">
              <a:rPr lang="it-IT">
                <a:latin typeface="Calibri Light" panose="020F0302020204030204" pitchFamily="34" charset="0"/>
              </a:rPr>
              <a:pPr eaLnBrk="1" hangingPunct="1"/>
              <a:t>48</a:t>
            </a:fld>
            <a:endParaRPr lang="it-IT" dirty="0">
              <a:latin typeface="Calibri Light" panose="020F0302020204030204" pitchFamily="34"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it-IT"/>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574AB2F2-6FB9-F049-A9AE-A0B6A4440830}" type="slidenum">
              <a:rPr lang="it-IT">
                <a:latin typeface="Calibri Light" panose="020F0302020204030204" pitchFamily="34" charset="0"/>
              </a:rPr>
              <a:pPr eaLnBrk="1" hangingPunct="1"/>
              <a:t>49</a:t>
            </a:fld>
            <a:endParaRPr lang="it-IT" dirty="0">
              <a:latin typeface="Calibri Light" panose="020F0302020204030204" pitchFamily="34"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it-IT"/>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27FED1D2-0406-A645-BE70-757631280E68}" type="slidenum">
              <a:rPr lang="it-IT">
                <a:latin typeface="Calibri Light" panose="020F0302020204030204" pitchFamily="34" charset="0"/>
              </a:rPr>
              <a:pPr eaLnBrk="1" hangingPunct="1"/>
              <a:t>50</a:t>
            </a:fld>
            <a:endParaRPr lang="it-IT" dirty="0">
              <a:latin typeface="Calibri Light" panose="020F0302020204030204" pitchFamily="34"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it-IT"/>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8E7180BC-0693-4748-B41B-4A0169A8A08D}" type="slidenum">
              <a:rPr lang="it-IT">
                <a:latin typeface="Calibri Light" panose="020F0302020204030204" pitchFamily="34" charset="0"/>
              </a:rPr>
              <a:pPr eaLnBrk="1" hangingPunct="1"/>
              <a:t>51</a:t>
            </a:fld>
            <a:endParaRPr lang="it-IT" dirty="0">
              <a:latin typeface="Calibri Light" panose="020F0302020204030204" pitchFamily="34"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it-IT"/>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480DA524-0E4D-D24B-ACEA-F664E36ADD69}" type="slidenum">
              <a:rPr lang="it-IT">
                <a:latin typeface="Calibri Light" panose="020F0302020204030204" pitchFamily="34" charset="0"/>
              </a:rPr>
              <a:pPr eaLnBrk="1" hangingPunct="1"/>
              <a:t>52</a:t>
            </a:fld>
            <a:endParaRPr lang="it-IT" dirty="0">
              <a:latin typeface="Calibri Light" panose="020F0302020204030204" pitchFamily="34"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it-IT"/>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EE148664-8C49-9743-AF4E-7A52F168D6E7}" type="slidenum">
              <a:rPr lang="it-IT">
                <a:latin typeface="Calibri Light" panose="020F0302020204030204" pitchFamily="34" charset="0"/>
              </a:rPr>
              <a:pPr eaLnBrk="1" hangingPunct="1"/>
              <a:t>53</a:t>
            </a:fld>
            <a:endParaRPr lang="it-IT" dirty="0">
              <a:latin typeface="Calibri Light" panose="020F0302020204030204" pitchFamily="34"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it-IT"/>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3F254F68-E7C3-8844-AF61-515F25BEAF3E}" type="slidenum">
              <a:rPr lang="it-IT">
                <a:latin typeface="Calibri Light" panose="020F0302020204030204" pitchFamily="34" charset="0"/>
              </a:rPr>
              <a:pPr eaLnBrk="1" hangingPunct="1"/>
              <a:t>55</a:t>
            </a:fld>
            <a:endParaRPr lang="it-IT" dirty="0">
              <a:latin typeface="Calibri Light" panose="020F0302020204030204" pitchFamily="34"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it-IT"/>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egnaposto immagine diapositiva 1"/>
          <p:cNvSpPr>
            <a:spLocks noGrp="1" noRot="1" noChangeAspect="1" noTextEdit="1"/>
          </p:cNvSpPr>
          <p:nvPr>
            <p:ph type="sldImg"/>
          </p:nvPr>
        </p:nvSpPr>
        <p:spPr>
          <a:xfrm>
            <a:off x="381000" y="685800"/>
            <a:ext cx="6096000" cy="3429000"/>
          </a:xfrm>
          <a:ln/>
        </p:spPr>
      </p:sp>
      <p:sp>
        <p:nvSpPr>
          <p:cNvPr id="39939" name="Segnaposto note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it-IT"/>
          </a:p>
        </p:txBody>
      </p:sp>
      <p:sp>
        <p:nvSpPr>
          <p:cNvPr id="4" name="Segnaposto numero diapositiva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003B16BA-0E5D-684A-8095-BBCA9E3E6830}" type="slidenum">
              <a:rPr lang="en-US"/>
              <a:pPr eaLnBrk="1" hangingPunct="1"/>
              <a:t>71</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egnaposto immagine diapositiva 1"/>
          <p:cNvSpPr>
            <a:spLocks noGrp="1" noRot="1" noChangeAspect="1" noTextEdit="1"/>
          </p:cNvSpPr>
          <p:nvPr>
            <p:ph type="sldImg"/>
          </p:nvPr>
        </p:nvSpPr>
        <p:spPr>
          <a:xfrm>
            <a:off x="381000" y="685800"/>
            <a:ext cx="6096000" cy="3429000"/>
          </a:xfrm>
          <a:ln/>
        </p:spPr>
      </p:sp>
      <p:sp>
        <p:nvSpPr>
          <p:cNvPr id="39939" name="Segnaposto note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it-IT"/>
          </a:p>
        </p:txBody>
      </p:sp>
      <p:sp>
        <p:nvSpPr>
          <p:cNvPr id="4" name="Segnaposto numero diapositiva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003B16BA-0E5D-684A-8095-BBCA9E3E6830}" type="slidenum">
              <a:rPr lang="en-US"/>
              <a:pPr eaLnBrk="1" hangingPunct="1"/>
              <a:t>72</a:t>
            </a:fld>
            <a:endParaRPr lang="en-US"/>
          </a:p>
        </p:txBody>
      </p:sp>
    </p:spTree>
    <p:extLst>
      <p:ext uri="{BB962C8B-B14F-4D97-AF65-F5344CB8AC3E}">
        <p14:creationId xmlns:p14="http://schemas.microsoft.com/office/powerpoint/2010/main" val="15758494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egnaposto immagine diapositiva 1"/>
          <p:cNvSpPr>
            <a:spLocks noGrp="1" noRot="1" noChangeAspect="1" noTextEdit="1"/>
          </p:cNvSpPr>
          <p:nvPr>
            <p:ph type="sldImg"/>
          </p:nvPr>
        </p:nvSpPr>
        <p:spPr>
          <a:xfrm>
            <a:off x="381000" y="685800"/>
            <a:ext cx="6096000" cy="3429000"/>
          </a:xfrm>
          <a:ln/>
        </p:spPr>
      </p:sp>
      <p:sp>
        <p:nvSpPr>
          <p:cNvPr id="39939" name="Segnaposto note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it-IT"/>
          </a:p>
        </p:txBody>
      </p:sp>
      <p:sp>
        <p:nvSpPr>
          <p:cNvPr id="4" name="Segnaposto numero diapositiva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003B16BA-0E5D-684A-8095-BBCA9E3E6830}" type="slidenum">
              <a:rPr lang="en-US"/>
              <a:pPr eaLnBrk="1" hangingPunct="1"/>
              <a:t>73</a:t>
            </a:fld>
            <a:endParaRPr lang="en-US"/>
          </a:p>
        </p:txBody>
      </p:sp>
    </p:spTree>
    <p:extLst>
      <p:ext uri="{BB962C8B-B14F-4D97-AF65-F5344CB8AC3E}">
        <p14:creationId xmlns:p14="http://schemas.microsoft.com/office/powerpoint/2010/main" val="17534212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egnaposto immagine diapositiva 1"/>
          <p:cNvSpPr>
            <a:spLocks noGrp="1" noRot="1" noChangeAspect="1" noTextEdit="1"/>
          </p:cNvSpPr>
          <p:nvPr>
            <p:ph type="sldImg"/>
          </p:nvPr>
        </p:nvSpPr>
        <p:spPr>
          <a:xfrm>
            <a:off x="381000" y="685800"/>
            <a:ext cx="6096000" cy="3429000"/>
          </a:xfrm>
          <a:ln/>
        </p:spPr>
      </p:sp>
      <p:sp>
        <p:nvSpPr>
          <p:cNvPr id="39939" name="Segnaposto note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it-IT"/>
          </a:p>
        </p:txBody>
      </p:sp>
      <p:sp>
        <p:nvSpPr>
          <p:cNvPr id="4" name="Segnaposto numero diapositiva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003B16BA-0E5D-684A-8095-BBCA9E3E6830}" type="slidenum">
              <a:rPr lang="en-US"/>
              <a:pPr eaLnBrk="1" hangingPunct="1"/>
              <a:t>74</a:t>
            </a:fld>
            <a:endParaRPr lang="en-US"/>
          </a:p>
        </p:txBody>
      </p:sp>
    </p:spTree>
    <p:extLst>
      <p:ext uri="{BB962C8B-B14F-4D97-AF65-F5344CB8AC3E}">
        <p14:creationId xmlns:p14="http://schemas.microsoft.com/office/powerpoint/2010/main" val="12535133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egnaposto immagine diapositiva 1"/>
          <p:cNvSpPr>
            <a:spLocks noGrp="1" noRot="1" noChangeAspect="1" noTextEdit="1"/>
          </p:cNvSpPr>
          <p:nvPr>
            <p:ph type="sldImg"/>
          </p:nvPr>
        </p:nvSpPr>
        <p:spPr>
          <a:xfrm>
            <a:off x="381000" y="685800"/>
            <a:ext cx="6096000" cy="3429000"/>
          </a:xfrm>
          <a:ln/>
        </p:spPr>
      </p:sp>
      <p:sp>
        <p:nvSpPr>
          <p:cNvPr id="39939" name="Segnaposto note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it-IT"/>
          </a:p>
        </p:txBody>
      </p:sp>
      <p:sp>
        <p:nvSpPr>
          <p:cNvPr id="4" name="Segnaposto numero diapositiva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003B16BA-0E5D-684A-8095-BBCA9E3E6830}" type="slidenum">
              <a:rPr lang="en-US"/>
              <a:pPr eaLnBrk="1" hangingPunct="1"/>
              <a:t>75</a:t>
            </a:fld>
            <a:endParaRPr lang="en-US"/>
          </a:p>
        </p:txBody>
      </p:sp>
    </p:spTree>
    <p:extLst>
      <p:ext uri="{BB962C8B-B14F-4D97-AF65-F5344CB8AC3E}">
        <p14:creationId xmlns:p14="http://schemas.microsoft.com/office/powerpoint/2010/main" val="12339291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en-US"/>
          </a:p>
        </p:txBody>
      </p:sp>
      <p:sp>
        <p:nvSpPr>
          <p:cNvPr id="4" name="Segnaposto numero diapositiva 3"/>
          <p:cNvSpPr>
            <a:spLocks noGrp="1"/>
          </p:cNvSpPr>
          <p:nvPr>
            <p:ph type="sldNum" sz="quarter" idx="10"/>
          </p:nvPr>
        </p:nvSpPr>
        <p:spPr/>
        <p:txBody>
          <a:bodyPr/>
          <a:lstStyle/>
          <a:p>
            <a:fld id="{8F95A54D-0126-B94D-B661-CC049FA9EF7F}" type="slidenum">
              <a:rPr lang="en-US" smtClean="0"/>
              <a:t>83</a:t>
            </a:fld>
            <a:endParaRPr lang="en-US"/>
          </a:p>
        </p:txBody>
      </p:sp>
    </p:spTree>
    <p:extLst>
      <p:ext uri="{BB962C8B-B14F-4D97-AF65-F5344CB8AC3E}">
        <p14:creationId xmlns:p14="http://schemas.microsoft.com/office/powerpoint/2010/main" val="1802782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1597819"/>
            <a:ext cx="7772400" cy="1102519"/>
          </a:xfrm>
        </p:spPr>
        <p:txBody>
          <a:bodyPr/>
          <a:lstStyle/>
          <a:p>
            <a:r>
              <a:rPr lang="it-IT"/>
              <a:t>Fare clic per modificare stile</a:t>
            </a:r>
            <a:endParaRPr lang="en-US"/>
          </a:p>
        </p:txBody>
      </p:sp>
      <p:sp>
        <p:nvSpPr>
          <p:cNvPr id="3" name="Sottotitolo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it-IT"/>
              <a:t>Fare clic per modificare lo stile del sottotitolo dello schema</a:t>
            </a:r>
            <a:endParaRPr lang="en-US"/>
          </a:p>
        </p:txBody>
      </p:sp>
      <p:sp>
        <p:nvSpPr>
          <p:cNvPr id="4" name="Segnaposto data 3"/>
          <p:cNvSpPr>
            <a:spLocks noGrp="1"/>
          </p:cNvSpPr>
          <p:nvPr>
            <p:ph type="dt" sz="half" idx="10"/>
          </p:nvPr>
        </p:nvSpPr>
        <p:spPr/>
        <p:txBody>
          <a:bodyPr/>
          <a:lstStyle/>
          <a:p>
            <a:fld id="{7A805A2E-4434-7E48-B506-6CB9726E48D0}" type="datetimeFigureOut">
              <a:rPr lang="it-IT" smtClean="0"/>
              <a:t>10/04/25</a:t>
            </a:fld>
            <a:endParaRPr lang="en-US"/>
          </a:p>
        </p:txBody>
      </p:sp>
      <p:sp>
        <p:nvSpPr>
          <p:cNvPr id="5" name="Segnaposto piè di pagina 4"/>
          <p:cNvSpPr>
            <a:spLocks noGrp="1"/>
          </p:cNvSpPr>
          <p:nvPr>
            <p:ph type="ftr" sz="quarter" idx="11"/>
          </p:nvPr>
        </p:nvSpPr>
        <p:spPr/>
        <p:txBody>
          <a:bodyPr/>
          <a:lstStyle/>
          <a:p>
            <a:endParaRPr lang="en-US"/>
          </a:p>
        </p:txBody>
      </p:sp>
      <p:sp>
        <p:nvSpPr>
          <p:cNvPr id="6" name="Segnaposto numero diapositiva 5"/>
          <p:cNvSpPr>
            <a:spLocks noGrp="1"/>
          </p:cNvSpPr>
          <p:nvPr>
            <p:ph type="sldNum" sz="quarter" idx="12"/>
          </p:nvPr>
        </p:nvSpPr>
        <p:spPr/>
        <p:txBody>
          <a:bodyPr/>
          <a:lstStyle/>
          <a:p>
            <a:fld id="{FDAF911D-13AB-8148-AE42-EE897161D6F3}" type="slidenum">
              <a:rPr lang="en-US" smtClean="0"/>
              <a:t>‹N›</a:t>
            </a:fld>
            <a:endParaRPr lang="en-US"/>
          </a:p>
        </p:txBody>
      </p:sp>
    </p:spTree>
    <p:extLst>
      <p:ext uri="{BB962C8B-B14F-4D97-AF65-F5344CB8AC3E}">
        <p14:creationId xmlns:p14="http://schemas.microsoft.com/office/powerpoint/2010/main" val="1093137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endParaRPr lang="en-US"/>
          </a:p>
        </p:txBody>
      </p:sp>
      <p:sp>
        <p:nvSpPr>
          <p:cNvPr id="3" name="Segnaposto contenuto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data 3"/>
          <p:cNvSpPr>
            <a:spLocks noGrp="1"/>
          </p:cNvSpPr>
          <p:nvPr>
            <p:ph type="dt" sz="half" idx="10"/>
          </p:nvPr>
        </p:nvSpPr>
        <p:spPr/>
        <p:txBody>
          <a:bodyPr/>
          <a:lstStyle/>
          <a:p>
            <a:fld id="{7A805A2E-4434-7E48-B506-6CB9726E48D0}" type="datetimeFigureOut">
              <a:rPr lang="it-IT" smtClean="0"/>
              <a:t>10/04/25</a:t>
            </a:fld>
            <a:endParaRPr lang="en-US"/>
          </a:p>
        </p:txBody>
      </p:sp>
      <p:sp>
        <p:nvSpPr>
          <p:cNvPr id="5" name="Segnaposto piè di pagina 4"/>
          <p:cNvSpPr>
            <a:spLocks noGrp="1"/>
          </p:cNvSpPr>
          <p:nvPr>
            <p:ph type="ftr" sz="quarter" idx="11"/>
          </p:nvPr>
        </p:nvSpPr>
        <p:spPr/>
        <p:txBody>
          <a:bodyPr/>
          <a:lstStyle/>
          <a:p>
            <a:endParaRPr lang="en-US"/>
          </a:p>
        </p:txBody>
      </p:sp>
      <p:sp>
        <p:nvSpPr>
          <p:cNvPr id="6" name="Segnaposto numero diapositiva 5"/>
          <p:cNvSpPr>
            <a:spLocks noGrp="1"/>
          </p:cNvSpPr>
          <p:nvPr>
            <p:ph type="sldNum" sz="quarter" idx="12"/>
          </p:nvPr>
        </p:nvSpPr>
        <p:spPr/>
        <p:txBody>
          <a:bodyPr/>
          <a:lstStyle/>
          <a:p>
            <a:fld id="{FDAF911D-13AB-8148-AE42-EE897161D6F3}" type="slidenum">
              <a:rPr lang="en-US" smtClean="0"/>
              <a:t>‹N›</a:t>
            </a:fld>
            <a:endParaRPr lang="en-US"/>
          </a:p>
        </p:txBody>
      </p:sp>
    </p:spTree>
    <p:extLst>
      <p:ext uri="{BB962C8B-B14F-4D97-AF65-F5344CB8AC3E}">
        <p14:creationId xmlns:p14="http://schemas.microsoft.com/office/powerpoint/2010/main" val="2871501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3305176"/>
            <a:ext cx="7772400" cy="1021556"/>
          </a:xfrm>
        </p:spPr>
        <p:txBody>
          <a:bodyPr anchor="t"/>
          <a:lstStyle>
            <a:lvl1pPr algn="l">
              <a:defRPr sz="3000" b="1" cap="all"/>
            </a:lvl1pPr>
          </a:lstStyle>
          <a:p>
            <a:r>
              <a:rPr lang="it-IT"/>
              <a:t>Fare clic per modificare stile</a:t>
            </a:r>
            <a:endParaRPr lang="en-US"/>
          </a:p>
        </p:txBody>
      </p:sp>
      <p:sp>
        <p:nvSpPr>
          <p:cNvPr id="3" name="Segnaposto testo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it-IT"/>
              <a:t>Fare clic per modificare gli stili del testo dello schema</a:t>
            </a:r>
          </a:p>
        </p:txBody>
      </p:sp>
      <p:sp>
        <p:nvSpPr>
          <p:cNvPr id="4" name="Segnaposto data 3"/>
          <p:cNvSpPr>
            <a:spLocks noGrp="1"/>
          </p:cNvSpPr>
          <p:nvPr>
            <p:ph type="dt" sz="half" idx="10"/>
          </p:nvPr>
        </p:nvSpPr>
        <p:spPr/>
        <p:txBody>
          <a:bodyPr/>
          <a:lstStyle/>
          <a:p>
            <a:fld id="{7A805A2E-4434-7E48-B506-6CB9726E48D0}" type="datetimeFigureOut">
              <a:rPr lang="it-IT" smtClean="0"/>
              <a:t>10/04/25</a:t>
            </a:fld>
            <a:endParaRPr lang="en-US"/>
          </a:p>
        </p:txBody>
      </p:sp>
      <p:sp>
        <p:nvSpPr>
          <p:cNvPr id="5" name="Segnaposto piè di pagina 4"/>
          <p:cNvSpPr>
            <a:spLocks noGrp="1"/>
          </p:cNvSpPr>
          <p:nvPr>
            <p:ph type="ftr" sz="quarter" idx="11"/>
          </p:nvPr>
        </p:nvSpPr>
        <p:spPr/>
        <p:txBody>
          <a:bodyPr/>
          <a:lstStyle/>
          <a:p>
            <a:endParaRPr lang="en-US"/>
          </a:p>
        </p:txBody>
      </p:sp>
      <p:sp>
        <p:nvSpPr>
          <p:cNvPr id="6" name="Segnaposto numero diapositiva 5"/>
          <p:cNvSpPr>
            <a:spLocks noGrp="1"/>
          </p:cNvSpPr>
          <p:nvPr>
            <p:ph type="sldNum" sz="quarter" idx="12"/>
          </p:nvPr>
        </p:nvSpPr>
        <p:spPr/>
        <p:txBody>
          <a:bodyPr/>
          <a:lstStyle/>
          <a:p>
            <a:fld id="{FDAF911D-13AB-8148-AE42-EE897161D6F3}" type="slidenum">
              <a:rPr lang="en-US" smtClean="0"/>
              <a:t>‹N›</a:t>
            </a:fld>
            <a:endParaRPr lang="en-US"/>
          </a:p>
        </p:txBody>
      </p:sp>
    </p:spTree>
    <p:extLst>
      <p:ext uri="{BB962C8B-B14F-4D97-AF65-F5344CB8AC3E}">
        <p14:creationId xmlns:p14="http://schemas.microsoft.com/office/powerpoint/2010/main" val="2646912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nuto 2">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endParaRPr lang="en-US"/>
          </a:p>
        </p:txBody>
      </p:sp>
      <p:sp>
        <p:nvSpPr>
          <p:cNvPr id="3" name="Segnaposto contenuto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contenuto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Segnaposto data 4"/>
          <p:cNvSpPr>
            <a:spLocks noGrp="1"/>
          </p:cNvSpPr>
          <p:nvPr>
            <p:ph type="dt" sz="half" idx="10"/>
          </p:nvPr>
        </p:nvSpPr>
        <p:spPr/>
        <p:txBody>
          <a:bodyPr/>
          <a:lstStyle/>
          <a:p>
            <a:fld id="{7A805A2E-4434-7E48-B506-6CB9726E48D0}" type="datetimeFigureOut">
              <a:rPr lang="it-IT" smtClean="0"/>
              <a:t>10/04/25</a:t>
            </a:fld>
            <a:endParaRPr lang="en-US"/>
          </a:p>
        </p:txBody>
      </p:sp>
      <p:sp>
        <p:nvSpPr>
          <p:cNvPr id="6" name="Segnaposto piè di pagina 5"/>
          <p:cNvSpPr>
            <a:spLocks noGrp="1"/>
          </p:cNvSpPr>
          <p:nvPr>
            <p:ph type="ftr" sz="quarter" idx="11"/>
          </p:nvPr>
        </p:nvSpPr>
        <p:spPr/>
        <p:txBody>
          <a:bodyPr/>
          <a:lstStyle/>
          <a:p>
            <a:endParaRPr lang="en-US"/>
          </a:p>
        </p:txBody>
      </p:sp>
      <p:sp>
        <p:nvSpPr>
          <p:cNvPr id="7" name="Segnaposto numero diapositiva 6"/>
          <p:cNvSpPr>
            <a:spLocks noGrp="1"/>
          </p:cNvSpPr>
          <p:nvPr>
            <p:ph type="sldNum" sz="quarter" idx="12"/>
          </p:nvPr>
        </p:nvSpPr>
        <p:spPr/>
        <p:txBody>
          <a:bodyPr/>
          <a:lstStyle/>
          <a:p>
            <a:fld id="{FDAF911D-13AB-8148-AE42-EE897161D6F3}" type="slidenum">
              <a:rPr lang="en-US" smtClean="0"/>
              <a:t>‹N›</a:t>
            </a:fld>
            <a:endParaRPr lang="en-US"/>
          </a:p>
        </p:txBody>
      </p:sp>
    </p:spTree>
    <p:extLst>
      <p:ext uri="{BB962C8B-B14F-4D97-AF65-F5344CB8AC3E}">
        <p14:creationId xmlns:p14="http://schemas.microsoft.com/office/powerpoint/2010/main" val="2005300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a:t>Fare clic per modificare stile</a:t>
            </a:r>
            <a:endParaRPr lang="en-US"/>
          </a:p>
        </p:txBody>
      </p:sp>
      <p:sp>
        <p:nvSpPr>
          <p:cNvPr id="3" name="Segnaposto testo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4" name="Segnaposto contenuto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Segnaposto testo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6" name="Segnaposto contenuto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7" name="Segnaposto data 6"/>
          <p:cNvSpPr>
            <a:spLocks noGrp="1"/>
          </p:cNvSpPr>
          <p:nvPr>
            <p:ph type="dt" sz="half" idx="10"/>
          </p:nvPr>
        </p:nvSpPr>
        <p:spPr/>
        <p:txBody>
          <a:bodyPr/>
          <a:lstStyle/>
          <a:p>
            <a:fld id="{7A805A2E-4434-7E48-B506-6CB9726E48D0}" type="datetimeFigureOut">
              <a:rPr lang="it-IT" smtClean="0"/>
              <a:t>10/04/25</a:t>
            </a:fld>
            <a:endParaRPr lang="en-US"/>
          </a:p>
        </p:txBody>
      </p:sp>
      <p:sp>
        <p:nvSpPr>
          <p:cNvPr id="8" name="Segnaposto piè di pagina 7"/>
          <p:cNvSpPr>
            <a:spLocks noGrp="1"/>
          </p:cNvSpPr>
          <p:nvPr>
            <p:ph type="ftr" sz="quarter" idx="11"/>
          </p:nvPr>
        </p:nvSpPr>
        <p:spPr/>
        <p:txBody>
          <a:bodyPr/>
          <a:lstStyle/>
          <a:p>
            <a:endParaRPr lang="en-US"/>
          </a:p>
        </p:txBody>
      </p:sp>
      <p:sp>
        <p:nvSpPr>
          <p:cNvPr id="9" name="Segnaposto numero diapositiva 8"/>
          <p:cNvSpPr>
            <a:spLocks noGrp="1"/>
          </p:cNvSpPr>
          <p:nvPr>
            <p:ph type="sldNum" sz="quarter" idx="12"/>
          </p:nvPr>
        </p:nvSpPr>
        <p:spPr/>
        <p:txBody>
          <a:bodyPr/>
          <a:lstStyle/>
          <a:p>
            <a:fld id="{FDAF911D-13AB-8148-AE42-EE897161D6F3}" type="slidenum">
              <a:rPr lang="en-US" smtClean="0"/>
              <a:t>‹N›</a:t>
            </a:fld>
            <a:endParaRPr lang="en-US"/>
          </a:p>
        </p:txBody>
      </p:sp>
    </p:spTree>
    <p:extLst>
      <p:ext uri="{BB962C8B-B14F-4D97-AF65-F5344CB8AC3E}">
        <p14:creationId xmlns:p14="http://schemas.microsoft.com/office/powerpoint/2010/main" val="523174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endParaRPr lang="en-US"/>
          </a:p>
        </p:txBody>
      </p:sp>
      <p:sp>
        <p:nvSpPr>
          <p:cNvPr id="3" name="Segnaposto data 2"/>
          <p:cNvSpPr>
            <a:spLocks noGrp="1"/>
          </p:cNvSpPr>
          <p:nvPr>
            <p:ph type="dt" sz="half" idx="10"/>
          </p:nvPr>
        </p:nvSpPr>
        <p:spPr/>
        <p:txBody>
          <a:bodyPr/>
          <a:lstStyle/>
          <a:p>
            <a:fld id="{7A805A2E-4434-7E48-B506-6CB9726E48D0}" type="datetimeFigureOut">
              <a:rPr lang="it-IT" smtClean="0"/>
              <a:t>10/04/25</a:t>
            </a:fld>
            <a:endParaRPr lang="en-US"/>
          </a:p>
        </p:txBody>
      </p:sp>
      <p:sp>
        <p:nvSpPr>
          <p:cNvPr id="4" name="Segnaposto piè di pagina 3"/>
          <p:cNvSpPr>
            <a:spLocks noGrp="1"/>
          </p:cNvSpPr>
          <p:nvPr>
            <p:ph type="ftr" sz="quarter" idx="11"/>
          </p:nvPr>
        </p:nvSpPr>
        <p:spPr/>
        <p:txBody>
          <a:bodyPr/>
          <a:lstStyle/>
          <a:p>
            <a:endParaRPr lang="en-US"/>
          </a:p>
        </p:txBody>
      </p:sp>
      <p:sp>
        <p:nvSpPr>
          <p:cNvPr id="5" name="Segnaposto numero diapositiva 4"/>
          <p:cNvSpPr>
            <a:spLocks noGrp="1"/>
          </p:cNvSpPr>
          <p:nvPr>
            <p:ph type="sldNum" sz="quarter" idx="12"/>
          </p:nvPr>
        </p:nvSpPr>
        <p:spPr/>
        <p:txBody>
          <a:bodyPr/>
          <a:lstStyle/>
          <a:p>
            <a:fld id="{FDAF911D-13AB-8148-AE42-EE897161D6F3}" type="slidenum">
              <a:rPr lang="en-US" smtClean="0"/>
              <a:t>‹N›</a:t>
            </a:fld>
            <a:endParaRPr lang="en-US"/>
          </a:p>
        </p:txBody>
      </p:sp>
    </p:spTree>
    <p:extLst>
      <p:ext uri="{BB962C8B-B14F-4D97-AF65-F5344CB8AC3E}">
        <p14:creationId xmlns:p14="http://schemas.microsoft.com/office/powerpoint/2010/main" val="842622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7A805A2E-4434-7E48-B506-6CB9726E48D0}" type="datetimeFigureOut">
              <a:rPr lang="it-IT" smtClean="0"/>
              <a:t>10/04/25</a:t>
            </a:fld>
            <a:endParaRPr lang="en-US"/>
          </a:p>
        </p:txBody>
      </p:sp>
      <p:sp>
        <p:nvSpPr>
          <p:cNvPr id="3" name="Segnaposto piè di pagina 2"/>
          <p:cNvSpPr>
            <a:spLocks noGrp="1"/>
          </p:cNvSpPr>
          <p:nvPr>
            <p:ph type="ftr" sz="quarter" idx="11"/>
          </p:nvPr>
        </p:nvSpPr>
        <p:spPr/>
        <p:txBody>
          <a:bodyPr/>
          <a:lstStyle/>
          <a:p>
            <a:endParaRPr lang="en-US"/>
          </a:p>
        </p:txBody>
      </p:sp>
      <p:sp>
        <p:nvSpPr>
          <p:cNvPr id="4" name="Segnaposto numero diapositiva 3"/>
          <p:cNvSpPr>
            <a:spLocks noGrp="1"/>
          </p:cNvSpPr>
          <p:nvPr>
            <p:ph type="sldNum" sz="quarter" idx="12"/>
          </p:nvPr>
        </p:nvSpPr>
        <p:spPr/>
        <p:txBody>
          <a:bodyPr/>
          <a:lstStyle/>
          <a:p>
            <a:fld id="{FDAF911D-13AB-8148-AE42-EE897161D6F3}" type="slidenum">
              <a:rPr lang="en-US" smtClean="0"/>
              <a:t>‹N›</a:t>
            </a:fld>
            <a:endParaRPr lang="en-US"/>
          </a:p>
        </p:txBody>
      </p:sp>
    </p:spTree>
    <p:extLst>
      <p:ext uri="{BB962C8B-B14F-4D97-AF65-F5344CB8AC3E}">
        <p14:creationId xmlns:p14="http://schemas.microsoft.com/office/powerpoint/2010/main" val="1781438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1" y="204787"/>
            <a:ext cx="3008313" cy="871538"/>
          </a:xfrm>
        </p:spPr>
        <p:txBody>
          <a:bodyPr anchor="b"/>
          <a:lstStyle>
            <a:lvl1pPr algn="l">
              <a:defRPr sz="1500" b="1"/>
            </a:lvl1pPr>
          </a:lstStyle>
          <a:p>
            <a:r>
              <a:rPr lang="it-IT"/>
              <a:t>Fare clic per modificare stile</a:t>
            </a:r>
            <a:endParaRPr lang="en-US"/>
          </a:p>
        </p:txBody>
      </p:sp>
      <p:sp>
        <p:nvSpPr>
          <p:cNvPr id="3" name="Segnaposto contenuto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testo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gli stili del testo dello schema</a:t>
            </a:r>
          </a:p>
        </p:txBody>
      </p:sp>
      <p:sp>
        <p:nvSpPr>
          <p:cNvPr id="5" name="Segnaposto data 4"/>
          <p:cNvSpPr>
            <a:spLocks noGrp="1"/>
          </p:cNvSpPr>
          <p:nvPr>
            <p:ph type="dt" sz="half" idx="10"/>
          </p:nvPr>
        </p:nvSpPr>
        <p:spPr/>
        <p:txBody>
          <a:bodyPr/>
          <a:lstStyle/>
          <a:p>
            <a:fld id="{7A805A2E-4434-7E48-B506-6CB9726E48D0}" type="datetimeFigureOut">
              <a:rPr lang="it-IT" smtClean="0"/>
              <a:t>10/04/25</a:t>
            </a:fld>
            <a:endParaRPr lang="en-US"/>
          </a:p>
        </p:txBody>
      </p:sp>
      <p:sp>
        <p:nvSpPr>
          <p:cNvPr id="6" name="Segnaposto piè di pagina 5"/>
          <p:cNvSpPr>
            <a:spLocks noGrp="1"/>
          </p:cNvSpPr>
          <p:nvPr>
            <p:ph type="ftr" sz="quarter" idx="11"/>
          </p:nvPr>
        </p:nvSpPr>
        <p:spPr/>
        <p:txBody>
          <a:bodyPr/>
          <a:lstStyle/>
          <a:p>
            <a:endParaRPr lang="en-US"/>
          </a:p>
        </p:txBody>
      </p:sp>
      <p:sp>
        <p:nvSpPr>
          <p:cNvPr id="7" name="Segnaposto numero diapositiva 6"/>
          <p:cNvSpPr>
            <a:spLocks noGrp="1"/>
          </p:cNvSpPr>
          <p:nvPr>
            <p:ph type="sldNum" sz="quarter" idx="12"/>
          </p:nvPr>
        </p:nvSpPr>
        <p:spPr/>
        <p:txBody>
          <a:bodyPr/>
          <a:lstStyle/>
          <a:p>
            <a:fld id="{FDAF911D-13AB-8148-AE42-EE897161D6F3}" type="slidenum">
              <a:rPr lang="en-US" smtClean="0"/>
              <a:t>‹N›</a:t>
            </a:fld>
            <a:endParaRPr lang="en-US"/>
          </a:p>
        </p:txBody>
      </p:sp>
    </p:spTree>
    <p:extLst>
      <p:ext uri="{BB962C8B-B14F-4D97-AF65-F5344CB8AC3E}">
        <p14:creationId xmlns:p14="http://schemas.microsoft.com/office/powerpoint/2010/main" val="3929151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3600450"/>
            <a:ext cx="5486400" cy="425054"/>
          </a:xfrm>
        </p:spPr>
        <p:txBody>
          <a:bodyPr anchor="b"/>
          <a:lstStyle>
            <a:lvl1pPr algn="l">
              <a:defRPr sz="1500" b="1"/>
            </a:lvl1pPr>
          </a:lstStyle>
          <a:p>
            <a:r>
              <a:rPr lang="it-IT"/>
              <a:t>Fare clic per modificare stile</a:t>
            </a:r>
            <a:endParaRPr lang="en-US"/>
          </a:p>
        </p:txBody>
      </p:sp>
      <p:sp>
        <p:nvSpPr>
          <p:cNvPr id="3" name="Segnaposto immagine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Segnaposto testo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gli stili del testo dello schema</a:t>
            </a:r>
          </a:p>
        </p:txBody>
      </p:sp>
      <p:sp>
        <p:nvSpPr>
          <p:cNvPr id="5" name="Segnaposto data 4"/>
          <p:cNvSpPr>
            <a:spLocks noGrp="1"/>
          </p:cNvSpPr>
          <p:nvPr>
            <p:ph type="dt" sz="half" idx="10"/>
          </p:nvPr>
        </p:nvSpPr>
        <p:spPr/>
        <p:txBody>
          <a:bodyPr/>
          <a:lstStyle/>
          <a:p>
            <a:fld id="{7A805A2E-4434-7E48-B506-6CB9726E48D0}" type="datetimeFigureOut">
              <a:rPr lang="it-IT" smtClean="0"/>
              <a:t>10/04/25</a:t>
            </a:fld>
            <a:endParaRPr lang="en-US"/>
          </a:p>
        </p:txBody>
      </p:sp>
      <p:sp>
        <p:nvSpPr>
          <p:cNvPr id="6" name="Segnaposto piè di pagina 5"/>
          <p:cNvSpPr>
            <a:spLocks noGrp="1"/>
          </p:cNvSpPr>
          <p:nvPr>
            <p:ph type="ftr" sz="quarter" idx="11"/>
          </p:nvPr>
        </p:nvSpPr>
        <p:spPr/>
        <p:txBody>
          <a:bodyPr/>
          <a:lstStyle/>
          <a:p>
            <a:endParaRPr lang="en-US"/>
          </a:p>
        </p:txBody>
      </p:sp>
      <p:sp>
        <p:nvSpPr>
          <p:cNvPr id="7" name="Segnaposto numero diapositiva 6"/>
          <p:cNvSpPr>
            <a:spLocks noGrp="1"/>
          </p:cNvSpPr>
          <p:nvPr>
            <p:ph type="sldNum" sz="quarter" idx="12"/>
          </p:nvPr>
        </p:nvSpPr>
        <p:spPr/>
        <p:txBody>
          <a:bodyPr/>
          <a:lstStyle/>
          <a:p>
            <a:fld id="{FDAF911D-13AB-8148-AE42-EE897161D6F3}" type="slidenum">
              <a:rPr lang="en-US" smtClean="0"/>
              <a:t>‹N›</a:t>
            </a:fld>
            <a:endParaRPr lang="en-US"/>
          </a:p>
        </p:txBody>
      </p:sp>
    </p:spTree>
    <p:extLst>
      <p:ext uri="{BB962C8B-B14F-4D97-AF65-F5344CB8AC3E}">
        <p14:creationId xmlns:p14="http://schemas.microsoft.com/office/powerpoint/2010/main" val="517007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endParaRPr lang="en-US"/>
          </a:p>
        </p:txBody>
      </p:sp>
      <p:sp>
        <p:nvSpPr>
          <p:cNvPr id="3" name="Segnaposto testo verticale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data 3"/>
          <p:cNvSpPr>
            <a:spLocks noGrp="1"/>
          </p:cNvSpPr>
          <p:nvPr>
            <p:ph type="dt" sz="half" idx="10"/>
          </p:nvPr>
        </p:nvSpPr>
        <p:spPr/>
        <p:txBody>
          <a:bodyPr/>
          <a:lstStyle/>
          <a:p>
            <a:fld id="{7A805A2E-4434-7E48-B506-6CB9726E48D0}" type="datetimeFigureOut">
              <a:rPr lang="it-IT" smtClean="0"/>
              <a:t>10/04/25</a:t>
            </a:fld>
            <a:endParaRPr lang="en-US"/>
          </a:p>
        </p:txBody>
      </p:sp>
      <p:sp>
        <p:nvSpPr>
          <p:cNvPr id="5" name="Segnaposto piè di pagina 4"/>
          <p:cNvSpPr>
            <a:spLocks noGrp="1"/>
          </p:cNvSpPr>
          <p:nvPr>
            <p:ph type="ftr" sz="quarter" idx="11"/>
          </p:nvPr>
        </p:nvSpPr>
        <p:spPr/>
        <p:txBody>
          <a:bodyPr/>
          <a:lstStyle/>
          <a:p>
            <a:endParaRPr lang="en-US"/>
          </a:p>
        </p:txBody>
      </p:sp>
      <p:sp>
        <p:nvSpPr>
          <p:cNvPr id="6" name="Segnaposto numero diapositiva 5"/>
          <p:cNvSpPr>
            <a:spLocks noGrp="1"/>
          </p:cNvSpPr>
          <p:nvPr>
            <p:ph type="sldNum" sz="quarter" idx="12"/>
          </p:nvPr>
        </p:nvSpPr>
        <p:spPr/>
        <p:txBody>
          <a:bodyPr/>
          <a:lstStyle/>
          <a:p>
            <a:fld id="{FDAF911D-13AB-8148-AE42-EE897161D6F3}" type="slidenum">
              <a:rPr lang="en-US" smtClean="0"/>
              <a:t>‹N›</a:t>
            </a:fld>
            <a:endParaRPr lang="en-US"/>
          </a:p>
        </p:txBody>
      </p:sp>
    </p:spTree>
    <p:extLst>
      <p:ext uri="{BB962C8B-B14F-4D97-AF65-F5344CB8AC3E}">
        <p14:creationId xmlns:p14="http://schemas.microsoft.com/office/powerpoint/2010/main" val="2743571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05979"/>
            <a:ext cx="2057400" cy="4388644"/>
          </a:xfrm>
        </p:spPr>
        <p:txBody>
          <a:bodyPr vert="eaVert"/>
          <a:lstStyle/>
          <a:p>
            <a:r>
              <a:rPr lang="it-IT"/>
              <a:t>Fare clic per modificare stile</a:t>
            </a:r>
            <a:endParaRPr lang="en-US"/>
          </a:p>
        </p:txBody>
      </p:sp>
      <p:sp>
        <p:nvSpPr>
          <p:cNvPr id="3" name="Segnaposto testo verticale 2"/>
          <p:cNvSpPr>
            <a:spLocks noGrp="1"/>
          </p:cNvSpPr>
          <p:nvPr>
            <p:ph type="body" orient="vert" idx="1"/>
          </p:nvPr>
        </p:nvSpPr>
        <p:spPr>
          <a:xfrm>
            <a:off x="457200" y="205979"/>
            <a:ext cx="6019800" cy="4388644"/>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data 3"/>
          <p:cNvSpPr>
            <a:spLocks noGrp="1"/>
          </p:cNvSpPr>
          <p:nvPr>
            <p:ph type="dt" sz="half" idx="10"/>
          </p:nvPr>
        </p:nvSpPr>
        <p:spPr/>
        <p:txBody>
          <a:bodyPr/>
          <a:lstStyle/>
          <a:p>
            <a:fld id="{7A805A2E-4434-7E48-B506-6CB9726E48D0}" type="datetimeFigureOut">
              <a:rPr lang="it-IT" smtClean="0"/>
              <a:t>10/04/25</a:t>
            </a:fld>
            <a:endParaRPr lang="en-US"/>
          </a:p>
        </p:txBody>
      </p:sp>
      <p:sp>
        <p:nvSpPr>
          <p:cNvPr id="5" name="Segnaposto piè di pagina 4"/>
          <p:cNvSpPr>
            <a:spLocks noGrp="1"/>
          </p:cNvSpPr>
          <p:nvPr>
            <p:ph type="ftr" sz="quarter" idx="11"/>
          </p:nvPr>
        </p:nvSpPr>
        <p:spPr/>
        <p:txBody>
          <a:bodyPr/>
          <a:lstStyle/>
          <a:p>
            <a:endParaRPr lang="en-US"/>
          </a:p>
        </p:txBody>
      </p:sp>
      <p:sp>
        <p:nvSpPr>
          <p:cNvPr id="6" name="Segnaposto numero diapositiva 5"/>
          <p:cNvSpPr>
            <a:spLocks noGrp="1"/>
          </p:cNvSpPr>
          <p:nvPr>
            <p:ph type="sldNum" sz="quarter" idx="12"/>
          </p:nvPr>
        </p:nvSpPr>
        <p:spPr/>
        <p:txBody>
          <a:bodyPr/>
          <a:lstStyle/>
          <a:p>
            <a:fld id="{FDAF911D-13AB-8148-AE42-EE897161D6F3}" type="slidenum">
              <a:rPr lang="en-US" smtClean="0"/>
              <a:t>‹N›</a:t>
            </a:fld>
            <a:endParaRPr lang="en-US"/>
          </a:p>
        </p:txBody>
      </p:sp>
    </p:spTree>
    <p:extLst>
      <p:ext uri="{BB962C8B-B14F-4D97-AF65-F5344CB8AC3E}">
        <p14:creationId xmlns:p14="http://schemas.microsoft.com/office/powerpoint/2010/main" val="1611060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it-IT" dirty="0"/>
              <a:t>Fare clic per modificare stile</a:t>
            </a:r>
            <a:endParaRPr lang="en-US" dirty="0"/>
          </a:p>
        </p:txBody>
      </p:sp>
      <p:sp>
        <p:nvSpPr>
          <p:cNvPr id="3" name="Segnaposto testo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endParaRPr lang="en-US" dirty="0"/>
          </a:p>
        </p:txBody>
      </p:sp>
      <p:sp>
        <p:nvSpPr>
          <p:cNvPr id="4" name="Segnaposto data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b="0" i="0">
                <a:solidFill>
                  <a:schemeClr val="tx1">
                    <a:tint val="75000"/>
                  </a:schemeClr>
                </a:solidFill>
                <a:latin typeface="Calibri Light" panose="020F0302020204030204" pitchFamily="34" charset="0"/>
              </a:defRPr>
            </a:lvl1pPr>
          </a:lstStyle>
          <a:p>
            <a:fld id="{7A805A2E-4434-7E48-B506-6CB9726E48D0}" type="datetimeFigureOut">
              <a:rPr lang="it-IT" smtClean="0"/>
              <a:pPr/>
              <a:t>10/04/25</a:t>
            </a:fld>
            <a:endParaRPr lang="en-US" dirty="0"/>
          </a:p>
        </p:txBody>
      </p:sp>
      <p:sp>
        <p:nvSpPr>
          <p:cNvPr id="5" name="Segnaposto piè di pagina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b="0" i="0">
                <a:solidFill>
                  <a:schemeClr val="tx1">
                    <a:tint val="75000"/>
                  </a:schemeClr>
                </a:solidFill>
                <a:latin typeface="Calibri Light" panose="020F0302020204030204" pitchFamily="34" charset="0"/>
              </a:defRPr>
            </a:lvl1pPr>
          </a:lstStyle>
          <a:p>
            <a:endParaRPr lang="en-US" dirty="0"/>
          </a:p>
        </p:txBody>
      </p:sp>
      <p:sp>
        <p:nvSpPr>
          <p:cNvPr id="6" name="Segnaposto numero diapositiva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b="0" i="0">
                <a:solidFill>
                  <a:schemeClr val="tx1">
                    <a:tint val="75000"/>
                  </a:schemeClr>
                </a:solidFill>
                <a:latin typeface="Calibri Light" panose="020F0302020204030204" pitchFamily="34" charset="0"/>
              </a:defRPr>
            </a:lvl1pPr>
          </a:lstStyle>
          <a:p>
            <a:fld id="{FDAF911D-13AB-8148-AE42-EE897161D6F3}" type="slidenum">
              <a:rPr lang="en-US" smtClean="0"/>
              <a:pPr/>
              <a:t>‹N›</a:t>
            </a:fld>
            <a:endParaRPr lang="en-US" dirty="0"/>
          </a:p>
        </p:txBody>
      </p:sp>
    </p:spTree>
    <p:extLst>
      <p:ext uri="{BB962C8B-B14F-4D97-AF65-F5344CB8AC3E}">
        <p14:creationId xmlns:p14="http://schemas.microsoft.com/office/powerpoint/2010/main" val="24933150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342900" rtl="0" eaLnBrk="1" latinLnBrk="0" hangingPunct="1">
        <a:spcBef>
          <a:spcPct val="0"/>
        </a:spcBef>
        <a:buNone/>
        <a:defRPr sz="3300" b="0" i="0" kern="1200">
          <a:solidFill>
            <a:schemeClr val="tx1"/>
          </a:solidFill>
          <a:latin typeface="Calibri Light" panose="020F0302020204030204" pitchFamily="34" charset="0"/>
          <a:ea typeface="+mj-ea"/>
          <a:cs typeface="+mj-cs"/>
        </a:defRPr>
      </a:lvl1pPr>
    </p:titleStyle>
    <p:bodyStyle>
      <a:lvl1pPr marL="257175" indent="-257175" algn="l" defTabSz="342900" rtl="0" eaLnBrk="1" latinLnBrk="0" hangingPunct="1">
        <a:spcBef>
          <a:spcPct val="20000"/>
        </a:spcBef>
        <a:buFont typeface="Arial"/>
        <a:buChar char="•"/>
        <a:defRPr sz="2400" b="0" i="0" kern="1200">
          <a:solidFill>
            <a:schemeClr val="tx1"/>
          </a:solidFill>
          <a:latin typeface="Calibri Light" panose="020F0302020204030204" pitchFamily="34" charset="0"/>
          <a:ea typeface="+mn-ea"/>
          <a:cs typeface="+mn-cs"/>
        </a:defRPr>
      </a:lvl1pPr>
      <a:lvl2pPr marL="557213" indent="-214313" algn="l" defTabSz="342900" rtl="0" eaLnBrk="1" latinLnBrk="0" hangingPunct="1">
        <a:spcBef>
          <a:spcPct val="20000"/>
        </a:spcBef>
        <a:buFont typeface="Arial"/>
        <a:buChar char="–"/>
        <a:defRPr sz="2100" b="0" i="0" kern="1200">
          <a:solidFill>
            <a:schemeClr val="tx1"/>
          </a:solidFill>
          <a:latin typeface="Calibri Light" panose="020F0302020204030204" pitchFamily="34" charset="0"/>
          <a:ea typeface="+mn-ea"/>
          <a:cs typeface="+mn-cs"/>
        </a:defRPr>
      </a:lvl2pPr>
      <a:lvl3pPr marL="857250" indent="-171450" algn="l" defTabSz="342900" rtl="0" eaLnBrk="1" latinLnBrk="0" hangingPunct="1">
        <a:spcBef>
          <a:spcPct val="20000"/>
        </a:spcBef>
        <a:buFont typeface="Arial"/>
        <a:buChar char="•"/>
        <a:defRPr sz="1800" b="0" i="0" kern="1200">
          <a:solidFill>
            <a:schemeClr val="tx1"/>
          </a:solidFill>
          <a:latin typeface="Calibri Light" panose="020F0302020204030204" pitchFamily="34" charset="0"/>
          <a:ea typeface="+mn-ea"/>
          <a:cs typeface="+mn-cs"/>
        </a:defRPr>
      </a:lvl3pPr>
      <a:lvl4pPr marL="1200150" indent="-171450" algn="l" defTabSz="342900" rtl="0" eaLnBrk="1" latinLnBrk="0" hangingPunct="1">
        <a:spcBef>
          <a:spcPct val="20000"/>
        </a:spcBef>
        <a:buFont typeface="Arial"/>
        <a:buChar char="–"/>
        <a:defRPr sz="1500" b="0" i="0" kern="1200">
          <a:solidFill>
            <a:schemeClr val="tx1"/>
          </a:solidFill>
          <a:latin typeface="Calibri Light" panose="020F0302020204030204" pitchFamily="34" charset="0"/>
          <a:ea typeface="+mn-ea"/>
          <a:cs typeface="+mn-cs"/>
        </a:defRPr>
      </a:lvl4pPr>
      <a:lvl5pPr marL="1543050" indent="-171450" algn="l" defTabSz="342900" rtl="0" eaLnBrk="1" latinLnBrk="0" hangingPunct="1">
        <a:spcBef>
          <a:spcPct val="20000"/>
        </a:spcBef>
        <a:buFont typeface="Arial"/>
        <a:buChar char="»"/>
        <a:defRPr sz="1500" b="0" i="0" kern="1200">
          <a:solidFill>
            <a:schemeClr val="tx1"/>
          </a:solidFill>
          <a:latin typeface="Calibri Light" panose="020F0302020204030204" pitchFamily="34" charset="0"/>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it-IT"/>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hyperlink" Target="http://openjpa.apache.org/builds/1.0.2/apache-openjpa-1.0.2/docs/manual/manual.html#jpa_overview_meta_cascade"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hyperlink" Target="http://openjpa.apache.org/builds/1.0.2/apache-openjpa-1.0.2/docs/manual/manual.html#jpa_overview_meta_cascade"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hyperlink" Target="http://www.objectdb.com/api/java/jpa/EntityManager/find_Class__Object" TargetMode="Externa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hyperlink" Target="https://martinfowler.com/eaaCatalog/repository.html" TargetMode="Externa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38299" y="1021812"/>
            <a:ext cx="6958853" cy="1101725"/>
          </a:xfrm>
          <a:extLst>
            <a:ext uri="{91240B29-F687-4f45-9708-019B960494DF}">
              <a14:hiddenLine xmlns:a14="http://schemas.microsoft.com/office/drawing/2010/main" xmlns="" w="9525">
                <a:solidFill>
                  <a:schemeClr val="accent2"/>
                </a:solidFill>
                <a:miter lim="800000"/>
                <a:headEnd/>
                <a:tailEnd/>
              </a14:hiddenLine>
            </a:ext>
          </a:extLst>
        </p:spPr>
        <p:txBody>
          <a:bodyPr>
            <a:normAutofit fontScale="90000"/>
          </a:bodyPr>
          <a:lstStyle/>
          <a:p>
            <a:pPr algn="l"/>
            <a:r>
              <a:rPr lang="it-IT" sz="1500" dirty="0">
                <a:latin typeface="Calibri Light" panose="020F0302020204030204" pitchFamily="34" charset="0"/>
              </a:rPr>
              <a:t>Sistemi informativi su Web</a:t>
            </a:r>
            <a:br>
              <a:rPr lang="it-IT" sz="1500" dirty="0">
                <a:latin typeface="Calibri Light" panose="020F0302020204030204" pitchFamily="34" charset="0"/>
              </a:rPr>
            </a:br>
            <a:r>
              <a:rPr lang="it-IT" dirty="0">
                <a:solidFill>
                  <a:srgbClr val="008000"/>
                </a:solidFill>
                <a:latin typeface="Calibri Light" panose="020F0302020204030204" pitchFamily="34" charset="0"/>
              </a:rPr>
              <a:t>Persistenza: da JDBC a </a:t>
            </a:r>
            <a:r>
              <a:rPr lang="it-IT" dirty="0" err="1">
                <a:solidFill>
                  <a:srgbClr val="008000"/>
                </a:solidFill>
              </a:rPr>
              <a:t>CrudRepository</a:t>
            </a:r>
            <a:br>
              <a:rPr lang="it-IT" dirty="0">
                <a:solidFill>
                  <a:srgbClr val="008000"/>
                </a:solidFill>
                <a:latin typeface="Calibri Light" panose="020F0302020204030204" pitchFamily="34" charset="0"/>
              </a:rPr>
            </a:br>
            <a:r>
              <a:rPr lang="it-IT" sz="2325" dirty="0">
                <a:solidFill>
                  <a:srgbClr val="008000"/>
                </a:solidFill>
                <a:latin typeface="Calibri Light" panose="020F0302020204030204" pitchFamily="34" charset="0"/>
              </a:rPr>
              <a:t>aa 2024-2025</a:t>
            </a:r>
            <a:br>
              <a:rPr lang="it-IT" dirty="0">
                <a:latin typeface="Calibri Light" panose="020F0302020204030204" pitchFamily="34" charset="0"/>
              </a:rPr>
            </a:br>
            <a:endParaRPr lang="it-IT" dirty="0">
              <a:latin typeface="Calibri Light" panose="020F0302020204030204" pitchFamily="34" charset="0"/>
            </a:endParaRPr>
          </a:p>
        </p:txBody>
      </p:sp>
      <p:sp>
        <p:nvSpPr>
          <p:cNvPr id="4" name="Text Box 11"/>
          <p:cNvSpPr txBox="1">
            <a:spLocks noChangeArrowheads="1"/>
          </p:cNvSpPr>
          <p:nvPr/>
        </p:nvSpPr>
        <p:spPr bwMode="auto">
          <a:xfrm>
            <a:off x="2171700" y="4743450"/>
            <a:ext cx="5158785" cy="369332"/>
          </a:xfrm>
          <a:prstGeom prst="rect">
            <a:avLst/>
          </a:prstGeom>
          <a:noFill/>
          <a:ln w="9525">
            <a:noFill/>
            <a:miter lim="800000"/>
            <a:headEnd/>
            <a:tailEnd/>
          </a:ln>
        </p:spPr>
        <p:txBody>
          <a:bodyPr wrap="none">
            <a:spAutoFit/>
          </a:bodyPr>
          <a:lstStyle/>
          <a:p>
            <a:r>
              <a:rPr lang="en-US" sz="900" dirty="0">
                <a:latin typeface="Calibri Light" panose="020F0302020204030204" pitchFamily="34" charset="0"/>
              </a:rPr>
              <a:t>This work is licensed under a Creative Commons Attribution-Noncommercial-Share Alike 3.0 United States</a:t>
            </a:r>
            <a:br>
              <a:rPr lang="en-US" sz="900" dirty="0">
                <a:latin typeface="Calibri Light" panose="020F0302020204030204" pitchFamily="34" charset="0"/>
              </a:rPr>
            </a:br>
            <a:r>
              <a:rPr lang="en-US" sz="900" dirty="0">
                <a:latin typeface="Calibri Light" panose="020F0302020204030204" pitchFamily="34" charset="0"/>
              </a:rPr>
              <a:t>See http://creativecommons.org/licenses/by-nc-sa/3.0/us/ for details</a:t>
            </a:r>
          </a:p>
        </p:txBody>
      </p:sp>
      <p:pic>
        <p:nvPicPr>
          <p:cNvPr id="5" name="Picture 13" descr="creative-commons"/>
          <p:cNvPicPr>
            <a:picLocks noChangeAspect="1" noChangeArrowheads="1"/>
          </p:cNvPicPr>
          <p:nvPr/>
        </p:nvPicPr>
        <p:blipFill>
          <a:blip r:embed="rId3" cstate="print"/>
          <a:srcRect/>
          <a:stretch>
            <a:fillRect/>
          </a:stretch>
        </p:blipFill>
        <p:spPr bwMode="auto">
          <a:xfrm>
            <a:off x="1219200" y="4743450"/>
            <a:ext cx="838200" cy="295275"/>
          </a:xfrm>
          <a:prstGeom prst="rect">
            <a:avLst/>
          </a:prstGeom>
          <a:noFill/>
          <a:ln w="9525">
            <a:noFill/>
            <a:miter lim="800000"/>
            <a:headEnd/>
            <a:tailEnd/>
          </a:ln>
        </p:spPr>
      </p:pic>
      <p:pic>
        <p:nvPicPr>
          <p:cNvPr id="2" name="Immagine 1"/>
          <p:cNvPicPr>
            <a:picLocks noChangeAspect="1"/>
          </p:cNvPicPr>
          <p:nvPr/>
        </p:nvPicPr>
        <p:blipFill>
          <a:blip r:embed="rId4"/>
          <a:stretch>
            <a:fillRect/>
          </a:stretch>
        </p:blipFill>
        <p:spPr>
          <a:xfrm>
            <a:off x="3234814" y="3001007"/>
            <a:ext cx="705953" cy="383568"/>
          </a:xfrm>
          <a:prstGeom prst="rect">
            <a:avLst/>
          </a:prstGeom>
        </p:spPr>
      </p:pic>
      <p:sp>
        <p:nvSpPr>
          <p:cNvPr id="3" name="CasellaDiTesto 2"/>
          <p:cNvSpPr txBox="1"/>
          <p:nvPr/>
        </p:nvSpPr>
        <p:spPr>
          <a:xfrm>
            <a:off x="4049899" y="2931550"/>
            <a:ext cx="2329292" cy="507831"/>
          </a:xfrm>
          <a:prstGeom prst="rect">
            <a:avLst/>
          </a:prstGeom>
          <a:noFill/>
        </p:spPr>
        <p:txBody>
          <a:bodyPr wrap="none" rtlCol="0">
            <a:spAutoFit/>
          </a:bodyPr>
          <a:lstStyle/>
          <a:p>
            <a:r>
              <a:rPr lang="it-IT" sz="1350" dirty="0">
                <a:latin typeface="Calibri Light" panose="020F0302020204030204" pitchFamily="34" charset="0"/>
                <a:ea typeface="+mj-ea"/>
                <a:cs typeface="+mj-cs"/>
              </a:rPr>
              <a:t>Paolo Merialdo</a:t>
            </a:r>
          </a:p>
          <a:p>
            <a:r>
              <a:rPr lang="it-IT" sz="1350" dirty="0">
                <a:latin typeface="Calibri Light" panose="020F0302020204030204" pitchFamily="34" charset="0"/>
                <a:ea typeface="+mj-ea"/>
                <a:cs typeface="+mj-cs"/>
              </a:rPr>
              <a:t>Università degli Studi Roma Tre</a:t>
            </a:r>
          </a:p>
        </p:txBody>
      </p:sp>
    </p:spTree>
    <p:extLst>
      <p:ext uri="{BB962C8B-B14F-4D97-AF65-F5344CB8AC3E}">
        <p14:creationId xmlns:p14="http://schemas.microsoft.com/office/powerpoint/2010/main" val="4211658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l primo aereo della storia: chi lo inventò e chi furono i primi a volare">
            <a:extLst>
              <a:ext uri="{FF2B5EF4-FFF2-40B4-BE49-F238E27FC236}">
                <a16:creationId xmlns:a16="http://schemas.microsoft.com/office/drawing/2014/main" id="{F9B2DF9C-0EF4-3D17-B796-1F7138BB64D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812" b="7812"/>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CasellaDiTesto 1">
            <a:extLst>
              <a:ext uri="{FF2B5EF4-FFF2-40B4-BE49-F238E27FC236}">
                <a16:creationId xmlns:a16="http://schemas.microsoft.com/office/drawing/2014/main" id="{70606F7E-31FB-01A2-FD87-7E366DF7C5E1}"/>
              </a:ext>
            </a:extLst>
          </p:cNvPr>
          <p:cNvSpPr txBox="1"/>
          <p:nvPr/>
        </p:nvSpPr>
        <p:spPr>
          <a:xfrm>
            <a:off x="636493" y="3172385"/>
            <a:ext cx="1920719" cy="1107996"/>
          </a:xfrm>
          <a:prstGeom prst="rect">
            <a:avLst/>
          </a:prstGeom>
          <a:noFill/>
        </p:spPr>
        <p:txBody>
          <a:bodyPr wrap="none" rtlCol="0">
            <a:spAutoFit/>
          </a:bodyPr>
          <a:lstStyle/>
          <a:p>
            <a:r>
              <a:rPr lang="en-US" sz="6600" b="1" dirty="0">
                <a:solidFill>
                  <a:srgbClr val="FF0000"/>
                </a:solidFill>
                <a:latin typeface="Calibri Light" panose="020F0302020204030204" pitchFamily="34" charset="0"/>
              </a:rPr>
              <a:t>JDBC</a:t>
            </a:r>
          </a:p>
        </p:txBody>
      </p:sp>
    </p:spTree>
    <p:extLst>
      <p:ext uri="{BB962C8B-B14F-4D97-AF65-F5344CB8AC3E}">
        <p14:creationId xmlns:p14="http://schemas.microsoft.com/office/powerpoint/2010/main" val="2781338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it-IT" dirty="0"/>
              <a:t>JDBC: Concetti Fondamentali</a:t>
            </a:r>
          </a:p>
        </p:txBody>
      </p:sp>
      <p:sp>
        <p:nvSpPr>
          <p:cNvPr id="6147" name="Rectangle 3"/>
          <p:cNvSpPr>
            <a:spLocks noGrp="1" noChangeArrowheads="1"/>
          </p:cNvSpPr>
          <p:nvPr>
            <p:ph idx="1"/>
          </p:nvPr>
        </p:nvSpPr>
        <p:spPr/>
        <p:txBody>
          <a:bodyPr>
            <a:normAutofit fontScale="85000" lnSpcReduction="20000"/>
          </a:bodyPr>
          <a:lstStyle/>
          <a:p>
            <a:pPr eaLnBrk="1" hangingPunct="1"/>
            <a:r>
              <a:rPr lang="it-IT" dirty="0"/>
              <a:t>Introduzione</a:t>
            </a:r>
          </a:p>
          <a:p>
            <a:pPr lvl="1" eaLnBrk="1" hangingPunct="1"/>
            <a:r>
              <a:rPr lang="it-IT" dirty="0"/>
              <a:t>Architettura</a:t>
            </a:r>
          </a:p>
          <a:p>
            <a:pPr eaLnBrk="1" hangingPunct="1"/>
            <a:r>
              <a:rPr lang="it-IT" dirty="0"/>
              <a:t>Un Esempio</a:t>
            </a:r>
          </a:p>
          <a:p>
            <a:pPr lvl="1" eaLnBrk="1" hangingPunct="1"/>
            <a:r>
              <a:rPr lang="it-IT" dirty="0"/>
              <a:t>Driver e Driver Manager</a:t>
            </a:r>
          </a:p>
          <a:p>
            <a:pPr lvl="1" eaLnBrk="1" hangingPunct="1"/>
            <a:r>
              <a:rPr lang="it-IT" dirty="0"/>
              <a:t>Connection</a:t>
            </a:r>
          </a:p>
          <a:p>
            <a:pPr lvl="1" eaLnBrk="1" hangingPunct="1"/>
            <a:r>
              <a:rPr lang="it-IT" dirty="0" err="1"/>
              <a:t>PreparedStatement</a:t>
            </a:r>
            <a:endParaRPr lang="it-IT" dirty="0"/>
          </a:p>
          <a:p>
            <a:pPr lvl="1" eaLnBrk="1" hangingPunct="1"/>
            <a:r>
              <a:rPr lang="it-IT" dirty="0" err="1"/>
              <a:t>ResultSet</a:t>
            </a:r>
            <a:endParaRPr lang="it-IT" dirty="0"/>
          </a:p>
          <a:p>
            <a:pPr lvl="1" eaLnBrk="1" hangingPunct="1"/>
            <a:r>
              <a:rPr lang="it-IT" dirty="0" err="1"/>
              <a:t>SQLException</a:t>
            </a:r>
            <a:endParaRPr lang="it-IT" dirty="0"/>
          </a:p>
          <a:p>
            <a:r>
              <a:rPr lang="it-IT" dirty="0"/>
              <a:t>Aspetti </a:t>
            </a:r>
            <a:r>
              <a:rPr lang="it-IT" dirty="0" err="1"/>
              <a:t>medotologici</a:t>
            </a:r>
            <a:endParaRPr lang="it-IT" dirty="0"/>
          </a:p>
          <a:p>
            <a:pPr lvl="1"/>
            <a:r>
              <a:rPr lang="it-IT" dirty="0" err="1"/>
              <a:t>Lazy</a:t>
            </a:r>
            <a:r>
              <a:rPr lang="it-IT" dirty="0"/>
              <a:t> </a:t>
            </a:r>
            <a:r>
              <a:rPr lang="it-IT" dirty="0" err="1"/>
              <a:t>load</a:t>
            </a:r>
            <a:endParaRPr lang="it-IT" dirty="0"/>
          </a:p>
          <a:p>
            <a:pPr lvl="1"/>
            <a:r>
              <a:rPr lang="it-IT" dirty="0"/>
              <a:t>Id Broker</a:t>
            </a:r>
          </a:p>
          <a:p>
            <a:pPr lvl="1" eaLnBrk="1" hangingPunct="1"/>
            <a:endParaRPr lang="it-IT" dirty="0"/>
          </a:p>
        </p:txBody>
      </p:sp>
    </p:spTree>
    <p:extLst>
      <p:ext uri="{BB962C8B-B14F-4D97-AF65-F5344CB8AC3E}">
        <p14:creationId xmlns:p14="http://schemas.microsoft.com/office/powerpoint/2010/main" val="2965783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it-IT" dirty="0"/>
              <a:t>Introduzione</a:t>
            </a:r>
          </a:p>
        </p:txBody>
      </p:sp>
      <p:sp>
        <p:nvSpPr>
          <p:cNvPr id="12291" name="Rectangle 3"/>
          <p:cNvSpPr>
            <a:spLocks noGrp="1" noChangeArrowheads="1"/>
          </p:cNvSpPr>
          <p:nvPr>
            <p:ph idx="1"/>
          </p:nvPr>
        </p:nvSpPr>
        <p:spPr/>
        <p:txBody>
          <a:bodyPr>
            <a:normAutofit/>
          </a:bodyPr>
          <a:lstStyle/>
          <a:p>
            <a:pPr eaLnBrk="1" hangingPunct="1">
              <a:lnSpc>
                <a:spcPct val="90000"/>
              </a:lnSpc>
            </a:pPr>
            <a:r>
              <a:rPr lang="it-IT" sz="2100" dirty="0"/>
              <a:t>Da Java Tutorial</a:t>
            </a:r>
          </a:p>
          <a:p>
            <a:pPr lvl="1" eaLnBrk="1" hangingPunct="1">
              <a:lnSpc>
                <a:spcPct val="90000"/>
              </a:lnSpc>
            </a:pPr>
            <a:r>
              <a:rPr lang="it-IT" sz="1800" i="1" dirty="0"/>
              <a:t>The JDBC API </a:t>
            </a:r>
            <a:r>
              <a:rPr lang="it-IT" sz="1800" i="1" dirty="0" err="1"/>
              <a:t>is</a:t>
            </a:r>
            <a:r>
              <a:rPr lang="it-IT" sz="1800" i="1" dirty="0"/>
              <a:t> a Java API </a:t>
            </a:r>
            <a:r>
              <a:rPr lang="it-IT" sz="1800" i="1" dirty="0" err="1"/>
              <a:t>that</a:t>
            </a:r>
            <a:r>
              <a:rPr lang="it-IT" sz="1800" i="1" dirty="0"/>
              <a:t> can </a:t>
            </a:r>
            <a:r>
              <a:rPr lang="it-IT" sz="1800" i="1" dirty="0" err="1"/>
              <a:t>access</a:t>
            </a:r>
            <a:r>
              <a:rPr lang="it-IT" sz="1800" i="1" dirty="0"/>
              <a:t> </a:t>
            </a:r>
            <a:r>
              <a:rPr lang="it-IT" sz="1800" i="1" dirty="0" err="1"/>
              <a:t>any</a:t>
            </a:r>
            <a:r>
              <a:rPr lang="it-IT" sz="1800" i="1" dirty="0"/>
              <a:t> </a:t>
            </a:r>
            <a:r>
              <a:rPr lang="it-IT" sz="1800" i="1" dirty="0" err="1"/>
              <a:t>kind</a:t>
            </a:r>
            <a:r>
              <a:rPr lang="it-IT" sz="1800" i="1" dirty="0"/>
              <a:t> of tabular data, </a:t>
            </a:r>
            <a:r>
              <a:rPr lang="it-IT" sz="1800" i="1" dirty="0" err="1"/>
              <a:t>especially</a:t>
            </a:r>
            <a:r>
              <a:rPr lang="it-IT" sz="1800" i="1" dirty="0"/>
              <a:t> data </a:t>
            </a:r>
            <a:r>
              <a:rPr lang="it-IT" sz="1800" i="1" dirty="0" err="1"/>
              <a:t>stored</a:t>
            </a:r>
            <a:r>
              <a:rPr lang="it-IT" sz="1800" i="1" dirty="0"/>
              <a:t> in a </a:t>
            </a:r>
            <a:r>
              <a:rPr lang="it-IT" sz="1800" i="1" dirty="0" err="1"/>
              <a:t>Relational</a:t>
            </a:r>
            <a:r>
              <a:rPr lang="it-IT" sz="1800" i="1" dirty="0"/>
              <a:t> Database</a:t>
            </a:r>
          </a:p>
          <a:p>
            <a:pPr lvl="1" eaLnBrk="1" hangingPunct="1">
              <a:lnSpc>
                <a:spcPct val="90000"/>
              </a:lnSpc>
            </a:pPr>
            <a:r>
              <a:rPr lang="it-IT" sz="1800" i="1" dirty="0"/>
              <a:t>JDBC </a:t>
            </a:r>
            <a:r>
              <a:rPr lang="it-IT" sz="1800" i="1" dirty="0" err="1"/>
              <a:t>helps</a:t>
            </a:r>
            <a:r>
              <a:rPr lang="it-IT" sz="1800" i="1" dirty="0"/>
              <a:t> </a:t>
            </a:r>
            <a:r>
              <a:rPr lang="it-IT" sz="1800" i="1" dirty="0" err="1"/>
              <a:t>you</a:t>
            </a:r>
            <a:r>
              <a:rPr lang="it-IT" sz="1800" i="1" dirty="0"/>
              <a:t> to </a:t>
            </a:r>
            <a:r>
              <a:rPr lang="it-IT" sz="1800" i="1" dirty="0" err="1"/>
              <a:t>write</a:t>
            </a:r>
            <a:r>
              <a:rPr lang="it-IT" sz="1800" i="1" dirty="0"/>
              <a:t> java </a:t>
            </a:r>
            <a:r>
              <a:rPr lang="it-IT" sz="1800" i="1" dirty="0" err="1"/>
              <a:t>applications</a:t>
            </a:r>
            <a:r>
              <a:rPr lang="it-IT" sz="1800" i="1" dirty="0"/>
              <a:t> </a:t>
            </a:r>
            <a:r>
              <a:rPr lang="it-IT" sz="1800" i="1" dirty="0" err="1"/>
              <a:t>that</a:t>
            </a:r>
            <a:r>
              <a:rPr lang="it-IT" sz="1800" i="1" dirty="0"/>
              <a:t> </a:t>
            </a:r>
            <a:r>
              <a:rPr lang="it-IT" sz="1800" i="1" dirty="0" err="1"/>
              <a:t>manage</a:t>
            </a:r>
            <a:r>
              <a:rPr lang="it-IT" sz="1800" i="1" dirty="0"/>
              <a:t> </a:t>
            </a:r>
            <a:r>
              <a:rPr lang="it-IT" sz="1800" i="1" dirty="0" err="1"/>
              <a:t>these</a:t>
            </a:r>
            <a:r>
              <a:rPr lang="it-IT" sz="1800" i="1" dirty="0"/>
              <a:t> </a:t>
            </a:r>
            <a:r>
              <a:rPr lang="it-IT" sz="1800" i="1" dirty="0" err="1"/>
              <a:t>three</a:t>
            </a:r>
            <a:r>
              <a:rPr lang="it-IT" sz="1800" i="1" dirty="0"/>
              <a:t> </a:t>
            </a:r>
            <a:r>
              <a:rPr lang="it-IT" sz="1800" i="1" dirty="0" err="1"/>
              <a:t>programming</a:t>
            </a:r>
            <a:r>
              <a:rPr lang="it-IT" sz="1800" i="1" dirty="0"/>
              <a:t> </a:t>
            </a:r>
            <a:r>
              <a:rPr lang="it-IT" sz="1800" i="1" dirty="0" err="1"/>
              <a:t>activities</a:t>
            </a:r>
            <a:r>
              <a:rPr lang="it-IT" sz="1800" i="1" dirty="0"/>
              <a:t>: </a:t>
            </a:r>
          </a:p>
          <a:p>
            <a:pPr lvl="2" eaLnBrk="1" hangingPunct="1">
              <a:lnSpc>
                <a:spcPct val="90000"/>
              </a:lnSpc>
            </a:pPr>
            <a:r>
              <a:rPr lang="it-IT" sz="1500" i="1" dirty="0"/>
              <a:t>Connect to a data source, </a:t>
            </a:r>
            <a:r>
              <a:rPr lang="it-IT" sz="1500" i="1" dirty="0" err="1"/>
              <a:t>like</a:t>
            </a:r>
            <a:r>
              <a:rPr lang="it-IT" sz="1500" i="1" dirty="0"/>
              <a:t> a database </a:t>
            </a:r>
          </a:p>
          <a:p>
            <a:pPr lvl="2" eaLnBrk="1" hangingPunct="1">
              <a:lnSpc>
                <a:spcPct val="90000"/>
              </a:lnSpc>
            </a:pPr>
            <a:r>
              <a:rPr lang="it-IT" sz="1500" i="1" dirty="0" err="1"/>
              <a:t>Send</a:t>
            </a:r>
            <a:r>
              <a:rPr lang="it-IT" sz="1500" i="1" dirty="0"/>
              <a:t> </a:t>
            </a:r>
            <a:r>
              <a:rPr lang="it-IT" sz="1500" i="1" dirty="0" err="1"/>
              <a:t>queries</a:t>
            </a:r>
            <a:r>
              <a:rPr lang="it-IT" sz="1500" i="1" dirty="0"/>
              <a:t> and update </a:t>
            </a:r>
            <a:r>
              <a:rPr lang="it-IT" sz="1500" i="1" dirty="0" err="1"/>
              <a:t>statements</a:t>
            </a:r>
            <a:r>
              <a:rPr lang="it-IT" sz="1500" i="1" dirty="0"/>
              <a:t> to the database </a:t>
            </a:r>
          </a:p>
          <a:p>
            <a:pPr lvl="2" eaLnBrk="1" hangingPunct="1">
              <a:lnSpc>
                <a:spcPct val="90000"/>
              </a:lnSpc>
            </a:pPr>
            <a:r>
              <a:rPr lang="it-IT" sz="1500" i="1" dirty="0" err="1"/>
              <a:t>Retrieve</a:t>
            </a:r>
            <a:r>
              <a:rPr lang="it-IT" sz="1500" i="1" dirty="0"/>
              <a:t> and </a:t>
            </a:r>
            <a:r>
              <a:rPr lang="it-IT" sz="1500" i="1" dirty="0" err="1"/>
              <a:t>process</a:t>
            </a:r>
            <a:r>
              <a:rPr lang="it-IT" sz="1500" i="1" dirty="0"/>
              <a:t> the </a:t>
            </a:r>
            <a:r>
              <a:rPr lang="it-IT" sz="1500" i="1" dirty="0" err="1"/>
              <a:t>results</a:t>
            </a:r>
            <a:r>
              <a:rPr lang="it-IT" sz="1500" i="1" dirty="0"/>
              <a:t> </a:t>
            </a:r>
            <a:r>
              <a:rPr lang="it-IT" sz="1500" i="1" dirty="0" err="1"/>
              <a:t>received</a:t>
            </a:r>
            <a:r>
              <a:rPr lang="it-IT" sz="1500" i="1" dirty="0"/>
              <a:t> from the database in </a:t>
            </a:r>
            <a:r>
              <a:rPr lang="it-IT" sz="1500" i="1" dirty="0" err="1"/>
              <a:t>answer</a:t>
            </a:r>
            <a:r>
              <a:rPr lang="it-IT" sz="1500" i="1" dirty="0"/>
              <a:t> to </a:t>
            </a:r>
            <a:r>
              <a:rPr lang="it-IT" sz="1500" i="1" dirty="0" err="1"/>
              <a:t>your</a:t>
            </a:r>
            <a:r>
              <a:rPr lang="it-IT" sz="1500" i="1" dirty="0"/>
              <a:t> </a:t>
            </a:r>
            <a:r>
              <a:rPr lang="it-IT" sz="1500" i="1" dirty="0" err="1"/>
              <a:t>query</a:t>
            </a:r>
            <a:r>
              <a:rPr lang="it-IT" sz="1500" i="1" dirty="0"/>
              <a:t> </a:t>
            </a:r>
          </a:p>
        </p:txBody>
      </p:sp>
    </p:spTree>
    <p:extLst>
      <p:ext uri="{BB962C8B-B14F-4D97-AF65-F5344CB8AC3E}">
        <p14:creationId xmlns:p14="http://schemas.microsoft.com/office/powerpoint/2010/main" val="1452079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it-IT" dirty="0"/>
              <a:t>Introduzione</a:t>
            </a:r>
          </a:p>
        </p:txBody>
      </p:sp>
      <p:sp>
        <p:nvSpPr>
          <p:cNvPr id="6147" name="Rectangle 3"/>
          <p:cNvSpPr>
            <a:spLocks noGrp="1" noChangeArrowheads="1"/>
          </p:cNvSpPr>
          <p:nvPr>
            <p:ph idx="1"/>
          </p:nvPr>
        </p:nvSpPr>
        <p:spPr/>
        <p:txBody>
          <a:bodyPr>
            <a:normAutofit/>
          </a:bodyPr>
          <a:lstStyle/>
          <a:p>
            <a:pPr eaLnBrk="1" hangingPunct="1"/>
            <a:r>
              <a:rPr lang="it-IT" dirty="0"/>
              <a:t>Un'applicazione che accede (in lettura e/o scrittura) ad una sorgente di dati (nel nostro caso un database relazionale) ha bisogno di fare le seguenti operazioni:</a:t>
            </a:r>
          </a:p>
          <a:p>
            <a:pPr marL="342900" lvl="1" indent="0">
              <a:buNone/>
            </a:pPr>
            <a:r>
              <a:rPr lang="it-IT" dirty="0"/>
              <a:t>1. aprire una "</a:t>
            </a:r>
            <a:r>
              <a:rPr lang="it-IT" b="1" dirty="0"/>
              <a:t>connessione</a:t>
            </a:r>
            <a:r>
              <a:rPr lang="it-IT" dirty="0"/>
              <a:t>" alla sorgente dati</a:t>
            </a:r>
          </a:p>
          <a:p>
            <a:pPr marL="342900" lvl="1" indent="0">
              <a:buNone/>
            </a:pPr>
            <a:r>
              <a:rPr lang="it-IT" dirty="0"/>
              <a:t>2. inviare attraverso la connessione istruzioni (di interrogazione o di aggiornamento) alla sorgente dati</a:t>
            </a:r>
          </a:p>
          <a:p>
            <a:pPr marL="342900" lvl="1" indent="0">
              <a:buNone/>
            </a:pPr>
            <a:r>
              <a:rPr lang="it-IT" dirty="0"/>
              <a:t>3. processare i risultati ricevuti dalla sorgente dati in risposta alle istruzioni inviate</a:t>
            </a:r>
          </a:p>
        </p:txBody>
      </p:sp>
    </p:spTree>
    <p:extLst>
      <p:ext uri="{BB962C8B-B14F-4D97-AF65-F5344CB8AC3E}">
        <p14:creationId xmlns:p14="http://schemas.microsoft.com/office/powerpoint/2010/main" val="1817059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it-IT" dirty="0"/>
              <a:t>Introduzione</a:t>
            </a:r>
          </a:p>
        </p:txBody>
      </p:sp>
      <p:sp>
        <p:nvSpPr>
          <p:cNvPr id="7171" name="Rectangle 3"/>
          <p:cNvSpPr>
            <a:spLocks noGrp="1" noChangeArrowheads="1"/>
          </p:cNvSpPr>
          <p:nvPr>
            <p:ph idx="1"/>
          </p:nvPr>
        </p:nvSpPr>
        <p:spPr/>
        <p:txBody>
          <a:bodyPr>
            <a:normAutofit lnSpcReduction="10000"/>
          </a:bodyPr>
          <a:lstStyle/>
          <a:p>
            <a:pPr eaLnBrk="1" hangingPunct="1"/>
            <a:r>
              <a:rPr lang="it-IT" dirty="0"/>
              <a:t>Le nostre sorgenti dati sono database gestiti da un DBMS</a:t>
            </a:r>
          </a:p>
          <a:p>
            <a:pPr eaLnBrk="1" hangingPunct="1"/>
            <a:r>
              <a:rPr lang="it-IT" dirty="0"/>
              <a:t>Ogni DBMS espone una interfaccia attraverso la quale può ricevere comandi SQL e restituire i risultati della loro esecuzione</a:t>
            </a:r>
          </a:p>
          <a:p>
            <a:pPr eaLnBrk="1" hangingPunct="1"/>
            <a:r>
              <a:rPr lang="it-IT" dirty="0"/>
              <a:t>Le applicazioni interagiscono con questa interfaccia attraverso un </a:t>
            </a:r>
            <a:r>
              <a:rPr lang="it-IT" b="1" dirty="0"/>
              <a:t>driver</a:t>
            </a:r>
          </a:p>
          <a:p>
            <a:pPr eaLnBrk="1" hangingPunct="1"/>
            <a:r>
              <a:rPr lang="it-IT" dirty="0"/>
              <a:t>Possiamo pensare il driver come un interprete che permette all'applicazione di dialogare con il DBMS attraverso un'interfaccia standard (JDBC)</a:t>
            </a:r>
          </a:p>
        </p:txBody>
      </p:sp>
    </p:spTree>
    <p:extLst>
      <p:ext uri="{BB962C8B-B14F-4D97-AF65-F5344CB8AC3E}">
        <p14:creationId xmlns:p14="http://schemas.microsoft.com/office/powerpoint/2010/main" val="401553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it-IT" dirty="0"/>
              <a:t>Architettura</a:t>
            </a:r>
          </a:p>
        </p:txBody>
      </p:sp>
      <p:sp>
        <p:nvSpPr>
          <p:cNvPr id="14339" name="AutoShape 3"/>
          <p:cNvSpPr>
            <a:spLocks noChangeArrowheads="1"/>
          </p:cNvSpPr>
          <p:nvPr/>
        </p:nvSpPr>
        <p:spPr bwMode="auto">
          <a:xfrm>
            <a:off x="2087167" y="1383507"/>
            <a:ext cx="3726656" cy="432197"/>
          </a:xfrm>
          <a:prstGeom prst="roundRect">
            <a:avLst>
              <a:gd name="adj" fmla="val 16667"/>
            </a:avLst>
          </a:prstGeom>
          <a:solidFill>
            <a:schemeClr val="bg1"/>
          </a:solidFill>
          <a:ln w="9525">
            <a:solidFill>
              <a:schemeClr val="tx1"/>
            </a:solidFill>
            <a:round/>
            <a:headEnd/>
            <a:tailEnd/>
          </a:ln>
        </p:spPr>
        <p:txBody>
          <a:bodyPr wrap="none" anchor="ctr"/>
          <a:lstStyle/>
          <a:p>
            <a:pPr algn="ctr" eaLnBrk="0" hangingPunct="0"/>
            <a:r>
              <a:rPr lang="it-IT" sz="1500" dirty="0">
                <a:solidFill>
                  <a:srgbClr val="000000"/>
                </a:solidFill>
                <a:latin typeface="Calibri Light" panose="020F0302020204030204" pitchFamily="34" charset="0"/>
              </a:rPr>
              <a:t>Applicazione Java</a:t>
            </a:r>
          </a:p>
        </p:txBody>
      </p:sp>
      <p:sp>
        <p:nvSpPr>
          <p:cNvPr id="14340" name="AutoShape 4"/>
          <p:cNvSpPr>
            <a:spLocks noChangeArrowheads="1"/>
          </p:cNvSpPr>
          <p:nvPr/>
        </p:nvSpPr>
        <p:spPr bwMode="auto">
          <a:xfrm>
            <a:off x="2087167" y="2031207"/>
            <a:ext cx="3726656" cy="432197"/>
          </a:xfrm>
          <a:prstGeom prst="roundRect">
            <a:avLst>
              <a:gd name="adj" fmla="val 16667"/>
            </a:avLst>
          </a:prstGeom>
          <a:solidFill>
            <a:srgbClr val="FFFFFF"/>
          </a:solidFill>
          <a:ln w="9525">
            <a:solidFill>
              <a:schemeClr val="tx1"/>
            </a:solidFill>
            <a:round/>
            <a:headEnd/>
            <a:tailEnd/>
          </a:ln>
        </p:spPr>
        <p:txBody>
          <a:bodyPr wrap="none" anchor="ctr"/>
          <a:lstStyle/>
          <a:p>
            <a:pPr algn="ctr" eaLnBrk="0" hangingPunct="0"/>
            <a:r>
              <a:rPr lang="it-IT" sz="1500" dirty="0">
                <a:solidFill>
                  <a:srgbClr val="000000"/>
                </a:solidFill>
                <a:latin typeface="Calibri Light" panose="020F0302020204030204" pitchFamily="34" charset="0"/>
              </a:rPr>
              <a:t>Driver Manager</a:t>
            </a:r>
          </a:p>
        </p:txBody>
      </p:sp>
      <p:grpSp>
        <p:nvGrpSpPr>
          <p:cNvPr id="2" name="Group 5"/>
          <p:cNvGrpSpPr>
            <a:grpSpLocks/>
          </p:cNvGrpSpPr>
          <p:nvPr/>
        </p:nvGrpSpPr>
        <p:grpSpPr bwMode="auto">
          <a:xfrm>
            <a:off x="2087167" y="2680098"/>
            <a:ext cx="1134665" cy="1944290"/>
            <a:chOff x="1292" y="2251"/>
            <a:chExt cx="953" cy="1633"/>
          </a:xfrm>
          <a:solidFill>
            <a:schemeClr val="bg1"/>
          </a:solidFill>
        </p:grpSpPr>
        <p:sp>
          <p:nvSpPr>
            <p:cNvPr id="8217" name="AutoShape 6"/>
            <p:cNvSpPr>
              <a:spLocks noChangeArrowheads="1"/>
            </p:cNvSpPr>
            <p:nvPr/>
          </p:nvSpPr>
          <p:spPr bwMode="auto">
            <a:xfrm>
              <a:off x="1292" y="2251"/>
              <a:ext cx="953" cy="363"/>
            </a:xfrm>
            <a:prstGeom prst="roundRect">
              <a:avLst>
                <a:gd name="adj" fmla="val 16667"/>
              </a:avLst>
            </a:prstGeom>
            <a:grpFill/>
            <a:ln w="9525">
              <a:solidFill>
                <a:schemeClr val="tx1"/>
              </a:solidFill>
              <a:round/>
              <a:headEnd/>
              <a:tailEnd/>
            </a:ln>
          </p:spPr>
          <p:txBody>
            <a:bodyPr wrap="none" anchor="ctr"/>
            <a:lstStyle/>
            <a:p>
              <a:pPr algn="ctr" eaLnBrk="0" hangingPunct="0"/>
              <a:r>
                <a:rPr lang="it-IT" sz="1500" dirty="0">
                  <a:solidFill>
                    <a:srgbClr val="000000"/>
                  </a:solidFill>
                  <a:latin typeface="Calibri Light" panose="020F0302020204030204" pitchFamily="34" charset="0"/>
                </a:rPr>
                <a:t>Driver</a:t>
              </a:r>
            </a:p>
          </p:txBody>
        </p:sp>
        <p:grpSp>
          <p:nvGrpSpPr>
            <p:cNvPr id="8218" name="Group 7"/>
            <p:cNvGrpSpPr>
              <a:grpSpLocks/>
            </p:cNvGrpSpPr>
            <p:nvPr/>
          </p:nvGrpSpPr>
          <p:grpSpPr bwMode="auto">
            <a:xfrm>
              <a:off x="1292" y="2795"/>
              <a:ext cx="953" cy="1089"/>
              <a:chOff x="1292" y="2795"/>
              <a:chExt cx="953" cy="1089"/>
            </a:xfrm>
            <a:grpFill/>
          </p:grpSpPr>
          <p:sp>
            <p:nvSpPr>
              <p:cNvPr id="8219" name="AutoShape 8"/>
              <p:cNvSpPr>
                <a:spLocks noChangeArrowheads="1"/>
              </p:cNvSpPr>
              <p:nvPr/>
            </p:nvSpPr>
            <p:spPr bwMode="auto">
              <a:xfrm>
                <a:off x="1292" y="2795"/>
                <a:ext cx="953" cy="1089"/>
              </a:xfrm>
              <a:prstGeom prst="roundRect">
                <a:avLst>
                  <a:gd name="adj" fmla="val 16667"/>
                </a:avLst>
              </a:prstGeom>
              <a:grpFill/>
              <a:ln w="9525">
                <a:solidFill>
                  <a:schemeClr val="tx1"/>
                </a:solidFill>
                <a:round/>
                <a:headEnd/>
                <a:tailEnd/>
              </a:ln>
            </p:spPr>
            <p:txBody>
              <a:bodyPr wrap="none" anchor="ctr"/>
              <a:lstStyle/>
              <a:p>
                <a:pPr algn="ctr" eaLnBrk="0" hangingPunct="0"/>
                <a:endParaRPr lang="en-US" sz="1500" dirty="0">
                  <a:solidFill>
                    <a:srgbClr val="000000"/>
                  </a:solidFill>
                  <a:latin typeface="Calibri Light" panose="020F0302020204030204" pitchFamily="34" charset="0"/>
                </a:endParaRPr>
              </a:p>
            </p:txBody>
          </p:sp>
          <p:sp>
            <p:nvSpPr>
              <p:cNvPr id="8220" name="AutoShape 9"/>
              <p:cNvSpPr>
                <a:spLocks noChangeArrowheads="1"/>
              </p:cNvSpPr>
              <p:nvPr/>
            </p:nvSpPr>
            <p:spPr bwMode="auto">
              <a:xfrm>
                <a:off x="1519" y="3339"/>
                <a:ext cx="454" cy="499"/>
              </a:xfrm>
              <a:prstGeom prst="can">
                <a:avLst>
                  <a:gd name="adj" fmla="val 27478"/>
                </a:avLst>
              </a:prstGeom>
              <a:grpFill/>
              <a:ln w="38100">
                <a:solidFill>
                  <a:schemeClr val="tx1"/>
                </a:solidFill>
                <a:round/>
                <a:headEnd/>
                <a:tailEnd/>
              </a:ln>
            </p:spPr>
            <p:txBody>
              <a:bodyPr wrap="none" anchor="ctr"/>
              <a:lstStyle/>
              <a:p>
                <a:pPr algn="ctr" eaLnBrk="0" hangingPunct="0">
                  <a:spcBef>
                    <a:spcPct val="20000"/>
                  </a:spcBef>
                </a:pPr>
                <a:endParaRPr lang="en-US" sz="1050" dirty="0">
                  <a:latin typeface="Calibri Light" panose="020F0302020204030204" pitchFamily="34" charset="0"/>
                </a:endParaRPr>
              </a:p>
            </p:txBody>
          </p:sp>
          <p:sp>
            <p:nvSpPr>
              <p:cNvPr id="8221" name="AutoShape 10"/>
              <p:cNvSpPr>
                <a:spLocks noChangeArrowheads="1"/>
              </p:cNvSpPr>
              <p:nvPr/>
            </p:nvSpPr>
            <p:spPr bwMode="auto">
              <a:xfrm>
                <a:off x="1463" y="2920"/>
                <a:ext cx="737" cy="300"/>
              </a:xfrm>
              <a:prstGeom prst="roundRect">
                <a:avLst>
                  <a:gd name="adj" fmla="val 16667"/>
                </a:avLst>
              </a:prstGeom>
              <a:grp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a:spAutoFit/>
              </a:bodyPr>
              <a:lstStyle/>
              <a:p>
                <a:pPr eaLnBrk="0" hangingPunct="0"/>
                <a:r>
                  <a:rPr lang="it-IT" sz="1500" dirty="0" err="1">
                    <a:solidFill>
                      <a:srgbClr val="000000"/>
                    </a:solidFill>
                    <a:latin typeface="Calibri Light" panose="020F0302020204030204" pitchFamily="34" charset="0"/>
                  </a:rPr>
                  <a:t>Postgres</a:t>
                </a:r>
                <a:endParaRPr lang="it-IT" sz="1500" dirty="0">
                  <a:solidFill>
                    <a:srgbClr val="000000"/>
                  </a:solidFill>
                  <a:latin typeface="Calibri Light" panose="020F0302020204030204" pitchFamily="34" charset="0"/>
                </a:endParaRPr>
              </a:p>
            </p:txBody>
          </p:sp>
        </p:grpSp>
      </p:grpSp>
      <p:grpSp>
        <p:nvGrpSpPr>
          <p:cNvPr id="4" name="Group 11"/>
          <p:cNvGrpSpPr>
            <a:grpSpLocks/>
          </p:cNvGrpSpPr>
          <p:nvPr/>
        </p:nvGrpSpPr>
        <p:grpSpPr bwMode="auto">
          <a:xfrm>
            <a:off x="4679157" y="2680098"/>
            <a:ext cx="1135856" cy="1944290"/>
            <a:chOff x="3469" y="2251"/>
            <a:chExt cx="954" cy="1633"/>
          </a:xfrm>
          <a:solidFill>
            <a:schemeClr val="bg1"/>
          </a:solidFill>
        </p:grpSpPr>
        <p:sp>
          <p:nvSpPr>
            <p:cNvPr id="8212" name="AutoShape 12"/>
            <p:cNvSpPr>
              <a:spLocks noChangeArrowheads="1"/>
            </p:cNvSpPr>
            <p:nvPr/>
          </p:nvSpPr>
          <p:spPr bwMode="auto">
            <a:xfrm>
              <a:off x="3470" y="2251"/>
              <a:ext cx="953" cy="363"/>
            </a:xfrm>
            <a:prstGeom prst="roundRect">
              <a:avLst>
                <a:gd name="adj" fmla="val 16667"/>
              </a:avLst>
            </a:prstGeom>
            <a:grpFill/>
            <a:ln w="9525">
              <a:solidFill>
                <a:schemeClr val="tx1"/>
              </a:solidFill>
              <a:round/>
              <a:headEnd/>
              <a:tailEnd/>
            </a:ln>
          </p:spPr>
          <p:txBody>
            <a:bodyPr wrap="none" anchor="ctr"/>
            <a:lstStyle/>
            <a:p>
              <a:pPr algn="ctr" eaLnBrk="0" hangingPunct="0"/>
              <a:r>
                <a:rPr lang="it-IT" sz="1500" dirty="0">
                  <a:solidFill>
                    <a:srgbClr val="000000"/>
                  </a:solidFill>
                  <a:latin typeface="Calibri Light" panose="020F0302020204030204" pitchFamily="34" charset="0"/>
                </a:rPr>
                <a:t>Driver</a:t>
              </a:r>
            </a:p>
          </p:txBody>
        </p:sp>
        <p:grpSp>
          <p:nvGrpSpPr>
            <p:cNvPr id="8213" name="Group 13"/>
            <p:cNvGrpSpPr>
              <a:grpSpLocks/>
            </p:cNvGrpSpPr>
            <p:nvPr/>
          </p:nvGrpSpPr>
          <p:grpSpPr bwMode="auto">
            <a:xfrm>
              <a:off x="3469" y="2795"/>
              <a:ext cx="953" cy="1089"/>
              <a:chOff x="3469" y="2795"/>
              <a:chExt cx="953" cy="1089"/>
            </a:xfrm>
            <a:grpFill/>
          </p:grpSpPr>
          <p:sp>
            <p:nvSpPr>
              <p:cNvPr id="8214" name="AutoShape 14"/>
              <p:cNvSpPr>
                <a:spLocks noChangeArrowheads="1"/>
              </p:cNvSpPr>
              <p:nvPr/>
            </p:nvSpPr>
            <p:spPr bwMode="auto">
              <a:xfrm>
                <a:off x="3469" y="2795"/>
                <a:ext cx="953" cy="1089"/>
              </a:xfrm>
              <a:prstGeom prst="roundRect">
                <a:avLst>
                  <a:gd name="adj" fmla="val 16667"/>
                </a:avLst>
              </a:prstGeom>
              <a:grpFill/>
              <a:ln w="9525">
                <a:solidFill>
                  <a:schemeClr val="tx1"/>
                </a:solidFill>
                <a:round/>
                <a:headEnd/>
                <a:tailEnd/>
              </a:ln>
            </p:spPr>
            <p:txBody>
              <a:bodyPr wrap="none" anchor="ctr"/>
              <a:lstStyle/>
              <a:p>
                <a:pPr algn="ctr" eaLnBrk="0" hangingPunct="0"/>
                <a:endParaRPr lang="en-US" sz="1500" dirty="0">
                  <a:solidFill>
                    <a:srgbClr val="000000"/>
                  </a:solidFill>
                  <a:latin typeface="Calibri Light" panose="020F0302020204030204" pitchFamily="34" charset="0"/>
                </a:endParaRPr>
              </a:p>
            </p:txBody>
          </p:sp>
          <p:sp>
            <p:nvSpPr>
              <p:cNvPr id="8215" name="Text Box 15"/>
              <p:cNvSpPr txBox="1">
                <a:spLocks noChangeArrowheads="1"/>
              </p:cNvSpPr>
              <p:nvPr/>
            </p:nvSpPr>
            <p:spPr bwMode="auto">
              <a:xfrm>
                <a:off x="3767" y="2840"/>
                <a:ext cx="419" cy="465"/>
              </a:xfrm>
              <a:prstGeom prst="rect">
                <a:avLst/>
              </a:prstGeom>
              <a:grp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ctr"/>
                <a:r>
                  <a:rPr lang="it-IT" sz="1500" dirty="0">
                    <a:solidFill>
                      <a:srgbClr val="000000"/>
                    </a:solidFill>
                    <a:latin typeface="Calibri Light" panose="020F0302020204030204" pitchFamily="34" charset="0"/>
                  </a:rPr>
                  <a:t>IBM</a:t>
                </a:r>
                <a:br>
                  <a:rPr lang="it-IT" sz="1500" dirty="0">
                    <a:solidFill>
                      <a:srgbClr val="000000"/>
                    </a:solidFill>
                    <a:latin typeface="Calibri Light" panose="020F0302020204030204" pitchFamily="34" charset="0"/>
                  </a:rPr>
                </a:br>
                <a:r>
                  <a:rPr lang="it-IT" sz="1500" dirty="0">
                    <a:solidFill>
                      <a:srgbClr val="000000"/>
                    </a:solidFill>
                    <a:latin typeface="Calibri Light" panose="020F0302020204030204" pitchFamily="34" charset="0"/>
                  </a:rPr>
                  <a:t>Db2</a:t>
                </a:r>
              </a:p>
            </p:txBody>
          </p:sp>
          <p:sp>
            <p:nvSpPr>
              <p:cNvPr id="8216" name="AutoShape 16"/>
              <p:cNvSpPr>
                <a:spLocks noChangeArrowheads="1"/>
              </p:cNvSpPr>
              <p:nvPr/>
            </p:nvSpPr>
            <p:spPr bwMode="auto">
              <a:xfrm>
                <a:off x="3741" y="3339"/>
                <a:ext cx="454" cy="499"/>
              </a:xfrm>
              <a:prstGeom prst="flowChartMagneticDisk">
                <a:avLst/>
              </a:prstGeom>
              <a:grpFill/>
              <a:ln w="38100">
                <a:solidFill>
                  <a:schemeClr val="tx1"/>
                </a:solidFill>
                <a:round/>
                <a:headEnd/>
                <a:tailEnd/>
              </a:ln>
            </p:spPr>
            <p:txBody>
              <a:bodyPr wrap="none" anchor="ctr"/>
              <a:lstStyle/>
              <a:p>
                <a:pPr algn="ctr" eaLnBrk="0" hangingPunct="0">
                  <a:spcBef>
                    <a:spcPct val="20000"/>
                  </a:spcBef>
                </a:pPr>
                <a:endParaRPr lang="en-US" sz="1050" dirty="0">
                  <a:latin typeface="Calibri Light" panose="020F0302020204030204" pitchFamily="34" charset="0"/>
                </a:endParaRPr>
              </a:p>
            </p:txBody>
          </p:sp>
        </p:grpSp>
      </p:grpSp>
      <p:grpSp>
        <p:nvGrpSpPr>
          <p:cNvPr id="6" name="Group 17"/>
          <p:cNvGrpSpPr>
            <a:grpSpLocks/>
          </p:cNvGrpSpPr>
          <p:nvPr/>
        </p:nvGrpSpPr>
        <p:grpSpPr bwMode="auto">
          <a:xfrm>
            <a:off x="3383756" y="2680098"/>
            <a:ext cx="1134666" cy="1944290"/>
            <a:chOff x="2381" y="2251"/>
            <a:chExt cx="953" cy="1633"/>
          </a:xfrm>
          <a:solidFill>
            <a:schemeClr val="bg1"/>
          </a:solidFill>
        </p:grpSpPr>
        <p:sp>
          <p:nvSpPr>
            <p:cNvPr id="8207" name="AutoShape 18"/>
            <p:cNvSpPr>
              <a:spLocks noChangeArrowheads="1"/>
            </p:cNvSpPr>
            <p:nvPr/>
          </p:nvSpPr>
          <p:spPr bwMode="auto">
            <a:xfrm>
              <a:off x="2381" y="2251"/>
              <a:ext cx="953" cy="363"/>
            </a:xfrm>
            <a:prstGeom prst="roundRect">
              <a:avLst>
                <a:gd name="adj" fmla="val 16667"/>
              </a:avLst>
            </a:prstGeom>
            <a:grp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algn="ctr" eaLnBrk="0" hangingPunct="0"/>
              <a:r>
                <a:rPr lang="it-IT" sz="1500" dirty="0">
                  <a:solidFill>
                    <a:srgbClr val="000000"/>
                  </a:solidFill>
                  <a:latin typeface="Calibri Light" panose="020F0302020204030204" pitchFamily="34" charset="0"/>
                </a:rPr>
                <a:t>Driver</a:t>
              </a:r>
            </a:p>
          </p:txBody>
        </p:sp>
        <p:grpSp>
          <p:nvGrpSpPr>
            <p:cNvPr id="8208" name="Group 19"/>
            <p:cNvGrpSpPr>
              <a:grpSpLocks/>
            </p:cNvGrpSpPr>
            <p:nvPr/>
          </p:nvGrpSpPr>
          <p:grpSpPr bwMode="auto">
            <a:xfrm>
              <a:off x="2381" y="2795"/>
              <a:ext cx="953" cy="1089"/>
              <a:chOff x="1292" y="2795"/>
              <a:chExt cx="953" cy="1089"/>
            </a:xfrm>
            <a:grpFill/>
          </p:grpSpPr>
          <p:sp>
            <p:nvSpPr>
              <p:cNvPr id="8209" name="AutoShape 20"/>
              <p:cNvSpPr>
                <a:spLocks noChangeArrowheads="1"/>
              </p:cNvSpPr>
              <p:nvPr/>
            </p:nvSpPr>
            <p:spPr bwMode="auto">
              <a:xfrm>
                <a:off x="1292" y="2795"/>
                <a:ext cx="953" cy="1089"/>
              </a:xfrm>
              <a:prstGeom prst="roundRect">
                <a:avLst>
                  <a:gd name="adj" fmla="val 16667"/>
                </a:avLst>
              </a:prstGeom>
              <a:grpFill/>
              <a:ln w="9525">
                <a:solidFill>
                  <a:schemeClr val="tx1"/>
                </a:solidFill>
                <a:round/>
                <a:headEnd/>
                <a:tailEnd/>
              </a:ln>
            </p:spPr>
            <p:txBody>
              <a:bodyPr wrap="none" anchor="ctr"/>
              <a:lstStyle/>
              <a:p>
                <a:pPr algn="ctr" eaLnBrk="0" hangingPunct="0"/>
                <a:endParaRPr lang="en-US" sz="1500" dirty="0">
                  <a:solidFill>
                    <a:srgbClr val="000000"/>
                  </a:solidFill>
                  <a:latin typeface="Calibri Light" panose="020F0302020204030204" pitchFamily="34" charset="0"/>
                </a:endParaRPr>
              </a:p>
            </p:txBody>
          </p:sp>
          <p:sp>
            <p:nvSpPr>
              <p:cNvPr id="8210" name="AutoShape 21"/>
              <p:cNvSpPr>
                <a:spLocks noChangeArrowheads="1"/>
              </p:cNvSpPr>
              <p:nvPr/>
            </p:nvSpPr>
            <p:spPr bwMode="auto">
              <a:xfrm>
                <a:off x="1519" y="3339"/>
                <a:ext cx="454" cy="499"/>
              </a:xfrm>
              <a:prstGeom prst="flowChartMagneticDisk">
                <a:avLst/>
              </a:prstGeom>
              <a:grpFill/>
              <a:ln w="38100">
                <a:solidFill>
                  <a:schemeClr val="tx1"/>
                </a:solidFill>
                <a:round/>
                <a:headEnd/>
                <a:tailEnd/>
              </a:ln>
            </p:spPr>
            <p:txBody>
              <a:bodyPr wrap="none" anchor="ctr"/>
              <a:lstStyle/>
              <a:p>
                <a:pPr algn="ctr" eaLnBrk="0" hangingPunct="0">
                  <a:spcBef>
                    <a:spcPct val="20000"/>
                  </a:spcBef>
                </a:pPr>
                <a:endParaRPr lang="en-US" sz="1050" dirty="0">
                  <a:latin typeface="Calibri Light" panose="020F0302020204030204" pitchFamily="34" charset="0"/>
                </a:endParaRPr>
              </a:p>
            </p:txBody>
          </p:sp>
          <p:sp>
            <p:nvSpPr>
              <p:cNvPr id="8211" name="Text Box 22"/>
              <p:cNvSpPr txBox="1">
                <a:spLocks noChangeArrowheads="1"/>
              </p:cNvSpPr>
              <p:nvPr/>
            </p:nvSpPr>
            <p:spPr bwMode="auto">
              <a:xfrm>
                <a:off x="1474" y="2931"/>
                <a:ext cx="572" cy="271"/>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r>
                  <a:rPr lang="it-IT" sz="1500" dirty="0">
                    <a:solidFill>
                      <a:srgbClr val="000000"/>
                    </a:solidFill>
                    <a:latin typeface="Calibri Light" panose="020F0302020204030204" pitchFamily="34" charset="0"/>
                  </a:rPr>
                  <a:t>Oracle</a:t>
                </a:r>
              </a:p>
            </p:txBody>
          </p:sp>
        </p:grpSp>
      </p:grpSp>
      <p:grpSp>
        <p:nvGrpSpPr>
          <p:cNvPr id="8" name="Group 23"/>
          <p:cNvGrpSpPr>
            <a:grpSpLocks/>
          </p:cNvGrpSpPr>
          <p:nvPr/>
        </p:nvGrpSpPr>
        <p:grpSpPr bwMode="auto">
          <a:xfrm>
            <a:off x="5813824" y="1364456"/>
            <a:ext cx="1881188" cy="1015603"/>
            <a:chOff x="3923" y="1146"/>
            <a:chExt cx="1580" cy="853"/>
          </a:xfrm>
        </p:grpSpPr>
        <p:sp>
          <p:nvSpPr>
            <p:cNvPr id="8205" name="Text Box 24"/>
            <p:cNvSpPr txBox="1">
              <a:spLocks noChangeArrowheads="1"/>
            </p:cNvSpPr>
            <p:nvPr/>
          </p:nvSpPr>
          <p:spPr bwMode="auto">
            <a:xfrm>
              <a:off x="4558" y="1146"/>
              <a:ext cx="945" cy="8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r>
                <a:rPr lang="it-IT" sz="1500" dirty="0">
                  <a:latin typeface="Calibri Light" panose="020F0302020204030204" pitchFamily="34" charset="0"/>
                </a:rPr>
                <a:t>utilizza</a:t>
              </a:r>
            </a:p>
            <a:p>
              <a:r>
                <a:rPr lang="it-IT" sz="1500" dirty="0">
                  <a:latin typeface="Calibri Light" panose="020F0302020204030204" pitchFamily="34" charset="0"/>
                </a:rPr>
                <a:t>le interfacce</a:t>
              </a:r>
            </a:p>
            <a:p>
              <a:r>
                <a:rPr lang="it-IT" sz="1500" dirty="0" err="1">
                  <a:latin typeface="Calibri Light" panose="020F0302020204030204" pitchFamily="34" charset="0"/>
                </a:rPr>
                <a:t>java.sql</a:t>
              </a:r>
              <a:endParaRPr lang="it-IT" sz="1500" dirty="0">
                <a:latin typeface="Calibri Light" panose="020F0302020204030204" pitchFamily="34" charset="0"/>
              </a:endParaRPr>
            </a:p>
            <a:p>
              <a:r>
                <a:rPr lang="it-IT" sz="1500" dirty="0">
                  <a:latin typeface="Calibri Light" panose="020F0302020204030204" pitchFamily="34" charset="0"/>
                </a:rPr>
                <a:t>e </a:t>
              </a:r>
              <a:r>
                <a:rPr lang="it-IT" sz="1500" dirty="0" err="1">
                  <a:latin typeface="Calibri Light" panose="020F0302020204030204" pitchFamily="34" charset="0"/>
                </a:rPr>
                <a:t>javax.sql</a:t>
              </a:r>
              <a:endParaRPr lang="it-IT" sz="1500" dirty="0">
                <a:latin typeface="Calibri Light" panose="020F0302020204030204" pitchFamily="34" charset="0"/>
              </a:endParaRPr>
            </a:p>
          </p:txBody>
        </p:sp>
        <p:cxnSp>
          <p:nvCxnSpPr>
            <p:cNvPr id="8206" name="AutoShape 25"/>
            <p:cNvCxnSpPr>
              <a:cxnSpLocks noChangeShapeType="1"/>
              <a:stCxn id="8205" idx="1"/>
              <a:endCxn id="14339" idx="3"/>
            </p:cNvCxnSpPr>
            <p:nvPr/>
          </p:nvCxnSpPr>
          <p:spPr bwMode="auto">
            <a:xfrm flipH="1" flipV="1">
              <a:off x="3923" y="1344"/>
              <a:ext cx="635" cy="229"/>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cxnSp>
      </p:grpSp>
      <p:grpSp>
        <p:nvGrpSpPr>
          <p:cNvPr id="9" name="Group 26"/>
          <p:cNvGrpSpPr>
            <a:grpSpLocks/>
          </p:cNvGrpSpPr>
          <p:nvPr/>
        </p:nvGrpSpPr>
        <p:grpSpPr bwMode="auto">
          <a:xfrm>
            <a:off x="5815013" y="2626519"/>
            <a:ext cx="2063353" cy="1015603"/>
            <a:chOff x="3924" y="2206"/>
            <a:chExt cx="1733" cy="853"/>
          </a:xfrm>
        </p:grpSpPr>
        <p:sp>
          <p:nvSpPr>
            <p:cNvPr id="8203" name="Text Box 27"/>
            <p:cNvSpPr txBox="1">
              <a:spLocks noChangeArrowheads="1"/>
            </p:cNvSpPr>
            <p:nvPr/>
          </p:nvSpPr>
          <p:spPr bwMode="auto">
            <a:xfrm>
              <a:off x="4558" y="2206"/>
              <a:ext cx="1099" cy="8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r>
                <a:rPr lang="it-IT" sz="1500" dirty="0">
                  <a:latin typeface="Calibri Light" panose="020F0302020204030204" pitchFamily="34" charset="0"/>
                </a:rPr>
                <a:t>implementano</a:t>
              </a:r>
            </a:p>
            <a:p>
              <a:r>
                <a:rPr lang="it-IT" sz="1500" dirty="0" err="1">
                  <a:latin typeface="Calibri Light" panose="020F0302020204030204" pitchFamily="34" charset="0"/>
                </a:rPr>
                <a:t>java.sql</a:t>
              </a:r>
              <a:r>
                <a:rPr lang="it-IT" sz="1500" dirty="0">
                  <a:latin typeface="Calibri Light" panose="020F0302020204030204" pitchFamily="34" charset="0"/>
                </a:rPr>
                <a:t> e,</a:t>
              </a:r>
            </a:p>
            <a:p>
              <a:r>
                <a:rPr lang="it-IT" sz="1500" dirty="0">
                  <a:latin typeface="Calibri Light" panose="020F0302020204030204" pitchFamily="34" charset="0"/>
                </a:rPr>
                <a:t>in alcuni casi</a:t>
              </a:r>
            </a:p>
            <a:p>
              <a:r>
                <a:rPr lang="it-IT" sz="1500" dirty="0" err="1">
                  <a:latin typeface="Calibri Light" panose="020F0302020204030204" pitchFamily="34" charset="0"/>
                </a:rPr>
                <a:t>javax.sql</a:t>
              </a:r>
              <a:endParaRPr lang="it-IT" sz="1500" dirty="0">
                <a:latin typeface="Calibri Light" panose="020F0302020204030204" pitchFamily="34" charset="0"/>
              </a:endParaRPr>
            </a:p>
          </p:txBody>
        </p:sp>
        <p:cxnSp>
          <p:nvCxnSpPr>
            <p:cNvPr id="8204" name="AutoShape 28"/>
            <p:cNvCxnSpPr>
              <a:cxnSpLocks noChangeShapeType="1"/>
              <a:stCxn id="8203" idx="1"/>
              <a:endCxn id="8212" idx="3"/>
            </p:cNvCxnSpPr>
            <p:nvPr/>
          </p:nvCxnSpPr>
          <p:spPr bwMode="auto">
            <a:xfrm flipH="1" flipV="1">
              <a:off x="3924" y="2433"/>
              <a:ext cx="634" cy="20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cxnSp>
      </p:grpSp>
      <p:sp>
        <p:nvSpPr>
          <p:cNvPr id="14365" name="Text Box 29"/>
          <p:cNvSpPr txBox="1">
            <a:spLocks noChangeArrowheads="1"/>
          </p:cNvSpPr>
          <p:nvPr/>
        </p:nvSpPr>
        <p:spPr bwMode="auto">
          <a:xfrm>
            <a:off x="6516291" y="3814763"/>
            <a:ext cx="1111715" cy="3231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r>
              <a:rPr lang="it-IT" sz="1500" dirty="0">
                <a:latin typeface="Calibri Light" panose="020F0302020204030204" pitchFamily="34" charset="0"/>
              </a:rPr>
              <a:t>Data-source</a:t>
            </a:r>
          </a:p>
        </p:txBody>
      </p:sp>
    </p:spTree>
    <p:extLst>
      <p:ext uri="{BB962C8B-B14F-4D97-AF65-F5344CB8AC3E}">
        <p14:creationId xmlns:p14="http://schemas.microsoft.com/office/powerpoint/2010/main" val="1487503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339"/>
                                        </p:tgtEl>
                                        <p:attrNameLst>
                                          <p:attrName>style.visibility</p:attrName>
                                        </p:attrNameLst>
                                      </p:cBhvr>
                                      <p:to>
                                        <p:strVal val="visible"/>
                                      </p:to>
                                    </p:set>
                                    <p:animEffect transition="in" filter="dissolve">
                                      <p:cBhvr>
                                        <p:cTn id="7" dur="500"/>
                                        <p:tgtEl>
                                          <p:spTgt spid="143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340"/>
                                        </p:tgtEl>
                                        <p:attrNameLst>
                                          <p:attrName>style.visibility</p:attrName>
                                        </p:attrNameLst>
                                      </p:cBhvr>
                                      <p:to>
                                        <p:strVal val="visible"/>
                                      </p:to>
                                    </p:set>
                                    <p:animEffect transition="in" filter="dissolve">
                                      <p:cBhvr>
                                        <p:cTn id="17" dur="500"/>
                                        <p:tgtEl>
                                          <p:spTgt spid="143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dissolve">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dissolve">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dissolve">
                                      <p:cBhvr>
                                        <p:cTn id="37" dur="500"/>
                                        <p:tgtEl>
                                          <p:spTgt spid="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4365"/>
                                        </p:tgtEl>
                                        <p:attrNameLst>
                                          <p:attrName>style.visibility</p:attrName>
                                        </p:attrNameLst>
                                      </p:cBhvr>
                                      <p:to>
                                        <p:strVal val="visible"/>
                                      </p:to>
                                    </p:set>
                                    <p:animEffect transition="in" filter="dissolve">
                                      <p:cBhvr>
                                        <p:cTn id="42" dur="500"/>
                                        <p:tgtEl>
                                          <p:spTgt spid="14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animBg="1"/>
      <p:bldP spid="14340" grpId="0" animBg="1"/>
      <p:bldP spid="1436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it-IT" dirty="0"/>
              <a:t>Esempio</a:t>
            </a:r>
          </a:p>
        </p:txBody>
      </p:sp>
      <p:sp>
        <p:nvSpPr>
          <p:cNvPr id="28675" name="Rectangle 3"/>
          <p:cNvSpPr>
            <a:spLocks noGrp="1" noChangeArrowheads="1"/>
          </p:cNvSpPr>
          <p:nvPr>
            <p:ph idx="1"/>
          </p:nvPr>
        </p:nvSpPr>
        <p:spPr/>
        <p:txBody>
          <a:bodyPr>
            <a:normAutofit/>
          </a:bodyPr>
          <a:lstStyle/>
          <a:p>
            <a:pPr eaLnBrk="1" hangingPunct="1">
              <a:lnSpc>
                <a:spcPct val="90000"/>
              </a:lnSpc>
            </a:pPr>
            <a:r>
              <a:rPr lang="it-IT" dirty="0"/>
              <a:t>Obiettivo: esemplificare l'API JDBC</a:t>
            </a:r>
          </a:p>
          <a:p>
            <a:pPr lvl="1" eaLnBrk="1" hangingPunct="1">
              <a:lnSpc>
                <a:spcPct val="90000"/>
              </a:lnSpc>
            </a:pPr>
            <a:r>
              <a:rPr lang="it-IT" dirty="0"/>
              <a:t>scriviamo codice che ha unicamente lo scopo di evidenziare l'uso della API JDBC</a:t>
            </a:r>
          </a:p>
          <a:p>
            <a:pPr lvl="1" eaLnBrk="1" hangingPunct="1">
              <a:lnSpc>
                <a:spcPct val="90000"/>
              </a:lnSpc>
            </a:pPr>
            <a:r>
              <a:rPr lang="it-IT" dirty="0"/>
              <a:t>non ci preoccupiamo (troppo) della qualità del codice</a:t>
            </a:r>
          </a:p>
          <a:p>
            <a:pPr eaLnBrk="1" hangingPunct="1"/>
            <a:r>
              <a:rPr lang="it-IT" dirty="0"/>
              <a:t>Operazioni</a:t>
            </a:r>
          </a:p>
          <a:p>
            <a:pPr lvl="1" eaLnBrk="1" hangingPunct="1"/>
            <a:r>
              <a:rPr lang="it-IT" dirty="0"/>
              <a:t>inserimento di una </a:t>
            </a:r>
            <a:r>
              <a:rPr lang="it-IT" dirty="0" err="1"/>
              <a:t>tupla</a:t>
            </a:r>
            <a:r>
              <a:rPr lang="it-IT" dirty="0"/>
              <a:t> nel </a:t>
            </a:r>
            <a:r>
              <a:rPr lang="it-IT" dirty="0" err="1"/>
              <a:t>db</a:t>
            </a:r>
            <a:endParaRPr lang="it-IT" dirty="0"/>
          </a:p>
          <a:p>
            <a:pPr lvl="1" eaLnBrk="1" hangingPunct="1"/>
            <a:r>
              <a:rPr lang="it-IT" dirty="0"/>
              <a:t>cancellazione di una </a:t>
            </a:r>
            <a:r>
              <a:rPr lang="it-IT" dirty="0" err="1"/>
              <a:t>tupla</a:t>
            </a:r>
            <a:endParaRPr lang="it-IT" dirty="0"/>
          </a:p>
          <a:p>
            <a:pPr lvl="1" eaLnBrk="1" hangingPunct="1"/>
            <a:r>
              <a:rPr lang="it-IT" dirty="0"/>
              <a:t>ricerca di un </a:t>
            </a:r>
            <a:r>
              <a:rPr lang="it-IT" dirty="0" err="1"/>
              <a:t>tupla</a:t>
            </a:r>
            <a:r>
              <a:rPr lang="it-IT" dirty="0"/>
              <a:t> per chiave primaria</a:t>
            </a:r>
          </a:p>
          <a:p>
            <a:pPr lvl="1" eaLnBrk="1" hangingPunct="1"/>
            <a:r>
              <a:rPr lang="it-IT" dirty="0"/>
              <a:t>ricerca di un insieme di </a:t>
            </a:r>
            <a:r>
              <a:rPr lang="it-IT" dirty="0" err="1"/>
              <a:t>tuple</a:t>
            </a:r>
            <a:r>
              <a:rPr lang="it-IT" dirty="0"/>
              <a:t> (per qualche proprietà)</a:t>
            </a:r>
          </a:p>
        </p:txBody>
      </p:sp>
    </p:spTree>
    <p:extLst>
      <p:ext uri="{BB962C8B-B14F-4D97-AF65-F5344CB8AC3E}">
        <p14:creationId xmlns:p14="http://schemas.microsoft.com/office/powerpoint/2010/main" val="115754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olo 1"/>
          <p:cNvSpPr>
            <a:spLocks noGrp="1"/>
          </p:cNvSpPr>
          <p:nvPr>
            <p:ph type="title"/>
          </p:nvPr>
        </p:nvSpPr>
        <p:spPr/>
        <p:txBody>
          <a:bodyPr/>
          <a:lstStyle/>
          <a:p>
            <a:pPr eaLnBrk="1" hangingPunct="1"/>
            <a:r>
              <a:rPr lang="it-IT" dirty="0"/>
              <a:t>Esempio</a:t>
            </a:r>
            <a:endParaRPr lang="en-US" dirty="0"/>
          </a:p>
        </p:txBody>
      </p:sp>
      <p:sp>
        <p:nvSpPr>
          <p:cNvPr id="14339" name="Segnaposto contenuto 2"/>
          <p:cNvSpPr>
            <a:spLocks noGrp="1"/>
          </p:cNvSpPr>
          <p:nvPr>
            <p:ph idx="1"/>
          </p:nvPr>
        </p:nvSpPr>
        <p:spPr>
          <a:xfrm>
            <a:off x="1485900" y="1200151"/>
            <a:ext cx="6172200" cy="3821594"/>
          </a:xfrm>
        </p:spPr>
        <p:txBody>
          <a:bodyPr>
            <a:normAutofit fontScale="92500" lnSpcReduction="10000"/>
          </a:bodyPr>
          <a:lstStyle/>
          <a:p>
            <a:pPr eaLnBrk="1" hangingPunct="1"/>
            <a:r>
              <a:rPr lang="it-IT" dirty="0"/>
              <a:t>Consideriamo la classe </a:t>
            </a:r>
            <a:r>
              <a:rPr lang="it-IT" b="1" dirty="0">
                <a:cs typeface="Courier New" charset="0"/>
              </a:rPr>
              <a:t>Studente</a:t>
            </a:r>
            <a:r>
              <a:rPr lang="it-IT" dirty="0"/>
              <a:t>:</a:t>
            </a:r>
          </a:p>
          <a:p>
            <a:pPr lvl="1" eaLnBrk="1" hangingPunct="1">
              <a:buFontTx/>
              <a:buNone/>
            </a:pPr>
            <a:r>
              <a:rPr lang="en-US" sz="1200" dirty="0">
                <a:latin typeface="Courier New" charset="0"/>
                <a:cs typeface="Courier New" charset="0"/>
              </a:rPr>
              <a:t>package it.uniroma3.model;</a:t>
            </a:r>
          </a:p>
          <a:p>
            <a:pPr lvl="1" eaLnBrk="1" hangingPunct="1">
              <a:buFontTx/>
              <a:buNone/>
            </a:pPr>
            <a:endParaRPr lang="en-US" sz="1200" dirty="0">
              <a:latin typeface="Courier New" charset="0"/>
              <a:cs typeface="Courier New" charset="0"/>
            </a:endParaRPr>
          </a:p>
          <a:p>
            <a:pPr lvl="1" eaLnBrk="1" hangingPunct="1">
              <a:buFontTx/>
              <a:buNone/>
            </a:pPr>
            <a:r>
              <a:rPr lang="en-US" sz="1200" dirty="0">
                <a:latin typeface="Courier New" charset="0"/>
                <a:cs typeface="Courier New" charset="0"/>
              </a:rPr>
              <a:t>import </a:t>
            </a:r>
            <a:r>
              <a:rPr lang="en-US" sz="1200" dirty="0" err="1">
                <a:latin typeface="Courier New" charset="0"/>
                <a:cs typeface="Courier New" charset="0"/>
              </a:rPr>
              <a:t>java.util</a:t>
            </a:r>
            <a:r>
              <a:rPr lang="en-US" sz="1200" dirty="0">
                <a:latin typeface="Courier New" charset="0"/>
                <a:cs typeface="Courier New" charset="0"/>
              </a:rPr>
              <a:t>. Date;</a:t>
            </a:r>
          </a:p>
          <a:p>
            <a:pPr lvl="1" eaLnBrk="1" hangingPunct="1">
              <a:buFontTx/>
              <a:buNone/>
            </a:pPr>
            <a:r>
              <a:rPr lang="en-US" sz="1200" dirty="0">
                <a:latin typeface="Courier New" charset="0"/>
                <a:cs typeface="Courier New" charset="0"/>
              </a:rPr>
              <a:t>public class </a:t>
            </a:r>
            <a:r>
              <a:rPr lang="en-US" sz="1200" dirty="0" err="1">
                <a:latin typeface="Courier New" charset="0"/>
                <a:cs typeface="Courier New" charset="0"/>
              </a:rPr>
              <a:t>Studente</a:t>
            </a:r>
            <a:r>
              <a:rPr lang="en-US" sz="1200" dirty="0">
                <a:latin typeface="Courier New" charset="0"/>
                <a:cs typeface="Courier New" charset="0"/>
              </a:rPr>
              <a:t> {</a:t>
            </a:r>
          </a:p>
          <a:p>
            <a:pPr lvl="1" eaLnBrk="1" hangingPunct="1">
              <a:buFontTx/>
              <a:buNone/>
            </a:pPr>
            <a:r>
              <a:rPr lang="en-US" sz="1200" dirty="0">
                <a:latin typeface="Courier New" charset="0"/>
                <a:cs typeface="Courier New" charset="0"/>
              </a:rPr>
              <a:t>		private String </a:t>
            </a:r>
            <a:r>
              <a:rPr lang="en-US" sz="1200" dirty="0" err="1">
                <a:latin typeface="Courier New" charset="0"/>
                <a:cs typeface="Courier New" charset="0"/>
              </a:rPr>
              <a:t>matricola</a:t>
            </a:r>
            <a:r>
              <a:rPr lang="en-US" sz="1200" dirty="0">
                <a:latin typeface="Courier New" charset="0"/>
                <a:cs typeface="Courier New" charset="0"/>
              </a:rPr>
              <a:t>;</a:t>
            </a:r>
          </a:p>
          <a:p>
            <a:pPr lvl="1" eaLnBrk="1" hangingPunct="1">
              <a:buFontTx/>
              <a:buNone/>
            </a:pPr>
            <a:r>
              <a:rPr lang="en-US" sz="1200" dirty="0">
                <a:latin typeface="Courier New" charset="0"/>
                <a:cs typeface="Courier New" charset="0"/>
              </a:rPr>
              <a:t>		private String </a:t>
            </a:r>
            <a:r>
              <a:rPr lang="en-US" sz="1200" dirty="0" err="1">
                <a:latin typeface="Courier New" charset="0"/>
                <a:cs typeface="Courier New" charset="0"/>
              </a:rPr>
              <a:t>nome</a:t>
            </a:r>
            <a:r>
              <a:rPr lang="en-US" sz="1200" dirty="0">
                <a:latin typeface="Courier New" charset="0"/>
                <a:cs typeface="Courier New" charset="0"/>
              </a:rPr>
              <a:t>;</a:t>
            </a:r>
          </a:p>
          <a:p>
            <a:pPr lvl="1" eaLnBrk="1" hangingPunct="1">
              <a:buFontTx/>
              <a:buNone/>
            </a:pPr>
            <a:r>
              <a:rPr lang="en-US" sz="1200" dirty="0">
                <a:latin typeface="Courier New" charset="0"/>
                <a:cs typeface="Courier New" charset="0"/>
              </a:rPr>
              <a:t>		private String </a:t>
            </a:r>
            <a:r>
              <a:rPr lang="en-US" sz="1200" dirty="0" err="1">
                <a:latin typeface="Courier New" charset="0"/>
                <a:cs typeface="Courier New" charset="0"/>
              </a:rPr>
              <a:t>cognome</a:t>
            </a:r>
            <a:r>
              <a:rPr lang="en-US" sz="1200" dirty="0">
                <a:latin typeface="Courier New" charset="0"/>
                <a:cs typeface="Courier New" charset="0"/>
              </a:rPr>
              <a:t>;</a:t>
            </a:r>
          </a:p>
          <a:p>
            <a:pPr lvl="1" eaLnBrk="1" hangingPunct="1">
              <a:buFontTx/>
              <a:buNone/>
            </a:pPr>
            <a:r>
              <a:rPr lang="en-US" sz="1200" dirty="0">
                <a:latin typeface="Courier New" charset="0"/>
                <a:cs typeface="Courier New" charset="0"/>
              </a:rPr>
              <a:t>		private Date </a:t>
            </a:r>
            <a:r>
              <a:rPr lang="en-US" sz="1200" dirty="0" err="1">
                <a:latin typeface="Courier New" charset="0"/>
                <a:cs typeface="Courier New" charset="0"/>
              </a:rPr>
              <a:t>dataNascita</a:t>
            </a:r>
            <a:r>
              <a:rPr lang="en-US" sz="1200" dirty="0">
                <a:latin typeface="Courier New" charset="0"/>
                <a:cs typeface="Courier New" charset="0"/>
              </a:rPr>
              <a:t>;</a:t>
            </a:r>
          </a:p>
          <a:p>
            <a:pPr lvl="1" eaLnBrk="1" hangingPunct="1">
              <a:buFontTx/>
              <a:buNone/>
            </a:pPr>
            <a:endParaRPr lang="en-US" sz="1200" dirty="0">
              <a:latin typeface="Courier New" charset="0"/>
              <a:cs typeface="Courier New" charset="0"/>
            </a:endParaRPr>
          </a:p>
          <a:p>
            <a:pPr lvl="1" eaLnBrk="1" hangingPunct="1">
              <a:buFontTx/>
              <a:buNone/>
            </a:pPr>
            <a:r>
              <a:rPr lang="en-US" sz="1200" dirty="0">
                <a:latin typeface="Courier New" charset="0"/>
                <a:cs typeface="Courier New" charset="0"/>
              </a:rPr>
              <a:t>		public </a:t>
            </a:r>
            <a:r>
              <a:rPr lang="en-US" sz="1200" dirty="0" err="1">
                <a:latin typeface="Courier New" charset="0"/>
                <a:cs typeface="Courier New" charset="0"/>
              </a:rPr>
              <a:t>Studente</a:t>
            </a:r>
            <a:r>
              <a:rPr lang="en-US" sz="1200" dirty="0">
                <a:latin typeface="Courier New" charset="0"/>
                <a:cs typeface="Courier New" charset="0"/>
              </a:rPr>
              <a:t>(){}</a:t>
            </a:r>
          </a:p>
          <a:p>
            <a:pPr lvl="1" eaLnBrk="1" hangingPunct="1">
              <a:buFontTx/>
              <a:buNone/>
            </a:pPr>
            <a:r>
              <a:rPr lang="en-US" sz="1200" dirty="0">
                <a:latin typeface="Courier New" charset="0"/>
                <a:cs typeface="Courier New" charset="0"/>
              </a:rPr>
              <a:t>		public String </a:t>
            </a:r>
            <a:r>
              <a:rPr lang="en-US" sz="1200" dirty="0" err="1">
                <a:latin typeface="Courier New" charset="0"/>
                <a:cs typeface="Courier New" charset="0"/>
              </a:rPr>
              <a:t>getNome</a:t>
            </a:r>
            <a:r>
              <a:rPr lang="en-US" sz="1200" dirty="0">
                <a:latin typeface="Courier New" charset="0"/>
                <a:cs typeface="Courier New" charset="0"/>
              </a:rPr>
              <a:t>() {</a:t>
            </a:r>
          </a:p>
          <a:p>
            <a:pPr eaLnBrk="1" hangingPunct="1">
              <a:buFontTx/>
              <a:buNone/>
            </a:pPr>
            <a:r>
              <a:rPr lang="en-US" sz="1200" dirty="0">
                <a:latin typeface="Courier New" charset="0"/>
                <a:cs typeface="Courier New" charset="0"/>
              </a:rPr>
              <a:t>				return </a:t>
            </a:r>
            <a:r>
              <a:rPr lang="en-US" sz="1200" dirty="0" err="1">
                <a:latin typeface="Courier New" charset="0"/>
                <a:cs typeface="Courier New" charset="0"/>
              </a:rPr>
              <a:t>this.nome</a:t>
            </a:r>
            <a:r>
              <a:rPr lang="en-US" sz="1200" dirty="0">
                <a:latin typeface="Courier New" charset="0"/>
                <a:cs typeface="Courier New" charset="0"/>
              </a:rPr>
              <a:t>;</a:t>
            </a:r>
          </a:p>
          <a:p>
            <a:pPr eaLnBrk="1" hangingPunct="1">
              <a:buFontTx/>
              <a:buNone/>
            </a:pPr>
            <a:r>
              <a:rPr lang="en-US" sz="1200" dirty="0">
                <a:latin typeface="Courier New" charset="0"/>
                <a:cs typeface="Courier New" charset="0"/>
              </a:rPr>
              <a:t>	    	}</a:t>
            </a:r>
          </a:p>
          <a:p>
            <a:pPr eaLnBrk="1" hangingPunct="1">
              <a:buFontTx/>
              <a:buNone/>
            </a:pPr>
            <a:r>
              <a:rPr lang="en-US" sz="1200" dirty="0">
                <a:latin typeface="Courier New" charset="0"/>
                <a:cs typeface="Courier New" charset="0"/>
              </a:rPr>
              <a:t>			public void </a:t>
            </a:r>
            <a:r>
              <a:rPr lang="en-US" sz="1200" dirty="0" err="1">
                <a:latin typeface="Courier New" charset="0"/>
                <a:cs typeface="Courier New" charset="0"/>
              </a:rPr>
              <a:t>setNome</a:t>
            </a:r>
            <a:r>
              <a:rPr lang="en-US" sz="1200" dirty="0">
                <a:latin typeface="Courier New" charset="0"/>
                <a:cs typeface="Courier New" charset="0"/>
              </a:rPr>
              <a:t>(String </a:t>
            </a:r>
            <a:r>
              <a:rPr lang="en-US" sz="1200" dirty="0" err="1">
                <a:latin typeface="Courier New" charset="0"/>
                <a:cs typeface="Courier New" charset="0"/>
              </a:rPr>
              <a:t>nome</a:t>
            </a:r>
            <a:r>
              <a:rPr lang="en-US" sz="1200" dirty="0">
                <a:latin typeface="Courier New" charset="0"/>
                <a:cs typeface="Courier New" charset="0"/>
              </a:rPr>
              <a:t>) {</a:t>
            </a:r>
          </a:p>
          <a:p>
            <a:pPr eaLnBrk="1" hangingPunct="1">
              <a:buFontTx/>
              <a:buNone/>
            </a:pPr>
            <a:r>
              <a:rPr lang="en-US" sz="1200" dirty="0">
                <a:latin typeface="Courier New" charset="0"/>
                <a:cs typeface="Courier New" charset="0"/>
              </a:rPr>
              <a:t>				</a:t>
            </a:r>
            <a:r>
              <a:rPr lang="en-US" sz="1200" dirty="0" err="1">
                <a:latin typeface="Courier New" charset="0"/>
                <a:cs typeface="Courier New" charset="0"/>
              </a:rPr>
              <a:t>this.nome</a:t>
            </a:r>
            <a:r>
              <a:rPr lang="en-US" sz="1200" dirty="0">
                <a:latin typeface="Courier New" charset="0"/>
                <a:cs typeface="Courier New" charset="0"/>
              </a:rPr>
              <a:t> = </a:t>
            </a:r>
            <a:r>
              <a:rPr lang="en-US" sz="1200" dirty="0" err="1">
                <a:latin typeface="Courier New" charset="0"/>
                <a:cs typeface="Courier New" charset="0"/>
              </a:rPr>
              <a:t>nome</a:t>
            </a:r>
            <a:r>
              <a:rPr lang="en-US" sz="1200" dirty="0">
                <a:latin typeface="Courier New" charset="0"/>
                <a:cs typeface="Courier New" charset="0"/>
              </a:rPr>
              <a:t>;</a:t>
            </a:r>
          </a:p>
          <a:p>
            <a:pPr eaLnBrk="1" hangingPunct="1">
              <a:buFontTx/>
              <a:buNone/>
            </a:pPr>
            <a:r>
              <a:rPr lang="en-US" sz="1200" dirty="0">
                <a:latin typeface="Courier New" charset="0"/>
                <a:cs typeface="Courier New" charset="0"/>
              </a:rPr>
              <a:t>		  	}</a:t>
            </a:r>
          </a:p>
          <a:p>
            <a:pPr lvl="1" eaLnBrk="1" hangingPunct="1">
              <a:buFontTx/>
              <a:buNone/>
            </a:pPr>
            <a:r>
              <a:rPr lang="it-IT" sz="1200" dirty="0">
                <a:latin typeface="Courier New" charset="0"/>
                <a:cs typeface="Courier New" charset="0"/>
              </a:rPr>
              <a:t>	// seguono gli altri metodi </a:t>
            </a:r>
            <a:r>
              <a:rPr lang="it-IT" sz="1200" dirty="0" err="1">
                <a:latin typeface="Courier New" charset="0"/>
                <a:cs typeface="Courier New" charset="0"/>
              </a:rPr>
              <a:t>getter</a:t>
            </a:r>
            <a:r>
              <a:rPr lang="it-IT" sz="1200" dirty="0">
                <a:latin typeface="Courier New" charset="0"/>
                <a:cs typeface="Courier New" charset="0"/>
              </a:rPr>
              <a:t> e setter</a:t>
            </a:r>
          </a:p>
          <a:p>
            <a:pPr lvl="1" eaLnBrk="1" hangingPunct="1">
              <a:buFontTx/>
              <a:buNone/>
            </a:pPr>
            <a:r>
              <a:rPr lang="it-IT" sz="1200" dirty="0">
                <a:latin typeface="Courier New" charset="0"/>
                <a:cs typeface="Courier New" charset="0"/>
              </a:rPr>
              <a:t>}</a:t>
            </a:r>
            <a:endParaRPr lang="en-US" sz="1200" dirty="0">
              <a:latin typeface="Courier New" charset="0"/>
              <a:cs typeface="Courier New" charset="0"/>
            </a:endParaRPr>
          </a:p>
        </p:txBody>
      </p:sp>
    </p:spTree>
    <p:extLst>
      <p:ext uri="{BB962C8B-B14F-4D97-AF65-F5344CB8AC3E}">
        <p14:creationId xmlns:p14="http://schemas.microsoft.com/office/powerpoint/2010/main" val="3534826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it-IT" dirty="0"/>
              <a:t>Esempio</a:t>
            </a:r>
            <a:endParaRPr lang="en-US" dirty="0"/>
          </a:p>
        </p:txBody>
      </p:sp>
      <p:sp>
        <p:nvSpPr>
          <p:cNvPr id="15363" name="Rectangle 11"/>
          <p:cNvSpPr>
            <a:spLocks noGrp="1" noChangeArrowheads="1"/>
          </p:cNvSpPr>
          <p:nvPr>
            <p:ph sz="half" idx="1"/>
          </p:nvPr>
        </p:nvSpPr>
        <p:spPr>
          <a:xfrm>
            <a:off x="1485900" y="941435"/>
            <a:ext cx="6407944" cy="3398478"/>
          </a:xfrm>
        </p:spPr>
        <p:txBody>
          <a:bodyPr/>
          <a:lstStyle/>
          <a:p>
            <a:pPr marL="0" indent="0">
              <a:lnSpc>
                <a:spcPct val="90000"/>
              </a:lnSpc>
              <a:buNone/>
            </a:pPr>
            <a:r>
              <a:rPr lang="it-IT" sz="2400" dirty="0"/>
              <a:t>Per memorizzare i suoi dati creiamo una tabella in un database relazionale</a:t>
            </a:r>
            <a:endParaRPr lang="en-US" sz="2400" dirty="0"/>
          </a:p>
          <a:p>
            <a:pPr eaLnBrk="1" hangingPunct="1">
              <a:lnSpc>
                <a:spcPct val="80000"/>
              </a:lnSpc>
              <a:buFontTx/>
              <a:buNone/>
            </a:pPr>
            <a:endParaRPr lang="en-US" sz="1500" b="1" dirty="0">
              <a:latin typeface="Courier New" charset="0"/>
            </a:endParaRPr>
          </a:p>
          <a:p>
            <a:pPr eaLnBrk="1" hangingPunct="1">
              <a:lnSpc>
                <a:spcPct val="80000"/>
              </a:lnSpc>
              <a:buFontTx/>
              <a:buNone/>
            </a:pPr>
            <a:r>
              <a:rPr lang="en-US" sz="1500" dirty="0">
                <a:latin typeface="Courier New" charset="0"/>
              </a:rPr>
              <a:t>CREATE DATABASE university;</a:t>
            </a:r>
          </a:p>
          <a:p>
            <a:pPr eaLnBrk="1" hangingPunct="1">
              <a:lnSpc>
                <a:spcPct val="80000"/>
              </a:lnSpc>
              <a:buFontTx/>
              <a:buNone/>
            </a:pPr>
            <a:endParaRPr lang="en-US" sz="1500" dirty="0">
              <a:latin typeface="Courier New" charset="0"/>
            </a:endParaRPr>
          </a:p>
          <a:p>
            <a:pPr eaLnBrk="1" hangingPunct="1">
              <a:lnSpc>
                <a:spcPct val="80000"/>
              </a:lnSpc>
              <a:buFontTx/>
              <a:buNone/>
            </a:pPr>
            <a:r>
              <a:rPr lang="en-US" sz="1500" dirty="0">
                <a:latin typeface="Courier New" charset="0"/>
              </a:rPr>
              <a:t>CREATE TABLE </a:t>
            </a:r>
            <a:r>
              <a:rPr lang="en-US" sz="1500" dirty="0" err="1">
                <a:latin typeface="Courier New" charset="0"/>
              </a:rPr>
              <a:t>studente</a:t>
            </a:r>
            <a:endParaRPr lang="en-US" sz="1500" dirty="0">
              <a:latin typeface="Courier New" charset="0"/>
            </a:endParaRPr>
          </a:p>
          <a:p>
            <a:pPr eaLnBrk="1" hangingPunct="1">
              <a:lnSpc>
                <a:spcPct val="80000"/>
              </a:lnSpc>
              <a:buFontTx/>
              <a:buNone/>
            </a:pPr>
            <a:r>
              <a:rPr lang="en-US" sz="1500" dirty="0">
                <a:latin typeface="Courier New" charset="0"/>
              </a:rPr>
              <a:t>(</a:t>
            </a:r>
          </a:p>
          <a:p>
            <a:pPr eaLnBrk="1" hangingPunct="1">
              <a:lnSpc>
                <a:spcPct val="80000"/>
              </a:lnSpc>
              <a:buFontTx/>
              <a:buNone/>
            </a:pPr>
            <a:r>
              <a:rPr lang="en-US" sz="1500" dirty="0">
                <a:latin typeface="Courier New" charset="0"/>
              </a:rPr>
              <a:t>	</a:t>
            </a:r>
            <a:r>
              <a:rPr lang="en-US" sz="1500" dirty="0" err="1">
                <a:latin typeface="Courier New" charset="0"/>
              </a:rPr>
              <a:t>matricola</a:t>
            </a:r>
            <a:r>
              <a:rPr lang="en-US" sz="1500" dirty="0">
                <a:latin typeface="Courier New" charset="0"/>
              </a:rPr>
              <a:t> character(8), </a:t>
            </a:r>
          </a:p>
          <a:p>
            <a:pPr eaLnBrk="1" hangingPunct="1">
              <a:lnSpc>
                <a:spcPct val="80000"/>
              </a:lnSpc>
              <a:buFontTx/>
              <a:buNone/>
            </a:pPr>
            <a:r>
              <a:rPr lang="en-US" sz="1500" dirty="0">
                <a:latin typeface="Courier New" charset="0"/>
              </a:rPr>
              <a:t>	</a:t>
            </a:r>
            <a:r>
              <a:rPr lang="en-US" sz="1500" dirty="0" err="1">
                <a:latin typeface="Courier New" charset="0"/>
              </a:rPr>
              <a:t>nome</a:t>
            </a:r>
            <a:r>
              <a:rPr lang="en-US" sz="1500" dirty="0">
                <a:latin typeface="Courier New" charset="0"/>
              </a:rPr>
              <a:t> character varying(64) NOT NULL,</a:t>
            </a:r>
          </a:p>
          <a:p>
            <a:pPr eaLnBrk="1" hangingPunct="1">
              <a:lnSpc>
                <a:spcPct val="80000"/>
              </a:lnSpc>
              <a:buFontTx/>
              <a:buNone/>
            </a:pPr>
            <a:r>
              <a:rPr lang="en-US" sz="1500" dirty="0">
                <a:latin typeface="Courier New" charset="0"/>
              </a:rPr>
              <a:t>	</a:t>
            </a:r>
            <a:r>
              <a:rPr lang="en-US" sz="1500" dirty="0" err="1">
                <a:latin typeface="Courier New" charset="0"/>
              </a:rPr>
              <a:t>cognome</a:t>
            </a:r>
            <a:r>
              <a:rPr lang="en-US" sz="1500" dirty="0">
                <a:latin typeface="Courier New" charset="0"/>
              </a:rPr>
              <a:t> character varying(64) NOT NULL,</a:t>
            </a:r>
          </a:p>
          <a:p>
            <a:pPr eaLnBrk="1" hangingPunct="1">
              <a:lnSpc>
                <a:spcPct val="80000"/>
              </a:lnSpc>
              <a:buFontTx/>
              <a:buNone/>
            </a:pPr>
            <a:r>
              <a:rPr lang="en-US" sz="1500" dirty="0">
                <a:latin typeface="Courier New" charset="0"/>
              </a:rPr>
              <a:t>	</a:t>
            </a:r>
            <a:r>
              <a:rPr lang="en-US" sz="1500" dirty="0" err="1">
                <a:latin typeface="Courier New" charset="0"/>
              </a:rPr>
              <a:t>datanascita</a:t>
            </a:r>
            <a:r>
              <a:rPr lang="en-US" sz="1500" dirty="0">
                <a:latin typeface="Courier New" charset="0"/>
              </a:rPr>
              <a:t> date NOT NULL,</a:t>
            </a:r>
          </a:p>
          <a:p>
            <a:pPr eaLnBrk="1" hangingPunct="1">
              <a:lnSpc>
                <a:spcPct val="80000"/>
              </a:lnSpc>
              <a:buFontTx/>
              <a:buNone/>
            </a:pPr>
            <a:r>
              <a:rPr lang="en-US" sz="1500" dirty="0">
                <a:latin typeface="Courier New" charset="0"/>
              </a:rPr>
              <a:t>	CONSTRAINT </a:t>
            </a:r>
            <a:r>
              <a:rPr lang="en-US" sz="1500" dirty="0" err="1">
                <a:latin typeface="Courier New" charset="0"/>
              </a:rPr>
              <a:t>pk_studente</a:t>
            </a:r>
            <a:r>
              <a:rPr lang="en-US" sz="1500" dirty="0">
                <a:latin typeface="Courier New" charset="0"/>
              </a:rPr>
              <a:t> PRIMARY KEY (</a:t>
            </a:r>
            <a:r>
              <a:rPr lang="en-US" sz="1500" dirty="0" err="1">
                <a:latin typeface="Courier New" charset="0"/>
              </a:rPr>
              <a:t>matricola</a:t>
            </a:r>
            <a:r>
              <a:rPr lang="en-US" sz="1500" dirty="0">
                <a:latin typeface="Courier New" charset="0"/>
              </a:rPr>
              <a:t>)</a:t>
            </a:r>
          </a:p>
          <a:p>
            <a:pPr eaLnBrk="1" hangingPunct="1">
              <a:lnSpc>
                <a:spcPct val="80000"/>
              </a:lnSpc>
              <a:buFontTx/>
              <a:buNone/>
            </a:pPr>
            <a:r>
              <a:rPr lang="en-US" sz="1500" dirty="0">
                <a:latin typeface="Courier New" charset="0"/>
              </a:rPr>
              <a:t>)</a:t>
            </a:r>
          </a:p>
          <a:p>
            <a:pPr eaLnBrk="1" hangingPunct="1">
              <a:lnSpc>
                <a:spcPct val="80000"/>
              </a:lnSpc>
              <a:buFontTx/>
              <a:buNone/>
            </a:pPr>
            <a:endParaRPr lang="en-US" sz="1500" b="1" dirty="0">
              <a:latin typeface="Courier New" charset="0"/>
            </a:endParaRPr>
          </a:p>
        </p:txBody>
      </p:sp>
    </p:spTree>
    <p:extLst>
      <p:ext uri="{BB962C8B-B14F-4D97-AF65-F5344CB8AC3E}">
        <p14:creationId xmlns:p14="http://schemas.microsoft.com/office/powerpoint/2010/main" val="313038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it-IT" dirty="0"/>
              <a:t>Le classi fondamentali di JDBC</a:t>
            </a:r>
          </a:p>
        </p:txBody>
      </p:sp>
      <p:sp>
        <p:nvSpPr>
          <p:cNvPr id="38915" name="Rectangle 3"/>
          <p:cNvSpPr>
            <a:spLocks noGrp="1" noChangeArrowheads="1"/>
          </p:cNvSpPr>
          <p:nvPr>
            <p:ph idx="1"/>
          </p:nvPr>
        </p:nvSpPr>
        <p:spPr/>
        <p:txBody>
          <a:bodyPr>
            <a:normAutofit/>
          </a:bodyPr>
          <a:lstStyle/>
          <a:p>
            <a:pPr eaLnBrk="1" hangingPunct="1"/>
            <a:r>
              <a:rPr lang="it-IT" dirty="0"/>
              <a:t>Classe </a:t>
            </a:r>
            <a:r>
              <a:rPr lang="it-IT" b="1" dirty="0" err="1">
                <a:latin typeface="Courier New" charset="0"/>
              </a:rPr>
              <a:t>DriverManager</a:t>
            </a:r>
            <a:endParaRPr lang="it-IT" b="1" dirty="0">
              <a:latin typeface="Courier New" charset="0"/>
            </a:endParaRPr>
          </a:p>
          <a:p>
            <a:pPr eaLnBrk="1" hangingPunct="1"/>
            <a:r>
              <a:rPr lang="it-IT" dirty="0"/>
              <a:t>Interfaccia </a:t>
            </a:r>
            <a:r>
              <a:rPr lang="it-IT" b="1" dirty="0">
                <a:latin typeface="Courier New" charset="0"/>
              </a:rPr>
              <a:t>Driver</a:t>
            </a:r>
            <a:r>
              <a:rPr lang="it-IT" dirty="0"/>
              <a:t> </a:t>
            </a:r>
          </a:p>
          <a:p>
            <a:pPr eaLnBrk="1" hangingPunct="1"/>
            <a:r>
              <a:rPr lang="it-IT" dirty="0"/>
              <a:t>Interfaccia </a:t>
            </a:r>
            <a:r>
              <a:rPr lang="it-IT" b="1" dirty="0">
                <a:latin typeface="Courier New" charset="0"/>
              </a:rPr>
              <a:t>Connection</a:t>
            </a:r>
          </a:p>
          <a:p>
            <a:pPr eaLnBrk="1" hangingPunct="1"/>
            <a:r>
              <a:rPr lang="it-IT" dirty="0"/>
              <a:t>Interfaccia </a:t>
            </a:r>
            <a:r>
              <a:rPr lang="it-IT" b="1" dirty="0" err="1">
                <a:latin typeface="Courier New" charset="0"/>
              </a:rPr>
              <a:t>PreparedStatement</a:t>
            </a:r>
            <a:r>
              <a:rPr lang="it-IT" dirty="0"/>
              <a:t> </a:t>
            </a:r>
          </a:p>
          <a:p>
            <a:pPr eaLnBrk="1" hangingPunct="1"/>
            <a:r>
              <a:rPr lang="it-IT" dirty="0"/>
              <a:t>Interfaccia </a:t>
            </a:r>
            <a:r>
              <a:rPr lang="it-IT" b="1" dirty="0" err="1">
                <a:latin typeface="Courier New" charset="0"/>
              </a:rPr>
              <a:t>ResultSet</a:t>
            </a:r>
            <a:endParaRPr lang="it-IT" b="1" dirty="0">
              <a:latin typeface="Courier New" charset="0"/>
            </a:endParaRPr>
          </a:p>
          <a:p>
            <a:pPr eaLnBrk="1" hangingPunct="1"/>
            <a:r>
              <a:rPr lang="it-IT" dirty="0"/>
              <a:t>Eccezione </a:t>
            </a:r>
            <a:r>
              <a:rPr lang="it-IT" b="1" dirty="0" err="1">
                <a:latin typeface="Courier New" charset="0"/>
              </a:rPr>
              <a:t>SQLException</a:t>
            </a:r>
            <a:endParaRPr lang="it-IT" b="1" dirty="0">
              <a:latin typeface="Courier New" charset="0"/>
            </a:endParaRPr>
          </a:p>
        </p:txBody>
      </p:sp>
    </p:spTree>
    <p:extLst>
      <p:ext uri="{BB962C8B-B14F-4D97-AF65-F5344CB8AC3E}">
        <p14:creationId xmlns:p14="http://schemas.microsoft.com/office/powerpoint/2010/main" val="829666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it-IT" dirty="0"/>
              <a:t>Un Esempio</a:t>
            </a:r>
          </a:p>
        </p:txBody>
      </p:sp>
      <p:sp>
        <p:nvSpPr>
          <p:cNvPr id="40963" name="Rectangle 3"/>
          <p:cNvSpPr>
            <a:spLocks noGrp="1" noChangeArrowheads="1"/>
          </p:cNvSpPr>
          <p:nvPr>
            <p:ph idx="1"/>
          </p:nvPr>
        </p:nvSpPr>
        <p:spPr/>
        <p:txBody>
          <a:bodyPr/>
          <a:lstStyle/>
          <a:p>
            <a:pPr eaLnBrk="1" hangingPunct="1"/>
            <a:r>
              <a:rPr lang="it-IT" dirty="0"/>
              <a:t>Nel seguito, con riferimento ad nostro esempio, descriveremo le seguenti operazioni</a:t>
            </a:r>
          </a:p>
          <a:p>
            <a:pPr lvl="1" eaLnBrk="1" hangingPunct="1"/>
            <a:r>
              <a:rPr lang="it-IT" dirty="0"/>
              <a:t>Operazione n.1: Caricare il driver</a:t>
            </a:r>
          </a:p>
          <a:p>
            <a:pPr lvl="1" eaLnBrk="1" hangingPunct="1"/>
            <a:r>
              <a:rPr lang="it-IT" dirty="0"/>
              <a:t>Operazione n.2: Aprire una connessione</a:t>
            </a:r>
          </a:p>
          <a:p>
            <a:pPr lvl="1" eaLnBrk="1" hangingPunct="1"/>
            <a:r>
              <a:rPr lang="it-IT" dirty="0"/>
              <a:t>Operazione n.3: Definire l</a:t>
            </a:r>
            <a:r>
              <a:rPr lang="ja-JP" altLang="it-IT"/>
              <a:t>’</a:t>
            </a:r>
            <a:r>
              <a:rPr lang="it-IT" dirty="0"/>
              <a:t>istruzione SQL</a:t>
            </a:r>
          </a:p>
          <a:p>
            <a:pPr lvl="1" eaLnBrk="1" hangingPunct="1"/>
            <a:r>
              <a:rPr lang="it-IT" dirty="0"/>
              <a:t>Operazione n.4: Gestire il risultato</a:t>
            </a:r>
          </a:p>
          <a:p>
            <a:pPr lvl="1" eaLnBrk="1" hangingPunct="1"/>
            <a:r>
              <a:rPr lang="it-IT" dirty="0"/>
              <a:t>Operazione n.5: Gestire le eccezioni</a:t>
            </a:r>
          </a:p>
        </p:txBody>
      </p:sp>
    </p:spTree>
    <p:extLst>
      <p:ext uri="{BB962C8B-B14F-4D97-AF65-F5344CB8AC3E}">
        <p14:creationId xmlns:p14="http://schemas.microsoft.com/office/powerpoint/2010/main" val="20576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63">
                                            <p:txEl>
                                              <p:pRg st="1" end="1"/>
                                            </p:txEl>
                                          </p:spTgt>
                                        </p:tgtEl>
                                        <p:attrNameLst>
                                          <p:attrName>style.visibility</p:attrName>
                                        </p:attrNameLst>
                                      </p:cBhvr>
                                      <p:to>
                                        <p:strVal val="visible"/>
                                      </p:to>
                                    </p:set>
                                    <p:anim calcmode="lin" valueType="num">
                                      <p:cBhvr additive="base">
                                        <p:cTn id="7" dur="500" fill="hold"/>
                                        <p:tgtEl>
                                          <p:spTgt spid="4096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963">
                                            <p:txEl>
                                              <p:pRg st="2" end="2"/>
                                            </p:txEl>
                                          </p:spTgt>
                                        </p:tgtEl>
                                        <p:attrNameLst>
                                          <p:attrName>style.visibility</p:attrName>
                                        </p:attrNameLst>
                                      </p:cBhvr>
                                      <p:to>
                                        <p:strVal val="visible"/>
                                      </p:to>
                                    </p:set>
                                    <p:anim calcmode="lin" valueType="num">
                                      <p:cBhvr additive="base">
                                        <p:cTn id="13" dur="500" fill="hold"/>
                                        <p:tgtEl>
                                          <p:spTgt spid="4096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9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0963">
                                            <p:txEl>
                                              <p:pRg st="3" end="3"/>
                                            </p:txEl>
                                          </p:spTgt>
                                        </p:tgtEl>
                                        <p:attrNameLst>
                                          <p:attrName>style.visibility</p:attrName>
                                        </p:attrNameLst>
                                      </p:cBhvr>
                                      <p:to>
                                        <p:strVal val="visible"/>
                                      </p:to>
                                    </p:set>
                                    <p:anim calcmode="lin" valueType="num">
                                      <p:cBhvr additive="base">
                                        <p:cTn id="19" dur="500" fill="hold"/>
                                        <p:tgtEl>
                                          <p:spTgt spid="4096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9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0963">
                                            <p:txEl>
                                              <p:pRg st="4" end="4"/>
                                            </p:txEl>
                                          </p:spTgt>
                                        </p:tgtEl>
                                        <p:attrNameLst>
                                          <p:attrName>style.visibility</p:attrName>
                                        </p:attrNameLst>
                                      </p:cBhvr>
                                      <p:to>
                                        <p:strVal val="visible"/>
                                      </p:to>
                                    </p:set>
                                    <p:anim calcmode="lin" valueType="num">
                                      <p:cBhvr additive="base">
                                        <p:cTn id="25" dur="500" fill="hold"/>
                                        <p:tgtEl>
                                          <p:spTgt spid="4096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09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0963">
                                            <p:txEl>
                                              <p:pRg st="5" end="5"/>
                                            </p:txEl>
                                          </p:spTgt>
                                        </p:tgtEl>
                                        <p:attrNameLst>
                                          <p:attrName>style.visibility</p:attrName>
                                        </p:attrNameLst>
                                      </p:cBhvr>
                                      <p:to>
                                        <p:strVal val="visible"/>
                                      </p:to>
                                    </p:set>
                                    <p:anim calcmode="lin" valueType="num">
                                      <p:cBhvr additive="base">
                                        <p:cTn id="31" dur="500" fill="hold"/>
                                        <p:tgtEl>
                                          <p:spTgt spid="4096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096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uiExpand="1" build="p" bldLvl="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noAutofit/>
          </a:bodyPr>
          <a:lstStyle/>
          <a:p>
            <a:pPr eaLnBrk="1" hangingPunct="1"/>
            <a:r>
              <a:rPr lang="it-IT" sz="3000" dirty="0"/>
              <a:t>Operazione n.1</a:t>
            </a:r>
            <a:br>
              <a:rPr lang="it-IT" sz="3000" dirty="0"/>
            </a:br>
            <a:r>
              <a:rPr lang="it-IT" sz="3000" dirty="0"/>
              <a:t>Caricare il Driver</a:t>
            </a:r>
          </a:p>
        </p:txBody>
      </p:sp>
      <p:sp>
        <p:nvSpPr>
          <p:cNvPr id="43011" name="Rectangle 3"/>
          <p:cNvSpPr>
            <a:spLocks noGrp="1" noChangeArrowheads="1"/>
          </p:cNvSpPr>
          <p:nvPr>
            <p:ph idx="1"/>
          </p:nvPr>
        </p:nvSpPr>
        <p:spPr>
          <a:xfrm>
            <a:off x="1385888" y="1720259"/>
            <a:ext cx="6103144" cy="3245644"/>
          </a:xfrm>
        </p:spPr>
        <p:txBody>
          <a:bodyPr/>
          <a:lstStyle/>
          <a:p>
            <a:pPr eaLnBrk="1" hangingPunct="1"/>
            <a:r>
              <a:rPr lang="it-IT" dirty="0"/>
              <a:t>Creare un oggetto della classe </a:t>
            </a:r>
            <a:r>
              <a:rPr lang="it-IT" b="1" dirty="0">
                <a:latin typeface="Courier New" charset="0"/>
              </a:rPr>
              <a:t>Driver</a:t>
            </a:r>
          </a:p>
          <a:p>
            <a:pPr lvl="1" eaLnBrk="1" hangingPunct="1">
              <a:buFontTx/>
              <a:buNone/>
            </a:pPr>
            <a:r>
              <a:rPr lang="it-IT" sz="1500" b="1" dirty="0">
                <a:latin typeface="Courier New" charset="0"/>
              </a:rPr>
              <a:t>Driver d = new </a:t>
            </a:r>
            <a:r>
              <a:rPr lang="it-IT" sz="1500" b="1" dirty="0" err="1">
                <a:latin typeface="Courier New" charset="0"/>
              </a:rPr>
              <a:t>org.postgresql.Driver</a:t>
            </a:r>
            <a:r>
              <a:rPr lang="it-IT" sz="1500" b="1" dirty="0">
                <a:latin typeface="Courier New" charset="0"/>
              </a:rPr>
              <a:t>();</a:t>
            </a:r>
          </a:p>
          <a:p>
            <a:pPr eaLnBrk="1" hangingPunct="1"/>
            <a:r>
              <a:rPr lang="it-IT" dirty="0"/>
              <a:t>Registrare il driver sul </a:t>
            </a:r>
            <a:r>
              <a:rPr lang="it-IT" b="1" dirty="0" err="1">
                <a:latin typeface="Courier New" charset="0"/>
              </a:rPr>
              <a:t>DriverManager</a:t>
            </a:r>
            <a:endParaRPr lang="it-IT" b="1" dirty="0">
              <a:latin typeface="Courier New" charset="0"/>
            </a:endParaRPr>
          </a:p>
          <a:p>
            <a:pPr lvl="1" eaLnBrk="1" hangingPunct="1">
              <a:buFontTx/>
              <a:buNone/>
            </a:pPr>
            <a:r>
              <a:rPr lang="it-IT" sz="1500" b="1" dirty="0" err="1">
                <a:latin typeface="Courier New" charset="0"/>
              </a:rPr>
              <a:t>void</a:t>
            </a:r>
            <a:r>
              <a:rPr lang="it-IT" sz="1500" b="1" dirty="0">
                <a:latin typeface="Courier New" charset="0"/>
              </a:rPr>
              <a:t> </a:t>
            </a:r>
            <a:r>
              <a:rPr lang="it-IT" sz="1500" b="1" dirty="0" err="1">
                <a:latin typeface="Courier New" charset="0"/>
              </a:rPr>
              <a:t>DriverManager.registerDriver</a:t>
            </a:r>
            <a:r>
              <a:rPr lang="it-IT" sz="1500" b="1" dirty="0">
                <a:latin typeface="Courier New" charset="0"/>
              </a:rPr>
              <a:t>(Driver d);</a:t>
            </a:r>
          </a:p>
          <a:p>
            <a:pPr eaLnBrk="1" hangingPunct="1"/>
            <a:r>
              <a:rPr lang="it-IT" dirty="0"/>
              <a:t>A questo punto il driver è disponibile</a:t>
            </a:r>
          </a:p>
        </p:txBody>
      </p:sp>
    </p:spTree>
    <p:extLst>
      <p:ext uri="{BB962C8B-B14F-4D97-AF65-F5344CB8AC3E}">
        <p14:creationId xmlns:p14="http://schemas.microsoft.com/office/powerpoint/2010/main" val="1743122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additive="base">
                                        <p:cTn id="7" dur="500" fill="hold"/>
                                        <p:tgtEl>
                                          <p:spTgt spid="430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anim calcmode="lin" valueType="num">
                                      <p:cBhvr additive="base">
                                        <p:cTn id="11" dur="500" fill="hold"/>
                                        <p:tgtEl>
                                          <p:spTgt spid="4301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30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 calcmode="lin" valueType="num">
                                      <p:cBhvr additive="base">
                                        <p:cTn id="17" dur="500" fill="hold"/>
                                        <p:tgtEl>
                                          <p:spTgt spid="4301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301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3011">
                                            <p:txEl>
                                              <p:pRg st="3" end="3"/>
                                            </p:txEl>
                                          </p:spTgt>
                                        </p:tgtEl>
                                        <p:attrNameLst>
                                          <p:attrName>style.visibility</p:attrName>
                                        </p:attrNameLst>
                                      </p:cBhvr>
                                      <p:to>
                                        <p:strVal val="visible"/>
                                      </p:to>
                                    </p:set>
                                    <p:anim calcmode="lin" valueType="num">
                                      <p:cBhvr additive="base">
                                        <p:cTn id="21" dur="500" fill="hold"/>
                                        <p:tgtEl>
                                          <p:spTgt spid="4301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30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3011">
                                            <p:txEl>
                                              <p:pRg st="4" end="4"/>
                                            </p:txEl>
                                          </p:spTgt>
                                        </p:tgtEl>
                                        <p:attrNameLst>
                                          <p:attrName>style.visibility</p:attrName>
                                        </p:attrNameLst>
                                      </p:cBhvr>
                                      <p:to>
                                        <p:strVal val="visible"/>
                                      </p:to>
                                    </p:set>
                                    <p:anim calcmode="lin" valueType="num">
                                      <p:cBhvr additive="base">
                                        <p:cTn id="27" dur="500" fill="hold"/>
                                        <p:tgtEl>
                                          <p:spTgt spid="4301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301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noAutofit/>
          </a:bodyPr>
          <a:lstStyle/>
          <a:p>
            <a:pPr eaLnBrk="1" hangingPunct="1"/>
            <a:r>
              <a:rPr lang="it-IT" sz="3000" dirty="0"/>
              <a:t>Operazione n.1</a:t>
            </a:r>
            <a:br>
              <a:rPr lang="it-IT" sz="3000" dirty="0"/>
            </a:br>
            <a:r>
              <a:rPr lang="it-IT" sz="3000" dirty="0"/>
              <a:t>Caricare il Driver</a:t>
            </a:r>
          </a:p>
        </p:txBody>
      </p:sp>
      <p:sp>
        <p:nvSpPr>
          <p:cNvPr id="143363" name="Rectangle 3"/>
          <p:cNvSpPr>
            <a:spLocks noGrp="1" noChangeArrowheads="1"/>
          </p:cNvSpPr>
          <p:nvPr>
            <p:ph idx="1"/>
          </p:nvPr>
        </p:nvSpPr>
        <p:spPr>
          <a:xfrm>
            <a:off x="1385888" y="1633677"/>
            <a:ext cx="6103144" cy="3245644"/>
          </a:xfrm>
        </p:spPr>
        <p:txBody>
          <a:bodyPr/>
          <a:lstStyle/>
          <a:p>
            <a:pPr eaLnBrk="1" hangingPunct="1"/>
            <a:r>
              <a:rPr lang="it-IT" dirty="0"/>
              <a:t>Le operazioni precedenti sono equivalenti alla istruzione:</a:t>
            </a:r>
          </a:p>
          <a:p>
            <a:pPr eaLnBrk="1" hangingPunct="1">
              <a:buFontTx/>
              <a:buNone/>
            </a:pPr>
            <a:r>
              <a:rPr lang="it-IT" sz="1500" b="1" dirty="0">
                <a:latin typeface="Courier New" charset="0"/>
              </a:rPr>
              <a:t>	</a:t>
            </a:r>
          </a:p>
          <a:p>
            <a:pPr eaLnBrk="1" hangingPunct="1">
              <a:buFontTx/>
              <a:buNone/>
            </a:pPr>
            <a:r>
              <a:rPr lang="it-IT" sz="1500" b="1" dirty="0">
                <a:latin typeface="Courier New" charset="0"/>
              </a:rPr>
              <a:t>	</a:t>
            </a:r>
            <a:r>
              <a:rPr lang="it-IT" sz="1500" b="1" dirty="0" err="1">
                <a:latin typeface="Courier New" charset="0"/>
              </a:rPr>
              <a:t>Class.forName</a:t>
            </a:r>
            <a:r>
              <a:rPr lang="it-IT" sz="1500" b="1" dirty="0">
                <a:latin typeface="Courier New" charset="0"/>
              </a:rPr>
              <a:t>("</a:t>
            </a:r>
            <a:r>
              <a:rPr lang="it-IT" sz="1500" b="1" dirty="0" err="1">
                <a:latin typeface="Courier New" charset="0"/>
              </a:rPr>
              <a:t>org.postgresql.Driver</a:t>
            </a:r>
            <a:r>
              <a:rPr lang="it-IT" sz="1500" b="1" dirty="0">
                <a:latin typeface="Courier New" charset="0"/>
              </a:rPr>
              <a:t>");</a:t>
            </a:r>
          </a:p>
        </p:txBody>
      </p:sp>
    </p:spTree>
    <p:extLst>
      <p:ext uri="{BB962C8B-B14F-4D97-AF65-F5344CB8AC3E}">
        <p14:creationId xmlns:p14="http://schemas.microsoft.com/office/powerpoint/2010/main" val="819122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normAutofit fontScale="90000"/>
          </a:bodyPr>
          <a:lstStyle/>
          <a:p>
            <a:pPr eaLnBrk="1" hangingPunct="1"/>
            <a:r>
              <a:rPr lang="it-IT" dirty="0"/>
              <a:t>Operazione n.2</a:t>
            </a:r>
            <a:br>
              <a:rPr lang="it-IT" dirty="0"/>
            </a:br>
            <a:r>
              <a:rPr lang="it-IT" dirty="0"/>
              <a:t>Ottenere una Connessione</a:t>
            </a:r>
          </a:p>
        </p:txBody>
      </p:sp>
      <p:sp>
        <p:nvSpPr>
          <p:cNvPr id="45059" name="Rectangle 3"/>
          <p:cNvSpPr>
            <a:spLocks noGrp="1" noChangeArrowheads="1"/>
          </p:cNvSpPr>
          <p:nvPr>
            <p:ph idx="1"/>
          </p:nvPr>
        </p:nvSpPr>
        <p:spPr/>
        <p:txBody>
          <a:bodyPr>
            <a:normAutofit/>
          </a:bodyPr>
          <a:lstStyle/>
          <a:p>
            <a:pPr eaLnBrk="1" hangingPunct="1"/>
            <a:r>
              <a:rPr lang="it-IT" dirty="0"/>
              <a:t>Ottenere una connessione dal </a:t>
            </a:r>
            <a:r>
              <a:rPr lang="it-IT" b="1" dirty="0" err="1">
                <a:latin typeface="Courier New" charset="0"/>
              </a:rPr>
              <a:t>DriverManager</a:t>
            </a:r>
            <a:endParaRPr lang="it-IT" b="1" dirty="0">
              <a:latin typeface="Courier New" charset="0"/>
            </a:endParaRPr>
          </a:p>
          <a:p>
            <a:pPr lvl="1" eaLnBrk="1" hangingPunct="1"/>
            <a:r>
              <a:rPr lang="it-IT" dirty="0"/>
              <a:t>per farlo è necessario specificare: </a:t>
            </a:r>
          </a:p>
          <a:p>
            <a:pPr lvl="2" eaLnBrk="1" hangingPunct="1"/>
            <a:r>
              <a:rPr lang="it-IT" dirty="0" err="1"/>
              <a:t>host</a:t>
            </a:r>
            <a:r>
              <a:rPr lang="it-IT" dirty="0"/>
              <a:t>, </a:t>
            </a:r>
            <a:r>
              <a:rPr lang="it-IT" dirty="0" err="1"/>
              <a:t>dbms</a:t>
            </a:r>
            <a:r>
              <a:rPr lang="it-IT" dirty="0"/>
              <a:t>, </a:t>
            </a:r>
            <a:r>
              <a:rPr lang="it-IT" dirty="0" err="1"/>
              <a:t>db</a:t>
            </a:r>
            <a:endParaRPr lang="it-IT" dirty="0"/>
          </a:p>
          <a:p>
            <a:pPr lvl="2" eaLnBrk="1" hangingPunct="1"/>
            <a:r>
              <a:rPr lang="it-IT" dirty="0"/>
              <a:t>utente e password</a:t>
            </a:r>
          </a:p>
          <a:p>
            <a:pPr eaLnBrk="1" hangingPunct="1"/>
            <a:r>
              <a:rPr lang="it-IT" dirty="0"/>
              <a:t>URI (indirizzo) della connessione</a:t>
            </a:r>
          </a:p>
          <a:p>
            <a:pPr lvl="1" eaLnBrk="1" hangingPunct="1"/>
            <a:r>
              <a:rPr lang="it-IT" dirty="0"/>
              <a:t>specifica server, porta e database</a:t>
            </a:r>
          </a:p>
          <a:p>
            <a:pPr eaLnBrk="1" hangingPunct="1"/>
            <a:r>
              <a:rPr lang="it-IT" dirty="0"/>
              <a:t>Sintassi</a:t>
            </a:r>
          </a:p>
          <a:p>
            <a:pPr lvl="1" eaLnBrk="1" hangingPunct="1">
              <a:buFontTx/>
              <a:buNone/>
            </a:pPr>
            <a:r>
              <a:rPr lang="it-IT" b="1" dirty="0" err="1">
                <a:latin typeface="Courier New" charset="0"/>
              </a:rPr>
              <a:t>jdbc</a:t>
            </a:r>
            <a:r>
              <a:rPr lang="it-IT" b="1" dirty="0">
                <a:latin typeface="Courier New" charset="0"/>
              </a:rPr>
              <a:t>:&lt;</a:t>
            </a:r>
            <a:r>
              <a:rPr lang="it-IT" b="1" dirty="0" err="1">
                <a:latin typeface="Courier New" charset="0"/>
              </a:rPr>
              <a:t>sottoprotocollo</a:t>
            </a:r>
            <a:r>
              <a:rPr lang="it-IT" b="1" dirty="0">
                <a:latin typeface="Courier New" charset="0"/>
              </a:rPr>
              <a:t>&gt;:&lt;parametri&gt;</a:t>
            </a:r>
          </a:p>
        </p:txBody>
      </p:sp>
    </p:spTree>
    <p:extLst>
      <p:ext uri="{BB962C8B-B14F-4D97-AF65-F5344CB8AC3E}">
        <p14:creationId xmlns:p14="http://schemas.microsoft.com/office/powerpoint/2010/main" val="2633856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fontScale="90000"/>
          </a:bodyPr>
          <a:lstStyle/>
          <a:p>
            <a:pPr eaLnBrk="1" hangingPunct="1"/>
            <a:r>
              <a:rPr lang="it-IT" dirty="0"/>
              <a:t>Operazione n.2</a:t>
            </a:r>
            <a:br>
              <a:rPr lang="it-IT" dirty="0"/>
            </a:br>
            <a:r>
              <a:rPr lang="it-IT" dirty="0"/>
              <a:t>Ottenere una Connessione</a:t>
            </a:r>
          </a:p>
        </p:txBody>
      </p:sp>
      <p:sp>
        <p:nvSpPr>
          <p:cNvPr id="47107" name="Rectangle 3"/>
          <p:cNvSpPr>
            <a:spLocks noGrp="1" noChangeArrowheads="1"/>
          </p:cNvSpPr>
          <p:nvPr>
            <p:ph idx="1"/>
          </p:nvPr>
        </p:nvSpPr>
        <p:spPr>
          <a:xfrm>
            <a:off x="1223963" y="1601745"/>
            <a:ext cx="6642497" cy="3245644"/>
          </a:xfrm>
        </p:spPr>
        <p:txBody>
          <a:bodyPr/>
          <a:lstStyle/>
          <a:p>
            <a:pPr eaLnBrk="1" hangingPunct="1">
              <a:lnSpc>
                <a:spcPct val="80000"/>
              </a:lnSpc>
            </a:pPr>
            <a:r>
              <a:rPr lang="it-IT" dirty="0"/>
              <a:t>URI per </a:t>
            </a:r>
            <a:r>
              <a:rPr lang="it-IT" dirty="0" err="1"/>
              <a:t>Postgres</a:t>
            </a:r>
            <a:endParaRPr lang="it-IT" dirty="0"/>
          </a:p>
          <a:p>
            <a:pPr lvl="1" eaLnBrk="1" hangingPunct="1">
              <a:lnSpc>
                <a:spcPct val="80000"/>
              </a:lnSpc>
              <a:buFontTx/>
              <a:buNone/>
            </a:pPr>
            <a:r>
              <a:rPr lang="it-IT" sz="1500" b="1" dirty="0" err="1">
                <a:latin typeface="Courier New" charset="0"/>
              </a:rPr>
              <a:t>jdbc:postgresql</a:t>
            </a:r>
            <a:r>
              <a:rPr lang="it-IT" sz="1500" b="1" dirty="0">
                <a:latin typeface="Courier New" charset="0"/>
              </a:rPr>
              <a:t>:&lt;</a:t>
            </a:r>
            <a:r>
              <a:rPr lang="it-IT" sz="1500" b="1" dirty="0" err="1">
                <a:latin typeface="Courier New" charset="0"/>
              </a:rPr>
              <a:t>baseDati</a:t>
            </a:r>
            <a:r>
              <a:rPr lang="it-IT" sz="1500" b="1" dirty="0">
                <a:latin typeface="Courier New" charset="0"/>
              </a:rPr>
              <a:t>&gt;</a:t>
            </a:r>
          </a:p>
          <a:p>
            <a:pPr lvl="1" eaLnBrk="1" hangingPunct="1">
              <a:lnSpc>
                <a:spcPct val="80000"/>
              </a:lnSpc>
              <a:buFontTx/>
              <a:buNone/>
            </a:pPr>
            <a:r>
              <a:rPr lang="it-IT" sz="1500" b="1" dirty="0" err="1">
                <a:latin typeface="Courier New" charset="0"/>
              </a:rPr>
              <a:t>jdbc:postgresql</a:t>
            </a:r>
            <a:r>
              <a:rPr lang="it-IT" sz="1500" b="1" dirty="0">
                <a:latin typeface="Courier New" charset="0"/>
              </a:rPr>
              <a:t>://&lt;</a:t>
            </a:r>
            <a:r>
              <a:rPr lang="it-IT" sz="1500" b="1" dirty="0" err="1">
                <a:latin typeface="Courier New" charset="0"/>
              </a:rPr>
              <a:t>host</a:t>
            </a:r>
            <a:r>
              <a:rPr lang="it-IT" sz="1500" b="1" dirty="0">
                <a:latin typeface="Courier New" charset="0"/>
              </a:rPr>
              <a:t>&gt;/&lt;</a:t>
            </a:r>
            <a:r>
              <a:rPr lang="it-IT" sz="1500" b="1" dirty="0" err="1">
                <a:latin typeface="Courier New" charset="0"/>
              </a:rPr>
              <a:t>baseDati</a:t>
            </a:r>
            <a:r>
              <a:rPr lang="it-IT" sz="1500" b="1" dirty="0">
                <a:latin typeface="Courier New" charset="0"/>
              </a:rPr>
              <a:t>&gt;</a:t>
            </a:r>
          </a:p>
          <a:p>
            <a:pPr lvl="1" eaLnBrk="1" hangingPunct="1">
              <a:lnSpc>
                <a:spcPct val="80000"/>
              </a:lnSpc>
              <a:buFontTx/>
              <a:buNone/>
            </a:pPr>
            <a:r>
              <a:rPr lang="it-IT" sz="1500" b="1" dirty="0" err="1">
                <a:latin typeface="Courier New" charset="0"/>
              </a:rPr>
              <a:t>jdbc:postgresql</a:t>
            </a:r>
            <a:r>
              <a:rPr lang="it-IT" sz="1500" b="1" dirty="0">
                <a:latin typeface="Courier New" charset="0"/>
              </a:rPr>
              <a:t>://&lt;</a:t>
            </a:r>
            <a:r>
              <a:rPr lang="it-IT" sz="1500" b="1" dirty="0" err="1">
                <a:latin typeface="Courier New" charset="0"/>
              </a:rPr>
              <a:t>host</a:t>
            </a:r>
            <a:r>
              <a:rPr lang="it-IT" sz="1500" b="1" dirty="0">
                <a:latin typeface="Courier New" charset="0"/>
              </a:rPr>
              <a:t>&gt;:&lt;porta&gt;/&lt;</a:t>
            </a:r>
            <a:r>
              <a:rPr lang="it-IT" sz="1500" b="1" dirty="0" err="1">
                <a:latin typeface="Courier New" charset="0"/>
              </a:rPr>
              <a:t>baseDati</a:t>
            </a:r>
            <a:r>
              <a:rPr lang="it-IT" sz="1500" b="1" dirty="0">
                <a:latin typeface="Courier New" charset="0"/>
              </a:rPr>
              <a:t>&gt;</a:t>
            </a:r>
          </a:p>
          <a:p>
            <a:pPr eaLnBrk="1" hangingPunct="1">
              <a:lnSpc>
                <a:spcPct val="80000"/>
              </a:lnSpc>
            </a:pPr>
            <a:endParaRPr lang="it-IT" dirty="0"/>
          </a:p>
          <a:p>
            <a:pPr eaLnBrk="1" hangingPunct="1">
              <a:lnSpc>
                <a:spcPct val="80000"/>
              </a:lnSpc>
            </a:pPr>
            <a:r>
              <a:rPr lang="it-IT" dirty="0"/>
              <a:t>Esempi</a:t>
            </a:r>
          </a:p>
          <a:p>
            <a:pPr lvl="1" eaLnBrk="1" hangingPunct="1">
              <a:lnSpc>
                <a:spcPct val="80000"/>
              </a:lnSpc>
              <a:buFontTx/>
              <a:buNone/>
            </a:pPr>
            <a:r>
              <a:rPr lang="it-IT" sz="1500" b="1" dirty="0" err="1">
                <a:latin typeface="Courier New" charset="0"/>
              </a:rPr>
              <a:t>jdbc:postgresql:university</a:t>
            </a:r>
            <a:endParaRPr lang="it-IT" sz="1500" b="1" dirty="0">
              <a:latin typeface="Courier New" charset="0"/>
            </a:endParaRPr>
          </a:p>
          <a:p>
            <a:pPr lvl="1" eaLnBrk="1" hangingPunct="1">
              <a:lnSpc>
                <a:spcPct val="80000"/>
              </a:lnSpc>
              <a:buFontTx/>
              <a:buNone/>
            </a:pPr>
            <a:r>
              <a:rPr lang="it-IT" sz="1500" b="1" dirty="0" err="1">
                <a:latin typeface="Courier New" charset="0"/>
              </a:rPr>
              <a:t>jdbc:postgresql</a:t>
            </a:r>
            <a:r>
              <a:rPr lang="it-IT" sz="1500" b="1" dirty="0">
                <a:latin typeface="Courier New" charset="0"/>
              </a:rPr>
              <a:t>://127.0.0.1/</a:t>
            </a:r>
            <a:r>
              <a:rPr lang="it-IT" sz="1500" b="1" dirty="0" err="1">
                <a:latin typeface="Courier New" charset="0"/>
              </a:rPr>
              <a:t>university</a:t>
            </a:r>
            <a:endParaRPr lang="it-IT" sz="1500" b="1" dirty="0">
              <a:latin typeface="Courier New" charset="0"/>
            </a:endParaRPr>
          </a:p>
          <a:p>
            <a:pPr lvl="1" eaLnBrk="1" hangingPunct="1">
              <a:lnSpc>
                <a:spcPct val="80000"/>
              </a:lnSpc>
              <a:buFontTx/>
              <a:buNone/>
            </a:pPr>
            <a:r>
              <a:rPr lang="it-IT" sz="1500" b="1" dirty="0" err="1">
                <a:latin typeface="Courier New" charset="0"/>
              </a:rPr>
              <a:t>jdbc:postgresql</a:t>
            </a:r>
            <a:r>
              <a:rPr lang="it-IT" sz="1500" b="1" dirty="0">
                <a:latin typeface="Courier New" charset="0"/>
              </a:rPr>
              <a:t>://193.204.161.14:5432/</a:t>
            </a:r>
            <a:r>
              <a:rPr lang="it-IT" sz="1500" b="1" dirty="0" err="1">
                <a:latin typeface="Courier New" charset="0"/>
              </a:rPr>
              <a:t>university</a:t>
            </a:r>
            <a:endParaRPr lang="it-IT" sz="1500" b="1" dirty="0">
              <a:latin typeface="Courier New" charset="0"/>
            </a:endParaRPr>
          </a:p>
          <a:p>
            <a:pPr lvl="1" eaLnBrk="1" hangingPunct="1">
              <a:lnSpc>
                <a:spcPct val="80000"/>
              </a:lnSpc>
              <a:buFontTx/>
              <a:buNone/>
            </a:pPr>
            <a:r>
              <a:rPr lang="it-IT" sz="1500" b="1" dirty="0" err="1">
                <a:latin typeface="Courier New" charset="0"/>
              </a:rPr>
              <a:t>jdbc:odbc:university</a:t>
            </a:r>
            <a:endParaRPr lang="it-IT" sz="1500" b="1" dirty="0">
              <a:latin typeface="Courier New" charset="0"/>
            </a:endParaRPr>
          </a:p>
        </p:txBody>
      </p:sp>
    </p:spTree>
    <p:extLst>
      <p:ext uri="{BB962C8B-B14F-4D97-AF65-F5344CB8AC3E}">
        <p14:creationId xmlns:p14="http://schemas.microsoft.com/office/powerpoint/2010/main" val="2501964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5" end="5"/>
                                            </p:txEl>
                                          </p:spTgt>
                                        </p:tgtEl>
                                        <p:attrNameLst>
                                          <p:attrName>style.visibility</p:attrName>
                                        </p:attrNameLst>
                                      </p:cBhvr>
                                      <p:to>
                                        <p:strVal val="visible"/>
                                      </p:to>
                                    </p:set>
                                    <p:anim calcmode="lin" valueType="num">
                                      <p:cBhvr additive="base">
                                        <p:cTn id="31"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107">
                                            <p:txEl>
                                              <p:pRg st="6" end="6"/>
                                            </p:txEl>
                                          </p:spTgt>
                                        </p:tgtEl>
                                        <p:attrNameLst>
                                          <p:attrName>style.visibility</p:attrName>
                                        </p:attrNameLst>
                                      </p:cBhvr>
                                      <p:to>
                                        <p:strVal val="visible"/>
                                      </p:to>
                                    </p:set>
                                    <p:anim calcmode="lin" valueType="num">
                                      <p:cBhvr additive="base">
                                        <p:cTn id="37" dur="500" fill="hold"/>
                                        <p:tgtEl>
                                          <p:spTgt spid="4710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7107">
                                            <p:txEl>
                                              <p:pRg st="7" end="7"/>
                                            </p:txEl>
                                          </p:spTgt>
                                        </p:tgtEl>
                                        <p:attrNameLst>
                                          <p:attrName>style.visibility</p:attrName>
                                        </p:attrNameLst>
                                      </p:cBhvr>
                                      <p:to>
                                        <p:strVal val="visible"/>
                                      </p:to>
                                    </p:set>
                                    <p:anim calcmode="lin" valueType="num">
                                      <p:cBhvr additive="base">
                                        <p:cTn id="43" dur="500" fill="hold"/>
                                        <p:tgtEl>
                                          <p:spTgt spid="47107">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710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7107">
                                            <p:txEl>
                                              <p:pRg st="8" end="8"/>
                                            </p:txEl>
                                          </p:spTgt>
                                        </p:tgtEl>
                                        <p:attrNameLst>
                                          <p:attrName>style.visibility</p:attrName>
                                        </p:attrNameLst>
                                      </p:cBhvr>
                                      <p:to>
                                        <p:strVal val="visible"/>
                                      </p:to>
                                    </p:set>
                                    <p:anim calcmode="lin" valueType="num">
                                      <p:cBhvr additive="base">
                                        <p:cTn id="49" dur="500" fill="hold"/>
                                        <p:tgtEl>
                                          <p:spTgt spid="47107">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710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7107">
                                            <p:txEl>
                                              <p:pRg st="9" end="9"/>
                                            </p:txEl>
                                          </p:spTgt>
                                        </p:tgtEl>
                                        <p:attrNameLst>
                                          <p:attrName>style.visibility</p:attrName>
                                        </p:attrNameLst>
                                      </p:cBhvr>
                                      <p:to>
                                        <p:strVal val="visible"/>
                                      </p:to>
                                    </p:set>
                                    <p:anim calcmode="lin" valueType="num">
                                      <p:cBhvr additive="base">
                                        <p:cTn id="55" dur="500" fill="hold"/>
                                        <p:tgtEl>
                                          <p:spTgt spid="47107">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710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uiExpand="1" build="p" bldLvl="2"/>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fontScale="90000"/>
          </a:bodyPr>
          <a:lstStyle/>
          <a:p>
            <a:pPr eaLnBrk="1" hangingPunct="1"/>
            <a:r>
              <a:rPr lang="it-IT" dirty="0"/>
              <a:t>Operazione n.2</a:t>
            </a:r>
            <a:br>
              <a:rPr lang="it-IT" dirty="0"/>
            </a:br>
            <a:r>
              <a:rPr lang="it-IT" dirty="0"/>
              <a:t>Ottenere una Connessione</a:t>
            </a:r>
          </a:p>
        </p:txBody>
      </p:sp>
      <p:sp>
        <p:nvSpPr>
          <p:cNvPr id="49155" name="Rectangle 3"/>
          <p:cNvSpPr>
            <a:spLocks noGrp="1" noChangeArrowheads="1"/>
          </p:cNvSpPr>
          <p:nvPr>
            <p:ph idx="1"/>
          </p:nvPr>
        </p:nvSpPr>
        <p:spPr>
          <a:xfrm>
            <a:off x="1485900" y="1373311"/>
            <a:ext cx="6172200" cy="3394472"/>
          </a:xfrm>
        </p:spPr>
        <p:txBody>
          <a:bodyPr>
            <a:normAutofit fontScale="92500" lnSpcReduction="20000"/>
          </a:bodyPr>
          <a:lstStyle/>
          <a:p>
            <a:pPr eaLnBrk="1" hangingPunct="1">
              <a:lnSpc>
                <a:spcPct val="90000"/>
              </a:lnSpc>
            </a:pPr>
            <a:r>
              <a:rPr lang="it-IT" sz="2100" dirty="0"/>
              <a:t>Creazione della connessione</a:t>
            </a:r>
          </a:p>
          <a:p>
            <a:pPr lvl="1" eaLnBrk="1" hangingPunct="1">
              <a:lnSpc>
                <a:spcPct val="90000"/>
              </a:lnSpc>
              <a:buFontTx/>
              <a:buNone/>
            </a:pPr>
            <a:r>
              <a:rPr lang="it-IT" sz="1500" b="1" dirty="0">
                <a:latin typeface="Courier New" charset="0"/>
              </a:rPr>
              <a:t>Connection </a:t>
            </a:r>
            <a:r>
              <a:rPr lang="it-IT" sz="1500" b="1" dirty="0" err="1">
                <a:latin typeface="Courier New" charset="0"/>
              </a:rPr>
              <a:t>DriverManager.getConnection</a:t>
            </a:r>
            <a:r>
              <a:rPr lang="it-IT" sz="1500" b="1" dirty="0">
                <a:latin typeface="Courier New" charset="0"/>
              </a:rPr>
              <a:t>(</a:t>
            </a:r>
            <a:br>
              <a:rPr lang="it-IT" sz="1500" b="1" dirty="0">
                <a:latin typeface="Courier New" charset="0"/>
              </a:rPr>
            </a:br>
            <a:r>
              <a:rPr lang="it-IT" sz="1500" b="1" dirty="0">
                <a:latin typeface="Courier New" charset="0"/>
              </a:rPr>
              <a:t>      </a:t>
            </a:r>
            <a:r>
              <a:rPr lang="it-IT" sz="1500" b="1" dirty="0" err="1">
                <a:solidFill>
                  <a:srgbClr val="FF3300"/>
                </a:solidFill>
                <a:latin typeface="Courier New" charset="0"/>
              </a:rPr>
              <a:t>String</a:t>
            </a:r>
            <a:r>
              <a:rPr lang="it-IT" sz="1500" b="1" dirty="0">
                <a:solidFill>
                  <a:srgbClr val="FF3300"/>
                </a:solidFill>
                <a:latin typeface="Courier New" charset="0"/>
              </a:rPr>
              <a:t> uri</a:t>
            </a:r>
            <a:r>
              <a:rPr lang="it-IT" sz="1500" b="1" dirty="0">
                <a:latin typeface="Courier New" charset="0"/>
              </a:rPr>
              <a:t>, </a:t>
            </a:r>
          </a:p>
          <a:p>
            <a:pPr lvl="1" eaLnBrk="1" hangingPunct="1">
              <a:lnSpc>
                <a:spcPct val="90000"/>
              </a:lnSpc>
              <a:buFontTx/>
              <a:buNone/>
            </a:pPr>
            <a:r>
              <a:rPr lang="it-IT" sz="1500" b="1" dirty="0">
                <a:latin typeface="Courier New" charset="0"/>
              </a:rPr>
              <a:t>				</a:t>
            </a:r>
            <a:r>
              <a:rPr lang="it-IT" sz="1500" b="1" dirty="0" err="1">
                <a:solidFill>
                  <a:schemeClr val="tx2"/>
                </a:solidFill>
                <a:latin typeface="Courier New" charset="0"/>
              </a:rPr>
              <a:t>String</a:t>
            </a:r>
            <a:r>
              <a:rPr lang="it-IT" sz="1500" b="1" dirty="0">
                <a:solidFill>
                  <a:schemeClr val="tx2"/>
                </a:solidFill>
                <a:latin typeface="Courier New" charset="0"/>
              </a:rPr>
              <a:t> utente</a:t>
            </a:r>
            <a:r>
              <a:rPr lang="it-IT" sz="1500" b="1" dirty="0">
                <a:latin typeface="Courier New" charset="0"/>
              </a:rPr>
              <a:t>, </a:t>
            </a:r>
          </a:p>
          <a:p>
            <a:pPr lvl="1" eaLnBrk="1" hangingPunct="1">
              <a:lnSpc>
                <a:spcPct val="90000"/>
              </a:lnSpc>
              <a:buFontTx/>
              <a:buNone/>
            </a:pPr>
            <a:r>
              <a:rPr lang="it-IT" sz="1500" b="1" dirty="0">
                <a:latin typeface="Courier New" charset="0"/>
              </a:rPr>
              <a:t>					</a:t>
            </a:r>
            <a:r>
              <a:rPr lang="it-IT" sz="1500" b="1" dirty="0" err="1">
                <a:solidFill>
                  <a:srgbClr val="FF3300"/>
                </a:solidFill>
                <a:latin typeface="Courier New" charset="0"/>
              </a:rPr>
              <a:t>String</a:t>
            </a:r>
            <a:r>
              <a:rPr lang="it-IT" sz="1500" b="1" dirty="0">
                <a:solidFill>
                  <a:srgbClr val="FF3300"/>
                </a:solidFill>
                <a:latin typeface="Courier New" charset="0"/>
              </a:rPr>
              <a:t> password</a:t>
            </a:r>
            <a:r>
              <a:rPr lang="it-IT" sz="1500" b="1" dirty="0">
                <a:latin typeface="Courier New" charset="0"/>
              </a:rPr>
              <a:t>);</a:t>
            </a:r>
          </a:p>
          <a:p>
            <a:pPr eaLnBrk="1" hangingPunct="1">
              <a:lnSpc>
                <a:spcPct val="90000"/>
              </a:lnSpc>
            </a:pPr>
            <a:r>
              <a:rPr lang="it-IT" sz="1800" dirty="0"/>
              <a:t>Esempio</a:t>
            </a:r>
          </a:p>
          <a:p>
            <a:pPr lvl="1" eaLnBrk="1" hangingPunct="1">
              <a:lnSpc>
                <a:spcPct val="90000"/>
              </a:lnSpc>
              <a:buFontTx/>
              <a:buNone/>
            </a:pPr>
            <a:r>
              <a:rPr lang="it-IT" sz="1500" b="1" dirty="0">
                <a:latin typeface="Courier New" charset="0"/>
              </a:rPr>
              <a:t>Connection connection;</a:t>
            </a:r>
          </a:p>
          <a:p>
            <a:pPr lvl="1" eaLnBrk="1" hangingPunct="1">
              <a:lnSpc>
                <a:spcPct val="90000"/>
              </a:lnSpc>
              <a:buFontTx/>
              <a:buNone/>
            </a:pPr>
            <a:r>
              <a:rPr lang="it-IT" sz="1500" b="1" dirty="0">
                <a:latin typeface="Courier New" charset="0"/>
              </a:rPr>
              <a:t>connection = </a:t>
            </a:r>
            <a:r>
              <a:rPr lang="it-IT" sz="1500" b="1" dirty="0" err="1">
                <a:latin typeface="Courier New" charset="0"/>
              </a:rPr>
              <a:t>DriverManager.getConnection</a:t>
            </a:r>
            <a:r>
              <a:rPr lang="it-IT" sz="1500" b="1" dirty="0">
                <a:latin typeface="Courier New" charset="0"/>
              </a:rPr>
              <a:t>(</a:t>
            </a:r>
            <a:br>
              <a:rPr lang="it-IT" sz="1500" b="1" dirty="0">
                <a:latin typeface="Courier New" charset="0"/>
              </a:rPr>
            </a:br>
            <a:r>
              <a:rPr lang="it-IT" sz="1500" b="1" dirty="0">
                <a:latin typeface="Courier New" charset="0"/>
              </a:rPr>
              <a:t>   </a:t>
            </a:r>
            <a:r>
              <a:rPr lang="it-IT" sz="1500" b="1" dirty="0">
                <a:solidFill>
                  <a:srgbClr val="FF3300"/>
                </a:solidFill>
                <a:latin typeface="Courier New" charset="0"/>
              </a:rPr>
              <a:t>"</a:t>
            </a:r>
            <a:r>
              <a:rPr lang="it-IT" sz="1500" b="1" dirty="0" err="1">
                <a:solidFill>
                  <a:srgbClr val="FF3300"/>
                </a:solidFill>
                <a:latin typeface="Courier New" charset="0"/>
              </a:rPr>
              <a:t>jdbc:postgresql:university</a:t>
            </a:r>
            <a:r>
              <a:rPr lang="it-IT" sz="1500" b="1" dirty="0">
                <a:solidFill>
                  <a:srgbClr val="FF3300"/>
                </a:solidFill>
                <a:latin typeface="Courier New" charset="0"/>
              </a:rPr>
              <a:t>"</a:t>
            </a:r>
            <a:r>
              <a:rPr lang="it-IT" sz="1500" b="1" dirty="0">
                <a:latin typeface="Courier New" charset="0"/>
              </a:rPr>
              <a:t> , 					</a:t>
            </a:r>
            <a:r>
              <a:rPr lang="it-IT" sz="1500" b="1" dirty="0">
                <a:solidFill>
                  <a:schemeClr val="tx2"/>
                </a:solidFill>
                <a:latin typeface="Courier New" charset="0"/>
              </a:rPr>
              <a:t>"</a:t>
            </a:r>
            <a:r>
              <a:rPr lang="it-IT" sz="1500" b="1" dirty="0" err="1">
                <a:solidFill>
                  <a:schemeClr val="tx2"/>
                </a:solidFill>
                <a:latin typeface="Courier New" charset="0"/>
              </a:rPr>
              <a:t>postgres</a:t>
            </a:r>
            <a:r>
              <a:rPr lang="it-IT" sz="1500" b="1" dirty="0">
                <a:solidFill>
                  <a:schemeClr val="tx2"/>
                </a:solidFill>
                <a:latin typeface="Courier New" charset="0"/>
              </a:rPr>
              <a:t>"</a:t>
            </a:r>
            <a:r>
              <a:rPr lang="it-IT" sz="1500" b="1" dirty="0">
                <a:latin typeface="Courier New" charset="0"/>
              </a:rPr>
              <a:t>, </a:t>
            </a:r>
          </a:p>
          <a:p>
            <a:pPr lvl="1" eaLnBrk="1" hangingPunct="1">
              <a:lnSpc>
                <a:spcPct val="90000"/>
              </a:lnSpc>
              <a:buFontTx/>
              <a:buNone/>
            </a:pPr>
            <a:r>
              <a:rPr lang="it-IT" sz="1500" b="1" dirty="0">
                <a:solidFill>
                  <a:srgbClr val="FF3300"/>
                </a:solidFill>
                <a:latin typeface="Courier New" charset="0"/>
              </a:rPr>
              <a:t>				"</a:t>
            </a:r>
            <a:r>
              <a:rPr lang="it-IT" sz="1500" b="1" dirty="0" err="1">
                <a:solidFill>
                  <a:srgbClr val="FF3300"/>
                </a:solidFill>
                <a:latin typeface="Courier New" charset="0"/>
              </a:rPr>
              <a:t>postgres</a:t>
            </a:r>
            <a:r>
              <a:rPr lang="it-IT" sz="1500" b="1" dirty="0">
                <a:solidFill>
                  <a:srgbClr val="FF3300"/>
                </a:solidFill>
                <a:latin typeface="Courier New" charset="0"/>
              </a:rPr>
              <a:t>"</a:t>
            </a:r>
            <a:r>
              <a:rPr lang="it-IT" sz="1500" b="1" dirty="0">
                <a:latin typeface="Courier New" charset="0"/>
              </a:rPr>
              <a:t> );</a:t>
            </a:r>
          </a:p>
          <a:p>
            <a:pPr eaLnBrk="1" hangingPunct="1">
              <a:lnSpc>
                <a:spcPct val="90000"/>
              </a:lnSpc>
            </a:pPr>
            <a:r>
              <a:rPr lang="it-IT" sz="2100" dirty="0"/>
              <a:t>Attenzione: ottenere una connessione è un'operazione costosa</a:t>
            </a:r>
          </a:p>
          <a:p>
            <a:pPr lvl="1" eaLnBrk="1" hangingPunct="1">
              <a:lnSpc>
                <a:spcPct val="90000"/>
              </a:lnSpc>
            </a:pPr>
            <a:r>
              <a:rPr lang="it-IT" sz="1800" dirty="0"/>
              <a:t>Creare troppe connessioni comporta problemi di prestazioni</a:t>
            </a:r>
          </a:p>
          <a:p>
            <a:pPr lvl="1" eaLnBrk="1" hangingPunct="1">
              <a:lnSpc>
                <a:spcPct val="90000"/>
              </a:lnSpc>
            </a:pPr>
            <a:r>
              <a:rPr lang="it-IT" sz="1800" dirty="0"/>
              <a:t>Esistono tecniche (connection </a:t>
            </a:r>
            <a:r>
              <a:rPr lang="it-IT" sz="1800" dirty="0" err="1"/>
              <a:t>pooling</a:t>
            </a:r>
            <a:r>
              <a:rPr lang="it-IT" sz="1800" dirty="0"/>
              <a:t>) per superare questo problema (ma non le vedremo)</a:t>
            </a:r>
          </a:p>
        </p:txBody>
      </p:sp>
    </p:spTree>
    <p:extLst>
      <p:ext uri="{BB962C8B-B14F-4D97-AF65-F5344CB8AC3E}">
        <p14:creationId xmlns:p14="http://schemas.microsoft.com/office/powerpoint/2010/main" val="4286578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155">
                                            <p:txEl>
                                              <p:pRg st="4" end="4"/>
                                            </p:txEl>
                                          </p:spTgt>
                                        </p:tgtEl>
                                        <p:attrNameLst>
                                          <p:attrName>style.visibility</p:attrName>
                                        </p:attrNameLst>
                                      </p:cBhvr>
                                      <p:to>
                                        <p:strVal val="visible"/>
                                      </p:to>
                                    </p:set>
                                    <p:anim calcmode="lin" valueType="num">
                                      <p:cBhvr additive="base">
                                        <p:cTn id="7" dur="500" fill="hold"/>
                                        <p:tgtEl>
                                          <p:spTgt spid="4915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155">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9155">
                                            <p:txEl>
                                              <p:pRg st="5" end="5"/>
                                            </p:txEl>
                                          </p:spTgt>
                                        </p:tgtEl>
                                        <p:attrNameLst>
                                          <p:attrName>style.visibility</p:attrName>
                                        </p:attrNameLst>
                                      </p:cBhvr>
                                      <p:to>
                                        <p:strVal val="visible"/>
                                      </p:to>
                                    </p:set>
                                    <p:anim calcmode="lin" valueType="num">
                                      <p:cBhvr additive="base">
                                        <p:cTn id="11" dur="500" fill="hold"/>
                                        <p:tgtEl>
                                          <p:spTgt spid="49155">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9155">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9155">
                                            <p:txEl>
                                              <p:pRg st="6" end="6"/>
                                            </p:txEl>
                                          </p:spTgt>
                                        </p:tgtEl>
                                        <p:attrNameLst>
                                          <p:attrName>style.visibility</p:attrName>
                                        </p:attrNameLst>
                                      </p:cBhvr>
                                      <p:to>
                                        <p:strVal val="visible"/>
                                      </p:to>
                                    </p:set>
                                    <p:anim calcmode="lin" valueType="num">
                                      <p:cBhvr additive="base">
                                        <p:cTn id="15" dur="500" fill="hold"/>
                                        <p:tgtEl>
                                          <p:spTgt spid="49155">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9155">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9155">
                                            <p:txEl>
                                              <p:pRg st="7" end="7"/>
                                            </p:txEl>
                                          </p:spTgt>
                                        </p:tgtEl>
                                        <p:attrNameLst>
                                          <p:attrName>style.visibility</p:attrName>
                                        </p:attrNameLst>
                                      </p:cBhvr>
                                      <p:to>
                                        <p:strVal val="visible"/>
                                      </p:to>
                                    </p:set>
                                    <p:anim calcmode="lin" valueType="num">
                                      <p:cBhvr additive="base">
                                        <p:cTn id="19" dur="500" fill="hold"/>
                                        <p:tgtEl>
                                          <p:spTgt spid="49155">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915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9155">
                                            <p:txEl>
                                              <p:pRg st="8" end="8"/>
                                            </p:txEl>
                                          </p:spTgt>
                                        </p:tgtEl>
                                        <p:attrNameLst>
                                          <p:attrName>style.visibility</p:attrName>
                                        </p:attrNameLst>
                                      </p:cBhvr>
                                      <p:to>
                                        <p:strVal val="visible"/>
                                      </p:to>
                                    </p:set>
                                    <p:anim calcmode="lin" valueType="num">
                                      <p:cBhvr additive="base">
                                        <p:cTn id="25" dur="500" fill="hold"/>
                                        <p:tgtEl>
                                          <p:spTgt spid="49155">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9155">
                                            <p:txEl>
                                              <p:pRg st="8" end="8"/>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9155">
                                            <p:txEl>
                                              <p:pRg st="9" end="9"/>
                                            </p:txEl>
                                          </p:spTgt>
                                        </p:tgtEl>
                                        <p:attrNameLst>
                                          <p:attrName>style.visibility</p:attrName>
                                        </p:attrNameLst>
                                      </p:cBhvr>
                                      <p:to>
                                        <p:strVal val="visible"/>
                                      </p:to>
                                    </p:set>
                                    <p:anim calcmode="lin" valueType="num">
                                      <p:cBhvr additive="base">
                                        <p:cTn id="29" dur="500" fill="hold"/>
                                        <p:tgtEl>
                                          <p:spTgt spid="49155">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9155">
                                            <p:txEl>
                                              <p:pRg st="9" end="9"/>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9155">
                                            <p:txEl>
                                              <p:pRg st="10" end="10"/>
                                            </p:txEl>
                                          </p:spTgt>
                                        </p:tgtEl>
                                        <p:attrNameLst>
                                          <p:attrName>style.visibility</p:attrName>
                                        </p:attrNameLst>
                                      </p:cBhvr>
                                      <p:to>
                                        <p:strVal val="visible"/>
                                      </p:to>
                                    </p:set>
                                    <p:anim calcmode="lin" valueType="num">
                                      <p:cBhvr additive="base">
                                        <p:cTn id="33" dur="500" fill="hold"/>
                                        <p:tgtEl>
                                          <p:spTgt spid="49155">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915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it-IT" dirty="0"/>
              <a:t>Nell'esempio</a:t>
            </a:r>
          </a:p>
        </p:txBody>
      </p:sp>
      <p:sp>
        <p:nvSpPr>
          <p:cNvPr id="24579" name="Rectangle 3"/>
          <p:cNvSpPr>
            <a:spLocks noGrp="1" noChangeArrowheads="1"/>
          </p:cNvSpPr>
          <p:nvPr>
            <p:ph idx="1"/>
          </p:nvPr>
        </p:nvSpPr>
        <p:spPr/>
        <p:txBody>
          <a:bodyPr>
            <a:normAutofit/>
          </a:bodyPr>
          <a:lstStyle/>
          <a:p>
            <a:pPr eaLnBrk="1" hangingPunct="1"/>
            <a:r>
              <a:rPr lang="it-IT" dirty="0"/>
              <a:t>Confiniamo nella classe </a:t>
            </a:r>
            <a:r>
              <a:rPr lang="it-IT" b="1" dirty="0" err="1">
                <a:latin typeface="Courier New" charset="0"/>
              </a:rPr>
              <a:t>DataSource</a:t>
            </a:r>
            <a:r>
              <a:rPr lang="it-IT" dirty="0"/>
              <a:t> la responsabilità di gestire le operazioni necessarie per ottenere la connessione</a:t>
            </a:r>
          </a:p>
          <a:p>
            <a:pPr lvl="1" eaLnBrk="1" hangingPunct="1"/>
            <a:r>
              <a:rPr lang="it-IT" dirty="0"/>
              <a:t>il suo compito è servire connessioni alle altre classi che ne hanno bisogno</a:t>
            </a:r>
          </a:p>
          <a:p>
            <a:pPr lvl="1" eaLnBrk="1" hangingPunct="1"/>
            <a:r>
              <a:rPr lang="it-IT" dirty="0"/>
              <a:t>metodo </a:t>
            </a:r>
            <a:r>
              <a:rPr lang="it-IT" b="1" dirty="0">
                <a:latin typeface="Courier New" charset="0"/>
              </a:rPr>
              <a:t>Connection </a:t>
            </a:r>
            <a:r>
              <a:rPr lang="it-IT" b="1" dirty="0" err="1">
                <a:latin typeface="Courier New" charset="0"/>
              </a:rPr>
              <a:t>getConnection</a:t>
            </a:r>
            <a:r>
              <a:rPr lang="it-IT" b="1" dirty="0">
                <a:latin typeface="Courier New" charset="0"/>
              </a:rPr>
              <a:t>()</a:t>
            </a:r>
            <a:r>
              <a:rPr lang="it-IT" dirty="0"/>
              <a:t> che restituisce una nuova connessione ad ogni richiesta</a:t>
            </a:r>
          </a:p>
          <a:p>
            <a:pPr eaLnBrk="1" hangingPunct="1"/>
            <a:r>
              <a:rPr lang="it-IT" dirty="0"/>
              <a:t>E' una soluzione artigianale usata a fini didattici (ma ha una sua dignità)</a:t>
            </a:r>
          </a:p>
        </p:txBody>
      </p:sp>
    </p:spTree>
    <p:extLst>
      <p:ext uri="{BB962C8B-B14F-4D97-AF65-F5344CB8AC3E}">
        <p14:creationId xmlns:p14="http://schemas.microsoft.com/office/powerpoint/2010/main" val="3205319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it-IT" dirty="0"/>
              <a:t>La classe </a:t>
            </a:r>
            <a:r>
              <a:rPr lang="it-IT" dirty="0" err="1">
                <a:latin typeface="Courier New" charset="0"/>
              </a:rPr>
              <a:t>DataSource</a:t>
            </a:r>
            <a:endParaRPr lang="it-IT" dirty="0">
              <a:latin typeface="Courier New" charset="0"/>
            </a:endParaRPr>
          </a:p>
        </p:txBody>
      </p:sp>
      <p:sp>
        <p:nvSpPr>
          <p:cNvPr id="53251" name="Rectangle 3"/>
          <p:cNvSpPr>
            <a:spLocks noGrp="1" noChangeArrowheads="1"/>
          </p:cNvSpPr>
          <p:nvPr>
            <p:ph idx="1"/>
          </p:nvPr>
        </p:nvSpPr>
        <p:spPr>
          <a:xfrm>
            <a:off x="457200" y="986118"/>
            <a:ext cx="8229600" cy="4157381"/>
          </a:xfrm>
        </p:spPr>
        <p:txBody>
          <a:bodyPr>
            <a:normAutofit lnSpcReduction="10000"/>
          </a:bodyPr>
          <a:lstStyle/>
          <a:p>
            <a:pPr eaLnBrk="1" hangingPunct="1">
              <a:lnSpc>
                <a:spcPct val="80000"/>
              </a:lnSpc>
              <a:buFontTx/>
              <a:buNone/>
            </a:pPr>
            <a:r>
              <a:rPr lang="it-IT" sz="1400" b="1" dirty="0">
                <a:solidFill>
                  <a:srgbClr val="7F0055"/>
                </a:solidFill>
                <a:latin typeface="Courier New" charset="0"/>
              </a:rPr>
              <a:t>package </a:t>
            </a:r>
            <a:r>
              <a:rPr lang="it-IT" sz="1400" b="1" dirty="0">
                <a:solidFill>
                  <a:srgbClr val="000000"/>
                </a:solidFill>
                <a:latin typeface="Courier New" charset="0"/>
              </a:rPr>
              <a:t>it.uniroma3.persistence;</a:t>
            </a:r>
          </a:p>
          <a:p>
            <a:pPr eaLnBrk="1" hangingPunct="1">
              <a:lnSpc>
                <a:spcPct val="80000"/>
              </a:lnSpc>
              <a:buFontTx/>
              <a:buNone/>
            </a:pPr>
            <a:r>
              <a:rPr lang="it-IT" sz="1400" b="1" dirty="0">
                <a:solidFill>
                  <a:srgbClr val="7F0055"/>
                </a:solidFill>
                <a:latin typeface="Courier New" charset="0"/>
              </a:rPr>
              <a:t>import</a:t>
            </a:r>
            <a:r>
              <a:rPr lang="it-IT" sz="1400" b="1" dirty="0">
                <a:solidFill>
                  <a:srgbClr val="000000"/>
                </a:solidFill>
                <a:latin typeface="Courier New" charset="0"/>
              </a:rPr>
              <a:t> </a:t>
            </a:r>
            <a:r>
              <a:rPr lang="it-IT" sz="1400" b="1" dirty="0" err="1">
                <a:solidFill>
                  <a:srgbClr val="000000"/>
                </a:solidFill>
                <a:latin typeface="Courier New" charset="0"/>
              </a:rPr>
              <a:t>java.sql</a:t>
            </a:r>
            <a:r>
              <a:rPr lang="it-IT" sz="1400" b="1" dirty="0">
                <a:solidFill>
                  <a:srgbClr val="000000"/>
                </a:solidFill>
                <a:latin typeface="Courier New" charset="0"/>
              </a:rPr>
              <a:t>.*;</a:t>
            </a:r>
            <a:endParaRPr lang="it-IT" sz="1400" b="1" dirty="0">
              <a:latin typeface="Courier New" charset="0"/>
            </a:endParaRPr>
          </a:p>
          <a:p>
            <a:pPr eaLnBrk="1" hangingPunct="1">
              <a:lnSpc>
                <a:spcPct val="80000"/>
              </a:lnSpc>
              <a:buFontTx/>
              <a:buNone/>
            </a:pPr>
            <a:endParaRPr lang="it-IT" sz="1400" b="1" dirty="0">
              <a:latin typeface="Courier New" charset="0"/>
            </a:endParaRPr>
          </a:p>
          <a:p>
            <a:pPr eaLnBrk="1" hangingPunct="1">
              <a:lnSpc>
                <a:spcPct val="80000"/>
              </a:lnSpc>
              <a:buFontTx/>
              <a:buNone/>
            </a:pPr>
            <a:r>
              <a:rPr lang="it-IT" sz="1400" b="1" dirty="0">
                <a:solidFill>
                  <a:srgbClr val="7F0055"/>
                </a:solidFill>
                <a:latin typeface="Courier New" charset="0"/>
              </a:rPr>
              <a:t>public</a:t>
            </a:r>
            <a:r>
              <a:rPr lang="it-IT" sz="1400" b="1" dirty="0">
                <a:solidFill>
                  <a:srgbClr val="000000"/>
                </a:solidFill>
                <a:latin typeface="Courier New" charset="0"/>
              </a:rPr>
              <a:t> </a:t>
            </a:r>
            <a:r>
              <a:rPr lang="it-IT" sz="1400" b="1" dirty="0" err="1">
                <a:solidFill>
                  <a:srgbClr val="7F0055"/>
                </a:solidFill>
                <a:latin typeface="Courier New" charset="0"/>
              </a:rPr>
              <a:t>class</a:t>
            </a:r>
            <a:r>
              <a:rPr lang="it-IT" sz="1400" b="1" dirty="0">
                <a:solidFill>
                  <a:srgbClr val="000000"/>
                </a:solidFill>
                <a:latin typeface="Courier New" charset="0"/>
              </a:rPr>
              <a:t> </a:t>
            </a:r>
            <a:r>
              <a:rPr lang="it-IT" sz="1400" b="1" dirty="0" err="1">
                <a:solidFill>
                  <a:srgbClr val="000000"/>
                </a:solidFill>
                <a:latin typeface="Courier New" charset="0"/>
              </a:rPr>
              <a:t>DataSource</a:t>
            </a:r>
            <a:r>
              <a:rPr lang="it-IT" sz="1400" b="1" dirty="0">
                <a:solidFill>
                  <a:srgbClr val="000000"/>
                </a:solidFill>
                <a:latin typeface="Courier New" charset="0"/>
              </a:rPr>
              <a:t> {</a:t>
            </a:r>
            <a:endParaRPr lang="it-IT" sz="1400" b="1" dirty="0">
              <a:latin typeface="Courier New" charset="0"/>
            </a:endParaRPr>
          </a:p>
          <a:p>
            <a:pPr eaLnBrk="1" hangingPunct="1">
              <a:lnSpc>
                <a:spcPct val="80000"/>
              </a:lnSpc>
              <a:buFontTx/>
              <a:buNone/>
            </a:pPr>
            <a:r>
              <a:rPr lang="it-IT" sz="1400" b="1" dirty="0">
                <a:solidFill>
                  <a:srgbClr val="7F0055"/>
                </a:solidFill>
                <a:latin typeface="Courier New" charset="0"/>
              </a:rPr>
              <a:t>	private</a:t>
            </a:r>
            <a:r>
              <a:rPr lang="it-IT" sz="1400" b="1" dirty="0">
                <a:solidFill>
                  <a:srgbClr val="000000"/>
                </a:solidFill>
                <a:latin typeface="Courier New" charset="0"/>
              </a:rPr>
              <a:t> </a:t>
            </a:r>
            <a:r>
              <a:rPr lang="it-IT" sz="1400" b="1" dirty="0" err="1">
                <a:solidFill>
                  <a:srgbClr val="000000"/>
                </a:solidFill>
                <a:latin typeface="Courier New" charset="0"/>
              </a:rPr>
              <a:t>String</a:t>
            </a:r>
            <a:r>
              <a:rPr lang="it-IT" sz="1400" b="1" dirty="0">
                <a:solidFill>
                  <a:srgbClr val="000000"/>
                </a:solidFill>
                <a:latin typeface="Courier New" charset="0"/>
              </a:rPr>
              <a:t> </a:t>
            </a:r>
            <a:r>
              <a:rPr lang="it-IT" sz="1400" b="1" dirty="0" err="1">
                <a:solidFill>
                  <a:srgbClr val="0000C0"/>
                </a:solidFill>
                <a:latin typeface="Courier New" charset="0"/>
              </a:rPr>
              <a:t>dbURI</a:t>
            </a:r>
            <a:r>
              <a:rPr lang="it-IT" sz="1400" b="1" dirty="0">
                <a:solidFill>
                  <a:srgbClr val="000000"/>
                </a:solidFill>
                <a:latin typeface="Courier New" charset="0"/>
              </a:rPr>
              <a:t> = </a:t>
            </a:r>
            <a:r>
              <a:rPr lang="it-IT" sz="1400" b="1" dirty="0">
                <a:solidFill>
                  <a:srgbClr val="2A00FF"/>
                </a:solidFill>
                <a:latin typeface="Courier New" charset="0"/>
              </a:rPr>
              <a:t>"</a:t>
            </a:r>
            <a:r>
              <a:rPr lang="it-IT" sz="1400" b="1" dirty="0" err="1">
                <a:solidFill>
                  <a:srgbClr val="2A00FF"/>
                </a:solidFill>
                <a:latin typeface="Courier New" charset="0"/>
              </a:rPr>
              <a:t>jdbc:postgresql</a:t>
            </a:r>
            <a:r>
              <a:rPr lang="it-IT" sz="1400" b="1" dirty="0">
                <a:solidFill>
                  <a:srgbClr val="2A00FF"/>
                </a:solidFill>
                <a:latin typeface="Courier New" charset="0"/>
              </a:rPr>
              <a:t>://</a:t>
            </a:r>
            <a:r>
              <a:rPr lang="it-IT" sz="1400" b="1" dirty="0" err="1">
                <a:solidFill>
                  <a:srgbClr val="2A00FF"/>
                </a:solidFill>
                <a:latin typeface="Courier New" charset="0"/>
              </a:rPr>
              <a:t>localhost</a:t>
            </a:r>
            <a:r>
              <a:rPr lang="it-IT" sz="1400" b="1" dirty="0">
                <a:solidFill>
                  <a:srgbClr val="2A00FF"/>
                </a:solidFill>
                <a:latin typeface="Courier New" charset="0"/>
              </a:rPr>
              <a:t>/</a:t>
            </a:r>
            <a:r>
              <a:rPr lang="it-IT" sz="1400" b="1" dirty="0" err="1">
                <a:solidFill>
                  <a:srgbClr val="2A00FF"/>
                </a:solidFill>
                <a:latin typeface="Courier New" charset="0"/>
              </a:rPr>
              <a:t>university</a:t>
            </a:r>
            <a:r>
              <a:rPr lang="it-IT" sz="1400" b="1" dirty="0">
                <a:solidFill>
                  <a:srgbClr val="2A00FF"/>
                </a:solidFill>
                <a:latin typeface="Courier New" charset="0"/>
              </a:rPr>
              <a:t>"</a:t>
            </a:r>
            <a:r>
              <a:rPr lang="it-IT" sz="1400" b="1" dirty="0">
                <a:solidFill>
                  <a:srgbClr val="000000"/>
                </a:solidFill>
                <a:latin typeface="Courier New" charset="0"/>
              </a:rPr>
              <a:t>;</a:t>
            </a:r>
            <a:endParaRPr lang="it-IT" sz="1400" b="1" dirty="0">
              <a:latin typeface="Courier New" charset="0"/>
            </a:endParaRPr>
          </a:p>
          <a:p>
            <a:pPr eaLnBrk="1" hangingPunct="1">
              <a:lnSpc>
                <a:spcPct val="80000"/>
              </a:lnSpc>
              <a:buFontTx/>
              <a:buNone/>
            </a:pPr>
            <a:r>
              <a:rPr lang="it-IT" sz="1400" b="1" dirty="0">
                <a:solidFill>
                  <a:srgbClr val="7F0055"/>
                </a:solidFill>
                <a:latin typeface="Courier New" charset="0"/>
              </a:rPr>
              <a:t>	private</a:t>
            </a:r>
            <a:r>
              <a:rPr lang="it-IT" sz="1400" b="1" dirty="0">
                <a:solidFill>
                  <a:srgbClr val="000000"/>
                </a:solidFill>
                <a:latin typeface="Courier New" charset="0"/>
              </a:rPr>
              <a:t> </a:t>
            </a:r>
            <a:r>
              <a:rPr lang="it-IT" sz="1400" b="1" dirty="0" err="1">
                <a:solidFill>
                  <a:srgbClr val="000000"/>
                </a:solidFill>
                <a:latin typeface="Courier New" charset="0"/>
              </a:rPr>
              <a:t>String</a:t>
            </a:r>
            <a:r>
              <a:rPr lang="it-IT" sz="1400" b="1" dirty="0">
                <a:solidFill>
                  <a:srgbClr val="000000"/>
                </a:solidFill>
                <a:latin typeface="Courier New" charset="0"/>
              </a:rPr>
              <a:t> </a:t>
            </a:r>
            <a:r>
              <a:rPr lang="it-IT" sz="1400" b="1" dirty="0" err="1">
                <a:solidFill>
                  <a:srgbClr val="0000C0"/>
                </a:solidFill>
                <a:latin typeface="Courier New" charset="0"/>
              </a:rPr>
              <a:t>userName</a:t>
            </a:r>
            <a:r>
              <a:rPr lang="it-IT" sz="1400" b="1" dirty="0">
                <a:solidFill>
                  <a:srgbClr val="000000"/>
                </a:solidFill>
                <a:latin typeface="Courier New" charset="0"/>
              </a:rPr>
              <a:t> = </a:t>
            </a:r>
            <a:r>
              <a:rPr lang="it-IT" sz="1400" b="1" dirty="0">
                <a:solidFill>
                  <a:srgbClr val="2A00FF"/>
                </a:solidFill>
                <a:latin typeface="Courier New" charset="0"/>
              </a:rPr>
              <a:t>"</a:t>
            </a:r>
            <a:r>
              <a:rPr lang="it-IT" sz="1400" b="1" dirty="0" err="1">
                <a:solidFill>
                  <a:srgbClr val="2A00FF"/>
                </a:solidFill>
                <a:latin typeface="Courier New" charset="0"/>
              </a:rPr>
              <a:t>postgres</a:t>
            </a:r>
            <a:r>
              <a:rPr lang="it-IT" sz="1400" b="1" dirty="0">
                <a:solidFill>
                  <a:srgbClr val="2A00FF"/>
                </a:solidFill>
                <a:latin typeface="Courier New" charset="0"/>
              </a:rPr>
              <a:t>"</a:t>
            </a:r>
            <a:r>
              <a:rPr lang="it-IT" sz="1400" b="1" dirty="0">
                <a:solidFill>
                  <a:srgbClr val="000000"/>
                </a:solidFill>
                <a:latin typeface="Courier New" charset="0"/>
              </a:rPr>
              <a:t>;</a:t>
            </a:r>
            <a:endParaRPr lang="it-IT" sz="1400" b="1" dirty="0">
              <a:latin typeface="Courier New" charset="0"/>
            </a:endParaRPr>
          </a:p>
          <a:p>
            <a:pPr eaLnBrk="1" hangingPunct="1">
              <a:lnSpc>
                <a:spcPct val="80000"/>
              </a:lnSpc>
              <a:buFontTx/>
              <a:buNone/>
            </a:pPr>
            <a:r>
              <a:rPr lang="it-IT" sz="1400" b="1" dirty="0">
                <a:solidFill>
                  <a:srgbClr val="7F0055"/>
                </a:solidFill>
                <a:latin typeface="Courier New" charset="0"/>
              </a:rPr>
              <a:t>	private</a:t>
            </a:r>
            <a:r>
              <a:rPr lang="it-IT" sz="1400" b="1" dirty="0">
                <a:solidFill>
                  <a:srgbClr val="000000"/>
                </a:solidFill>
                <a:latin typeface="Courier New" charset="0"/>
              </a:rPr>
              <a:t> </a:t>
            </a:r>
            <a:r>
              <a:rPr lang="it-IT" sz="1400" b="1" dirty="0" err="1">
                <a:solidFill>
                  <a:srgbClr val="000000"/>
                </a:solidFill>
                <a:latin typeface="Courier New" charset="0"/>
              </a:rPr>
              <a:t>String</a:t>
            </a:r>
            <a:r>
              <a:rPr lang="it-IT" sz="1400" b="1" dirty="0">
                <a:solidFill>
                  <a:srgbClr val="000000"/>
                </a:solidFill>
                <a:latin typeface="Courier New" charset="0"/>
              </a:rPr>
              <a:t> </a:t>
            </a:r>
            <a:r>
              <a:rPr lang="it-IT" sz="1400" b="1" dirty="0">
                <a:solidFill>
                  <a:srgbClr val="0000C0"/>
                </a:solidFill>
                <a:latin typeface="Courier New" charset="0"/>
              </a:rPr>
              <a:t>password</a:t>
            </a:r>
            <a:r>
              <a:rPr lang="it-IT" sz="1400" b="1" dirty="0">
                <a:solidFill>
                  <a:srgbClr val="000000"/>
                </a:solidFill>
                <a:latin typeface="Courier New" charset="0"/>
              </a:rPr>
              <a:t> = </a:t>
            </a:r>
            <a:r>
              <a:rPr lang="it-IT" sz="1400" b="1" dirty="0">
                <a:solidFill>
                  <a:srgbClr val="2A00FF"/>
                </a:solidFill>
                <a:latin typeface="Courier New" charset="0"/>
              </a:rPr>
              <a:t>"</a:t>
            </a:r>
            <a:r>
              <a:rPr lang="it-IT" sz="1400" b="1" dirty="0" err="1">
                <a:solidFill>
                  <a:srgbClr val="2A00FF"/>
                </a:solidFill>
                <a:latin typeface="Courier New" charset="0"/>
              </a:rPr>
              <a:t>postgres</a:t>
            </a:r>
            <a:r>
              <a:rPr lang="it-IT" sz="1400" b="1" dirty="0">
                <a:solidFill>
                  <a:srgbClr val="2A00FF"/>
                </a:solidFill>
                <a:latin typeface="Courier New" charset="0"/>
              </a:rPr>
              <a:t>"</a:t>
            </a:r>
            <a:r>
              <a:rPr lang="it-IT" sz="1400" b="1" dirty="0">
                <a:solidFill>
                  <a:srgbClr val="000000"/>
                </a:solidFill>
                <a:latin typeface="Courier New" charset="0"/>
              </a:rPr>
              <a:t>;</a:t>
            </a:r>
            <a:endParaRPr lang="it-IT" sz="1400" b="1" dirty="0">
              <a:latin typeface="Courier New" charset="0"/>
            </a:endParaRPr>
          </a:p>
          <a:p>
            <a:pPr eaLnBrk="1" hangingPunct="1">
              <a:lnSpc>
                <a:spcPct val="80000"/>
              </a:lnSpc>
              <a:buFontTx/>
              <a:buNone/>
            </a:pPr>
            <a:endParaRPr lang="it-IT" sz="1400" b="1" dirty="0">
              <a:latin typeface="Courier New" charset="0"/>
            </a:endParaRPr>
          </a:p>
          <a:p>
            <a:pPr eaLnBrk="1" hangingPunct="1">
              <a:lnSpc>
                <a:spcPct val="80000"/>
              </a:lnSpc>
              <a:buFontTx/>
              <a:buNone/>
            </a:pPr>
            <a:r>
              <a:rPr lang="it-IT" sz="1400" b="1" dirty="0">
                <a:solidFill>
                  <a:srgbClr val="7F0055"/>
                </a:solidFill>
                <a:latin typeface="Courier New" charset="0"/>
              </a:rPr>
              <a:t>	public</a:t>
            </a:r>
            <a:r>
              <a:rPr lang="it-IT" sz="1400" b="1" dirty="0">
                <a:solidFill>
                  <a:srgbClr val="000000"/>
                </a:solidFill>
                <a:latin typeface="Courier New" charset="0"/>
              </a:rPr>
              <a:t> Connection </a:t>
            </a:r>
            <a:r>
              <a:rPr lang="it-IT" sz="1400" b="1" dirty="0" err="1">
                <a:solidFill>
                  <a:srgbClr val="000000"/>
                </a:solidFill>
                <a:latin typeface="Courier New" charset="0"/>
              </a:rPr>
              <a:t>getConnection</a:t>
            </a:r>
            <a:r>
              <a:rPr lang="it-IT" sz="1400" b="1" dirty="0">
                <a:solidFill>
                  <a:srgbClr val="000000"/>
                </a:solidFill>
                <a:latin typeface="Courier New" charset="0"/>
              </a:rPr>
              <a:t>() </a:t>
            </a:r>
            <a:r>
              <a:rPr lang="it-IT" sz="1400" b="1" dirty="0" err="1">
                <a:solidFill>
                  <a:srgbClr val="7F0055"/>
                </a:solidFill>
                <a:latin typeface="Courier New" charset="0"/>
              </a:rPr>
              <a:t>throws</a:t>
            </a:r>
            <a:r>
              <a:rPr lang="it-IT" sz="1400" b="1" dirty="0">
                <a:solidFill>
                  <a:srgbClr val="000000"/>
                </a:solidFill>
                <a:latin typeface="Courier New" charset="0"/>
              </a:rPr>
              <a:t> </a:t>
            </a:r>
            <a:r>
              <a:rPr lang="it-IT" sz="1400" b="1" dirty="0" err="1">
                <a:solidFill>
                  <a:srgbClr val="000000"/>
                </a:solidFill>
                <a:latin typeface="Courier New" charset="0"/>
              </a:rPr>
              <a:t>PersistenceException</a:t>
            </a:r>
            <a:r>
              <a:rPr lang="it-IT" sz="1400" b="1" dirty="0">
                <a:solidFill>
                  <a:srgbClr val="000000"/>
                </a:solidFill>
                <a:latin typeface="Courier New" charset="0"/>
              </a:rPr>
              <a:t> {</a:t>
            </a:r>
            <a:endParaRPr lang="it-IT" sz="1400" b="1" dirty="0">
              <a:latin typeface="Courier New" charset="0"/>
            </a:endParaRPr>
          </a:p>
          <a:p>
            <a:pPr eaLnBrk="1" hangingPunct="1">
              <a:lnSpc>
                <a:spcPct val="80000"/>
              </a:lnSpc>
              <a:buFontTx/>
              <a:buNone/>
            </a:pPr>
            <a:r>
              <a:rPr lang="it-IT" sz="1400" b="1" dirty="0">
                <a:solidFill>
                  <a:srgbClr val="000000"/>
                </a:solidFill>
                <a:latin typeface="Courier New" charset="0"/>
              </a:rPr>
              <a:t>		Connection connection = </a:t>
            </a:r>
            <a:r>
              <a:rPr lang="it-IT" sz="1400" b="1" dirty="0" err="1">
                <a:solidFill>
                  <a:srgbClr val="000000"/>
                </a:solidFill>
                <a:latin typeface="Courier New" charset="0"/>
              </a:rPr>
              <a:t>null</a:t>
            </a:r>
            <a:r>
              <a:rPr lang="it-IT" sz="1400" b="1" dirty="0">
                <a:solidFill>
                  <a:srgbClr val="000000"/>
                </a:solidFill>
                <a:latin typeface="Courier New" charset="0"/>
              </a:rPr>
              <a:t>;</a:t>
            </a:r>
            <a:endParaRPr lang="it-IT" sz="1400" b="1" dirty="0">
              <a:latin typeface="Courier New" charset="0"/>
            </a:endParaRPr>
          </a:p>
          <a:p>
            <a:pPr eaLnBrk="1" hangingPunct="1">
              <a:lnSpc>
                <a:spcPct val="80000"/>
              </a:lnSpc>
              <a:buFontTx/>
              <a:buNone/>
            </a:pPr>
            <a:r>
              <a:rPr lang="it-IT" sz="1400" b="1" dirty="0">
                <a:solidFill>
                  <a:srgbClr val="7F0055"/>
                </a:solidFill>
                <a:latin typeface="Courier New" charset="0"/>
              </a:rPr>
              <a:t>		</a:t>
            </a:r>
            <a:r>
              <a:rPr lang="it-IT" sz="1400" b="1" dirty="0" err="1">
                <a:solidFill>
                  <a:srgbClr val="7F0055"/>
                </a:solidFill>
                <a:latin typeface="Courier New" charset="0"/>
              </a:rPr>
              <a:t>try</a:t>
            </a:r>
            <a:r>
              <a:rPr lang="it-IT" sz="1400" b="1" dirty="0">
                <a:solidFill>
                  <a:srgbClr val="000000"/>
                </a:solidFill>
                <a:latin typeface="Courier New" charset="0"/>
              </a:rPr>
              <a:t> {</a:t>
            </a:r>
            <a:endParaRPr lang="it-IT" sz="1400" b="1" dirty="0">
              <a:latin typeface="Courier New" charset="0"/>
            </a:endParaRPr>
          </a:p>
          <a:p>
            <a:pPr eaLnBrk="1" hangingPunct="1">
              <a:lnSpc>
                <a:spcPct val="80000"/>
              </a:lnSpc>
              <a:buFontTx/>
              <a:buNone/>
            </a:pPr>
            <a:r>
              <a:rPr lang="it-IT" sz="1400" b="1" dirty="0">
                <a:solidFill>
                  <a:srgbClr val="000000"/>
                </a:solidFill>
                <a:latin typeface="Courier New" charset="0"/>
              </a:rPr>
              <a:t>		    </a:t>
            </a:r>
            <a:r>
              <a:rPr lang="it-IT" sz="1400" b="1" dirty="0" err="1">
                <a:solidFill>
                  <a:srgbClr val="000000"/>
                </a:solidFill>
                <a:latin typeface="Courier New" charset="0"/>
              </a:rPr>
              <a:t>Class.</a:t>
            </a:r>
            <a:r>
              <a:rPr lang="it-IT" sz="1400" b="1" i="1" dirty="0" err="1">
                <a:solidFill>
                  <a:srgbClr val="000000"/>
                </a:solidFill>
                <a:latin typeface="Courier New" charset="0"/>
              </a:rPr>
              <a:t>forName</a:t>
            </a:r>
            <a:r>
              <a:rPr lang="it-IT" sz="1400" b="1" dirty="0">
                <a:solidFill>
                  <a:srgbClr val="000000"/>
                </a:solidFill>
                <a:latin typeface="Courier New" charset="0"/>
              </a:rPr>
              <a:t>(</a:t>
            </a:r>
            <a:r>
              <a:rPr lang="it-IT" sz="1400" b="1" dirty="0">
                <a:solidFill>
                  <a:srgbClr val="2A00FF"/>
                </a:solidFill>
                <a:latin typeface="Courier New" charset="0"/>
              </a:rPr>
              <a:t>"</a:t>
            </a:r>
            <a:r>
              <a:rPr lang="it-IT" sz="1400" b="1" dirty="0" err="1">
                <a:solidFill>
                  <a:srgbClr val="2A00FF"/>
                </a:solidFill>
                <a:latin typeface="Courier New" charset="0"/>
              </a:rPr>
              <a:t>org.postgresql.Driver</a:t>
            </a:r>
            <a:r>
              <a:rPr lang="it-IT" sz="1400" b="1" dirty="0">
                <a:solidFill>
                  <a:srgbClr val="2A00FF"/>
                </a:solidFill>
                <a:latin typeface="Courier New" charset="0"/>
              </a:rPr>
              <a:t>"</a:t>
            </a:r>
            <a:r>
              <a:rPr lang="it-IT" sz="1400" b="1" dirty="0">
                <a:solidFill>
                  <a:srgbClr val="000000"/>
                </a:solidFill>
                <a:latin typeface="Courier New" charset="0"/>
              </a:rPr>
              <a:t>);</a:t>
            </a:r>
          </a:p>
          <a:p>
            <a:pPr eaLnBrk="1" hangingPunct="1">
              <a:lnSpc>
                <a:spcPct val="80000"/>
              </a:lnSpc>
              <a:buFontTx/>
              <a:buNone/>
            </a:pPr>
            <a:r>
              <a:rPr lang="it-IT" sz="1400" b="1" dirty="0">
                <a:solidFill>
                  <a:srgbClr val="000000"/>
                </a:solidFill>
                <a:latin typeface="Courier New" charset="0"/>
              </a:rPr>
              <a:t>		    connection = </a:t>
            </a:r>
            <a:r>
              <a:rPr lang="it-IT" sz="1400" b="1" dirty="0" err="1">
                <a:solidFill>
                  <a:srgbClr val="000000"/>
                </a:solidFill>
                <a:latin typeface="Courier New" charset="0"/>
              </a:rPr>
              <a:t>DriverManager.</a:t>
            </a:r>
            <a:r>
              <a:rPr lang="it-IT" sz="1400" b="1" i="1" dirty="0" err="1">
                <a:solidFill>
                  <a:srgbClr val="000000"/>
                </a:solidFill>
                <a:latin typeface="Courier New" charset="0"/>
              </a:rPr>
              <a:t>getConnection</a:t>
            </a:r>
            <a:r>
              <a:rPr lang="it-IT" sz="1400" b="1" dirty="0">
                <a:solidFill>
                  <a:srgbClr val="000000"/>
                </a:solidFill>
                <a:latin typeface="Courier New" charset="0"/>
              </a:rPr>
              <a:t>(</a:t>
            </a:r>
            <a:r>
              <a:rPr lang="it-IT" sz="1400" b="1" dirty="0" err="1">
                <a:solidFill>
                  <a:srgbClr val="0000C0"/>
                </a:solidFill>
                <a:latin typeface="Courier New" charset="0"/>
              </a:rPr>
              <a:t>dbURI</a:t>
            </a:r>
            <a:r>
              <a:rPr lang="it-IT" sz="1400" b="1" dirty="0" err="1">
                <a:solidFill>
                  <a:srgbClr val="000000"/>
                </a:solidFill>
                <a:latin typeface="Courier New" charset="0"/>
              </a:rPr>
              <a:t>,</a:t>
            </a:r>
            <a:r>
              <a:rPr lang="it-IT" sz="1400" b="1" dirty="0" err="1">
                <a:solidFill>
                  <a:srgbClr val="0000C0"/>
                </a:solidFill>
                <a:latin typeface="Courier New" charset="0"/>
              </a:rPr>
              <a:t>userName</a:t>
            </a:r>
            <a:r>
              <a:rPr lang="it-IT" sz="1400" b="1" dirty="0">
                <a:solidFill>
                  <a:srgbClr val="000000"/>
                </a:solidFill>
                <a:latin typeface="Courier New" charset="0"/>
              </a:rPr>
              <a:t>, </a:t>
            </a:r>
            <a:r>
              <a:rPr lang="it-IT" sz="1400" b="1" dirty="0">
                <a:solidFill>
                  <a:srgbClr val="0000C0"/>
                </a:solidFill>
                <a:latin typeface="Courier New" charset="0"/>
              </a:rPr>
              <a:t>password</a:t>
            </a:r>
            <a:r>
              <a:rPr lang="it-IT" sz="1400" b="1" dirty="0">
                <a:solidFill>
                  <a:srgbClr val="000000"/>
                </a:solidFill>
                <a:latin typeface="Courier New" charset="0"/>
              </a:rPr>
              <a:t>);</a:t>
            </a:r>
            <a:endParaRPr lang="it-IT" sz="1400" b="1" dirty="0">
              <a:latin typeface="Courier New" charset="0"/>
            </a:endParaRPr>
          </a:p>
          <a:p>
            <a:pPr eaLnBrk="1" hangingPunct="1">
              <a:lnSpc>
                <a:spcPct val="80000"/>
              </a:lnSpc>
              <a:buFontTx/>
              <a:buNone/>
            </a:pPr>
            <a:r>
              <a:rPr lang="it-IT" sz="1400" b="1" dirty="0">
                <a:solidFill>
                  <a:srgbClr val="000000"/>
                </a:solidFill>
                <a:latin typeface="Courier New" charset="0"/>
              </a:rPr>
              <a:t>		} </a:t>
            </a:r>
            <a:r>
              <a:rPr lang="it-IT" sz="1400" b="1" dirty="0">
                <a:solidFill>
                  <a:srgbClr val="7F0055"/>
                </a:solidFill>
                <a:latin typeface="Courier New" charset="0"/>
              </a:rPr>
              <a:t>catch</a:t>
            </a:r>
            <a:r>
              <a:rPr lang="it-IT" sz="1400" b="1" dirty="0">
                <a:solidFill>
                  <a:srgbClr val="000000"/>
                </a:solidFill>
                <a:latin typeface="Courier New" charset="0"/>
              </a:rPr>
              <a:t> (</a:t>
            </a:r>
            <a:r>
              <a:rPr lang="it-IT" sz="1400" b="1" dirty="0" err="1">
                <a:solidFill>
                  <a:srgbClr val="000000"/>
                </a:solidFill>
                <a:latin typeface="Courier New" charset="0"/>
              </a:rPr>
              <a:t>ClassNotFoundException</a:t>
            </a:r>
            <a:r>
              <a:rPr lang="it-IT" sz="1400" b="1" dirty="0">
                <a:solidFill>
                  <a:srgbClr val="000000"/>
                </a:solidFill>
                <a:latin typeface="Courier New" charset="0"/>
              </a:rPr>
              <a:t> e) {</a:t>
            </a:r>
            <a:endParaRPr lang="it-IT" sz="1400" b="1" dirty="0">
              <a:latin typeface="Courier New" charset="0"/>
            </a:endParaRPr>
          </a:p>
          <a:p>
            <a:pPr>
              <a:lnSpc>
                <a:spcPct val="80000"/>
              </a:lnSpc>
              <a:buNone/>
            </a:pPr>
            <a:r>
              <a:rPr lang="it-IT" sz="1400" b="1" dirty="0">
                <a:solidFill>
                  <a:srgbClr val="7F0055"/>
                </a:solidFill>
                <a:latin typeface="Courier New" charset="0"/>
              </a:rPr>
              <a:t>			</a:t>
            </a:r>
            <a:r>
              <a:rPr lang="it-IT" sz="1400" b="1" dirty="0" err="1">
                <a:solidFill>
                  <a:srgbClr val="7F0055"/>
                </a:solidFill>
                <a:latin typeface="Courier New" charset="0"/>
              </a:rPr>
              <a:t>e.printStackTrace</a:t>
            </a:r>
            <a:r>
              <a:rPr lang="it-IT" sz="1400" b="1" dirty="0">
                <a:solidFill>
                  <a:srgbClr val="7F0055"/>
                </a:solidFill>
                <a:latin typeface="Courier New" charset="0"/>
              </a:rPr>
              <a:t>();</a:t>
            </a:r>
            <a:endParaRPr lang="it-IT" sz="1400" b="1" dirty="0">
              <a:latin typeface="Courier New" charset="0"/>
            </a:endParaRPr>
          </a:p>
          <a:p>
            <a:pPr eaLnBrk="1" hangingPunct="1">
              <a:lnSpc>
                <a:spcPct val="80000"/>
              </a:lnSpc>
              <a:buFontTx/>
              <a:buNone/>
            </a:pPr>
            <a:r>
              <a:rPr lang="it-IT" sz="1400" b="1" dirty="0">
                <a:solidFill>
                  <a:srgbClr val="000000"/>
                </a:solidFill>
                <a:latin typeface="Courier New" charset="0"/>
              </a:rPr>
              <a:t>		} </a:t>
            </a:r>
            <a:r>
              <a:rPr lang="it-IT" sz="1400" b="1" dirty="0">
                <a:solidFill>
                  <a:srgbClr val="7F0055"/>
                </a:solidFill>
                <a:latin typeface="Courier New" charset="0"/>
              </a:rPr>
              <a:t>catch</a:t>
            </a:r>
            <a:r>
              <a:rPr lang="it-IT" sz="1400" b="1" dirty="0">
                <a:solidFill>
                  <a:srgbClr val="000000"/>
                </a:solidFill>
                <a:latin typeface="Courier New" charset="0"/>
              </a:rPr>
              <a:t>(</a:t>
            </a:r>
            <a:r>
              <a:rPr lang="it-IT" sz="1400" b="1" dirty="0" err="1">
                <a:solidFill>
                  <a:srgbClr val="000000"/>
                </a:solidFill>
                <a:latin typeface="Courier New" charset="0"/>
              </a:rPr>
              <a:t>SQLException</a:t>
            </a:r>
            <a:r>
              <a:rPr lang="it-IT" sz="1400" b="1" dirty="0">
                <a:solidFill>
                  <a:srgbClr val="000000"/>
                </a:solidFill>
                <a:latin typeface="Courier New" charset="0"/>
              </a:rPr>
              <a:t> e) {</a:t>
            </a:r>
            <a:endParaRPr lang="it-IT" sz="1400" b="1" dirty="0">
              <a:latin typeface="Courier New" charset="0"/>
            </a:endParaRPr>
          </a:p>
          <a:p>
            <a:pPr>
              <a:lnSpc>
                <a:spcPct val="80000"/>
              </a:lnSpc>
              <a:buNone/>
            </a:pPr>
            <a:r>
              <a:rPr lang="it-IT" sz="1400" b="1" dirty="0">
                <a:solidFill>
                  <a:srgbClr val="7F0055"/>
                </a:solidFill>
                <a:latin typeface="Courier New" charset="0"/>
              </a:rPr>
              <a:t>			</a:t>
            </a:r>
            <a:r>
              <a:rPr lang="it-IT" sz="1400" b="1" dirty="0" err="1">
                <a:solidFill>
                  <a:srgbClr val="7F0055"/>
                </a:solidFill>
                <a:latin typeface="Courier New" charset="0"/>
              </a:rPr>
              <a:t>e.printStackTrace</a:t>
            </a:r>
            <a:r>
              <a:rPr lang="it-IT" sz="1400" b="1" dirty="0">
                <a:solidFill>
                  <a:srgbClr val="7F0055"/>
                </a:solidFill>
                <a:latin typeface="Courier New" charset="0"/>
              </a:rPr>
              <a:t>();</a:t>
            </a:r>
            <a:endParaRPr lang="it-IT" sz="1400" b="1" dirty="0">
              <a:latin typeface="Courier New" charset="0"/>
            </a:endParaRPr>
          </a:p>
          <a:p>
            <a:pPr eaLnBrk="1" hangingPunct="1">
              <a:lnSpc>
                <a:spcPct val="80000"/>
              </a:lnSpc>
              <a:buFontTx/>
              <a:buNone/>
            </a:pPr>
            <a:r>
              <a:rPr lang="it-IT" sz="1400" b="1" dirty="0">
                <a:solidFill>
                  <a:srgbClr val="000000"/>
                </a:solidFill>
                <a:latin typeface="Courier New" charset="0"/>
              </a:rPr>
              <a:t>		}</a:t>
            </a:r>
            <a:endParaRPr lang="it-IT" sz="1400" b="1" dirty="0">
              <a:latin typeface="Courier New" charset="0"/>
            </a:endParaRPr>
          </a:p>
          <a:p>
            <a:pPr eaLnBrk="1" hangingPunct="1">
              <a:lnSpc>
                <a:spcPct val="80000"/>
              </a:lnSpc>
              <a:buFontTx/>
              <a:buNone/>
            </a:pPr>
            <a:r>
              <a:rPr lang="it-IT" sz="1400" b="1" dirty="0">
                <a:solidFill>
                  <a:srgbClr val="7F0055"/>
                </a:solidFill>
                <a:latin typeface="Courier New" charset="0"/>
              </a:rPr>
              <a:t>		</a:t>
            </a:r>
            <a:r>
              <a:rPr lang="it-IT" sz="1400" b="1" dirty="0" err="1">
                <a:solidFill>
                  <a:srgbClr val="7F0055"/>
                </a:solidFill>
                <a:latin typeface="Courier New" charset="0"/>
              </a:rPr>
              <a:t>return</a:t>
            </a:r>
            <a:r>
              <a:rPr lang="it-IT" sz="1400" b="1" dirty="0">
                <a:solidFill>
                  <a:srgbClr val="000000"/>
                </a:solidFill>
                <a:latin typeface="Courier New" charset="0"/>
              </a:rPr>
              <a:t> connection;</a:t>
            </a:r>
            <a:endParaRPr lang="it-IT" sz="1400" b="1" dirty="0">
              <a:latin typeface="Courier New" charset="0"/>
            </a:endParaRPr>
          </a:p>
          <a:p>
            <a:pPr eaLnBrk="1" hangingPunct="1">
              <a:lnSpc>
                <a:spcPct val="80000"/>
              </a:lnSpc>
              <a:buFontTx/>
              <a:buNone/>
            </a:pPr>
            <a:r>
              <a:rPr lang="it-IT" sz="1400" b="1" dirty="0">
                <a:solidFill>
                  <a:srgbClr val="000000"/>
                </a:solidFill>
                <a:latin typeface="Courier New" charset="0"/>
              </a:rPr>
              <a:t>	}</a:t>
            </a:r>
            <a:endParaRPr lang="it-IT" sz="1400" b="1" dirty="0">
              <a:latin typeface="Courier New" charset="0"/>
            </a:endParaRPr>
          </a:p>
          <a:p>
            <a:pPr eaLnBrk="1" hangingPunct="1">
              <a:lnSpc>
                <a:spcPct val="80000"/>
              </a:lnSpc>
              <a:buFontTx/>
              <a:buNone/>
            </a:pPr>
            <a:r>
              <a:rPr lang="it-IT" sz="1400" b="1" dirty="0">
                <a:solidFill>
                  <a:srgbClr val="000000"/>
                </a:solidFill>
                <a:latin typeface="Courier New" charset="0"/>
              </a:rPr>
              <a:t>}</a:t>
            </a:r>
          </a:p>
        </p:txBody>
      </p:sp>
    </p:spTree>
    <p:extLst>
      <p:ext uri="{BB962C8B-B14F-4D97-AF65-F5344CB8AC3E}">
        <p14:creationId xmlns:p14="http://schemas.microsoft.com/office/powerpoint/2010/main" val="159467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normAutofit fontScale="90000"/>
          </a:bodyPr>
          <a:lstStyle/>
          <a:p>
            <a:pPr eaLnBrk="1" hangingPunct="1"/>
            <a:r>
              <a:rPr lang="it-IT" dirty="0"/>
              <a:t>Operazione n.3</a:t>
            </a:r>
            <a:br>
              <a:rPr lang="it-IT" dirty="0"/>
            </a:br>
            <a:r>
              <a:rPr lang="it-IT" dirty="0"/>
              <a:t>Istruzione SQL</a:t>
            </a:r>
          </a:p>
        </p:txBody>
      </p:sp>
      <p:sp>
        <p:nvSpPr>
          <p:cNvPr id="26627" name="Rectangle 3"/>
          <p:cNvSpPr>
            <a:spLocks noGrp="1" noChangeArrowheads="1"/>
          </p:cNvSpPr>
          <p:nvPr>
            <p:ph idx="1"/>
          </p:nvPr>
        </p:nvSpPr>
        <p:spPr/>
        <p:txBody>
          <a:bodyPr>
            <a:normAutofit/>
          </a:bodyPr>
          <a:lstStyle/>
          <a:p>
            <a:pPr eaLnBrk="1" hangingPunct="1"/>
            <a:r>
              <a:rPr lang="it-IT" dirty="0"/>
              <a:t>Vediamo ora il codice JDBC che esegue istruzioni SQL per: </a:t>
            </a:r>
          </a:p>
          <a:p>
            <a:pPr lvl="1" eaLnBrk="1" hangingPunct="1"/>
            <a:r>
              <a:rPr lang="it-IT" dirty="0"/>
              <a:t>salvare (rendere persistenti) oggetti nel </a:t>
            </a:r>
            <a:r>
              <a:rPr lang="it-IT" dirty="0" err="1"/>
              <a:t>db</a:t>
            </a:r>
            <a:endParaRPr lang="it-IT" dirty="0"/>
          </a:p>
          <a:p>
            <a:pPr lvl="1" eaLnBrk="1" hangingPunct="1"/>
            <a:r>
              <a:rPr lang="it-IT" dirty="0"/>
              <a:t>cancellare oggetti dal </a:t>
            </a:r>
            <a:r>
              <a:rPr lang="it-IT" dirty="0" err="1"/>
              <a:t>db</a:t>
            </a:r>
            <a:endParaRPr lang="it-IT" dirty="0"/>
          </a:p>
          <a:p>
            <a:pPr lvl="1" eaLnBrk="1" hangingPunct="1"/>
            <a:r>
              <a:rPr lang="it-IT" dirty="0"/>
              <a:t>trovare oggetti dal </a:t>
            </a:r>
            <a:r>
              <a:rPr lang="it-IT" dirty="0" err="1"/>
              <a:t>db</a:t>
            </a:r>
            <a:endParaRPr lang="it-IT" dirty="0"/>
          </a:p>
          <a:p>
            <a:pPr eaLnBrk="1" hangingPunct="1"/>
            <a:r>
              <a:rPr lang="it-IT" dirty="0"/>
              <a:t>Confiniamo il codice di queste operazioni in una classe che ha la responsabilità di gestire l'accesso al database per gli oggetti Studente: la classe </a:t>
            </a:r>
            <a:r>
              <a:rPr lang="it-IT" b="1" dirty="0" err="1">
                <a:latin typeface="Courier New" charset="0"/>
              </a:rPr>
              <a:t>StudenteDAO</a:t>
            </a:r>
            <a:endParaRPr lang="it-IT" b="1" dirty="0">
              <a:latin typeface="Courier New" charset="0"/>
            </a:endParaRPr>
          </a:p>
          <a:p>
            <a:pPr eaLnBrk="1" hangingPunct="1"/>
            <a:r>
              <a:rPr lang="it-IT" dirty="0"/>
              <a:t>DAO è acronimo di Data Access Object</a:t>
            </a:r>
          </a:p>
        </p:txBody>
      </p:sp>
    </p:spTree>
    <p:extLst>
      <p:ext uri="{BB962C8B-B14F-4D97-AF65-F5344CB8AC3E}">
        <p14:creationId xmlns:p14="http://schemas.microsoft.com/office/powerpoint/2010/main" val="2081251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normAutofit fontScale="90000"/>
          </a:bodyPr>
          <a:lstStyle/>
          <a:p>
            <a:pPr eaLnBrk="1" hangingPunct="1"/>
            <a:r>
              <a:rPr lang="it-IT" dirty="0"/>
              <a:t>Operazione n.3</a:t>
            </a:r>
            <a:br>
              <a:rPr lang="it-IT" dirty="0"/>
            </a:br>
            <a:r>
              <a:rPr lang="it-IT" dirty="0"/>
              <a:t>Istruzione SQL</a:t>
            </a:r>
          </a:p>
        </p:txBody>
      </p:sp>
      <p:sp>
        <p:nvSpPr>
          <p:cNvPr id="148483" name="Rectangle 3"/>
          <p:cNvSpPr>
            <a:spLocks noGrp="1" noChangeArrowheads="1"/>
          </p:cNvSpPr>
          <p:nvPr>
            <p:ph idx="1"/>
          </p:nvPr>
        </p:nvSpPr>
        <p:spPr>
          <a:xfrm>
            <a:off x="1304925" y="1144198"/>
            <a:ext cx="6696075" cy="3999302"/>
          </a:xfrm>
        </p:spPr>
        <p:txBody>
          <a:bodyPr>
            <a:normAutofit lnSpcReduction="10000"/>
          </a:bodyPr>
          <a:lstStyle/>
          <a:p>
            <a:pPr eaLnBrk="1" hangingPunct="1">
              <a:lnSpc>
                <a:spcPct val="80000"/>
              </a:lnSpc>
            </a:pPr>
            <a:r>
              <a:rPr lang="it-IT" sz="2100" dirty="0"/>
              <a:t>Per eseguire una istruzione SQL è necessario creare un oggetto della classe che implementa </a:t>
            </a:r>
            <a:r>
              <a:rPr lang="it-IT" sz="2100" b="1" dirty="0" err="1">
                <a:latin typeface="Courier New" charset="0"/>
              </a:rPr>
              <a:t>PreparedStatement</a:t>
            </a:r>
            <a:endParaRPr lang="it-IT" sz="2100" b="1" dirty="0">
              <a:latin typeface="Courier New" charset="0"/>
            </a:endParaRPr>
          </a:p>
          <a:p>
            <a:pPr lvl="1" eaLnBrk="1" hangingPunct="1">
              <a:lnSpc>
                <a:spcPct val="80000"/>
              </a:lnSpc>
            </a:pPr>
            <a:r>
              <a:rPr lang="it-IT" sz="1800" dirty="0"/>
              <a:t>creato dall'oggetto </a:t>
            </a:r>
            <a:r>
              <a:rPr lang="it-IT" sz="1800" b="1" dirty="0"/>
              <a:t>Connection</a:t>
            </a:r>
            <a:r>
              <a:rPr lang="it-IT" sz="1800" dirty="0"/>
              <a:t> invocando il metodo:</a:t>
            </a:r>
            <a:endParaRPr lang="it-IT" sz="1800" b="1" dirty="0"/>
          </a:p>
          <a:p>
            <a:pPr lvl="1" eaLnBrk="1" hangingPunct="1">
              <a:lnSpc>
                <a:spcPct val="80000"/>
              </a:lnSpc>
              <a:buFontTx/>
              <a:buNone/>
            </a:pPr>
            <a:r>
              <a:rPr lang="it-IT" sz="1800" b="1" dirty="0" err="1">
                <a:latin typeface="Courier New" charset="0"/>
              </a:rPr>
              <a:t>PreparedStatement</a:t>
            </a:r>
            <a:r>
              <a:rPr lang="it-IT" sz="1800" b="1" dirty="0">
                <a:latin typeface="Courier New" charset="0"/>
              </a:rPr>
              <a:t> </a:t>
            </a:r>
            <a:r>
              <a:rPr lang="it-IT" sz="1800" b="1" dirty="0" err="1">
                <a:latin typeface="Courier New" charset="0"/>
              </a:rPr>
              <a:t>prepareStatement</a:t>
            </a:r>
            <a:r>
              <a:rPr lang="it-IT" sz="1800" b="1" dirty="0">
                <a:latin typeface="Courier New" charset="0"/>
              </a:rPr>
              <a:t>(</a:t>
            </a:r>
            <a:r>
              <a:rPr lang="it-IT" sz="1800" b="1" dirty="0" err="1">
                <a:latin typeface="Courier New" charset="0"/>
              </a:rPr>
              <a:t>String</a:t>
            </a:r>
            <a:r>
              <a:rPr lang="it-IT" sz="1800" b="1" dirty="0">
                <a:latin typeface="Courier New" charset="0"/>
              </a:rPr>
              <a:t> </a:t>
            </a:r>
            <a:r>
              <a:rPr lang="it-IT" sz="1800" b="1" dirty="0" err="1">
                <a:latin typeface="Courier New" charset="0"/>
              </a:rPr>
              <a:t>s</a:t>
            </a:r>
            <a:r>
              <a:rPr lang="it-IT" sz="1800" b="1" dirty="0">
                <a:latin typeface="Courier New" charset="0"/>
              </a:rPr>
              <a:t>);</a:t>
            </a:r>
          </a:p>
          <a:p>
            <a:pPr eaLnBrk="1" hangingPunct="1">
              <a:lnSpc>
                <a:spcPct val="80000"/>
              </a:lnSpc>
            </a:pPr>
            <a:r>
              <a:rPr lang="it-IT" sz="2100" dirty="0"/>
              <a:t>La stringa </a:t>
            </a:r>
            <a:r>
              <a:rPr lang="it-IT" sz="2100" dirty="0" err="1"/>
              <a:t>s</a:t>
            </a:r>
            <a:r>
              <a:rPr lang="it-IT" sz="2100" dirty="0"/>
              <a:t> è una istruzione SQL parametrica: i parametri sono indicati con il simbolo </a:t>
            </a:r>
            <a:r>
              <a:rPr lang="it-IT" sz="2100" b="1" dirty="0"/>
              <a:t>?</a:t>
            </a:r>
            <a:r>
              <a:rPr lang="it-IT" sz="2100" dirty="0"/>
              <a:t> </a:t>
            </a:r>
          </a:p>
          <a:p>
            <a:pPr eaLnBrk="1" hangingPunct="1">
              <a:lnSpc>
                <a:spcPct val="80000"/>
              </a:lnSpc>
            </a:pPr>
            <a:r>
              <a:rPr lang="it-IT" sz="2100" dirty="0"/>
              <a:t>Esempio 1</a:t>
            </a:r>
            <a:endParaRPr lang="it-IT" sz="1500" dirty="0">
              <a:solidFill>
                <a:srgbClr val="000000"/>
              </a:solidFill>
            </a:endParaRPr>
          </a:p>
          <a:p>
            <a:pPr eaLnBrk="1" hangingPunct="1">
              <a:lnSpc>
                <a:spcPct val="80000"/>
              </a:lnSpc>
              <a:buFontTx/>
              <a:buNone/>
            </a:pPr>
            <a:r>
              <a:rPr lang="it-IT" sz="1500" b="1" dirty="0">
                <a:solidFill>
                  <a:srgbClr val="000000"/>
                </a:solidFill>
                <a:latin typeface="Courier New" charset="0"/>
              </a:rPr>
              <a:t>	</a:t>
            </a:r>
            <a:r>
              <a:rPr lang="it-IT" sz="1500" b="1" dirty="0" err="1">
                <a:solidFill>
                  <a:srgbClr val="000000"/>
                </a:solidFill>
                <a:latin typeface="Courier New" charset="0"/>
              </a:rPr>
              <a:t>String</a:t>
            </a:r>
            <a:r>
              <a:rPr lang="it-IT" sz="1500" b="1" dirty="0">
                <a:solidFill>
                  <a:srgbClr val="000000"/>
                </a:solidFill>
                <a:latin typeface="Courier New" charset="0"/>
              </a:rPr>
              <a:t> </a:t>
            </a:r>
            <a:r>
              <a:rPr lang="it-IT" sz="1500" b="1" dirty="0" err="1">
                <a:solidFill>
                  <a:srgbClr val="000000"/>
                </a:solidFill>
                <a:latin typeface="Courier New" charset="0"/>
              </a:rPr>
              <a:t>insert</a:t>
            </a:r>
            <a:r>
              <a:rPr lang="it-IT" sz="1500" b="1" dirty="0">
                <a:solidFill>
                  <a:srgbClr val="000000"/>
                </a:solidFill>
                <a:latin typeface="Courier New" charset="0"/>
              </a:rPr>
              <a:t> = </a:t>
            </a:r>
            <a:r>
              <a:rPr lang="it-IT" sz="1500" b="1" dirty="0">
                <a:solidFill>
                  <a:srgbClr val="2A00FF"/>
                </a:solidFill>
                <a:latin typeface="Courier New" charset="0"/>
              </a:rPr>
              <a:t>"</a:t>
            </a:r>
            <a:r>
              <a:rPr lang="it-IT" sz="1500" b="1" dirty="0" err="1">
                <a:solidFill>
                  <a:srgbClr val="2A00FF"/>
                </a:solidFill>
                <a:latin typeface="Courier New" charset="0"/>
              </a:rPr>
              <a:t>insert</a:t>
            </a:r>
            <a:r>
              <a:rPr lang="it-IT" sz="1500" b="1" dirty="0">
                <a:solidFill>
                  <a:srgbClr val="2A00FF"/>
                </a:solidFill>
                <a:latin typeface="Courier New" charset="0"/>
              </a:rPr>
              <a:t> </a:t>
            </a:r>
            <a:r>
              <a:rPr lang="it-IT" sz="1500" b="1" dirty="0" err="1">
                <a:solidFill>
                  <a:srgbClr val="2A00FF"/>
                </a:solidFill>
                <a:latin typeface="Courier New" charset="0"/>
              </a:rPr>
              <a:t>into</a:t>
            </a:r>
            <a:r>
              <a:rPr lang="it-IT" sz="1500" b="1" dirty="0">
                <a:solidFill>
                  <a:srgbClr val="2A00FF"/>
                </a:solidFill>
                <a:latin typeface="Courier New" charset="0"/>
              </a:rPr>
              <a:t> studente(nome, cognome, </a:t>
            </a:r>
            <a:r>
              <a:rPr lang="it-IT" sz="1500" b="1" dirty="0" err="1">
                <a:solidFill>
                  <a:srgbClr val="2A00FF"/>
                </a:solidFill>
                <a:latin typeface="Courier New" charset="0"/>
              </a:rPr>
              <a:t>datanascita</a:t>
            </a:r>
            <a:r>
              <a:rPr lang="it-IT" sz="1500" b="1" dirty="0">
                <a:solidFill>
                  <a:srgbClr val="2A00FF"/>
                </a:solidFill>
                <a:latin typeface="Courier New" charset="0"/>
              </a:rPr>
              <a:t>, matricola) </a:t>
            </a:r>
            <a:r>
              <a:rPr lang="it-IT" sz="1500" b="1" dirty="0" err="1">
                <a:solidFill>
                  <a:srgbClr val="2A00FF"/>
                </a:solidFill>
                <a:latin typeface="Courier New" charset="0"/>
              </a:rPr>
              <a:t>values</a:t>
            </a:r>
            <a:r>
              <a:rPr lang="it-IT" sz="1500" b="1" dirty="0">
                <a:solidFill>
                  <a:srgbClr val="2A00FF"/>
                </a:solidFill>
                <a:latin typeface="Courier New" charset="0"/>
              </a:rPr>
              <a:t> (?,?,?,?)"</a:t>
            </a:r>
            <a:r>
              <a:rPr lang="it-IT" sz="1500" b="1" dirty="0">
                <a:solidFill>
                  <a:srgbClr val="000000"/>
                </a:solidFill>
                <a:latin typeface="Courier New" charset="0"/>
              </a:rPr>
              <a:t>;</a:t>
            </a:r>
            <a:endParaRPr lang="it-IT" sz="1500" b="1" dirty="0">
              <a:latin typeface="Courier New" charset="0"/>
            </a:endParaRPr>
          </a:p>
          <a:p>
            <a:pPr eaLnBrk="1" hangingPunct="1">
              <a:lnSpc>
                <a:spcPct val="80000"/>
              </a:lnSpc>
              <a:buFontTx/>
              <a:buNone/>
            </a:pPr>
            <a:r>
              <a:rPr lang="it-IT" sz="1500" b="1" dirty="0">
                <a:solidFill>
                  <a:srgbClr val="000000"/>
                </a:solidFill>
                <a:latin typeface="Courier New" charset="0"/>
              </a:rPr>
              <a:t>	 </a:t>
            </a:r>
            <a:r>
              <a:rPr lang="it-IT" sz="1500" b="1" dirty="0" err="1">
                <a:solidFill>
                  <a:srgbClr val="000000"/>
                </a:solidFill>
                <a:latin typeface="Courier New" charset="0"/>
              </a:rPr>
              <a:t>PreparedStatement</a:t>
            </a:r>
            <a:r>
              <a:rPr lang="it-IT" sz="1500" b="1" dirty="0">
                <a:solidFill>
                  <a:srgbClr val="000000"/>
                </a:solidFill>
                <a:latin typeface="Courier New" charset="0"/>
              </a:rPr>
              <a:t> statement = </a:t>
            </a:r>
            <a:r>
              <a:rPr lang="it-IT" sz="1500" b="1" dirty="0" err="1">
                <a:solidFill>
                  <a:srgbClr val="000000"/>
                </a:solidFill>
                <a:latin typeface="Courier New" charset="0"/>
              </a:rPr>
              <a:t>connection.prepareStatement</a:t>
            </a:r>
            <a:r>
              <a:rPr lang="it-IT" sz="1500" b="1" dirty="0">
                <a:solidFill>
                  <a:srgbClr val="000000"/>
                </a:solidFill>
                <a:latin typeface="Courier New" charset="0"/>
              </a:rPr>
              <a:t>(</a:t>
            </a:r>
            <a:r>
              <a:rPr lang="it-IT" sz="1500" b="1" dirty="0" err="1">
                <a:solidFill>
                  <a:srgbClr val="000000"/>
                </a:solidFill>
                <a:latin typeface="Courier New" charset="0"/>
              </a:rPr>
              <a:t>insert</a:t>
            </a:r>
            <a:r>
              <a:rPr lang="it-IT" sz="1500" b="1" dirty="0">
                <a:solidFill>
                  <a:srgbClr val="000000"/>
                </a:solidFill>
                <a:latin typeface="Courier New" charset="0"/>
              </a:rPr>
              <a:t>);</a:t>
            </a:r>
            <a:endParaRPr lang="it-IT" sz="2100" dirty="0"/>
          </a:p>
          <a:p>
            <a:pPr eaLnBrk="1" hangingPunct="1">
              <a:lnSpc>
                <a:spcPct val="80000"/>
              </a:lnSpc>
            </a:pPr>
            <a:r>
              <a:rPr lang="it-IT" sz="2100" dirty="0"/>
              <a:t>Esempio 2</a:t>
            </a:r>
            <a:endParaRPr lang="it-IT" sz="1500" dirty="0">
              <a:solidFill>
                <a:srgbClr val="000000"/>
              </a:solidFill>
            </a:endParaRPr>
          </a:p>
          <a:p>
            <a:pPr eaLnBrk="1" hangingPunct="1">
              <a:lnSpc>
                <a:spcPct val="80000"/>
              </a:lnSpc>
              <a:buFontTx/>
              <a:buNone/>
            </a:pPr>
            <a:r>
              <a:rPr lang="it-IT" sz="1500" dirty="0">
                <a:solidFill>
                  <a:srgbClr val="000000"/>
                </a:solidFill>
                <a:latin typeface="Courier New" charset="0"/>
              </a:rPr>
              <a:t>	</a:t>
            </a:r>
            <a:r>
              <a:rPr lang="it-IT" sz="1500" b="1" dirty="0" err="1">
                <a:solidFill>
                  <a:srgbClr val="000000"/>
                </a:solidFill>
                <a:latin typeface="Courier New" charset="0"/>
              </a:rPr>
              <a:t>String</a:t>
            </a:r>
            <a:r>
              <a:rPr lang="it-IT" sz="1500" b="1" dirty="0">
                <a:solidFill>
                  <a:srgbClr val="000000"/>
                </a:solidFill>
                <a:latin typeface="Courier New" charset="0"/>
              </a:rPr>
              <a:t> delete = </a:t>
            </a:r>
            <a:r>
              <a:rPr lang="it-IT" sz="1500" b="1" dirty="0">
                <a:solidFill>
                  <a:srgbClr val="2A00FF"/>
                </a:solidFill>
                <a:latin typeface="Courier New" charset="0"/>
              </a:rPr>
              <a:t>"delete from studente </a:t>
            </a:r>
            <a:r>
              <a:rPr lang="it-IT" sz="1500" b="1" dirty="0" err="1">
                <a:solidFill>
                  <a:srgbClr val="2A00FF"/>
                </a:solidFill>
                <a:latin typeface="Courier New" charset="0"/>
              </a:rPr>
              <a:t>where</a:t>
            </a:r>
            <a:r>
              <a:rPr lang="it-IT" sz="1500" b="1" dirty="0">
                <a:solidFill>
                  <a:srgbClr val="2A00FF"/>
                </a:solidFill>
                <a:latin typeface="Courier New" charset="0"/>
              </a:rPr>
              <a:t> matricola=?"</a:t>
            </a:r>
            <a:r>
              <a:rPr lang="it-IT" sz="1500" b="1" dirty="0">
                <a:solidFill>
                  <a:srgbClr val="000000"/>
                </a:solidFill>
                <a:latin typeface="Courier New" charset="0"/>
              </a:rPr>
              <a:t>;</a:t>
            </a:r>
            <a:endParaRPr lang="it-IT" sz="1500" b="1" dirty="0">
              <a:latin typeface="Courier New" charset="0"/>
            </a:endParaRPr>
          </a:p>
          <a:p>
            <a:pPr eaLnBrk="1" hangingPunct="1">
              <a:lnSpc>
                <a:spcPct val="80000"/>
              </a:lnSpc>
              <a:buFontTx/>
              <a:buNone/>
            </a:pPr>
            <a:r>
              <a:rPr lang="it-IT" sz="1500" b="1" dirty="0">
                <a:solidFill>
                  <a:srgbClr val="000000"/>
                </a:solidFill>
                <a:latin typeface="Courier New" charset="0"/>
              </a:rPr>
              <a:t>	</a:t>
            </a:r>
            <a:r>
              <a:rPr lang="it-IT" sz="1500" b="1" dirty="0" err="1">
                <a:solidFill>
                  <a:srgbClr val="000000"/>
                </a:solidFill>
                <a:latin typeface="Courier New" charset="0"/>
              </a:rPr>
              <a:t>PreparedStatement</a:t>
            </a:r>
            <a:r>
              <a:rPr lang="it-IT" sz="1500" b="1" dirty="0">
                <a:solidFill>
                  <a:srgbClr val="000000"/>
                </a:solidFill>
                <a:latin typeface="Courier New" charset="0"/>
              </a:rPr>
              <a:t> statement = </a:t>
            </a:r>
            <a:r>
              <a:rPr lang="it-IT" sz="1500" b="1" dirty="0" err="1">
                <a:solidFill>
                  <a:srgbClr val="000000"/>
                </a:solidFill>
                <a:latin typeface="Courier New" charset="0"/>
              </a:rPr>
              <a:t>connection.prepareStatement</a:t>
            </a:r>
            <a:r>
              <a:rPr lang="it-IT" sz="1500" b="1" dirty="0">
                <a:solidFill>
                  <a:srgbClr val="000000"/>
                </a:solidFill>
                <a:latin typeface="Courier New" charset="0"/>
              </a:rPr>
              <a:t>(delete);</a:t>
            </a:r>
            <a:endParaRPr lang="it-IT" sz="2100" dirty="0"/>
          </a:p>
        </p:txBody>
      </p:sp>
    </p:spTree>
    <p:extLst>
      <p:ext uri="{BB962C8B-B14F-4D97-AF65-F5344CB8AC3E}">
        <p14:creationId xmlns:p14="http://schemas.microsoft.com/office/powerpoint/2010/main" val="2170288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848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848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848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848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848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8483">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8483">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8483">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848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build="p" bldLvl="2"/>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fontScale="90000"/>
          </a:bodyPr>
          <a:lstStyle/>
          <a:p>
            <a:pPr eaLnBrk="1" hangingPunct="1"/>
            <a:r>
              <a:rPr lang="it-IT" dirty="0"/>
              <a:t>Operazione n.3</a:t>
            </a:r>
            <a:br>
              <a:rPr lang="it-IT" dirty="0"/>
            </a:br>
            <a:r>
              <a:rPr lang="it-IT" dirty="0"/>
              <a:t>Istruzione SQL</a:t>
            </a:r>
          </a:p>
        </p:txBody>
      </p:sp>
      <p:sp>
        <p:nvSpPr>
          <p:cNvPr id="28675" name="Rectangle 3"/>
          <p:cNvSpPr>
            <a:spLocks noGrp="1" noChangeArrowheads="1"/>
          </p:cNvSpPr>
          <p:nvPr>
            <p:ph idx="1"/>
          </p:nvPr>
        </p:nvSpPr>
        <p:spPr>
          <a:xfrm>
            <a:off x="1223962" y="1279679"/>
            <a:ext cx="6777038" cy="3742066"/>
          </a:xfrm>
        </p:spPr>
        <p:txBody>
          <a:bodyPr>
            <a:normAutofit fontScale="92500" lnSpcReduction="10000"/>
          </a:bodyPr>
          <a:lstStyle/>
          <a:p>
            <a:pPr eaLnBrk="1" hangingPunct="1">
              <a:lnSpc>
                <a:spcPct val="80000"/>
              </a:lnSpc>
            </a:pPr>
            <a:r>
              <a:rPr lang="it-IT" sz="1800" dirty="0"/>
              <a:t>I parametri sono assegnati mediante opportuni metodi della classe che implementa </a:t>
            </a:r>
            <a:r>
              <a:rPr lang="it-IT" sz="1800" b="1" dirty="0" err="1">
                <a:latin typeface="Courier New" charset="0"/>
              </a:rPr>
              <a:t>PreparedStatement</a:t>
            </a:r>
            <a:endParaRPr lang="it-IT" sz="1800" b="1" dirty="0">
              <a:latin typeface="Courier New" charset="0"/>
            </a:endParaRPr>
          </a:p>
          <a:p>
            <a:pPr lvl="1" eaLnBrk="1" hangingPunct="1">
              <a:lnSpc>
                <a:spcPct val="80000"/>
              </a:lnSpc>
            </a:pPr>
            <a:r>
              <a:rPr lang="it-IT" sz="1500" dirty="0"/>
              <a:t>metodi </a:t>
            </a:r>
            <a:r>
              <a:rPr lang="it-IT" sz="1500" dirty="0" err="1">
                <a:latin typeface="Courier New" charset="0"/>
              </a:rPr>
              <a:t>setXXX</a:t>
            </a:r>
            <a:r>
              <a:rPr lang="it-IT" sz="1500" dirty="0">
                <a:latin typeface="Courier New" charset="0"/>
              </a:rPr>
              <a:t> (&lt;</a:t>
            </a:r>
            <a:r>
              <a:rPr lang="it-IT" sz="1500" dirty="0" err="1">
                <a:latin typeface="Courier New" charset="0"/>
              </a:rPr>
              <a:t>numPar</a:t>
            </a:r>
            <a:r>
              <a:rPr lang="it-IT" sz="1500" dirty="0">
                <a:latin typeface="Courier New" charset="0"/>
              </a:rPr>
              <a:t>&gt;, &lt;valore&gt;)</a:t>
            </a:r>
          </a:p>
          <a:p>
            <a:pPr lvl="1" eaLnBrk="1" hangingPunct="1">
              <a:lnSpc>
                <a:spcPct val="80000"/>
              </a:lnSpc>
            </a:pPr>
            <a:r>
              <a:rPr lang="it-IT" sz="1500" dirty="0"/>
              <a:t>un metodo per ogni tipo, il primo argomento corrisponde all'indice del </a:t>
            </a:r>
            <a:r>
              <a:rPr lang="it-IT" sz="1500" dirty="0" err="1"/>
              <a:t>paramentro</a:t>
            </a:r>
            <a:r>
              <a:rPr lang="it-IT" sz="1500" dirty="0"/>
              <a:t> nella </a:t>
            </a:r>
            <a:r>
              <a:rPr lang="it-IT" sz="1500" dirty="0" err="1"/>
              <a:t>query</a:t>
            </a:r>
            <a:r>
              <a:rPr lang="it-IT" sz="1500" dirty="0"/>
              <a:t>, il secondo al valore da assegnare al parametro</a:t>
            </a:r>
          </a:p>
          <a:p>
            <a:pPr marL="342900" lvl="1" indent="0">
              <a:lnSpc>
                <a:spcPct val="80000"/>
              </a:lnSpc>
              <a:buNone/>
            </a:pPr>
            <a:endParaRPr lang="it-IT" sz="1500" dirty="0"/>
          </a:p>
          <a:p>
            <a:pPr eaLnBrk="1" hangingPunct="1">
              <a:lnSpc>
                <a:spcPct val="80000"/>
              </a:lnSpc>
            </a:pPr>
            <a:r>
              <a:rPr lang="it-IT" sz="1800" dirty="0"/>
              <a:t>Esempio 1 (</a:t>
            </a:r>
            <a:r>
              <a:rPr lang="it-IT" sz="1800" dirty="0" err="1"/>
              <a:t>cont</a:t>
            </a:r>
            <a:r>
              <a:rPr lang="it-IT" sz="1800" dirty="0"/>
              <a:t>.)</a:t>
            </a:r>
          </a:p>
          <a:p>
            <a:pPr eaLnBrk="1" hangingPunct="1">
              <a:lnSpc>
                <a:spcPct val="80000"/>
              </a:lnSpc>
              <a:buFontTx/>
              <a:buNone/>
            </a:pPr>
            <a:r>
              <a:rPr lang="it-IT" sz="1350" b="1" dirty="0">
                <a:solidFill>
                  <a:srgbClr val="000000"/>
                </a:solidFill>
                <a:latin typeface="Courier New" charset="0"/>
              </a:rPr>
              <a:t>	</a:t>
            </a:r>
            <a:r>
              <a:rPr lang="it-IT" sz="1350" b="1" dirty="0" err="1">
                <a:solidFill>
                  <a:srgbClr val="000000"/>
                </a:solidFill>
                <a:latin typeface="Courier New" charset="0"/>
              </a:rPr>
              <a:t>PreparedStatement</a:t>
            </a:r>
            <a:r>
              <a:rPr lang="it-IT" sz="1350" b="1" dirty="0">
                <a:solidFill>
                  <a:srgbClr val="000000"/>
                </a:solidFill>
                <a:latin typeface="Courier New" charset="0"/>
              </a:rPr>
              <a:t> statement;</a:t>
            </a:r>
          </a:p>
          <a:p>
            <a:pPr eaLnBrk="1" hangingPunct="1">
              <a:lnSpc>
                <a:spcPct val="80000"/>
              </a:lnSpc>
              <a:buFontTx/>
              <a:buNone/>
            </a:pPr>
            <a:r>
              <a:rPr lang="it-IT" sz="1350" b="1" dirty="0">
                <a:solidFill>
                  <a:srgbClr val="000000"/>
                </a:solidFill>
                <a:latin typeface="Courier New" charset="0"/>
              </a:rPr>
              <a:t>	</a:t>
            </a:r>
            <a:r>
              <a:rPr lang="it-IT" sz="1350" b="1" dirty="0" err="1">
                <a:solidFill>
                  <a:srgbClr val="000000"/>
                </a:solidFill>
                <a:latin typeface="Courier New" charset="0"/>
              </a:rPr>
              <a:t>String</a:t>
            </a:r>
            <a:r>
              <a:rPr lang="it-IT" sz="1350" b="1" dirty="0">
                <a:solidFill>
                  <a:srgbClr val="000000"/>
                </a:solidFill>
                <a:latin typeface="Courier New" charset="0"/>
              </a:rPr>
              <a:t> </a:t>
            </a:r>
            <a:r>
              <a:rPr lang="it-IT" sz="1350" b="1" dirty="0" err="1">
                <a:solidFill>
                  <a:srgbClr val="000000"/>
                </a:solidFill>
                <a:latin typeface="Courier New" charset="0"/>
              </a:rPr>
              <a:t>insert</a:t>
            </a:r>
            <a:r>
              <a:rPr lang="it-IT" sz="1350" b="1" dirty="0">
                <a:solidFill>
                  <a:srgbClr val="000000"/>
                </a:solidFill>
                <a:latin typeface="Courier New" charset="0"/>
              </a:rPr>
              <a:t> = </a:t>
            </a:r>
            <a:r>
              <a:rPr lang="it-IT" sz="1350" b="1" dirty="0">
                <a:solidFill>
                  <a:srgbClr val="2A00FF"/>
                </a:solidFill>
                <a:latin typeface="Courier New" charset="0"/>
              </a:rPr>
              <a:t>"</a:t>
            </a:r>
            <a:r>
              <a:rPr lang="it-IT" sz="1350" b="1" dirty="0" err="1">
                <a:solidFill>
                  <a:srgbClr val="2A00FF"/>
                </a:solidFill>
                <a:latin typeface="Courier New" charset="0"/>
              </a:rPr>
              <a:t>insert</a:t>
            </a:r>
            <a:r>
              <a:rPr lang="it-IT" sz="1350" b="1" dirty="0">
                <a:solidFill>
                  <a:srgbClr val="2A00FF"/>
                </a:solidFill>
                <a:latin typeface="Courier New" charset="0"/>
              </a:rPr>
              <a:t> </a:t>
            </a:r>
            <a:r>
              <a:rPr lang="it-IT" sz="1350" b="1" dirty="0" err="1">
                <a:solidFill>
                  <a:srgbClr val="2A00FF"/>
                </a:solidFill>
                <a:latin typeface="Courier New" charset="0"/>
              </a:rPr>
              <a:t>into</a:t>
            </a:r>
            <a:r>
              <a:rPr lang="it-IT" sz="1350" b="1" dirty="0">
                <a:solidFill>
                  <a:srgbClr val="2A00FF"/>
                </a:solidFill>
                <a:latin typeface="Courier New" charset="0"/>
              </a:rPr>
              <a:t> studente(nome, cognome, </a:t>
            </a:r>
            <a:r>
              <a:rPr lang="it-IT" sz="1350" b="1" dirty="0" err="1">
                <a:solidFill>
                  <a:srgbClr val="2A00FF"/>
                </a:solidFill>
                <a:latin typeface="Courier New" charset="0"/>
              </a:rPr>
              <a:t>datanascita</a:t>
            </a:r>
            <a:r>
              <a:rPr lang="it-IT" sz="1350" b="1" dirty="0">
                <a:solidFill>
                  <a:srgbClr val="2A00FF"/>
                </a:solidFill>
                <a:latin typeface="Courier New" charset="0"/>
              </a:rPr>
              <a:t>, matricola) </a:t>
            </a:r>
            <a:r>
              <a:rPr lang="it-IT" sz="1350" b="1" dirty="0" err="1">
                <a:solidFill>
                  <a:srgbClr val="2A00FF"/>
                </a:solidFill>
                <a:latin typeface="Courier New" charset="0"/>
              </a:rPr>
              <a:t>values</a:t>
            </a:r>
            <a:r>
              <a:rPr lang="it-IT" sz="1350" b="1" dirty="0">
                <a:solidFill>
                  <a:srgbClr val="2A00FF"/>
                </a:solidFill>
                <a:latin typeface="Courier New" charset="0"/>
              </a:rPr>
              <a:t> (?, ?,?,?)"</a:t>
            </a:r>
            <a:r>
              <a:rPr lang="it-IT" sz="1350" b="1" dirty="0">
                <a:solidFill>
                  <a:srgbClr val="000000"/>
                </a:solidFill>
                <a:latin typeface="Courier New" charset="0"/>
              </a:rPr>
              <a:t>;</a:t>
            </a:r>
            <a:endParaRPr lang="it-IT" sz="1350" b="1" dirty="0">
              <a:latin typeface="Courier New" charset="0"/>
            </a:endParaRPr>
          </a:p>
          <a:p>
            <a:pPr eaLnBrk="1" hangingPunct="1">
              <a:lnSpc>
                <a:spcPct val="80000"/>
              </a:lnSpc>
              <a:buFontTx/>
              <a:buNone/>
            </a:pPr>
            <a:endParaRPr lang="it-IT" sz="1350" b="1" dirty="0">
              <a:latin typeface="Courier New" charset="0"/>
            </a:endParaRPr>
          </a:p>
          <a:p>
            <a:pPr eaLnBrk="1" hangingPunct="1">
              <a:lnSpc>
                <a:spcPct val="80000"/>
              </a:lnSpc>
              <a:buFontTx/>
              <a:buNone/>
            </a:pPr>
            <a:r>
              <a:rPr lang="it-IT" sz="1350" b="1" dirty="0">
                <a:solidFill>
                  <a:srgbClr val="000000"/>
                </a:solidFill>
                <a:latin typeface="Courier New" charset="0"/>
              </a:rPr>
              <a:t>	statement = </a:t>
            </a:r>
            <a:r>
              <a:rPr lang="it-IT" sz="1350" b="1" dirty="0" err="1">
                <a:solidFill>
                  <a:srgbClr val="000000"/>
                </a:solidFill>
                <a:latin typeface="Courier New" charset="0"/>
              </a:rPr>
              <a:t>connection.prepareStatement</a:t>
            </a:r>
            <a:r>
              <a:rPr lang="it-IT" sz="1350" b="1" dirty="0">
                <a:solidFill>
                  <a:srgbClr val="000000"/>
                </a:solidFill>
                <a:latin typeface="Courier New" charset="0"/>
              </a:rPr>
              <a:t>(</a:t>
            </a:r>
            <a:r>
              <a:rPr lang="it-IT" sz="1350" b="1" dirty="0" err="1">
                <a:solidFill>
                  <a:srgbClr val="000000"/>
                </a:solidFill>
                <a:latin typeface="Courier New" charset="0"/>
              </a:rPr>
              <a:t>insert</a:t>
            </a:r>
            <a:r>
              <a:rPr lang="it-IT" sz="1350" b="1" dirty="0">
                <a:solidFill>
                  <a:srgbClr val="000000"/>
                </a:solidFill>
                <a:latin typeface="Courier New" charset="0"/>
              </a:rPr>
              <a:t>);</a:t>
            </a:r>
          </a:p>
          <a:p>
            <a:pPr eaLnBrk="1" hangingPunct="1">
              <a:lnSpc>
                <a:spcPct val="80000"/>
              </a:lnSpc>
              <a:buFontTx/>
              <a:buNone/>
            </a:pPr>
            <a:r>
              <a:rPr lang="it-IT" sz="1350" b="1" dirty="0">
                <a:solidFill>
                  <a:srgbClr val="000000"/>
                </a:solidFill>
                <a:latin typeface="Courier New" charset="0"/>
              </a:rPr>
              <a:t>	</a:t>
            </a:r>
            <a:r>
              <a:rPr lang="it-IT" sz="1350" b="1" dirty="0" err="1">
                <a:solidFill>
                  <a:srgbClr val="000000"/>
                </a:solidFill>
                <a:latin typeface="Courier New" charset="0"/>
              </a:rPr>
              <a:t>statement.setString</a:t>
            </a:r>
            <a:r>
              <a:rPr lang="it-IT" sz="1350" b="1" dirty="0">
                <a:solidFill>
                  <a:srgbClr val="000000"/>
                </a:solidFill>
                <a:latin typeface="Courier New" charset="0"/>
              </a:rPr>
              <a:t>(1, </a:t>
            </a:r>
            <a:r>
              <a:rPr lang="it-IT" sz="1350" b="1" dirty="0" err="1">
                <a:solidFill>
                  <a:srgbClr val="000000"/>
                </a:solidFill>
                <a:latin typeface="Courier New" charset="0"/>
              </a:rPr>
              <a:t>studente</a:t>
            </a:r>
            <a:r>
              <a:rPr lang="it-IT" sz="1350" b="1" dirty="0" err="1">
                <a:solidFill>
                  <a:srgbClr val="7F0055"/>
                </a:solidFill>
                <a:latin typeface="Courier New" charset="0"/>
              </a:rPr>
              <a:t>.getNome</a:t>
            </a:r>
            <a:r>
              <a:rPr lang="it-IT" sz="1350" b="1" dirty="0">
                <a:solidFill>
                  <a:srgbClr val="7F0055"/>
                </a:solidFill>
                <a:latin typeface="Courier New" charset="0"/>
              </a:rPr>
              <a:t>()</a:t>
            </a:r>
            <a:r>
              <a:rPr lang="it-IT" sz="1350" b="1" dirty="0">
                <a:solidFill>
                  <a:srgbClr val="000000"/>
                </a:solidFill>
                <a:latin typeface="Courier New" charset="0"/>
              </a:rPr>
              <a:t>);</a:t>
            </a:r>
          </a:p>
          <a:p>
            <a:pPr eaLnBrk="1" hangingPunct="1">
              <a:lnSpc>
                <a:spcPct val="80000"/>
              </a:lnSpc>
              <a:buFontTx/>
              <a:buNone/>
            </a:pPr>
            <a:r>
              <a:rPr lang="it-IT" sz="1350" b="1" dirty="0">
                <a:solidFill>
                  <a:srgbClr val="000000"/>
                </a:solidFill>
                <a:latin typeface="Courier New" charset="0"/>
              </a:rPr>
              <a:t>	</a:t>
            </a:r>
            <a:r>
              <a:rPr lang="it-IT" sz="1350" b="1" dirty="0" err="1">
                <a:solidFill>
                  <a:srgbClr val="000000"/>
                </a:solidFill>
                <a:latin typeface="Courier New" charset="0"/>
              </a:rPr>
              <a:t>statement.setString</a:t>
            </a:r>
            <a:r>
              <a:rPr lang="it-IT" sz="1350" b="1" dirty="0">
                <a:solidFill>
                  <a:srgbClr val="000000"/>
                </a:solidFill>
                <a:latin typeface="Courier New" charset="0"/>
              </a:rPr>
              <a:t>(2, </a:t>
            </a:r>
            <a:r>
              <a:rPr lang="it-IT" sz="1350" b="1" dirty="0" err="1">
                <a:solidFill>
                  <a:srgbClr val="000000"/>
                </a:solidFill>
                <a:latin typeface="Courier New" charset="0"/>
              </a:rPr>
              <a:t>studente</a:t>
            </a:r>
            <a:r>
              <a:rPr lang="it-IT" sz="1350" b="1" dirty="0" err="1">
                <a:solidFill>
                  <a:srgbClr val="7F0055"/>
                </a:solidFill>
                <a:latin typeface="Courier New" charset="0"/>
              </a:rPr>
              <a:t>.getCognome</a:t>
            </a:r>
            <a:r>
              <a:rPr lang="it-IT" sz="1350" b="1" dirty="0">
                <a:solidFill>
                  <a:srgbClr val="7F0055"/>
                </a:solidFill>
                <a:latin typeface="Courier New" charset="0"/>
              </a:rPr>
              <a:t>()</a:t>
            </a:r>
            <a:r>
              <a:rPr lang="it-IT" sz="1350" b="1" dirty="0">
                <a:solidFill>
                  <a:srgbClr val="000000"/>
                </a:solidFill>
                <a:latin typeface="Courier New" charset="0"/>
              </a:rPr>
              <a:t>);</a:t>
            </a:r>
          </a:p>
          <a:p>
            <a:pPr eaLnBrk="1" hangingPunct="1">
              <a:lnSpc>
                <a:spcPct val="80000"/>
              </a:lnSpc>
              <a:buFontTx/>
              <a:buNone/>
            </a:pPr>
            <a:r>
              <a:rPr lang="it-IT" sz="1350" b="1" dirty="0">
                <a:solidFill>
                  <a:srgbClr val="000000"/>
                </a:solidFill>
                <a:latin typeface="Courier New" charset="0"/>
              </a:rPr>
              <a:t>	</a:t>
            </a:r>
          </a:p>
          <a:p>
            <a:pPr eaLnBrk="1" hangingPunct="1">
              <a:lnSpc>
                <a:spcPct val="80000"/>
              </a:lnSpc>
              <a:buFontTx/>
              <a:buNone/>
            </a:pPr>
            <a:r>
              <a:rPr lang="it-IT" sz="1350" b="1" dirty="0">
                <a:solidFill>
                  <a:srgbClr val="000000"/>
                </a:solidFill>
                <a:latin typeface="Courier New" charset="0"/>
              </a:rPr>
              <a:t>	long </a:t>
            </a:r>
            <a:r>
              <a:rPr lang="it-IT" sz="1350" b="1" dirty="0" err="1">
                <a:solidFill>
                  <a:srgbClr val="000000"/>
                </a:solidFill>
                <a:latin typeface="Courier New" charset="0"/>
              </a:rPr>
              <a:t>secs</a:t>
            </a:r>
            <a:r>
              <a:rPr lang="it-IT" sz="1350" b="1" dirty="0">
                <a:solidFill>
                  <a:srgbClr val="000000"/>
                </a:solidFill>
                <a:latin typeface="Courier New" charset="0"/>
              </a:rPr>
              <a:t> = </a:t>
            </a:r>
            <a:r>
              <a:rPr lang="it-IT" sz="1350" b="1" dirty="0" err="1">
                <a:solidFill>
                  <a:srgbClr val="000000"/>
                </a:solidFill>
                <a:latin typeface="Courier New" charset="0"/>
              </a:rPr>
              <a:t>studente</a:t>
            </a:r>
            <a:r>
              <a:rPr lang="it-IT" sz="1350" b="1" dirty="0" err="1">
                <a:solidFill>
                  <a:srgbClr val="7F0055"/>
                </a:solidFill>
                <a:latin typeface="Courier New" charset="0"/>
              </a:rPr>
              <a:t>.getDataNascita</a:t>
            </a:r>
            <a:r>
              <a:rPr lang="it-IT" sz="1350" b="1" dirty="0">
                <a:solidFill>
                  <a:srgbClr val="7F0055"/>
                </a:solidFill>
                <a:latin typeface="Courier New" charset="0"/>
              </a:rPr>
              <a:t>()</a:t>
            </a:r>
            <a:r>
              <a:rPr lang="it-IT" sz="1350" b="1" dirty="0">
                <a:solidFill>
                  <a:srgbClr val="000000"/>
                </a:solidFill>
                <a:latin typeface="Courier New" charset="0"/>
              </a:rPr>
              <a:t>.</a:t>
            </a:r>
            <a:r>
              <a:rPr lang="it-IT" sz="1350" b="1" dirty="0" err="1">
                <a:solidFill>
                  <a:srgbClr val="000000"/>
                </a:solidFill>
                <a:latin typeface="Courier New" charset="0"/>
              </a:rPr>
              <a:t>getTime</a:t>
            </a:r>
            <a:r>
              <a:rPr lang="it-IT" sz="1350" b="1" dirty="0">
                <a:solidFill>
                  <a:srgbClr val="000000"/>
                </a:solidFill>
                <a:latin typeface="Courier New" charset="0"/>
              </a:rPr>
              <a:t>();</a:t>
            </a:r>
          </a:p>
          <a:p>
            <a:pPr eaLnBrk="1" hangingPunct="1">
              <a:lnSpc>
                <a:spcPct val="80000"/>
              </a:lnSpc>
              <a:buFontTx/>
              <a:buNone/>
            </a:pPr>
            <a:r>
              <a:rPr lang="it-IT" sz="1350" b="1" dirty="0">
                <a:solidFill>
                  <a:srgbClr val="000000"/>
                </a:solidFill>
                <a:latin typeface="Courier New" charset="0"/>
              </a:rPr>
              <a:t>	</a:t>
            </a:r>
            <a:r>
              <a:rPr lang="it-IT" sz="1350" b="1" dirty="0" err="1">
                <a:solidFill>
                  <a:srgbClr val="000000"/>
                </a:solidFill>
                <a:latin typeface="Courier New" charset="0"/>
              </a:rPr>
              <a:t>statement.setDate</a:t>
            </a:r>
            <a:r>
              <a:rPr lang="it-IT" sz="1350" b="1" dirty="0">
                <a:solidFill>
                  <a:srgbClr val="000000"/>
                </a:solidFill>
                <a:latin typeface="Courier New" charset="0"/>
              </a:rPr>
              <a:t>(3, new </a:t>
            </a:r>
            <a:r>
              <a:rPr lang="it-IT" sz="1350" b="1" dirty="0" err="1">
                <a:solidFill>
                  <a:srgbClr val="000000"/>
                </a:solidFill>
                <a:latin typeface="Courier New" charset="0"/>
              </a:rPr>
              <a:t>java.sql.Date</a:t>
            </a:r>
            <a:r>
              <a:rPr lang="it-IT" sz="1350" b="1" dirty="0">
                <a:solidFill>
                  <a:srgbClr val="000000"/>
                </a:solidFill>
                <a:latin typeface="Courier New" charset="0"/>
              </a:rPr>
              <a:t>(</a:t>
            </a:r>
            <a:r>
              <a:rPr lang="it-IT" sz="1350" b="1" dirty="0" err="1">
                <a:solidFill>
                  <a:srgbClr val="000000"/>
                </a:solidFill>
                <a:latin typeface="Courier New" charset="0"/>
              </a:rPr>
              <a:t>secs</a:t>
            </a:r>
            <a:r>
              <a:rPr lang="it-IT" sz="1350" b="1" dirty="0">
                <a:solidFill>
                  <a:srgbClr val="000000"/>
                </a:solidFill>
                <a:latin typeface="Courier New" charset="0"/>
              </a:rPr>
              <a:t>));</a:t>
            </a:r>
          </a:p>
          <a:p>
            <a:pPr eaLnBrk="1" hangingPunct="1">
              <a:lnSpc>
                <a:spcPct val="80000"/>
              </a:lnSpc>
              <a:buFontTx/>
              <a:buNone/>
            </a:pPr>
            <a:endParaRPr lang="it-IT" sz="1350" b="1" dirty="0">
              <a:solidFill>
                <a:srgbClr val="000000"/>
              </a:solidFill>
              <a:latin typeface="Courier New" charset="0"/>
            </a:endParaRPr>
          </a:p>
          <a:p>
            <a:pPr eaLnBrk="1" hangingPunct="1">
              <a:lnSpc>
                <a:spcPct val="80000"/>
              </a:lnSpc>
              <a:buNone/>
            </a:pPr>
            <a:r>
              <a:rPr lang="it-IT" sz="1350" b="1" dirty="0">
                <a:solidFill>
                  <a:srgbClr val="000000"/>
                </a:solidFill>
                <a:latin typeface="Courier New" charset="0"/>
              </a:rPr>
              <a:t>	</a:t>
            </a:r>
            <a:r>
              <a:rPr lang="it-IT" sz="1350" b="1" dirty="0" err="1">
                <a:solidFill>
                  <a:srgbClr val="000000"/>
                </a:solidFill>
                <a:latin typeface="Courier New" charset="0"/>
              </a:rPr>
              <a:t>statement.setString</a:t>
            </a:r>
            <a:r>
              <a:rPr lang="it-IT" sz="1350" b="1" dirty="0">
                <a:solidFill>
                  <a:srgbClr val="000000"/>
                </a:solidFill>
                <a:latin typeface="Courier New" charset="0"/>
              </a:rPr>
              <a:t>(4, </a:t>
            </a:r>
            <a:r>
              <a:rPr lang="it-IT" sz="1350" b="1" dirty="0" err="1">
                <a:solidFill>
                  <a:srgbClr val="000000"/>
                </a:solidFill>
                <a:latin typeface="Courier New" charset="0"/>
              </a:rPr>
              <a:t>studente</a:t>
            </a:r>
            <a:r>
              <a:rPr lang="it-IT" sz="1350" b="1" dirty="0" err="1">
                <a:solidFill>
                  <a:srgbClr val="7F0055"/>
                </a:solidFill>
                <a:latin typeface="Courier New" charset="0"/>
              </a:rPr>
              <a:t>.getMatricola</a:t>
            </a:r>
            <a:r>
              <a:rPr lang="it-IT" sz="1350" b="1" dirty="0">
                <a:solidFill>
                  <a:srgbClr val="7F0055"/>
                </a:solidFill>
                <a:latin typeface="Courier New" charset="0"/>
              </a:rPr>
              <a:t>()</a:t>
            </a:r>
            <a:r>
              <a:rPr lang="it-IT" sz="1350" b="1" dirty="0">
                <a:solidFill>
                  <a:srgbClr val="000000"/>
                </a:solidFill>
                <a:latin typeface="Courier New" charset="0"/>
              </a:rPr>
              <a:t>);	</a:t>
            </a:r>
          </a:p>
        </p:txBody>
      </p:sp>
    </p:spTree>
    <p:extLst>
      <p:ext uri="{BB962C8B-B14F-4D97-AF65-F5344CB8AC3E}">
        <p14:creationId xmlns:p14="http://schemas.microsoft.com/office/powerpoint/2010/main" val="478293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fontScale="90000"/>
          </a:bodyPr>
          <a:lstStyle/>
          <a:p>
            <a:pPr eaLnBrk="1" hangingPunct="1"/>
            <a:r>
              <a:rPr lang="it-IT" dirty="0"/>
              <a:t>Operazione n.3</a:t>
            </a:r>
            <a:br>
              <a:rPr lang="it-IT" dirty="0"/>
            </a:br>
            <a:r>
              <a:rPr lang="it-IT" dirty="0"/>
              <a:t>Istruzione SQL</a:t>
            </a:r>
          </a:p>
        </p:txBody>
      </p:sp>
      <p:sp>
        <p:nvSpPr>
          <p:cNvPr id="29699" name="Rectangle 3"/>
          <p:cNvSpPr>
            <a:spLocks noGrp="1" noChangeArrowheads="1"/>
          </p:cNvSpPr>
          <p:nvPr>
            <p:ph idx="1"/>
          </p:nvPr>
        </p:nvSpPr>
        <p:spPr>
          <a:xfrm>
            <a:off x="1223962" y="1569295"/>
            <a:ext cx="6777038" cy="3181881"/>
          </a:xfrm>
        </p:spPr>
        <p:txBody>
          <a:bodyPr>
            <a:normAutofit/>
          </a:bodyPr>
          <a:lstStyle/>
          <a:p>
            <a:pPr eaLnBrk="1" hangingPunct="1">
              <a:lnSpc>
                <a:spcPct val="80000"/>
              </a:lnSpc>
            </a:pPr>
            <a:r>
              <a:rPr lang="it-IT" sz="1800" dirty="0"/>
              <a:t>JDBC usa </a:t>
            </a:r>
            <a:r>
              <a:rPr lang="it-IT" sz="1800" b="1" dirty="0" err="1">
                <a:solidFill>
                  <a:srgbClr val="000000"/>
                </a:solidFill>
                <a:latin typeface="Courier New" charset="0"/>
              </a:rPr>
              <a:t>java.sql.Date</a:t>
            </a:r>
            <a:r>
              <a:rPr lang="it-IT" sz="1800" dirty="0"/>
              <a:t>, mentre la classe Studente usa </a:t>
            </a:r>
            <a:r>
              <a:rPr lang="it-IT" sz="1800" b="1" dirty="0" err="1">
                <a:solidFill>
                  <a:srgbClr val="000000"/>
                </a:solidFill>
                <a:latin typeface="Courier New" charset="0"/>
              </a:rPr>
              <a:t>java.util.Date</a:t>
            </a:r>
            <a:r>
              <a:rPr lang="it-IT" sz="1800" b="1" dirty="0">
                <a:solidFill>
                  <a:srgbClr val="000000"/>
                </a:solidFill>
                <a:latin typeface="Courier New" charset="0"/>
              </a:rPr>
              <a:t> </a:t>
            </a:r>
            <a:endParaRPr lang="it-IT" sz="1800" dirty="0"/>
          </a:p>
          <a:p>
            <a:pPr eaLnBrk="1" hangingPunct="1">
              <a:lnSpc>
                <a:spcPct val="80000"/>
              </a:lnSpc>
            </a:pPr>
            <a:endParaRPr lang="it-IT" sz="1800" dirty="0"/>
          </a:p>
          <a:p>
            <a:pPr eaLnBrk="1" hangingPunct="1">
              <a:lnSpc>
                <a:spcPct val="80000"/>
              </a:lnSpc>
            </a:pPr>
            <a:r>
              <a:rPr lang="it-IT" sz="1800" dirty="0"/>
              <a:t>Le istruzioni</a:t>
            </a:r>
          </a:p>
          <a:p>
            <a:pPr eaLnBrk="1" hangingPunct="1">
              <a:lnSpc>
                <a:spcPct val="80000"/>
              </a:lnSpc>
              <a:buClr>
                <a:srgbClr val="333399"/>
              </a:buClr>
              <a:buFontTx/>
              <a:buNone/>
            </a:pPr>
            <a:r>
              <a:rPr lang="it-IT" sz="1350" b="1" dirty="0">
                <a:solidFill>
                  <a:srgbClr val="000000"/>
                </a:solidFill>
                <a:latin typeface="Courier New" charset="0"/>
              </a:rPr>
              <a:t>	long </a:t>
            </a:r>
            <a:r>
              <a:rPr lang="it-IT" sz="1350" b="1" dirty="0" err="1">
                <a:solidFill>
                  <a:srgbClr val="000000"/>
                </a:solidFill>
                <a:latin typeface="Courier New" charset="0"/>
              </a:rPr>
              <a:t>secs</a:t>
            </a:r>
            <a:r>
              <a:rPr lang="it-IT" sz="1350" b="1" dirty="0">
                <a:solidFill>
                  <a:srgbClr val="000000"/>
                </a:solidFill>
                <a:latin typeface="Courier New" charset="0"/>
              </a:rPr>
              <a:t> = </a:t>
            </a:r>
            <a:r>
              <a:rPr lang="it-IT" sz="1350" b="1" dirty="0" err="1">
                <a:solidFill>
                  <a:srgbClr val="000000"/>
                </a:solidFill>
                <a:latin typeface="Courier New" charset="0"/>
              </a:rPr>
              <a:t>student</a:t>
            </a:r>
            <a:r>
              <a:rPr lang="it-IT" sz="1350" b="1" dirty="0" err="1">
                <a:solidFill>
                  <a:srgbClr val="7F0055"/>
                </a:solidFill>
                <a:latin typeface="Courier New" charset="0"/>
              </a:rPr>
              <a:t>.getBirthDate</a:t>
            </a:r>
            <a:r>
              <a:rPr lang="it-IT" sz="1350" b="1" dirty="0">
                <a:solidFill>
                  <a:srgbClr val="7F0055"/>
                </a:solidFill>
                <a:latin typeface="Courier New" charset="0"/>
              </a:rPr>
              <a:t>()</a:t>
            </a:r>
            <a:r>
              <a:rPr lang="it-IT" sz="1350" b="1" dirty="0">
                <a:solidFill>
                  <a:srgbClr val="000000"/>
                </a:solidFill>
                <a:latin typeface="Courier New" charset="0"/>
              </a:rPr>
              <a:t>.</a:t>
            </a:r>
            <a:r>
              <a:rPr lang="it-IT" sz="1350" b="1" dirty="0" err="1">
                <a:solidFill>
                  <a:srgbClr val="000000"/>
                </a:solidFill>
                <a:latin typeface="Courier New" charset="0"/>
              </a:rPr>
              <a:t>getTime</a:t>
            </a:r>
            <a:r>
              <a:rPr lang="it-IT" sz="1350" b="1" dirty="0">
                <a:solidFill>
                  <a:srgbClr val="000000"/>
                </a:solidFill>
                <a:latin typeface="Courier New" charset="0"/>
              </a:rPr>
              <a:t>());</a:t>
            </a:r>
          </a:p>
          <a:p>
            <a:pPr eaLnBrk="1" hangingPunct="1">
              <a:lnSpc>
                <a:spcPct val="80000"/>
              </a:lnSpc>
              <a:buClr>
                <a:srgbClr val="333399"/>
              </a:buClr>
              <a:buFontTx/>
              <a:buNone/>
            </a:pPr>
            <a:r>
              <a:rPr lang="it-IT" sz="1350" b="1" dirty="0">
                <a:solidFill>
                  <a:srgbClr val="000000"/>
                </a:solidFill>
                <a:latin typeface="Courier New" charset="0"/>
              </a:rPr>
              <a:t>	</a:t>
            </a:r>
            <a:r>
              <a:rPr lang="it-IT" sz="1350" b="1" dirty="0" err="1">
                <a:solidFill>
                  <a:srgbClr val="000000"/>
                </a:solidFill>
                <a:latin typeface="Courier New" charset="0"/>
              </a:rPr>
              <a:t>statement.setDate</a:t>
            </a:r>
            <a:r>
              <a:rPr lang="it-IT" sz="1350" b="1" dirty="0">
                <a:solidFill>
                  <a:srgbClr val="000000"/>
                </a:solidFill>
                <a:latin typeface="Courier New" charset="0"/>
              </a:rPr>
              <a:t>(4, new </a:t>
            </a:r>
            <a:r>
              <a:rPr lang="it-IT" sz="1350" b="1" dirty="0" err="1">
                <a:solidFill>
                  <a:srgbClr val="000000"/>
                </a:solidFill>
                <a:latin typeface="Courier New" charset="0"/>
              </a:rPr>
              <a:t>java.sql.Date</a:t>
            </a:r>
            <a:r>
              <a:rPr lang="it-IT" sz="1350" b="1" dirty="0">
                <a:solidFill>
                  <a:srgbClr val="000000"/>
                </a:solidFill>
                <a:latin typeface="Courier New" charset="0"/>
              </a:rPr>
              <a:t>(</a:t>
            </a:r>
            <a:r>
              <a:rPr lang="it-IT" sz="1350" b="1" dirty="0" err="1">
                <a:solidFill>
                  <a:srgbClr val="000000"/>
                </a:solidFill>
                <a:latin typeface="Courier New" charset="0"/>
              </a:rPr>
              <a:t>secs</a:t>
            </a:r>
            <a:r>
              <a:rPr lang="it-IT" sz="1350" b="1" dirty="0">
                <a:solidFill>
                  <a:srgbClr val="000000"/>
                </a:solidFill>
                <a:latin typeface="Courier New" charset="0"/>
              </a:rPr>
              <a:t>));</a:t>
            </a:r>
          </a:p>
          <a:p>
            <a:pPr eaLnBrk="1" hangingPunct="1">
              <a:lnSpc>
                <a:spcPct val="80000"/>
              </a:lnSpc>
              <a:buFontTx/>
              <a:buNone/>
            </a:pPr>
            <a:endParaRPr lang="it-IT" sz="1800" dirty="0"/>
          </a:p>
          <a:p>
            <a:pPr eaLnBrk="1" hangingPunct="1">
              <a:lnSpc>
                <a:spcPct val="80000"/>
              </a:lnSpc>
              <a:buFontTx/>
              <a:buNone/>
            </a:pPr>
            <a:r>
              <a:rPr lang="it-IT" sz="1800" dirty="0"/>
              <a:t>	servono a "convertire" una data da una rappresentazione all'altra</a:t>
            </a:r>
          </a:p>
          <a:p>
            <a:pPr eaLnBrk="1" hangingPunct="1">
              <a:lnSpc>
                <a:spcPct val="80000"/>
              </a:lnSpc>
              <a:buFontTx/>
              <a:buNone/>
            </a:pPr>
            <a:endParaRPr lang="it-IT" sz="1800" dirty="0"/>
          </a:p>
          <a:p>
            <a:pPr eaLnBrk="1" hangingPunct="1">
              <a:lnSpc>
                <a:spcPct val="80000"/>
              </a:lnSpc>
            </a:pPr>
            <a:r>
              <a:rPr lang="it-IT" sz="1800" dirty="0"/>
              <a:t>Per i dettagli vedi la documentazione delle librerie</a:t>
            </a:r>
          </a:p>
          <a:p>
            <a:pPr eaLnBrk="1" hangingPunct="1">
              <a:lnSpc>
                <a:spcPct val="80000"/>
              </a:lnSpc>
              <a:buFontTx/>
              <a:buNone/>
            </a:pPr>
            <a:r>
              <a:rPr lang="it-IT" sz="1350" b="1" dirty="0">
                <a:solidFill>
                  <a:srgbClr val="000000"/>
                </a:solidFill>
                <a:latin typeface="Courier New" charset="0"/>
              </a:rPr>
              <a:t>	</a:t>
            </a:r>
          </a:p>
          <a:p>
            <a:pPr eaLnBrk="1" hangingPunct="1">
              <a:lnSpc>
                <a:spcPct val="80000"/>
              </a:lnSpc>
              <a:buFontTx/>
              <a:buNone/>
            </a:pPr>
            <a:r>
              <a:rPr lang="it-IT" sz="1350" b="1" dirty="0">
                <a:solidFill>
                  <a:srgbClr val="000000"/>
                </a:solidFill>
                <a:latin typeface="Courier New" charset="0"/>
              </a:rPr>
              <a:t>	</a:t>
            </a:r>
          </a:p>
        </p:txBody>
      </p:sp>
    </p:spTree>
    <p:extLst>
      <p:ext uri="{BB962C8B-B14F-4D97-AF65-F5344CB8AC3E}">
        <p14:creationId xmlns:p14="http://schemas.microsoft.com/office/powerpoint/2010/main" val="2236398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ormAutofit fontScale="90000"/>
          </a:bodyPr>
          <a:lstStyle/>
          <a:p>
            <a:r>
              <a:rPr lang="it-IT" dirty="0"/>
              <a:t>Operazione n.3</a:t>
            </a:r>
            <a:br>
              <a:rPr lang="it-IT" dirty="0"/>
            </a:br>
            <a:r>
              <a:rPr lang="it-IT" dirty="0"/>
              <a:t>Istruzione SQL</a:t>
            </a:r>
          </a:p>
        </p:txBody>
      </p:sp>
      <p:sp>
        <p:nvSpPr>
          <p:cNvPr id="55299" name="Rectangle 3"/>
          <p:cNvSpPr>
            <a:spLocks noGrp="1" noChangeArrowheads="1"/>
          </p:cNvSpPr>
          <p:nvPr>
            <p:ph idx="1"/>
          </p:nvPr>
        </p:nvSpPr>
        <p:spPr/>
        <p:txBody>
          <a:bodyPr/>
          <a:lstStyle/>
          <a:p>
            <a:pPr eaLnBrk="1" hangingPunct="1"/>
            <a:r>
              <a:rPr lang="it-IT" dirty="0"/>
              <a:t>Una volta assegnati i valori ai parametri, l'istruzione può eseguita</a:t>
            </a:r>
          </a:p>
          <a:p>
            <a:pPr eaLnBrk="1" hangingPunct="1"/>
            <a:r>
              <a:rPr lang="it-IT" dirty="0"/>
              <a:t>Distinguiamo due tipi di operazioni:</a:t>
            </a:r>
          </a:p>
          <a:p>
            <a:pPr lvl="1" eaLnBrk="1" hangingPunct="1"/>
            <a:r>
              <a:rPr lang="it-IT" dirty="0"/>
              <a:t>Modifiche (</a:t>
            </a:r>
            <a:r>
              <a:rPr lang="it-IT" dirty="0" err="1"/>
              <a:t>insert</a:t>
            </a:r>
            <a:r>
              <a:rPr lang="it-IT" dirty="0"/>
              <a:t>, update, delete)</a:t>
            </a:r>
          </a:p>
          <a:p>
            <a:pPr lvl="2" eaLnBrk="1" hangingPunct="1"/>
            <a:r>
              <a:rPr lang="it-IT" dirty="0"/>
              <a:t>modificano lo stato del database</a:t>
            </a:r>
          </a:p>
          <a:p>
            <a:pPr lvl="1" eaLnBrk="1" hangingPunct="1"/>
            <a:r>
              <a:rPr lang="it-IT" dirty="0"/>
              <a:t>Interrogazioni (</a:t>
            </a:r>
            <a:r>
              <a:rPr lang="it-IT" dirty="0" err="1"/>
              <a:t>select</a:t>
            </a:r>
            <a:r>
              <a:rPr lang="it-IT" dirty="0"/>
              <a:t>)</a:t>
            </a:r>
          </a:p>
          <a:p>
            <a:pPr lvl="2" eaLnBrk="1" hangingPunct="1"/>
            <a:r>
              <a:rPr lang="it-IT" dirty="0"/>
              <a:t>non modificano lo stato del database</a:t>
            </a:r>
          </a:p>
          <a:p>
            <a:pPr lvl="2" eaLnBrk="1" hangingPunct="1"/>
            <a:r>
              <a:rPr lang="it-IT" dirty="0"/>
              <a:t>ritornano una sequenza di </a:t>
            </a:r>
            <a:r>
              <a:rPr lang="it-IT" dirty="0" err="1"/>
              <a:t>tuple</a:t>
            </a:r>
            <a:endParaRPr lang="it-IT" dirty="0"/>
          </a:p>
        </p:txBody>
      </p:sp>
    </p:spTree>
    <p:extLst>
      <p:ext uri="{BB962C8B-B14F-4D97-AF65-F5344CB8AC3E}">
        <p14:creationId xmlns:p14="http://schemas.microsoft.com/office/powerpoint/2010/main" val="284496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29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29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5299">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529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29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52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uiExpand="1" build="p" bldLvl="2"/>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Rectangle 3"/>
          <p:cNvSpPr>
            <a:spLocks noGrp="1" noChangeArrowheads="1"/>
          </p:cNvSpPr>
          <p:nvPr>
            <p:ph idx="1"/>
          </p:nvPr>
        </p:nvSpPr>
        <p:spPr>
          <a:xfrm>
            <a:off x="1170385" y="1255437"/>
            <a:ext cx="6966347" cy="3746380"/>
          </a:xfrm>
        </p:spPr>
        <p:txBody>
          <a:bodyPr>
            <a:normAutofit lnSpcReduction="10000"/>
          </a:bodyPr>
          <a:lstStyle/>
          <a:p>
            <a:pPr eaLnBrk="1" hangingPunct="1">
              <a:lnSpc>
                <a:spcPct val="80000"/>
              </a:lnSpc>
            </a:pPr>
            <a:r>
              <a:rPr lang="it-IT" sz="2100" dirty="0"/>
              <a:t>Aggiornamenti (</a:t>
            </a:r>
            <a:r>
              <a:rPr lang="it-IT" sz="2100" dirty="0" err="1"/>
              <a:t>insert</a:t>
            </a:r>
            <a:r>
              <a:rPr lang="it-IT" sz="2100" dirty="0"/>
              <a:t>, delete, update)</a:t>
            </a:r>
          </a:p>
          <a:p>
            <a:pPr lvl="1" eaLnBrk="1" hangingPunct="1">
              <a:lnSpc>
                <a:spcPct val="80000"/>
              </a:lnSpc>
            </a:pPr>
            <a:r>
              <a:rPr lang="it-IT" sz="1800" dirty="0"/>
              <a:t>vengono eseguiti invocando il metodo </a:t>
            </a:r>
            <a:r>
              <a:rPr lang="it-IT" sz="1800" b="1" dirty="0" err="1">
                <a:latin typeface="Courier New" charset="0"/>
              </a:rPr>
              <a:t>executeUpdate</a:t>
            </a:r>
            <a:r>
              <a:rPr lang="it-IT" sz="1800" b="1" dirty="0">
                <a:latin typeface="Courier New" charset="0"/>
              </a:rPr>
              <a:t>()</a:t>
            </a:r>
            <a:r>
              <a:rPr lang="it-IT" sz="1800" dirty="0"/>
              <a:t> sull'oggetto </a:t>
            </a:r>
            <a:r>
              <a:rPr lang="it-IT" sz="1800" b="1" dirty="0" err="1">
                <a:latin typeface="Courier New" charset="0"/>
              </a:rPr>
              <a:t>PrepareStatement</a:t>
            </a:r>
            <a:endParaRPr lang="it-IT" sz="1800" b="1" dirty="0">
              <a:latin typeface="Courier New" charset="0"/>
            </a:endParaRPr>
          </a:p>
          <a:p>
            <a:pPr eaLnBrk="1" hangingPunct="1">
              <a:lnSpc>
                <a:spcPct val="80000"/>
              </a:lnSpc>
            </a:pPr>
            <a:r>
              <a:rPr lang="it-IT" sz="2100" dirty="0"/>
              <a:t>Esempio 1 (</a:t>
            </a:r>
            <a:r>
              <a:rPr lang="it-IT" sz="2100" dirty="0" err="1"/>
              <a:t>cont</a:t>
            </a:r>
            <a:r>
              <a:rPr lang="it-IT" sz="2100" dirty="0"/>
              <a:t>.)</a:t>
            </a:r>
          </a:p>
          <a:p>
            <a:pPr eaLnBrk="1" hangingPunct="1">
              <a:lnSpc>
                <a:spcPct val="80000"/>
              </a:lnSpc>
              <a:buFontTx/>
              <a:buNone/>
            </a:pPr>
            <a:r>
              <a:rPr lang="it-IT" sz="1500" b="1" dirty="0">
                <a:solidFill>
                  <a:srgbClr val="000000"/>
                </a:solidFill>
                <a:latin typeface="Courier New" charset="0"/>
              </a:rPr>
              <a:t>	</a:t>
            </a:r>
            <a:r>
              <a:rPr lang="it-IT" sz="1500" b="1" dirty="0" err="1">
                <a:solidFill>
                  <a:srgbClr val="000000"/>
                </a:solidFill>
                <a:latin typeface="Courier New" charset="0"/>
              </a:rPr>
              <a:t>PreparedStatement</a:t>
            </a:r>
            <a:r>
              <a:rPr lang="it-IT" sz="1500" b="1" dirty="0">
                <a:solidFill>
                  <a:srgbClr val="000000"/>
                </a:solidFill>
                <a:latin typeface="Courier New" charset="0"/>
              </a:rPr>
              <a:t> statement;</a:t>
            </a:r>
          </a:p>
          <a:p>
            <a:pPr eaLnBrk="1" hangingPunct="1">
              <a:lnSpc>
                <a:spcPct val="80000"/>
              </a:lnSpc>
              <a:buFontTx/>
              <a:buNone/>
            </a:pPr>
            <a:r>
              <a:rPr lang="it-IT" sz="1500" b="1" dirty="0">
                <a:solidFill>
                  <a:srgbClr val="000000"/>
                </a:solidFill>
                <a:latin typeface="Courier New" charset="0"/>
              </a:rPr>
              <a:t>	</a:t>
            </a:r>
            <a:r>
              <a:rPr lang="it-IT" sz="1500" b="1" dirty="0" err="1">
                <a:solidFill>
                  <a:srgbClr val="000000"/>
                </a:solidFill>
                <a:latin typeface="Courier New" charset="0"/>
              </a:rPr>
              <a:t>String</a:t>
            </a:r>
            <a:r>
              <a:rPr lang="it-IT" sz="1500" b="1" dirty="0">
                <a:solidFill>
                  <a:srgbClr val="000000"/>
                </a:solidFill>
                <a:latin typeface="Courier New" charset="0"/>
              </a:rPr>
              <a:t> </a:t>
            </a:r>
            <a:r>
              <a:rPr lang="it-IT" sz="1500" b="1" dirty="0" err="1">
                <a:solidFill>
                  <a:srgbClr val="000000"/>
                </a:solidFill>
                <a:latin typeface="Courier New" charset="0"/>
              </a:rPr>
              <a:t>insert</a:t>
            </a:r>
            <a:r>
              <a:rPr lang="it-IT" sz="1500" b="1" dirty="0">
                <a:solidFill>
                  <a:srgbClr val="000000"/>
                </a:solidFill>
                <a:latin typeface="Courier New" charset="0"/>
              </a:rPr>
              <a:t> = </a:t>
            </a:r>
            <a:r>
              <a:rPr lang="it-IT" sz="1500" b="1" dirty="0">
                <a:solidFill>
                  <a:srgbClr val="2A00FF"/>
                </a:solidFill>
                <a:latin typeface="Courier New" charset="0"/>
              </a:rPr>
              <a:t>"</a:t>
            </a:r>
            <a:r>
              <a:rPr lang="it-IT" sz="1500" b="1" dirty="0" err="1">
                <a:solidFill>
                  <a:srgbClr val="2A00FF"/>
                </a:solidFill>
                <a:latin typeface="Courier New" charset="0"/>
              </a:rPr>
              <a:t>insert</a:t>
            </a:r>
            <a:r>
              <a:rPr lang="it-IT" sz="1500" b="1" dirty="0">
                <a:solidFill>
                  <a:srgbClr val="2A00FF"/>
                </a:solidFill>
                <a:latin typeface="Courier New" charset="0"/>
              </a:rPr>
              <a:t> </a:t>
            </a:r>
            <a:r>
              <a:rPr lang="it-IT" sz="1500" b="1" dirty="0" err="1">
                <a:solidFill>
                  <a:srgbClr val="2A00FF"/>
                </a:solidFill>
                <a:latin typeface="Courier New" charset="0"/>
              </a:rPr>
              <a:t>into</a:t>
            </a:r>
            <a:r>
              <a:rPr lang="it-IT" sz="1500" b="1" dirty="0">
                <a:solidFill>
                  <a:srgbClr val="2A00FF"/>
                </a:solidFill>
                <a:latin typeface="Courier New" charset="0"/>
              </a:rPr>
              <a:t> studente(nome, cognome, </a:t>
            </a:r>
            <a:r>
              <a:rPr lang="it-IT" sz="1500" b="1" dirty="0" err="1">
                <a:solidFill>
                  <a:srgbClr val="2A00FF"/>
                </a:solidFill>
                <a:latin typeface="Courier New" charset="0"/>
              </a:rPr>
              <a:t>dataNascita</a:t>
            </a:r>
            <a:r>
              <a:rPr lang="it-IT" sz="1500" b="1" dirty="0">
                <a:solidFill>
                  <a:srgbClr val="2A00FF"/>
                </a:solidFill>
                <a:latin typeface="Courier New" charset="0"/>
              </a:rPr>
              <a:t>, matricola) </a:t>
            </a:r>
            <a:r>
              <a:rPr lang="it-IT" sz="1500" b="1" dirty="0" err="1">
                <a:solidFill>
                  <a:srgbClr val="2A00FF"/>
                </a:solidFill>
                <a:latin typeface="Courier New" charset="0"/>
              </a:rPr>
              <a:t>values</a:t>
            </a:r>
            <a:r>
              <a:rPr lang="it-IT" sz="1500" b="1" dirty="0">
                <a:solidFill>
                  <a:srgbClr val="2A00FF"/>
                </a:solidFill>
                <a:latin typeface="Courier New" charset="0"/>
              </a:rPr>
              <a:t> (?,?,?,?)"</a:t>
            </a:r>
            <a:r>
              <a:rPr lang="it-IT" sz="1500" b="1" dirty="0">
                <a:solidFill>
                  <a:srgbClr val="000000"/>
                </a:solidFill>
                <a:latin typeface="Courier New" charset="0"/>
              </a:rPr>
              <a:t>;</a:t>
            </a:r>
            <a:endParaRPr lang="it-IT" sz="1500" b="1" dirty="0">
              <a:latin typeface="Courier New" charset="0"/>
            </a:endParaRPr>
          </a:p>
          <a:p>
            <a:pPr eaLnBrk="1" hangingPunct="1">
              <a:lnSpc>
                <a:spcPct val="80000"/>
              </a:lnSpc>
              <a:buFontTx/>
              <a:buNone/>
            </a:pPr>
            <a:r>
              <a:rPr lang="it-IT" sz="1500" b="1" dirty="0">
                <a:solidFill>
                  <a:srgbClr val="000000"/>
                </a:solidFill>
                <a:latin typeface="Courier New" charset="0"/>
              </a:rPr>
              <a:t>	statement = </a:t>
            </a:r>
            <a:r>
              <a:rPr lang="it-IT" sz="1500" b="1" dirty="0" err="1">
                <a:solidFill>
                  <a:srgbClr val="000000"/>
                </a:solidFill>
                <a:latin typeface="Courier New" charset="0"/>
              </a:rPr>
              <a:t>connection.prepareStatement</a:t>
            </a:r>
            <a:r>
              <a:rPr lang="it-IT" sz="1500" b="1" dirty="0">
                <a:solidFill>
                  <a:srgbClr val="000000"/>
                </a:solidFill>
                <a:latin typeface="Courier New" charset="0"/>
              </a:rPr>
              <a:t>(</a:t>
            </a:r>
            <a:r>
              <a:rPr lang="it-IT" sz="1500" b="1" dirty="0" err="1">
                <a:solidFill>
                  <a:srgbClr val="000000"/>
                </a:solidFill>
                <a:latin typeface="Courier New" charset="0"/>
              </a:rPr>
              <a:t>insert</a:t>
            </a:r>
            <a:r>
              <a:rPr lang="it-IT" sz="1500" b="1" dirty="0">
                <a:solidFill>
                  <a:srgbClr val="000000"/>
                </a:solidFill>
                <a:latin typeface="Courier New" charset="0"/>
              </a:rPr>
              <a:t>);</a:t>
            </a:r>
          </a:p>
          <a:p>
            <a:pPr eaLnBrk="1" hangingPunct="1">
              <a:lnSpc>
                <a:spcPct val="80000"/>
              </a:lnSpc>
              <a:buFontTx/>
              <a:buNone/>
            </a:pPr>
            <a:r>
              <a:rPr lang="it-IT" sz="1500" b="1" dirty="0">
                <a:solidFill>
                  <a:srgbClr val="000000"/>
                </a:solidFill>
                <a:latin typeface="Courier New" charset="0"/>
              </a:rPr>
              <a:t>	</a:t>
            </a:r>
            <a:r>
              <a:rPr lang="it-IT" sz="1500" b="1" dirty="0" err="1">
                <a:solidFill>
                  <a:srgbClr val="000000"/>
                </a:solidFill>
                <a:latin typeface="Courier New" charset="0"/>
              </a:rPr>
              <a:t>statement.setString</a:t>
            </a:r>
            <a:r>
              <a:rPr lang="it-IT" sz="1500" b="1" dirty="0">
                <a:solidFill>
                  <a:srgbClr val="000000"/>
                </a:solidFill>
                <a:latin typeface="Courier New" charset="0"/>
              </a:rPr>
              <a:t>(1, </a:t>
            </a:r>
            <a:r>
              <a:rPr lang="it-IT" sz="1500" b="1" dirty="0" err="1">
                <a:solidFill>
                  <a:srgbClr val="000000"/>
                </a:solidFill>
                <a:latin typeface="Courier New" charset="0"/>
              </a:rPr>
              <a:t>studente</a:t>
            </a:r>
            <a:r>
              <a:rPr lang="it-IT" sz="1500" b="1" dirty="0" err="1">
                <a:solidFill>
                  <a:srgbClr val="7F0055"/>
                </a:solidFill>
                <a:latin typeface="Courier New" charset="0"/>
              </a:rPr>
              <a:t>.getNome</a:t>
            </a:r>
            <a:r>
              <a:rPr lang="it-IT" sz="1500" b="1" dirty="0">
                <a:solidFill>
                  <a:srgbClr val="7F0055"/>
                </a:solidFill>
                <a:latin typeface="Courier New" charset="0"/>
              </a:rPr>
              <a:t>()</a:t>
            </a:r>
            <a:r>
              <a:rPr lang="it-IT" sz="1500" b="1" dirty="0">
                <a:solidFill>
                  <a:srgbClr val="000000"/>
                </a:solidFill>
                <a:latin typeface="Courier New" charset="0"/>
              </a:rPr>
              <a:t>);</a:t>
            </a:r>
          </a:p>
          <a:p>
            <a:pPr eaLnBrk="1" hangingPunct="1">
              <a:lnSpc>
                <a:spcPct val="80000"/>
              </a:lnSpc>
              <a:buFontTx/>
              <a:buNone/>
            </a:pPr>
            <a:r>
              <a:rPr lang="it-IT" sz="1500" b="1" dirty="0">
                <a:solidFill>
                  <a:srgbClr val="000000"/>
                </a:solidFill>
                <a:latin typeface="Courier New" charset="0"/>
              </a:rPr>
              <a:t>	</a:t>
            </a:r>
            <a:r>
              <a:rPr lang="it-IT" sz="1500" b="1" dirty="0" err="1">
                <a:solidFill>
                  <a:srgbClr val="000000"/>
                </a:solidFill>
                <a:latin typeface="Courier New" charset="0"/>
              </a:rPr>
              <a:t>statement.setString</a:t>
            </a:r>
            <a:r>
              <a:rPr lang="it-IT" sz="1500" b="1" dirty="0">
                <a:solidFill>
                  <a:srgbClr val="000000"/>
                </a:solidFill>
                <a:latin typeface="Courier New" charset="0"/>
              </a:rPr>
              <a:t>(2, </a:t>
            </a:r>
            <a:r>
              <a:rPr lang="it-IT" sz="1500" b="1" dirty="0" err="1">
                <a:solidFill>
                  <a:srgbClr val="000000"/>
                </a:solidFill>
                <a:latin typeface="Courier New" charset="0"/>
              </a:rPr>
              <a:t>studente</a:t>
            </a:r>
            <a:r>
              <a:rPr lang="it-IT" sz="1500" b="1" dirty="0" err="1">
                <a:solidFill>
                  <a:srgbClr val="7F0055"/>
                </a:solidFill>
                <a:latin typeface="Courier New" charset="0"/>
              </a:rPr>
              <a:t>.getCognome</a:t>
            </a:r>
            <a:r>
              <a:rPr lang="it-IT" sz="1500" b="1" dirty="0">
                <a:solidFill>
                  <a:srgbClr val="7F0055"/>
                </a:solidFill>
                <a:latin typeface="Courier New" charset="0"/>
              </a:rPr>
              <a:t>()</a:t>
            </a:r>
            <a:r>
              <a:rPr lang="it-IT" sz="1500" b="1" dirty="0">
                <a:solidFill>
                  <a:srgbClr val="000000"/>
                </a:solidFill>
                <a:latin typeface="Courier New" charset="0"/>
              </a:rPr>
              <a:t>);</a:t>
            </a:r>
          </a:p>
          <a:p>
            <a:pPr eaLnBrk="1" hangingPunct="1">
              <a:lnSpc>
                <a:spcPct val="80000"/>
              </a:lnSpc>
              <a:buFontTx/>
              <a:buNone/>
            </a:pPr>
            <a:r>
              <a:rPr lang="it-IT" sz="1500" b="1" dirty="0">
                <a:solidFill>
                  <a:srgbClr val="000000"/>
                </a:solidFill>
                <a:latin typeface="Courier New" charset="0"/>
              </a:rPr>
              <a:t>	long </a:t>
            </a:r>
            <a:r>
              <a:rPr lang="it-IT" sz="1500" b="1" dirty="0" err="1">
                <a:solidFill>
                  <a:srgbClr val="000000"/>
                </a:solidFill>
                <a:latin typeface="Courier New" charset="0"/>
              </a:rPr>
              <a:t>secs</a:t>
            </a:r>
            <a:r>
              <a:rPr lang="it-IT" sz="1500" b="1" dirty="0">
                <a:solidFill>
                  <a:srgbClr val="000000"/>
                </a:solidFill>
                <a:latin typeface="Courier New" charset="0"/>
              </a:rPr>
              <a:t> = </a:t>
            </a:r>
            <a:r>
              <a:rPr lang="it-IT" sz="1500" b="1" dirty="0" err="1">
                <a:solidFill>
                  <a:srgbClr val="000000"/>
                </a:solidFill>
                <a:latin typeface="Courier New" charset="0"/>
              </a:rPr>
              <a:t>studente</a:t>
            </a:r>
            <a:r>
              <a:rPr lang="it-IT" sz="1500" b="1" dirty="0" err="1">
                <a:solidFill>
                  <a:srgbClr val="7F0055"/>
                </a:solidFill>
                <a:latin typeface="Courier New" charset="0"/>
              </a:rPr>
              <a:t>.getDataNascita</a:t>
            </a:r>
            <a:r>
              <a:rPr lang="it-IT" sz="1500" b="1" dirty="0">
                <a:solidFill>
                  <a:srgbClr val="7F0055"/>
                </a:solidFill>
                <a:latin typeface="Courier New" charset="0"/>
              </a:rPr>
              <a:t>()</a:t>
            </a:r>
            <a:r>
              <a:rPr lang="it-IT" sz="1500" b="1" dirty="0">
                <a:solidFill>
                  <a:srgbClr val="000000"/>
                </a:solidFill>
                <a:latin typeface="Courier New" charset="0"/>
              </a:rPr>
              <a:t>.</a:t>
            </a:r>
            <a:r>
              <a:rPr lang="it-IT" sz="1500" b="1" dirty="0" err="1">
                <a:solidFill>
                  <a:srgbClr val="000000"/>
                </a:solidFill>
                <a:latin typeface="Courier New" charset="0"/>
              </a:rPr>
              <a:t>getTime</a:t>
            </a:r>
            <a:r>
              <a:rPr lang="it-IT" sz="1500" b="1" dirty="0">
                <a:solidFill>
                  <a:srgbClr val="000000"/>
                </a:solidFill>
                <a:latin typeface="Courier New" charset="0"/>
              </a:rPr>
              <a:t>());</a:t>
            </a:r>
          </a:p>
          <a:p>
            <a:pPr eaLnBrk="1" hangingPunct="1">
              <a:lnSpc>
                <a:spcPct val="80000"/>
              </a:lnSpc>
              <a:buFontTx/>
              <a:buNone/>
            </a:pPr>
            <a:r>
              <a:rPr lang="it-IT" sz="1500" b="1" dirty="0">
                <a:solidFill>
                  <a:srgbClr val="000000"/>
                </a:solidFill>
                <a:latin typeface="Courier New" charset="0"/>
              </a:rPr>
              <a:t>	</a:t>
            </a:r>
            <a:r>
              <a:rPr lang="it-IT" sz="1500" b="1" dirty="0" err="1">
                <a:solidFill>
                  <a:srgbClr val="000000"/>
                </a:solidFill>
                <a:latin typeface="Courier New" charset="0"/>
              </a:rPr>
              <a:t>statement.setDate</a:t>
            </a:r>
            <a:r>
              <a:rPr lang="it-IT" sz="1500" b="1" dirty="0">
                <a:solidFill>
                  <a:srgbClr val="000000"/>
                </a:solidFill>
                <a:latin typeface="Courier New" charset="0"/>
              </a:rPr>
              <a:t>(3, new </a:t>
            </a:r>
            <a:r>
              <a:rPr lang="it-IT" sz="1500" b="1" dirty="0" err="1">
                <a:solidFill>
                  <a:srgbClr val="000000"/>
                </a:solidFill>
                <a:latin typeface="Courier New" charset="0"/>
              </a:rPr>
              <a:t>java.sql.Date</a:t>
            </a:r>
            <a:r>
              <a:rPr lang="it-IT" sz="1500" b="1" dirty="0">
                <a:solidFill>
                  <a:srgbClr val="000000"/>
                </a:solidFill>
                <a:latin typeface="Courier New" charset="0"/>
              </a:rPr>
              <a:t>(</a:t>
            </a:r>
            <a:r>
              <a:rPr lang="it-IT" sz="1500" b="1" dirty="0" err="1">
                <a:solidFill>
                  <a:srgbClr val="000000"/>
                </a:solidFill>
                <a:latin typeface="Courier New" charset="0"/>
              </a:rPr>
              <a:t>secs</a:t>
            </a:r>
            <a:r>
              <a:rPr lang="it-IT" sz="1500" b="1" dirty="0">
                <a:solidFill>
                  <a:srgbClr val="000000"/>
                </a:solidFill>
                <a:latin typeface="Courier New" charset="0"/>
              </a:rPr>
              <a:t>));</a:t>
            </a:r>
          </a:p>
          <a:p>
            <a:pPr eaLnBrk="1" hangingPunct="1">
              <a:lnSpc>
                <a:spcPct val="80000"/>
              </a:lnSpc>
              <a:buNone/>
            </a:pPr>
            <a:r>
              <a:rPr lang="it-IT" sz="1500" b="1" dirty="0">
                <a:solidFill>
                  <a:srgbClr val="000000"/>
                </a:solidFill>
                <a:latin typeface="Courier New" charset="0"/>
              </a:rPr>
              <a:t>	</a:t>
            </a:r>
            <a:r>
              <a:rPr lang="it-IT" sz="1500" b="1" dirty="0" err="1">
                <a:solidFill>
                  <a:srgbClr val="000000"/>
                </a:solidFill>
                <a:latin typeface="Courier New" charset="0"/>
              </a:rPr>
              <a:t>statement.setString</a:t>
            </a:r>
            <a:r>
              <a:rPr lang="it-IT" sz="1500" b="1" dirty="0">
                <a:solidFill>
                  <a:srgbClr val="000000"/>
                </a:solidFill>
                <a:latin typeface="Courier New" charset="0"/>
              </a:rPr>
              <a:t>(4, </a:t>
            </a:r>
            <a:r>
              <a:rPr lang="it-IT" sz="1500" b="1" dirty="0" err="1">
                <a:solidFill>
                  <a:srgbClr val="000000"/>
                </a:solidFill>
                <a:latin typeface="Courier New" charset="0"/>
              </a:rPr>
              <a:t>studente</a:t>
            </a:r>
            <a:r>
              <a:rPr lang="it-IT" sz="1500" b="1" dirty="0" err="1">
                <a:solidFill>
                  <a:srgbClr val="7F0055"/>
                </a:solidFill>
                <a:latin typeface="Courier New" charset="0"/>
              </a:rPr>
              <a:t>.getMatricola</a:t>
            </a:r>
            <a:r>
              <a:rPr lang="it-IT" sz="1500" b="1" dirty="0">
                <a:solidFill>
                  <a:srgbClr val="7F0055"/>
                </a:solidFill>
                <a:latin typeface="Courier New" charset="0"/>
              </a:rPr>
              <a:t>()</a:t>
            </a:r>
            <a:r>
              <a:rPr lang="it-IT" sz="1500" b="1" dirty="0">
                <a:solidFill>
                  <a:srgbClr val="000000"/>
                </a:solidFill>
                <a:latin typeface="Courier New" charset="0"/>
              </a:rPr>
              <a:t>);</a:t>
            </a:r>
          </a:p>
          <a:p>
            <a:pPr eaLnBrk="1" hangingPunct="1">
              <a:lnSpc>
                <a:spcPct val="80000"/>
              </a:lnSpc>
              <a:buFontTx/>
              <a:buNone/>
            </a:pPr>
            <a:endParaRPr lang="it-IT" sz="1500" b="1" dirty="0">
              <a:solidFill>
                <a:srgbClr val="000000"/>
              </a:solidFill>
              <a:latin typeface="Courier New" charset="0"/>
            </a:endParaRPr>
          </a:p>
          <a:p>
            <a:pPr eaLnBrk="1" hangingPunct="1">
              <a:lnSpc>
                <a:spcPct val="80000"/>
              </a:lnSpc>
              <a:buFontTx/>
              <a:buNone/>
            </a:pPr>
            <a:endParaRPr lang="it-IT" sz="1500" b="1" dirty="0">
              <a:solidFill>
                <a:srgbClr val="000000"/>
              </a:solidFill>
              <a:latin typeface="Courier New" charset="0"/>
            </a:endParaRPr>
          </a:p>
          <a:p>
            <a:pPr eaLnBrk="1" hangingPunct="1">
              <a:lnSpc>
                <a:spcPct val="80000"/>
              </a:lnSpc>
              <a:buFontTx/>
              <a:buNone/>
            </a:pPr>
            <a:r>
              <a:rPr lang="it-IT" sz="1500" b="1" dirty="0">
                <a:solidFill>
                  <a:srgbClr val="000000"/>
                </a:solidFill>
                <a:latin typeface="Courier New" charset="0"/>
              </a:rPr>
              <a:t>	</a:t>
            </a:r>
            <a:r>
              <a:rPr lang="it-IT" sz="1500" b="1" dirty="0" err="1">
                <a:solidFill>
                  <a:srgbClr val="000000"/>
                </a:solidFill>
                <a:latin typeface="Courier New" charset="0"/>
              </a:rPr>
              <a:t>statement.executeUpdate</a:t>
            </a:r>
            <a:r>
              <a:rPr lang="it-IT" sz="1500" b="1" dirty="0">
                <a:solidFill>
                  <a:srgbClr val="000000"/>
                </a:solidFill>
                <a:latin typeface="Courier New" charset="0"/>
              </a:rPr>
              <a:t>();</a:t>
            </a:r>
          </a:p>
        </p:txBody>
      </p:sp>
      <p:sp>
        <p:nvSpPr>
          <p:cNvPr id="4" name="Rettangolo 3"/>
          <p:cNvSpPr/>
          <p:nvPr/>
        </p:nvSpPr>
        <p:spPr>
          <a:xfrm>
            <a:off x="1385646" y="4380196"/>
            <a:ext cx="4929188" cy="53578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latin typeface="Calibri Light" panose="020F0302020204030204" pitchFamily="34" charset="0"/>
            </a:endParaRPr>
          </a:p>
        </p:txBody>
      </p:sp>
      <p:sp>
        <p:nvSpPr>
          <p:cNvPr id="31748" name="Titolo 2"/>
          <p:cNvSpPr>
            <a:spLocks noGrp="1"/>
          </p:cNvSpPr>
          <p:nvPr>
            <p:ph type="title"/>
          </p:nvPr>
        </p:nvSpPr>
        <p:spPr/>
        <p:txBody>
          <a:bodyPr>
            <a:normAutofit fontScale="90000"/>
          </a:bodyPr>
          <a:lstStyle/>
          <a:p>
            <a:r>
              <a:rPr lang="it-IT" dirty="0"/>
              <a:t>Operazione n.3</a:t>
            </a:r>
            <a:br>
              <a:rPr lang="it-IT" dirty="0"/>
            </a:br>
            <a:r>
              <a:rPr lang="it-IT" dirty="0"/>
              <a:t>Istruzione SQL</a:t>
            </a:r>
            <a:endParaRPr lang="en-US" dirty="0"/>
          </a:p>
        </p:txBody>
      </p:sp>
    </p:spTree>
    <p:extLst>
      <p:ext uri="{BB962C8B-B14F-4D97-AF65-F5344CB8AC3E}">
        <p14:creationId xmlns:p14="http://schemas.microsoft.com/office/powerpoint/2010/main" val="2249737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1555">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1555">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1555">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1555">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1555">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1555">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1555">
                                            <p:txEl>
                                              <p:pRg st="8" end="8"/>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1555">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1555">
                                            <p:txEl>
                                              <p:pRg st="10" end="10"/>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1555">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uiExpand="1" build="p" bldLvl="2"/>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normAutofit fontScale="90000"/>
          </a:bodyPr>
          <a:lstStyle/>
          <a:p>
            <a:pPr eaLnBrk="1" hangingPunct="1"/>
            <a:r>
              <a:rPr lang="it-IT" dirty="0"/>
              <a:t>Operazione n.3</a:t>
            </a:r>
            <a:br>
              <a:rPr lang="it-IT" dirty="0"/>
            </a:br>
            <a:r>
              <a:rPr lang="it-IT" dirty="0"/>
              <a:t>Istruzione SQL</a:t>
            </a:r>
          </a:p>
        </p:txBody>
      </p:sp>
      <p:sp>
        <p:nvSpPr>
          <p:cNvPr id="153603" name="Rectangle 3"/>
          <p:cNvSpPr>
            <a:spLocks noGrp="1" noChangeArrowheads="1"/>
          </p:cNvSpPr>
          <p:nvPr>
            <p:ph idx="1"/>
          </p:nvPr>
        </p:nvSpPr>
        <p:spPr/>
        <p:txBody>
          <a:bodyPr>
            <a:normAutofit/>
          </a:bodyPr>
          <a:lstStyle/>
          <a:p>
            <a:pPr eaLnBrk="1" hangingPunct="1"/>
            <a:r>
              <a:rPr lang="it-IT" dirty="0"/>
              <a:t>Interrogazioni (</a:t>
            </a:r>
            <a:r>
              <a:rPr lang="it-IT" dirty="0" err="1"/>
              <a:t>select</a:t>
            </a:r>
            <a:r>
              <a:rPr lang="it-IT" dirty="0"/>
              <a:t>)</a:t>
            </a:r>
          </a:p>
          <a:p>
            <a:pPr lvl="1" eaLnBrk="1" hangingPunct="1"/>
            <a:r>
              <a:rPr lang="it-IT" dirty="0"/>
              <a:t>vengono eseguite invocando il metodo </a:t>
            </a:r>
            <a:r>
              <a:rPr lang="it-IT" b="1" dirty="0" err="1">
                <a:latin typeface="Courier New" charset="0"/>
              </a:rPr>
              <a:t>executeQuery</a:t>
            </a:r>
            <a:r>
              <a:rPr lang="it-IT" b="1" dirty="0">
                <a:latin typeface="Courier New" charset="0"/>
              </a:rPr>
              <a:t>()</a:t>
            </a:r>
          </a:p>
          <a:p>
            <a:pPr lvl="1" eaLnBrk="1" hangingPunct="1"/>
            <a:r>
              <a:rPr lang="it-IT" dirty="0"/>
              <a:t>che ritorna il risultato in un oggetto </a:t>
            </a:r>
            <a:r>
              <a:rPr lang="it-IT" b="1" dirty="0" err="1">
                <a:latin typeface="Courier New" charset="0"/>
              </a:rPr>
              <a:t>ResultSet</a:t>
            </a:r>
            <a:endParaRPr lang="it-IT" b="1" dirty="0">
              <a:latin typeface="Courier New" charset="0"/>
            </a:endParaRPr>
          </a:p>
          <a:p>
            <a:pPr eaLnBrk="1" hangingPunct="1"/>
            <a:r>
              <a:rPr lang="it-IT" dirty="0"/>
              <a:t>Esempio 2</a:t>
            </a:r>
          </a:p>
          <a:p>
            <a:pPr eaLnBrk="1" hangingPunct="1">
              <a:buFontTx/>
              <a:buNone/>
            </a:pPr>
            <a:r>
              <a:rPr lang="it-IT" sz="1800" b="1" dirty="0">
                <a:solidFill>
                  <a:srgbClr val="000000"/>
                </a:solidFill>
                <a:latin typeface="Courier New" charset="0"/>
              </a:rPr>
              <a:t>	</a:t>
            </a:r>
            <a:r>
              <a:rPr lang="it-IT" sz="1500" b="1" dirty="0" err="1">
                <a:solidFill>
                  <a:srgbClr val="000000"/>
                </a:solidFill>
                <a:latin typeface="Courier New" charset="0"/>
              </a:rPr>
              <a:t>PreparedStatement</a:t>
            </a:r>
            <a:r>
              <a:rPr lang="it-IT" sz="1500" b="1" dirty="0">
                <a:solidFill>
                  <a:srgbClr val="000000"/>
                </a:solidFill>
                <a:latin typeface="Courier New" charset="0"/>
              </a:rPr>
              <a:t> statement;</a:t>
            </a:r>
          </a:p>
          <a:p>
            <a:pPr eaLnBrk="1" hangingPunct="1">
              <a:buFontTx/>
              <a:buNone/>
            </a:pPr>
            <a:r>
              <a:rPr lang="it-IT" sz="1500" b="1" dirty="0">
                <a:solidFill>
                  <a:srgbClr val="000000"/>
                </a:solidFill>
                <a:latin typeface="Courier New" charset="0"/>
              </a:rPr>
              <a:t>	</a:t>
            </a:r>
            <a:r>
              <a:rPr lang="it-IT" sz="1500" b="1" dirty="0" err="1">
                <a:solidFill>
                  <a:srgbClr val="000000"/>
                </a:solidFill>
                <a:latin typeface="Courier New" charset="0"/>
              </a:rPr>
              <a:t>String</a:t>
            </a:r>
            <a:r>
              <a:rPr lang="it-IT" sz="1500" b="1" dirty="0">
                <a:solidFill>
                  <a:srgbClr val="000000"/>
                </a:solidFill>
                <a:latin typeface="Courier New" charset="0"/>
              </a:rPr>
              <a:t> </a:t>
            </a:r>
            <a:r>
              <a:rPr lang="it-IT" sz="1500" b="1" dirty="0" err="1">
                <a:solidFill>
                  <a:srgbClr val="000000"/>
                </a:solidFill>
                <a:latin typeface="Courier New" charset="0"/>
              </a:rPr>
              <a:t>query</a:t>
            </a:r>
            <a:r>
              <a:rPr lang="it-IT" sz="1500" b="1" dirty="0">
                <a:solidFill>
                  <a:srgbClr val="000000"/>
                </a:solidFill>
                <a:latin typeface="Courier New" charset="0"/>
              </a:rPr>
              <a:t> = </a:t>
            </a:r>
            <a:r>
              <a:rPr lang="it-IT" sz="1500" b="1" dirty="0">
                <a:solidFill>
                  <a:srgbClr val="2A00FF"/>
                </a:solidFill>
                <a:latin typeface="Courier New" charset="0"/>
              </a:rPr>
              <a:t>"</a:t>
            </a:r>
            <a:r>
              <a:rPr lang="it-IT" sz="1500" b="1" dirty="0" err="1">
                <a:solidFill>
                  <a:srgbClr val="2A00FF"/>
                </a:solidFill>
                <a:latin typeface="Courier New" charset="0"/>
              </a:rPr>
              <a:t>select</a:t>
            </a:r>
            <a:r>
              <a:rPr lang="it-IT" sz="1500" b="1" dirty="0">
                <a:solidFill>
                  <a:srgbClr val="2A00FF"/>
                </a:solidFill>
                <a:latin typeface="Courier New" charset="0"/>
              </a:rPr>
              <a:t> * from studente </a:t>
            </a:r>
          </a:p>
          <a:p>
            <a:pPr eaLnBrk="1" hangingPunct="1">
              <a:buFontTx/>
              <a:buNone/>
            </a:pPr>
            <a:r>
              <a:rPr lang="it-IT" sz="1500" b="1" dirty="0">
                <a:solidFill>
                  <a:srgbClr val="2A00FF"/>
                </a:solidFill>
                <a:latin typeface="Courier New" charset="0"/>
              </a:rPr>
              <a:t>					</a:t>
            </a:r>
            <a:r>
              <a:rPr lang="it-IT" sz="1500" b="1" dirty="0" err="1">
                <a:solidFill>
                  <a:srgbClr val="2A00FF"/>
                </a:solidFill>
                <a:latin typeface="Courier New" charset="0"/>
              </a:rPr>
              <a:t>where</a:t>
            </a:r>
            <a:r>
              <a:rPr lang="it-IT" sz="1500" b="1" dirty="0">
                <a:solidFill>
                  <a:srgbClr val="2A00FF"/>
                </a:solidFill>
                <a:latin typeface="Courier New" charset="0"/>
              </a:rPr>
              <a:t> matricola=?"</a:t>
            </a:r>
            <a:r>
              <a:rPr lang="it-IT" sz="1500" b="1" dirty="0">
                <a:solidFill>
                  <a:srgbClr val="000000"/>
                </a:solidFill>
                <a:latin typeface="Courier New" charset="0"/>
              </a:rPr>
              <a:t>;</a:t>
            </a:r>
            <a:endParaRPr lang="it-IT" sz="1500" b="1" dirty="0">
              <a:latin typeface="Courier New" charset="0"/>
            </a:endParaRPr>
          </a:p>
          <a:p>
            <a:pPr eaLnBrk="1" hangingPunct="1">
              <a:buFontTx/>
              <a:buNone/>
            </a:pPr>
            <a:r>
              <a:rPr lang="it-IT" sz="1500" b="1" dirty="0">
                <a:solidFill>
                  <a:srgbClr val="000000"/>
                </a:solidFill>
                <a:latin typeface="Courier New" charset="0"/>
              </a:rPr>
              <a:t>	statement = </a:t>
            </a:r>
            <a:r>
              <a:rPr lang="it-IT" sz="1500" b="1" dirty="0" err="1">
                <a:solidFill>
                  <a:srgbClr val="000000"/>
                </a:solidFill>
                <a:latin typeface="Courier New" charset="0"/>
              </a:rPr>
              <a:t>connection.prepareStatement</a:t>
            </a:r>
            <a:r>
              <a:rPr lang="it-IT" sz="1500" b="1" dirty="0">
                <a:solidFill>
                  <a:srgbClr val="000000"/>
                </a:solidFill>
                <a:latin typeface="Courier New" charset="0"/>
              </a:rPr>
              <a:t>(</a:t>
            </a:r>
            <a:r>
              <a:rPr lang="it-IT" sz="1500" b="1" dirty="0" err="1">
                <a:solidFill>
                  <a:srgbClr val="000000"/>
                </a:solidFill>
                <a:latin typeface="Courier New" charset="0"/>
              </a:rPr>
              <a:t>query</a:t>
            </a:r>
            <a:r>
              <a:rPr lang="it-IT" sz="1500" b="1" dirty="0">
                <a:solidFill>
                  <a:srgbClr val="000000"/>
                </a:solidFill>
                <a:latin typeface="Courier New" charset="0"/>
              </a:rPr>
              <a:t>);</a:t>
            </a:r>
          </a:p>
          <a:p>
            <a:pPr eaLnBrk="1" hangingPunct="1">
              <a:buFontTx/>
              <a:buNone/>
            </a:pPr>
            <a:r>
              <a:rPr lang="it-IT" sz="1500" b="1" dirty="0">
                <a:solidFill>
                  <a:srgbClr val="000000"/>
                </a:solidFill>
                <a:latin typeface="Courier New" charset="0"/>
              </a:rPr>
              <a:t>	</a:t>
            </a:r>
            <a:r>
              <a:rPr lang="it-IT" sz="1500" b="1" dirty="0" err="1">
                <a:solidFill>
                  <a:srgbClr val="000000"/>
                </a:solidFill>
                <a:latin typeface="Courier New" charset="0"/>
              </a:rPr>
              <a:t>statement.setString</a:t>
            </a:r>
            <a:r>
              <a:rPr lang="it-IT" sz="1500" b="1" dirty="0">
                <a:solidFill>
                  <a:srgbClr val="000000"/>
                </a:solidFill>
                <a:latin typeface="Courier New" charset="0"/>
              </a:rPr>
              <a:t>(1, matricola);</a:t>
            </a:r>
            <a:endParaRPr lang="it-IT" sz="2100" dirty="0"/>
          </a:p>
          <a:p>
            <a:pPr eaLnBrk="1" hangingPunct="1">
              <a:buFontTx/>
              <a:buNone/>
            </a:pPr>
            <a:r>
              <a:rPr lang="it-IT" sz="1500" b="1" dirty="0">
                <a:solidFill>
                  <a:srgbClr val="000000"/>
                </a:solidFill>
                <a:latin typeface="Courier New" charset="0"/>
              </a:rPr>
              <a:t>	</a:t>
            </a:r>
            <a:r>
              <a:rPr lang="it-IT" sz="1500" b="1" dirty="0" err="1">
                <a:solidFill>
                  <a:srgbClr val="000000"/>
                </a:solidFill>
                <a:latin typeface="Courier New" charset="0"/>
              </a:rPr>
              <a:t>ResultSet</a:t>
            </a:r>
            <a:r>
              <a:rPr lang="it-IT" sz="1500" b="1" dirty="0">
                <a:solidFill>
                  <a:srgbClr val="000000"/>
                </a:solidFill>
                <a:latin typeface="Courier New" charset="0"/>
              </a:rPr>
              <a:t> </a:t>
            </a:r>
            <a:r>
              <a:rPr lang="it-IT" sz="1500" b="1" dirty="0" err="1">
                <a:solidFill>
                  <a:srgbClr val="000000"/>
                </a:solidFill>
                <a:latin typeface="Courier New" charset="0"/>
              </a:rPr>
              <a:t>result</a:t>
            </a:r>
            <a:r>
              <a:rPr lang="it-IT" sz="1500" b="1" dirty="0">
                <a:solidFill>
                  <a:srgbClr val="000000"/>
                </a:solidFill>
                <a:latin typeface="Courier New" charset="0"/>
              </a:rPr>
              <a:t> = </a:t>
            </a:r>
            <a:r>
              <a:rPr lang="it-IT" sz="1500" b="1" dirty="0" err="1">
                <a:solidFill>
                  <a:srgbClr val="000000"/>
                </a:solidFill>
                <a:latin typeface="Courier New" charset="0"/>
              </a:rPr>
              <a:t>statement.executeQuery</a:t>
            </a:r>
            <a:r>
              <a:rPr lang="it-IT" sz="1500" b="1" dirty="0">
                <a:solidFill>
                  <a:srgbClr val="000000"/>
                </a:solidFill>
                <a:latin typeface="Courier New" charset="0"/>
              </a:rPr>
              <a:t>();</a:t>
            </a:r>
          </a:p>
          <a:p>
            <a:pPr eaLnBrk="1" hangingPunct="1"/>
            <a:endParaRPr lang="it-IT" sz="2100" dirty="0"/>
          </a:p>
        </p:txBody>
      </p:sp>
    </p:spTree>
    <p:extLst>
      <p:ext uri="{BB962C8B-B14F-4D97-AF65-F5344CB8AC3E}">
        <p14:creationId xmlns:p14="http://schemas.microsoft.com/office/powerpoint/2010/main" val="3842375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0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60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60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60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360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3603">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3603">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360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uiExpand="1" build="p" bldLvl="2"/>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noAutofit/>
          </a:bodyPr>
          <a:lstStyle/>
          <a:p>
            <a:pPr eaLnBrk="1" hangingPunct="1"/>
            <a:r>
              <a:rPr lang="it-IT" sz="3000" dirty="0"/>
              <a:t>Operazione n.4</a:t>
            </a:r>
            <a:br>
              <a:rPr lang="it-IT" sz="3000" dirty="0"/>
            </a:br>
            <a:r>
              <a:rPr lang="it-IT" sz="3000" dirty="0"/>
              <a:t>Gestire il risultato di una </a:t>
            </a:r>
            <a:r>
              <a:rPr lang="it-IT" sz="3000" dirty="0" err="1"/>
              <a:t>query</a:t>
            </a:r>
            <a:endParaRPr lang="it-IT" sz="3000" dirty="0"/>
          </a:p>
        </p:txBody>
      </p:sp>
      <p:sp>
        <p:nvSpPr>
          <p:cNvPr id="63491" name="Rectangle 3"/>
          <p:cNvSpPr>
            <a:spLocks noGrp="1" noChangeArrowheads="1"/>
          </p:cNvSpPr>
          <p:nvPr>
            <p:ph idx="1"/>
          </p:nvPr>
        </p:nvSpPr>
        <p:spPr>
          <a:xfrm>
            <a:off x="1331119" y="1200649"/>
            <a:ext cx="6236494" cy="3245644"/>
          </a:xfrm>
        </p:spPr>
        <p:txBody>
          <a:bodyPr/>
          <a:lstStyle/>
          <a:p>
            <a:pPr eaLnBrk="1" hangingPunct="1"/>
            <a:r>
              <a:rPr lang="it-IT" sz="2100" dirty="0"/>
              <a:t>Un oggetto della classe </a:t>
            </a:r>
            <a:r>
              <a:rPr lang="it-IT" sz="2100" b="1" dirty="0" err="1">
                <a:latin typeface="Courier New" charset="0"/>
              </a:rPr>
              <a:t>ResultSet</a:t>
            </a:r>
            <a:r>
              <a:rPr lang="it-IT" sz="2100" b="1" dirty="0">
                <a:latin typeface="Courier New" charset="0"/>
              </a:rPr>
              <a:t> </a:t>
            </a:r>
            <a:r>
              <a:rPr lang="it-IT" sz="2100" dirty="0"/>
              <a:t>rappresenta la collezione di ennuple restituita da una </a:t>
            </a:r>
            <a:r>
              <a:rPr lang="it-IT" sz="2100" dirty="0" err="1"/>
              <a:t>query</a:t>
            </a:r>
            <a:r>
              <a:rPr lang="it-IT" sz="2100" dirty="0"/>
              <a:t> SQL (istruzione </a:t>
            </a:r>
            <a:r>
              <a:rPr lang="it-IT" sz="2100" b="1" dirty="0">
                <a:latin typeface="Courier New" charset="0"/>
              </a:rPr>
              <a:t>SELECT)</a:t>
            </a:r>
          </a:p>
          <a:p>
            <a:pPr eaLnBrk="1" hangingPunct="1"/>
            <a:r>
              <a:rPr lang="it-IT" sz="2100" dirty="0"/>
              <a:t>Per gestire il risultato offre vari metodi:</a:t>
            </a:r>
          </a:p>
          <a:p>
            <a:pPr lvl="1" eaLnBrk="1" hangingPunct="1"/>
            <a:r>
              <a:rPr lang="it-IT" sz="1800" dirty="0"/>
              <a:t>metodo </a:t>
            </a:r>
            <a:r>
              <a:rPr lang="it-IT" sz="1800" b="1" dirty="0" err="1">
                <a:latin typeface="Courier New" charset="0"/>
              </a:rPr>
              <a:t>boolean</a:t>
            </a:r>
            <a:r>
              <a:rPr lang="it-IT" sz="1800" b="1" dirty="0">
                <a:latin typeface="Courier New" charset="0"/>
              </a:rPr>
              <a:t> </a:t>
            </a:r>
            <a:r>
              <a:rPr lang="it-IT" sz="1800" b="1" dirty="0" err="1">
                <a:latin typeface="Courier New" charset="0"/>
              </a:rPr>
              <a:t>next</a:t>
            </a:r>
            <a:r>
              <a:rPr lang="it-IT" sz="1800" b="1" dirty="0">
                <a:latin typeface="Courier New" charset="0"/>
              </a:rPr>
              <a:t>()</a:t>
            </a:r>
            <a:r>
              <a:rPr lang="it-IT" sz="1800" dirty="0"/>
              <a:t> per scorrere le ennuple (analogo ad un iteratore)</a:t>
            </a:r>
          </a:p>
          <a:p>
            <a:pPr lvl="1" eaLnBrk="1" hangingPunct="1"/>
            <a:r>
              <a:rPr lang="it-IT" sz="1800" dirty="0"/>
              <a:t>metodi </a:t>
            </a:r>
            <a:r>
              <a:rPr lang="it-IT" sz="1800" b="1" dirty="0" err="1">
                <a:latin typeface="Courier New" charset="0"/>
              </a:rPr>
              <a:t>getXXX</a:t>
            </a:r>
            <a:r>
              <a:rPr lang="it-IT" sz="1800" b="1" dirty="0">
                <a:latin typeface="Courier New" charset="0"/>
              </a:rPr>
              <a:t>(</a:t>
            </a:r>
            <a:r>
              <a:rPr lang="it-IT" sz="1800" b="1" dirty="0" err="1">
                <a:latin typeface="Courier New" charset="0"/>
              </a:rPr>
              <a:t>String</a:t>
            </a:r>
            <a:r>
              <a:rPr lang="it-IT" sz="1800" b="1" dirty="0">
                <a:latin typeface="Courier New" charset="0"/>
              </a:rPr>
              <a:t> attributo)</a:t>
            </a:r>
            <a:r>
              <a:rPr lang="it-IT" sz="1800" dirty="0"/>
              <a:t> per acquisire i valori degli attributi</a:t>
            </a:r>
          </a:p>
          <a:p>
            <a:pPr lvl="2" eaLnBrk="1" hangingPunct="1">
              <a:buFontTx/>
              <a:buNone/>
            </a:pPr>
            <a:r>
              <a:rPr lang="it-IT" sz="1500" dirty="0"/>
              <a:t>Es.: </a:t>
            </a:r>
            <a:r>
              <a:rPr lang="it-IT" sz="1500" dirty="0" err="1">
                <a:latin typeface="Courier New" charset="0"/>
              </a:rPr>
              <a:t>int</a:t>
            </a:r>
            <a:r>
              <a:rPr lang="it-IT" sz="1500" dirty="0">
                <a:latin typeface="Courier New" charset="0"/>
              </a:rPr>
              <a:t> </a:t>
            </a:r>
            <a:r>
              <a:rPr lang="it-IT" sz="1500" dirty="0" err="1">
                <a:latin typeface="Courier New" charset="0"/>
              </a:rPr>
              <a:t>getInt</a:t>
            </a:r>
            <a:r>
              <a:rPr lang="it-IT" sz="1500" dirty="0">
                <a:latin typeface="Courier New" charset="0"/>
              </a:rPr>
              <a:t>(</a:t>
            </a:r>
            <a:r>
              <a:rPr lang="it-IT" sz="1500" dirty="0" err="1">
                <a:latin typeface="Courier New" charset="0"/>
              </a:rPr>
              <a:t>String</a:t>
            </a:r>
            <a:r>
              <a:rPr lang="it-IT" sz="1500" dirty="0">
                <a:latin typeface="Courier New" charset="0"/>
              </a:rPr>
              <a:t> attributo);</a:t>
            </a:r>
          </a:p>
          <a:p>
            <a:pPr lvl="2" eaLnBrk="1" hangingPunct="1">
              <a:buFontTx/>
              <a:buNone/>
            </a:pPr>
            <a:r>
              <a:rPr lang="it-IT" sz="1500" dirty="0"/>
              <a:t>Es.: </a:t>
            </a:r>
            <a:r>
              <a:rPr lang="it-IT" sz="1500" dirty="0" err="1">
                <a:latin typeface="Courier New" charset="0"/>
              </a:rPr>
              <a:t>String</a:t>
            </a:r>
            <a:r>
              <a:rPr lang="it-IT" sz="1500" dirty="0">
                <a:latin typeface="Courier New" charset="0"/>
              </a:rPr>
              <a:t> </a:t>
            </a:r>
            <a:r>
              <a:rPr lang="it-IT" sz="1500" dirty="0" err="1">
                <a:latin typeface="Courier New" charset="0"/>
              </a:rPr>
              <a:t>getString</a:t>
            </a:r>
            <a:r>
              <a:rPr lang="it-IT" sz="1500" dirty="0">
                <a:latin typeface="Courier New" charset="0"/>
              </a:rPr>
              <a:t>(</a:t>
            </a:r>
            <a:r>
              <a:rPr lang="it-IT" sz="1500" dirty="0" err="1">
                <a:latin typeface="Courier New" charset="0"/>
              </a:rPr>
              <a:t>String</a:t>
            </a:r>
            <a:r>
              <a:rPr lang="it-IT" sz="1500" dirty="0">
                <a:latin typeface="Courier New" charset="0"/>
              </a:rPr>
              <a:t> attributo);</a:t>
            </a:r>
            <a:r>
              <a:rPr lang="it-IT" sz="1500" dirty="0"/>
              <a:t> </a:t>
            </a:r>
          </a:p>
        </p:txBody>
      </p:sp>
    </p:spTree>
    <p:extLst>
      <p:ext uri="{BB962C8B-B14F-4D97-AF65-F5344CB8AC3E}">
        <p14:creationId xmlns:p14="http://schemas.microsoft.com/office/powerpoint/2010/main" val="370516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349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49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4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uiExpand="1" build="p" bldLvl="2"/>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noAutofit/>
          </a:bodyPr>
          <a:lstStyle/>
          <a:p>
            <a:pPr eaLnBrk="1" hangingPunct="1"/>
            <a:r>
              <a:rPr lang="it-IT" sz="3000" dirty="0"/>
              <a:t>Operazione n.4</a:t>
            </a:r>
            <a:br>
              <a:rPr lang="it-IT" sz="3000" dirty="0"/>
            </a:br>
            <a:r>
              <a:rPr lang="it-IT" sz="3000" dirty="0"/>
              <a:t>Gestire il risultato di una </a:t>
            </a:r>
            <a:r>
              <a:rPr lang="it-IT" sz="3000" dirty="0" err="1"/>
              <a:t>query</a:t>
            </a:r>
            <a:endParaRPr lang="it-IT" sz="3000" dirty="0"/>
          </a:p>
        </p:txBody>
      </p:sp>
      <p:sp>
        <p:nvSpPr>
          <p:cNvPr id="157699" name="Rectangle 3"/>
          <p:cNvSpPr>
            <a:spLocks noGrp="1" noChangeArrowheads="1"/>
          </p:cNvSpPr>
          <p:nvPr>
            <p:ph idx="1"/>
          </p:nvPr>
        </p:nvSpPr>
        <p:spPr>
          <a:xfrm>
            <a:off x="1331119" y="1438735"/>
            <a:ext cx="6669881" cy="2879519"/>
          </a:xfrm>
        </p:spPr>
        <p:txBody>
          <a:bodyPr/>
          <a:lstStyle/>
          <a:p>
            <a:pPr eaLnBrk="1" hangingPunct="1">
              <a:lnSpc>
                <a:spcPct val="80000"/>
              </a:lnSpc>
            </a:pPr>
            <a:r>
              <a:rPr lang="it-IT" dirty="0"/>
              <a:t>Il metodo </a:t>
            </a:r>
            <a:r>
              <a:rPr lang="it-IT" b="1" dirty="0" err="1">
                <a:latin typeface="Courier New" charset="0"/>
              </a:rPr>
              <a:t>next</a:t>
            </a:r>
            <a:r>
              <a:rPr lang="it-IT" b="1" dirty="0">
                <a:latin typeface="Courier New" charset="0"/>
              </a:rPr>
              <a:t>()</a:t>
            </a:r>
            <a:r>
              <a:rPr lang="it-IT" dirty="0"/>
              <a:t> </a:t>
            </a:r>
          </a:p>
          <a:p>
            <a:pPr lvl="1" eaLnBrk="1" hangingPunct="1">
              <a:lnSpc>
                <a:spcPct val="80000"/>
              </a:lnSpc>
            </a:pPr>
            <a:r>
              <a:rPr lang="en-US" sz="1500" dirty="0"/>
              <a:t>Moves the cursor forward one row from its current position. A </a:t>
            </a:r>
            <a:r>
              <a:rPr lang="en-US" sz="1500" b="1" dirty="0" err="1">
                <a:latin typeface="Courier New" charset="0"/>
              </a:rPr>
              <a:t>ResultSet</a:t>
            </a:r>
            <a:r>
              <a:rPr lang="en-US" sz="1500" dirty="0"/>
              <a:t> cursor is initially positioned before the first row; the first call to the method next makes the first row the current row; the second call makes the second row the current row, and so on.</a:t>
            </a:r>
          </a:p>
          <a:p>
            <a:pPr lvl="1" eaLnBrk="1" hangingPunct="1">
              <a:lnSpc>
                <a:spcPct val="80000"/>
              </a:lnSpc>
            </a:pPr>
            <a:r>
              <a:rPr lang="en-US" sz="1500" dirty="0"/>
              <a:t>When a call to the next method returns false, the cursor is positioned after the last row. Any invocation of a </a:t>
            </a:r>
            <a:r>
              <a:rPr lang="en-US" sz="1500" b="1" dirty="0" err="1">
                <a:latin typeface="Courier New" charset="0"/>
              </a:rPr>
              <a:t>ResultSet</a:t>
            </a:r>
            <a:r>
              <a:rPr lang="en-US" sz="1500" dirty="0"/>
              <a:t> method which requires a current row will result in a </a:t>
            </a:r>
            <a:r>
              <a:rPr lang="en-US" sz="1500" b="1" dirty="0" err="1">
                <a:latin typeface="Courier New" charset="0"/>
              </a:rPr>
              <a:t>SQLException</a:t>
            </a:r>
            <a:r>
              <a:rPr lang="en-US" sz="1500" dirty="0"/>
              <a:t> being thrown. </a:t>
            </a:r>
          </a:p>
          <a:p>
            <a:pPr lvl="1" eaLnBrk="1" hangingPunct="1">
              <a:lnSpc>
                <a:spcPct val="80000"/>
              </a:lnSpc>
            </a:pPr>
            <a:r>
              <a:rPr lang="en-US" sz="1500" dirty="0"/>
              <a:t>Returns: </a:t>
            </a:r>
            <a:r>
              <a:rPr lang="en-US" sz="1500" b="1" dirty="0">
                <a:latin typeface="Courier New" charset="0"/>
              </a:rPr>
              <a:t>true</a:t>
            </a:r>
            <a:r>
              <a:rPr lang="en-US" sz="1500" dirty="0"/>
              <a:t> if the new current row is valid; </a:t>
            </a:r>
            <a:r>
              <a:rPr lang="en-US" sz="1500" b="1" dirty="0">
                <a:latin typeface="Courier New" charset="0"/>
              </a:rPr>
              <a:t>false</a:t>
            </a:r>
            <a:r>
              <a:rPr lang="en-US" sz="1500" dirty="0"/>
              <a:t> if there are no more rows</a:t>
            </a:r>
            <a:endParaRPr lang="it-IT" sz="1500" dirty="0"/>
          </a:p>
        </p:txBody>
      </p:sp>
    </p:spTree>
    <p:extLst>
      <p:ext uri="{BB962C8B-B14F-4D97-AF65-F5344CB8AC3E}">
        <p14:creationId xmlns:p14="http://schemas.microsoft.com/office/powerpoint/2010/main" val="4225785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Autofit/>
          </a:bodyPr>
          <a:lstStyle/>
          <a:p>
            <a:pPr eaLnBrk="1" hangingPunct="1"/>
            <a:r>
              <a:rPr lang="it-IT" sz="3000" dirty="0"/>
              <a:t>Operazione n.4</a:t>
            </a:r>
            <a:br>
              <a:rPr lang="it-IT" sz="3000" dirty="0"/>
            </a:br>
            <a:r>
              <a:rPr lang="it-IT" sz="3000" dirty="0"/>
              <a:t>Gestire il risultato di una </a:t>
            </a:r>
            <a:r>
              <a:rPr lang="it-IT" sz="3000" dirty="0" err="1"/>
              <a:t>query</a:t>
            </a:r>
            <a:endParaRPr lang="it-IT" sz="3000" dirty="0"/>
          </a:p>
        </p:txBody>
      </p:sp>
      <p:sp>
        <p:nvSpPr>
          <p:cNvPr id="36867" name="Rectangle 3"/>
          <p:cNvSpPr>
            <a:spLocks noGrp="1" noChangeArrowheads="1"/>
          </p:cNvSpPr>
          <p:nvPr>
            <p:ph idx="1"/>
          </p:nvPr>
        </p:nvSpPr>
        <p:spPr>
          <a:xfrm>
            <a:off x="457200" y="1200150"/>
            <a:ext cx="8229600" cy="3943349"/>
          </a:xfrm>
        </p:spPr>
        <p:txBody>
          <a:bodyPr>
            <a:normAutofit lnSpcReduction="10000"/>
          </a:bodyPr>
          <a:lstStyle/>
          <a:p>
            <a:pPr marL="0" indent="0">
              <a:buNone/>
            </a:pPr>
            <a:r>
              <a:rPr lang="en-US" sz="788" dirty="0">
                <a:latin typeface="Courier New"/>
                <a:cs typeface="Courier New"/>
              </a:rPr>
              <a:t>	</a:t>
            </a:r>
            <a:r>
              <a:rPr lang="en-US" sz="788" b="1" dirty="0">
                <a:latin typeface="Courier New"/>
                <a:cs typeface="Courier New"/>
              </a:rPr>
              <a:t>public List&lt;</a:t>
            </a:r>
            <a:r>
              <a:rPr lang="en-US" sz="788" b="1" dirty="0" err="1">
                <a:latin typeface="Courier New"/>
                <a:cs typeface="Courier New"/>
              </a:rPr>
              <a:t>Studente</a:t>
            </a:r>
            <a:r>
              <a:rPr lang="en-US" sz="788" b="1" dirty="0">
                <a:latin typeface="Courier New"/>
                <a:cs typeface="Courier New"/>
              </a:rPr>
              <a:t>&gt; </a:t>
            </a:r>
            <a:r>
              <a:rPr lang="en-US" sz="788" b="1" dirty="0" err="1">
                <a:latin typeface="Courier New"/>
                <a:cs typeface="Courier New"/>
              </a:rPr>
              <a:t>findAll</a:t>
            </a:r>
            <a:r>
              <a:rPr lang="en-US" sz="788" b="1" dirty="0">
                <a:latin typeface="Courier New"/>
                <a:cs typeface="Courier New"/>
              </a:rPr>
              <a:t>() {</a:t>
            </a:r>
          </a:p>
          <a:p>
            <a:pPr marL="0" indent="0">
              <a:buNone/>
            </a:pPr>
            <a:r>
              <a:rPr lang="en-US" sz="788" dirty="0">
                <a:latin typeface="Courier New"/>
                <a:cs typeface="Courier New"/>
              </a:rPr>
              <a:t>		Connection connection = </a:t>
            </a:r>
            <a:r>
              <a:rPr lang="en-US" sz="788" b="1" dirty="0" err="1">
                <a:latin typeface="Courier New"/>
                <a:cs typeface="Courier New"/>
              </a:rPr>
              <a:t>this.dataSource.getConnection</a:t>
            </a:r>
            <a:r>
              <a:rPr lang="en-US" sz="788" b="1" dirty="0">
                <a:latin typeface="Courier New"/>
                <a:cs typeface="Courier New"/>
              </a:rPr>
              <a:t>();</a:t>
            </a:r>
          </a:p>
          <a:p>
            <a:pPr marL="0" indent="0">
              <a:buNone/>
            </a:pPr>
            <a:r>
              <a:rPr lang="en-US" sz="788" dirty="0">
                <a:latin typeface="Courier New"/>
                <a:cs typeface="Courier New"/>
              </a:rPr>
              <a:t>		List&lt;</a:t>
            </a:r>
            <a:r>
              <a:rPr lang="en-US" sz="788" dirty="0" err="1">
                <a:latin typeface="Courier New"/>
                <a:cs typeface="Courier New"/>
              </a:rPr>
              <a:t>Studente</a:t>
            </a:r>
            <a:r>
              <a:rPr lang="en-US" sz="788" dirty="0">
                <a:latin typeface="Courier New"/>
                <a:cs typeface="Courier New"/>
              </a:rPr>
              <a:t>&gt; </a:t>
            </a:r>
            <a:r>
              <a:rPr lang="en-US" sz="788" dirty="0" err="1">
                <a:latin typeface="Courier New"/>
                <a:cs typeface="Courier New"/>
              </a:rPr>
              <a:t>studenti</a:t>
            </a:r>
            <a:r>
              <a:rPr lang="en-US" sz="788" dirty="0">
                <a:latin typeface="Courier New"/>
                <a:cs typeface="Courier New"/>
              </a:rPr>
              <a:t> = </a:t>
            </a:r>
            <a:r>
              <a:rPr lang="en-US" sz="788" b="1" dirty="0">
                <a:latin typeface="Courier New"/>
                <a:cs typeface="Courier New"/>
              </a:rPr>
              <a:t>new </a:t>
            </a:r>
            <a:r>
              <a:rPr lang="en-US" sz="788" b="1" dirty="0" err="1">
                <a:latin typeface="Courier New"/>
                <a:cs typeface="Courier New"/>
              </a:rPr>
              <a:t>LinkedList</a:t>
            </a:r>
            <a:r>
              <a:rPr lang="en-US" sz="788" b="1" dirty="0">
                <a:latin typeface="Courier New"/>
                <a:cs typeface="Courier New"/>
              </a:rPr>
              <a:t>&lt;&gt;();</a:t>
            </a:r>
          </a:p>
          <a:p>
            <a:pPr marL="0" indent="0">
              <a:buNone/>
            </a:pPr>
            <a:r>
              <a:rPr lang="en-US" sz="788" dirty="0">
                <a:latin typeface="Courier New"/>
                <a:cs typeface="Courier New"/>
              </a:rPr>
              <a:t>		</a:t>
            </a:r>
            <a:r>
              <a:rPr lang="en-US" sz="788" b="1" dirty="0">
                <a:latin typeface="Courier New"/>
                <a:cs typeface="Courier New"/>
              </a:rPr>
              <a:t>try {</a:t>
            </a:r>
          </a:p>
          <a:p>
            <a:pPr marL="0" indent="0">
              <a:buNone/>
            </a:pPr>
            <a:r>
              <a:rPr lang="en-US" sz="788" dirty="0">
                <a:latin typeface="Courier New"/>
                <a:cs typeface="Courier New"/>
              </a:rPr>
              <a:t>			</a:t>
            </a:r>
            <a:r>
              <a:rPr lang="en-US" sz="788" dirty="0" err="1">
                <a:latin typeface="Courier New"/>
                <a:cs typeface="Courier New"/>
              </a:rPr>
              <a:t>Studente</a:t>
            </a:r>
            <a:r>
              <a:rPr lang="en-US" sz="788" dirty="0">
                <a:latin typeface="Courier New"/>
                <a:cs typeface="Courier New"/>
              </a:rPr>
              <a:t> </a:t>
            </a:r>
            <a:r>
              <a:rPr lang="en-US" sz="788" dirty="0" err="1">
                <a:latin typeface="Courier New"/>
                <a:cs typeface="Courier New"/>
              </a:rPr>
              <a:t>studente</a:t>
            </a:r>
            <a:r>
              <a:rPr lang="en-US" sz="788" dirty="0">
                <a:latin typeface="Courier New"/>
                <a:cs typeface="Courier New"/>
              </a:rPr>
              <a:t>;</a:t>
            </a:r>
          </a:p>
          <a:p>
            <a:pPr marL="0" indent="0">
              <a:buNone/>
            </a:pPr>
            <a:r>
              <a:rPr lang="en-US" sz="788" dirty="0">
                <a:latin typeface="Courier New"/>
                <a:cs typeface="Courier New"/>
              </a:rPr>
              <a:t>			</a:t>
            </a:r>
            <a:r>
              <a:rPr lang="en-US" sz="788" dirty="0" err="1">
                <a:latin typeface="Courier New"/>
                <a:cs typeface="Courier New"/>
              </a:rPr>
              <a:t>PreparedStatement</a:t>
            </a:r>
            <a:r>
              <a:rPr lang="en-US" sz="788" dirty="0">
                <a:latin typeface="Courier New"/>
                <a:cs typeface="Courier New"/>
              </a:rPr>
              <a:t> statement;</a:t>
            </a:r>
          </a:p>
          <a:p>
            <a:pPr marL="0" indent="0">
              <a:buNone/>
            </a:pPr>
            <a:r>
              <a:rPr lang="en-US" sz="788" dirty="0">
                <a:latin typeface="Courier New"/>
                <a:cs typeface="Courier New"/>
              </a:rPr>
              <a:t>			String query = "select * from </a:t>
            </a:r>
            <a:r>
              <a:rPr lang="en-US" sz="788" dirty="0" err="1">
                <a:latin typeface="Courier New"/>
                <a:cs typeface="Courier New"/>
              </a:rPr>
              <a:t>studente</a:t>
            </a:r>
            <a:r>
              <a:rPr lang="en-US" sz="788" dirty="0">
                <a:latin typeface="Courier New"/>
                <a:cs typeface="Courier New"/>
              </a:rPr>
              <a:t>";</a:t>
            </a:r>
          </a:p>
          <a:p>
            <a:pPr marL="0" indent="0">
              <a:buNone/>
            </a:pPr>
            <a:r>
              <a:rPr lang="en-US" sz="788" dirty="0">
                <a:latin typeface="Courier New"/>
                <a:cs typeface="Courier New"/>
              </a:rPr>
              <a:t>			statement = </a:t>
            </a:r>
            <a:r>
              <a:rPr lang="en-US" sz="788" dirty="0" err="1">
                <a:latin typeface="Courier New"/>
                <a:cs typeface="Courier New"/>
              </a:rPr>
              <a:t>connection.prepareStatement</a:t>
            </a:r>
            <a:r>
              <a:rPr lang="en-US" sz="788" dirty="0">
                <a:latin typeface="Courier New"/>
                <a:cs typeface="Courier New"/>
              </a:rPr>
              <a:t>(query);</a:t>
            </a:r>
          </a:p>
          <a:p>
            <a:pPr marL="0" indent="0">
              <a:buNone/>
            </a:pPr>
            <a:r>
              <a:rPr lang="en-US" sz="788" dirty="0">
                <a:latin typeface="Courier New"/>
                <a:cs typeface="Courier New"/>
              </a:rPr>
              <a:t>			</a:t>
            </a:r>
            <a:r>
              <a:rPr lang="en-US" sz="788" dirty="0" err="1">
                <a:latin typeface="Courier New"/>
                <a:cs typeface="Courier New"/>
              </a:rPr>
              <a:t>ResultSet</a:t>
            </a:r>
            <a:r>
              <a:rPr lang="en-US" sz="788" dirty="0">
                <a:latin typeface="Courier New"/>
                <a:cs typeface="Courier New"/>
              </a:rPr>
              <a:t> result = </a:t>
            </a:r>
            <a:r>
              <a:rPr lang="en-US" sz="788" dirty="0" err="1">
                <a:latin typeface="Courier New"/>
                <a:cs typeface="Courier New"/>
              </a:rPr>
              <a:t>statement.executeQuery</a:t>
            </a:r>
            <a:r>
              <a:rPr lang="en-US" sz="788" dirty="0">
                <a:latin typeface="Courier New"/>
                <a:cs typeface="Courier New"/>
              </a:rPr>
              <a:t>();</a:t>
            </a:r>
          </a:p>
          <a:p>
            <a:pPr marL="0" indent="0">
              <a:buNone/>
            </a:pPr>
            <a:r>
              <a:rPr lang="en-US" sz="788" dirty="0">
                <a:latin typeface="Courier New"/>
                <a:cs typeface="Courier New"/>
              </a:rPr>
              <a:t>			</a:t>
            </a:r>
            <a:r>
              <a:rPr lang="en-US" sz="788" b="1" dirty="0">
                <a:latin typeface="Courier New"/>
                <a:cs typeface="Courier New"/>
              </a:rPr>
              <a:t>while (</a:t>
            </a:r>
            <a:r>
              <a:rPr lang="en-US" sz="788" b="1" dirty="0" err="1">
                <a:latin typeface="Courier New"/>
                <a:cs typeface="Courier New"/>
              </a:rPr>
              <a:t>result.next</a:t>
            </a:r>
            <a:r>
              <a:rPr lang="en-US" sz="788" b="1" dirty="0">
                <a:latin typeface="Courier New"/>
                <a:cs typeface="Courier New"/>
              </a:rPr>
              <a:t>()) {</a:t>
            </a:r>
          </a:p>
          <a:p>
            <a:pPr marL="0" indent="0">
              <a:buNone/>
            </a:pPr>
            <a:r>
              <a:rPr lang="en-US" sz="788" dirty="0">
                <a:latin typeface="Courier New"/>
                <a:cs typeface="Courier New"/>
              </a:rPr>
              <a:t>				</a:t>
            </a:r>
            <a:r>
              <a:rPr lang="en-US" sz="788" dirty="0" err="1">
                <a:latin typeface="Courier New"/>
                <a:cs typeface="Courier New"/>
              </a:rPr>
              <a:t>studente</a:t>
            </a:r>
            <a:r>
              <a:rPr lang="en-US" sz="788" dirty="0">
                <a:latin typeface="Courier New"/>
                <a:cs typeface="Courier New"/>
              </a:rPr>
              <a:t> = </a:t>
            </a:r>
            <a:r>
              <a:rPr lang="en-US" sz="788" b="1" dirty="0">
                <a:latin typeface="Courier New"/>
                <a:cs typeface="Courier New"/>
              </a:rPr>
              <a:t>new </a:t>
            </a:r>
            <a:r>
              <a:rPr lang="en-US" sz="788" b="1" dirty="0" err="1">
                <a:latin typeface="Courier New"/>
                <a:cs typeface="Courier New"/>
              </a:rPr>
              <a:t>Studente</a:t>
            </a:r>
            <a:r>
              <a:rPr lang="en-US" sz="788" b="1" dirty="0">
                <a:latin typeface="Courier New"/>
                <a:cs typeface="Courier New"/>
              </a:rPr>
              <a:t>();</a:t>
            </a:r>
          </a:p>
          <a:p>
            <a:pPr marL="0" indent="0">
              <a:buNone/>
            </a:pPr>
            <a:r>
              <a:rPr lang="en-US" sz="788" dirty="0">
                <a:latin typeface="Courier New"/>
                <a:cs typeface="Courier New"/>
              </a:rPr>
              <a:t>				</a:t>
            </a:r>
            <a:r>
              <a:rPr lang="en-US" sz="788" dirty="0" err="1">
                <a:latin typeface="Courier New"/>
                <a:cs typeface="Courier New"/>
              </a:rPr>
              <a:t>studente.setMatricola</a:t>
            </a:r>
            <a:r>
              <a:rPr lang="en-US" sz="788" dirty="0">
                <a:latin typeface="Courier New"/>
                <a:cs typeface="Courier New"/>
              </a:rPr>
              <a:t>(</a:t>
            </a:r>
            <a:r>
              <a:rPr lang="en-US" sz="788" dirty="0" err="1">
                <a:latin typeface="Courier New"/>
                <a:cs typeface="Courier New"/>
              </a:rPr>
              <a:t>result.getString</a:t>
            </a:r>
            <a:r>
              <a:rPr lang="en-US" sz="788" dirty="0">
                <a:latin typeface="Courier New"/>
                <a:cs typeface="Courier New"/>
              </a:rPr>
              <a:t>("</a:t>
            </a:r>
            <a:r>
              <a:rPr lang="en-US" sz="788" dirty="0" err="1">
                <a:latin typeface="Courier New"/>
                <a:cs typeface="Courier New"/>
              </a:rPr>
              <a:t>matricola</a:t>
            </a:r>
            <a:r>
              <a:rPr lang="en-US" sz="788" dirty="0">
                <a:latin typeface="Courier New"/>
                <a:cs typeface="Courier New"/>
              </a:rPr>
              <a:t>"));	</a:t>
            </a:r>
          </a:p>
          <a:p>
            <a:pPr marL="0" indent="0">
              <a:buNone/>
            </a:pPr>
            <a:r>
              <a:rPr lang="en-US" sz="788" dirty="0">
                <a:latin typeface="Courier New"/>
                <a:cs typeface="Courier New"/>
              </a:rPr>
              <a:t>				</a:t>
            </a:r>
            <a:r>
              <a:rPr lang="en-US" sz="788" dirty="0" err="1">
                <a:latin typeface="Courier New"/>
                <a:cs typeface="Courier New"/>
              </a:rPr>
              <a:t>studente.setNome</a:t>
            </a:r>
            <a:r>
              <a:rPr lang="en-US" sz="788" dirty="0">
                <a:latin typeface="Courier New"/>
                <a:cs typeface="Courier New"/>
              </a:rPr>
              <a:t>(</a:t>
            </a:r>
            <a:r>
              <a:rPr lang="en-US" sz="788" dirty="0" err="1">
                <a:latin typeface="Courier New"/>
                <a:cs typeface="Courier New"/>
              </a:rPr>
              <a:t>result.getString</a:t>
            </a:r>
            <a:r>
              <a:rPr lang="en-US" sz="788" dirty="0">
                <a:latin typeface="Courier New"/>
                <a:cs typeface="Courier New"/>
              </a:rPr>
              <a:t>("</a:t>
            </a:r>
            <a:r>
              <a:rPr lang="en-US" sz="788" dirty="0" err="1">
                <a:latin typeface="Courier New"/>
                <a:cs typeface="Courier New"/>
              </a:rPr>
              <a:t>nome</a:t>
            </a:r>
            <a:r>
              <a:rPr lang="en-US" sz="788" dirty="0">
                <a:latin typeface="Courier New"/>
                <a:cs typeface="Courier New"/>
              </a:rPr>
              <a:t>"));</a:t>
            </a:r>
          </a:p>
          <a:p>
            <a:pPr marL="0" indent="0">
              <a:buNone/>
            </a:pPr>
            <a:r>
              <a:rPr lang="en-US" sz="788" dirty="0">
                <a:latin typeface="Courier New"/>
                <a:cs typeface="Courier New"/>
              </a:rPr>
              <a:t>				</a:t>
            </a:r>
            <a:r>
              <a:rPr lang="en-US" sz="788" dirty="0" err="1">
                <a:latin typeface="Courier New"/>
                <a:cs typeface="Courier New"/>
              </a:rPr>
              <a:t>studente.setCognome</a:t>
            </a:r>
            <a:r>
              <a:rPr lang="en-US" sz="788" dirty="0">
                <a:latin typeface="Courier New"/>
                <a:cs typeface="Courier New"/>
              </a:rPr>
              <a:t>(</a:t>
            </a:r>
            <a:r>
              <a:rPr lang="en-US" sz="788" dirty="0" err="1">
                <a:latin typeface="Courier New"/>
                <a:cs typeface="Courier New"/>
              </a:rPr>
              <a:t>result.getString</a:t>
            </a:r>
            <a:r>
              <a:rPr lang="en-US" sz="788" dirty="0">
                <a:latin typeface="Courier New"/>
                <a:cs typeface="Courier New"/>
              </a:rPr>
              <a:t>("</a:t>
            </a:r>
            <a:r>
              <a:rPr lang="en-US" sz="788" dirty="0" err="1">
                <a:latin typeface="Courier New"/>
                <a:cs typeface="Courier New"/>
              </a:rPr>
              <a:t>cognome</a:t>
            </a:r>
            <a:r>
              <a:rPr lang="en-US" sz="788" dirty="0">
                <a:latin typeface="Courier New"/>
                <a:cs typeface="Courier New"/>
              </a:rPr>
              <a:t>"));</a:t>
            </a:r>
          </a:p>
          <a:p>
            <a:pPr marL="0" indent="0">
              <a:buNone/>
            </a:pPr>
            <a:r>
              <a:rPr lang="en-US" sz="788" dirty="0">
                <a:latin typeface="Courier New"/>
                <a:cs typeface="Courier New"/>
              </a:rPr>
              <a:t>				</a:t>
            </a:r>
            <a:r>
              <a:rPr lang="en-US" sz="788" b="1" dirty="0">
                <a:latin typeface="Courier New"/>
                <a:cs typeface="Courier New"/>
              </a:rPr>
              <a:t>long </a:t>
            </a:r>
            <a:r>
              <a:rPr lang="en-US" sz="788" b="1" dirty="0" err="1">
                <a:latin typeface="Courier New"/>
                <a:cs typeface="Courier New"/>
              </a:rPr>
              <a:t>secs</a:t>
            </a:r>
            <a:r>
              <a:rPr lang="en-US" sz="788" b="1" dirty="0">
                <a:latin typeface="Courier New"/>
                <a:cs typeface="Courier New"/>
              </a:rPr>
              <a:t> = </a:t>
            </a:r>
            <a:r>
              <a:rPr lang="en-US" sz="788" b="1" dirty="0" err="1">
                <a:latin typeface="Courier New"/>
                <a:cs typeface="Courier New"/>
              </a:rPr>
              <a:t>result.getDate</a:t>
            </a:r>
            <a:r>
              <a:rPr lang="en-US" sz="788" b="1" dirty="0">
                <a:latin typeface="Courier New"/>
                <a:cs typeface="Courier New"/>
              </a:rPr>
              <a:t>("</a:t>
            </a:r>
            <a:r>
              <a:rPr lang="en-US" sz="788" b="1" dirty="0" err="1">
                <a:latin typeface="Courier New"/>
                <a:cs typeface="Courier New"/>
              </a:rPr>
              <a:t>datanascita</a:t>
            </a:r>
            <a:r>
              <a:rPr lang="en-US" sz="788" b="1" dirty="0">
                <a:latin typeface="Courier New"/>
                <a:cs typeface="Courier New"/>
              </a:rPr>
              <a:t>").</a:t>
            </a:r>
            <a:r>
              <a:rPr lang="en-US" sz="788" b="1" dirty="0" err="1">
                <a:latin typeface="Courier New"/>
                <a:cs typeface="Courier New"/>
              </a:rPr>
              <a:t>getTime</a:t>
            </a:r>
            <a:r>
              <a:rPr lang="en-US" sz="788" b="1" dirty="0">
                <a:latin typeface="Courier New"/>
                <a:cs typeface="Courier New"/>
              </a:rPr>
              <a:t>();</a:t>
            </a:r>
          </a:p>
          <a:p>
            <a:pPr marL="0" indent="0">
              <a:buNone/>
            </a:pPr>
            <a:r>
              <a:rPr lang="en-US" sz="788" dirty="0">
                <a:latin typeface="Courier New"/>
                <a:cs typeface="Courier New"/>
              </a:rPr>
              <a:t>				</a:t>
            </a:r>
            <a:r>
              <a:rPr lang="en-US" sz="788" dirty="0" err="1">
                <a:latin typeface="Courier New"/>
                <a:cs typeface="Courier New"/>
              </a:rPr>
              <a:t>studente.setDataNascita</a:t>
            </a:r>
            <a:r>
              <a:rPr lang="en-US" sz="788" dirty="0">
                <a:latin typeface="Courier New"/>
                <a:cs typeface="Courier New"/>
              </a:rPr>
              <a:t>(</a:t>
            </a:r>
            <a:r>
              <a:rPr lang="en-US" sz="788" b="1" dirty="0">
                <a:latin typeface="Courier New"/>
                <a:cs typeface="Courier New"/>
              </a:rPr>
              <a:t>new </a:t>
            </a:r>
            <a:r>
              <a:rPr lang="en-US" sz="788" b="1" dirty="0" err="1">
                <a:latin typeface="Courier New"/>
                <a:cs typeface="Courier New"/>
              </a:rPr>
              <a:t>java.util.Date</a:t>
            </a:r>
            <a:r>
              <a:rPr lang="en-US" sz="788" b="1" dirty="0">
                <a:latin typeface="Courier New"/>
                <a:cs typeface="Courier New"/>
              </a:rPr>
              <a:t>(</a:t>
            </a:r>
            <a:r>
              <a:rPr lang="en-US" sz="788" b="1" dirty="0" err="1">
                <a:latin typeface="Courier New"/>
                <a:cs typeface="Courier New"/>
              </a:rPr>
              <a:t>secs</a:t>
            </a:r>
            <a:r>
              <a:rPr lang="en-US" sz="788" b="1" dirty="0">
                <a:latin typeface="Courier New"/>
                <a:cs typeface="Courier New"/>
              </a:rPr>
              <a:t>));</a:t>
            </a:r>
          </a:p>
          <a:p>
            <a:pPr marL="0" indent="0">
              <a:buNone/>
            </a:pPr>
            <a:r>
              <a:rPr lang="en-US" sz="788" dirty="0">
                <a:latin typeface="Courier New"/>
                <a:cs typeface="Courier New"/>
              </a:rPr>
              <a:t>				</a:t>
            </a:r>
            <a:r>
              <a:rPr lang="en-US" sz="788" dirty="0" err="1">
                <a:latin typeface="Courier New"/>
                <a:cs typeface="Courier New"/>
              </a:rPr>
              <a:t>studenti.add</a:t>
            </a:r>
            <a:r>
              <a:rPr lang="en-US" sz="788" dirty="0">
                <a:latin typeface="Courier New"/>
                <a:cs typeface="Courier New"/>
              </a:rPr>
              <a:t>(</a:t>
            </a:r>
            <a:r>
              <a:rPr lang="en-US" sz="788" dirty="0" err="1">
                <a:latin typeface="Courier New"/>
                <a:cs typeface="Courier New"/>
              </a:rPr>
              <a:t>studente</a:t>
            </a:r>
            <a:r>
              <a:rPr lang="en-US" sz="788" dirty="0">
                <a:latin typeface="Courier New"/>
                <a:cs typeface="Courier New"/>
              </a:rPr>
              <a:t>);</a:t>
            </a:r>
          </a:p>
          <a:p>
            <a:pPr marL="0" indent="0">
              <a:buNone/>
            </a:pPr>
            <a:r>
              <a:rPr lang="en-US" sz="788" dirty="0">
                <a:latin typeface="Courier New"/>
                <a:cs typeface="Courier New"/>
              </a:rPr>
              <a:t>			}</a:t>
            </a:r>
          </a:p>
          <a:p>
            <a:pPr marL="0" indent="0">
              <a:buNone/>
            </a:pPr>
            <a:r>
              <a:rPr lang="en-US" sz="788" dirty="0">
                <a:latin typeface="Courier New"/>
                <a:cs typeface="Courier New"/>
              </a:rPr>
              <a:t>		} </a:t>
            </a:r>
            <a:r>
              <a:rPr lang="en-US" sz="788" b="1" dirty="0">
                <a:latin typeface="Courier New"/>
                <a:cs typeface="Courier New"/>
              </a:rPr>
              <a:t>catch (</a:t>
            </a:r>
            <a:r>
              <a:rPr lang="en-US" sz="788" b="1" dirty="0" err="1">
                <a:latin typeface="Courier New"/>
                <a:cs typeface="Courier New"/>
              </a:rPr>
              <a:t>SQLException</a:t>
            </a:r>
            <a:r>
              <a:rPr lang="en-US" sz="788" b="1" dirty="0">
                <a:latin typeface="Courier New"/>
                <a:cs typeface="Courier New"/>
              </a:rPr>
              <a:t> e) {</a:t>
            </a:r>
          </a:p>
          <a:p>
            <a:pPr marL="0" indent="0">
              <a:buNone/>
            </a:pPr>
            <a:r>
              <a:rPr lang="en-US" sz="788" dirty="0">
                <a:latin typeface="Courier New"/>
                <a:cs typeface="Courier New"/>
              </a:rPr>
              <a:t>			</a:t>
            </a:r>
            <a:r>
              <a:rPr lang="en-US" sz="788" b="1" dirty="0">
                <a:latin typeface="Courier New"/>
                <a:cs typeface="Courier New"/>
              </a:rPr>
              <a:t>throw new </a:t>
            </a:r>
            <a:r>
              <a:rPr lang="en-US" sz="788" b="1" dirty="0" err="1">
                <a:latin typeface="Courier New"/>
                <a:cs typeface="Courier New"/>
              </a:rPr>
              <a:t>PersistenceException</a:t>
            </a:r>
            <a:r>
              <a:rPr lang="en-US" sz="788" b="1" dirty="0">
                <a:latin typeface="Courier New"/>
                <a:cs typeface="Courier New"/>
              </a:rPr>
              <a:t>(</a:t>
            </a:r>
            <a:r>
              <a:rPr lang="en-US" sz="788" b="1" dirty="0" err="1">
                <a:latin typeface="Courier New"/>
                <a:cs typeface="Courier New"/>
              </a:rPr>
              <a:t>e.getMessage</a:t>
            </a:r>
            <a:r>
              <a:rPr lang="en-US" sz="788" b="1" dirty="0">
                <a:latin typeface="Courier New"/>
                <a:cs typeface="Courier New"/>
              </a:rPr>
              <a:t>());</a:t>
            </a:r>
          </a:p>
          <a:p>
            <a:pPr marL="0" indent="0">
              <a:buNone/>
            </a:pPr>
            <a:r>
              <a:rPr lang="en-US" sz="788" dirty="0">
                <a:latin typeface="Courier New"/>
                <a:cs typeface="Courier New"/>
              </a:rPr>
              <a:t>		}	 </a:t>
            </a:r>
            <a:r>
              <a:rPr lang="en-US" sz="788" b="1" dirty="0">
                <a:latin typeface="Courier New"/>
                <a:cs typeface="Courier New"/>
              </a:rPr>
              <a:t>finally {</a:t>
            </a:r>
          </a:p>
          <a:p>
            <a:pPr marL="0" indent="0">
              <a:buNone/>
            </a:pPr>
            <a:r>
              <a:rPr lang="en-US" sz="788" dirty="0">
                <a:latin typeface="Courier New"/>
                <a:cs typeface="Courier New"/>
              </a:rPr>
              <a:t>			</a:t>
            </a:r>
            <a:r>
              <a:rPr lang="en-US" sz="788" b="1" dirty="0">
                <a:latin typeface="Courier New"/>
                <a:cs typeface="Courier New"/>
              </a:rPr>
              <a:t>try {</a:t>
            </a:r>
          </a:p>
          <a:p>
            <a:pPr marL="0" indent="0">
              <a:buNone/>
            </a:pPr>
            <a:r>
              <a:rPr lang="en-US" sz="788" dirty="0">
                <a:latin typeface="Courier New"/>
                <a:cs typeface="Courier New"/>
              </a:rPr>
              <a:t>				</a:t>
            </a:r>
            <a:r>
              <a:rPr lang="en-US" sz="788" dirty="0" err="1">
                <a:latin typeface="Courier New"/>
                <a:cs typeface="Courier New"/>
              </a:rPr>
              <a:t>connection.close</a:t>
            </a:r>
            <a:r>
              <a:rPr lang="en-US" sz="788" dirty="0">
                <a:latin typeface="Courier New"/>
                <a:cs typeface="Courier New"/>
              </a:rPr>
              <a:t>();</a:t>
            </a:r>
          </a:p>
          <a:p>
            <a:pPr marL="0" indent="0">
              <a:buNone/>
            </a:pPr>
            <a:r>
              <a:rPr lang="en-US" sz="788" dirty="0">
                <a:latin typeface="Courier New"/>
                <a:cs typeface="Courier New"/>
              </a:rPr>
              <a:t>			} </a:t>
            </a:r>
            <a:r>
              <a:rPr lang="en-US" sz="788" b="1" dirty="0">
                <a:latin typeface="Courier New"/>
                <a:cs typeface="Courier New"/>
              </a:rPr>
              <a:t>catch (</a:t>
            </a:r>
            <a:r>
              <a:rPr lang="en-US" sz="788" b="1" dirty="0" err="1">
                <a:latin typeface="Courier New"/>
                <a:cs typeface="Courier New"/>
              </a:rPr>
              <a:t>SQLException</a:t>
            </a:r>
            <a:r>
              <a:rPr lang="en-US" sz="788" b="1" dirty="0">
                <a:latin typeface="Courier New"/>
                <a:cs typeface="Courier New"/>
              </a:rPr>
              <a:t> e) {</a:t>
            </a:r>
          </a:p>
          <a:p>
            <a:pPr marL="0" indent="0">
              <a:buNone/>
            </a:pPr>
            <a:r>
              <a:rPr lang="en-US" sz="788" dirty="0">
                <a:latin typeface="Courier New"/>
                <a:cs typeface="Courier New"/>
              </a:rPr>
              <a:t>				</a:t>
            </a:r>
            <a:r>
              <a:rPr lang="en-US" sz="788" b="1" dirty="0">
                <a:latin typeface="Courier New"/>
                <a:cs typeface="Courier New"/>
              </a:rPr>
              <a:t>throw new </a:t>
            </a:r>
            <a:r>
              <a:rPr lang="en-US" sz="788" b="1" dirty="0" err="1">
                <a:latin typeface="Courier New"/>
                <a:cs typeface="Courier New"/>
              </a:rPr>
              <a:t>PersistenceException</a:t>
            </a:r>
            <a:r>
              <a:rPr lang="en-US" sz="788" b="1" dirty="0">
                <a:latin typeface="Courier New"/>
                <a:cs typeface="Courier New"/>
              </a:rPr>
              <a:t>(</a:t>
            </a:r>
            <a:r>
              <a:rPr lang="en-US" sz="788" b="1" dirty="0" err="1">
                <a:latin typeface="Courier New"/>
                <a:cs typeface="Courier New"/>
              </a:rPr>
              <a:t>e.getMessage</a:t>
            </a:r>
            <a:r>
              <a:rPr lang="en-US" sz="788" b="1" dirty="0">
                <a:latin typeface="Courier New"/>
                <a:cs typeface="Courier New"/>
              </a:rPr>
              <a:t>());</a:t>
            </a:r>
          </a:p>
          <a:p>
            <a:pPr marL="0" indent="0">
              <a:buNone/>
            </a:pPr>
            <a:r>
              <a:rPr lang="en-US" sz="788" dirty="0">
                <a:latin typeface="Courier New"/>
                <a:cs typeface="Courier New"/>
              </a:rPr>
              <a:t>			}</a:t>
            </a:r>
          </a:p>
          <a:p>
            <a:pPr marL="0" indent="0">
              <a:buNone/>
            </a:pPr>
            <a:r>
              <a:rPr lang="en-US" sz="788" dirty="0">
                <a:latin typeface="Courier New"/>
                <a:cs typeface="Courier New"/>
              </a:rPr>
              <a:t>		}</a:t>
            </a:r>
          </a:p>
          <a:p>
            <a:pPr marL="0" indent="0">
              <a:buNone/>
            </a:pPr>
            <a:r>
              <a:rPr lang="en-US" sz="788" dirty="0">
                <a:latin typeface="Courier New"/>
                <a:cs typeface="Courier New"/>
              </a:rPr>
              <a:t>		</a:t>
            </a:r>
            <a:r>
              <a:rPr lang="en-US" sz="788" b="1" dirty="0">
                <a:latin typeface="Courier New"/>
                <a:cs typeface="Courier New"/>
              </a:rPr>
              <a:t>return </a:t>
            </a:r>
            <a:r>
              <a:rPr lang="en-US" sz="788" b="1" dirty="0" err="1">
                <a:latin typeface="Courier New"/>
                <a:cs typeface="Courier New"/>
              </a:rPr>
              <a:t>studenti</a:t>
            </a:r>
            <a:r>
              <a:rPr lang="en-US" sz="788" b="1" dirty="0">
                <a:latin typeface="Courier New"/>
                <a:cs typeface="Courier New"/>
              </a:rPr>
              <a:t>;</a:t>
            </a:r>
          </a:p>
          <a:p>
            <a:pPr marL="0" indent="0">
              <a:buNone/>
            </a:pPr>
            <a:r>
              <a:rPr lang="en-US" sz="788" dirty="0">
                <a:latin typeface="Courier New"/>
                <a:cs typeface="Courier New"/>
              </a:rPr>
              <a:t>	}</a:t>
            </a:r>
            <a:endParaRPr lang="it-IT" sz="900" dirty="0">
              <a:latin typeface="Courier New"/>
              <a:cs typeface="Courier New"/>
            </a:endParaRPr>
          </a:p>
        </p:txBody>
      </p:sp>
    </p:spTree>
    <p:extLst>
      <p:ext uri="{BB962C8B-B14F-4D97-AF65-F5344CB8AC3E}">
        <p14:creationId xmlns:p14="http://schemas.microsoft.com/office/powerpoint/2010/main" val="1814147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dirty="0"/>
              <a:t>Operazione n.4</a:t>
            </a:r>
            <a:br>
              <a:rPr lang="it-IT" dirty="0"/>
            </a:br>
            <a:r>
              <a:rPr lang="it-IT" dirty="0"/>
              <a:t>Gestire il risultato di una </a:t>
            </a:r>
            <a:r>
              <a:rPr lang="it-IT" dirty="0" err="1"/>
              <a:t>query</a:t>
            </a:r>
            <a:endParaRPr lang="en-US" dirty="0"/>
          </a:p>
        </p:txBody>
      </p:sp>
      <p:sp>
        <p:nvSpPr>
          <p:cNvPr id="3" name="Segnaposto contenuto 2"/>
          <p:cNvSpPr>
            <a:spLocks noGrp="1"/>
          </p:cNvSpPr>
          <p:nvPr>
            <p:ph idx="1"/>
          </p:nvPr>
        </p:nvSpPr>
        <p:spPr/>
        <p:txBody>
          <a:bodyPr>
            <a:noAutofit/>
          </a:bodyPr>
          <a:lstStyle/>
          <a:p>
            <a:pPr marL="0" indent="0">
              <a:buNone/>
            </a:pPr>
            <a:r>
              <a:rPr lang="en-US" sz="1200" dirty="0">
                <a:latin typeface="Courier New"/>
                <a:cs typeface="Courier New"/>
              </a:rPr>
              <a:t>List&lt;</a:t>
            </a:r>
            <a:r>
              <a:rPr lang="en-US" sz="1200" dirty="0" err="1">
                <a:latin typeface="Courier New"/>
                <a:cs typeface="Courier New"/>
              </a:rPr>
              <a:t>Studente</a:t>
            </a:r>
            <a:r>
              <a:rPr lang="en-US" sz="1200" dirty="0">
                <a:latin typeface="Courier New"/>
                <a:cs typeface="Courier New"/>
              </a:rPr>
              <a:t>&gt; </a:t>
            </a:r>
            <a:r>
              <a:rPr lang="en-US" sz="1200" dirty="0" err="1">
                <a:latin typeface="Courier New"/>
                <a:cs typeface="Courier New"/>
              </a:rPr>
              <a:t>studenti</a:t>
            </a:r>
            <a:r>
              <a:rPr lang="en-US" sz="1200" dirty="0">
                <a:latin typeface="Courier New"/>
                <a:cs typeface="Courier New"/>
              </a:rPr>
              <a:t> = new </a:t>
            </a:r>
            <a:r>
              <a:rPr lang="en-US" sz="1200" dirty="0" err="1">
                <a:latin typeface="Courier New"/>
                <a:cs typeface="Courier New"/>
              </a:rPr>
              <a:t>LinkedList</a:t>
            </a:r>
            <a:r>
              <a:rPr lang="en-US" sz="1200" dirty="0">
                <a:latin typeface="Courier New"/>
                <a:cs typeface="Courier New"/>
              </a:rPr>
              <a:t>&lt;&gt;;</a:t>
            </a:r>
          </a:p>
          <a:p>
            <a:pPr marL="0" indent="0">
              <a:buNone/>
            </a:pPr>
            <a:r>
              <a:rPr lang="en-US" sz="1200" dirty="0">
                <a:latin typeface="Courier New"/>
                <a:cs typeface="Courier New"/>
              </a:rPr>
              <a:t>…</a:t>
            </a:r>
          </a:p>
          <a:p>
            <a:pPr marL="0" indent="0">
              <a:buNone/>
            </a:pPr>
            <a:endParaRPr lang="en-US" sz="1200" dirty="0">
              <a:latin typeface="Courier New"/>
              <a:cs typeface="Courier New"/>
            </a:endParaRPr>
          </a:p>
          <a:p>
            <a:pPr marL="0" indent="0">
              <a:buNone/>
            </a:pPr>
            <a:r>
              <a:rPr lang="en-US" sz="1200" dirty="0" err="1">
                <a:latin typeface="Courier New"/>
                <a:cs typeface="Courier New"/>
              </a:rPr>
              <a:t>Studente</a:t>
            </a:r>
            <a:r>
              <a:rPr lang="en-US" sz="1200" dirty="0">
                <a:latin typeface="Courier New"/>
                <a:cs typeface="Courier New"/>
              </a:rPr>
              <a:t> </a:t>
            </a:r>
            <a:r>
              <a:rPr lang="en-US" sz="1200" dirty="0" err="1">
                <a:latin typeface="Courier New"/>
                <a:cs typeface="Courier New"/>
              </a:rPr>
              <a:t>studente</a:t>
            </a:r>
            <a:r>
              <a:rPr lang="en-US" sz="1200" dirty="0">
                <a:latin typeface="Courier New"/>
                <a:cs typeface="Courier New"/>
              </a:rPr>
              <a:t>;</a:t>
            </a:r>
          </a:p>
          <a:p>
            <a:pPr marL="0" indent="0">
              <a:buNone/>
            </a:pPr>
            <a:r>
              <a:rPr lang="en-US" sz="1200" dirty="0" err="1">
                <a:latin typeface="Courier New"/>
                <a:cs typeface="Courier New"/>
              </a:rPr>
              <a:t>PreparedStatement</a:t>
            </a:r>
            <a:r>
              <a:rPr lang="en-US" sz="1200" dirty="0">
                <a:latin typeface="Courier New"/>
                <a:cs typeface="Courier New"/>
              </a:rPr>
              <a:t> statement;</a:t>
            </a:r>
          </a:p>
          <a:p>
            <a:pPr marL="0" indent="0">
              <a:buNone/>
            </a:pPr>
            <a:r>
              <a:rPr lang="en-US" sz="1200" dirty="0">
                <a:latin typeface="Courier New"/>
                <a:cs typeface="Courier New"/>
              </a:rPr>
              <a:t>String query = "select * from </a:t>
            </a:r>
            <a:r>
              <a:rPr lang="en-US" sz="1200" dirty="0" err="1">
                <a:latin typeface="Courier New"/>
                <a:cs typeface="Courier New"/>
              </a:rPr>
              <a:t>studente</a:t>
            </a:r>
            <a:r>
              <a:rPr lang="en-US" sz="1200" dirty="0">
                <a:latin typeface="Courier New"/>
                <a:cs typeface="Courier New"/>
              </a:rPr>
              <a:t>";</a:t>
            </a:r>
          </a:p>
          <a:p>
            <a:pPr marL="0" indent="0">
              <a:buNone/>
            </a:pPr>
            <a:r>
              <a:rPr lang="en-US" sz="1200" dirty="0">
                <a:latin typeface="Courier New"/>
                <a:cs typeface="Courier New"/>
              </a:rPr>
              <a:t>statement = </a:t>
            </a:r>
            <a:r>
              <a:rPr lang="en-US" sz="1200" dirty="0" err="1">
                <a:latin typeface="Courier New"/>
                <a:cs typeface="Courier New"/>
              </a:rPr>
              <a:t>connection.prepareStatement</a:t>
            </a:r>
            <a:r>
              <a:rPr lang="en-US" sz="1200" dirty="0">
                <a:latin typeface="Courier New"/>
                <a:cs typeface="Courier New"/>
              </a:rPr>
              <a:t>(query);</a:t>
            </a:r>
          </a:p>
          <a:p>
            <a:pPr marL="0" indent="0">
              <a:buNone/>
            </a:pPr>
            <a:r>
              <a:rPr lang="en-US" sz="1200" dirty="0" err="1">
                <a:latin typeface="Courier New"/>
                <a:cs typeface="Courier New"/>
              </a:rPr>
              <a:t>ResultSet</a:t>
            </a:r>
            <a:r>
              <a:rPr lang="en-US" sz="1200" dirty="0">
                <a:latin typeface="Courier New"/>
                <a:cs typeface="Courier New"/>
              </a:rPr>
              <a:t> result = </a:t>
            </a:r>
            <a:r>
              <a:rPr lang="en-US" sz="1200" dirty="0" err="1">
                <a:latin typeface="Courier New"/>
                <a:cs typeface="Courier New"/>
              </a:rPr>
              <a:t>statement.executeQuery</a:t>
            </a:r>
            <a:r>
              <a:rPr lang="en-US" sz="1200" dirty="0">
                <a:latin typeface="Courier New"/>
                <a:cs typeface="Courier New"/>
              </a:rPr>
              <a:t>();</a:t>
            </a:r>
          </a:p>
          <a:p>
            <a:pPr marL="0" indent="0">
              <a:buNone/>
            </a:pPr>
            <a:r>
              <a:rPr lang="en-US" sz="1200" b="1" dirty="0">
                <a:latin typeface="Courier New"/>
                <a:cs typeface="Courier New"/>
              </a:rPr>
              <a:t>while (</a:t>
            </a:r>
            <a:r>
              <a:rPr lang="en-US" sz="1200" b="1" dirty="0" err="1">
                <a:latin typeface="Courier New"/>
                <a:cs typeface="Courier New"/>
              </a:rPr>
              <a:t>result.next</a:t>
            </a:r>
            <a:r>
              <a:rPr lang="en-US" sz="1200" b="1" dirty="0">
                <a:latin typeface="Courier New"/>
                <a:cs typeface="Courier New"/>
              </a:rPr>
              <a:t>()) {</a:t>
            </a:r>
          </a:p>
          <a:p>
            <a:pPr marL="0" indent="0">
              <a:buNone/>
            </a:pPr>
            <a:r>
              <a:rPr lang="en-US" sz="1200" dirty="0">
                <a:latin typeface="Courier New"/>
                <a:cs typeface="Courier New"/>
              </a:rPr>
              <a:t>	</a:t>
            </a:r>
            <a:r>
              <a:rPr lang="en-US" sz="1200" dirty="0" err="1">
                <a:latin typeface="Courier New"/>
                <a:cs typeface="Courier New"/>
              </a:rPr>
              <a:t>studente</a:t>
            </a:r>
            <a:r>
              <a:rPr lang="en-US" sz="1200" dirty="0">
                <a:latin typeface="Courier New"/>
                <a:cs typeface="Courier New"/>
              </a:rPr>
              <a:t> = </a:t>
            </a:r>
            <a:r>
              <a:rPr lang="en-US" sz="1200" b="1" dirty="0">
                <a:latin typeface="Courier New"/>
                <a:cs typeface="Courier New"/>
              </a:rPr>
              <a:t>new </a:t>
            </a:r>
            <a:r>
              <a:rPr lang="en-US" sz="1200" b="1" dirty="0" err="1">
                <a:latin typeface="Courier New"/>
                <a:cs typeface="Courier New"/>
              </a:rPr>
              <a:t>Studente</a:t>
            </a:r>
            <a:r>
              <a:rPr lang="en-US" sz="1200" b="1" dirty="0">
                <a:latin typeface="Courier New"/>
                <a:cs typeface="Courier New"/>
              </a:rPr>
              <a:t>();</a:t>
            </a:r>
            <a:r>
              <a:rPr lang="en-US" sz="1200" dirty="0">
                <a:latin typeface="Courier New"/>
                <a:cs typeface="Courier New"/>
              </a:rPr>
              <a:t>			</a:t>
            </a:r>
            <a:r>
              <a:rPr lang="en-US" sz="1200" dirty="0" err="1">
                <a:latin typeface="Courier New"/>
                <a:cs typeface="Courier New"/>
              </a:rPr>
              <a:t>studente.setMatricola</a:t>
            </a:r>
            <a:r>
              <a:rPr lang="en-US" sz="1200" dirty="0">
                <a:latin typeface="Courier New"/>
                <a:cs typeface="Courier New"/>
              </a:rPr>
              <a:t>(</a:t>
            </a:r>
            <a:r>
              <a:rPr lang="en-US" sz="1200" dirty="0" err="1">
                <a:latin typeface="Courier New"/>
                <a:cs typeface="Courier New"/>
              </a:rPr>
              <a:t>result.getString</a:t>
            </a:r>
            <a:r>
              <a:rPr lang="en-US" sz="1200" dirty="0">
                <a:latin typeface="Courier New"/>
                <a:cs typeface="Courier New"/>
              </a:rPr>
              <a:t>("</a:t>
            </a:r>
            <a:r>
              <a:rPr lang="en-US" sz="1200" dirty="0" err="1">
                <a:latin typeface="Courier New"/>
                <a:cs typeface="Courier New"/>
              </a:rPr>
              <a:t>matricola</a:t>
            </a:r>
            <a:r>
              <a:rPr lang="en-US" sz="1200" dirty="0">
                <a:latin typeface="Courier New"/>
                <a:cs typeface="Courier New"/>
              </a:rPr>
              <a:t>"));	</a:t>
            </a:r>
          </a:p>
          <a:p>
            <a:pPr marL="0" indent="0">
              <a:buNone/>
            </a:pPr>
            <a:r>
              <a:rPr lang="en-US" sz="1200" dirty="0">
                <a:latin typeface="Courier New"/>
                <a:cs typeface="Courier New"/>
              </a:rPr>
              <a:t>	</a:t>
            </a:r>
            <a:r>
              <a:rPr lang="en-US" sz="1200" dirty="0" err="1">
                <a:latin typeface="Courier New"/>
                <a:cs typeface="Courier New"/>
              </a:rPr>
              <a:t>studente.setNome</a:t>
            </a:r>
            <a:r>
              <a:rPr lang="en-US" sz="1200" dirty="0">
                <a:latin typeface="Courier New"/>
                <a:cs typeface="Courier New"/>
              </a:rPr>
              <a:t>(</a:t>
            </a:r>
            <a:r>
              <a:rPr lang="en-US" sz="1200" dirty="0" err="1">
                <a:latin typeface="Courier New"/>
                <a:cs typeface="Courier New"/>
              </a:rPr>
              <a:t>result.getString</a:t>
            </a:r>
            <a:r>
              <a:rPr lang="en-US" sz="1200" dirty="0">
                <a:latin typeface="Courier New"/>
                <a:cs typeface="Courier New"/>
              </a:rPr>
              <a:t>("</a:t>
            </a:r>
            <a:r>
              <a:rPr lang="en-US" sz="1200" dirty="0" err="1">
                <a:latin typeface="Courier New"/>
                <a:cs typeface="Courier New"/>
              </a:rPr>
              <a:t>nome</a:t>
            </a:r>
            <a:r>
              <a:rPr lang="en-US" sz="1200" dirty="0">
                <a:latin typeface="Courier New"/>
                <a:cs typeface="Courier New"/>
              </a:rPr>
              <a:t>"));			</a:t>
            </a:r>
            <a:r>
              <a:rPr lang="en-US" sz="1200" dirty="0" err="1">
                <a:latin typeface="Courier New"/>
                <a:cs typeface="Courier New"/>
              </a:rPr>
              <a:t>studente.setCognome</a:t>
            </a:r>
            <a:r>
              <a:rPr lang="en-US" sz="1200" dirty="0">
                <a:latin typeface="Courier New"/>
                <a:cs typeface="Courier New"/>
              </a:rPr>
              <a:t>(</a:t>
            </a:r>
            <a:r>
              <a:rPr lang="en-US" sz="1200" dirty="0" err="1">
                <a:latin typeface="Courier New"/>
                <a:cs typeface="Courier New"/>
              </a:rPr>
              <a:t>result.getString</a:t>
            </a:r>
            <a:r>
              <a:rPr lang="en-US" sz="1200" dirty="0">
                <a:latin typeface="Courier New"/>
                <a:cs typeface="Courier New"/>
              </a:rPr>
              <a:t>("</a:t>
            </a:r>
            <a:r>
              <a:rPr lang="en-US" sz="1200" dirty="0" err="1">
                <a:latin typeface="Courier New"/>
                <a:cs typeface="Courier New"/>
              </a:rPr>
              <a:t>cognome</a:t>
            </a:r>
            <a:r>
              <a:rPr lang="en-US" sz="1200" dirty="0">
                <a:latin typeface="Courier New"/>
                <a:cs typeface="Courier New"/>
              </a:rPr>
              <a:t>"));</a:t>
            </a:r>
          </a:p>
          <a:p>
            <a:pPr marL="0" indent="0">
              <a:buNone/>
            </a:pPr>
            <a:r>
              <a:rPr lang="en-US" sz="1200" dirty="0">
                <a:latin typeface="Courier New"/>
                <a:cs typeface="Courier New"/>
              </a:rPr>
              <a:t>	</a:t>
            </a:r>
            <a:r>
              <a:rPr lang="en-US" sz="1200" b="1" dirty="0">
                <a:latin typeface="Courier New"/>
                <a:cs typeface="Courier New"/>
              </a:rPr>
              <a:t>long </a:t>
            </a:r>
            <a:r>
              <a:rPr lang="en-US" sz="1200" b="1" dirty="0" err="1">
                <a:latin typeface="Courier New"/>
                <a:cs typeface="Courier New"/>
              </a:rPr>
              <a:t>secs</a:t>
            </a:r>
            <a:r>
              <a:rPr lang="en-US" sz="1200" b="1" dirty="0">
                <a:latin typeface="Courier New"/>
                <a:cs typeface="Courier New"/>
              </a:rPr>
              <a:t> = </a:t>
            </a:r>
            <a:r>
              <a:rPr lang="en-US" sz="1200" b="1" dirty="0" err="1">
                <a:latin typeface="Courier New"/>
                <a:cs typeface="Courier New"/>
              </a:rPr>
              <a:t>result.getDate</a:t>
            </a:r>
            <a:r>
              <a:rPr lang="en-US" sz="1200" b="1" dirty="0">
                <a:latin typeface="Courier New"/>
                <a:cs typeface="Courier New"/>
              </a:rPr>
              <a:t>("</a:t>
            </a:r>
            <a:r>
              <a:rPr lang="en-US" sz="1200" b="1" dirty="0" err="1">
                <a:latin typeface="Courier New"/>
                <a:cs typeface="Courier New"/>
              </a:rPr>
              <a:t>datanascita</a:t>
            </a:r>
            <a:r>
              <a:rPr lang="en-US" sz="1200" b="1" dirty="0">
                <a:latin typeface="Courier New"/>
                <a:cs typeface="Courier New"/>
              </a:rPr>
              <a:t>").</a:t>
            </a:r>
            <a:r>
              <a:rPr lang="en-US" sz="1200" b="1" dirty="0" err="1">
                <a:latin typeface="Courier New"/>
                <a:cs typeface="Courier New"/>
              </a:rPr>
              <a:t>getTime</a:t>
            </a:r>
            <a:r>
              <a:rPr lang="en-US" sz="1200" b="1" dirty="0">
                <a:latin typeface="Courier New"/>
                <a:cs typeface="Courier New"/>
              </a:rPr>
              <a:t>();</a:t>
            </a:r>
          </a:p>
          <a:p>
            <a:pPr marL="0" indent="0">
              <a:buNone/>
            </a:pPr>
            <a:r>
              <a:rPr lang="en-US" sz="1200" dirty="0">
                <a:latin typeface="Courier New"/>
                <a:cs typeface="Courier New"/>
              </a:rPr>
              <a:t>	</a:t>
            </a:r>
            <a:r>
              <a:rPr lang="en-US" sz="1200" dirty="0" err="1">
                <a:latin typeface="Courier New"/>
                <a:cs typeface="Courier New"/>
              </a:rPr>
              <a:t>studente.setDataNascita</a:t>
            </a:r>
            <a:r>
              <a:rPr lang="en-US" sz="1200" dirty="0">
                <a:latin typeface="Courier New"/>
                <a:cs typeface="Courier New"/>
              </a:rPr>
              <a:t>(</a:t>
            </a:r>
            <a:r>
              <a:rPr lang="en-US" sz="1200" b="1" dirty="0">
                <a:latin typeface="Courier New"/>
                <a:cs typeface="Courier New"/>
              </a:rPr>
              <a:t>new </a:t>
            </a:r>
            <a:r>
              <a:rPr lang="en-US" sz="1200" b="1" dirty="0" err="1">
                <a:latin typeface="Courier New"/>
                <a:cs typeface="Courier New"/>
              </a:rPr>
              <a:t>java.util.Date</a:t>
            </a:r>
            <a:r>
              <a:rPr lang="en-US" sz="1200" b="1" dirty="0">
                <a:latin typeface="Courier New"/>
                <a:cs typeface="Courier New"/>
              </a:rPr>
              <a:t>(</a:t>
            </a:r>
            <a:r>
              <a:rPr lang="en-US" sz="1200" b="1" dirty="0" err="1">
                <a:latin typeface="Courier New"/>
                <a:cs typeface="Courier New"/>
              </a:rPr>
              <a:t>secs</a:t>
            </a:r>
            <a:r>
              <a:rPr lang="en-US" sz="1200" b="1" dirty="0">
                <a:latin typeface="Courier New"/>
                <a:cs typeface="Courier New"/>
              </a:rPr>
              <a:t>));</a:t>
            </a:r>
          </a:p>
          <a:p>
            <a:pPr marL="0" indent="0">
              <a:buNone/>
            </a:pPr>
            <a:r>
              <a:rPr lang="en-US" sz="1200" dirty="0">
                <a:latin typeface="Courier New"/>
                <a:cs typeface="Courier New"/>
              </a:rPr>
              <a:t>	</a:t>
            </a:r>
            <a:r>
              <a:rPr lang="en-US" sz="1200" dirty="0" err="1">
                <a:latin typeface="Courier New"/>
                <a:cs typeface="Courier New"/>
              </a:rPr>
              <a:t>studenti.add</a:t>
            </a:r>
            <a:r>
              <a:rPr lang="en-US" sz="1200" dirty="0">
                <a:latin typeface="Courier New"/>
                <a:cs typeface="Courier New"/>
              </a:rPr>
              <a:t>(</a:t>
            </a:r>
            <a:r>
              <a:rPr lang="en-US" sz="1200" dirty="0" err="1">
                <a:latin typeface="Courier New"/>
                <a:cs typeface="Courier New"/>
              </a:rPr>
              <a:t>studente</a:t>
            </a:r>
            <a:r>
              <a:rPr lang="en-US" sz="1200" dirty="0">
                <a:latin typeface="Courier New"/>
                <a:cs typeface="Courier New"/>
              </a:rPr>
              <a:t>);</a:t>
            </a:r>
          </a:p>
          <a:p>
            <a:pPr marL="0" indent="0">
              <a:buNone/>
            </a:pPr>
            <a:r>
              <a:rPr lang="en-US" sz="1200" dirty="0"/>
              <a:t>}</a:t>
            </a:r>
          </a:p>
        </p:txBody>
      </p:sp>
    </p:spTree>
    <p:extLst>
      <p:ext uri="{BB962C8B-B14F-4D97-AF65-F5344CB8AC3E}">
        <p14:creationId xmlns:p14="http://schemas.microsoft.com/office/powerpoint/2010/main" val="3281966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Autofit/>
          </a:bodyPr>
          <a:lstStyle/>
          <a:p>
            <a:pPr eaLnBrk="1" hangingPunct="1"/>
            <a:r>
              <a:rPr lang="it-IT" sz="3000" dirty="0"/>
              <a:t>Operazione n.5</a:t>
            </a:r>
            <a:br>
              <a:rPr lang="it-IT" sz="3000" dirty="0"/>
            </a:br>
            <a:r>
              <a:rPr lang="it-IT" sz="3000" dirty="0"/>
              <a:t>Gestire le eccezioni</a:t>
            </a:r>
          </a:p>
        </p:txBody>
      </p:sp>
      <p:sp>
        <p:nvSpPr>
          <p:cNvPr id="159747" name="Rectangle 3"/>
          <p:cNvSpPr>
            <a:spLocks noGrp="1" noChangeArrowheads="1"/>
          </p:cNvSpPr>
          <p:nvPr>
            <p:ph idx="1"/>
          </p:nvPr>
        </p:nvSpPr>
        <p:spPr/>
        <p:txBody>
          <a:bodyPr>
            <a:normAutofit/>
          </a:bodyPr>
          <a:lstStyle/>
          <a:p>
            <a:pPr eaLnBrk="1" hangingPunct="1">
              <a:lnSpc>
                <a:spcPct val="90000"/>
              </a:lnSpc>
            </a:pPr>
            <a:r>
              <a:rPr lang="it-IT" sz="2250" dirty="0"/>
              <a:t>Tutti i metodi delle classi dell'API JDBC viste fino ad ora lanciano una eccezione </a:t>
            </a:r>
            <a:r>
              <a:rPr lang="it-IT" sz="2250" b="1" dirty="0" err="1">
                <a:latin typeface="Courier New" charset="0"/>
              </a:rPr>
              <a:t>SQLException</a:t>
            </a:r>
            <a:endParaRPr lang="it-IT" sz="2250" b="1" dirty="0">
              <a:latin typeface="Courier New" charset="0"/>
            </a:endParaRPr>
          </a:p>
          <a:p>
            <a:pPr eaLnBrk="1" hangingPunct="1">
              <a:lnSpc>
                <a:spcPct val="90000"/>
              </a:lnSpc>
            </a:pPr>
            <a:r>
              <a:rPr lang="it-IT" sz="2250" dirty="0"/>
              <a:t>Connessione, statement, </a:t>
            </a:r>
            <a:r>
              <a:rPr lang="it-IT" sz="2250" dirty="0" err="1"/>
              <a:t>resultSet</a:t>
            </a:r>
            <a:r>
              <a:rPr lang="it-IT" sz="2250" dirty="0"/>
              <a:t> devono essere sempre "chiusi" dopo essere stati usati</a:t>
            </a:r>
          </a:p>
          <a:p>
            <a:pPr lvl="1" eaLnBrk="1" hangingPunct="1">
              <a:lnSpc>
                <a:spcPct val="90000"/>
              </a:lnSpc>
            </a:pPr>
            <a:r>
              <a:rPr lang="it-IT" sz="1800" dirty="0"/>
              <a:t>l'operazione di chiusura corrisponde al rilascio di risorse</a:t>
            </a:r>
            <a:endParaRPr lang="it-IT" sz="1800" b="1" dirty="0"/>
          </a:p>
          <a:p>
            <a:pPr lvl="1" eaLnBrk="1" hangingPunct="1">
              <a:lnSpc>
                <a:spcPct val="90000"/>
              </a:lnSpc>
            </a:pPr>
            <a:r>
              <a:rPr lang="it-IT" sz="1800" dirty="0"/>
              <a:t>Effettuiamo queste operazioni nella clausola </a:t>
            </a:r>
            <a:r>
              <a:rPr lang="it-IT" sz="1800" b="1" dirty="0" err="1">
                <a:latin typeface="Courier New" charset="0"/>
              </a:rPr>
              <a:t>finally</a:t>
            </a:r>
            <a:r>
              <a:rPr lang="it-IT" sz="1800" dirty="0"/>
              <a:t> </a:t>
            </a:r>
          </a:p>
          <a:p>
            <a:pPr lvl="1" eaLnBrk="1" hangingPunct="1">
              <a:lnSpc>
                <a:spcPct val="90000"/>
              </a:lnSpc>
            </a:pPr>
            <a:r>
              <a:rPr lang="it-IT" sz="1800" dirty="0"/>
              <a:t>abbiamo così la garanzia che vengono comunque effettuate</a:t>
            </a:r>
          </a:p>
        </p:txBody>
      </p:sp>
    </p:spTree>
    <p:extLst>
      <p:ext uri="{BB962C8B-B14F-4D97-AF65-F5344CB8AC3E}">
        <p14:creationId xmlns:p14="http://schemas.microsoft.com/office/powerpoint/2010/main" val="3317281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it-IT" dirty="0"/>
              <a:t>Aspetti Metodologici</a:t>
            </a:r>
          </a:p>
        </p:txBody>
      </p:sp>
      <p:sp>
        <p:nvSpPr>
          <p:cNvPr id="6147" name="Rectangle 3"/>
          <p:cNvSpPr>
            <a:spLocks noGrp="1" noChangeArrowheads="1"/>
          </p:cNvSpPr>
          <p:nvPr>
            <p:ph idx="1"/>
          </p:nvPr>
        </p:nvSpPr>
        <p:spPr/>
        <p:txBody>
          <a:bodyPr>
            <a:normAutofit/>
          </a:bodyPr>
          <a:lstStyle/>
          <a:p>
            <a:pPr eaLnBrk="1" hangingPunct="1"/>
            <a:r>
              <a:rPr lang="it-IT" dirty="0"/>
              <a:t>Gestione delle associazioni</a:t>
            </a:r>
          </a:p>
          <a:p>
            <a:pPr lvl="1" eaLnBrk="1" hangingPunct="1"/>
            <a:r>
              <a:rPr lang="it-IT" sz="2325" dirty="0"/>
              <a:t>Problemi (discussi nella lezione su ORM)</a:t>
            </a:r>
          </a:p>
          <a:p>
            <a:pPr lvl="1" eaLnBrk="1" hangingPunct="1"/>
            <a:r>
              <a:rPr lang="it-IT" sz="2325" dirty="0" err="1"/>
              <a:t>Lazy</a:t>
            </a:r>
            <a:r>
              <a:rPr lang="it-IT" sz="2325" dirty="0"/>
              <a:t> Load (qui vediamo come si realizza tecnicamente)</a:t>
            </a:r>
          </a:p>
          <a:p>
            <a:pPr lvl="1" eaLnBrk="1" hangingPunct="1"/>
            <a:endParaRPr lang="it-IT" dirty="0"/>
          </a:p>
          <a:p>
            <a:pPr lvl="1" eaLnBrk="1" hangingPunct="1"/>
            <a:endParaRPr lang="it-IT" dirty="0"/>
          </a:p>
        </p:txBody>
      </p:sp>
    </p:spTree>
    <p:extLst>
      <p:ext uri="{BB962C8B-B14F-4D97-AF65-F5344CB8AC3E}">
        <p14:creationId xmlns:p14="http://schemas.microsoft.com/office/powerpoint/2010/main" val="2067626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err="1"/>
              <a:t>Rappresentazioni</a:t>
            </a:r>
            <a:r>
              <a:rPr lang="en-US" dirty="0"/>
              <a:t> </a:t>
            </a:r>
            <a:r>
              <a:rPr lang="en-US" dirty="0" err="1"/>
              <a:t>Grafiche</a:t>
            </a:r>
            <a:endParaRPr lang="en-US" dirty="0"/>
          </a:p>
        </p:txBody>
      </p:sp>
      <p:sp>
        <p:nvSpPr>
          <p:cNvPr id="3" name="Segnaposto contenuto 2"/>
          <p:cNvSpPr>
            <a:spLocks noGrp="1"/>
          </p:cNvSpPr>
          <p:nvPr>
            <p:ph idx="1"/>
          </p:nvPr>
        </p:nvSpPr>
        <p:spPr/>
        <p:txBody>
          <a:bodyPr/>
          <a:lstStyle/>
          <a:p>
            <a:pPr marL="0" indent="0">
              <a:buNone/>
            </a:pPr>
            <a:r>
              <a:rPr lang="en-US" dirty="0" err="1"/>
              <a:t>Classe</a:t>
            </a:r>
            <a:r>
              <a:rPr lang="en-US" dirty="0"/>
              <a:t>		Schema </a:t>
            </a:r>
            <a:r>
              <a:rPr lang="en-US" dirty="0" err="1"/>
              <a:t>Tabella</a:t>
            </a:r>
            <a:r>
              <a:rPr lang="en-US" dirty="0"/>
              <a:t>			</a:t>
            </a:r>
            <a:r>
              <a:rPr lang="en-US" dirty="0" err="1"/>
              <a:t>Istanza</a:t>
            </a:r>
            <a:r>
              <a:rPr lang="en-US" dirty="0"/>
              <a:t> </a:t>
            </a:r>
            <a:r>
              <a:rPr lang="en-US" dirty="0" err="1"/>
              <a:t>Tabella</a:t>
            </a:r>
            <a:endParaRPr lang="en-US" dirty="0"/>
          </a:p>
        </p:txBody>
      </p:sp>
      <p:graphicFrame>
        <p:nvGraphicFramePr>
          <p:cNvPr id="5" name="Segnaposto contenuto 5"/>
          <p:cNvGraphicFramePr>
            <a:graphicFrameLocks/>
          </p:cNvGraphicFramePr>
          <p:nvPr/>
        </p:nvGraphicFramePr>
        <p:xfrm>
          <a:off x="1485900" y="1715340"/>
          <a:ext cx="1164968" cy="901411"/>
        </p:xfrm>
        <a:graphic>
          <a:graphicData uri="http://schemas.openxmlformats.org/drawingml/2006/table">
            <a:tbl>
              <a:tblPr firstRow="1" bandRow="1">
                <a:tableStyleId>{5C22544A-7EE6-4342-B048-85BDC9FD1C3A}</a:tableStyleId>
              </a:tblPr>
              <a:tblGrid>
                <a:gridCol w="1164968">
                  <a:extLst>
                    <a:ext uri="{9D8B030D-6E8A-4147-A177-3AD203B41FA5}">
                      <a16:colId xmlns:a16="http://schemas.microsoft.com/office/drawing/2014/main" val="20000"/>
                    </a:ext>
                  </a:extLst>
                </a:gridCol>
              </a:tblGrid>
              <a:tr h="345151">
                <a:tc>
                  <a:txBody>
                    <a:bodyPr/>
                    <a:lstStyle/>
                    <a:p>
                      <a:pPr algn="ctr"/>
                      <a:r>
                        <a:rPr lang="it-IT" sz="1400" b="0" i="0" dirty="0">
                          <a:latin typeface="Calibri Light" panose="020F0302020204030204" pitchFamily="34" charset="0"/>
                        </a:rPr>
                        <a:t>Studente</a:t>
                      </a:r>
                      <a:endParaRPr lang="it-IT" sz="8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548640">
                <a:tc>
                  <a:txBody>
                    <a:bodyPr/>
                    <a:lstStyle/>
                    <a:p>
                      <a:r>
                        <a:rPr lang="it-IT" sz="800" b="0" i="0" dirty="0">
                          <a:latin typeface="Calibri Light" panose="020F0302020204030204" pitchFamily="34" charset="0"/>
                        </a:rPr>
                        <a:t>-matricola:</a:t>
                      </a:r>
                      <a:r>
                        <a:rPr lang="it-IT" sz="800" baseline="0" dirty="0"/>
                        <a:t> </a:t>
                      </a:r>
                      <a:r>
                        <a:rPr lang="it-IT" sz="800" baseline="0" dirty="0" err="1"/>
                        <a:t>String</a:t>
                      </a:r>
                      <a:endParaRPr lang="it-IT" sz="800" baseline="0" dirty="0"/>
                    </a:p>
                    <a:p>
                      <a:r>
                        <a:rPr lang="it-IT" sz="800" baseline="0" dirty="0"/>
                        <a:t>-nome: </a:t>
                      </a:r>
                      <a:r>
                        <a:rPr lang="it-IT" sz="800" baseline="0" dirty="0" err="1"/>
                        <a:t>String</a:t>
                      </a:r>
                      <a:endParaRPr lang="it-IT" sz="800" baseline="0" dirty="0"/>
                    </a:p>
                    <a:p>
                      <a:r>
                        <a:rPr lang="it-IT" sz="800" baseline="0" dirty="0"/>
                        <a:t>-cognome: </a:t>
                      </a:r>
                      <a:r>
                        <a:rPr lang="it-IT" sz="800" baseline="0" dirty="0" err="1"/>
                        <a:t>String</a:t>
                      </a:r>
                      <a:endParaRPr lang="it-IT" sz="800" baseline="0" dirty="0"/>
                    </a:p>
                    <a:p>
                      <a:r>
                        <a:rPr lang="it-IT" sz="800" baseline="0" dirty="0"/>
                        <a:t>-</a:t>
                      </a:r>
                      <a:r>
                        <a:rPr lang="it-IT" sz="800" baseline="0" dirty="0" err="1"/>
                        <a:t>dataNascita</a:t>
                      </a:r>
                      <a:r>
                        <a:rPr lang="it-IT" sz="800" baseline="0" dirty="0"/>
                        <a:t>: Date</a:t>
                      </a:r>
                      <a:endParaRPr lang="it-IT" sz="8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6" name="Segnaposto contenuto 6"/>
          <p:cNvGraphicFramePr>
            <a:graphicFrameLocks/>
          </p:cNvGraphicFramePr>
          <p:nvPr/>
        </p:nvGraphicFramePr>
        <p:xfrm>
          <a:off x="2876551" y="1715340"/>
          <a:ext cx="2619375" cy="1184607"/>
        </p:xfrm>
        <a:graphic>
          <a:graphicData uri="http://schemas.openxmlformats.org/drawingml/2006/table">
            <a:tbl>
              <a:tblPr firstRow="1" bandRow="1">
                <a:tableStyleId>{21E4AEA4-8DFA-4A89-87EB-49C32662AFE0}</a:tableStyleId>
              </a:tblPr>
              <a:tblGrid>
                <a:gridCol w="918131">
                  <a:extLst>
                    <a:ext uri="{9D8B030D-6E8A-4147-A177-3AD203B41FA5}">
                      <a16:colId xmlns:a16="http://schemas.microsoft.com/office/drawing/2014/main" val="20000"/>
                    </a:ext>
                  </a:extLst>
                </a:gridCol>
                <a:gridCol w="823618">
                  <a:extLst>
                    <a:ext uri="{9D8B030D-6E8A-4147-A177-3AD203B41FA5}">
                      <a16:colId xmlns:a16="http://schemas.microsoft.com/office/drawing/2014/main" val="20001"/>
                    </a:ext>
                  </a:extLst>
                </a:gridCol>
                <a:gridCol w="877626">
                  <a:extLst>
                    <a:ext uri="{9D8B030D-6E8A-4147-A177-3AD203B41FA5}">
                      <a16:colId xmlns:a16="http://schemas.microsoft.com/office/drawing/2014/main" val="20002"/>
                    </a:ext>
                  </a:extLst>
                </a:gridCol>
              </a:tblGrid>
              <a:tr h="205740">
                <a:tc gridSpan="3">
                  <a:txBody>
                    <a:bodyPr/>
                    <a:lstStyle/>
                    <a:p>
                      <a:pPr algn="ctr"/>
                      <a:r>
                        <a:rPr lang="it-IT" sz="900" b="0" i="0" dirty="0">
                          <a:latin typeface="Calibri Light" panose="020F0302020204030204" pitchFamily="34" charset="0"/>
                        </a:rPr>
                        <a:t>studente</a:t>
                      </a:r>
                    </a:p>
                  </a:txBody>
                  <a:tcPr marL="68580" marR="68580" marT="34290" marB="34290"/>
                </a:tc>
                <a:tc hMerge="1">
                  <a:txBody>
                    <a:bodyPr/>
                    <a:lstStyle/>
                    <a:p>
                      <a:pPr algn="ctr"/>
                      <a:endParaRPr lang="it-IT" dirty="0"/>
                    </a:p>
                  </a:txBody>
                  <a:tcPr/>
                </a:tc>
                <a:tc hMerge="1">
                  <a:txBody>
                    <a:bodyPr/>
                    <a:lstStyle/>
                    <a:p>
                      <a:pPr algn="ctr"/>
                      <a:endParaRPr lang="it-IT" dirty="0"/>
                    </a:p>
                  </a:txBody>
                  <a:tcPr/>
                </a:tc>
                <a:extLst>
                  <a:ext uri="{0D108BD9-81ED-4DB2-BD59-A6C34878D82A}">
                    <a16:rowId xmlns:a16="http://schemas.microsoft.com/office/drawing/2014/main" val="10000"/>
                  </a:ext>
                </a:extLst>
              </a:tr>
              <a:tr h="342900">
                <a:tc>
                  <a:txBody>
                    <a:bodyPr/>
                    <a:lstStyle/>
                    <a:p>
                      <a:r>
                        <a:rPr lang="it-IT" sz="900" b="0" i="0" dirty="0">
                          <a:latin typeface="Calibri Light" panose="020F0302020204030204" pitchFamily="34" charset="0"/>
                        </a:rPr>
                        <a:t>matricola</a:t>
                      </a:r>
                    </a:p>
                  </a:txBody>
                  <a:tcPr marL="68580" marR="68580" marT="34290" marB="34290"/>
                </a:tc>
                <a:tc>
                  <a:txBody>
                    <a:bodyPr/>
                    <a:lstStyle/>
                    <a:p>
                      <a:r>
                        <a:rPr lang="it-IT" sz="900" b="0" i="0" dirty="0" err="1">
                          <a:latin typeface="Calibri Light" panose="020F0302020204030204" pitchFamily="34" charset="0"/>
                        </a:rPr>
                        <a:t>varchar</a:t>
                      </a:r>
                      <a:r>
                        <a:rPr lang="it-IT" sz="900" dirty="0"/>
                        <a:t>(255)</a:t>
                      </a:r>
                    </a:p>
                  </a:txBody>
                  <a:tcPr marL="68580" marR="68580" marT="34290" marB="34290"/>
                </a:tc>
                <a:tc>
                  <a:txBody>
                    <a:bodyPr/>
                    <a:lstStyle/>
                    <a:p>
                      <a:r>
                        <a:rPr lang="it-IT" sz="900" b="0" i="0" dirty="0" err="1">
                          <a:latin typeface="Calibri Light" panose="020F0302020204030204" pitchFamily="34" charset="0"/>
                        </a:rPr>
                        <a:t>nullable</a:t>
                      </a:r>
                      <a:r>
                        <a:rPr lang="it-IT" sz="900" dirty="0"/>
                        <a:t>=false</a:t>
                      </a:r>
                    </a:p>
                    <a:p>
                      <a:r>
                        <a:rPr lang="it-IT" sz="900" dirty="0"/>
                        <a:t>PK</a:t>
                      </a:r>
                    </a:p>
                  </a:txBody>
                  <a:tcPr marL="68580" marR="68580" marT="34290" marB="34290"/>
                </a:tc>
                <a:extLst>
                  <a:ext uri="{0D108BD9-81ED-4DB2-BD59-A6C34878D82A}">
                    <a16:rowId xmlns:a16="http://schemas.microsoft.com/office/drawing/2014/main" val="10001"/>
                  </a:ext>
                </a:extLst>
              </a:tr>
              <a:tr h="211989">
                <a:tc>
                  <a:txBody>
                    <a:bodyPr/>
                    <a:lstStyle/>
                    <a:p>
                      <a:r>
                        <a:rPr lang="it-IT" sz="900" b="0" i="0" dirty="0">
                          <a:latin typeface="Calibri Light" panose="020F0302020204030204" pitchFamily="34" charset="0"/>
                        </a:rPr>
                        <a:t>nome</a:t>
                      </a:r>
                    </a:p>
                  </a:txBody>
                  <a:tcPr marL="68580" marR="68580" marT="34290" marB="34290"/>
                </a:tc>
                <a:tc>
                  <a:txBody>
                    <a:bodyPr/>
                    <a:lstStyle/>
                    <a:p>
                      <a:r>
                        <a:rPr lang="it-IT" sz="900" b="0" i="0" dirty="0" err="1">
                          <a:latin typeface="Calibri Light" panose="020F0302020204030204" pitchFamily="34" charset="0"/>
                        </a:rPr>
                        <a:t>varchar</a:t>
                      </a:r>
                      <a:r>
                        <a:rPr lang="it-IT" sz="900" dirty="0"/>
                        <a:t>(255)</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900" b="0" i="0" dirty="0" err="1">
                          <a:latin typeface="Calibri Light" panose="020F0302020204030204" pitchFamily="34" charset="0"/>
                        </a:rPr>
                        <a:t>nullable</a:t>
                      </a:r>
                      <a:r>
                        <a:rPr lang="it-IT" sz="900" dirty="0"/>
                        <a:t>=false</a:t>
                      </a:r>
                    </a:p>
                  </a:txBody>
                  <a:tcPr marL="68580" marR="68580" marT="34290" marB="34290"/>
                </a:tc>
                <a:extLst>
                  <a:ext uri="{0D108BD9-81ED-4DB2-BD59-A6C34878D82A}">
                    <a16:rowId xmlns:a16="http://schemas.microsoft.com/office/drawing/2014/main" val="10002"/>
                  </a:ext>
                </a:extLst>
              </a:tr>
              <a:tr h="211989">
                <a:tc>
                  <a:txBody>
                    <a:bodyPr/>
                    <a:lstStyle/>
                    <a:p>
                      <a:r>
                        <a:rPr lang="it-IT" sz="900" b="0" i="0" dirty="0">
                          <a:latin typeface="Calibri Light" panose="020F0302020204030204" pitchFamily="34" charset="0"/>
                        </a:rPr>
                        <a:t>cognome</a:t>
                      </a:r>
                    </a:p>
                  </a:txBody>
                  <a:tcPr marL="68580" marR="68580" marT="34290" marB="34290"/>
                </a:tc>
                <a:tc>
                  <a:txBody>
                    <a:bodyPr/>
                    <a:lstStyle/>
                    <a:p>
                      <a:r>
                        <a:rPr lang="it-IT" sz="900" b="0" i="0" dirty="0" err="1">
                          <a:latin typeface="Calibri Light" panose="020F0302020204030204" pitchFamily="34" charset="0"/>
                        </a:rPr>
                        <a:t>varchar</a:t>
                      </a:r>
                      <a:r>
                        <a:rPr lang="it-IT" sz="900" dirty="0"/>
                        <a:t>(255)</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900" b="0" i="0" dirty="0" err="1">
                          <a:latin typeface="Calibri Light" panose="020F0302020204030204" pitchFamily="34" charset="0"/>
                        </a:rPr>
                        <a:t>nullable</a:t>
                      </a:r>
                      <a:r>
                        <a:rPr lang="it-IT" sz="900" dirty="0"/>
                        <a:t>=false</a:t>
                      </a:r>
                    </a:p>
                  </a:txBody>
                  <a:tcPr marL="68580" marR="68580" marT="34290" marB="34290"/>
                </a:tc>
                <a:extLst>
                  <a:ext uri="{0D108BD9-81ED-4DB2-BD59-A6C34878D82A}">
                    <a16:rowId xmlns:a16="http://schemas.microsoft.com/office/drawing/2014/main" val="10003"/>
                  </a:ext>
                </a:extLst>
              </a:tr>
              <a:tr h="211989">
                <a:tc>
                  <a:txBody>
                    <a:bodyPr/>
                    <a:lstStyle/>
                    <a:p>
                      <a:r>
                        <a:rPr lang="it-IT" sz="900" b="0" i="0" dirty="0" err="1">
                          <a:latin typeface="Calibri Light" panose="020F0302020204030204" pitchFamily="34" charset="0"/>
                        </a:rPr>
                        <a:t>datanascita</a:t>
                      </a:r>
                      <a:endParaRPr lang="it-IT" sz="900" dirty="0"/>
                    </a:p>
                  </a:txBody>
                  <a:tcPr marL="68580" marR="68580" marT="34290" marB="34290"/>
                </a:tc>
                <a:tc>
                  <a:txBody>
                    <a:bodyPr/>
                    <a:lstStyle/>
                    <a:p>
                      <a:r>
                        <a:rPr lang="it-IT" sz="900" b="0" i="0" dirty="0">
                          <a:latin typeface="Calibri Light" panose="020F0302020204030204" pitchFamily="34" charset="0"/>
                        </a:rPr>
                        <a:t>date</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900" b="0" i="0" dirty="0" err="1">
                          <a:latin typeface="Calibri Light" panose="020F0302020204030204" pitchFamily="34" charset="0"/>
                        </a:rPr>
                        <a:t>nullable</a:t>
                      </a:r>
                      <a:r>
                        <a:rPr lang="it-IT" sz="900" dirty="0"/>
                        <a:t>=</a:t>
                      </a:r>
                      <a:r>
                        <a:rPr lang="it-IT" sz="900" dirty="0" err="1"/>
                        <a:t>true</a:t>
                      </a:r>
                      <a:endParaRPr lang="it-IT" sz="900" dirty="0"/>
                    </a:p>
                  </a:txBody>
                  <a:tcPr marL="68580" marR="68580" marT="34290" marB="34290"/>
                </a:tc>
                <a:extLst>
                  <a:ext uri="{0D108BD9-81ED-4DB2-BD59-A6C34878D82A}">
                    <a16:rowId xmlns:a16="http://schemas.microsoft.com/office/drawing/2014/main" val="10004"/>
                  </a:ext>
                </a:extLst>
              </a:tr>
            </a:tbl>
          </a:graphicData>
        </a:graphic>
      </p:graphicFrame>
      <p:graphicFrame>
        <p:nvGraphicFramePr>
          <p:cNvPr id="7" name="Segnaposto contenuto 6"/>
          <p:cNvGraphicFramePr>
            <a:graphicFrameLocks/>
          </p:cNvGraphicFramePr>
          <p:nvPr/>
        </p:nvGraphicFramePr>
        <p:xfrm>
          <a:off x="5686426" y="1965372"/>
          <a:ext cx="1849683" cy="1390650"/>
        </p:xfrm>
        <a:graphic>
          <a:graphicData uri="http://schemas.openxmlformats.org/drawingml/2006/table">
            <a:tbl>
              <a:tblPr firstRow="1" bandRow="1">
                <a:tableStyleId>{72833802-FEF1-4C79-8D5D-14CF1EAF98D9}</a:tableStyleId>
              </a:tblPr>
              <a:tblGrid>
                <a:gridCol w="651313">
                  <a:extLst>
                    <a:ext uri="{9D8B030D-6E8A-4147-A177-3AD203B41FA5}">
                      <a16:colId xmlns:a16="http://schemas.microsoft.com/office/drawing/2014/main" val="20000"/>
                    </a:ext>
                  </a:extLst>
                </a:gridCol>
                <a:gridCol w="703070">
                  <a:extLst>
                    <a:ext uri="{9D8B030D-6E8A-4147-A177-3AD203B41FA5}">
                      <a16:colId xmlns:a16="http://schemas.microsoft.com/office/drawing/2014/main" val="20001"/>
                    </a:ext>
                  </a:extLst>
                </a:gridCol>
                <a:gridCol w="495300">
                  <a:extLst>
                    <a:ext uri="{9D8B030D-6E8A-4147-A177-3AD203B41FA5}">
                      <a16:colId xmlns:a16="http://schemas.microsoft.com/office/drawing/2014/main" val="20003"/>
                    </a:ext>
                  </a:extLst>
                </a:gridCol>
              </a:tblGrid>
              <a:tr h="278130">
                <a:tc>
                  <a:txBody>
                    <a:bodyPr/>
                    <a:lstStyle/>
                    <a:p>
                      <a:r>
                        <a:rPr lang="it-IT" sz="800" b="0" i="0" dirty="0">
                          <a:latin typeface="Calibri Light" panose="020F0302020204030204" pitchFamily="34" charset="0"/>
                        </a:rPr>
                        <a:t>matricola</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it-IT" sz="800" b="0" i="0" dirty="0">
                          <a:latin typeface="Calibri Light" panose="020F0302020204030204" pitchFamily="34" charset="0"/>
                        </a:rPr>
                        <a:t>nome</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it-IT" sz="800" b="0" i="0" dirty="0">
                          <a:latin typeface="Calibri Light" panose="020F0302020204030204" pitchFamily="34" charset="0"/>
                        </a:rPr>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278130">
                <a:tc>
                  <a:txBody>
                    <a:bodyPr/>
                    <a:lstStyle/>
                    <a:p>
                      <a:r>
                        <a:rPr lang="it-IT" sz="800" b="0" i="0" dirty="0">
                          <a:latin typeface="Calibri Light" panose="020F0302020204030204" pitchFamily="34" charset="0"/>
                        </a:rPr>
                        <a:t>121212</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it-IT" sz="800" b="0" i="0" dirty="0">
                          <a:latin typeface="Calibri Light" panose="020F0302020204030204" pitchFamily="34" charset="0"/>
                        </a:rPr>
                        <a:t>Robert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800" b="0" i="0" dirty="0">
                          <a:latin typeface="Calibri Light" panose="020F0302020204030204" pitchFamily="34" charset="0"/>
                        </a:rPr>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278130">
                <a:tc>
                  <a:txBody>
                    <a:bodyPr/>
                    <a:lstStyle/>
                    <a:p>
                      <a:r>
                        <a:rPr lang="it-IT" sz="800" b="0" i="0" dirty="0">
                          <a:latin typeface="Calibri Light" panose="020F0302020204030204" pitchFamily="34" charset="0"/>
                        </a:rPr>
                        <a:t>232323</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it-IT" sz="800" b="0" i="0" dirty="0">
                          <a:latin typeface="Calibri Light" panose="020F0302020204030204" pitchFamily="34" charset="0"/>
                        </a:rPr>
                        <a:t>Julie</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800" b="0" i="0" dirty="0">
                          <a:latin typeface="Calibri Light" panose="020F0302020204030204" pitchFamily="34" charset="0"/>
                        </a:rPr>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278130">
                <a:tc>
                  <a:txBody>
                    <a:bodyPr/>
                    <a:lstStyle/>
                    <a:p>
                      <a:r>
                        <a:rPr lang="it-IT" sz="800" b="0" i="0" dirty="0">
                          <a:latin typeface="Calibri Light" panose="020F0302020204030204" pitchFamily="34" charset="0"/>
                        </a:rPr>
                        <a:t>343434</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800" b="0" i="0" dirty="0">
                          <a:latin typeface="Calibri Light" panose="020F0302020204030204" pitchFamily="34" charset="0"/>
                        </a:rPr>
                        <a:t>John</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800" b="0" i="0" dirty="0">
                          <a:latin typeface="Calibri Light" panose="020F0302020204030204" pitchFamily="34" charset="0"/>
                        </a:rPr>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278130">
                <a:tc>
                  <a:txBody>
                    <a:bodyPr/>
                    <a:lstStyle/>
                    <a:p>
                      <a:r>
                        <a:rPr lang="it-IT" sz="800" b="0" i="0" dirty="0">
                          <a:latin typeface="Calibri Light" panose="020F0302020204030204" pitchFamily="34" charset="0"/>
                        </a:rPr>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800" b="0" i="0" dirty="0">
                          <a:latin typeface="Calibri Light" panose="020F0302020204030204" pitchFamily="34" charset="0"/>
                        </a:rPr>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800" b="0" i="0" dirty="0">
                          <a:latin typeface="Calibri Light" panose="020F0302020204030204" pitchFamily="34" charset="0"/>
                        </a:rPr>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CasellaDiTesto 7"/>
          <p:cNvSpPr txBox="1"/>
          <p:nvPr/>
        </p:nvSpPr>
        <p:spPr>
          <a:xfrm>
            <a:off x="5829301" y="1711768"/>
            <a:ext cx="932115" cy="300082"/>
          </a:xfrm>
          <a:prstGeom prst="rect">
            <a:avLst/>
          </a:prstGeom>
          <a:noFill/>
        </p:spPr>
        <p:txBody>
          <a:bodyPr wrap="none" rtlCol="0">
            <a:spAutoFit/>
          </a:bodyPr>
          <a:lstStyle/>
          <a:p>
            <a:r>
              <a:rPr lang="it-IT" sz="1350" dirty="0">
                <a:latin typeface="Calibri Light" panose="020F0302020204030204" pitchFamily="34" charset="0"/>
              </a:rPr>
              <a:t>STUDENTE</a:t>
            </a:r>
          </a:p>
        </p:txBody>
      </p:sp>
    </p:spTree>
    <p:extLst>
      <p:ext uri="{BB962C8B-B14F-4D97-AF65-F5344CB8AC3E}">
        <p14:creationId xmlns:p14="http://schemas.microsoft.com/office/powerpoint/2010/main" val="1756868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err="1"/>
              <a:t>Esempio</a:t>
            </a:r>
            <a:r>
              <a:rPr lang="en-US" dirty="0"/>
              <a:t> di </a:t>
            </a:r>
            <a:r>
              <a:rPr lang="en-US" dirty="0" err="1"/>
              <a:t>riferimento</a:t>
            </a:r>
            <a:endParaRPr lang="en-US" dirty="0"/>
          </a:p>
        </p:txBody>
      </p:sp>
      <p:graphicFrame>
        <p:nvGraphicFramePr>
          <p:cNvPr id="4" name="Segnaposto contenuto 5"/>
          <p:cNvGraphicFramePr>
            <a:graphicFrameLocks/>
          </p:cNvGraphicFramePr>
          <p:nvPr/>
        </p:nvGraphicFramePr>
        <p:xfrm>
          <a:off x="1485900" y="1715340"/>
          <a:ext cx="1164968" cy="657571"/>
        </p:xfrm>
        <a:graphic>
          <a:graphicData uri="http://schemas.openxmlformats.org/drawingml/2006/table">
            <a:tbl>
              <a:tblPr firstRow="1" bandRow="1">
                <a:tableStyleId>{5C22544A-7EE6-4342-B048-85BDC9FD1C3A}</a:tableStyleId>
              </a:tblPr>
              <a:tblGrid>
                <a:gridCol w="1164968">
                  <a:extLst>
                    <a:ext uri="{9D8B030D-6E8A-4147-A177-3AD203B41FA5}">
                      <a16:colId xmlns:a16="http://schemas.microsoft.com/office/drawing/2014/main" val="20000"/>
                    </a:ext>
                  </a:extLst>
                </a:gridCol>
              </a:tblGrid>
              <a:tr h="345151">
                <a:tc>
                  <a:txBody>
                    <a:bodyPr/>
                    <a:lstStyle/>
                    <a:p>
                      <a:pPr algn="ctr"/>
                      <a:r>
                        <a:rPr lang="it-IT" sz="1400" b="0" i="0" dirty="0">
                          <a:latin typeface="Calibri Light" panose="020F0302020204030204" pitchFamily="34" charset="0"/>
                        </a:rPr>
                        <a:t>Gruppo</a:t>
                      </a:r>
                      <a:endParaRPr lang="it-IT" sz="8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08610">
                <a:tc>
                  <a:txBody>
                    <a:bodyPr/>
                    <a:lstStyle/>
                    <a:p>
                      <a:r>
                        <a:rPr lang="it-IT" sz="800" b="0" i="0" dirty="0">
                          <a:latin typeface="Calibri Light" panose="020F0302020204030204" pitchFamily="34" charset="0"/>
                        </a:rPr>
                        <a:t>-id: Long</a:t>
                      </a:r>
                    </a:p>
                    <a:p>
                      <a:r>
                        <a:rPr lang="it-IT" sz="800" dirty="0"/>
                        <a:t>-Nome:</a:t>
                      </a:r>
                      <a:r>
                        <a:rPr lang="it-IT" sz="800" baseline="0" dirty="0"/>
                        <a:t> </a:t>
                      </a:r>
                      <a:r>
                        <a:rPr lang="it-IT" sz="800" baseline="0" dirty="0" err="1"/>
                        <a:t>String</a:t>
                      </a:r>
                      <a:endParaRPr lang="it-IT" sz="800" baseline="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5" name="Segnaposto contenuto 5"/>
          <p:cNvGraphicFramePr>
            <a:graphicFrameLocks/>
          </p:cNvGraphicFramePr>
          <p:nvPr/>
        </p:nvGraphicFramePr>
        <p:xfrm>
          <a:off x="3390755" y="1595325"/>
          <a:ext cx="1164968" cy="901411"/>
        </p:xfrm>
        <a:graphic>
          <a:graphicData uri="http://schemas.openxmlformats.org/drawingml/2006/table">
            <a:tbl>
              <a:tblPr firstRow="1" bandRow="1">
                <a:tableStyleId>{5C22544A-7EE6-4342-B048-85BDC9FD1C3A}</a:tableStyleId>
              </a:tblPr>
              <a:tblGrid>
                <a:gridCol w="1164968">
                  <a:extLst>
                    <a:ext uri="{9D8B030D-6E8A-4147-A177-3AD203B41FA5}">
                      <a16:colId xmlns:a16="http://schemas.microsoft.com/office/drawing/2014/main" val="20000"/>
                    </a:ext>
                  </a:extLst>
                </a:gridCol>
              </a:tblGrid>
              <a:tr h="345151">
                <a:tc>
                  <a:txBody>
                    <a:bodyPr/>
                    <a:lstStyle/>
                    <a:p>
                      <a:pPr algn="ctr"/>
                      <a:r>
                        <a:rPr lang="it-IT" sz="1400" b="0" i="0" dirty="0">
                          <a:latin typeface="Calibri Light" panose="020F0302020204030204" pitchFamily="34" charset="0"/>
                        </a:rPr>
                        <a:t>Studente</a:t>
                      </a:r>
                      <a:endParaRPr lang="it-IT" sz="8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548640">
                <a:tc>
                  <a:txBody>
                    <a:bodyPr/>
                    <a:lstStyle/>
                    <a:p>
                      <a:r>
                        <a:rPr lang="it-IT" sz="800" b="0" i="0" dirty="0">
                          <a:latin typeface="Calibri Light" panose="020F0302020204030204" pitchFamily="34" charset="0"/>
                        </a:rPr>
                        <a:t>-matricola: </a:t>
                      </a:r>
                      <a:r>
                        <a:rPr lang="it-IT" sz="800" dirty="0" err="1"/>
                        <a:t>String</a:t>
                      </a:r>
                      <a:endParaRPr lang="it-IT" sz="800" dirty="0"/>
                    </a:p>
                    <a:p>
                      <a:r>
                        <a:rPr lang="it-IT" sz="800" dirty="0"/>
                        <a:t>-nome:</a:t>
                      </a:r>
                      <a:r>
                        <a:rPr lang="it-IT" sz="800" baseline="0" dirty="0"/>
                        <a:t> </a:t>
                      </a:r>
                      <a:r>
                        <a:rPr lang="it-IT" sz="800" baseline="0" dirty="0" err="1"/>
                        <a:t>String</a:t>
                      </a:r>
                      <a:endParaRPr lang="it-IT" sz="800" baseline="0" dirty="0"/>
                    </a:p>
                    <a:p>
                      <a:r>
                        <a:rPr lang="it-IT" sz="800" baseline="0" dirty="0"/>
                        <a:t>-cognome: </a:t>
                      </a:r>
                      <a:r>
                        <a:rPr lang="it-IT" sz="800" baseline="0" dirty="0" err="1"/>
                        <a:t>String</a:t>
                      </a:r>
                      <a:endParaRPr lang="it-IT" sz="800" baseline="0" dirty="0"/>
                    </a:p>
                    <a:p>
                      <a:r>
                        <a:rPr lang="it-IT" sz="800" baseline="0" dirty="0"/>
                        <a:t>-</a:t>
                      </a:r>
                      <a:r>
                        <a:rPr lang="it-IT" sz="800" baseline="0" dirty="0" err="1"/>
                        <a:t>dataNascita</a:t>
                      </a:r>
                      <a:r>
                        <a:rPr lang="it-IT" sz="800" baseline="0" dirty="0"/>
                        <a:t>: Date</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7" name="Connettore 4 6"/>
          <p:cNvCxnSpPr>
            <a:stCxn id="4" idx="3"/>
            <a:endCxn id="5" idx="1"/>
          </p:cNvCxnSpPr>
          <p:nvPr/>
        </p:nvCxnSpPr>
        <p:spPr>
          <a:xfrm>
            <a:off x="2650868" y="2044125"/>
            <a:ext cx="739887" cy="1905"/>
          </a:xfrm>
          <a:prstGeom prst="bentConnector3">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CasellaDiTesto 9"/>
          <p:cNvSpPr txBox="1"/>
          <p:nvPr/>
        </p:nvSpPr>
        <p:spPr>
          <a:xfrm>
            <a:off x="3152517" y="1821354"/>
            <a:ext cx="271228" cy="300082"/>
          </a:xfrm>
          <a:prstGeom prst="rect">
            <a:avLst/>
          </a:prstGeom>
          <a:noFill/>
        </p:spPr>
        <p:txBody>
          <a:bodyPr wrap="none" rtlCol="0">
            <a:spAutoFit/>
          </a:bodyPr>
          <a:lstStyle/>
          <a:p>
            <a:r>
              <a:rPr lang="en-US" sz="1350" dirty="0">
                <a:latin typeface="Calibri Light" panose="020F0302020204030204" pitchFamily="34" charset="0"/>
              </a:rPr>
              <a:t>*</a:t>
            </a:r>
          </a:p>
        </p:txBody>
      </p:sp>
      <p:graphicFrame>
        <p:nvGraphicFramePr>
          <p:cNvPr id="11" name="Segnaposto contenuto 6"/>
          <p:cNvGraphicFramePr>
            <a:graphicFrameLocks/>
          </p:cNvGraphicFramePr>
          <p:nvPr/>
        </p:nvGraphicFramePr>
        <p:xfrm>
          <a:off x="1444366" y="3275007"/>
          <a:ext cx="2001206" cy="760629"/>
        </p:xfrm>
        <a:graphic>
          <a:graphicData uri="http://schemas.openxmlformats.org/drawingml/2006/table">
            <a:tbl>
              <a:tblPr firstRow="1" bandRow="1">
                <a:tableStyleId>{21E4AEA4-8DFA-4A89-87EB-49C32662AFE0}</a:tableStyleId>
              </a:tblPr>
              <a:tblGrid>
                <a:gridCol w="410339">
                  <a:extLst>
                    <a:ext uri="{9D8B030D-6E8A-4147-A177-3AD203B41FA5}">
                      <a16:colId xmlns:a16="http://schemas.microsoft.com/office/drawing/2014/main" val="20000"/>
                    </a:ext>
                  </a:extLst>
                </a:gridCol>
                <a:gridCol w="764035">
                  <a:extLst>
                    <a:ext uri="{9D8B030D-6E8A-4147-A177-3AD203B41FA5}">
                      <a16:colId xmlns:a16="http://schemas.microsoft.com/office/drawing/2014/main" val="20001"/>
                    </a:ext>
                  </a:extLst>
                </a:gridCol>
                <a:gridCol w="826832">
                  <a:extLst>
                    <a:ext uri="{9D8B030D-6E8A-4147-A177-3AD203B41FA5}">
                      <a16:colId xmlns:a16="http://schemas.microsoft.com/office/drawing/2014/main" val="20002"/>
                    </a:ext>
                  </a:extLst>
                </a:gridCol>
              </a:tblGrid>
              <a:tr h="205740">
                <a:tc gridSpan="3">
                  <a:txBody>
                    <a:bodyPr/>
                    <a:lstStyle/>
                    <a:p>
                      <a:pPr algn="ctr"/>
                      <a:r>
                        <a:rPr lang="it-IT" sz="900" b="0" i="0" dirty="0">
                          <a:latin typeface="Calibri Light" panose="020F0302020204030204" pitchFamily="34" charset="0"/>
                        </a:rPr>
                        <a:t>gruppo</a:t>
                      </a:r>
                    </a:p>
                  </a:txBody>
                  <a:tcPr marL="68580" marR="68580" marT="34290" marB="34290"/>
                </a:tc>
                <a:tc hMerge="1">
                  <a:txBody>
                    <a:bodyPr/>
                    <a:lstStyle/>
                    <a:p>
                      <a:pPr algn="ctr"/>
                      <a:endParaRPr lang="it-IT" dirty="0"/>
                    </a:p>
                  </a:txBody>
                  <a:tcPr/>
                </a:tc>
                <a:tc hMerge="1">
                  <a:txBody>
                    <a:bodyPr/>
                    <a:lstStyle/>
                    <a:p>
                      <a:pPr algn="ctr"/>
                      <a:endParaRPr lang="it-IT" dirty="0"/>
                    </a:p>
                  </a:txBody>
                  <a:tcPr/>
                </a:tc>
                <a:extLst>
                  <a:ext uri="{0D108BD9-81ED-4DB2-BD59-A6C34878D82A}">
                    <a16:rowId xmlns:a16="http://schemas.microsoft.com/office/drawing/2014/main" val="10000"/>
                  </a:ext>
                </a:extLst>
              </a:tr>
              <a:tr h="342900">
                <a:tc>
                  <a:txBody>
                    <a:bodyPr/>
                    <a:lstStyle/>
                    <a:p>
                      <a:r>
                        <a:rPr lang="it-IT" sz="900" b="0" i="0" dirty="0">
                          <a:latin typeface="Calibri Light" panose="020F0302020204030204" pitchFamily="34" charset="0"/>
                        </a:rPr>
                        <a:t>id</a:t>
                      </a:r>
                    </a:p>
                  </a:txBody>
                  <a:tcPr marL="68580" marR="68580" marT="34290" marB="34290"/>
                </a:tc>
                <a:tc>
                  <a:txBody>
                    <a:bodyPr/>
                    <a:lstStyle/>
                    <a:p>
                      <a:r>
                        <a:rPr lang="it-IT" sz="900" b="0" i="0" dirty="0" err="1">
                          <a:latin typeface="Calibri Light" panose="020F0302020204030204" pitchFamily="34" charset="0"/>
                        </a:rPr>
                        <a:t>bigint</a:t>
                      </a:r>
                      <a:endParaRPr lang="it-IT" sz="900" dirty="0"/>
                    </a:p>
                  </a:txBody>
                  <a:tcPr marL="68580" marR="68580" marT="34290" marB="34290"/>
                </a:tc>
                <a:tc>
                  <a:txBody>
                    <a:bodyPr/>
                    <a:lstStyle/>
                    <a:p>
                      <a:r>
                        <a:rPr lang="it-IT" sz="900" b="0" i="0" dirty="0" err="1">
                          <a:latin typeface="Calibri Light" panose="020F0302020204030204" pitchFamily="34" charset="0"/>
                        </a:rPr>
                        <a:t>nullable</a:t>
                      </a:r>
                      <a:r>
                        <a:rPr lang="it-IT" sz="900" dirty="0"/>
                        <a:t>=false</a:t>
                      </a:r>
                    </a:p>
                    <a:p>
                      <a:r>
                        <a:rPr lang="it-IT" sz="900" dirty="0"/>
                        <a:t>PK</a:t>
                      </a:r>
                    </a:p>
                  </a:txBody>
                  <a:tcPr marL="68580" marR="68580" marT="34290" marB="34290"/>
                </a:tc>
                <a:extLst>
                  <a:ext uri="{0D108BD9-81ED-4DB2-BD59-A6C34878D82A}">
                    <a16:rowId xmlns:a16="http://schemas.microsoft.com/office/drawing/2014/main" val="10001"/>
                  </a:ext>
                </a:extLst>
              </a:tr>
              <a:tr h="211989">
                <a:tc>
                  <a:txBody>
                    <a:bodyPr/>
                    <a:lstStyle/>
                    <a:p>
                      <a:r>
                        <a:rPr lang="it-IT" sz="900" b="0" i="0" dirty="0">
                          <a:latin typeface="Calibri Light" panose="020F0302020204030204" pitchFamily="34" charset="0"/>
                        </a:rPr>
                        <a:t>nome</a:t>
                      </a:r>
                    </a:p>
                  </a:txBody>
                  <a:tcPr marL="68580" marR="68580" marT="34290" marB="34290"/>
                </a:tc>
                <a:tc>
                  <a:txBody>
                    <a:bodyPr/>
                    <a:lstStyle/>
                    <a:p>
                      <a:r>
                        <a:rPr lang="it-IT" sz="900" b="0" i="0" dirty="0" err="1">
                          <a:latin typeface="Calibri Light" panose="020F0302020204030204" pitchFamily="34" charset="0"/>
                        </a:rPr>
                        <a:t>varchar</a:t>
                      </a:r>
                      <a:r>
                        <a:rPr lang="it-IT" sz="900" dirty="0"/>
                        <a:t>(255)</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900" b="0" i="0" dirty="0" err="1">
                          <a:latin typeface="Calibri Light" panose="020F0302020204030204" pitchFamily="34" charset="0"/>
                        </a:rPr>
                        <a:t>nullable</a:t>
                      </a:r>
                      <a:r>
                        <a:rPr lang="it-IT" sz="900" dirty="0"/>
                        <a:t>=false</a:t>
                      </a:r>
                    </a:p>
                  </a:txBody>
                  <a:tcPr marL="68580" marR="68580" marT="34290" marB="34290"/>
                </a:tc>
                <a:extLst>
                  <a:ext uri="{0D108BD9-81ED-4DB2-BD59-A6C34878D82A}">
                    <a16:rowId xmlns:a16="http://schemas.microsoft.com/office/drawing/2014/main" val="10002"/>
                  </a:ext>
                </a:extLst>
              </a:tr>
            </a:tbl>
          </a:graphicData>
        </a:graphic>
      </p:graphicFrame>
      <p:graphicFrame>
        <p:nvGraphicFramePr>
          <p:cNvPr id="12" name="Segnaposto contenuto 6"/>
          <p:cNvGraphicFramePr>
            <a:graphicFrameLocks/>
          </p:cNvGraphicFramePr>
          <p:nvPr/>
        </p:nvGraphicFramePr>
        <p:xfrm>
          <a:off x="3734782" y="3275007"/>
          <a:ext cx="2619375" cy="1396596"/>
        </p:xfrm>
        <a:graphic>
          <a:graphicData uri="http://schemas.openxmlformats.org/drawingml/2006/table">
            <a:tbl>
              <a:tblPr firstRow="1" bandRow="1">
                <a:tableStyleId>{21E4AEA4-8DFA-4A89-87EB-49C32662AFE0}</a:tableStyleId>
              </a:tblPr>
              <a:tblGrid>
                <a:gridCol w="918131">
                  <a:extLst>
                    <a:ext uri="{9D8B030D-6E8A-4147-A177-3AD203B41FA5}">
                      <a16:colId xmlns:a16="http://schemas.microsoft.com/office/drawing/2014/main" val="20000"/>
                    </a:ext>
                  </a:extLst>
                </a:gridCol>
                <a:gridCol w="823618">
                  <a:extLst>
                    <a:ext uri="{9D8B030D-6E8A-4147-A177-3AD203B41FA5}">
                      <a16:colId xmlns:a16="http://schemas.microsoft.com/office/drawing/2014/main" val="20001"/>
                    </a:ext>
                  </a:extLst>
                </a:gridCol>
                <a:gridCol w="877626">
                  <a:extLst>
                    <a:ext uri="{9D8B030D-6E8A-4147-A177-3AD203B41FA5}">
                      <a16:colId xmlns:a16="http://schemas.microsoft.com/office/drawing/2014/main" val="20002"/>
                    </a:ext>
                  </a:extLst>
                </a:gridCol>
              </a:tblGrid>
              <a:tr h="205740">
                <a:tc gridSpan="3">
                  <a:txBody>
                    <a:bodyPr/>
                    <a:lstStyle/>
                    <a:p>
                      <a:pPr algn="ctr"/>
                      <a:r>
                        <a:rPr lang="it-IT" sz="900" b="0" i="0" dirty="0">
                          <a:latin typeface="Calibri Light" panose="020F0302020204030204" pitchFamily="34" charset="0"/>
                        </a:rPr>
                        <a:t>studente</a:t>
                      </a:r>
                    </a:p>
                  </a:txBody>
                  <a:tcPr marL="68580" marR="68580" marT="34290" marB="34290"/>
                </a:tc>
                <a:tc hMerge="1">
                  <a:txBody>
                    <a:bodyPr/>
                    <a:lstStyle/>
                    <a:p>
                      <a:pPr algn="ctr"/>
                      <a:endParaRPr lang="it-IT" dirty="0"/>
                    </a:p>
                  </a:txBody>
                  <a:tcPr/>
                </a:tc>
                <a:tc hMerge="1">
                  <a:txBody>
                    <a:bodyPr/>
                    <a:lstStyle/>
                    <a:p>
                      <a:pPr algn="ctr"/>
                      <a:endParaRPr lang="it-IT" dirty="0"/>
                    </a:p>
                  </a:txBody>
                  <a:tcPr/>
                </a:tc>
                <a:extLst>
                  <a:ext uri="{0D108BD9-81ED-4DB2-BD59-A6C34878D82A}">
                    <a16:rowId xmlns:a16="http://schemas.microsoft.com/office/drawing/2014/main" val="10000"/>
                  </a:ext>
                </a:extLst>
              </a:tr>
              <a:tr h="342900">
                <a:tc>
                  <a:txBody>
                    <a:bodyPr/>
                    <a:lstStyle/>
                    <a:p>
                      <a:r>
                        <a:rPr lang="it-IT" sz="900" b="0" i="0" dirty="0">
                          <a:latin typeface="Calibri Light" panose="020F0302020204030204" pitchFamily="34" charset="0"/>
                        </a:rPr>
                        <a:t>matricola</a:t>
                      </a:r>
                    </a:p>
                  </a:txBody>
                  <a:tcPr marL="68580" marR="68580" marT="34290" marB="34290"/>
                </a:tc>
                <a:tc>
                  <a:txBody>
                    <a:bodyPr/>
                    <a:lstStyle/>
                    <a:p>
                      <a:r>
                        <a:rPr lang="it-IT" sz="900" b="0" i="0" dirty="0" err="1">
                          <a:latin typeface="Calibri Light" panose="020F0302020204030204" pitchFamily="34" charset="0"/>
                        </a:rPr>
                        <a:t>character</a:t>
                      </a:r>
                      <a:r>
                        <a:rPr lang="it-IT" sz="900" dirty="0"/>
                        <a:t>(8)</a:t>
                      </a:r>
                    </a:p>
                  </a:txBody>
                  <a:tcPr marL="68580" marR="68580" marT="34290" marB="34290"/>
                </a:tc>
                <a:tc>
                  <a:txBody>
                    <a:bodyPr/>
                    <a:lstStyle/>
                    <a:p>
                      <a:r>
                        <a:rPr lang="it-IT" sz="900" b="0" i="0" dirty="0" err="1">
                          <a:latin typeface="Calibri Light" panose="020F0302020204030204" pitchFamily="34" charset="0"/>
                        </a:rPr>
                        <a:t>nullable</a:t>
                      </a:r>
                      <a:r>
                        <a:rPr lang="it-IT" sz="900" dirty="0"/>
                        <a:t>=false</a:t>
                      </a:r>
                    </a:p>
                    <a:p>
                      <a:r>
                        <a:rPr lang="it-IT" sz="900" dirty="0"/>
                        <a:t>PK</a:t>
                      </a:r>
                    </a:p>
                  </a:txBody>
                  <a:tcPr marL="68580" marR="68580" marT="34290" marB="34290"/>
                </a:tc>
                <a:extLst>
                  <a:ext uri="{0D108BD9-81ED-4DB2-BD59-A6C34878D82A}">
                    <a16:rowId xmlns:a16="http://schemas.microsoft.com/office/drawing/2014/main" val="10001"/>
                  </a:ext>
                </a:extLst>
              </a:tr>
              <a:tr h="211989">
                <a:tc>
                  <a:txBody>
                    <a:bodyPr/>
                    <a:lstStyle/>
                    <a:p>
                      <a:r>
                        <a:rPr lang="it-IT" sz="900" b="0" i="0" dirty="0">
                          <a:latin typeface="Calibri Light" panose="020F0302020204030204" pitchFamily="34" charset="0"/>
                        </a:rPr>
                        <a:t>nome</a:t>
                      </a:r>
                    </a:p>
                  </a:txBody>
                  <a:tcPr marL="68580" marR="68580" marT="34290" marB="34290"/>
                </a:tc>
                <a:tc>
                  <a:txBody>
                    <a:bodyPr/>
                    <a:lstStyle/>
                    <a:p>
                      <a:r>
                        <a:rPr lang="it-IT" sz="900" b="0" i="0" dirty="0" err="1">
                          <a:latin typeface="Calibri Light" panose="020F0302020204030204" pitchFamily="34" charset="0"/>
                        </a:rPr>
                        <a:t>varchar</a:t>
                      </a:r>
                      <a:r>
                        <a:rPr lang="it-IT" sz="900" dirty="0"/>
                        <a:t>(255)</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900" b="0" i="0" dirty="0" err="1">
                          <a:latin typeface="Calibri Light" panose="020F0302020204030204" pitchFamily="34" charset="0"/>
                        </a:rPr>
                        <a:t>nullable</a:t>
                      </a:r>
                      <a:r>
                        <a:rPr lang="it-IT" sz="900" dirty="0"/>
                        <a:t>=false</a:t>
                      </a:r>
                    </a:p>
                  </a:txBody>
                  <a:tcPr marL="68580" marR="68580" marT="34290" marB="34290"/>
                </a:tc>
                <a:extLst>
                  <a:ext uri="{0D108BD9-81ED-4DB2-BD59-A6C34878D82A}">
                    <a16:rowId xmlns:a16="http://schemas.microsoft.com/office/drawing/2014/main" val="10002"/>
                  </a:ext>
                </a:extLst>
              </a:tr>
              <a:tr h="211989">
                <a:tc>
                  <a:txBody>
                    <a:bodyPr/>
                    <a:lstStyle/>
                    <a:p>
                      <a:r>
                        <a:rPr lang="it-IT" sz="900" b="0" i="0" dirty="0" err="1">
                          <a:latin typeface="Calibri Light" panose="020F0302020204030204" pitchFamily="34" charset="0"/>
                        </a:rPr>
                        <a:t>cognme</a:t>
                      </a:r>
                      <a:endParaRPr lang="it-IT" sz="900" dirty="0"/>
                    </a:p>
                  </a:txBody>
                  <a:tcPr marL="68580" marR="68580" marT="34290" marB="34290"/>
                </a:tc>
                <a:tc>
                  <a:txBody>
                    <a:bodyPr/>
                    <a:lstStyle/>
                    <a:p>
                      <a:r>
                        <a:rPr lang="it-IT" sz="900" b="0" i="0" dirty="0" err="1">
                          <a:latin typeface="Calibri Light" panose="020F0302020204030204" pitchFamily="34" charset="0"/>
                        </a:rPr>
                        <a:t>varchar</a:t>
                      </a:r>
                      <a:r>
                        <a:rPr lang="it-IT" sz="900" dirty="0"/>
                        <a:t>(255)</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900" b="0" i="0" dirty="0" err="1">
                          <a:latin typeface="Calibri Light" panose="020F0302020204030204" pitchFamily="34" charset="0"/>
                        </a:rPr>
                        <a:t>nullable</a:t>
                      </a:r>
                      <a:r>
                        <a:rPr lang="it-IT" sz="900" dirty="0"/>
                        <a:t>=false</a:t>
                      </a:r>
                    </a:p>
                  </a:txBody>
                  <a:tcPr marL="68580" marR="68580" marT="34290" marB="34290"/>
                </a:tc>
                <a:extLst>
                  <a:ext uri="{0D108BD9-81ED-4DB2-BD59-A6C34878D82A}">
                    <a16:rowId xmlns:a16="http://schemas.microsoft.com/office/drawing/2014/main" val="10003"/>
                  </a:ext>
                </a:extLst>
              </a:tr>
              <a:tr h="211989">
                <a:tc>
                  <a:txBody>
                    <a:bodyPr/>
                    <a:lstStyle/>
                    <a:p>
                      <a:r>
                        <a:rPr lang="it-IT" sz="900" b="0" i="0" dirty="0" err="1">
                          <a:latin typeface="Calibri Light" panose="020F0302020204030204" pitchFamily="34" charset="0"/>
                        </a:rPr>
                        <a:t>data_nascita</a:t>
                      </a:r>
                      <a:endParaRPr lang="it-IT" sz="900" dirty="0"/>
                    </a:p>
                  </a:txBody>
                  <a:tcPr marL="68580" marR="68580" marT="34290" marB="34290"/>
                </a:tc>
                <a:tc>
                  <a:txBody>
                    <a:bodyPr/>
                    <a:lstStyle/>
                    <a:p>
                      <a:r>
                        <a:rPr lang="it-IT" sz="900" b="0" i="0" dirty="0">
                          <a:latin typeface="Calibri Light" panose="020F0302020204030204" pitchFamily="34" charset="0"/>
                        </a:rPr>
                        <a:t>date</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900" b="0" i="0" dirty="0" err="1">
                          <a:latin typeface="Calibri Light" panose="020F0302020204030204" pitchFamily="34" charset="0"/>
                        </a:rPr>
                        <a:t>nullable</a:t>
                      </a:r>
                      <a:r>
                        <a:rPr lang="it-IT" sz="900" dirty="0"/>
                        <a:t>=</a:t>
                      </a:r>
                      <a:r>
                        <a:rPr lang="it-IT" sz="900" dirty="0" err="1"/>
                        <a:t>true</a:t>
                      </a:r>
                      <a:endParaRPr lang="it-IT" sz="900" dirty="0"/>
                    </a:p>
                  </a:txBody>
                  <a:tcPr marL="68580" marR="68580" marT="34290" marB="34290"/>
                </a:tc>
                <a:extLst>
                  <a:ext uri="{0D108BD9-81ED-4DB2-BD59-A6C34878D82A}">
                    <a16:rowId xmlns:a16="http://schemas.microsoft.com/office/drawing/2014/main" val="10004"/>
                  </a:ext>
                </a:extLst>
              </a:tr>
              <a:tr h="211989">
                <a:tc>
                  <a:txBody>
                    <a:bodyPr/>
                    <a:lstStyle/>
                    <a:p>
                      <a:r>
                        <a:rPr lang="it-IT" sz="900" b="0" i="0" dirty="0" err="1">
                          <a:latin typeface="Calibri Light" panose="020F0302020204030204" pitchFamily="34" charset="0"/>
                        </a:rPr>
                        <a:t>gruppo_id</a:t>
                      </a:r>
                      <a:endParaRPr lang="it-IT" sz="900" dirty="0"/>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900" b="0" i="0" dirty="0" err="1">
                          <a:latin typeface="Calibri Light" panose="020F0302020204030204" pitchFamily="34" charset="0"/>
                        </a:rPr>
                        <a:t>bigint</a:t>
                      </a:r>
                      <a:endParaRPr lang="it-IT" sz="900" dirty="0"/>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900" b="0" i="0" dirty="0">
                          <a:latin typeface="Calibri Light" panose="020F0302020204030204" pitchFamily="34" charset="0"/>
                        </a:rPr>
                        <a:t>FK</a:t>
                      </a:r>
                      <a:r>
                        <a:rPr lang="it-IT" sz="900" baseline="0" dirty="0"/>
                        <a:t> </a:t>
                      </a:r>
                      <a:r>
                        <a:rPr lang="it-IT" sz="900" baseline="0" dirty="0" err="1"/>
                        <a:t>gruppo.id</a:t>
                      </a:r>
                      <a:endParaRPr lang="it-IT" sz="900" dirty="0"/>
                    </a:p>
                  </a:txBody>
                  <a:tcPr marL="68580" marR="68580" marT="34290" marB="3429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9801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err="1"/>
              <a:t>Esempio</a:t>
            </a:r>
            <a:r>
              <a:rPr lang="en-US" dirty="0"/>
              <a:t> di </a:t>
            </a:r>
            <a:r>
              <a:rPr lang="en-US" dirty="0" err="1"/>
              <a:t>riferimento</a:t>
            </a:r>
            <a:endParaRPr lang="en-US" dirty="0"/>
          </a:p>
        </p:txBody>
      </p:sp>
      <p:graphicFrame>
        <p:nvGraphicFramePr>
          <p:cNvPr id="4" name="Segnaposto contenuto 6"/>
          <p:cNvGraphicFramePr>
            <a:graphicFrameLocks/>
          </p:cNvGraphicFramePr>
          <p:nvPr/>
        </p:nvGraphicFramePr>
        <p:xfrm>
          <a:off x="1733576" y="1200150"/>
          <a:ext cx="2001206" cy="760629"/>
        </p:xfrm>
        <a:graphic>
          <a:graphicData uri="http://schemas.openxmlformats.org/drawingml/2006/table">
            <a:tbl>
              <a:tblPr firstRow="1" bandRow="1">
                <a:tableStyleId>{21E4AEA4-8DFA-4A89-87EB-49C32662AFE0}</a:tableStyleId>
              </a:tblPr>
              <a:tblGrid>
                <a:gridCol w="410339">
                  <a:extLst>
                    <a:ext uri="{9D8B030D-6E8A-4147-A177-3AD203B41FA5}">
                      <a16:colId xmlns:a16="http://schemas.microsoft.com/office/drawing/2014/main" val="20000"/>
                    </a:ext>
                  </a:extLst>
                </a:gridCol>
                <a:gridCol w="764035">
                  <a:extLst>
                    <a:ext uri="{9D8B030D-6E8A-4147-A177-3AD203B41FA5}">
                      <a16:colId xmlns:a16="http://schemas.microsoft.com/office/drawing/2014/main" val="20001"/>
                    </a:ext>
                  </a:extLst>
                </a:gridCol>
                <a:gridCol w="826832">
                  <a:extLst>
                    <a:ext uri="{9D8B030D-6E8A-4147-A177-3AD203B41FA5}">
                      <a16:colId xmlns:a16="http://schemas.microsoft.com/office/drawing/2014/main" val="20002"/>
                    </a:ext>
                  </a:extLst>
                </a:gridCol>
              </a:tblGrid>
              <a:tr h="205740">
                <a:tc gridSpan="3">
                  <a:txBody>
                    <a:bodyPr/>
                    <a:lstStyle/>
                    <a:p>
                      <a:pPr algn="ctr"/>
                      <a:r>
                        <a:rPr lang="it-IT" sz="900" b="0" i="0" dirty="0">
                          <a:latin typeface="Calibri Light" panose="020F0302020204030204" pitchFamily="34" charset="0"/>
                        </a:rPr>
                        <a:t>gruppo</a:t>
                      </a:r>
                    </a:p>
                  </a:txBody>
                  <a:tcPr marL="68580" marR="68580" marT="34290" marB="34290"/>
                </a:tc>
                <a:tc hMerge="1">
                  <a:txBody>
                    <a:bodyPr/>
                    <a:lstStyle/>
                    <a:p>
                      <a:pPr algn="ctr"/>
                      <a:endParaRPr lang="it-IT" dirty="0"/>
                    </a:p>
                  </a:txBody>
                  <a:tcPr/>
                </a:tc>
                <a:tc hMerge="1">
                  <a:txBody>
                    <a:bodyPr/>
                    <a:lstStyle/>
                    <a:p>
                      <a:pPr algn="ctr"/>
                      <a:endParaRPr lang="it-IT" dirty="0"/>
                    </a:p>
                  </a:txBody>
                  <a:tcPr/>
                </a:tc>
                <a:extLst>
                  <a:ext uri="{0D108BD9-81ED-4DB2-BD59-A6C34878D82A}">
                    <a16:rowId xmlns:a16="http://schemas.microsoft.com/office/drawing/2014/main" val="10000"/>
                  </a:ext>
                </a:extLst>
              </a:tr>
              <a:tr h="342900">
                <a:tc>
                  <a:txBody>
                    <a:bodyPr/>
                    <a:lstStyle/>
                    <a:p>
                      <a:r>
                        <a:rPr lang="it-IT" sz="900" b="0" i="0" dirty="0">
                          <a:latin typeface="Calibri Light" panose="020F0302020204030204" pitchFamily="34" charset="0"/>
                        </a:rPr>
                        <a:t>id</a:t>
                      </a:r>
                    </a:p>
                  </a:txBody>
                  <a:tcPr marL="68580" marR="68580" marT="34290" marB="34290"/>
                </a:tc>
                <a:tc>
                  <a:txBody>
                    <a:bodyPr/>
                    <a:lstStyle/>
                    <a:p>
                      <a:r>
                        <a:rPr lang="it-IT" sz="900" b="0" i="0" dirty="0" err="1">
                          <a:latin typeface="Calibri Light" panose="020F0302020204030204" pitchFamily="34" charset="0"/>
                        </a:rPr>
                        <a:t>bigint</a:t>
                      </a:r>
                      <a:endParaRPr lang="it-IT" sz="900" dirty="0"/>
                    </a:p>
                  </a:txBody>
                  <a:tcPr marL="68580" marR="68580" marT="34290" marB="34290"/>
                </a:tc>
                <a:tc>
                  <a:txBody>
                    <a:bodyPr/>
                    <a:lstStyle/>
                    <a:p>
                      <a:r>
                        <a:rPr lang="it-IT" sz="900" b="0" i="0" dirty="0" err="1">
                          <a:latin typeface="Calibri Light" panose="020F0302020204030204" pitchFamily="34" charset="0"/>
                        </a:rPr>
                        <a:t>nullable</a:t>
                      </a:r>
                      <a:r>
                        <a:rPr lang="it-IT" sz="900" dirty="0"/>
                        <a:t>=false</a:t>
                      </a:r>
                    </a:p>
                    <a:p>
                      <a:r>
                        <a:rPr lang="it-IT" sz="900" dirty="0"/>
                        <a:t>PK</a:t>
                      </a:r>
                    </a:p>
                  </a:txBody>
                  <a:tcPr marL="68580" marR="68580" marT="34290" marB="34290"/>
                </a:tc>
                <a:extLst>
                  <a:ext uri="{0D108BD9-81ED-4DB2-BD59-A6C34878D82A}">
                    <a16:rowId xmlns:a16="http://schemas.microsoft.com/office/drawing/2014/main" val="10001"/>
                  </a:ext>
                </a:extLst>
              </a:tr>
              <a:tr h="211989">
                <a:tc>
                  <a:txBody>
                    <a:bodyPr/>
                    <a:lstStyle/>
                    <a:p>
                      <a:r>
                        <a:rPr lang="it-IT" sz="900" b="0" i="0" dirty="0">
                          <a:latin typeface="Calibri Light" panose="020F0302020204030204" pitchFamily="34" charset="0"/>
                        </a:rPr>
                        <a:t>nome</a:t>
                      </a:r>
                    </a:p>
                  </a:txBody>
                  <a:tcPr marL="68580" marR="68580" marT="34290" marB="34290"/>
                </a:tc>
                <a:tc>
                  <a:txBody>
                    <a:bodyPr/>
                    <a:lstStyle/>
                    <a:p>
                      <a:r>
                        <a:rPr lang="it-IT" sz="900" b="0" i="0" dirty="0" err="1">
                          <a:latin typeface="Calibri Light" panose="020F0302020204030204" pitchFamily="34" charset="0"/>
                        </a:rPr>
                        <a:t>varchar</a:t>
                      </a:r>
                      <a:r>
                        <a:rPr lang="it-IT" sz="900" dirty="0"/>
                        <a:t>(255)</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900" b="0" i="0" dirty="0" err="1">
                          <a:latin typeface="Calibri Light" panose="020F0302020204030204" pitchFamily="34" charset="0"/>
                        </a:rPr>
                        <a:t>nullable</a:t>
                      </a:r>
                      <a:r>
                        <a:rPr lang="it-IT" sz="900" dirty="0"/>
                        <a:t>=false</a:t>
                      </a:r>
                    </a:p>
                  </a:txBody>
                  <a:tcPr marL="68580" marR="68580" marT="34290" marB="34290"/>
                </a:tc>
                <a:extLst>
                  <a:ext uri="{0D108BD9-81ED-4DB2-BD59-A6C34878D82A}">
                    <a16:rowId xmlns:a16="http://schemas.microsoft.com/office/drawing/2014/main" val="10002"/>
                  </a:ext>
                </a:extLst>
              </a:tr>
            </a:tbl>
          </a:graphicData>
        </a:graphic>
      </p:graphicFrame>
      <p:graphicFrame>
        <p:nvGraphicFramePr>
          <p:cNvPr id="5" name="Segnaposto contenuto 6"/>
          <p:cNvGraphicFramePr>
            <a:graphicFrameLocks/>
          </p:cNvGraphicFramePr>
          <p:nvPr/>
        </p:nvGraphicFramePr>
        <p:xfrm>
          <a:off x="4023993" y="1200150"/>
          <a:ext cx="2619375" cy="1396596"/>
        </p:xfrm>
        <a:graphic>
          <a:graphicData uri="http://schemas.openxmlformats.org/drawingml/2006/table">
            <a:tbl>
              <a:tblPr firstRow="1" bandRow="1">
                <a:tableStyleId>{21E4AEA4-8DFA-4A89-87EB-49C32662AFE0}</a:tableStyleId>
              </a:tblPr>
              <a:tblGrid>
                <a:gridCol w="918131">
                  <a:extLst>
                    <a:ext uri="{9D8B030D-6E8A-4147-A177-3AD203B41FA5}">
                      <a16:colId xmlns:a16="http://schemas.microsoft.com/office/drawing/2014/main" val="20000"/>
                    </a:ext>
                  </a:extLst>
                </a:gridCol>
                <a:gridCol w="823618">
                  <a:extLst>
                    <a:ext uri="{9D8B030D-6E8A-4147-A177-3AD203B41FA5}">
                      <a16:colId xmlns:a16="http://schemas.microsoft.com/office/drawing/2014/main" val="20001"/>
                    </a:ext>
                  </a:extLst>
                </a:gridCol>
                <a:gridCol w="877626">
                  <a:extLst>
                    <a:ext uri="{9D8B030D-6E8A-4147-A177-3AD203B41FA5}">
                      <a16:colId xmlns:a16="http://schemas.microsoft.com/office/drawing/2014/main" val="20002"/>
                    </a:ext>
                  </a:extLst>
                </a:gridCol>
              </a:tblGrid>
              <a:tr h="205740">
                <a:tc gridSpan="3">
                  <a:txBody>
                    <a:bodyPr/>
                    <a:lstStyle/>
                    <a:p>
                      <a:pPr algn="ctr"/>
                      <a:r>
                        <a:rPr lang="it-IT" sz="900" b="0" i="0" dirty="0">
                          <a:latin typeface="Calibri Light" panose="020F0302020204030204" pitchFamily="34" charset="0"/>
                        </a:rPr>
                        <a:t>studente</a:t>
                      </a:r>
                    </a:p>
                  </a:txBody>
                  <a:tcPr marL="68580" marR="68580" marT="34290" marB="34290"/>
                </a:tc>
                <a:tc hMerge="1">
                  <a:txBody>
                    <a:bodyPr/>
                    <a:lstStyle/>
                    <a:p>
                      <a:pPr algn="ctr"/>
                      <a:endParaRPr lang="it-IT" dirty="0"/>
                    </a:p>
                  </a:txBody>
                  <a:tcPr/>
                </a:tc>
                <a:tc hMerge="1">
                  <a:txBody>
                    <a:bodyPr/>
                    <a:lstStyle/>
                    <a:p>
                      <a:pPr algn="ctr"/>
                      <a:endParaRPr lang="it-IT" dirty="0"/>
                    </a:p>
                  </a:txBody>
                  <a:tcPr/>
                </a:tc>
                <a:extLst>
                  <a:ext uri="{0D108BD9-81ED-4DB2-BD59-A6C34878D82A}">
                    <a16:rowId xmlns:a16="http://schemas.microsoft.com/office/drawing/2014/main" val="10000"/>
                  </a:ext>
                </a:extLst>
              </a:tr>
              <a:tr h="342900">
                <a:tc>
                  <a:txBody>
                    <a:bodyPr/>
                    <a:lstStyle/>
                    <a:p>
                      <a:r>
                        <a:rPr lang="it-IT" sz="900" b="0" i="0" dirty="0">
                          <a:latin typeface="Calibri Light" panose="020F0302020204030204" pitchFamily="34" charset="0"/>
                        </a:rPr>
                        <a:t>matricola</a:t>
                      </a:r>
                    </a:p>
                  </a:txBody>
                  <a:tcPr marL="68580" marR="68580" marT="34290" marB="34290"/>
                </a:tc>
                <a:tc>
                  <a:txBody>
                    <a:bodyPr/>
                    <a:lstStyle/>
                    <a:p>
                      <a:r>
                        <a:rPr lang="it-IT" sz="900" b="0" i="0" dirty="0" err="1">
                          <a:latin typeface="Calibri Light" panose="020F0302020204030204" pitchFamily="34" charset="0"/>
                        </a:rPr>
                        <a:t>character</a:t>
                      </a:r>
                      <a:r>
                        <a:rPr lang="it-IT" sz="900" dirty="0"/>
                        <a:t>(8)</a:t>
                      </a:r>
                    </a:p>
                  </a:txBody>
                  <a:tcPr marL="68580" marR="68580" marT="34290" marB="34290"/>
                </a:tc>
                <a:tc>
                  <a:txBody>
                    <a:bodyPr/>
                    <a:lstStyle/>
                    <a:p>
                      <a:r>
                        <a:rPr lang="it-IT" sz="900" b="0" i="0" dirty="0" err="1">
                          <a:latin typeface="Calibri Light" panose="020F0302020204030204" pitchFamily="34" charset="0"/>
                        </a:rPr>
                        <a:t>nullable</a:t>
                      </a:r>
                      <a:r>
                        <a:rPr lang="it-IT" sz="900" dirty="0"/>
                        <a:t>=false</a:t>
                      </a:r>
                    </a:p>
                    <a:p>
                      <a:r>
                        <a:rPr lang="it-IT" sz="900" dirty="0"/>
                        <a:t>PK</a:t>
                      </a:r>
                    </a:p>
                  </a:txBody>
                  <a:tcPr marL="68580" marR="68580" marT="34290" marB="34290"/>
                </a:tc>
                <a:extLst>
                  <a:ext uri="{0D108BD9-81ED-4DB2-BD59-A6C34878D82A}">
                    <a16:rowId xmlns:a16="http://schemas.microsoft.com/office/drawing/2014/main" val="10001"/>
                  </a:ext>
                </a:extLst>
              </a:tr>
              <a:tr h="211989">
                <a:tc>
                  <a:txBody>
                    <a:bodyPr/>
                    <a:lstStyle/>
                    <a:p>
                      <a:r>
                        <a:rPr lang="it-IT" sz="900" b="0" i="0" dirty="0">
                          <a:latin typeface="Calibri Light" panose="020F0302020204030204" pitchFamily="34" charset="0"/>
                        </a:rPr>
                        <a:t>nome</a:t>
                      </a:r>
                    </a:p>
                  </a:txBody>
                  <a:tcPr marL="68580" marR="68580" marT="34290" marB="34290"/>
                </a:tc>
                <a:tc>
                  <a:txBody>
                    <a:bodyPr/>
                    <a:lstStyle/>
                    <a:p>
                      <a:r>
                        <a:rPr lang="it-IT" sz="900" b="0" i="0" dirty="0" err="1">
                          <a:latin typeface="Calibri Light" panose="020F0302020204030204" pitchFamily="34" charset="0"/>
                        </a:rPr>
                        <a:t>varchar</a:t>
                      </a:r>
                      <a:r>
                        <a:rPr lang="it-IT" sz="900" dirty="0"/>
                        <a:t>(255)</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900" b="0" i="0" dirty="0" err="1">
                          <a:latin typeface="Calibri Light" panose="020F0302020204030204" pitchFamily="34" charset="0"/>
                        </a:rPr>
                        <a:t>nullable</a:t>
                      </a:r>
                      <a:r>
                        <a:rPr lang="it-IT" sz="900" dirty="0"/>
                        <a:t>=false</a:t>
                      </a:r>
                    </a:p>
                  </a:txBody>
                  <a:tcPr marL="68580" marR="68580" marT="34290" marB="34290"/>
                </a:tc>
                <a:extLst>
                  <a:ext uri="{0D108BD9-81ED-4DB2-BD59-A6C34878D82A}">
                    <a16:rowId xmlns:a16="http://schemas.microsoft.com/office/drawing/2014/main" val="10002"/>
                  </a:ext>
                </a:extLst>
              </a:tr>
              <a:tr h="211989">
                <a:tc>
                  <a:txBody>
                    <a:bodyPr/>
                    <a:lstStyle/>
                    <a:p>
                      <a:r>
                        <a:rPr lang="it-IT" sz="900" b="0" i="0" dirty="0" err="1">
                          <a:latin typeface="Calibri Light" panose="020F0302020204030204" pitchFamily="34" charset="0"/>
                        </a:rPr>
                        <a:t>cognme</a:t>
                      </a:r>
                      <a:endParaRPr lang="it-IT" sz="900" dirty="0"/>
                    </a:p>
                  </a:txBody>
                  <a:tcPr marL="68580" marR="68580" marT="34290" marB="34290"/>
                </a:tc>
                <a:tc>
                  <a:txBody>
                    <a:bodyPr/>
                    <a:lstStyle/>
                    <a:p>
                      <a:r>
                        <a:rPr lang="it-IT" sz="900" b="0" i="0" dirty="0" err="1">
                          <a:latin typeface="Calibri Light" panose="020F0302020204030204" pitchFamily="34" charset="0"/>
                        </a:rPr>
                        <a:t>varchar</a:t>
                      </a:r>
                      <a:r>
                        <a:rPr lang="it-IT" sz="900" dirty="0"/>
                        <a:t>(255)</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900" b="0" i="0" dirty="0" err="1">
                          <a:latin typeface="Calibri Light" panose="020F0302020204030204" pitchFamily="34" charset="0"/>
                        </a:rPr>
                        <a:t>nullable</a:t>
                      </a:r>
                      <a:r>
                        <a:rPr lang="it-IT" sz="900" dirty="0"/>
                        <a:t>=false</a:t>
                      </a:r>
                    </a:p>
                  </a:txBody>
                  <a:tcPr marL="68580" marR="68580" marT="34290" marB="34290"/>
                </a:tc>
                <a:extLst>
                  <a:ext uri="{0D108BD9-81ED-4DB2-BD59-A6C34878D82A}">
                    <a16:rowId xmlns:a16="http://schemas.microsoft.com/office/drawing/2014/main" val="10003"/>
                  </a:ext>
                </a:extLst>
              </a:tr>
              <a:tr h="211989">
                <a:tc>
                  <a:txBody>
                    <a:bodyPr/>
                    <a:lstStyle/>
                    <a:p>
                      <a:r>
                        <a:rPr lang="it-IT" sz="900" b="0" i="0" dirty="0" err="1">
                          <a:latin typeface="Calibri Light" panose="020F0302020204030204" pitchFamily="34" charset="0"/>
                        </a:rPr>
                        <a:t>data_nascita</a:t>
                      </a:r>
                      <a:endParaRPr lang="it-IT" sz="900" dirty="0"/>
                    </a:p>
                  </a:txBody>
                  <a:tcPr marL="68580" marR="68580" marT="34290" marB="34290"/>
                </a:tc>
                <a:tc>
                  <a:txBody>
                    <a:bodyPr/>
                    <a:lstStyle/>
                    <a:p>
                      <a:r>
                        <a:rPr lang="it-IT" sz="900" b="0" i="0" dirty="0">
                          <a:latin typeface="Calibri Light" panose="020F0302020204030204" pitchFamily="34" charset="0"/>
                        </a:rPr>
                        <a:t>date</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900" b="0" i="0" dirty="0" err="1">
                          <a:latin typeface="Calibri Light" panose="020F0302020204030204" pitchFamily="34" charset="0"/>
                        </a:rPr>
                        <a:t>nullable</a:t>
                      </a:r>
                      <a:r>
                        <a:rPr lang="it-IT" sz="900" dirty="0"/>
                        <a:t>=</a:t>
                      </a:r>
                      <a:r>
                        <a:rPr lang="it-IT" sz="900" dirty="0" err="1"/>
                        <a:t>true</a:t>
                      </a:r>
                      <a:endParaRPr lang="it-IT" sz="900" dirty="0"/>
                    </a:p>
                  </a:txBody>
                  <a:tcPr marL="68580" marR="68580" marT="34290" marB="34290"/>
                </a:tc>
                <a:extLst>
                  <a:ext uri="{0D108BD9-81ED-4DB2-BD59-A6C34878D82A}">
                    <a16:rowId xmlns:a16="http://schemas.microsoft.com/office/drawing/2014/main" val="10004"/>
                  </a:ext>
                </a:extLst>
              </a:tr>
              <a:tr h="211989">
                <a:tc>
                  <a:txBody>
                    <a:bodyPr/>
                    <a:lstStyle/>
                    <a:p>
                      <a:r>
                        <a:rPr lang="it-IT" sz="900" b="0" i="0" dirty="0" err="1">
                          <a:latin typeface="Calibri Light" panose="020F0302020204030204" pitchFamily="34" charset="0"/>
                        </a:rPr>
                        <a:t>gruppo_id</a:t>
                      </a:r>
                      <a:endParaRPr lang="it-IT" sz="900" dirty="0"/>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900" b="0" i="0" dirty="0" err="1">
                          <a:latin typeface="Calibri Light" panose="020F0302020204030204" pitchFamily="34" charset="0"/>
                        </a:rPr>
                        <a:t>bigint</a:t>
                      </a:r>
                      <a:endParaRPr lang="it-IT" sz="900" dirty="0"/>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900" b="0" i="0" dirty="0">
                          <a:latin typeface="Calibri Light" panose="020F0302020204030204" pitchFamily="34" charset="0"/>
                        </a:rPr>
                        <a:t>FK</a:t>
                      </a:r>
                      <a:r>
                        <a:rPr lang="it-IT" sz="900" baseline="0" dirty="0"/>
                        <a:t> </a:t>
                      </a:r>
                      <a:r>
                        <a:rPr lang="it-IT" sz="900" baseline="0" dirty="0" err="1"/>
                        <a:t>gruppo.id</a:t>
                      </a:r>
                      <a:endParaRPr lang="it-IT" sz="900" dirty="0"/>
                    </a:p>
                  </a:txBody>
                  <a:tcPr marL="68580" marR="68580" marT="34290" marB="34290"/>
                </a:tc>
                <a:extLst>
                  <a:ext uri="{0D108BD9-81ED-4DB2-BD59-A6C34878D82A}">
                    <a16:rowId xmlns:a16="http://schemas.microsoft.com/office/drawing/2014/main" val="10005"/>
                  </a:ext>
                </a:extLst>
              </a:tr>
            </a:tbl>
          </a:graphicData>
        </a:graphic>
      </p:graphicFrame>
      <p:graphicFrame>
        <p:nvGraphicFramePr>
          <p:cNvPr id="6" name="Segnaposto contenuto 6"/>
          <p:cNvGraphicFramePr>
            <a:graphicFrameLocks/>
          </p:cNvGraphicFramePr>
          <p:nvPr/>
        </p:nvGraphicFramePr>
        <p:xfrm>
          <a:off x="1725007" y="3356022"/>
          <a:ext cx="895351" cy="1112520"/>
        </p:xfrm>
        <a:graphic>
          <a:graphicData uri="http://schemas.openxmlformats.org/drawingml/2006/table">
            <a:tbl>
              <a:tblPr firstRow="1" bandRow="1">
                <a:tableStyleId>{72833802-FEF1-4C79-8D5D-14CF1EAF98D9}</a:tableStyleId>
              </a:tblPr>
              <a:tblGrid>
                <a:gridCol w="252962">
                  <a:extLst>
                    <a:ext uri="{9D8B030D-6E8A-4147-A177-3AD203B41FA5}">
                      <a16:colId xmlns:a16="http://schemas.microsoft.com/office/drawing/2014/main" val="20000"/>
                    </a:ext>
                  </a:extLst>
                </a:gridCol>
                <a:gridCol w="642389">
                  <a:extLst>
                    <a:ext uri="{9D8B030D-6E8A-4147-A177-3AD203B41FA5}">
                      <a16:colId xmlns:a16="http://schemas.microsoft.com/office/drawing/2014/main" val="20001"/>
                    </a:ext>
                  </a:extLst>
                </a:gridCol>
              </a:tblGrid>
              <a:tr h="278130">
                <a:tc>
                  <a:txBody>
                    <a:bodyPr/>
                    <a:lstStyle/>
                    <a:p>
                      <a:r>
                        <a:rPr lang="it-IT" sz="800" b="0" i="0" dirty="0">
                          <a:latin typeface="Calibri Light" panose="020F0302020204030204" pitchFamily="34" charset="0"/>
                        </a:rPr>
                        <a:t>ID</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it-IT" sz="800" b="0" i="0" dirty="0">
                          <a:latin typeface="Calibri Light" panose="020F0302020204030204" pitchFamily="34" charset="0"/>
                        </a:rPr>
                        <a:t>NOME</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278130">
                <a:tc>
                  <a:txBody>
                    <a:bodyPr/>
                    <a:lstStyle/>
                    <a:p>
                      <a:r>
                        <a:rPr lang="it-IT" sz="800" b="0" i="0" dirty="0">
                          <a:latin typeface="Calibri Light" panose="020F0302020204030204" pitchFamily="34" charset="0"/>
                        </a:rPr>
                        <a:t>1</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it-IT" sz="800" b="0" i="0" dirty="0">
                          <a:latin typeface="Calibri Light" panose="020F0302020204030204" pitchFamily="34" charset="0"/>
                        </a:rPr>
                        <a:t>Le Mele</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278130">
                <a:tc>
                  <a:txBody>
                    <a:bodyPr/>
                    <a:lstStyle/>
                    <a:p>
                      <a:r>
                        <a:rPr lang="it-IT" sz="800" b="0" i="0" dirty="0">
                          <a:latin typeface="Calibri Light" panose="020F0302020204030204" pitchFamily="34" charset="0"/>
                        </a:rPr>
                        <a:t>2</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it-IT" sz="800" b="0" i="0" dirty="0" err="1">
                          <a:latin typeface="Calibri Light" panose="020F0302020204030204" pitchFamily="34" charset="0"/>
                        </a:rPr>
                        <a:t>Microgeeks</a:t>
                      </a:r>
                      <a:endParaRPr lang="it-IT" sz="8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278130">
                <a:tc>
                  <a:txBody>
                    <a:bodyPr/>
                    <a:lstStyle/>
                    <a:p>
                      <a:r>
                        <a:rPr lang="it-IT" sz="800" b="0" i="0" dirty="0">
                          <a:latin typeface="Calibri Light" panose="020F0302020204030204" pitchFamily="34" charset="0"/>
                        </a:rPr>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800" b="0" i="0" dirty="0">
                          <a:latin typeface="Calibri Light" panose="020F0302020204030204" pitchFamily="34" charset="0"/>
                        </a:rPr>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CasellaDiTesto 6"/>
          <p:cNvSpPr txBox="1"/>
          <p:nvPr/>
        </p:nvSpPr>
        <p:spPr>
          <a:xfrm>
            <a:off x="1867882" y="3102418"/>
            <a:ext cx="692818" cy="300082"/>
          </a:xfrm>
          <a:prstGeom prst="rect">
            <a:avLst/>
          </a:prstGeom>
          <a:noFill/>
        </p:spPr>
        <p:txBody>
          <a:bodyPr wrap="none" rtlCol="0">
            <a:spAutoFit/>
          </a:bodyPr>
          <a:lstStyle/>
          <a:p>
            <a:r>
              <a:rPr lang="it-IT" sz="1350" dirty="0">
                <a:latin typeface="Calibri Light" panose="020F0302020204030204" pitchFamily="34" charset="0"/>
              </a:rPr>
              <a:t>gruppo</a:t>
            </a:r>
          </a:p>
        </p:txBody>
      </p:sp>
      <p:graphicFrame>
        <p:nvGraphicFramePr>
          <p:cNvPr id="8" name="Segnaposto contenuto 6"/>
          <p:cNvGraphicFramePr>
            <a:graphicFrameLocks/>
          </p:cNvGraphicFramePr>
          <p:nvPr/>
        </p:nvGraphicFramePr>
        <p:xfrm>
          <a:off x="4023992" y="3379418"/>
          <a:ext cx="3315018" cy="1112520"/>
        </p:xfrm>
        <a:graphic>
          <a:graphicData uri="http://schemas.openxmlformats.org/drawingml/2006/table">
            <a:tbl>
              <a:tblPr firstRow="1" bandRow="1">
                <a:tableStyleId>{72833802-FEF1-4C79-8D5D-14CF1EAF98D9}</a:tableStyleId>
              </a:tblPr>
              <a:tblGrid>
                <a:gridCol w="593798">
                  <a:extLst>
                    <a:ext uri="{9D8B030D-6E8A-4147-A177-3AD203B41FA5}">
                      <a16:colId xmlns:a16="http://schemas.microsoft.com/office/drawing/2014/main" val="20000"/>
                    </a:ext>
                  </a:extLst>
                </a:gridCol>
                <a:gridCol w="491913">
                  <a:extLst>
                    <a:ext uri="{9D8B030D-6E8A-4147-A177-3AD203B41FA5}">
                      <a16:colId xmlns:a16="http://schemas.microsoft.com/office/drawing/2014/main" val="20001"/>
                    </a:ext>
                  </a:extLst>
                </a:gridCol>
                <a:gridCol w="586109">
                  <a:extLst>
                    <a:ext uri="{9D8B030D-6E8A-4147-A177-3AD203B41FA5}">
                      <a16:colId xmlns:a16="http://schemas.microsoft.com/office/drawing/2014/main" val="20002"/>
                    </a:ext>
                  </a:extLst>
                </a:gridCol>
                <a:gridCol w="732636">
                  <a:extLst>
                    <a:ext uri="{9D8B030D-6E8A-4147-A177-3AD203B41FA5}">
                      <a16:colId xmlns:a16="http://schemas.microsoft.com/office/drawing/2014/main" val="20003"/>
                    </a:ext>
                  </a:extLst>
                </a:gridCol>
                <a:gridCol w="910562">
                  <a:extLst>
                    <a:ext uri="{9D8B030D-6E8A-4147-A177-3AD203B41FA5}">
                      <a16:colId xmlns:a16="http://schemas.microsoft.com/office/drawing/2014/main" val="20004"/>
                    </a:ext>
                  </a:extLst>
                </a:gridCol>
              </a:tblGrid>
              <a:tr h="278130">
                <a:tc>
                  <a:txBody>
                    <a:bodyPr/>
                    <a:lstStyle/>
                    <a:p>
                      <a:r>
                        <a:rPr lang="it-IT" sz="800" b="0" i="0" dirty="0">
                          <a:latin typeface="Calibri Light" panose="020F0302020204030204" pitchFamily="34" charset="0"/>
                        </a:rPr>
                        <a:t>matricola</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it-IT" sz="800" b="0" i="0" dirty="0">
                          <a:latin typeface="Calibri Light" panose="020F0302020204030204" pitchFamily="34" charset="0"/>
                        </a:rPr>
                        <a:t>nome</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it-IT" sz="800" b="0" i="0" dirty="0">
                          <a:latin typeface="Calibri Light" panose="020F0302020204030204" pitchFamily="34" charset="0"/>
                        </a:rPr>
                        <a:t>cognome</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it-IT" sz="800" b="0" i="0" dirty="0" err="1">
                          <a:latin typeface="Calibri Light" panose="020F0302020204030204" pitchFamily="34" charset="0"/>
                        </a:rPr>
                        <a:t>data_nascita</a:t>
                      </a:r>
                      <a:endParaRPr lang="it-IT" sz="8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it-IT" sz="800" b="0" i="0" dirty="0" err="1">
                          <a:latin typeface="Calibri Light" panose="020F0302020204030204" pitchFamily="34" charset="0"/>
                        </a:rPr>
                        <a:t>gruppo_id</a:t>
                      </a:r>
                      <a:endParaRPr lang="it-IT" sz="8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278130">
                <a:tc>
                  <a:txBody>
                    <a:bodyPr/>
                    <a:lstStyle/>
                    <a:p>
                      <a:r>
                        <a:rPr lang="it-IT" sz="800" b="0" i="0" dirty="0">
                          <a:latin typeface="Calibri Light" panose="020F0302020204030204" pitchFamily="34" charset="0"/>
                        </a:rPr>
                        <a:t>00000001</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it-IT" sz="800" b="0" i="0" dirty="0">
                          <a:latin typeface="Calibri Light" panose="020F0302020204030204" pitchFamily="34" charset="0"/>
                        </a:rPr>
                        <a:t>Roberto</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800" b="0" i="0" dirty="0">
                          <a:latin typeface="Calibri Light" panose="020F0302020204030204" pitchFamily="34" charset="0"/>
                        </a:rPr>
                        <a:t>Bianchi</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800" b="0" i="0" dirty="0">
                          <a:latin typeface="Calibri Light" panose="020F0302020204030204" pitchFamily="34" charset="0"/>
                        </a:rPr>
                        <a:t>20/05(1997</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800" b="0" i="0" dirty="0">
                          <a:latin typeface="Calibri Light" panose="020F0302020204030204" pitchFamily="34" charset="0"/>
                        </a:rPr>
                        <a:t>1</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278130">
                <a:tc>
                  <a:txBody>
                    <a:bodyPr/>
                    <a:lstStyle/>
                    <a:p>
                      <a:r>
                        <a:rPr lang="it-IT" sz="800" b="0" i="0" dirty="0">
                          <a:latin typeface="Calibri Light" panose="020F0302020204030204" pitchFamily="34" charset="0"/>
                        </a:rPr>
                        <a:t>00000002</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it-IT" sz="800" b="0" i="0" dirty="0">
                          <a:latin typeface="Calibri Light" panose="020F0302020204030204" pitchFamily="34" charset="0"/>
                        </a:rPr>
                        <a:t>Gilia</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800" b="0" i="0" dirty="0">
                          <a:latin typeface="Calibri Light" panose="020F0302020204030204" pitchFamily="34" charset="0"/>
                        </a:rPr>
                        <a:t>Rossi</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800" b="0" i="0" dirty="0">
                          <a:latin typeface="Calibri Light" panose="020F0302020204030204" pitchFamily="34" charset="0"/>
                        </a:rPr>
                        <a:t>12/02(1997</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800" b="0" i="0" dirty="0">
                          <a:latin typeface="Calibri Light" panose="020F0302020204030204" pitchFamily="34" charset="0"/>
                        </a:rPr>
                        <a:t>1</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278130">
                <a:tc>
                  <a:txBody>
                    <a:bodyPr/>
                    <a:lstStyle/>
                    <a:p>
                      <a:r>
                        <a:rPr lang="it-IT" sz="800" b="0" i="0" dirty="0">
                          <a:latin typeface="Calibri Light" panose="020F0302020204030204" pitchFamily="34" charset="0"/>
                        </a:rPr>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800" b="0" i="0" dirty="0">
                          <a:latin typeface="Calibri Light" panose="020F0302020204030204" pitchFamily="34" charset="0"/>
                        </a:rPr>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800" b="0" i="0" dirty="0">
                          <a:latin typeface="Calibri Light" panose="020F0302020204030204" pitchFamily="34" charset="0"/>
                        </a:rPr>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800" b="0" i="0" dirty="0">
                          <a:latin typeface="Calibri Light" panose="020F0302020204030204" pitchFamily="34" charset="0"/>
                        </a:rPr>
                        <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it-IT" sz="800" b="0" i="0" dirty="0">
                        <a:latin typeface="Calibri Light" panose="020F0302020204030204" pitchFamily="34" charset="0"/>
                      </a:endParaRP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CasellaDiTesto 8"/>
          <p:cNvSpPr txBox="1"/>
          <p:nvPr/>
        </p:nvSpPr>
        <p:spPr>
          <a:xfrm>
            <a:off x="4166868" y="3125814"/>
            <a:ext cx="809261" cy="300082"/>
          </a:xfrm>
          <a:prstGeom prst="rect">
            <a:avLst/>
          </a:prstGeom>
          <a:noFill/>
        </p:spPr>
        <p:txBody>
          <a:bodyPr wrap="none" rtlCol="0">
            <a:spAutoFit/>
          </a:bodyPr>
          <a:lstStyle/>
          <a:p>
            <a:r>
              <a:rPr lang="it-IT" sz="1350" dirty="0">
                <a:latin typeface="Calibri Light" panose="020F0302020204030204" pitchFamily="34" charset="0"/>
              </a:rPr>
              <a:t>studente</a:t>
            </a:r>
          </a:p>
        </p:txBody>
      </p:sp>
    </p:spTree>
    <p:extLst>
      <p:ext uri="{BB962C8B-B14F-4D97-AF65-F5344CB8AC3E}">
        <p14:creationId xmlns:p14="http://schemas.microsoft.com/office/powerpoint/2010/main" val="3920397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err="1"/>
              <a:t>Esempio</a:t>
            </a:r>
            <a:r>
              <a:rPr lang="en-US" dirty="0"/>
              <a:t> di </a:t>
            </a:r>
            <a:r>
              <a:rPr lang="en-US" dirty="0" err="1"/>
              <a:t>riferimento</a:t>
            </a:r>
            <a:endParaRPr lang="en-US" dirty="0"/>
          </a:p>
        </p:txBody>
      </p:sp>
      <p:sp>
        <p:nvSpPr>
          <p:cNvPr id="3" name="Segnaposto contenuto 2"/>
          <p:cNvSpPr>
            <a:spLocks noGrp="1"/>
          </p:cNvSpPr>
          <p:nvPr>
            <p:ph idx="1"/>
          </p:nvPr>
        </p:nvSpPr>
        <p:spPr/>
        <p:txBody>
          <a:bodyPr>
            <a:normAutofit fontScale="92500" lnSpcReduction="20000"/>
          </a:bodyPr>
          <a:lstStyle/>
          <a:p>
            <a:pPr marL="0" indent="0">
              <a:buNone/>
            </a:pPr>
            <a:r>
              <a:rPr lang="en-US" sz="1200" dirty="0">
                <a:solidFill>
                  <a:srgbClr val="7F0055"/>
                </a:solidFill>
              </a:rPr>
              <a:t>public</a:t>
            </a:r>
            <a:r>
              <a:rPr lang="en-US" sz="1200" dirty="0">
                <a:solidFill>
                  <a:srgbClr val="000000"/>
                </a:solidFill>
              </a:rPr>
              <a:t> </a:t>
            </a:r>
            <a:r>
              <a:rPr lang="en-US" sz="1200" dirty="0">
                <a:solidFill>
                  <a:srgbClr val="7F0055"/>
                </a:solidFill>
              </a:rPr>
              <a:t>class</a:t>
            </a:r>
            <a:r>
              <a:rPr lang="en-US" sz="1200" dirty="0">
                <a:solidFill>
                  <a:srgbClr val="000000"/>
                </a:solidFill>
              </a:rPr>
              <a:t> </a:t>
            </a:r>
            <a:r>
              <a:rPr lang="en-US" sz="1200" dirty="0" err="1">
                <a:solidFill>
                  <a:srgbClr val="000000"/>
                </a:solidFill>
              </a:rPr>
              <a:t>Gruppo</a:t>
            </a:r>
            <a:r>
              <a:rPr lang="en-US" sz="1200" dirty="0">
                <a:solidFill>
                  <a:srgbClr val="000000"/>
                </a:solidFill>
              </a:rPr>
              <a:t> {</a:t>
            </a:r>
          </a:p>
          <a:p>
            <a:pPr marL="0" indent="0">
              <a:buNone/>
            </a:pPr>
            <a:r>
              <a:rPr lang="en-US" sz="1200" dirty="0">
                <a:solidFill>
                  <a:srgbClr val="000000"/>
                </a:solidFill>
              </a:rPr>
              <a:t>	</a:t>
            </a:r>
            <a:r>
              <a:rPr lang="en-US" sz="1200" dirty="0">
                <a:solidFill>
                  <a:srgbClr val="7F0055"/>
                </a:solidFill>
              </a:rPr>
              <a:t>private</a:t>
            </a:r>
            <a:r>
              <a:rPr lang="en-US" sz="1200" dirty="0">
                <a:solidFill>
                  <a:srgbClr val="000000"/>
                </a:solidFill>
              </a:rPr>
              <a:t> Long </a:t>
            </a:r>
            <a:r>
              <a:rPr lang="en-US" sz="1200" dirty="0">
                <a:solidFill>
                  <a:srgbClr val="0000C0"/>
                </a:solidFill>
              </a:rPr>
              <a:t>id</a:t>
            </a:r>
            <a:r>
              <a:rPr lang="en-US" sz="1200" dirty="0">
                <a:solidFill>
                  <a:srgbClr val="000000"/>
                </a:solidFill>
              </a:rPr>
              <a:t>;</a:t>
            </a:r>
          </a:p>
          <a:p>
            <a:pPr marL="0" indent="0">
              <a:buNone/>
            </a:pPr>
            <a:r>
              <a:rPr lang="en-US" sz="1200" dirty="0">
                <a:solidFill>
                  <a:srgbClr val="000000"/>
                </a:solidFill>
              </a:rPr>
              <a:t>	</a:t>
            </a:r>
            <a:r>
              <a:rPr lang="en-US" sz="1200" dirty="0">
                <a:solidFill>
                  <a:srgbClr val="7F0055"/>
                </a:solidFill>
              </a:rPr>
              <a:t>private</a:t>
            </a:r>
            <a:r>
              <a:rPr lang="en-US" sz="1200" dirty="0">
                <a:solidFill>
                  <a:srgbClr val="000000"/>
                </a:solidFill>
              </a:rPr>
              <a:t> String </a:t>
            </a:r>
            <a:r>
              <a:rPr lang="en-US" sz="1200" dirty="0" err="1">
                <a:solidFill>
                  <a:srgbClr val="0000C0"/>
                </a:solidFill>
              </a:rPr>
              <a:t>nome</a:t>
            </a:r>
            <a:r>
              <a:rPr lang="en-US" sz="1200" dirty="0">
                <a:solidFill>
                  <a:srgbClr val="000000"/>
                </a:solidFill>
              </a:rPr>
              <a:t>;</a:t>
            </a:r>
          </a:p>
          <a:p>
            <a:pPr marL="0" indent="0">
              <a:buNone/>
            </a:pPr>
            <a:r>
              <a:rPr lang="en-US" sz="1200" dirty="0">
                <a:solidFill>
                  <a:srgbClr val="000000"/>
                </a:solidFill>
              </a:rPr>
              <a:t>	</a:t>
            </a:r>
            <a:r>
              <a:rPr lang="en-US" sz="1200" dirty="0">
                <a:solidFill>
                  <a:srgbClr val="7F0055"/>
                </a:solidFill>
              </a:rPr>
              <a:t>private</a:t>
            </a:r>
            <a:r>
              <a:rPr lang="en-US" sz="1200" dirty="0">
                <a:solidFill>
                  <a:srgbClr val="000000"/>
                </a:solidFill>
              </a:rPr>
              <a:t> Set&lt;</a:t>
            </a:r>
            <a:r>
              <a:rPr lang="en-US" sz="1200" dirty="0" err="1">
                <a:solidFill>
                  <a:srgbClr val="000000"/>
                </a:solidFill>
              </a:rPr>
              <a:t>Studente</a:t>
            </a:r>
            <a:r>
              <a:rPr lang="en-US" sz="1200" dirty="0">
                <a:solidFill>
                  <a:srgbClr val="000000"/>
                </a:solidFill>
              </a:rPr>
              <a:t>&gt; </a:t>
            </a:r>
            <a:r>
              <a:rPr lang="en-US" sz="1200" dirty="0" err="1">
                <a:solidFill>
                  <a:srgbClr val="0000C0"/>
                </a:solidFill>
              </a:rPr>
              <a:t>studenti</a:t>
            </a:r>
            <a:r>
              <a:rPr lang="en-US" sz="1200" dirty="0">
                <a:solidFill>
                  <a:srgbClr val="000000"/>
                </a:solidFill>
              </a:rPr>
              <a:t>;</a:t>
            </a:r>
          </a:p>
          <a:p>
            <a:pPr marL="0" indent="0">
              <a:buNone/>
            </a:pPr>
            <a:endParaRPr lang="en-US" sz="1200" dirty="0"/>
          </a:p>
          <a:p>
            <a:pPr marL="0" indent="0">
              <a:buNone/>
            </a:pPr>
            <a:r>
              <a:rPr lang="en-US" sz="1200" dirty="0">
                <a:solidFill>
                  <a:srgbClr val="000000"/>
                </a:solidFill>
              </a:rPr>
              <a:t>	</a:t>
            </a:r>
            <a:r>
              <a:rPr lang="en-US" sz="1200" dirty="0">
                <a:solidFill>
                  <a:srgbClr val="7F0055"/>
                </a:solidFill>
              </a:rPr>
              <a:t>public</a:t>
            </a:r>
            <a:r>
              <a:rPr lang="en-US" sz="1200" dirty="0">
                <a:solidFill>
                  <a:srgbClr val="000000"/>
                </a:solidFill>
              </a:rPr>
              <a:t> </a:t>
            </a:r>
            <a:r>
              <a:rPr lang="en-US" sz="1200" dirty="0" err="1">
                <a:solidFill>
                  <a:srgbClr val="000000"/>
                </a:solidFill>
              </a:rPr>
              <a:t>Gruppo</a:t>
            </a:r>
            <a:r>
              <a:rPr lang="en-US" sz="1200" dirty="0">
                <a:solidFill>
                  <a:srgbClr val="000000"/>
                </a:solidFill>
              </a:rPr>
              <a:t>(){</a:t>
            </a:r>
          </a:p>
          <a:p>
            <a:pPr marL="0" indent="0">
              <a:buNone/>
            </a:pPr>
            <a:r>
              <a:rPr lang="en-US" sz="1200" dirty="0">
                <a:solidFill>
                  <a:srgbClr val="000000"/>
                </a:solidFill>
              </a:rPr>
              <a:t>		</a:t>
            </a:r>
            <a:r>
              <a:rPr lang="en-US" sz="1200" dirty="0" err="1">
                <a:solidFill>
                  <a:srgbClr val="7F0055"/>
                </a:solidFill>
              </a:rPr>
              <a:t>this</a:t>
            </a:r>
            <a:r>
              <a:rPr lang="en-US" sz="1200" dirty="0" err="1">
                <a:solidFill>
                  <a:srgbClr val="000000"/>
                </a:solidFill>
              </a:rPr>
              <a:t>.</a:t>
            </a:r>
            <a:r>
              <a:rPr lang="en-US" sz="1200" dirty="0" err="1">
                <a:solidFill>
                  <a:srgbClr val="0000C0"/>
                </a:solidFill>
              </a:rPr>
              <a:t>studenti</a:t>
            </a:r>
            <a:r>
              <a:rPr lang="en-US" sz="1200" dirty="0">
                <a:solidFill>
                  <a:srgbClr val="000000"/>
                </a:solidFill>
              </a:rPr>
              <a:t> = </a:t>
            </a:r>
            <a:r>
              <a:rPr lang="en-US" sz="1200" dirty="0">
                <a:solidFill>
                  <a:srgbClr val="7F0055"/>
                </a:solidFill>
              </a:rPr>
              <a:t>new</a:t>
            </a:r>
            <a:r>
              <a:rPr lang="en-US" sz="1200" dirty="0">
                <a:solidFill>
                  <a:srgbClr val="000000"/>
                </a:solidFill>
              </a:rPr>
              <a:t> </a:t>
            </a:r>
            <a:r>
              <a:rPr lang="en-US" sz="1200" dirty="0" err="1">
                <a:solidFill>
                  <a:srgbClr val="000000"/>
                </a:solidFill>
              </a:rPr>
              <a:t>HashSet</a:t>
            </a:r>
            <a:r>
              <a:rPr lang="en-US" sz="1200" dirty="0">
                <a:solidFill>
                  <a:srgbClr val="000000"/>
                </a:solidFill>
              </a:rPr>
              <a:t>&lt;&gt;();</a:t>
            </a:r>
          </a:p>
          <a:p>
            <a:pPr marL="0" indent="0">
              <a:buNone/>
            </a:pPr>
            <a:r>
              <a:rPr lang="en-US" sz="1200" dirty="0">
                <a:solidFill>
                  <a:srgbClr val="000000"/>
                </a:solidFill>
              </a:rPr>
              <a:t>	}</a:t>
            </a:r>
          </a:p>
          <a:p>
            <a:pPr marL="0" indent="0">
              <a:buNone/>
            </a:pPr>
            <a:endParaRPr lang="en-US" sz="1200" dirty="0">
              <a:solidFill>
                <a:srgbClr val="000000"/>
              </a:solidFill>
            </a:endParaRPr>
          </a:p>
          <a:p>
            <a:pPr marL="0" indent="0">
              <a:buNone/>
            </a:pPr>
            <a:r>
              <a:rPr lang="en-US" sz="1200" dirty="0">
                <a:solidFill>
                  <a:srgbClr val="000000"/>
                </a:solidFill>
              </a:rPr>
              <a:t>	// getter e setter </a:t>
            </a:r>
          </a:p>
          <a:p>
            <a:pPr marL="0" indent="0">
              <a:buNone/>
            </a:pPr>
            <a:endParaRPr lang="en-US" sz="1200" dirty="0">
              <a:solidFill>
                <a:srgbClr val="000000"/>
              </a:solidFill>
            </a:endParaRPr>
          </a:p>
          <a:p>
            <a:pPr marL="0" indent="0">
              <a:buNone/>
            </a:pPr>
            <a:r>
              <a:rPr lang="en-US" sz="1200" dirty="0">
                <a:solidFill>
                  <a:srgbClr val="000000"/>
                </a:solidFill>
              </a:rPr>
              <a:t>	</a:t>
            </a:r>
            <a:r>
              <a:rPr lang="en-US" sz="1200" dirty="0">
                <a:solidFill>
                  <a:srgbClr val="7F0055"/>
                </a:solidFill>
              </a:rPr>
              <a:t>public</a:t>
            </a:r>
            <a:r>
              <a:rPr lang="en-US" sz="1200" dirty="0">
                <a:solidFill>
                  <a:srgbClr val="000000"/>
                </a:solidFill>
              </a:rPr>
              <a:t> </a:t>
            </a:r>
            <a:r>
              <a:rPr lang="en-US" sz="1200" dirty="0">
                <a:solidFill>
                  <a:srgbClr val="7F0055"/>
                </a:solidFill>
              </a:rPr>
              <a:t>void</a:t>
            </a:r>
            <a:r>
              <a:rPr lang="en-US" sz="1200" dirty="0">
                <a:solidFill>
                  <a:srgbClr val="000000"/>
                </a:solidFill>
              </a:rPr>
              <a:t> </a:t>
            </a:r>
            <a:r>
              <a:rPr lang="en-US" sz="1200" dirty="0" err="1">
                <a:solidFill>
                  <a:srgbClr val="000000"/>
                </a:solidFill>
              </a:rPr>
              <a:t>addStudente</a:t>
            </a:r>
            <a:r>
              <a:rPr lang="en-US" sz="1200" dirty="0">
                <a:solidFill>
                  <a:srgbClr val="000000"/>
                </a:solidFill>
              </a:rPr>
              <a:t>(</a:t>
            </a:r>
            <a:r>
              <a:rPr lang="en-US" sz="1200" dirty="0" err="1">
                <a:solidFill>
                  <a:srgbClr val="000000"/>
                </a:solidFill>
              </a:rPr>
              <a:t>Studente</a:t>
            </a:r>
            <a:r>
              <a:rPr lang="en-US" sz="1200" dirty="0">
                <a:solidFill>
                  <a:srgbClr val="000000"/>
                </a:solidFill>
              </a:rPr>
              <a:t> </a:t>
            </a:r>
            <a:r>
              <a:rPr lang="en-US" sz="1200" dirty="0" err="1">
                <a:solidFill>
                  <a:srgbClr val="6A3E3E"/>
                </a:solidFill>
              </a:rPr>
              <a:t>studente</a:t>
            </a:r>
            <a:r>
              <a:rPr lang="en-US" sz="1200" dirty="0">
                <a:solidFill>
                  <a:srgbClr val="000000"/>
                </a:solidFill>
              </a:rPr>
              <a:t>){</a:t>
            </a:r>
          </a:p>
          <a:p>
            <a:pPr marL="0" indent="0">
              <a:buNone/>
            </a:pPr>
            <a:r>
              <a:rPr lang="en-US" sz="1200" dirty="0">
                <a:solidFill>
                  <a:srgbClr val="000000"/>
                </a:solidFill>
              </a:rPr>
              <a:t>		</a:t>
            </a:r>
            <a:r>
              <a:rPr lang="en-US" sz="1200" dirty="0" err="1">
                <a:solidFill>
                  <a:srgbClr val="7F0055"/>
                </a:solidFill>
              </a:rPr>
              <a:t>this</a:t>
            </a:r>
            <a:r>
              <a:rPr lang="en-US" sz="1200" dirty="0" err="1">
                <a:solidFill>
                  <a:srgbClr val="000000"/>
                </a:solidFill>
              </a:rPr>
              <a:t>.</a:t>
            </a:r>
            <a:r>
              <a:rPr lang="en-US" sz="1200" dirty="0" err="1">
                <a:solidFill>
                  <a:srgbClr val="0000C0"/>
                </a:solidFill>
              </a:rPr>
              <a:t>getStudenti</a:t>
            </a:r>
            <a:r>
              <a:rPr lang="en-US" sz="1200" dirty="0">
                <a:solidFill>
                  <a:srgbClr val="0000C0"/>
                </a:solidFill>
              </a:rPr>
              <a:t>()</a:t>
            </a:r>
            <a:r>
              <a:rPr lang="en-US" sz="1200" dirty="0">
                <a:solidFill>
                  <a:srgbClr val="000000"/>
                </a:solidFill>
              </a:rPr>
              <a:t>.add(</a:t>
            </a:r>
            <a:r>
              <a:rPr lang="en-US" sz="1200" dirty="0" err="1">
                <a:solidFill>
                  <a:srgbClr val="6A3E3E"/>
                </a:solidFill>
              </a:rPr>
              <a:t>studente</a:t>
            </a:r>
            <a:r>
              <a:rPr lang="en-US" sz="1200" dirty="0">
                <a:solidFill>
                  <a:srgbClr val="000000"/>
                </a:solidFill>
              </a:rPr>
              <a:t>);</a:t>
            </a:r>
          </a:p>
          <a:p>
            <a:pPr marL="0" indent="0">
              <a:buNone/>
            </a:pPr>
            <a:r>
              <a:rPr lang="en-US" sz="1200" dirty="0">
                <a:solidFill>
                  <a:srgbClr val="000000"/>
                </a:solidFill>
              </a:rPr>
              <a:t>	}</a:t>
            </a:r>
          </a:p>
          <a:p>
            <a:pPr marL="0" indent="0">
              <a:buNone/>
            </a:pPr>
            <a:r>
              <a:rPr lang="en-US" sz="1200" dirty="0">
                <a:solidFill>
                  <a:srgbClr val="000000"/>
                </a:solidFill>
              </a:rPr>
              <a:t>	</a:t>
            </a:r>
          </a:p>
          <a:p>
            <a:pPr marL="0" indent="0">
              <a:buNone/>
            </a:pPr>
            <a:r>
              <a:rPr lang="en-US" sz="1200" dirty="0">
                <a:solidFill>
                  <a:srgbClr val="000000"/>
                </a:solidFill>
              </a:rPr>
              <a:t>	</a:t>
            </a:r>
            <a:r>
              <a:rPr lang="en-US" sz="1200" dirty="0">
                <a:solidFill>
                  <a:srgbClr val="7F0055"/>
                </a:solidFill>
              </a:rPr>
              <a:t>public</a:t>
            </a:r>
            <a:r>
              <a:rPr lang="en-US" sz="1200" dirty="0">
                <a:solidFill>
                  <a:srgbClr val="000000"/>
                </a:solidFill>
              </a:rPr>
              <a:t> </a:t>
            </a:r>
            <a:r>
              <a:rPr lang="en-US" sz="1200" dirty="0">
                <a:solidFill>
                  <a:srgbClr val="7F0055"/>
                </a:solidFill>
              </a:rPr>
              <a:t>void</a:t>
            </a:r>
            <a:r>
              <a:rPr lang="en-US" sz="1200" dirty="0">
                <a:solidFill>
                  <a:srgbClr val="000000"/>
                </a:solidFill>
              </a:rPr>
              <a:t> </a:t>
            </a:r>
            <a:r>
              <a:rPr lang="en-US" sz="1200" dirty="0" err="1">
                <a:solidFill>
                  <a:srgbClr val="000000"/>
                </a:solidFill>
              </a:rPr>
              <a:t>removeStudente</a:t>
            </a:r>
            <a:r>
              <a:rPr lang="en-US" sz="1200" dirty="0">
                <a:solidFill>
                  <a:srgbClr val="000000"/>
                </a:solidFill>
              </a:rPr>
              <a:t>(</a:t>
            </a:r>
            <a:r>
              <a:rPr lang="en-US" sz="1200" dirty="0" err="1">
                <a:solidFill>
                  <a:srgbClr val="000000"/>
                </a:solidFill>
              </a:rPr>
              <a:t>Studente</a:t>
            </a:r>
            <a:r>
              <a:rPr lang="en-US" sz="1200" dirty="0">
                <a:solidFill>
                  <a:srgbClr val="000000"/>
                </a:solidFill>
              </a:rPr>
              <a:t> </a:t>
            </a:r>
            <a:r>
              <a:rPr lang="en-US" sz="1200" dirty="0" err="1">
                <a:solidFill>
                  <a:srgbClr val="6A3E3E"/>
                </a:solidFill>
              </a:rPr>
              <a:t>studente</a:t>
            </a:r>
            <a:r>
              <a:rPr lang="en-US" sz="1200" dirty="0">
                <a:solidFill>
                  <a:srgbClr val="000000"/>
                </a:solidFill>
              </a:rPr>
              <a:t>){</a:t>
            </a:r>
          </a:p>
          <a:p>
            <a:pPr marL="0" indent="0">
              <a:buNone/>
            </a:pPr>
            <a:r>
              <a:rPr lang="en-US" sz="1200" dirty="0">
                <a:solidFill>
                  <a:srgbClr val="000000"/>
                </a:solidFill>
              </a:rPr>
              <a:t>		</a:t>
            </a:r>
            <a:r>
              <a:rPr lang="en-US" sz="1200" dirty="0" err="1">
                <a:solidFill>
                  <a:srgbClr val="7F0055"/>
                </a:solidFill>
              </a:rPr>
              <a:t>this</a:t>
            </a:r>
            <a:r>
              <a:rPr lang="en-US" sz="1200" dirty="0" err="1">
                <a:solidFill>
                  <a:srgbClr val="000000"/>
                </a:solidFill>
              </a:rPr>
              <a:t>.</a:t>
            </a:r>
            <a:r>
              <a:rPr lang="en-US" sz="1200" dirty="0" err="1">
                <a:solidFill>
                  <a:srgbClr val="0000C0"/>
                </a:solidFill>
              </a:rPr>
              <a:t>getStudenti</a:t>
            </a:r>
            <a:r>
              <a:rPr lang="en-US" sz="1200" dirty="0">
                <a:solidFill>
                  <a:srgbClr val="0000C0"/>
                </a:solidFill>
              </a:rPr>
              <a:t>()</a:t>
            </a:r>
            <a:r>
              <a:rPr lang="en-US" sz="1200" dirty="0">
                <a:solidFill>
                  <a:srgbClr val="000000"/>
                </a:solidFill>
              </a:rPr>
              <a:t>.remove(</a:t>
            </a:r>
            <a:r>
              <a:rPr lang="en-US" sz="1200" dirty="0" err="1">
                <a:solidFill>
                  <a:srgbClr val="6A3E3E"/>
                </a:solidFill>
              </a:rPr>
              <a:t>studente</a:t>
            </a:r>
            <a:r>
              <a:rPr lang="en-US" sz="1200" dirty="0">
                <a:solidFill>
                  <a:srgbClr val="000000"/>
                </a:solidFill>
              </a:rPr>
              <a:t>);</a:t>
            </a:r>
          </a:p>
          <a:p>
            <a:pPr marL="0" indent="0">
              <a:buNone/>
            </a:pPr>
            <a:r>
              <a:rPr lang="en-US" sz="1200" dirty="0">
                <a:solidFill>
                  <a:srgbClr val="000000"/>
                </a:solidFill>
              </a:rPr>
              <a:t>	}</a:t>
            </a:r>
          </a:p>
          <a:p>
            <a:pPr marL="0" indent="0">
              <a:buNone/>
            </a:pPr>
            <a:r>
              <a:rPr lang="en-US" sz="1200" dirty="0">
                <a:solidFill>
                  <a:srgbClr val="000000"/>
                </a:solidFill>
              </a:rPr>
              <a:t>}</a:t>
            </a:r>
            <a:endParaRPr lang="en-US" sz="1200" dirty="0"/>
          </a:p>
        </p:txBody>
      </p:sp>
    </p:spTree>
    <p:extLst>
      <p:ext uri="{BB962C8B-B14F-4D97-AF65-F5344CB8AC3E}">
        <p14:creationId xmlns:p14="http://schemas.microsoft.com/office/powerpoint/2010/main" val="3549341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err="1"/>
              <a:t>Esempio</a:t>
            </a:r>
            <a:r>
              <a:rPr lang="en-US" dirty="0"/>
              <a:t> di </a:t>
            </a:r>
            <a:r>
              <a:rPr lang="en-US" dirty="0" err="1"/>
              <a:t>riferimento</a:t>
            </a:r>
            <a:endParaRPr lang="en-US" dirty="0"/>
          </a:p>
        </p:txBody>
      </p:sp>
      <p:sp>
        <p:nvSpPr>
          <p:cNvPr id="3" name="Segnaposto contenuto 2"/>
          <p:cNvSpPr>
            <a:spLocks noGrp="1"/>
          </p:cNvSpPr>
          <p:nvPr>
            <p:ph idx="1"/>
          </p:nvPr>
        </p:nvSpPr>
        <p:spPr/>
        <p:txBody>
          <a:bodyPr>
            <a:normAutofit/>
          </a:bodyPr>
          <a:lstStyle/>
          <a:p>
            <a:pPr marL="0" indent="0">
              <a:buNone/>
            </a:pPr>
            <a:r>
              <a:rPr lang="en-US" sz="1350" dirty="0">
                <a:solidFill>
                  <a:srgbClr val="7F0055"/>
                </a:solidFill>
              </a:rPr>
              <a:t>public</a:t>
            </a:r>
            <a:r>
              <a:rPr lang="en-US" sz="1350" dirty="0">
                <a:solidFill>
                  <a:srgbClr val="000000"/>
                </a:solidFill>
              </a:rPr>
              <a:t> </a:t>
            </a:r>
            <a:r>
              <a:rPr lang="en-US" sz="1350" dirty="0">
                <a:solidFill>
                  <a:srgbClr val="7F0055"/>
                </a:solidFill>
              </a:rPr>
              <a:t>class</a:t>
            </a:r>
            <a:r>
              <a:rPr lang="en-US" sz="1350" dirty="0">
                <a:solidFill>
                  <a:srgbClr val="000000"/>
                </a:solidFill>
              </a:rPr>
              <a:t> </a:t>
            </a:r>
            <a:r>
              <a:rPr lang="en-US" sz="1350" dirty="0" err="1">
                <a:solidFill>
                  <a:srgbClr val="000000"/>
                </a:solidFill>
              </a:rPr>
              <a:t>Studente</a:t>
            </a:r>
            <a:r>
              <a:rPr lang="en-US" sz="1350" dirty="0">
                <a:solidFill>
                  <a:srgbClr val="000000"/>
                </a:solidFill>
              </a:rPr>
              <a:t> {</a:t>
            </a:r>
          </a:p>
          <a:p>
            <a:pPr marL="0" indent="0">
              <a:buNone/>
            </a:pPr>
            <a:r>
              <a:rPr lang="en-US" sz="1350" dirty="0">
                <a:solidFill>
                  <a:srgbClr val="000000"/>
                </a:solidFill>
              </a:rPr>
              <a:t>	</a:t>
            </a:r>
            <a:r>
              <a:rPr lang="en-US" sz="1350" dirty="0">
                <a:solidFill>
                  <a:srgbClr val="7F0055"/>
                </a:solidFill>
              </a:rPr>
              <a:t>private</a:t>
            </a:r>
            <a:r>
              <a:rPr lang="en-US" sz="1350" dirty="0">
                <a:solidFill>
                  <a:srgbClr val="000000"/>
                </a:solidFill>
              </a:rPr>
              <a:t> String </a:t>
            </a:r>
            <a:r>
              <a:rPr lang="en-US" sz="1350" dirty="0" err="1">
                <a:solidFill>
                  <a:srgbClr val="0000C0"/>
                </a:solidFill>
              </a:rPr>
              <a:t>matricola</a:t>
            </a:r>
            <a:r>
              <a:rPr lang="en-US" sz="1350" dirty="0">
                <a:solidFill>
                  <a:srgbClr val="000000"/>
                </a:solidFill>
              </a:rPr>
              <a:t>;</a:t>
            </a:r>
          </a:p>
          <a:p>
            <a:pPr marL="0" indent="0">
              <a:buNone/>
            </a:pPr>
            <a:r>
              <a:rPr lang="en-US" sz="1350" dirty="0">
                <a:solidFill>
                  <a:srgbClr val="000000"/>
                </a:solidFill>
              </a:rPr>
              <a:t>	</a:t>
            </a:r>
            <a:r>
              <a:rPr lang="en-US" sz="1350" dirty="0">
                <a:solidFill>
                  <a:srgbClr val="7F0055"/>
                </a:solidFill>
              </a:rPr>
              <a:t>private</a:t>
            </a:r>
            <a:r>
              <a:rPr lang="en-US" sz="1350" dirty="0">
                <a:solidFill>
                  <a:srgbClr val="000000"/>
                </a:solidFill>
              </a:rPr>
              <a:t> String </a:t>
            </a:r>
            <a:r>
              <a:rPr lang="en-US" sz="1350" dirty="0" err="1">
                <a:solidFill>
                  <a:srgbClr val="0000C0"/>
                </a:solidFill>
              </a:rPr>
              <a:t>nome</a:t>
            </a:r>
            <a:r>
              <a:rPr lang="en-US" sz="1350" dirty="0">
                <a:solidFill>
                  <a:srgbClr val="000000"/>
                </a:solidFill>
              </a:rPr>
              <a:t>;</a:t>
            </a:r>
          </a:p>
          <a:p>
            <a:pPr marL="0" indent="0">
              <a:buNone/>
            </a:pPr>
            <a:r>
              <a:rPr lang="en-US" sz="1350" dirty="0">
                <a:solidFill>
                  <a:srgbClr val="000000"/>
                </a:solidFill>
              </a:rPr>
              <a:t>	</a:t>
            </a:r>
            <a:r>
              <a:rPr lang="en-US" sz="1350" dirty="0">
                <a:solidFill>
                  <a:srgbClr val="7F0055"/>
                </a:solidFill>
              </a:rPr>
              <a:t>private</a:t>
            </a:r>
            <a:r>
              <a:rPr lang="en-US" sz="1350" dirty="0">
                <a:solidFill>
                  <a:srgbClr val="000000"/>
                </a:solidFill>
              </a:rPr>
              <a:t> String </a:t>
            </a:r>
            <a:r>
              <a:rPr lang="en-US" sz="1350" dirty="0" err="1">
                <a:solidFill>
                  <a:srgbClr val="0000C0"/>
                </a:solidFill>
              </a:rPr>
              <a:t>cognome</a:t>
            </a:r>
            <a:r>
              <a:rPr lang="en-US" sz="1350" dirty="0">
                <a:solidFill>
                  <a:srgbClr val="000000"/>
                </a:solidFill>
              </a:rPr>
              <a:t>;</a:t>
            </a:r>
          </a:p>
          <a:p>
            <a:pPr marL="0" indent="0">
              <a:buNone/>
            </a:pPr>
            <a:r>
              <a:rPr lang="en-US" sz="1350" dirty="0">
                <a:solidFill>
                  <a:srgbClr val="000000"/>
                </a:solidFill>
              </a:rPr>
              <a:t>	</a:t>
            </a:r>
            <a:r>
              <a:rPr lang="en-US" sz="1350" dirty="0">
                <a:solidFill>
                  <a:srgbClr val="7F0055"/>
                </a:solidFill>
              </a:rPr>
              <a:t>private</a:t>
            </a:r>
            <a:r>
              <a:rPr lang="en-US" sz="1350" dirty="0">
                <a:solidFill>
                  <a:srgbClr val="000000"/>
                </a:solidFill>
              </a:rPr>
              <a:t> Date </a:t>
            </a:r>
            <a:r>
              <a:rPr lang="en-US" sz="1350" dirty="0" err="1">
                <a:solidFill>
                  <a:srgbClr val="0000C0"/>
                </a:solidFill>
              </a:rPr>
              <a:t>dataNascita</a:t>
            </a:r>
            <a:r>
              <a:rPr lang="en-US" sz="1350" dirty="0">
                <a:solidFill>
                  <a:srgbClr val="000000"/>
                </a:solidFill>
              </a:rPr>
              <a:t>;</a:t>
            </a:r>
          </a:p>
          <a:p>
            <a:pPr marL="0" indent="0">
              <a:buNone/>
            </a:pPr>
            <a:endParaRPr lang="en-US" sz="1350" dirty="0"/>
          </a:p>
          <a:p>
            <a:pPr marL="0" indent="0">
              <a:buNone/>
            </a:pPr>
            <a:r>
              <a:rPr lang="en-US" sz="1350" dirty="0">
                <a:solidFill>
                  <a:srgbClr val="000000"/>
                </a:solidFill>
              </a:rPr>
              <a:t>	</a:t>
            </a:r>
            <a:r>
              <a:rPr lang="en-US" sz="1350" dirty="0">
                <a:solidFill>
                  <a:srgbClr val="7F0055"/>
                </a:solidFill>
              </a:rPr>
              <a:t>public</a:t>
            </a:r>
            <a:r>
              <a:rPr lang="en-US" sz="1350" dirty="0">
                <a:solidFill>
                  <a:srgbClr val="000000"/>
                </a:solidFill>
              </a:rPr>
              <a:t> </a:t>
            </a:r>
            <a:r>
              <a:rPr lang="en-US" sz="1350" dirty="0" err="1">
                <a:solidFill>
                  <a:srgbClr val="000000"/>
                </a:solidFill>
              </a:rPr>
              <a:t>Studente</a:t>
            </a:r>
            <a:r>
              <a:rPr lang="en-US" sz="1350" dirty="0">
                <a:solidFill>
                  <a:srgbClr val="000000"/>
                </a:solidFill>
              </a:rPr>
              <a:t>(){}</a:t>
            </a:r>
          </a:p>
          <a:p>
            <a:pPr marL="0" indent="0">
              <a:buNone/>
            </a:pPr>
            <a:endParaRPr lang="en-US" sz="1350" dirty="0">
              <a:solidFill>
                <a:srgbClr val="000000"/>
              </a:solidFill>
            </a:endParaRPr>
          </a:p>
          <a:p>
            <a:pPr marL="0" indent="0">
              <a:buNone/>
            </a:pPr>
            <a:r>
              <a:rPr lang="en-US" sz="1350" dirty="0">
                <a:solidFill>
                  <a:srgbClr val="000000"/>
                </a:solidFill>
              </a:rPr>
              <a:t>	// getter e setter</a:t>
            </a:r>
          </a:p>
          <a:p>
            <a:pPr marL="0" indent="0">
              <a:buNone/>
            </a:pPr>
            <a:r>
              <a:rPr lang="en-US" sz="1350" dirty="0">
                <a:solidFill>
                  <a:srgbClr val="000000"/>
                </a:solidFill>
              </a:rPr>
              <a:t>	// </a:t>
            </a:r>
            <a:r>
              <a:rPr lang="en-US" sz="1350" dirty="0" err="1">
                <a:solidFill>
                  <a:srgbClr val="000000"/>
                </a:solidFill>
              </a:rPr>
              <a:t>hashCode</a:t>
            </a:r>
            <a:r>
              <a:rPr lang="en-US" sz="1350" dirty="0">
                <a:solidFill>
                  <a:srgbClr val="000000"/>
                </a:solidFill>
              </a:rPr>
              <a:t> e equals</a:t>
            </a:r>
          </a:p>
          <a:p>
            <a:pPr marL="0" indent="0">
              <a:buNone/>
            </a:pPr>
            <a:endParaRPr lang="en-US" sz="1350" dirty="0">
              <a:solidFill>
                <a:srgbClr val="000000"/>
              </a:solidFill>
            </a:endParaRPr>
          </a:p>
          <a:p>
            <a:pPr marL="0" indent="0">
              <a:buNone/>
            </a:pPr>
            <a:r>
              <a:rPr lang="en-US" sz="1350" dirty="0">
                <a:solidFill>
                  <a:srgbClr val="000000"/>
                </a:solidFill>
              </a:rPr>
              <a:t>}</a:t>
            </a:r>
          </a:p>
          <a:p>
            <a:pPr marL="0" indent="0">
              <a:buNone/>
            </a:pPr>
            <a:endParaRPr lang="en-US" sz="1350" dirty="0"/>
          </a:p>
          <a:p>
            <a:pPr marL="0" indent="0">
              <a:buNone/>
            </a:pPr>
            <a:endParaRPr lang="en-US" sz="1350" dirty="0"/>
          </a:p>
        </p:txBody>
      </p:sp>
    </p:spTree>
    <p:extLst>
      <p:ext uri="{BB962C8B-B14F-4D97-AF65-F5344CB8AC3E}">
        <p14:creationId xmlns:p14="http://schemas.microsoft.com/office/powerpoint/2010/main" val="4053845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a:bodyPr>
          <a:lstStyle/>
          <a:p>
            <a:pPr eaLnBrk="1" hangingPunct="1"/>
            <a:r>
              <a:rPr lang="it-IT" dirty="0"/>
              <a:t>Ricostruzione degli oggetti dal </a:t>
            </a:r>
            <a:r>
              <a:rPr lang="it-IT" dirty="0" err="1"/>
              <a:t>db</a:t>
            </a:r>
            <a:endParaRPr lang="en-US" dirty="0"/>
          </a:p>
        </p:txBody>
      </p:sp>
      <p:sp>
        <p:nvSpPr>
          <p:cNvPr id="32771" name="Rectangle 3"/>
          <p:cNvSpPr>
            <a:spLocks noGrp="1" noChangeArrowheads="1"/>
          </p:cNvSpPr>
          <p:nvPr>
            <p:ph idx="1"/>
          </p:nvPr>
        </p:nvSpPr>
        <p:spPr/>
        <p:txBody>
          <a:bodyPr>
            <a:normAutofit fontScale="77500" lnSpcReduction="20000"/>
          </a:bodyPr>
          <a:lstStyle/>
          <a:p>
            <a:pPr eaLnBrk="1" hangingPunct="1">
              <a:lnSpc>
                <a:spcPct val="120000"/>
              </a:lnSpc>
              <a:defRPr/>
            </a:pPr>
            <a:r>
              <a:rPr lang="it-IT" sz="2625" dirty="0"/>
              <a:t>Consideriamo la ricostruzione di un oggetto </a:t>
            </a:r>
            <a:r>
              <a:rPr lang="it-IT" sz="2625" b="1" dirty="0">
                <a:latin typeface="Courier New" pitchFamily="49" charset="0"/>
              </a:rPr>
              <a:t>Gruppo</a:t>
            </a:r>
            <a:r>
              <a:rPr lang="it-IT" sz="2625" dirty="0"/>
              <a:t>, ad esempio per definire il metodo </a:t>
            </a:r>
            <a:br>
              <a:rPr lang="it-IT" sz="2625" dirty="0"/>
            </a:br>
            <a:r>
              <a:rPr lang="it-IT" sz="2625" b="1" dirty="0">
                <a:latin typeface="Courier New" pitchFamily="49" charset="0"/>
              </a:rPr>
              <a:t>Gruppo </a:t>
            </a:r>
            <a:r>
              <a:rPr lang="it-IT" sz="2625" b="1" dirty="0" err="1">
                <a:latin typeface="Courier New" pitchFamily="49" charset="0"/>
              </a:rPr>
              <a:t>findById</a:t>
            </a:r>
            <a:r>
              <a:rPr lang="it-IT" sz="2625" b="1" dirty="0">
                <a:latin typeface="Courier New" pitchFamily="49" charset="0"/>
              </a:rPr>
              <a:t>(Long id)</a:t>
            </a:r>
            <a:endParaRPr lang="it-IT" sz="2625" dirty="0"/>
          </a:p>
          <a:p>
            <a:pPr lvl="1" eaLnBrk="1" hangingPunct="1">
              <a:lnSpc>
                <a:spcPct val="120000"/>
              </a:lnSpc>
              <a:defRPr/>
            </a:pPr>
            <a:r>
              <a:rPr lang="it-IT" sz="1800" dirty="0"/>
              <a:t>nella classe </a:t>
            </a:r>
            <a:r>
              <a:rPr lang="it-IT" sz="1800" b="1" dirty="0">
                <a:latin typeface="Courier New" pitchFamily="49" charset="0"/>
              </a:rPr>
              <a:t>Gruppo</a:t>
            </a:r>
            <a:r>
              <a:rPr lang="it-IT" sz="1800" dirty="0"/>
              <a:t>: </a:t>
            </a:r>
          </a:p>
          <a:p>
            <a:pPr lvl="2" eaLnBrk="1" hangingPunct="1">
              <a:lnSpc>
                <a:spcPct val="120000"/>
              </a:lnSpc>
              <a:defRPr/>
            </a:pPr>
            <a:r>
              <a:rPr lang="it-IT" sz="1500" dirty="0"/>
              <a:t>una collezione di riferimenti a oggetti </a:t>
            </a:r>
            <a:r>
              <a:rPr lang="it-IT" sz="1500" b="1" dirty="0">
                <a:latin typeface="Courier New" pitchFamily="49" charset="0"/>
              </a:rPr>
              <a:t>Studente</a:t>
            </a:r>
            <a:r>
              <a:rPr lang="it-IT" sz="1500" dirty="0"/>
              <a:t>; </a:t>
            </a:r>
          </a:p>
          <a:p>
            <a:pPr lvl="1" eaLnBrk="1" hangingPunct="1">
              <a:lnSpc>
                <a:spcPct val="120000"/>
              </a:lnSpc>
              <a:defRPr/>
            </a:pPr>
            <a:r>
              <a:rPr lang="it-IT" sz="1800" dirty="0"/>
              <a:t>nel database: </a:t>
            </a:r>
          </a:p>
          <a:p>
            <a:pPr lvl="2" eaLnBrk="1" hangingPunct="1">
              <a:lnSpc>
                <a:spcPct val="120000"/>
              </a:lnSpc>
              <a:defRPr/>
            </a:pPr>
            <a:r>
              <a:rPr lang="it-IT" sz="1500" dirty="0"/>
              <a:t>tabella </a:t>
            </a:r>
            <a:r>
              <a:rPr lang="it-IT" sz="1500" b="1" dirty="0">
                <a:latin typeface="Courier New" pitchFamily="49" charset="0"/>
              </a:rPr>
              <a:t>gruppo</a:t>
            </a:r>
          </a:p>
          <a:p>
            <a:pPr lvl="2" eaLnBrk="1" hangingPunct="1">
              <a:lnSpc>
                <a:spcPct val="120000"/>
              </a:lnSpc>
              <a:defRPr/>
            </a:pPr>
            <a:r>
              <a:rPr lang="it-IT" sz="1500" dirty="0"/>
              <a:t>tabella </a:t>
            </a:r>
            <a:r>
              <a:rPr lang="it-IT" sz="1500" b="1" dirty="0">
                <a:latin typeface="Courier New" pitchFamily="49" charset="0"/>
              </a:rPr>
              <a:t>studente </a:t>
            </a:r>
            <a:r>
              <a:rPr lang="it-IT" sz="1500" dirty="0"/>
              <a:t>(</a:t>
            </a:r>
            <a:r>
              <a:rPr lang="it-IT" sz="1500" dirty="0" err="1"/>
              <a:t>foreign</a:t>
            </a:r>
            <a:r>
              <a:rPr lang="it-IT" sz="1500" dirty="0"/>
              <a:t> </a:t>
            </a:r>
            <a:r>
              <a:rPr lang="it-IT" sz="1500" dirty="0" err="1"/>
              <a:t>key</a:t>
            </a:r>
            <a:r>
              <a:rPr lang="it-IT" sz="1500" dirty="0"/>
              <a:t> con </a:t>
            </a:r>
            <a:r>
              <a:rPr lang="it-IT" sz="1500" b="1" dirty="0">
                <a:latin typeface="Courier New" pitchFamily="49" charset="0"/>
              </a:rPr>
              <a:t>gruppo</a:t>
            </a:r>
            <a:r>
              <a:rPr lang="it-IT" sz="1575" dirty="0"/>
              <a:t>)</a:t>
            </a:r>
          </a:p>
          <a:p>
            <a:pPr eaLnBrk="1" hangingPunct="1">
              <a:lnSpc>
                <a:spcPct val="120000"/>
              </a:lnSpc>
              <a:defRPr/>
            </a:pPr>
            <a:r>
              <a:rPr lang="it-IT" sz="2625" dirty="0"/>
              <a:t>Per ricostruire un oggetto </a:t>
            </a:r>
            <a:r>
              <a:rPr lang="it-IT" sz="2625" b="1" dirty="0">
                <a:latin typeface="Courier New" pitchFamily="49" charset="0"/>
              </a:rPr>
              <a:t>Gruppo </a:t>
            </a:r>
            <a:r>
              <a:rPr lang="it-IT" sz="2625" dirty="0"/>
              <a:t>"completo" devo ricostruire la collezione di oggetti </a:t>
            </a:r>
            <a:r>
              <a:rPr lang="it-IT" sz="2625" b="1" dirty="0">
                <a:latin typeface="Courier New" pitchFamily="49" charset="0"/>
              </a:rPr>
              <a:t>Studente </a:t>
            </a:r>
            <a:r>
              <a:rPr lang="it-IT" sz="2625" dirty="0"/>
              <a:t>(e anche questi oggetti devono essere "completi"?!)</a:t>
            </a:r>
            <a:endParaRPr lang="en-US" sz="2925" b="1" dirty="0">
              <a:latin typeface="Courier New" pitchFamily="49" charset="0"/>
            </a:endParaRPr>
          </a:p>
        </p:txBody>
      </p:sp>
    </p:spTree>
    <p:extLst>
      <p:ext uri="{BB962C8B-B14F-4D97-AF65-F5344CB8AC3E}">
        <p14:creationId xmlns:p14="http://schemas.microsoft.com/office/powerpoint/2010/main" val="2373246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pPr eaLnBrk="1" hangingPunct="1"/>
            <a:r>
              <a:rPr lang="it-IT" dirty="0"/>
              <a:t>Ricostruzione degli oggetti dal </a:t>
            </a:r>
            <a:r>
              <a:rPr lang="it-IT" dirty="0" err="1"/>
              <a:t>db</a:t>
            </a:r>
            <a:endParaRPr lang="en-US" dirty="0"/>
          </a:p>
        </p:txBody>
      </p:sp>
      <p:sp>
        <p:nvSpPr>
          <p:cNvPr id="20483" name="Rectangle 3"/>
          <p:cNvSpPr>
            <a:spLocks noGrp="1" noChangeArrowheads="1"/>
          </p:cNvSpPr>
          <p:nvPr>
            <p:ph idx="1"/>
          </p:nvPr>
        </p:nvSpPr>
        <p:spPr/>
        <p:txBody>
          <a:bodyPr>
            <a:normAutofit fontScale="92500" lnSpcReduction="20000"/>
          </a:bodyPr>
          <a:lstStyle/>
          <a:p>
            <a:pPr eaLnBrk="1" hangingPunct="1">
              <a:lnSpc>
                <a:spcPct val="120000"/>
              </a:lnSpc>
            </a:pPr>
            <a:r>
              <a:rPr lang="it-IT" dirty="0"/>
              <a:t>Come ricostruiamo l'oggetto </a:t>
            </a:r>
            <a:r>
              <a:rPr lang="it-IT" b="1" dirty="0">
                <a:latin typeface="Courier New" charset="0"/>
              </a:rPr>
              <a:t>Gruppo </a:t>
            </a:r>
            <a:r>
              <a:rPr lang="it-IT" dirty="0"/>
              <a:t>"completo"?</a:t>
            </a:r>
          </a:p>
          <a:p>
            <a:pPr eaLnBrk="1" hangingPunct="1">
              <a:lnSpc>
                <a:spcPct val="120000"/>
              </a:lnSpc>
            </a:pPr>
            <a:r>
              <a:rPr lang="it-IT" dirty="0"/>
              <a:t>Se voglio ricostruire la collezione di riferimenti agli studenti</a:t>
            </a:r>
          </a:p>
          <a:p>
            <a:pPr lvl="1" eaLnBrk="1" hangingPunct="1">
              <a:lnSpc>
                <a:spcPct val="120000"/>
              </a:lnSpc>
            </a:pPr>
            <a:r>
              <a:rPr lang="it-IT" dirty="0"/>
              <a:t>eseguo un join tra le tabelle </a:t>
            </a:r>
            <a:r>
              <a:rPr lang="it-IT" b="1" dirty="0">
                <a:latin typeface="Courier New" charset="0"/>
              </a:rPr>
              <a:t>gruppo</a:t>
            </a:r>
            <a:r>
              <a:rPr lang="it-IT" b="1" dirty="0"/>
              <a:t> </a:t>
            </a:r>
            <a:r>
              <a:rPr lang="it-IT" dirty="0"/>
              <a:t>e  </a:t>
            </a:r>
            <a:r>
              <a:rPr lang="it-IT" b="1" dirty="0">
                <a:latin typeface="Courier New" charset="0"/>
              </a:rPr>
              <a:t>studente</a:t>
            </a:r>
          </a:p>
          <a:p>
            <a:pPr lvl="1" eaLnBrk="1" hangingPunct="1">
              <a:lnSpc>
                <a:spcPct val="120000"/>
              </a:lnSpc>
            </a:pPr>
            <a:r>
              <a:rPr lang="it-IT" dirty="0"/>
              <a:t>itero sul </a:t>
            </a:r>
            <a:r>
              <a:rPr lang="it-IT" b="1" dirty="0" err="1">
                <a:latin typeface="Courier New" charset="0"/>
              </a:rPr>
              <a:t>ResultSet</a:t>
            </a:r>
            <a:r>
              <a:rPr lang="it-IT" dirty="0"/>
              <a:t> e costruisco i vari oggetti </a:t>
            </a:r>
            <a:r>
              <a:rPr lang="it-IT" b="1" dirty="0">
                <a:latin typeface="Courier New" charset="0"/>
              </a:rPr>
              <a:t>Gruppo</a:t>
            </a:r>
            <a:r>
              <a:rPr lang="it-IT" b="1" dirty="0"/>
              <a:t> </a:t>
            </a:r>
            <a:r>
              <a:rPr lang="it-IT" dirty="0"/>
              <a:t>e </a:t>
            </a:r>
            <a:r>
              <a:rPr lang="it-IT" b="1" dirty="0">
                <a:latin typeface="Courier New" charset="0"/>
              </a:rPr>
              <a:t> Studente</a:t>
            </a:r>
            <a:r>
              <a:rPr lang="it-IT" dirty="0"/>
              <a:t> (aggiungendone i riferimenti alla collezione)</a:t>
            </a:r>
          </a:p>
          <a:p>
            <a:pPr eaLnBrk="1" hangingPunct="1">
              <a:lnSpc>
                <a:spcPct val="120000"/>
              </a:lnSpc>
            </a:pPr>
            <a:r>
              <a:rPr lang="it-IT" dirty="0"/>
              <a:t>NB: che join usiamo?</a:t>
            </a:r>
          </a:p>
          <a:p>
            <a:pPr lvl="1" eaLnBrk="1" hangingPunct="1">
              <a:lnSpc>
                <a:spcPct val="120000"/>
              </a:lnSpc>
            </a:pPr>
            <a:r>
              <a:rPr lang="it-IT" dirty="0"/>
              <a:t>è possibile che nella tabella </a:t>
            </a:r>
            <a:r>
              <a:rPr lang="it-IT" b="1" dirty="0">
                <a:latin typeface="Courier New" charset="0"/>
                <a:cs typeface="Courier New" charset="0"/>
              </a:rPr>
              <a:t>gruppo </a:t>
            </a:r>
            <a:r>
              <a:rPr lang="it-IT" dirty="0"/>
              <a:t>ci siano </a:t>
            </a:r>
            <a:r>
              <a:rPr lang="it-IT" dirty="0" err="1"/>
              <a:t>tuple</a:t>
            </a:r>
            <a:r>
              <a:rPr lang="it-IT" dirty="0"/>
              <a:t> per le quali non ci sono righe nella tabella </a:t>
            </a:r>
            <a:r>
              <a:rPr lang="it-IT" b="1" dirty="0">
                <a:latin typeface="Courier New" charset="0"/>
                <a:cs typeface="Courier New" charset="0"/>
              </a:rPr>
              <a:t>studente</a:t>
            </a:r>
            <a:r>
              <a:rPr lang="it-IT" dirty="0"/>
              <a:t>?</a:t>
            </a:r>
          </a:p>
          <a:p>
            <a:pPr lvl="1" eaLnBrk="1" hangingPunct="1">
              <a:lnSpc>
                <a:spcPct val="120000"/>
              </a:lnSpc>
            </a:pPr>
            <a:r>
              <a:rPr lang="it-IT" dirty="0"/>
              <a:t>se la risposta è SI, allora devo usare un </a:t>
            </a:r>
            <a:r>
              <a:rPr lang="it-IT" i="1" dirty="0" err="1"/>
              <a:t>outer</a:t>
            </a:r>
            <a:r>
              <a:rPr lang="it-IT" i="1" dirty="0"/>
              <a:t> join</a:t>
            </a:r>
          </a:p>
        </p:txBody>
      </p:sp>
    </p:spTree>
    <p:extLst>
      <p:ext uri="{BB962C8B-B14F-4D97-AF65-F5344CB8AC3E}">
        <p14:creationId xmlns:p14="http://schemas.microsoft.com/office/powerpoint/2010/main" val="1278695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err="1"/>
              <a:t>Esempio</a:t>
            </a:r>
            <a:endParaRPr lang="en-US" dirty="0"/>
          </a:p>
        </p:txBody>
      </p:sp>
      <p:sp>
        <p:nvSpPr>
          <p:cNvPr id="3" name="Segnaposto contenuto 2"/>
          <p:cNvSpPr>
            <a:spLocks noGrp="1"/>
          </p:cNvSpPr>
          <p:nvPr>
            <p:ph idx="1"/>
          </p:nvPr>
        </p:nvSpPr>
        <p:spPr/>
        <p:txBody>
          <a:bodyPr>
            <a:normAutofit/>
          </a:bodyPr>
          <a:lstStyle/>
          <a:p>
            <a:r>
              <a:rPr lang="en-US" dirty="0" err="1"/>
              <a:t>Scriviamo</a:t>
            </a:r>
            <a:r>
              <a:rPr lang="en-US" dirty="0"/>
              <a:t> la </a:t>
            </a:r>
            <a:r>
              <a:rPr lang="en-US" dirty="0" err="1"/>
              <a:t>classe</a:t>
            </a:r>
            <a:r>
              <a:rPr lang="en-US" dirty="0"/>
              <a:t> </a:t>
            </a:r>
            <a:r>
              <a:rPr lang="en-US" dirty="0" err="1"/>
              <a:t>GruppoDAO</a:t>
            </a:r>
            <a:endParaRPr lang="en-US" dirty="0"/>
          </a:p>
          <a:p>
            <a:r>
              <a:rPr lang="en-US" dirty="0" err="1"/>
              <a:t>Concentriamoci</a:t>
            </a:r>
            <a:r>
              <a:rPr lang="en-US" dirty="0"/>
              <a:t> </a:t>
            </a:r>
            <a:r>
              <a:rPr lang="en-US" dirty="0" err="1"/>
              <a:t>sul</a:t>
            </a:r>
            <a:r>
              <a:rPr lang="en-US" dirty="0"/>
              <a:t> </a:t>
            </a:r>
            <a:r>
              <a:rPr lang="en-US" dirty="0" err="1"/>
              <a:t>metodo</a:t>
            </a:r>
            <a:r>
              <a:rPr lang="en-US" dirty="0"/>
              <a:t>: </a:t>
            </a:r>
          </a:p>
          <a:p>
            <a:pPr lvl="1"/>
            <a:r>
              <a:rPr lang="en-US" b="1" dirty="0">
                <a:latin typeface="Courier New" panose="02070309020205020404" pitchFamily="49" charset="0"/>
                <a:cs typeface="Courier New" panose="02070309020205020404" pitchFamily="49" charset="0"/>
              </a:rPr>
              <a:t>Gruppo </a:t>
            </a:r>
            <a:r>
              <a:rPr lang="en-US" b="1" dirty="0" err="1">
                <a:latin typeface="Courier New" panose="02070309020205020404" pitchFamily="49" charset="0"/>
                <a:cs typeface="Courier New" panose="02070309020205020404" pitchFamily="49" charset="0"/>
              </a:rPr>
              <a:t>findById</a:t>
            </a:r>
            <a:r>
              <a:rPr lang="en-US" b="1" dirty="0">
                <a:latin typeface="Courier New" panose="02070309020205020404" pitchFamily="49" charset="0"/>
                <a:cs typeface="Courier New" panose="02070309020205020404" pitchFamily="49" charset="0"/>
              </a:rPr>
              <a:t>(Long id)</a:t>
            </a:r>
          </a:p>
        </p:txBody>
      </p:sp>
    </p:spTree>
    <p:extLst>
      <p:ext uri="{BB962C8B-B14F-4D97-AF65-F5344CB8AC3E}">
        <p14:creationId xmlns:p14="http://schemas.microsoft.com/office/powerpoint/2010/main" val="2150020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err="1"/>
              <a:t>Esempio</a:t>
            </a:r>
            <a:r>
              <a:rPr lang="en-US" dirty="0"/>
              <a:t> con Join</a:t>
            </a:r>
          </a:p>
        </p:txBody>
      </p:sp>
      <p:sp>
        <p:nvSpPr>
          <p:cNvPr id="4" name="Rettangolo 3"/>
          <p:cNvSpPr/>
          <p:nvPr/>
        </p:nvSpPr>
        <p:spPr>
          <a:xfrm>
            <a:off x="1352325" y="1193165"/>
            <a:ext cx="6648675" cy="3208571"/>
          </a:xfrm>
          <a:prstGeom prst="rect">
            <a:avLst/>
          </a:prstGeom>
        </p:spPr>
        <p:txBody>
          <a:bodyPr wrap="square">
            <a:spAutoFit/>
          </a:bodyPr>
          <a:lstStyle/>
          <a:p>
            <a:r>
              <a:rPr lang="en-US" sz="1350" dirty="0">
                <a:solidFill>
                  <a:srgbClr val="7F0055"/>
                </a:solidFill>
                <a:latin typeface="Calibri Light" panose="020F0302020204030204" pitchFamily="34" charset="0"/>
              </a:rPr>
              <a:t>public</a:t>
            </a:r>
            <a:r>
              <a:rPr lang="en-US" sz="1350" dirty="0">
                <a:solidFill>
                  <a:srgbClr val="000000"/>
                </a:solidFill>
                <a:latin typeface="Calibri Light" panose="020F0302020204030204" pitchFamily="34" charset="0"/>
              </a:rPr>
              <a:t> Gruppo </a:t>
            </a:r>
            <a:r>
              <a:rPr lang="en-US" sz="1350" dirty="0" err="1">
                <a:solidFill>
                  <a:srgbClr val="000000"/>
                </a:solidFill>
                <a:latin typeface="Calibri Light" panose="020F0302020204030204" pitchFamily="34" charset="0"/>
              </a:rPr>
              <a:t>findById</a:t>
            </a:r>
            <a:r>
              <a:rPr lang="en-US" sz="1350" dirty="0">
                <a:solidFill>
                  <a:srgbClr val="000000"/>
                </a:solidFill>
                <a:latin typeface="Calibri Light" panose="020F0302020204030204" pitchFamily="34" charset="0"/>
              </a:rPr>
              <a:t>(Long </a:t>
            </a:r>
            <a:r>
              <a:rPr lang="en-US" sz="1350" dirty="0">
                <a:solidFill>
                  <a:srgbClr val="6A3E3E"/>
                </a:solidFill>
                <a:latin typeface="Calibri Light" panose="020F0302020204030204" pitchFamily="34" charset="0"/>
              </a:rPr>
              <a:t>id</a:t>
            </a:r>
            <a:r>
              <a:rPr lang="en-US" sz="1350" dirty="0">
                <a:solidFill>
                  <a:srgbClr val="000000"/>
                </a:solidFill>
                <a:latin typeface="Calibri Light" panose="020F0302020204030204" pitchFamily="34" charset="0"/>
              </a:rPr>
              <a:t>) {</a:t>
            </a:r>
          </a:p>
          <a:p>
            <a:r>
              <a:rPr lang="en-US" sz="1350" dirty="0">
                <a:solidFill>
                  <a:srgbClr val="000000"/>
                </a:solidFill>
                <a:latin typeface="Calibri Light" panose="020F0302020204030204" pitchFamily="34" charset="0"/>
              </a:rPr>
              <a:t>	Connection </a:t>
            </a:r>
            <a:r>
              <a:rPr lang="en-US" sz="1350" dirty="0">
                <a:solidFill>
                  <a:srgbClr val="6A3E3E"/>
                </a:solidFill>
                <a:latin typeface="Calibri Light" panose="020F0302020204030204" pitchFamily="34" charset="0"/>
              </a:rPr>
              <a:t>connection</a:t>
            </a:r>
            <a:r>
              <a:rPr lang="en-US" sz="1350" dirty="0">
                <a:solidFill>
                  <a:srgbClr val="000000"/>
                </a:solidFill>
                <a:latin typeface="Calibri Light" panose="020F0302020204030204" pitchFamily="34" charset="0"/>
              </a:rPr>
              <a:t> = </a:t>
            </a:r>
            <a:r>
              <a:rPr lang="en-US" sz="1350" dirty="0" err="1">
                <a:solidFill>
                  <a:srgbClr val="7F0055"/>
                </a:solidFill>
                <a:latin typeface="Calibri Light" panose="020F0302020204030204" pitchFamily="34" charset="0"/>
              </a:rPr>
              <a:t>this</a:t>
            </a:r>
            <a:r>
              <a:rPr lang="en-US" sz="1350" dirty="0" err="1">
                <a:solidFill>
                  <a:srgbClr val="000000"/>
                </a:solidFill>
                <a:latin typeface="Calibri Light" panose="020F0302020204030204" pitchFamily="34" charset="0"/>
              </a:rPr>
              <a:t>.</a:t>
            </a:r>
            <a:r>
              <a:rPr lang="en-US" sz="1350" dirty="0" err="1">
                <a:solidFill>
                  <a:srgbClr val="0000C0"/>
                </a:solidFill>
                <a:latin typeface="Calibri Light" panose="020F0302020204030204" pitchFamily="34" charset="0"/>
              </a:rPr>
              <a:t>dataSource</a:t>
            </a:r>
            <a:r>
              <a:rPr lang="en-US" sz="1350" dirty="0" err="1">
                <a:solidFill>
                  <a:srgbClr val="000000"/>
                </a:solidFill>
                <a:latin typeface="Calibri Light" panose="020F0302020204030204" pitchFamily="34" charset="0"/>
              </a:rPr>
              <a:t>.getConnection</a:t>
            </a:r>
            <a:r>
              <a:rPr lang="en-US" sz="1350" dirty="0">
                <a:solidFill>
                  <a:srgbClr val="000000"/>
                </a:solidFill>
                <a:latin typeface="Calibri Light" panose="020F0302020204030204" pitchFamily="34" charset="0"/>
              </a:rPr>
              <a:t>();</a:t>
            </a:r>
          </a:p>
          <a:p>
            <a:r>
              <a:rPr lang="en-US" sz="1350" dirty="0">
                <a:solidFill>
                  <a:srgbClr val="000000"/>
                </a:solidFill>
                <a:latin typeface="Calibri Light" panose="020F0302020204030204" pitchFamily="34" charset="0"/>
              </a:rPr>
              <a:t>	</a:t>
            </a:r>
            <a:r>
              <a:rPr lang="en-US" sz="1350" dirty="0" err="1">
                <a:solidFill>
                  <a:srgbClr val="000000"/>
                </a:solidFill>
                <a:latin typeface="Calibri Light" panose="020F0302020204030204" pitchFamily="34" charset="0"/>
              </a:rPr>
              <a:t>Gruppo</a:t>
            </a:r>
            <a:r>
              <a:rPr lang="en-US" sz="1350" dirty="0">
                <a:solidFill>
                  <a:srgbClr val="000000"/>
                </a:solidFill>
                <a:latin typeface="Calibri Light" panose="020F0302020204030204" pitchFamily="34" charset="0"/>
              </a:rPr>
              <a:t> </a:t>
            </a:r>
            <a:r>
              <a:rPr lang="en-US" sz="1350" dirty="0" err="1">
                <a:solidFill>
                  <a:srgbClr val="6A3E3E"/>
                </a:solidFill>
                <a:latin typeface="Calibri Light" panose="020F0302020204030204" pitchFamily="34" charset="0"/>
              </a:rPr>
              <a:t>gruppo</a:t>
            </a:r>
            <a:r>
              <a:rPr lang="en-US" sz="1350" dirty="0">
                <a:solidFill>
                  <a:srgbClr val="000000"/>
                </a:solidFill>
                <a:latin typeface="Calibri Light" panose="020F0302020204030204" pitchFamily="34" charset="0"/>
              </a:rPr>
              <a:t> = </a:t>
            </a:r>
            <a:r>
              <a:rPr lang="en-US" sz="1350" dirty="0">
                <a:solidFill>
                  <a:srgbClr val="7F0055"/>
                </a:solidFill>
                <a:latin typeface="Calibri Light" panose="020F0302020204030204" pitchFamily="34" charset="0"/>
              </a:rPr>
              <a:t>null</a:t>
            </a:r>
            <a:r>
              <a:rPr lang="en-US" sz="1350" dirty="0">
                <a:solidFill>
                  <a:srgbClr val="000000"/>
                </a:solidFill>
                <a:latin typeface="Calibri Light" panose="020F0302020204030204" pitchFamily="34" charset="0"/>
              </a:rPr>
              <a:t>;</a:t>
            </a:r>
          </a:p>
          <a:p>
            <a:r>
              <a:rPr lang="en-US" sz="1350" dirty="0">
                <a:solidFill>
                  <a:srgbClr val="000000"/>
                </a:solidFill>
                <a:latin typeface="Calibri Light" panose="020F0302020204030204" pitchFamily="34" charset="0"/>
              </a:rPr>
              <a:t>	</a:t>
            </a:r>
            <a:r>
              <a:rPr lang="en-US" sz="1350" dirty="0">
                <a:solidFill>
                  <a:srgbClr val="7F0055"/>
                </a:solidFill>
                <a:latin typeface="Calibri Light" panose="020F0302020204030204" pitchFamily="34" charset="0"/>
              </a:rPr>
              <a:t>try</a:t>
            </a:r>
            <a:r>
              <a:rPr lang="en-US" sz="1350" dirty="0">
                <a:solidFill>
                  <a:srgbClr val="000000"/>
                </a:solidFill>
                <a:latin typeface="Calibri Light" panose="020F0302020204030204" pitchFamily="34" charset="0"/>
              </a:rPr>
              <a:t> {</a:t>
            </a:r>
          </a:p>
          <a:p>
            <a:r>
              <a:rPr lang="en-US" sz="1350" dirty="0">
                <a:solidFill>
                  <a:srgbClr val="000000"/>
                </a:solidFill>
                <a:latin typeface="Calibri Light" panose="020F0302020204030204" pitchFamily="34" charset="0"/>
              </a:rPr>
              <a:t>		</a:t>
            </a:r>
            <a:r>
              <a:rPr lang="en-US" sz="1350" dirty="0" err="1">
                <a:solidFill>
                  <a:srgbClr val="000000"/>
                </a:solidFill>
                <a:latin typeface="Calibri Light" panose="020F0302020204030204" pitchFamily="34" charset="0"/>
              </a:rPr>
              <a:t>PreparedStatement</a:t>
            </a:r>
            <a:r>
              <a:rPr lang="en-US" sz="1350" dirty="0">
                <a:solidFill>
                  <a:srgbClr val="000000"/>
                </a:solidFill>
                <a:latin typeface="Calibri Light" panose="020F0302020204030204" pitchFamily="34" charset="0"/>
              </a:rPr>
              <a:t> </a:t>
            </a:r>
            <a:r>
              <a:rPr lang="en-US" sz="1350" dirty="0">
                <a:solidFill>
                  <a:srgbClr val="6A3E3E"/>
                </a:solidFill>
                <a:latin typeface="Calibri Light" panose="020F0302020204030204" pitchFamily="34" charset="0"/>
              </a:rPr>
              <a:t>statement</a:t>
            </a:r>
            <a:r>
              <a:rPr lang="en-US" sz="1350" dirty="0">
                <a:solidFill>
                  <a:srgbClr val="000000"/>
                </a:solidFill>
                <a:latin typeface="Calibri Light" panose="020F0302020204030204" pitchFamily="34" charset="0"/>
              </a:rPr>
              <a:t>;</a:t>
            </a:r>
          </a:p>
          <a:p>
            <a:r>
              <a:rPr lang="en-US" sz="1350" dirty="0">
                <a:solidFill>
                  <a:srgbClr val="000000"/>
                </a:solidFill>
                <a:latin typeface="Calibri Light" panose="020F0302020204030204" pitchFamily="34" charset="0"/>
              </a:rPr>
              <a:t>		String </a:t>
            </a:r>
            <a:r>
              <a:rPr lang="en-US" sz="1350" dirty="0">
                <a:solidFill>
                  <a:srgbClr val="6A3E3E"/>
                </a:solidFill>
                <a:latin typeface="Calibri Light" panose="020F0302020204030204" pitchFamily="34" charset="0"/>
              </a:rPr>
              <a:t>query</a:t>
            </a:r>
            <a:r>
              <a:rPr lang="en-US" sz="1350" dirty="0">
                <a:solidFill>
                  <a:srgbClr val="000000"/>
                </a:solidFill>
                <a:latin typeface="Calibri Light" panose="020F0302020204030204" pitchFamily="34" charset="0"/>
              </a:rPr>
              <a:t> = </a:t>
            </a:r>
            <a:r>
              <a:rPr lang="en-US" sz="1350" dirty="0">
                <a:solidFill>
                  <a:srgbClr val="2A00FF"/>
                </a:solidFill>
                <a:latin typeface="Calibri Light" panose="020F0302020204030204" pitchFamily="34" charset="0"/>
              </a:rPr>
              <a:t>"SELECT </a:t>
            </a:r>
            <a:r>
              <a:rPr lang="en-US" sz="1350" dirty="0" err="1">
                <a:solidFill>
                  <a:srgbClr val="2A00FF"/>
                </a:solidFill>
                <a:latin typeface="Calibri Light" panose="020F0302020204030204" pitchFamily="34" charset="0"/>
              </a:rPr>
              <a:t>g.id</a:t>
            </a:r>
            <a:r>
              <a:rPr lang="en-US" sz="1350" dirty="0">
                <a:solidFill>
                  <a:srgbClr val="2A00FF"/>
                </a:solidFill>
                <a:latin typeface="Calibri Light" panose="020F0302020204030204" pitchFamily="34" charset="0"/>
              </a:rPr>
              <a:t> AS </a:t>
            </a:r>
            <a:r>
              <a:rPr lang="en-US" sz="1350" dirty="0" err="1">
                <a:solidFill>
                  <a:srgbClr val="2A00FF"/>
                </a:solidFill>
                <a:latin typeface="Calibri Light" panose="020F0302020204030204" pitchFamily="34" charset="0"/>
              </a:rPr>
              <a:t>g_id</a:t>
            </a:r>
            <a:r>
              <a:rPr lang="en-US" sz="1350" dirty="0">
                <a:solidFill>
                  <a:srgbClr val="2A00FF"/>
                </a:solidFill>
                <a:latin typeface="Calibri Light" panose="020F0302020204030204" pitchFamily="34" charset="0"/>
              </a:rPr>
              <a:t>, </a:t>
            </a:r>
            <a:r>
              <a:rPr lang="en-US" sz="1350" dirty="0" err="1">
                <a:solidFill>
                  <a:srgbClr val="2A00FF"/>
                </a:solidFill>
                <a:latin typeface="Calibri Light" panose="020F0302020204030204" pitchFamily="34" charset="0"/>
              </a:rPr>
              <a:t>g.nome</a:t>
            </a:r>
            <a:r>
              <a:rPr lang="en-US" sz="1350" dirty="0">
                <a:solidFill>
                  <a:srgbClr val="2A00FF"/>
                </a:solidFill>
                <a:latin typeface="Calibri Light" panose="020F0302020204030204" pitchFamily="34" charset="0"/>
              </a:rPr>
              <a:t> AS </a:t>
            </a:r>
            <a:r>
              <a:rPr lang="en-US" sz="1350" dirty="0" err="1">
                <a:solidFill>
                  <a:srgbClr val="2A00FF"/>
                </a:solidFill>
                <a:latin typeface="Calibri Light" panose="020F0302020204030204" pitchFamily="34" charset="0"/>
              </a:rPr>
              <a:t>g_nome</a:t>
            </a:r>
            <a:r>
              <a:rPr lang="en-US" sz="1350" dirty="0">
                <a:solidFill>
                  <a:srgbClr val="2A00FF"/>
                </a:solidFill>
                <a:latin typeface="Calibri Light" panose="020F0302020204030204" pitchFamily="34" charset="0"/>
              </a:rPr>
              <a:t>, "</a:t>
            </a:r>
            <a:br>
              <a:rPr lang="en-US" sz="1350" dirty="0">
                <a:solidFill>
                  <a:srgbClr val="2A00FF"/>
                </a:solidFill>
                <a:latin typeface="Calibri Light" panose="020F0302020204030204" pitchFamily="34" charset="0"/>
              </a:rPr>
            </a:br>
            <a:r>
              <a:rPr lang="en-US" sz="1350" dirty="0">
                <a:solidFill>
                  <a:srgbClr val="2A00FF"/>
                </a:solidFill>
                <a:latin typeface="Calibri Light" panose="020F0302020204030204" pitchFamily="34" charset="0"/>
              </a:rPr>
              <a:t>					</a:t>
            </a:r>
            <a:r>
              <a:rPr lang="en-US" sz="1350" dirty="0">
                <a:latin typeface="Calibri Light" panose="020F0302020204030204" pitchFamily="34" charset="0"/>
              </a:rPr>
              <a:t>+</a:t>
            </a:r>
            <a:r>
              <a:rPr lang="en-US" sz="1350" dirty="0">
                <a:solidFill>
                  <a:srgbClr val="2A00FF"/>
                </a:solidFill>
                <a:latin typeface="Calibri Light" panose="020F0302020204030204" pitchFamily="34" charset="0"/>
              </a:rPr>
              <a:t> "</a:t>
            </a:r>
            <a:r>
              <a:rPr lang="en-US" sz="1350" dirty="0" err="1">
                <a:solidFill>
                  <a:srgbClr val="2A00FF"/>
                </a:solidFill>
                <a:latin typeface="Calibri Light" panose="020F0302020204030204" pitchFamily="34" charset="0"/>
              </a:rPr>
              <a:t>s.matricola</a:t>
            </a:r>
            <a:r>
              <a:rPr lang="en-US" sz="1350" dirty="0">
                <a:solidFill>
                  <a:srgbClr val="2A00FF"/>
                </a:solidFill>
                <a:latin typeface="Calibri Light" panose="020F0302020204030204" pitchFamily="34" charset="0"/>
              </a:rPr>
              <a:t> AS </a:t>
            </a:r>
            <a:r>
              <a:rPr lang="en-US" sz="1350" dirty="0" err="1">
                <a:solidFill>
                  <a:srgbClr val="2A00FF"/>
                </a:solidFill>
                <a:latin typeface="Calibri Light" panose="020F0302020204030204" pitchFamily="34" charset="0"/>
              </a:rPr>
              <a:t>matricola</a:t>
            </a:r>
            <a:r>
              <a:rPr lang="en-US" sz="1350" dirty="0">
                <a:solidFill>
                  <a:srgbClr val="2A00FF"/>
                </a:solidFill>
                <a:latin typeface="Calibri Light" panose="020F0302020204030204" pitchFamily="34" charset="0"/>
              </a:rPr>
              <a:t>, </a:t>
            </a:r>
            <a:r>
              <a:rPr lang="en-US" sz="1350" dirty="0" err="1">
                <a:solidFill>
                  <a:srgbClr val="2A00FF"/>
                </a:solidFill>
                <a:latin typeface="Calibri Light" panose="020F0302020204030204" pitchFamily="34" charset="0"/>
              </a:rPr>
              <a:t>s.nome</a:t>
            </a:r>
            <a:r>
              <a:rPr lang="en-US" sz="1350" dirty="0">
                <a:solidFill>
                  <a:srgbClr val="2A00FF"/>
                </a:solidFill>
                <a:latin typeface="Calibri Light" panose="020F0302020204030204" pitchFamily="34" charset="0"/>
              </a:rPr>
              <a:t> AS </a:t>
            </a:r>
            <a:r>
              <a:rPr lang="en-US" sz="1350" dirty="0" err="1">
                <a:solidFill>
                  <a:srgbClr val="2A00FF"/>
                </a:solidFill>
                <a:latin typeface="Calibri Light" panose="020F0302020204030204" pitchFamily="34" charset="0"/>
              </a:rPr>
              <a:t>nome</a:t>
            </a:r>
            <a:r>
              <a:rPr lang="en-US" sz="1350" dirty="0">
                <a:solidFill>
                  <a:srgbClr val="2A00FF"/>
                </a:solidFill>
                <a:latin typeface="Calibri Light" panose="020F0302020204030204" pitchFamily="34" charset="0"/>
              </a:rPr>
              <a:t>, "</a:t>
            </a:r>
          </a:p>
          <a:p>
            <a:r>
              <a:rPr lang="en-US" sz="1350" dirty="0">
                <a:solidFill>
                  <a:srgbClr val="000000"/>
                </a:solidFill>
                <a:latin typeface="Calibri Light" panose="020F0302020204030204" pitchFamily="34" charset="0"/>
              </a:rPr>
              <a:t>					+ </a:t>
            </a:r>
            <a:r>
              <a:rPr lang="en-US" sz="1350" dirty="0">
                <a:solidFill>
                  <a:srgbClr val="2A00FF"/>
                </a:solidFill>
                <a:latin typeface="Calibri Light" panose="020F0302020204030204" pitchFamily="34" charset="0"/>
              </a:rPr>
              <a:t>"</a:t>
            </a:r>
            <a:r>
              <a:rPr lang="en-US" sz="1350" dirty="0" err="1">
                <a:solidFill>
                  <a:srgbClr val="2A00FF"/>
                </a:solidFill>
                <a:latin typeface="Calibri Light" panose="020F0302020204030204" pitchFamily="34" charset="0"/>
              </a:rPr>
              <a:t>s.cognome</a:t>
            </a:r>
            <a:r>
              <a:rPr lang="en-US" sz="1350" dirty="0">
                <a:solidFill>
                  <a:srgbClr val="2A00FF"/>
                </a:solidFill>
                <a:latin typeface="Calibri Light" panose="020F0302020204030204" pitchFamily="34" charset="0"/>
              </a:rPr>
              <a:t> AS </a:t>
            </a:r>
            <a:r>
              <a:rPr lang="en-US" sz="1350" dirty="0" err="1">
                <a:solidFill>
                  <a:srgbClr val="2A00FF"/>
                </a:solidFill>
                <a:latin typeface="Calibri Light" panose="020F0302020204030204" pitchFamily="34" charset="0"/>
              </a:rPr>
              <a:t>cognome</a:t>
            </a:r>
            <a:r>
              <a:rPr lang="en-US" sz="1350" dirty="0">
                <a:solidFill>
                  <a:srgbClr val="2A00FF"/>
                </a:solidFill>
                <a:latin typeface="Calibri Light" panose="020F0302020204030204" pitchFamily="34" charset="0"/>
              </a:rPr>
              <a:t>, "</a:t>
            </a:r>
            <a:br>
              <a:rPr lang="en-US" sz="1350" dirty="0">
                <a:solidFill>
                  <a:srgbClr val="2A00FF"/>
                </a:solidFill>
                <a:latin typeface="Calibri Light" panose="020F0302020204030204" pitchFamily="34" charset="0"/>
              </a:rPr>
            </a:br>
            <a:r>
              <a:rPr lang="en-US" sz="1350" dirty="0">
                <a:solidFill>
                  <a:srgbClr val="2A00FF"/>
                </a:solidFill>
                <a:latin typeface="Calibri Light" panose="020F0302020204030204" pitchFamily="34" charset="0"/>
              </a:rPr>
              <a:t>					</a:t>
            </a:r>
            <a:r>
              <a:rPr lang="en-US" sz="1350" dirty="0">
                <a:solidFill>
                  <a:srgbClr val="000000"/>
                </a:solidFill>
                <a:latin typeface="Calibri Light" panose="020F0302020204030204" pitchFamily="34" charset="0"/>
              </a:rPr>
              <a:t>+ </a:t>
            </a:r>
            <a:r>
              <a:rPr lang="en-US" sz="1350" dirty="0">
                <a:solidFill>
                  <a:srgbClr val="2A00FF"/>
                </a:solidFill>
                <a:latin typeface="Calibri Light" panose="020F0302020204030204" pitchFamily="34" charset="0"/>
              </a:rPr>
              <a:t>"</a:t>
            </a:r>
            <a:r>
              <a:rPr lang="en-US" sz="1350" dirty="0" err="1">
                <a:solidFill>
                  <a:srgbClr val="2A00FF"/>
                </a:solidFill>
                <a:latin typeface="Calibri Light" panose="020F0302020204030204" pitchFamily="34" charset="0"/>
              </a:rPr>
              <a:t>s.datanascita</a:t>
            </a:r>
            <a:r>
              <a:rPr lang="en-US" sz="1350" dirty="0">
                <a:solidFill>
                  <a:srgbClr val="2A00FF"/>
                </a:solidFill>
                <a:latin typeface="Calibri Light" panose="020F0302020204030204" pitchFamily="34" charset="0"/>
              </a:rPr>
              <a:t> AS </a:t>
            </a:r>
            <a:r>
              <a:rPr lang="en-US" sz="1350" dirty="0" err="1">
                <a:solidFill>
                  <a:srgbClr val="2A00FF"/>
                </a:solidFill>
                <a:latin typeface="Calibri Light" panose="020F0302020204030204" pitchFamily="34" charset="0"/>
              </a:rPr>
              <a:t>datanascita</a:t>
            </a:r>
            <a:r>
              <a:rPr lang="en-US" sz="1350" dirty="0">
                <a:solidFill>
                  <a:srgbClr val="2A00FF"/>
                </a:solidFill>
                <a:latin typeface="Calibri Light" panose="020F0302020204030204" pitchFamily="34" charset="0"/>
              </a:rPr>
              <a:t> "</a:t>
            </a:r>
          </a:p>
          <a:p>
            <a:r>
              <a:rPr lang="en-US" sz="1350" dirty="0">
                <a:solidFill>
                  <a:srgbClr val="000000"/>
                </a:solidFill>
                <a:latin typeface="Calibri Light" panose="020F0302020204030204" pitchFamily="34" charset="0"/>
              </a:rPr>
              <a:t>				+ </a:t>
            </a:r>
            <a:r>
              <a:rPr lang="en-US" sz="1350" dirty="0">
                <a:solidFill>
                  <a:srgbClr val="2A00FF"/>
                </a:solidFill>
                <a:latin typeface="Calibri Light" panose="020F0302020204030204" pitchFamily="34" charset="0"/>
              </a:rPr>
              <a:t>"FROM </a:t>
            </a:r>
            <a:r>
              <a:rPr lang="en-US" sz="1350" dirty="0" err="1">
                <a:solidFill>
                  <a:srgbClr val="2A00FF"/>
                </a:solidFill>
                <a:latin typeface="Calibri Light" panose="020F0302020204030204" pitchFamily="34" charset="0"/>
              </a:rPr>
              <a:t>gruppo</a:t>
            </a:r>
            <a:r>
              <a:rPr lang="en-US" sz="1350" dirty="0">
                <a:solidFill>
                  <a:srgbClr val="2A00FF"/>
                </a:solidFill>
                <a:latin typeface="Calibri Light" panose="020F0302020204030204" pitchFamily="34" charset="0"/>
              </a:rPr>
              <a:t> g LEFT OUTER JOIN " </a:t>
            </a:r>
            <a:br>
              <a:rPr lang="en-US" sz="1350" dirty="0">
                <a:solidFill>
                  <a:srgbClr val="2A00FF"/>
                </a:solidFill>
                <a:latin typeface="Calibri Light" panose="020F0302020204030204" pitchFamily="34" charset="0"/>
              </a:rPr>
            </a:br>
            <a:r>
              <a:rPr lang="en-US" sz="1350" dirty="0">
                <a:solidFill>
                  <a:srgbClr val="2A00FF"/>
                </a:solidFill>
                <a:latin typeface="Calibri Light" panose="020F0302020204030204" pitchFamily="34" charset="0"/>
              </a:rPr>
              <a:t>  						</a:t>
            </a:r>
            <a:r>
              <a:rPr lang="en-US" sz="1350" dirty="0">
                <a:solidFill>
                  <a:srgbClr val="000000"/>
                </a:solidFill>
                <a:latin typeface="Calibri Light" panose="020F0302020204030204" pitchFamily="34" charset="0"/>
              </a:rPr>
              <a:t>+ </a:t>
            </a:r>
            <a:r>
              <a:rPr lang="en-US" sz="1350" dirty="0">
                <a:solidFill>
                  <a:srgbClr val="2A00FF"/>
                </a:solidFill>
                <a:latin typeface="Calibri Light" panose="020F0302020204030204" pitchFamily="34" charset="0"/>
              </a:rPr>
              <a:t>"</a:t>
            </a:r>
            <a:r>
              <a:rPr lang="en-US" sz="1350" dirty="0" err="1">
                <a:solidFill>
                  <a:srgbClr val="2A00FF"/>
                </a:solidFill>
                <a:latin typeface="Calibri Light" panose="020F0302020204030204" pitchFamily="34" charset="0"/>
              </a:rPr>
              <a:t>studente</a:t>
            </a:r>
            <a:r>
              <a:rPr lang="en-US" sz="1350" dirty="0">
                <a:solidFill>
                  <a:srgbClr val="2A00FF"/>
                </a:solidFill>
                <a:latin typeface="Calibri Light" panose="020F0302020204030204" pitchFamily="34" charset="0"/>
              </a:rPr>
              <a:t> s ON </a:t>
            </a:r>
            <a:r>
              <a:rPr lang="en-US" sz="1350" dirty="0" err="1">
                <a:solidFill>
                  <a:srgbClr val="2A00FF"/>
                </a:solidFill>
                <a:latin typeface="Calibri Light" panose="020F0302020204030204" pitchFamily="34" charset="0"/>
              </a:rPr>
              <a:t>g.id</a:t>
            </a:r>
            <a:r>
              <a:rPr lang="en-US" sz="1350" dirty="0">
                <a:solidFill>
                  <a:srgbClr val="2A00FF"/>
                </a:solidFill>
                <a:latin typeface="Calibri Light" panose="020F0302020204030204" pitchFamily="34" charset="0"/>
              </a:rPr>
              <a:t>=</a:t>
            </a:r>
            <a:r>
              <a:rPr lang="en-US" sz="1350" dirty="0" err="1">
                <a:solidFill>
                  <a:srgbClr val="2A00FF"/>
                </a:solidFill>
                <a:latin typeface="Calibri Light" panose="020F0302020204030204" pitchFamily="34" charset="0"/>
              </a:rPr>
              <a:t>s.gruppo_id</a:t>
            </a:r>
            <a:r>
              <a:rPr lang="en-US" sz="1350" dirty="0">
                <a:solidFill>
                  <a:srgbClr val="2A00FF"/>
                </a:solidFill>
                <a:latin typeface="Calibri Light" panose="020F0302020204030204" pitchFamily="34" charset="0"/>
              </a:rPr>
              <a:t> "</a:t>
            </a:r>
          </a:p>
          <a:p>
            <a:r>
              <a:rPr lang="en-US" sz="1350" dirty="0">
                <a:solidFill>
                  <a:srgbClr val="000000"/>
                </a:solidFill>
                <a:latin typeface="Calibri Light" panose="020F0302020204030204" pitchFamily="34" charset="0"/>
              </a:rPr>
              <a:t>				+ </a:t>
            </a:r>
            <a:r>
              <a:rPr lang="en-US" sz="1350" dirty="0">
                <a:solidFill>
                  <a:srgbClr val="2A00FF"/>
                </a:solidFill>
                <a:latin typeface="Calibri Light" panose="020F0302020204030204" pitchFamily="34" charset="0"/>
              </a:rPr>
              <a:t>"WHERE </a:t>
            </a:r>
            <a:r>
              <a:rPr lang="en-US" sz="1350" dirty="0" err="1">
                <a:solidFill>
                  <a:srgbClr val="2A00FF"/>
                </a:solidFill>
                <a:latin typeface="Calibri Light" panose="020F0302020204030204" pitchFamily="34" charset="0"/>
              </a:rPr>
              <a:t>g.nome</a:t>
            </a:r>
            <a:r>
              <a:rPr lang="en-US" sz="1350" dirty="0">
                <a:solidFill>
                  <a:srgbClr val="2A00FF"/>
                </a:solidFill>
                <a:latin typeface="Calibri Light" panose="020F0302020204030204" pitchFamily="34" charset="0"/>
              </a:rPr>
              <a:t> = ?"</a:t>
            </a:r>
            <a:r>
              <a:rPr lang="en-US" sz="1350" dirty="0">
                <a:solidFill>
                  <a:srgbClr val="000000"/>
                </a:solidFill>
                <a:latin typeface="Calibri Light" panose="020F0302020204030204" pitchFamily="34" charset="0"/>
              </a:rPr>
              <a:t>;</a:t>
            </a:r>
          </a:p>
          <a:p>
            <a:r>
              <a:rPr lang="en-US" sz="1350" dirty="0">
                <a:solidFill>
                  <a:srgbClr val="000000"/>
                </a:solidFill>
                <a:latin typeface="Calibri Light" panose="020F0302020204030204" pitchFamily="34" charset="0"/>
              </a:rPr>
              <a:t>			</a:t>
            </a:r>
            <a:r>
              <a:rPr lang="en-US" sz="1350" dirty="0">
                <a:solidFill>
                  <a:srgbClr val="6A3E3E"/>
                </a:solidFill>
                <a:latin typeface="Calibri Light" panose="020F0302020204030204" pitchFamily="34" charset="0"/>
              </a:rPr>
              <a:t>statement</a:t>
            </a:r>
            <a:r>
              <a:rPr lang="en-US" sz="1350" dirty="0">
                <a:solidFill>
                  <a:srgbClr val="000000"/>
                </a:solidFill>
                <a:latin typeface="Calibri Light" panose="020F0302020204030204" pitchFamily="34" charset="0"/>
              </a:rPr>
              <a:t> = </a:t>
            </a:r>
            <a:r>
              <a:rPr lang="en-US" sz="1350" dirty="0" err="1">
                <a:solidFill>
                  <a:srgbClr val="6A3E3E"/>
                </a:solidFill>
                <a:latin typeface="Calibri Light" panose="020F0302020204030204" pitchFamily="34" charset="0"/>
              </a:rPr>
              <a:t>connection</a:t>
            </a:r>
            <a:r>
              <a:rPr lang="en-US" sz="1350" dirty="0" err="1">
                <a:solidFill>
                  <a:srgbClr val="000000"/>
                </a:solidFill>
                <a:latin typeface="Calibri Light" panose="020F0302020204030204" pitchFamily="34" charset="0"/>
              </a:rPr>
              <a:t>.prepareStatement</a:t>
            </a:r>
            <a:r>
              <a:rPr lang="en-US" sz="1350" dirty="0">
                <a:solidFill>
                  <a:srgbClr val="000000"/>
                </a:solidFill>
                <a:latin typeface="Calibri Light" panose="020F0302020204030204" pitchFamily="34" charset="0"/>
              </a:rPr>
              <a:t>(</a:t>
            </a:r>
            <a:r>
              <a:rPr lang="en-US" sz="1350" dirty="0">
                <a:solidFill>
                  <a:srgbClr val="6A3E3E"/>
                </a:solidFill>
                <a:latin typeface="Calibri Light" panose="020F0302020204030204" pitchFamily="34" charset="0"/>
              </a:rPr>
              <a:t>query</a:t>
            </a:r>
            <a:r>
              <a:rPr lang="en-US" sz="1350" dirty="0">
                <a:solidFill>
                  <a:srgbClr val="000000"/>
                </a:solidFill>
                <a:latin typeface="Calibri Light" panose="020F0302020204030204" pitchFamily="34" charset="0"/>
              </a:rPr>
              <a:t>);</a:t>
            </a:r>
          </a:p>
          <a:p>
            <a:r>
              <a:rPr lang="en-US" sz="1350" dirty="0">
                <a:solidFill>
                  <a:srgbClr val="000000"/>
                </a:solidFill>
                <a:latin typeface="Calibri Light" panose="020F0302020204030204" pitchFamily="34" charset="0"/>
              </a:rPr>
              <a:t>			</a:t>
            </a:r>
            <a:r>
              <a:rPr lang="en-US" sz="1350" dirty="0" err="1">
                <a:solidFill>
                  <a:srgbClr val="6A3E3E"/>
                </a:solidFill>
                <a:latin typeface="Calibri Light" panose="020F0302020204030204" pitchFamily="34" charset="0"/>
              </a:rPr>
              <a:t>statement</a:t>
            </a:r>
            <a:r>
              <a:rPr lang="en-US" sz="1350" dirty="0" err="1">
                <a:solidFill>
                  <a:srgbClr val="000000"/>
                </a:solidFill>
                <a:latin typeface="Calibri Light" panose="020F0302020204030204" pitchFamily="34" charset="0"/>
              </a:rPr>
              <a:t>.setLong</a:t>
            </a:r>
            <a:r>
              <a:rPr lang="en-US" sz="1350" dirty="0">
                <a:solidFill>
                  <a:srgbClr val="000000"/>
                </a:solidFill>
                <a:latin typeface="Calibri Light" panose="020F0302020204030204" pitchFamily="34" charset="0"/>
              </a:rPr>
              <a:t>(1, </a:t>
            </a:r>
            <a:r>
              <a:rPr lang="en-US" sz="1350" dirty="0">
                <a:solidFill>
                  <a:srgbClr val="6A3E3E"/>
                </a:solidFill>
                <a:latin typeface="Calibri Light" panose="020F0302020204030204" pitchFamily="34" charset="0"/>
              </a:rPr>
              <a:t>id</a:t>
            </a:r>
            <a:r>
              <a:rPr lang="en-US" sz="1350" dirty="0">
                <a:solidFill>
                  <a:srgbClr val="000000"/>
                </a:solidFill>
                <a:latin typeface="Calibri Light" panose="020F0302020204030204" pitchFamily="34" charset="0"/>
              </a:rPr>
              <a:t>);</a:t>
            </a:r>
          </a:p>
          <a:p>
            <a:r>
              <a:rPr lang="en-US" sz="1350" dirty="0">
                <a:solidFill>
                  <a:srgbClr val="000000"/>
                </a:solidFill>
                <a:latin typeface="Calibri Light" panose="020F0302020204030204" pitchFamily="34" charset="0"/>
              </a:rPr>
              <a:t>			</a:t>
            </a:r>
            <a:r>
              <a:rPr lang="en-US" sz="1350" dirty="0" err="1">
                <a:solidFill>
                  <a:srgbClr val="000000"/>
                </a:solidFill>
                <a:latin typeface="Calibri Light" panose="020F0302020204030204" pitchFamily="34" charset="0"/>
              </a:rPr>
              <a:t>ResultSet</a:t>
            </a:r>
            <a:r>
              <a:rPr lang="en-US" sz="1350" dirty="0">
                <a:solidFill>
                  <a:srgbClr val="000000"/>
                </a:solidFill>
                <a:latin typeface="Calibri Light" panose="020F0302020204030204" pitchFamily="34" charset="0"/>
              </a:rPr>
              <a:t> </a:t>
            </a:r>
            <a:r>
              <a:rPr lang="en-US" sz="1350" dirty="0">
                <a:solidFill>
                  <a:srgbClr val="6A3E3E"/>
                </a:solidFill>
                <a:latin typeface="Calibri Light" panose="020F0302020204030204" pitchFamily="34" charset="0"/>
              </a:rPr>
              <a:t>result</a:t>
            </a:r>
            <a:r>
              <a:rPr lang="en-US" sz="1350" dirty="0">
                <a:solidFill>
                  <a:srgbClr val="000000"/>
                </a:solidFill>
                <a:latin typeface="Calibri Light" panose="020F0302020204030204" pitchFamily="34" charset="0"/>
              </a:rPr>
              <a:t> = </a:t>
            </a:r>
            <a:r>
              <a:rPr lang="en-US" sz="1350" dirty="0" err="1">
                <a:solidFill>
                  <a:srgbClr val="6A3E3E"/>
                </a:solidFill>
                <a:latin typeface="Calibri Light" panose="020F0302020204030204" pitchFamily="34" charset="0"/>
              </a:rPr>
              <a:t>statement</a:t>
            </a:r>
            <a:r>
              <a:rPr lang="en-US" sz="1350" dirty="0" err="1">
                <a:solidFill>
                  <a:srgbClr val="000000"/>
                </a:solidFill>
                <a:latin typeface="Calibri Light" panose="020F0302020204030204" pitchFamily="34" charset="0"/>
              </a:rPr>
              <a:t>.executeQuery</a:t>
            </a:r>
            <a:r>
              <a:rPr lang="en-US" sz="1350" dirty="0">
                <a:solidFill>
                  <a:srgbClr val="000000"/>
                </a:solidFill>
                <a:latin typeface="Calibri Light" panose="020F0302020204030204" pitchFamily="34" charset="0"/>
              </a:rPr>
              <a:t>();</a:t>
            </a:r>
          </a:p>
        </p:txBody>
      </p:sp>
    </p:spTree>
    <p:extLst>
      <p:ext uri="{BB962C8B-B14F-4D97-AF65-F5344CB8AC3E}">
        <p14:creationId xmlns:p14="http://schemas.microsoft.com/office/powerpoint/2010/main" val="925273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err="1"/>
              <a:t>Esempio</a:t>
            </a:r>
            <a:r>
              <a:rPr lang="en-US" dirty="0"/>
              <a:t> con Join (cont.)</a:t>
            </a:r>
          </a:p>
        </p:txBody>
      </p:sp>
      <p:sp>
        <p:nvSpPr>
          <p:cNvPr id="6" name="CasellaDiTesto 5"/>
          <p:cNvSpPr txBox="1"/>
          <p:nvPr/>
        </p:nvSpPr>
        <p:spPr>
          <a:xfrm>
            <a:off x="598756" y="942081"/>
            <a:ext cx="6647974" cy="4247317"/>
          </a:xfrm>
          <a:prstGeom prst="rect">
            <a:avLst/>
          </a:prstGeom>
          <a:noFill/>
        </p:spPr>
        <p:txBody>
          <a:bodyPr wrap="none" rtlCol="0">
            <a:spAutoFit/>
          </a:bodyPr>
          <a:lstStyle/>
          <a:p>
            <a:r>
              <a:rPr lang="en-US" sz="1350" dirty="0">
                <a:latin typeface="Calibri Light" panose="020F0302020204030204" pitchFamily="34" charset="0"/>
                <a:cs typeface="Calibri Light" panose="020F0302020204030204" pitchFamily="34" charset="0"/>
              </a:rPr>
              <a:t>			</a:t>
            </a:r>
            <a:r>
              <a:rPr lang="en-US" sz="1350" dirty="0" err="1">
                <a:latin typeface="Calibri Light" panose="020F0302020204030204" pitchFamily="34" charset="0"/>
                <a:cs typeface="Calibri Light" panose="020F0302020204030204" pitchFamily="34" charset="0"/>
              </a:rPr>
              <a:t>boolean</a:t>
            </a:r>
            <a:r>
              <a:rPr lang="en-US" sz="1350" dirty="0">
                <a:latin typeface="Calibri Light" panose="020F0302020204030204" pitchFamily="34" charset="0"/>
                <a:cs typeface="Calibri Light" panose="020F0302020204030204" pitchFamily="34" charset="0"/>
              </a:rPr>
              <a:t> </a:t>
            </a:r>
            <a:r>
              <a:rPr lang="en-US" sz="1350" dirty="0" err="1">
                <a:latin typeface="Calibri Light" panose="020F0302020204030204" pitchFamily="34" charset="0"/>
                <a:cs typeface="Calibri Light" panose="020F0302020204030204" pitchFamily="34" charset="0"/>
              </a:rPr>
              <a:t>primaRiga</a:t>
            </a:r>
            <a:r>
              <a:rPr lang="en-US" sz="1350" dirty="0">
                <a:latin typeface="Calibri Light" panose="020F0302020204030204" pitchFamily="34" charset="0"/>
                <a:cs typeface="Calibri Light" panose="020F0302020204030204" pitchFamily="34" charset="0"/>
              </a:rPr>
              <a:t> = true;</a:t>
            </a:r>
          </a:p>
          <a:p>
            <a:r>
              <a:rPr lang="en-US" sz="1350" dirty="0">
                <a:latin typeface="Calibri Light" panose="020F0302020204030204" pitchFamily="34" charset="0"/>
                <a:cs typeface="Calibri Light" panose="020F0302020204030204" pitchFamily="34" charset="0"/>
              </a:rPr>
              <a:t>			while (</a:t>
            </a:r>
            <a:r>
              <a:rPr lang="en-US" sz="1350" dirty="0" err="1">
                <a:latin typeface="Calibri Light" panose="020F0302020204030204" pitchFamily="34" charset="0"/>
                <a:cs typeface="Calibri Light" panose="020F0302020204030204" pitchFamily="34" charset="0"/>
              </a:rPr>
              <a:t>result.next</a:t>
            </a:r>
            <a:r>
              <a:rPr lang="en-US" sz="1350" dirty="0">
                <a:latin typeface="Calibri Light" panose="020F0302020204030204" pitchFamily="34" charset="0"/>
                <a:cs typeface="Calibri Light" panose="020F0302020204030204" pitchFamily="34" charset="0"/>
              </a:rPr>
              <a:t>()) {</a:t>
            </a:r>
          </a:p>
          <a:p>
            <a:r>
              <a:rPr lang="en-US" sz="1350" dirty="0">
                <a:latin typeface="Calibri Light" panose="020F0302020204030204" pitchFamily="34" charset="0"/>
                <a:cs typeface="Calibri Light" panose="020F0302020204030204" pitchFamily="34" charset="0"/>
              </a:rPr>
              <a:t>				if (</a:t>
            </a:r>
            <a:r>
              <a:rPr lang="en-US" sz="1350" dirty="0" err="1">
                <a:latin typeface="Calibri Light" panose="020F0302020204030204" pitchFamily="34" charset="0"/>
                <a:cs typeface="Calibri Light" panose="020F0302020204030204" pitchFamily="34" charset="0"/>
              </a:rPr>
              <a:t>primaRiga</a:t>
            </a:r>
            <a:r>
              <a:rPr lang="en-US" sz="1350" dirty="0">
                <a:latin typeface="Calibri Light" panose="020F0302020204030204" pitchFamily="34" charset="0"/>
                <a:cs typeface="Calibri Light" panose="020F0302020204030204" pitchFamily="34" charset="0"/>
              </a:rPr>
              <a:t>) {</a:t>
            </a:r>
          </a:p>
          <a:p>
            <a:r>
              <a:rPr lang="en-US" sz="1350" dirty="0">
                <a:latin typeface="Calibri Light" panose="020F0302020204030204" pitchFamily="34" charset="0"/>
                <a:cs typeface="Calibri Light" panose="020F0302020204030204" pitchFamily="34" charset="0"/>
              </a:rPr>
              <a:t>					</a:t>
            </a:r>
            <a:r>
              <a:rPr lang="en-US" sz="1350" dirty="0" err="1">
                <a:latin typeface="Calibri Light" panose="020F0302020204030204" pitchFamily="34" charset="0"/>
                <a:cs typeface="Calibri Light" panose="020F0302020204030204" pitchFamily="34" charset="0"/>
              </a:rPr>
              <a:t>gruppo</a:t>
            </a:r>
            <a:r>
              <a:rPr lang="en-US" sz="1350" dirty="0">
                <a:latin typeface="Calibri Light" panose="020F0302020204030204" pitchFamily="34" charset="0"/>
                <a:cs typeface="Calibri Light" panose="020F0302020204030204" pitchFamily="34" charset="0"/>
              </a:rPr>
              <a:t> = new </a:t>
            </a:r>
            <a:r>
              <a:rPr lang="en-US" sz="1350" dirty="0" err="1">
                <a:latin typeface="Calibri Light" panose="020F0302020204030204" pitchFamily="34" charset="0"/>
                <a:cs typeface="Calibri Light" panose="020F0302020204030204" pitchFamily="34" charset="0"/>
              </a:rPr>
              <a:t>Gruppo</a:t>
            </a:r>
            <a:r>
              <a:rPr lang="en-US" sz="1350" dirty="0">
                <a:latin typeface="Calibri Light" panose="020F0302020204030204" pitchFamily="34" charset="0"/>
                <a:cs typeface="Calibri Light" panose="020F0302020204030204" pitchFamily="34" charset="0"/>
              </a:rPr>
              <a:t>();</a:t>
            </a:r>
          </a:p>
          <a:p>
            <a:r>
              <a:rPr lang="en-US" sz="1350" dirty="0">
                <a:latin typeface="Calibri Light" panose="020F0302020204030204" pitchFamily="34" charset="0"/>
                <a:cs typeface="Calibri Light" panose="020F0302020204030204" pitchFamily="34" charset="0"/>
              </a:rPr>
              <a:t>					</a:t>
            </a:r>
            <a:r>
              <a:rPr lang="en-US" sz="1350" dirty="0" err="1">
                <a:latin typeface="Calibri Light" panose="020F0302020204030204" pitchFamily="34" charset="0"/>
                <a:cs typeface="Calibri Light" panose="020F0302020204030204" pitchFamily="34" charset="0"/>
              </a:rPr>
              <a:t>gruppo.setId</a:t>
            </a:r>
            <a:r>
              <a:rPr lang="en-US" sz="1350" dirty="0">
                <a:latin typeface="Calibri Light" panose="020F0302020204030204" pitchFamily="34" charset="0"/>
                <a:cs typeface="Calibri Light" panose="020F0302020204030204" pitchFamily="34" charset="0"/>
              </a:rPr>
              <a:t>(</a:t>
            </a:r>
            <a:r>
              <a:rPr lang="en-US" sz="1350" dirty="0" err="1">
                <a:latin typeface="Calibri Light" panose="020F0302020204030204" pitchFamily="34" charset="0"/>
                <a:cs typeface="Calibri Light" panose="020F0302020204030204" pitchFamily="34" charset="0"/>
              </a:rPr>
              <a:t>result.getLong</a:t>
            </a:r>
            <a:r>
              <a:rPr lang="en-US" sz="1350" dirty="0">
                <a:latin typeface="Calibri Light" panose="020F0302020204030204" pitchFamily="34" charset="0"/>
                <a:cs typeface="Calibri Light" panose="020F0302020204030204" pitchFamily="34" charset="0"/>
              </a:rPr>
              <a:t>("</a:t>
            </a:r>
            <a:r>
              <a:rPr lang="en-US" sz="1350" dirty="0" err="1">
                <a:latin typeface="Calibri Light" panose="020F0302020204030204" pitchFamily="34" charset="0"/>
                <a:cs typeface="Calibri Light" panose="020F0302020204030204" pitchFamily="34" charset="0"/>
              </a:rPr>
              <a:t>g_id</a:t>
            </a:r>
            <a:r>
              <a:rPr lang="en-US" sz="1350" dirty="0">
                <a:latin typeface="Calibri Light" panose="020F0302020204030204" pitchFamily="34" charset="0"/>
                <a:cs typeface="Calibri Light" panose="020F0302020204030204" pitchFamily="34" charset="0"/>
              </a:rPr>
              <a:t>"));				</a:t>
            </a:r>
          </a:p>
          <a:p>
            <a:r>
              <a:rPr lang="en-US" sz="1350" dirty="0">
                <a:latin typeface="Calibri Light" panose="020F0302020204030204" pitchFamily="34" charset="0"/>
                <a:cs typeface="Calibri Light" panose="020F0302020204030204" pitchFamily="34" charset="0"/>
              </a:rPr>
              <a:t>					</a:t>
            </a:r>
            <a:r>
              <a:rPr lang="en-US" sz="1350" dirty="0" err="1">
                <a:latin typeface="Calibri Light" panose="020F0302020204030204" pitchFamily="34" charset="0"/>
                <a:cs typeface="Calibri Light" panose="020F0302020204030204" pitchFamily="34" charset="0"/>
              </a:rPr>
              <a:t>gruppo.setNome</a:t>
            </a:r>
            <a:r>
              <a:rPr lang="en-US" sz="1350" dirty="0">
                <a:latin typeface="Calibri Light" panose="020F0302020204030204" pitchFamily="34" charset="0"/>
                <a:cs typeface="Calibri Light" panose="020F0302020204030204" pitchFamily="34" charset="0"/>
              </a:rPr>
              <a:t>(</a:t>
            </a:r>
            <a:r>
              <a:rPr lang="en-US" sz="1350" dirty="0" err="1">
                <a:latin typeface="Calibri Light" panose="020F0302020204030204" pitchFamily="34" charset="0"/>
                <a:cs typeface="Calibri Light" panose="020F0302020204030204" pitchFamily="34" charset="0"/>
              </a:rPr>
              <a:t>result.getString</a:t>
            </a:r>
            <a:r>
              <a:rPr lang="en-US" sz="1350" dirty="0">
                <a:latin typeface="Calibri Light" panose="020F0302020204030204" pitchFamily="34" charset="0"/>
                <a:cs typeface="Calibri Light" panose="020F0302020204030204" pitchFamily="34" charset="0"/>
              </a:rPr>
              <a:t>("</a:t>
            </a:r>
            <a:r>
              <a:rPr lang="en-US" sz="1350" dirty="0" err="1">
                <a:latin typeface="Calibri Light" panose="020F0302020204030204" pitchFamily="34" charset="0"/>
                <a:cs typeface="Calibri Light" panose="020F0302020204030204" pitchFamily="34" charset="0"/>
              </a:rPr>
              <a:t>g_nome</a:t>
            </a:r>
            <a:r>
              <a:rPr lang="en-US" sz="1350" dirty="0">
                <a:latin typeface="Calibri Light" panose="020F0302020204030204" pitchFamily="34" charset="0"/>
                <a:cs typeface="Calibri Light" panose="020F0302020204030204" pitchFamily="34" charset="0"/>
              </a:rPr>
              <a:t>"));</a:t>
            </a:r>
          </a:p>
          <a:p>
            <a:r>
              <a:rPr lang="en-US" sz="1350" dirty="0">
                <a:latin typeface="Calibri Light" panose="020F0302020204030204" pitchFamily="34" charset="0"/>
                <a:cs typeface="Calibri Light" panose="020F0302020204030204" pitchFamily="34" charset="0"/>
              </a:rPr>
              <a:t>					</a:t>
            </a:r>
            <a:r>
              <a:rPr lang="en-US" sz="1350" dirty="0" err="1">
                <a:latin typeface="Calibri Light" panose="020F0302020204030204" pitchFamily="34" charset="0"/>
                <a:cs typeface="Calibri Light" panose="020F0302020204030204" pitchFamily="34" charset="0"/>
              </a:rPr>
              <a:t>primaRiga</a:t>
            </a:r>
            <a:r>
              <a:rPr lang="en-US" sz="1350" dirty="0">
                <a:latin typeface="Calibri Light" panose="020F0302020204030204" pitchFamily="34" charset="0"/>
                <a:cs typeface="Calibri Light" panose="020F0302020204030204" pitchFamily="34" charset="0"/>
              </a:rPr>
              <a:t> = false;</a:t>
            </a:r>
          </a:p>
          <a:p>
            <a:r>
              <a:rPr lang="en-US" sz="1350" dirty="0">
                <a:latin typeface="Calibri Light" panose="020F0302020204030204" pitchFamily="34" charset="0"/>
                <a:cs typeface="Calibri Light" panose="020F0302020204030204" pitchFamily="34" charset="0"/>
              </a:rPr>
              <a:t>				}</a:t>
            </a:r>
          </a:p>
          <a:p>
            <a:r>
              <a:rPr lang="en-US" sz="1350" dirty="0">
                <a:latin typeface="Calibri Light" panose="020F0302020204030204" pitchFamily="34" charset="0"/>
                <a:cs typeface="Calibri Light" panose="020F0302020204030204" pitchFamily="34" charset="0"/>
              </a:rPr>
              <a:t>				if(</a:t>
            </a:r>
            <a:r>
              <a:rPr lang="en-US" sz="1350" dirty="0" err="1">
                <a:latin typeface="Calibri Light" panose="020F0302020204030204" pitchFamily="34" charset="0"/>
                <a:cs typeface="Calibri Light" panose="020F0302020204030204" pitchFamily="34" charset="0"/>
              </a:rPr>
              <a:t>result.getString</a:t>
            </a:r>
            <a:r>
              <a:rPr lang="en-US" sz="1350" dirty="0">
                <a:latin typeface="Calibri Light" panose="020F0302020204030204" pitchFamily="34" charset="0"/>
                <a:cs typeface="Calibri Light" panose="020F0302020204030204" pitchFamily="34" charset="0"/>
              </a:rPr>
              <a:t>("</a:t>
            </a:r>
            <a:r>
              <a:rPr lang="en-US" sz="1350" dirty="0" err="1">
                <a:latin typeface="Calibri Light" panose="020F0302020204030204" pitchFamily="34" charset="0"/>
                <a:cs typeface="Calibri Light" panose="020F0302020204030204" pitchFamily="34" charset="0"/>
              </a:rPr>
              <a:t>matricola</a:t>
            </a:r>
            <a:r>
              <a:rPr lang="en-US" sz="1350" dirty="0">
                <a:latin typeface="Calibri Light" panose="020F0302020204030204" pitchFamily="34" charset="0"/>
                <a:cs typeface="Calibri Light" panose="020F0302020204030204" pitchFamily="34" charset="0"/>
              </a:rPr>
              <a:t>")!=null){</a:t>
            </a:r>
          </a:p>
          <a:p>
            <a:r>
              <a:rPr lang="en-US" sz="1350" dirty="0">
                <a:latin typeface="Calibri Light" panose="020F0302020204030204" pitchFamily="34" charset="0"/>
                <a:cs typeface="Calibri Light" panose="020F0302020204030204" pitchFamily="34" charset="0"/>
              </a:rPr>
              <a:t>					</a:t>
            </a:r>
            <a:r>
              <a:rPr lang="en-US" sz="1350" dirty="0" err="1">
                <a:latin typeface="Calibri Light" panose="020F0302020204030204" pitchFamily="34" charset="0"/>
                <a:cs typeface="Calibri Light" panose="020F0302020204030204" pitchFamily="34" charset="0"/>
              </a:rPr>
              <a:t>Studente</a:t>
            </a:r>
            <a:r>
              <a:rPr lang="en-US" sz="1350" dirty="0">
                <a:latin typeface="Calibri Light" panose="020F0302020204030204" pitchFamily="34" charset="0"/>
                <a:cs typeface="Calibri Light" panose="020F0302020204030204" pitchFamily="34" charset="0"/>
              </a:rPr>
              <a:t> </a:t>
            </a:r>
            <a:r>
              <a:rPr lang="en-US" sz="1350" dirty="0" err="1">
                <a:latin typeface="Calibri Light" panose="020F0302020204030204" pitchFamily="34" charset="0"/>
                <a:cs typeface="Calibri Light" panose="020F0302020204030204" pitchFamily="34" charset="0"/>
              </a:rPr>
              <a:t>studente</a:t>
            </a:r>
            <a:r>
              <a:rPr lang="en-US" sz="1350" dirty="0">
                <a:latin typeface="Calibri Light" panose="020F0302020204030204" pitchFamily="34" charset="0"/>
                <a:cs typeface="Calibri Light" panose="020F0302020204030204" pitchFamily="34" charset="0"/>
              </a:rPr>
              <a:t> = new </a:t>
            </a:r>
            <a:r>
              <a:rPr lang="en-US" sz="1350" dirty="0" err="1">
                <a:latin typeface="Calibri Light" panose="020F0302020204030204" pitchFamily="34" charset="0"/>
                <a:cs typeface="Calibri Light" panose="020F0302020204030204" pitchFamily="34" charset="0"/>
              </a:rPr>
              <a:t>Studente</a:t>
            </a:r>
            <a:r>
              <a:rPr lang="en-US" sz="1350" dirty="0">
                <a:latin typeface="Calibri Light" panose="020F0302020204030204" pitchFamily="34" charset="0"/>
                <a:cs typeface="Calibri Light" panose="020F0302020204030204" pitchFamily="34" charset="0"/>
              </a:rPr>
              <a:t>();</a:t>
            </a:r>
          </a:p>
          <a:p>
            <a:r>
              <a:rPr lang="en-US" sz="1350" dirty="0">
                <a:latin typeface="Calibri Light" panose="020F0302020204030204" pitchFamily="34" charset="0"/>
                <a:cs typeface="Calibri Light" panose="020F0302020204030204" pitchFamily="34" charset="0"/>
              </a:rPr>
              <a:t>					</a:t>
            </a:r>
            <a:r>
              <a:rPr lang="en-US" sz="1350" dirty="0" err="1">
                <a:latin typeface="Calibri Light" panose="020F0302020204030204" pitchFamily="34" charset="0"/>
                <a:cs typeface="Calibri Light" panose="020F0302020204030204" pitchFamily="34" charset="0"/>
              </a:rPr>
              <a:t>studente.setMatricola</a:t>
            </a:r>
            <a:r>
              <a:rPr lang="en-US" sz="1350" dirty="0">
                <a:latin typeface="Calibri Light" panose="020F0302020204030204" pitchFamily="34" charset="0"/>
                <a:cs typeface="Calibri Light" panose="020F0302020204030204" pitchFamily="34" charset="0"/>
              </a:rPr>
              <a:t>(</a:t>
            </a:r>
            <a:r>
              <a:rPr lang="en-US" sz="1350" dirty="0" err="1">
                <a:latin typeface="Calibri Light" panose="020F0302020204030204" pitchFamily="34" charset="0"/>
                <a:cs typeface="Calibri Light" panose="020F0302020204030204" pitchFamily="34" charset="0"/>
              </a:rPr>
              <a:t>result.getString</a:t>
            </a:r>
            <a:r>
              <a:rPr lang="en-US" sz="1350" dirty="0">
                <a:latin typeface="Calibri Light" panose="020F0302020204030204" pitchFamily="34" charset="0"/>
                <a:cs typeface="Calibri Light" panose="020F0302020204030204" pitchFamily="34" charset="0"/>
              </a:rPr>
              <a:t>("</a:t>
            </a:r>
            <a:r>
              <a:rPr lang="en-US" sz="1350" dirty="0" err="1">
                <a:latin typeface="Calibri Light" panose="020F0302020204030204" pitchFamily="34" charset="0"/>
                <a:cs typeface="Calibri Light" panose="020F0302020204030204" pitchFamily="34" charset="0"/>
              </a:rPr>
              <a:t>matricola</a:t>
            </a:r>
            <a:r>
              <a:rPr lang="en-US" sz="1350" dirty="0">
                <a:latin typeface="Calibri Light" panose="020F0302020204030204" pitchFamily="34" charset="0"/>
                <a:cs typeface="Calibri Light" panose="020F0302020204030204" pitchFamily="34" charset="0"/>
              </a:rPr>
              <a:t>"));</a:t>
            </a:r>
          </a:p>
          <a:p>
            <a:r>
              <a:rPr lang="en-US" sz="1350" dirty="0">
                <a:latin typeface="Calibri Light" panose="020F0302020204030204" pitchFamily="34" charset="0"/>
                <a:cs typeface="Calibri Light" panose="020F0302020204030204" pitchFamily="34" charset="0"/>
              </a:rPr>
              <a:t>					</a:t>
            </a:r>
            <a:r>
              <a:rPr lang="en-US" sz="1350" dirty="0" err="1">
                <a:latin typeface="Calibri Light" panose="020F0302020204030204" pitchFamily="34" charset="0"/>
                <a:cs typeface="Calibri Light" panose="020F0302020204030204" pitchFamily="34" charset="0"/>
              </a:rPr>
              <a:t>studente.setNome</a:t>
            </a:r>
            <a:r>
              <a:rPr lang="en-US" sz="1350" dirty="0">
                <a:latin typeface="Calibri Light" panose="020F0302020204030204" pitchFamily="34" charset="0"/>
                <a:cs typeface="Calibri Light" panose="020F0302020204030204" pitchFamily="34" charset="0"/>
              </a:rPr>
              <a:t>(</a:t>
            </a:r>
            <a:r>
              <a:rPr lang="en-US" sz="1350" dirty="0" err="1">
                <a:latin typeface="Calibri Light" panose="020F0302020204030204" pitchFamily="34" charset="0"/>
                <a:cs typeface="Calibri Light" panose="020F0302020204030204" pitchFamily="34" charset="0"/>
              </a:rPr>
              <a:t>result.getString</a:t>
            </a:r>
            <a:r>
              <a:rPr lang="en-US" sz="1350" dirty="0">
                <a:latin typeface="Calibri Light" panose="020F0302020204030204" pitchFamily="34" charset="0"/>
                <a:cs typeface="Calibri Light" panose="020F0302020204030204" pitchFamily="34" charset="0"/>
              </a:rPr>
              <a:t>("</a:t>
            </a:r>
            <a:r>
              <a:rPr lang="en-US" sz="1350" dirty="0" err="1">
                <a:latin typeface="Calibri Light" panose="020F0302020204030204" pitchFamily="34" charset="0"/>
                <a:cs typeface="Calibri Light" panose="020F0302020204030204" pitchFamily="34" charset="0"/>
              </a:rPr>
              <a:t>nome</a:t>
            </a:r>
            <a:r>
              <a:rPr lang="en-US" sz="1350" dirty="0">
                <a:latin typeface="Calibri Light" panose="020F0302020204030204" pitchFamily="34" charset="0"/>
                <a:cs typeface="Calibri Light" panose="020F0302020204030204" pitchFamily="34" charset="0"/>
              </a:rPr>
              <a:t>"));</a:t>
            </a:r>
          </a:p>
          <a:p>
            <a:r>
              <a:rPr lang="en-US" sz="1350" dirty="0">
                <a:latin typeface="Calibri Light" panose="020F0302020204030204" pitchFamily="34" charset="0"/>
                <a:cs typeface="Calibri Light" panose="020F0302020204030204" pitchFamily="34" charset="0"/>
              </a:rPr>
              <a:t>					</a:t>
            </a:r>
            <a:r>
              <a:rPr lang="en-US" sz="1350" dirty="0" err="1">
                <a:latin typeface="Calibri Light" panose="020F0302020204030204" pitchFamily="34" charset="0"/>
                <a:cs typeface="Calibri Light" panose="020F0302020204030204" pitchFamily="34" charset="0"/>
              </a:rPr>
              <a:t>studente.setCognome</a:t>
            </a:r>
            <a:r>
              <a:rPr lang="en-US" sz="1350" dirty="0">
                <a:latin typeface="Calibri Light" panose="020F0302020204030204" pitchFamily="34" charset="0"/>
                <a:cs typeface="Calibri Light" panose="020F0302020204030204" pitchFamily="34" charset="0"/>
              </a:rPr>
              <a:t>(</a:t>
            </a:r>
            <a:r>
              <a:rPr lang="en-US" sz="1350" dirty="0" err="1">
                <a:latin typeface="Calibri Light" panose="020F0302020204030204" pitchFamily="34" charset="0"/>
                <a:cs typeface="Calibri Light" panose="020F0302020204030204" pitchFamily="34" charset="0"/>
              </a:rPr>
              <a:t>result.getString</a:t>
            </a:r>
            <a:r>
              <a:rPr lang="en-US" sz="1350" dirty="0">
                <a:latin typeface="Calibri Light" panose="020F0302020204030204" pitchFamily="34" charset="0"/>
                <a:cs typeface="Calibri Light" panose="020F0302020204030204" pitchFamily="34" charset="0"/>
              </a:rPr>
              <a:t>("</a:t>
            </a:r>
            <a:r>
              <a:rPr lang="en-US" sz="1350" dirty="0" err="1">
                <a:latin typeface="Calibri Light" panose="020F0302020204030204" pitchFamily="34" charset="0"/>
                <a:cs typeface="Calibri Light" panose="020F0302020204030204" pitchFamily="34" charset="0"/>
              </a:rPr>
              <a:t>cognome</a:t>
            </a:r>
            <a:r>
              <a:rPr lang="en-US" sz="1350" dirty="0">
                <a:latin typeface="Calibri Light" panose="020F0302020204030204" pitchFamily="34" charset="0"/>
                <a:cs typeface="Calibri Light" panose="020F0302020204030204" pitchFamily="34" charset="0"/>
              </a:rPr>
              <a:t>"));</a:t>
            </a:r>
          </a:p>
          <a:p>
            <a:r>
              <a:rPr lang="en-US" sz="1350" dirty="0">
                <a:latin typeface="Calibri Light" panose="020F0302020204030204" pitchFamily="34" charset="0"/>
                <a:cs typeface="Calibri Light" panose="020F0302020204030204" pitchFamily="34" charset="0"/>
              </a:rPr>
              <a:t>					long </a:t>
            </a:r>
            <a:r>
              <a:rPr lang="en-US" sz="1350" dirty="0" err="1">
                <a:latin typeface="Calibri Light" panose="020F0302020204030204" pitchFamily="34" charset="0"/>
                <a:cs typeface="Calibri Light" panose="020F0302020204030204" pitchFamily="34" charset="0"/>
              </a:rPr>
              <a:t>secs</a:t>
            </a:r>
            <a:r>
              <a:rPr lang="en-US" sz="1350" dirty="0">
                <a:latin typeface="Calibri Light" panose="020F0302020204030204" pitchFamily="34" charset="0"/>
                <a:cs typeface="Calibri Light" panose="020F0302020204030204" pitchFamily="34" charset="0"/>
              </a:rPr>
              <a:t> = </a:t>
            </a:r>
            <a:r>
              <a:rPr lang="en-US" sz="1350" dirty="0" err="1">
                <a:latin typeface="Calibri Light" panose="020F0302020204030204" pitchFamily="34" charset="0"/>
                <a:cs typeface="Calibri Light" panose="020F0302020204030204" pitchFamily="34" charset="0"/>
              </a:rPr>
              <a:t>result.getDate</a:t>
            </a:r>
            <a:r>
              <a:rPr lang="en-US" sz="1350" dirty="0">
                <a:latin typeface="Calibri Light" panose="020F0302020204030204" pitchFamily="34" charset="0"/>
                <a:cs typeface="Calibri Light" panose="020F0302020204030204" pitchFamily="34" charset="0"/>
              </a:rPr>
              <a:t>("</a:t>
            </a:r>
            <a:r>
              <a:rPr lang="en-US" sz="1350" dirty="0" err="1">
                <a:latin typeface="Calibri Light" panose="020F0302020204030204" pitchFamily="34" charset="0"/>
                <a:cs typeface="Calibri Light" panose="020F0302020204030204" pitchFamily="34" charset="0"/>
              </a:rPr>
              <a:t>datanascita</a:t>
            </a:r>
            <a:r>
              <a:rPr lang="en-US" sz="1350" dirty="0">
                <a:latin typeface="Calibri Light" panose="020F0302020204030204" pitchFamily="34" charset="0"/>
                <a:cs typeface="Calibri Light" panose="020F0302020204030204" pitchFamily="34" charset="0"/>
              </a:rPr>
              <a:t>").</a:t>
            </a:r>
            <a:r>
              <a:rPr lang="en-US" sz="1350" dirty="0" err="1">
                <a:latin typeface="Calibri Light" panose="020F0302020204030204" pitchFamily="34" charset="0"/>
                <a:cs typeface="Calibri Light" panose="020F0302020204030204" pitchFamily="34" charset="0"/>
              </a:rPr>
              <a:t>getTime</a:t>
            </a:r>
            <a:r>
              <a:rPr lang="en-US" sz="1350" dirty="0">
                <a:latin typeface="Calibri Light" panose="020F0302020204030204" pitchFamily="34" charset="0"/>
                <a:cs typeface="Calibri Light" panose="020F0302020204030204" pitchFamily="34" charset="0"/>
              </a:rPr>
              <a:t>();</a:t>
            </a:r>
          </a:p>
          <a:p>
            <a:r>
              <a:rPr lang="en-US" sz="1350" dirty="0">
                <a:latin typeface="Calibri Light" panose="020F0302020204030204" pitchFamily="34" charset="0"/>
                <a:cs typeface="Calibri Light" panose="020F0302020204030204" pitchFamily="34" charset="0"/>
              </a:rPr>
              <a:t>					</a:t>
            </a:r>
            <a:r>
              <a:rPr lang="en-US" sz="1350" dirty="0" err="1">
                <a:latin typeface="Calibri Light" panose="020F0302020204030204" pitchFamily="34" charset="0"/>
                <a:cs typeface="Calibri Light" panose="020F0302020204030204" pitchFamily="34" charset="0"/>
              </a:rPr>
              <a:t>studente.setDataNascita</a:t>
            </a:r>
            <a:r>
              <a:rPr lang="en-US" sz="1350" dirty="0">
                <a:latin typeface="Calibri Light" panose="020F0302020204030204" pitchFamily="34" charset="0"/>
                <a:cs typeface="Calibri Light" panose="020F0302020204030204" pitchFamily="34" charset="0"/>
              </a:rPr>
              <a:t>(new </a:t>
            </a:r>
            <a:r>
              <a:rPr lang="en-US" sz="1350" dirty="0" err="1">
                <a:latin typeface="Calibri Light" panose="020F0302020204030204" pitchFamily="34" charset="0"/>
                <a:cs typeface="Calibri Light" panose="020F0302020204030204" pitchFamily="34" charset="0"/>
              </a:rPr>
              <a:t>java.util.Date</a:t>
            </a:r>
            <a:r>
              <a:rPr lang="en-US" sz="1350" dirty="0">
                <a:latin typeface="Calibri Light" panose="020F0302020204030204" pitchFamily="34" charset="0"/>
                <a:cs typeface="Calibri Light" panose="020F0302020204030204" pitchFamily="34" charset="0"/>
              </a:rPr>
              <a:t>(</a:t>
            </a:r>
            <a:r>
              <a:rPr lang="en-US" sz="1350" dirty="0" err="1">
                <a:latin typeface="Calibri Light" panose="020F0302020204030204" pitchFamily="34" charset="0"/>
                <a:cs typeface="Calibri Light" panose="020F0302020204030204" pitchFamily="34" charset="0"/>
              </a:rPr>
              <a:t>secs</a:t>
            </a:r>
            <a:r>
              <a:rPr lang="en-US" sz="1350" dirty="0">
                <a:latin typeface="Calibri Light" panose="020F0302020204030204" pitchFamily="34" charset="0"/>
                <a:cs typeface="Calibri Light" panose="020F0302020204030204" pitchFamily="34" charset="0"/>
              </a:rPr>
              <a:t>));</a:t>
            </a:r>
          </a:p>
          <a:p>
            <a:r>
              <a:rPr lang="en-US" sz="1350" dirty="0">
                <a:latin typeface="Calibri Light" panose="020F0302020204030204" pitchFamily="34" charset="0"/>
                <a:cs typeface="Calibri Light" panose="020F0302020204030204" pitchFamily="34" charset="0"/>
              </a:rPr>
              <a:t>					</a:t>
            </a:r>
            <a:r>
              <a:rPr lang="en-US" sz="1350" dirty="0" err="1">
                <a:latin typeface="Calibri Light" panose="020F0302020204030204" pitchFamily="34" charset="0"/>
                <a:cs typeface="Calibri Light" panose="020F0302020204030204" pitchFamily="34" charset="0"/>
              </a:rPr>
              <a:t>gruppo.addStudente</a:t>
            </a:r>
            <a:r>
              <a:rPr lang="en-US" sz="1350" dirty="0">
                <a:latin typeface="Calibri Light" panose="020F0302020204030204" pitchFamily="34" charset="0"/>
                <a:cs typeface="Calibri Light" panose="020F0302020204030204" pitchFamily="34" charset="0"/>
              </a:rPr>
              <a:t>(</a:t>
            </a:r>
            <a:r>
              <a:rPr lang="en-US" sz="1350" dirty="0" err="1">
                <a:latin typeface="Calibri Light" panose="020F0302020204030204" pitchFamily="34" charset="0"/>
                <a:cs typeface="Calibri Light" panose="020F0302020204030204" pitchFamily="34" charset="0"/>
              </a:rPr>
              <a:t>studente</a:t>
            </a:r>
            <a:r>
              <a:rPr lang="en-US" sz="1350" dirty="0">
                <a:latin typeface="Calibri Light" panose="020F0302020204030204" pitchFamily="34" charset="0"/>
                <a:cs typeface="Calibri Light" panose="020F0302020204030204" pitchFamily="34" charset="0"/>
              </a:rPr>
              <a:t>);</a:t>
            </a:r>
          </a:p>
          <a:p>
            <a:r>
              <a:rPr lang="en-US" sz="1350" dirty="0">
                <a:latin typeface="Calibri Light" panose="020F0302020204030204" pitchFamily="34" charset="0"/>
                <a:cs typeface="Calibri Light" panose="020F0302020204030204" pitchFamily="34" charset="0"/>
              </a:rPr>
              <a:t>				}</a:t>
            </a:r>
          </a:p>
          <a:p>
            <a:r>
              <a:rPr lang="en-US" sz="1350" dirty="0">
                <a:latin typeface="Calibri Light" panose="020F0302020204030204" pitchFamily="34" charset="0"/>
                <a:cs typeface="Calibri Light" panose="020F0302020204030204" pitchFamily="34" charset="0"/>
              </a:rPr>
              <a:t>			}</a:t>
            </a:r>
          </a:p>
          <a:p>
            <a:r>
              <a:rPr lang="en-US" sz="1350" dirty="0">
                <a:latin typeface="Calibri Light" panose="020F0302020204030204" pitchFamily="34" charset="0"/>
                <a:cs typeface="Calibri Light" panose="020F0302020204030204" pitchFamily="34" charset="0"/>
              </a:rPr>
              <a:t>		} catch (</a:t>
            </a:r>
            <a:r>
              <a:rPr lang="en-US" sz="1350" dirty="0" err="1">
                <a:latin typeface="Calibri Light" panose="020F0302020204030204" pitchFamily="34" charset="0"/>
                <a:cs typeface="Calibri Light" panose="020F0302020204030204" pitchFamily="34" charset="0"/>
              </a:rPr>
              <a:t>SQLException</a:t>
            </a:r>
            <a:r>
              <a:rPr lang="en-US" sz="1350" dirty="0">
                <a:latin typeface="Calibri Light" panose="020F0302020204030204" pitchFamily="34" charset="0"/>
                <a:cs typeface="Calibri Light" panose="020F0302020204030204" pitchFamily="34" charset="0"/>
              </a:rPr>
              <a:t> e) { ///…</a:t>
            </a:r>
          </a:p>
          <a:p>
            <a:endParaRPr lang="en-US" sz="135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305470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err="1"/>
              <a:t>Esempio</a:t>
            </a:r>
            <a:r>
              <a:rPr lang="en-US" dirty="0"/>
              <a:t> con Join: note</a:t>
            </a:r>
          </a:p>
        </p:txBody>
      </p:sp>
      <p:sp>
        <p:nvSpPr>
          <p:cNvPr id="3" name="Segnaposto contenuto 2"/>
          <p:cNvSpPr>
            <a:spLocks noGrp="1"/>
          </p:cNvSpPr>
          <p:nvPr>
            <p:ph idx="1"/>
          </p:nvPr>
        </p:nvSpPr>
        <p:spPr>
          <a:xfrm>
            <a:off x="1485900" y="1200151"/>
            <a:ext cx="6515101" cy="3394472"/>
          </a:xfrm>
        </p:spPr>
        <p:txBody>
          <a:bodyPr>
            <a:normAutofit fontScale="92500" lnSpcReduction="10000"/>
          </a:bodyPr>
          <a:lstStyle/>
          <a:p>
            <a:r>
              <a:rPr lang="en-US" dirty="0"/>
              <a:t>Query SQL:</a:t>
            </a:r>
          </a:p>
          <a:p>
            <a:pPr marL="300038" lvl="1" indent="0">
              <a:buNone/>
            </a:pPr>
            <a:r>
              <a:rPr lang="en-US" sz="1500" dirty="0">
                <a:solidFill>
                  <a:srgbClr val="2A00FF"/>
                </a:solidFill>
              </a:rPr>
              <a:t>SELECT </a:t>
            </a:r>
            <a:r>
              <a:rPr lang="en-US" sz="1500" dirty="0" err="1">
                <a:solidFill>
                  <a:srgbClr val="2A00FF"/>
                </a:solidFill>
              </a:rPr>
              <a:t>g.id</a:t>
            </a:r>
            <a:r>
              <a:rPr lang="en-US" sz="1500" dirty="0">
                <a:solidFill>
                  <a:srgbClr val="2A00FF"/>
                </a:solidFill>
              </a:rPr>
              <a:t> AS </a:t>
            </a:r>
            <a:r>
              <a:rPr lang="en-US" sz="1500" dirty="0" err="1">
                <a:solidFill>
                  <a:srgbClr val="2A00FF"/>
                </a:solidFill>
              </a:rPr>
              <a:t>g_id</a:t>
            </a:r>
            <a:r>
              <a:rPr lang="en-US" sz="1500" dirty="0">
                <a:solidFill>
                  <a:srgbClr val="2A00FF"/>
                </a:solidFill>
              </a:rPr>
              <a:t>, </a:t>
            </a:r>
            <a:r>
              <a:rPr lang="en-US" sz="1500" dirty="0" err="1">
                <a:solidFill>
                  <a:srgbClr val="2A00FF"/>
                </a:solidFill>
              </a:rPr>
              <a:t>g.nome</a:t>
            </a:r>
            <a:r>
              <a:rPr lang="en-US" sz="1500" dirty="0">
                <a:solidFill>
                  <a:srgbClr val="2A00FF"/>
                </a:solidFill>
              </a:rPr>
              <a:t> AS </a:t>
            </a:r>
            <a:r>
              <a:rPr lang="en-US" sz="1500" dirty="0" err="1">
                <a:solidFill>
                  <a:srgbClr val="2A00FF"/>
                </a:solidFill>
              </a:rPr>
              <a:t>g_nome</a:t>
            </a:r>
            <a:r>
              <a:rPr lang="en-US" sz="1500" dirty="0">
                <a:solidFill>
                  <a:srgbClr val="2A00FF"/>
                </a:solidFill>
              </a:rPr>
              <a:t>, </a:t>
            </a:r>
            <a:br>
              <a:rPr lang="en-US" sz="1500" dirty="0">
                <a:solidFill>
                  <a:srgbClr val="2A00FF"/>
                </a:solidFill>
              </a:rPr>
            </a:br>
            <a:r>
              <a:rPr lang="en-US" sz="1500" dirty="0">
                <a:solidFill>
                  <a:srgbClr val="2A00FF"/>
                </a:solidFill>
              </a:rPr>
              <a:t>			</a:t>
            </a:r>
            <a:r>
              <a:rPr lang="en-US" sz="1500" dirty="0" err="1">
                <a:solidFill>
                  <a:srgbClr val="2A00FF"/>
                </a:solidFill>
              </a:rPr>
              <a:t>s.matricola</a:t>
            </a:r>
            <a:r>
              <a:rPr lang="en-US" sz="1500" dirty="0">
                <a:solidFill>
                  <a:srgbClr val="2A00FF"/>
                </a:solidFill>
              </a:rPr>
              <a:t> AS </a:t>
            </a:r>
            <a:r>
              <a:rPr lang="en-US" sz="1500" dirty="0" err="1">
                <a:solidFill>
                  <a:srgbClr val="2A00FF"/>
                </a:solidFill>
              </a:rPr>
              <a:t>matricola</a:t>
            </a:r>
            <a:r>
              <a:rPr lang="en-US" sz="1500" dirty="0">
                <a:solidFill>
                  <a:srgbClr val="2A00FF"/>
                </a:solidFill>
              </a:rPr>
              <a:t>, </a:t>
            </a:r>
            <a:r>
              <a:rPr lang="en-US" sz="1500" dirty="0" err="1">
                <a:solidFill>
                  <a:srgbClr val="2A00FF"/>
                </a:solidFill>
              </a:rPr>
              <a:t>s.nome</a:t>
            </a:r>
            <a:r>
              <a:rPr lang="en-US" sz="1500" dirty="0">
                <a:solidFill>
                  <a:srgbClr val="2A00FF"/>
                </a:solidFill>
              </a:rPr>
              <a:t> AS </a:t>
            </a:r>
            <a:r>
              <a:rPr lang="en-US" sz="1500" dirty="0" err="1">
                <a:solidFill>
                  <a:srgbClr val="2A00FF"/>
                </a:solidFill>
              </a:rPr>
              <a:t>nome</a:t>
            </a:r>
            <a:r>
              <a:rPr lang="en-US" sz="1500" dirty="0">
                <a:solidFill>
                  <a:srgbClr val="2A00FF"/>
                </a:solidFill>
              </a:rPr>
              <a:t>,</a:t>
            </a:r>
            <a:br>
              <a:rPr lang="en-US" sz="1500" dirty="0">
                <a:solidFill>
                  <a:srgbClr val="2A00FF"/>
                </a:solidFill>
              </a:rPr>
            </a:br>
            <a:r>
              <a:rPr lang="en-US" sz="1500" dirty="0">
                <a:solidFill>
                  <a:srgbClr val="2A00FF"/>
                </a:solidFill>
              </a:rPr>
              <a:t> 		</a:t>
            </a:r>
            <a:r>
              <a:rPr lang="en-US" sz="1500" dirty="0" err="1">
                <a:solidFill>
                  <a:srgbClr val="2A00FF"/>
                </a:solidFill>
              </a:rPr>
              <a:t>s.cognome</a:t>
            </a:r>
            <a:r>
              <a:rPr lang="en-US" sz="1500" dirty="0">
                <a:solidFill>
                  <a:srgbClr val="2A00FF"/>
                </a:solidFill>
              </a:rPr>
              <a:t> AS </a:t>
            </a:r>
            <a:r>
              <a:rPr lang="en-US" sz="1500" dirty="0" err="1">
                <a:solidFill>
                  <a:srgbClr val="2A00FF"/>
                </a:solidFill>
              </a:rPr>
              <a:t>cognome</a:t>
            </a:r>
            <a:r>
              <a:rPr lang="en-US" sz="1500" dirty="0">
                <a:solidFill>
                  <a:srgbClr val="2A00FF"/>
                </a:solidFill>
              </a:rPr>
              <a:t>, </a:t>
            </a:r>
            <a:br>
              <a:rPr lang="en-US" sz="1500" dirty="0">
                <a:solidFill>
                  <a:srgbClr val="2A00FF"/>
                </a:solidFill>
              </a:rPr>
            </a:br>
            <a:r>
              <a:rPr lang="en-US" sz="1500" dirty="0">
                <a:solidFill>
                  <a:srgbClr val="2A00FF"/>
                </a:solidFill>
              </a:rPr>
              <a:t>			</a:t>
            </a:r>
            <a:r>
              <a:rPr lang="en-US" sz="1500" dirty="0" err="1">
                <a:solidFill>
                  <a:srgbClr val="2A00FF"/>
                </a:solidFill>
              </a:rPr>
              <a:t>s.datanascita</a:t>
            </a:r>
            <a:r>
              <a:rPr lang="en-US" sz="1500" dirty="0">
                <a:solidFill>
                  <a:srgbClr val="2A00FF"/>
                </a:solidFill>
              </a:rPr>
              <a:t> AS </a:t>
            </a:r>
            <a:r>
              <a:rPr lang="en-US" sz="1500" dirty="0" err="1">
                <a:solidFill>
                  <a:srgbClr val="2A00FF"/>
                </a:solidFill>
              </a:rPr>
              <a:t>datanascita</a:t>
            </a:r>
            <a:r>
              <a:rPr lang="en-US" sz="1500" dirty="0">
                <a:solidFill>
                  <a:srgbClr val="2A00FF"/>
                </a:solidFill>
              </a:rPr>
              <a:t> </a:t>
            </a:r>
            <a:br>
              <a:rPr lang="en-US" sz="1500" dirty="0">
                <a:solidFill>
                  <a:srgbClr val="2A00FF"/>
                </a:solidFill>
              </a:rPr>
            </a:br>
            <a:r>
              <a:rPr lang="en-US" sz="1500" dirty="0">
                <a:solidFill>
                  <a:srgbClr val="2A00FF"/>
                </a:solidFill>
              </a:rPr>
              <a:t>FROM </a:t>
            </a:r>
            <a:r>
              <a:rPr lang="en-US" sz="1500" dirty="0" err="1">
                <a:solidFill>
                  <a:srgbClr val="2A00FF"/>
                </a:solidFill>
              </a:rPr>
              <a:t>gruppo</a:t>
            </a:r>
            <a:r>
              <a:rPr lang="en-US" sz="1500" dirty="0">
                <a:solidFill>
                  <a:srgbClr val="2A00FF"/>
                </a:solidFill>
              </a:rPr>
              <a:t> g LEFT OUTER JOIN </a:t>
            </a:r>
            <a:r>
              <a:rPr lang="en-US" sz="1500" dirty="0" err="1">
                <a:solidFill>
                  <a:srgbClr val="2A00FF"/>
                </a:solidFill>
              </a:rPr>
              <a:t>studente</a:t>
            </a:r>
            <a:r>
              <a:rPr lang="en-US" sz="1500" dirty="0">
                <a:solidFill>
                  <a:srgbClr val="2A00FF"/>
                </a:solidFill>
              </a:rPr>
              <a:t> s </a:t>
            </a:r>
            <a:br>
              <a:rPr lang="en-US" sz="1500" dirty="0">
                <a:solidFill>
                  <a:srgbClr val="2A00FF"/>
                </a:solidFill>
              </a:rPr>
            </a:br>
            <a:r>
              <a:rPr lang="en-US" sz="1500" dirty="0">
                <a:solidFill>
                  <a:srgbClr val="2A00FF"/>
                </a:solidFill>
              </a:rPr>
              <a:t>			ON </a:t>
            </a:r>
            <a:r>
              <a:rPr lang="en-US" sz="1500" dirty="0" err="1">
                <a:solidFill>
                  <a:srgbClr val="2A00FF"/>
                </a:solidFill>
              </a:rPr>
              <a:t>g.id</a:t>
            </a:r>
            <a:r>
              <a:rPr lang="en-US" sz="1500" dirty="0">
                <a:solidFill>
                  <a:srgbClr val="2A00FF"/>
                </a:solidFill>
              </a:rPr>
              <a:t>=</a:t>
            </a:r>
            <a:r>
              <a:rPr lang="en-US" sz="1500" dirty="0" err="1">
                <a:solidFill>
                  <a:srgbClr val="2A00FF"/>
                </a:solidFill>
              </a:rPr>
              <a:t>s.gruppo_id</a:t>
            </a:r>
            <a:r>
              <a:rPr lang="en-US" sz="1500" dirty="0">
                <a:solidFill>
                  <a:srgbClr val="2A00FF"/>
                </a:solidFill>
              </a:rPr>
              <a:t> </a:t>
            </a:r>
            <a:br>
              <a:rPr lang="en-US" sz="1500" dirty="0">
                <a:solidFill>
                  <a:srgbClr val="2A00FF"/>
                </a:solidFill>
              </a:rPr>
            </a:br>
            <a:r>
              <a:rPr lang="en-US" sz="1500" dirty="0">
                <a:solidFill>
                  <a:srgbClr val="2A00FF"/>
                </a:solidFill>
              </a:rPr>
              <a:t>WHERE </a:t>
            </a:r>
            <a:r>
              <a:rPr lang="en-US" sz="1500" dirty="0" err="1">
                <a:solidFill>
                  <a:srgbClr val="2A00FF"/>
                </a:solidFill>
              </a:rPr>
              <a:t>g.nome</a:t>
            </a:r>
            <a:r>
              <a:rPr lang="en-US" sz="1500" dirty="0">
                <a:solidFill>
                  <a:srgbClr val="2A00FF"/>
                </a:solidFill>
              </a:rPr>
              <a:t> = ?</a:t>
            </a:r>
          </a:p>
          <a:p>
            <a:pPr lvl="0"/>
            <a:r>
              <a:rPr lang="en-US" dirty="0" err="1">
                <a:solidFill>
                  <a:prstClr val="black"/>
                </a:solidFill>
              </a:rPr>
              <a:t>Perchè</a:t>
            </a:r>
            <a:r>
              <a:rPr lang="en-US" dirty="0">
                <a:solidFill>
                  <a:prstClr val="black"/>
                </a:solidFill>
              </a:rPr>
              <a:t> LEFT OUTER JOIN?</a:t>
            </a:r>
          </a:p>
          <a:p>
            <a:pPr lvl="1"/>
            <a:r>
              <a:rPr lang="en-US" dirty="0" err="1">
                <a:solidFill>
                  <a:prstClr val="black"/>
                </a:solidFill>
              </a:rPr>
              <a:t>gruppi</a:t>
            </a:r>
            <a:r>
              <a:rPr lang="en-US" dirty="0">
                <a:solidFill>
                  <a:prstClr val="black"/>
                </a:solidFill>
              </a:rPr>
              <a:t> </a:t>
            </a:r>
            <a:r>
              <a:rPr lang="en-US" dirty="0" err="1">
                <a:solidFill>
                  <a:prstClr val="black"/>
                </a:solidFill>
              </a:rPr>
              <a:t>senza</a:t>
            </a:r>
            <a:r>
              <a:rPr lang="en-US" dirty="0">
                <a:solidFill>
                  <a:prstClr val="black"/>
                </a:solidFill>
              </a:rPr>
              <a:t> </a:t>
            </a:r>
            <a:r>
              <a:rPr lang="en-US" dirty="0" err="1">
                <a:solidFill>
                  <a:prstClr val="black"/>
                </a:solidFill>
              </a:rPr>
              <a:t>studenti</a:t>
            </a:r>
            <a:r>
              <a:rPr lang="en-US" dirty="0">
                <a:solidFill>
                  <a:prstClr val="black"/>
                </a:solidFill>
              </a:rPr>
              <a:t> non </a:t>
            </a:r>
            <a:r>
              <a:rPr lang="en-US" dirty="0" err="1">
                <a:solidFill>
                  <a:prstClr val="black"/>
                </a:solidFill>
              </a:rPr>
              <a:t>verrebbero</a:t>
            </a:r>
            <a:r>
              <a:rPr lang="en-US" dirty="0">
                <a:solidFill>
                  <a:prstClr val="black"/>
                </a:solidFill>
              </a:rPr>
              <a:t> </a:t>
            </a:r>
            <a:r>
              <a:rPr lang="en-US" dirty="0" err="1">
                <a:solidFill>
                  <a:prstClr val="black"/>
                </a:solidFill>
              </a:rPr>
              <a:t>trovati</a:t>
            </a:r>
            <a:endParaRPr lang="en-US" dirty="0">
              <a:solidFill>
                <a:prstClr val="black"/>
              </a:solidFill>
            </a:endParaRPr>
          </a:p>
          <a:p>
            <a:pPr lvl="0"/>
            <a:r>
              <a:rPr lang="en-US" dirty="0" err="1">
                <a:solidFill>
                  <a:prstClr val="black"/>
                </a:solidFill>
              </a:rPr>
              <a:t>Perchè</a:t>
            </a:r>
            <a:r>
              <a:rPr lang="en-US" dirty="0">
                <a:solidFill>
                  <a:prstClr val="black"/>
                </a:solidFill>
              </a:rPr>
              <a:t> </a:t>
            </a:r>
            <a:r>
              <a:rPr lang="en-US" dirty="0" err="1">
                <a:solidFill>
                  <a:prstClr val="black"/>
                </a:solidFill>
              </a:rPr>
              <a:t>gli</a:t>
            </a:r>
            <a:r>
              <a:rPr lang="en-US" dirty="0">
                <a:solidFill>
                  <a:prstClr val="black"/>
                </a:solidFill>
              </a:rPr>
              <a:t> alias </a:t>
            </a:r>
            <a:r>
              <a:rPr lang="en-US" dirty="0" err="1">
                <a:solidFill>
                  <a:prstClr val="black"/>
                </a:solidFill>
              </a:rPr>
              <a:t>nella</a:t>
            </a:r>
            <a:r>
              <a:rPr lang="en-US" dirty="0">
                <a:solidFill>
                  <a:prstClr val="black"/>
                </a:solidFill>
              </a:rPr>
              <a:t> target list?</a:t>
            </a:r>
          </a:p>
          <a:p>
            <a:pPr lvl="1"/>
            <a:r>
              <a:rPr lang="en-US" dirty="0">
                <a:solidFill>
                  <a:prstClr val="black"/>
                </a:solidFill>
              </a:rPr>
              <a:t>JDBC </a:t>
            </a:r>
            <a:r>
              <a:rPr lang="en-US" dirty="0" err="1">
                <a:solidFill>
                  <a:prstClr val="black"/>
                </a:solidFill>
              </a:rPr>
              <a:t>fa</a:t>
            </a:r>
            <a:r>
              <a:rPr lang="en-US" dirty="0">
                <a:solidFill>
                  <a:prstClr val="black"/>
                </a:solidFill>
              </a:rPr>
              <a:t> </a:t>
            </a:r>
            <a:r>
              <a:rPr lang="en-US" dirty="0" err="1">
                <a:solidFill>
                  <a:prstClr val="black"/>
                </a:solidFill>
              </a:rPr>
              <a:t>riferimento</a:t>
            </a:r>
            <a:r>
              <a:rPr lang="en-US" dirty="0">
                <a:solidFill>
                  <a:prstClr val="black"/>
                </a:solidFill>
              </a:rPr>
              <a:t> </a:t>
            </a:r>
            <a:r>
              <a:rPr lang="en-US" dirty="0" err="1">
                <a:solidFill>
                  <a:prstClr val="black"/>
                </a:solidFill>
              </a:rPr>
              <a:t>ai</a:t>
            </a:r>
            <a:r>
              <a:rPr lang="en-US" dirty="0">
                <a:solidFill>
                  <a:prstClr val="black"/>
                </a:solidFill>
              </a:rPr>
              <a:t> </a:t>
            </a:r>
            <a:r>
              <a:rPr lang="en-US" dirty="0" err="1">
                <a:solidFill>
                  <a:prstClr val="black"/>
                </a:solidFill>
              </a:rPr>
              <a:t>nomi</a:t>
            </a:r>
            <a:r>
              <a:rPr lang="en-US" dirty="0">
                <a:solidFill>
                  <a:prstClr val="black"/>
                </a:solidFill>
              </a:rPr>
              <a:t> </a:t>
            </a:r>
            <a:r>
              <a:rPr lang="en-US" dirty="0" err="1">
                <a:solidFill>
                  <a:prstClr val="black"/>
                </a:solidFill>
              </a:rPr>
              <a:t>delle</a:t>
            </a:r>
            <a:r>
              <a:rPr lang="en-US" dirty="0">
                <a:solidFill>
                  <a:prstClr val="black"/>
                </a:solidFill>
              </a:rPr>
              <a:t> </a:t>
            </a:r>
            <a:r>
              <a:rPr lang="en-US" dirty="0" err="1">
                <a:solidFill>
                  <a:prstClr val="black"/>
                </a:solidFill>
              </a:rPr>
              <a:t>colonne</a:t>
            </a:r>
            <a:endParaRPr lang="en-US" dirty="0">
              <a:solidFill>
                <a:prstClr val="black"/>
              </a:solidFill>
            </a:endParaRPr>
          </a:p>
        </p:txBody>
      </p:sp>
    </p:spTree>
    <p:extLst>
      <p:ext uri="{BB962C8B-B14F-4D97-AF65-F5344CB8AC3E}">
        <p14:creationId xmlns:p14="http://schemas.microsoft.com/office/powerpoint/2010/main" val="747010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err="1"/>
              <a:t>Problemi</a:t>
            </a:r>
            <a:r>
              <a:rPr lang="en-US" dirty="0"/>
              <a:t> </a:t>
            </a:r>
            <a:r>
              <a:rPr lang="en-US" dirty="0" err="1"/>
              <a:t>soluzione</a:t>
            </a:r>
            <a:r>
              <a:rPr lang="en-US" dirty="0"/>
              <a:t> Join</a:t>
            </a:r>
          </a:p>
        </p:txBody>
      </p:sp>
      <p:sp>
        <p:nvSpPr>
          <p:cNvPr id="3" name="Segnaposto contenuto 2"/>
          <p:cNvSpPr>
            <a:spLocks noGrp="1"/>
          </p:cNvSpPr>
          <p:nvPr>
            <p:ph idx="1"/>
          </p:nvPr>
        </p:nvSpPr>
        <p:spPr/>
        <p:txBody>
          <a:bodyPr>
            <a:normAutofit fontScale="92500"/>
          </a:bodyPr>
          <a:lstStyle/>
          <a:p>
            <a:r>
              <a:rPr lang="en-US" dirty="0"/>
              <a:t>La </a:t>
            </a:r>
            <a:r>
              <a:rPr lang="en-US" dirty="0" err="1"/>
              <a:t>soluzione</a:t>
            </a:r>
            <a:r>
              <a:rPr lang="en-US" dirty="0"/>
              <a:t> con </a:t>
            </a:r>
            <a:r>
              <a:rPr lang="en-US" dirty="0" err="1"/>
              <a:t>il</a:t>
            </a:r>
            <a:r>
              <a:rPr lang="en-US" dirty="0"/>
              <a:t> join ha un (</a:t>
            </a:r>
            <a:r>
              <a:rPr lang="en-US" dirty="0" err="1"/>
              <a:t>potenzialmente</a:t>
            </a:r>
            <a:r>
              <a:rPr lang="en-US" dirty="0"/>
              <a:t> </a:t>
            </a:r>
            <a:r>
              <a:rPr lang="en-US" dirty="0" err="1"/>
              <a:t>grosso</a:t>
            </a:r>
            <a:r>
              <a:rPr lang="en-US" dirty="0"/>
              <a:t>) </a:t>
            </a:r>
            <a:r>
              <a:rPr lang="en-US" dirty="0" err="1"/>
              <a:t>problema</a:t>
            </a:r>
            <a:r>
              <a:rPr lang="en-US" dirty="0"/>
              <a:t> di </a:t>
            </a:r>
            <a:r>
              <a:rPr lang="en-US" dirty="0" err="1"/>
              <a:t>prestazioni</a:t>
            </a:r>
            <a:endParaRPr lang="en-US" dirty="0"/>
          </a:p>
          <a:p>
            <a:r>
              <a:rPr lang="en-US" dirty="0"/>
              <a:t>Non </a:t>
            </a:r>
            <a:r>
              <a:rPr lang="en-US" dirty="0" err="1"/>
              <a:t>è</a:t>
            </a:r>
            <a:r>
              <a:rPr lang="en-US" dirty="0"/>
              <a:t> </a:t>
            </a:r>
            <a:r>
              <a:rPr lang="en-US" dirty="0" err="1"/>
              <a:t>scontato</a:t>
            </a:r>
            <a:r>
              <a:rPr lang="en-US" dirty="0"/>
              <a:t> </a:t>
            </a:r>
            <a:r>
              <a:rPr lang="en-US" dirty="0" err="1"/>
              <a:t>che</a:t>
            </a:r>
            <a:r>
              <a:rPr lang="en-US" dirty="0"/>
              <a:t> le </a:t>
            </a:r>
            <a:r>
              <a:rPr lang="en-US" dirty="0" err="1"/>
              <a:t>operazioni</a:t>
            </a:r>
            <a:r>
              <a:rPr lang="en-US" dirty="0"/>
              <a:t> </a:t>
            </a:r>
            <a:r>
              <a:rPr lang="en-US" dirty="0" err="1"/>
              <a:t>che</a:t>
            </a:r>
            <a:r>
              <a:rPr lang="en-US" dirty="0"/>
              <a:t> </a:t>
            </a:r>
            <a:r>
              <a:rPr lang="en-US" dirty="0" err="1"/>
              <a:t>devo</a:t>
            </a:r>
            <a:r>
              <a:rPr lang="en-US" dirty="0"/>
              <a:t> fare sui </a:t>
            </a:r>
            <a:r>
              <a:rPr lang="en-US" dirty="0" err="1"/>
              <a:t>dati</a:t>
            </a:r>
            <a:r>
              <a:rPr lang="en-US" dirty="0"/>
              <a:t> in </a:t>
            </a:r>
            <a:r>
              <a:rPr lang="en-US" dirty="0" err="1"/>
              <a:t>memoria</a:t>
            </a:r>
            <a:r>
              <a:rPr lang="en-US" dirty="0"/>
              <a:t> </a:t>
            </a:r>
            <a:r>
              <a:rPr lang="en-US" dirty="0" err="1"/>
              <a:t>richiedano</a:t>
            </a:r>
            <a:r>
              <a:rPr lang="en-US" dirty="0"/>
              <a:t> </a:t>
            </a:r>
            <a:r>
              <a:rPr lang="en-US" dirty="0" err="1"/>
              <a:t>i</a:t>
            </a:r>
            <a:r>
              <a:rPr lang="en-US" dirty="0"/>
              <a:t> </a:t>
            </a:r>
            <a:r>
              <a:rPr lang="en-US" dirty="0" err="1"/>
              <a:t>dati</a:t>
            </a:r>
            <a:r>
              <a:rPr lang="en-US" dirty="0"/>
              <a:t> </a:t>
            </a:r>
            <a:r>
              <a:rPr lang="en-US" dirty="0" err="1"/>
              <a:t>degli</a:t>
            </a:r>
            <a:r>
              <a:rPr lang="en-US" dirty="0"/>
              <a:t> </a:t>
            </a:r>
            <a:r>
              <a:rPr lang="en-US" dirty="0" err="1"/>
              <a:t>oggetti</a:t>
            </a:r>
            <a:r>
              <a:rPr lang="en-US" dirty="0"/>
              <a:t> </a:t>
            </a:r>
            <a:r>
              <a:rPr lang="en-US" dirty="0" err="1"/>
              <a:t>collegati</a:t>
            </a:r>
            <a:r>
              <a:rPr lang="en-US" dirty="0"/>
              <a:t> (ad </a:t>
            </a:r>
            <a:r>
              <a:rPr lang="en-US" dirty="0" err="1"/>
              <a:t>esempio</a:t>
            </a:r>
            <a:r>
              <a:rPr lang="en-US" dirty="0"/>
              <a:t> mi </a:t>
            </a:r>
            <a:r>
              <a:rPr lang="en-US" dirty="0" err="1"/>
              <a:t>servono</a:t>
            </a:r>
            <a:r>
              <a:rPr lang="en-US" dirty="0"/>
              <a:t> solo I </a:t>
            </a:r>
            <a:r>
              <a:rPr lang="en-US" dirty="0" err="1"/>
              <a:t>nomi</a:t>
            </a:r>
            <a:r>
              <a:rPr lang="en-US" dirty="0"/>
              <a:t> </a:t>
            </a:r>
            <a:r>
              <a:rPr lang="en-US" dirty="0" err="1"/>
              <a:t>dei</a:t>
            </a:r>
            <a:r>
              <a:rPr lang="en-US" dirty="0"/>
              <a:t> </a:t>
            </a:r>
            <a:r>
              <a:rPr lang="en-US" dirty="0" err="1"/>
              <a:t>gruppi</a:t>
            </a:r>
            <a:r>
              <a:rPr lang="en-US" dirty="0"/>
              <a:t>) </a:t>
            </a:r>
          </a:p>
          <a:p>
            <a:r>
              <a:rPr lang="en-US" dirty="0"/>
              <a:t>Per </a:t>
            </a:r>
            <a:r>
              <a:rPr lang="en-US" dirty="0" err="1"/>
              <a:t>ovviare</a:t>
            </a:r>
            <a:r>
              <a:rPr lang="en-US" dirty="0"/>
              <a:t> a </a:t>
            </a:r>
            <a:r>
              <a:rPr lang="en-US" dirty="0" err="1"/>
              <a:t>questo</a:t>
            </a:r>
            <a:r>
              <a:rPr lang="en-US" dirty="0"/>
              <a:t> </a:t>
            </a:r>
            <a:r>
              <a:rPr lang="en-US" dirty="0" err="1"/>
              <a:t>problema</a:t>
            </a:r>
            <a:r>
              <a:rPr lang="en-US" dirty="0"/>
              <a:t>, </a:t>
            </a:r>
            <a:r>
              <a:rPr lang="en-US" dirty="0" err="1"/>
              <a:t>facciamo</a:t>
            </a:r>
            <a:r>
              <a:rPr lang="en-US" dirty="0"/>
              <a:t> in </a:t>
            </a:r>
            <a:r>
              <a:rPr lang="en-US" dirty="0" err="1"/>
              <a:t>modo</a:t>
            </a:r>
            <a:r>
              <a:rPr lang="en-US" dirty="0"/>
              <a:t> </a:t>
            </a:r>
            <a:r>
              <a:rPr lang="en-US" dirty="0" err="1"/>
              <a:t>che</a:t>
            </a:r>
            <a:r>
              <a:rPr lang="en-US" dirty="0"/>
              <a:t> </a:t>
            </a:r>
            <a:r>
              <a:rPr lang="en-US" dirty="0" err="1"/>
              <a:t>gli</a:t>
            </a:r>
            <a:r>
              <a:rPr lang="en-US" dirty="0"/>
              <a:t> </a:t>
            </a:r>
            <a:r>
              <a:rPr lang="en-US" dirty="0" err="1"/>
              <a:t>oggetti</a:t>
            </a:r>
            <a:r>
              <a:rPr lang="en-US" dirty="0"/>
              <a:t> </a:t>
            </a:r>
            <a:r>
              <a:rPr lang="en-US" dirty="0" err="1"/>
              <a:t>della</a:t>
            </a:r>
            <a:r>
              <a:rPr lang="en-US" dirty="0"/>
              <a:t> </a:t>
            </a:r>
            <a:r>
              <a:rPr lang="en-US" dirty="0" err="1"/>
              <a:t>collezione</a:t>
            </a:r>
            <a:r>
              <a:rPr lang="en-US" dirty="0"/>
              <a:t> </a:t>
            </a:r>
            <a:r>
              <a:rPr lang="en-US" dirty="0" err="1"/>
              <a:t>siano</a:t>
            </a:r>
            <a:r>
              <a:rPr lang="en-US" dirty="0"/>
              <a:t> </a:t>
            </a:r>
            <a:r>
              <a:rPr lang="en-US" dirty="0" err="1"/>
              <a:t>caricati</a:t>
            </a:r>
            <a:r>
              <a:rPr lang="en-US" dirty="0"/>
              <a:t> solo se </a:t>
            </a:r>
            <a:r>
              <a:rPr lang="en-US" dirty="0" err="1"/>
              <a:t>necessario</a:t>
            </a:r>
            <a:r>
              <a:rPr lang="en-US" dirty="0"/>
              <a:t>, </a:t>
            </a:r>
            <a:r>
              <a:rPr lang="en-US" dirty="0" err="1"/>
              <a:t>cioè</a:t>
            </a:r>
            <a:r>
              <a:rPr lang="en-US" dirty="0"/>
              <a:t> solo se </a:t>
            </a:r>
            <a:r>
              <a:rPr lang="en-US" dirty="0" err="1"/>
              <a:t>viene</a:t>
            </a:r>
            <a:r>
              <a:rPr lang="en-US" dirty="0"/>
              <a:t> </a:t>
            </a:r>
            <a:r>
              <a:rPr lang="en-US" dirty="0" err="1"/>
              <a:t>invocato</a:t>
            </a:r>
            <a:r>
              <a:rPr lang="en-US" dirty="0"/>
              <a:t> un  </a:t>
            </a:r>
            <a:r>
              <a:rPr lang="en-US" dirty="0" err="1"/>
              <a:t>metodo</a:t>
            </a:r>
            <a:r>
              <a:rPr lang="en-US" dirty="0"/>
              <a:t> </a:t>
            </a:r>
            <a:r>
              <a:rPr lang="en-US" dirty="0" err="1"/>
              <a:t>che</a:t>
            </a:r>
            <a:r>
              <a:rPr lang="en-US" dirty="0"/>
              <a:t> </a:t>
            </a:r>
            <a:r>
              <a:rPr lang="en-US" dirty="0" err="1"/>
              <a:t>richiede</a:t>
            </a:r>
            <a:r>
              <a:rPr lang="en-US" dirty="0"/>
              <a:t> </a:t>
            </a:r>
            <a:r>
              <a:rPr lang="en-US" dirty="0" err="1"/>
              <a:t>l'accesso</a:t>
            </a:r>
            <a:r>
              <a:rPr lang="en-US" dirty="0"/>
              <a:t> </a:t>
            </a:r>
            <a:r>
              <a:rPr lang="en-US" dirty="0" err="1"/>
              <a:t>alla</a:t>
            </a:r>
            <a:r>
              <a:rPr lang="en-US" dirty="0"/>
              <a:t> </a:t>
            </a:r>
            <a:r>
              <a:rPr lang="en-US" dirty="0" err="1"/>
              <a:t>collezioni</a:t>
            </a:r>
            <a:endParaRPr lang="en-US" dirty="0"/>
          </a:p>
          <a:p>
            <a:pPr lvl="1"/>
            <a:r>
              <a:rPr lang="en-US" dirty="0" err="1"/>
              <a:t>nel</a:t>
            </a:r>
            <a:r>
              <a:rPr lang="en-US" dirty="0"/>
              <a:t> </a:t>
            </a:r>
            <a:r>
              <a:rPr lang="en-US" dirty="0" err="1"/>
              <a:t>nostro</a:t>
            </a:r>
            <a:r>
              <a:rPr lang="en-US" dirty="0"/>
              <a:t> </a:t>
            </a:r>
            <a:r>
              <a:rPr lang="en-US" dirty="0" err="1"/>
              <a:t>esempio</a:t>
            </a:r>
            <a:r>
              <a:rPr lang="en-US" dirty="0"/>
              <a:t> </a:t>
            </a:r>
            <a:r>
              <a:rPr lang="en-US" dirty="0" err="1"/>
              <a:t>il</a:t>
            </a:r>
            <a:r>
              <a:rPr lang="en-US" dirty="0"/>
              <a:t> </a:t>
            </a:r>
            <a:r>
              <a:rPr lang="en-US" dirty="0" err="1"/>
              <a:t>metodo</a:t>
            </a:r>
            <a:r>
              <a:rPr lang="en-US" dirty="0"/>
              <a:t> </a:t>
            </a:r>
            <a:r>
              <a:rPr lang="en-US" dirty="0" err="1"/>
              <a:t>getStudenti</a:t>
            </a:r>
            <a:r>
              <a:rPr lang="en-US" dirty="0"/>
              <a:t>()</a:t>
            </a:r>
          </a:p>
        </p:txBody>
      </p:sp>
    </p:spTree>
    <p:extLst>
      <p:ext uri="{BB962C8B-B14F-4D97-AF65-F5344CB8AC3E}">
        <p14:creationId xmlns:p14="http://schemas.microsoft.com/office/powerpoint/2010/main" val="942503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a:bodyPr>
          <a:lstStyle/>
          <a:p>
            <a:pPr eaLnBrk="1" hangingPunct="1"/>
            <a:r>
              <a:rPr lang="it-IT" dirty="0"/>
              <a:t>Ricostruzione degli oggetti dal </a:t>
            </a:r>
            <a:r>
              <a:rPr lang="it-IT" dirty="0" err="1"/>
              <a:t>db</a:t>
            </a:r>
            <a:endParaRPr lang="en-US" dirty="0"/>
          </a:p>
        </p:txBody>
      </p:sp>
      <p:sp>
        <p:nvSpPr>
          <p:cNvPr id="25603" name="Rectangle 3"/>
          <p:cNvSpPr>
            <a:spLocks noGrp="1" noChangeArrowheads="1"/>
          </p:cNvSpPr>
          <p:nvPr>
            <p:ph idx="1"/>
          </p:nvPr>
        </p:nvSpPr>
        <p:spPr/>
        <p:txBody>
          <a:bodyPr/>
          <a:lstStyle/>
          <a:p>
            <a:pPr eaLnBrk="1" hangingPunct="1"/>
            <a:r>
              <a:rPr lang="it-IT" sz="2100" dirty="0"/>
              <a:t>Ma che cosa è un "oggetto completo"?</a:t>
            </a:r>
          </a:p>
          <a:p>
            <a:pPr lvl="1"/>
            <a:r>
              <a:rPr lang="it-IT" dirty="0"/>
              <a:t>con un modello di dominio complesso questa strategia può portarci a caricare una rete molto vasta di oggetti </a:t>
            </a:r>
            <a:br>
              <a:rPr lang="it-IT" dirty="0"/>
            </a:br>
            <a:r>
              <a:rPr lang="it-IT" dirty="0"/>
              <a:t>(esempio: </a:t>
            </a:r>
            <a:r>
              <a:rPr lang="it-IT" sz="1500" dirty="0" err="1"/>
              <a:t>Professore</a:t>
            </a:r>
            <a:r>
              <a:rPr lang="it-IT" sz="1500" dirty="0" err="1">
                <a:sym typeface="Wingdings" charset="0"/>
              </a:rPr>
              <a:t></a:t>
            </a:r>
            <a:r>
              <a:rPr lang="it-IT" sz="1500" dirty="0" err="1"/>
              <a:t>Corso</a:t>
            </a:r>
            <a:r>
              <a:rPr lang="it-IT" sz="1500" dirty="0" err="1">
                <a:sym typeface="Wingdings" charset="0"/>
              </a:rPr>
              <a:t></a:t>
            </a:r>
            <a:r>
              <a:rPr lang="it-IT" sz="1500" b="1" dirty="0" err="1">
                <a:sym typeface="Wingdings" charset="0"/>
              </a:rPr>
              <a:t>G</a:t>
            </a:r>
            <a:r>
              <a:rPr lang="it-IT" sz="1500" b="1" dirty="0" err="1"/>
              <a:t>ruppo</a:t>
            </a:r>
            <a:r>
              <a:rPr lang="it-IT" sz="1500" dirty="0" err="1">
                <a:sym typeface="Wingdings" charset="0"/>
              </a:rPr>
              <a:t>Studente</a:t>
            </a:r>
            <a:r>
              <a:rPr lang="it-IT" sz="1500" dirty="0">
                <a:sym typeface="Wingdings" charset="0"/>
              </a:rPr>
              <a:t>…</a:t>
            </a:r>
            <a:r>
              <a:rPr lang="it-IT" dirty="0">
                <a:sym typeface="Wingdings" charset="0"/>
              </a:rPr>
              <a:t>)</a:t>
            </a:r>
          </a:p>
          <a:p>
            <a:pPr eaLnBrk="1" hangingPunct="1"/>
            <a:r>
              <a:rPr lang="it-IT" dirty="0">
                <a:sym typeface="Wingdings" charset="0"/>
              </a:rPr>
              <a:t>Fino a quando devo costruire oggetti "inseguendo i riferimenti"? </a:t>
            </a:r>
          </a:p>
          <a:p>
            <a:pPr lvl="1"/>
            <a:r>
              <a:rPr lang="it-IT" dirty="0">
                <a:sym typeface="Wingdings" charset="0"/>
              </a:rPr>
              <a:t>e quindi calcolando costosi join?</a:t>
            </a:r>
          </a:p>
        </p:txBody>
      </p:sp>
    </p:spTree>
    <p:extLst>
      <p:ext uri="{BB962C8B-B14F-4D97-AF65-F5344CB8AC3E}">
        <p14:creationId xmlns:p14="http://schemas.microsoft.com/office/powerpoint/2010/main" val="3290068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normAutofit/>
          </a:bodyPr>
          <a:lstStyle/>
          <a:p>
            <a:pPr eaLnBrk="1" hangingPunct="1"/>
            <a:r>
              <a:rPr lang="it-IT" dirty="0"/>
              <a:t>Ricostruzione degli oggetti dal </a:t>
            </a:r>
            <a:r>
              <a:rPr lang="it-IT" dirty="0" err="1"/>
              <a:t>db</a:t>
            </a:r>
            <a:endParaRPr lang="en-US" dirty="0"/>
          </a:p>
        </p:txBody>
      </p:sp>
      <p:sp>
        <p:nvSpPr>
          <p:cNvPr id="29699" name="Rectangle 3"/>
          <p:cNvSpPr>
            <a:spLocks noGrp="1" noChangeArrowheads="1"/>
          </p:cNvSpPr>
          <p:nvPr>
            <p:ph idx="1"/>
          </p:nvPr>
        </p:nvSpPr>
        <p:spPr/>
        <p:txBody>
          <a:bodyPr>
            <a:normAutofit/>
          </a:bodyPr>
          <a:lstStyle/>
          <a:p>
            <a:pPr marL="257175" lvl="1" indent="-257175">
              <a:buFontTx/>
              <a:buChar char="•"/>
            </a:pPr>
            <a:r>
              <a:rPr lang="it-IT" dirty="0"/>
              <a:t>Possiamo dare una risposta a queste domande analizzando i casi d'uso e il modello del dominio</a:t>
            </a:r>
          </a:p>
          <a:p>
            <a:pPr marL="257175" lvl="1" indent="-257175">
              <a:buFontTx/>
              <a:buChar char="•"/>
            </a:pPr>
            <a:r>
              <a:rPr lang="it-IT" dirty="0"/>
              <a:t>In particolare l'inseguimento dei riferimenti tra oggetti è guidato dalle operazioni offerte dal sistema</a:t>
            </a:r>
          </a:p>
          <a:p>
            <a:pPr marL="257175" lvl="1" indent="-257175">
              <a:buFontTx/>
              <a:buChar char="•"/>
            </a:pPr>
            <a:r>
              <a:rPr lang="it-IT" dirty="0"/>
              <a:t>Nel progettare le classi, i riferimenti vanno messi considerando la direzione in cui le corrispondenti associazioni sono navigate dalle operazioni del sistema</a:t>
            </a:r>
          </a:p>
          <a:p>
            <a:pPr marL="557213" lvl="2" indent="-257175">
              <a:buFontTx/>
              <a:buChar char="•"/>
            </a:pPr>
            <a:r>
              <a:rPr lang="it-IT" dirty="0"/>
              <a:t>questo aspetto non ha rilevanza nella progettazione del  database, perché i riferimenti sono implementati tramite valori e l'operatore di join non è direzionale</a:t>
            </a:r>
          </a:p>
        </p:txBody>
      </p:sp>
    </p:spTree>
    <p:extLst>
      <p:ext uri="{BB962C8B-B14F-4D97-AF65-F5344CB8AC3E}">
        <p14:creationId xmlns:p14="http://schemas.microsoft.com/office/powerpoint/2010/main" val="1710822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olo 1"/>
          <p:cNvSpPr>
            <a:spLocks noGrp="1"/>
          </p:cNvSpPr>
          <p:nvPr>
            <p:ph type="title"/>
          </p:nvPr>
        </p:nvSpPr>
        <p:spPr/>
        <p:txBody>
          <a:bodyPr>
            <a:normAutofit/>
          </a:bodyPr>
          <a:lstStyle/>
          <a:p>
            <a:pPr eaLnBrk="1" hangingPunct="1"/>
            <a:r>
              <a:rPr lang="it-IT" dirty="0"/>
              <a:t>Ricostruzione degli oggetti dal </a:t>
            </a:r>
            <a:r>
              <a:rPr lang="it-IT" dirty="0" err="1"/>
              <a:t>db</a:t>
            </a:r>
            <a:endParaRPr lang="en-US" dirty="0"/>
          </a:p>
        </p:txBody>
      </p:sp>
      <p:sp>
        <p:nvSpPr>
          <p:cNvPr id="27651" name="Segnaposto contenuto 2"/>
          <p:cNvSpPr>
            <a:spLocks noGrp="1"/>
          </p:cNvSpPr>
          <p:nvPr>
            <p:ph idx="1"/>
          </p:nvPr>
        </p:nvSpPr>
        <p:spPr/>
        <p:txBody>
          <a:bodyPr/>
          <a:lstStyle/>
          <a:p>
            <a:pPr marL="257175" lvl="1" indent="-257175">
              <a:buFontTx/>
              <a:buChar char="•"/>
            </a:pPr>
            <a:r>
              <a:rPr lang="it-IT" dirty="0"/>
              <a:t>E quando non ha senso costruire un oggetto completo, come mi comporto? </a:t>
            </a:r>
          </a:p>
          <a:p>
            <a:pPr marL="557213" lvl="2" indent="-257175"/>
            <a:r>
              <a:rPr lang="it-IT" dirty="0"/>
              <a:t>(i metodi che richiedono l'inseguimento di un riferimento, se invocati devono ritornare l'oggetto corretto!)</a:t>
            </a:r>
          </a:p>
          <a:p>
            <a:pPr marL="257175" lvl="1" indent="-257175">
              <a:buFontTx/>
              <a:buChar char="•"/>
            </a:pPr>
            <a:r>
              <a:rPr lang="it-IT" dirty="0">
                <a:sym typeface="Wingdings" charset="0"/>
              </a:rPr>
              <a:t>In questo caso ricorriamo ad una tecnica, detta </a:t>
            </a:r>
            <a:r>
              <a:rPr lang="it-IT" i="1" dirty="0">
                <a:sym typeface="Wingdings" charset="0"/>
              </a:rPr>
              <a:t>Caricamento Pigro</a:t>
            </a:r>
            <a:r>
              <a:rPr lang="it-IT" dirty="0">
                <a:sym typeface="Wingdings" charset="0"/>
              </a:rPr>
              <a:t>, implementata tramite l'applicazione del </a:t>
            </a:r>
            <a:r>
              <a:rPr lang="it-IT" i="1" dirty="0">
                <a:sym typeface="Wingdings" charset="0"/>
              </a:rPr>
              <a:t>Pattern Proxy</a:t>
            </a:r>
            <a:endParaRPr lang="en-US" i="1" dirty="0"/>
          </a:p>
          <a:p>
            <a:pPr eaLnBrk="1" hangingPunct="1"/>
            <a:endParaRPr lang="en-US" dirty="0"/>
          </a:p>
        </p:txBody>
      </p:sp>
    </p:spTree>
    <p:extLst>
      <p:ext uri="{BB962C8B-B14F-4D97-AF65-F5344CB8AC3E}">
        <p14:creationId xmlns:p14="http://schemas.microsoft.com/office/powerpoint/2010/main" val="3035455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it-IT" dirty="0" err="1"/>
              <a:t>Lazy</a:t>
            </a:r>
            <a:r>
              <a:rPr lang="it-IT" dirty="0"/>
              <a:t> Load (caricamento pigro)</a:t>
            </a:r>
            <a:endParaRPr lang="en-US" dirty="0"/>
          </a:p>
        </p:txBody>
      </p:sp>
      <p:sp>
        <p:nvSpPr>
          <p:cNvPr id="28675" name="Rectangle 3"/>
          <p:cNvSpPr>
            <a:spLocks noGrp="1" noChangeArrowheads="1"/>
          </p:cNvSpPr>
          <p:nvPr>
            <p:ph idx="1"/>
          </p:nvPr>
        </p:nvSpPr>
        <p:spPr/>
        <p:txBody>
          <a:bodyPr>
            <a:normAutofit/>
          </a:bodyPr>
          <a:lstStyle/>
          <a:p>
            <a:pPr eaLnBrk="1" hangingPunct="1">
              <a:lnSpc>
                <a:spcPct val="90000"/>
              </a:lnSpc>
            </a:pPr>
            <a:r>
              <a:rPr lang="it-IT" sz="2100" dirty="0"/>
              <a:t>Consideriamo la classe </a:t>
            </a:r>
            <a:r>
              <a:rPr lang="it-IT" sz="2100" b="1" dirty="0">
                <a:latin typeface="Courier New" charset="0"/>
              </a:rPr>
              <a:t>Gruppo</a:t>
            </a:r>
            <a:endParaRPr lang="it-IT" sz="2100" dirty="0"/>
          </a:p>
          <a:p>
            <a:pPr eaLnBrk="1" hangingPunct="1">
              <a:lnSpc>
                <a:spcPct val="90000"/>
              </a:lnSpc>
            </a:pPr>
            <a:r>
              <a:rPr lang="it-IT" sz="2100" dirty="0"/>
              <a:t>Se non è ragionevole pensare che per caricare i dati di un gruppo si debba ricostruire l'intera rete di oggetti collegati dai riferimenti nelle collezioni, possiamo pensare che la collezione di studenti associati al gruppo possa essere caricata solo quando richiesta:</a:t>
            </a:r>
          </a:p>
          <a:p>
            <a:pPr lvl="1" eaLnBrk="1" hangingPunct="1">
              <a:lnSpc>
                <a:spcPct val="90000"/>
              </a:lnSpc>
            </a:pPr>
            <a:r>
              <a:rPr lang="it-IT" sz="1800" dirty="0"/>
              <a:t>quando invochiamo il metodo </a:t>
            </a:r>
            <a:r>
              <a:rPr lang="it-IT" sz="1800" b="1" dirty="0" err="1">
                <a:latin typeface="Courier New" charset="0"/>
              </a:rPr>
              <a:t>getStudenti</a:t>
            </a:r>
            <a:r>
              <a:rPr lang="it-IT" sz="1800" b="1" dirty="0">
                <a:latin typeface="Courier New" charset="0"/>
              </a:rPr>
              <a:t>()</a:t>
            </a:r>
            <a:r>
              <a:rPr lang="it-IT" sz="1800" dirty="0"/>
              <a:t> su un oggetto </a:t>
            </a:r>
            <a:r>
              <a:rPr lang="it-IT" sz="1800" b="1" dirty="0">
                <a:latin typeface="Courier New" charset="0"/>
              </a:rPr>
              <a:t>Gruppo</a:t>
            </a:r>
          </a:p>
          <a:p>
            <a:pPr eaLnBrk="1" hangingPunct="1">
              <a:lnSpc>
                <a:spcPct val="90000"/>
              </a:lnSpc>
            </a:pPr>
            <a:r>
              <a:rPr lang="it-IT" sz="2100" dirty="0"/>
              <a:t>Questa strategia si chiama </a:t>
            </a:r>
            <a:r>
              <a:rPr lang="it-IT" sz="2100" i="1" dirty="0" err="1"/>
              <a:t>Lazy</a:t>
            </a:r>
            <a:r>
              <a:rPr lang="it-IT" sz="2100" i="1" dirty="0"/>
              <a:t> </a:t>
            </a:r>
            <a:r>
              <a:rPr lang="it-IT" sz="2100" i="1" dirty="0" err="1"/>
              <a:t>Load</a:t>
            </a:r>
            <a:r>
              <a:rPr lang="it-IT" sz="2100" i="1" dirty="0"/>
              <a:t> </a:t>
            </a:r>
            <a:r>
              <a:rPr lang="it-IT" sz="2100" dirty="0"/>
              <a:t>(caricamento pigro)</a:t>
            </a:r>
            <a:endParaRPr lang="en-US" sz="2100" dirty="0"/>
          </a:p>
        </p:txBody>
      </p:sp>
    </p:spTree>
    <p:extLst>
      <p:ext uri="{BB962C8B-B14F-4D97-AF65-F5344CB8AC3E}">
        <p14:creationId xmlns:p14="http://schemas.microsoft.com/office/powerpoint/2010/main" val="54525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it-IT" dirty="0" err="1"/>
              <a:t>Lazy</a:t>
            </a:r>
            <a:r>
              <a:rPr lang="it-IT" dirty="0"/>
              <a:t> Load (caricamento pigro)</a:t>
            </a:r>
            <a:endParaRPr lang="en-US" dirty="0"/>
          </a:p>
        </p:txBody>
      </p:sp>
      <p:sp>
        <p:nvSpPr>
          <p:cNvPr id="51203" name="Rectangle 3"/>
          <p:cNvSpPr>
            <a:spLocks noGrp="1" noChangeArrowheads="1"/>
          </p:cNvSpPr>
          <p:nvPr>
            <p:ph idx="1"/>
          </p:nvPr>
        </p:nvSpPr>
        <p:spPr/>
        <p:txBody>
          <a:bodyPr>
            <a:normAutofit fontScale="85000" lnSpcReduction="10000"/>
          </a:bodyPr>
          <a:lstStyle/>
          <a:p>
            <a:pPr eaLnBrk="1" hangingPunct="1">
              <a:lnSpc>
                <a:spcPct val="120000"/>
              </a:lnSpc>
            </a:pPr>
            <a:r>
              <a:rPr lang="it-IT" sz="1800" dirty="0"/>
              <a:t>In pratica quello che vogliamo fare è caricare i dati solo quando questi sono effettivamente richiesti</a:t>
            </a:r>
          </a:p>
          <a:p>
            <a:pPr eaLnBrk="1" hangingPunct="1">
              <a:lnSpc>
                <a:spcPct val="120000"/>
              </a:lnSpc>
            </a:pPr>
            <a:r>
              <a:rPr lang="it-IT" sz="1800" dirty="0"/>
              <a:t>Vediamo come dovrebbe agire il metodo </a:t>
            </a:r>
            <a:r>
              <a:rPr lang="it-IT" sz="1800" b="1" dirty="0" err="1">
                <a:latin typeface="Courier New" charset="0"/>
              </a:rPr>
              <a:t>getStudenti</a:t>
            </a:r>
            <a:r>
              <a:rPr lang="it-IT" sz="1800" b="1" dirty="0">
                <a:latin typeface="Courier New" charset="0"/>
              </a:rPr>
              <a:t> ()</a:t>
            </a:r>
            <a:r>
              <a:rPr lang="it-IT" sz="1800" b="1" dirty="0"/>
              <a:t> </a:t>
            </a:r>
            <a:r>
              <a:rPr lang="it-IT" sz="1800" dirty="0"/>
              <a:t>della classe </a:t>
            </a:r>
            <a:r>
              <a:rPr lang="it-IT" sz="1800" b="1" dirty="0">
                <a:latin typeface="Courier New" charset="0"/>
              </a:rPr>
              <a:t>Gruppo </a:t>
            </a:r>
            <a:r>
              <a:rPr lang="it-IT" sz="1800" dirty="0"/>
              <a:t>seguendo questa strategia</a:t>
            </a:r>
          </a:p>
          <a:p>
            <a:pPr lvl="1" eaLnBrk="1" hangingPunct="1">
              <a:lnSpc>
                <a:spcPct val="120000"/>
              </a:lnSpc>
            </a:pPr>
            <a:r>
              <a:rPr lang="it-IT" sz="1500" dirty="0"/>
              <a:t>quando invocato il metodo </a:t>
            </a:r>
            <a:r>
              <a:rPr lang="it-IT" sz="1500" b="1" dirty="0" err="1">
                <a:latin typeface="Courier New" charset="0"/>
              </a:rPr>
              <a:t>getStudenti</a:t>
            </a:r>
            <a:r>
              <a:rPr lang="it-IT" sz="1500" b="1" dirty="0">
                <a:latin typeface="Courier New" charset="0"/>
              </a:rPr>
              <a:t>()</a:t>
            </a:r>
            <a:r>
              <a:rPr lang="it-IT" dirty="0"/>
              <a:t> </a:t>
            </a:r>
            <a:r>
              <a:rPr lang="it-IT" sz="1500" dirty="0"/>
              <a:t>esegue la </a:t>
            </a:r>
            <a:r>
              <a:rPr lang="it-IT" sz="1500" dirty="0" err="1"/>
              <a:t>query</a:t>
            </a:r>
            <a:r>
              <a:rPr lang="it-IT" sz="1500" dirty="0"/>
              <a:t> per costruire gli oggetti </a:t>
            </a:r>
            <a:r>
              <a:rPr lang="it-IT" sz="1500" b="1" dirty="0">
                <a:latin typeface="Courier New" charset="0"/>
              </a:rPr>
              <a:t>Studente </a:t>
            </a:r>
            <a:r>
              <a:rPr lang="it-IT" sz="1500" dirty="0"/>
              <a:t>associati al gruppo, aggiunge i riferimenti a questi oggetti nella collezione dell'oggetto </a:t>
            </a:r>
            <a:r>
              <a:rPr lang="it-IT" sz="1500" b="1" dirty="0">
                <a:latin typeface="Courier New" charset="0"/>
              </a:rPr>
              <a:t>Gruppo</a:t>
            </a:r>
            <a:r>
              <a:rPr lang="it-IT" sz="1500" dirty="0"/>
              <a:t>, e restituisce la collezione</a:t>
            </a:r>
          </a:p>
          <a:p>
            <a:pPr eaLnBrk="1" hangingPunct="1">
              <a:lnSpc>
                <a:spcPct val="120000"/>
              </a:lnSpc>
            </a:pPr>
            <a:r>
              <a:rPr lang="it-IT" sz="1800" dirty="0"/>
              <a:t>E' importante osservare che se il metodo non viene mai invocato, il costo di caricare i dati relativi agli ordini non viene mai pagato</a:t>
            </a:r>
          </a:p>
          <a:p>
            <a:pPr eaLnBrk="1" hangingPunct="1">
              <a:lnSpc>
                <a:spcPct val="120000"/>
              </a:lnSpc>
            </a:pPr>
            <a:r>
              <a:rPr lang="it-IT" sz="1800" dirty="0"/>
              <a:t>Non possiamo però implementare questa strategia nella classe </a:t>
            </a:r>
            <a:r>
              <a:rPr lang="it-IT" sz="1800" b="1" dirty="0">
                <a:latin typeface="Courier New" charset="0"/>
              </a:rPr>
              <a:t>Gruppo</a:t>
            </a:r>
            <a:r>
              <a:rPr lang="it-IT" sz="1800" dirty="0"/>
              <a:t>: metteremmo codice di gestione della persistenza in una classe del dominio</a:t>
            </a:r>
          </a:p>
          <a:p>
            <a:pPr eaLnBrk="1" hangingPunct="1">
              <a:lnSpc>
                <a:spcPct val="120000"/>
              </a:lnSpc>
            </a:pPr>
            <a:r>
              <a:rPr lang="it-IT" sz="1800" dirty="0"/>
              <a:t>Per implementare bene la strategia </a:t>
            </a:r>
            <a:r>
              <a:rPr lang="it-IT" sz="1800" dirty="0" err="1"/>
              <a:t>Lazy</a:t>
            </a:r>
            <a:r>
              <a:rPr lang="it-IT" sz="1800" dirty="0"/>
              <a:t> </a:t>
            </a:r>
            <a:r>
              <a:rPr lang="it-IT" sz="1800" dirty="0" err="1"/>
              <a:t>Load</a:t>
            </a:r>
            <a:r>
              <a:rPr lang="it-IT" sz="1800" dirty="0"/>
              <a:t> senza ridurre la coesione nella classe del modello è utile fare riferimento al pattern Proxy</a:t>
            </a:r>
            <a:endParaRPr lang="en-US" sz="1800" dirty="0"/>
          </a:p>
        </p:txBody>
      </p:sp>
    </p:spTree>
    <p:extLst>
      <p:ext uri="{BB962C8B-B14F-4D97-AF65-F5344CB8AC3E}">
        <p14:creationId xmlns:p14="http://schemas.microsoft.com/office/powerpoint/2010/main" val="3210400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it-IT" dirty="0"/>
              <a:t>Il pattern proxy: </a:t>
            </a:r>
            <a:r>
              <a:rPr lang="it-IT" dirty="0" err="1"/>
              <a:t>structure</a:t>
            </a:r>
            <a:endParaRPr lang="en-US" dirty="0"/>
          </a:p>
        </p:txBody>
      </p:sp>
      <p:grpSp>
        <p:nvGrpSpPr>
          <p:cNvPr id="30723" name="Group 41"/>
          <p:cNvGrpSpPr>
            <a:grpSpLocks/>
          </p:cNvGrpSpPr>
          <p:nvPr/>
        </p:nvGrpSpPr>
        <p:grpSpPr bwMode="auto">
          <a:xfrm>
            <a:off x="2032397" y="1762125"/>
            <a:ext cx="4699397" cy="1753791"/>
            <a:chOff x="793" y="1933"/>
            <a:chExt cx="3947" cy="1473"/>
          </a:xfrm>
        </p:grpSpPr>
        <p:grpSp>
          <p:nvGrpSpPr>
            <p:cNvPr id="30724" name="Group 27"/>
            <p:cNvGrpSpPr>
              <a:grpSpLocks/>
            </p:cNvGrpSpPr>
            <p:nvPr/>
          </p:nvGrpSpPr>
          <p:grpSpPr bwMode="auto">
            <a:xfrm>
              <a:off x="2245" y="2886"/>
              <a:ext cx="817" cy="499"/>
              <a:chOff x="612" y="2886"/>
              <a:chExt cx="817" cy="499"/>
            </a:xfrm>
          </p:grpSpPr>
          <p:grpSp>
            <p:nvGrpSpPr>
              <p:cNvPr id="30748" name="Group 15"/>
              <p:cNvGrpSpPr>
                <a:grpSpLocks/>
              </p:cNvGrpSpPr>
              <p:nvPr/>
            </p:nvGrpSpPr>
            <p:grpSpPr bwMode="auto">
              <a:xfrm>
                <a:off x="612" y="2886"/>
                <a:ext cx="817" cy="499"/>
                <a:chOff x="612" y="1933"/>
                <a:chExt cx="817" cy="499"/>
              </a:xfrm>
            </p:grpSpPr>
            <p:sp>
              <p:nvSpPr>
                <p:cNvPr id="30750" name="Rectangle 16"/>
                <p:cNvSpPr>
                  <a:spLocks noChangeArrowheads="1"/>
                </p:cNvSpPr>
                <p:nvPr/>
              </p:nvSpPr>
              <p:spPr bwMode="auto">
                <a:xfrm>
                  <a:off x="612" y="1933"/>
                  <a:ext cx="817" cy="499"/>
                </a:xfrm>
                <a:prstGeom prst="rect">
                  <a:avLst/>
                </a:prstGeom>
                <a:solidFill>
                  <a:schemeClr val="bg1"/>
                </a:solidFill>
                <a:ln w="9525">
                  <a:solidFill>
                    <a:schemeClr val="tx1"/>
                  </a:solidFill>
                  <a:miter lim="800000"/>
                  <a:headEnd/>
                  <a:tailEnd/>
                </a:ln>
                <a:effectLst>
                  <a:outerShdw blurRad="63500" dist="53882" dir="2700000" algn="ctr" rotWithShape="0">
                    <a:schemeClr val="tx2">
                      <a:alpha val="50000"/>
                    </a:schemeClr>
                  </a:outerShdw>
                </a:effectLst>
              </p:spPr>
              <p:txBody>
                <a:bodyPr wrap="none" anchor="ctr"/>
                <a:lstStyle/>
                <a:p>
                  <a:endParaRPr lang="it-IT" sz="1350" dirty="0">
                    <a:latin typeface="Calibri Light" panose="020F0302020204030204" pitchFamily="34" charset="0"/>
                  </a:endParaRPr>
                </a:p>
              </p:txBody>
            </p:sp>
            <p:sp>
              <p:nvSpPr>
                <p:cNvPr id="30751" name="Line 17"/>
                <p:cNvSpPr>
                  <a:spLocks noChangeShapeType="1"/>
                </p:cNvSpPr>
                <p:nvPr/>
              </p:nvSpPr>
              <p:spPr bwMode="auto">
                <a:xfrm>
                  <a:off x="612" y="2160"/>
                  <a:ext cx="817"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sz="1350" dirty="0">
                    <a:latin typeface="Calibri Light" panose="020F0302020204030204" pitchFamily="34" charset="0"/>
                  </a:endParaRPr>
                </a:p>
              </p:txBody>
            </p:sp>
            <p:sp>
              <p:nvSpPr>
                <p:cNvPr id="30752" name="Text Box 18"/>
                <p:cNvSpPr txBox="1">
                  <a:spLocks noChangeArrowheads="1"/>
                </p:cNvSpPr>
                <p:nvPr/>
              </p:nvSpPr>
              <p:spPr bwMode="auto">
                <a:xfrm>
                  <a:off x="825" y="1952"/>
                  <a:ext cx="373" cy="1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ctr" eaLnBrk="1" hangingPunct="1">
                    <a:lnSpc>
                      <a:spcPct val="80000"/>
                    </a:lnSpc>
                  </a:pPr>
                  <a:r>
                    <a:rPr lang="it-IT" sz="900" dirty="0">
                      <a:latin typeface="Calibri Light" panose="020F0302020204030204" pitchFamily="34" charset="0"/>
                    </a:rPr>
                    <a:t>Proxy</a:t>
                  </a:r>
                  <a:endParaRPr lang="en-US" sz="900" dirty="0">
                    <a:latin typeface="Calibri Light" panose="020F0302020204030204" pitchFamily="34" charset="0"/>
                  </a:endParaRPr>
                </a:p>
              </p:txBody>
            </p:sp>
          </p:grpSp>
          <p:sp>
            <p:nvSpPr>
              <p:cNvPr id="30749" name="Text Box 23"/>
              <p:cNvSpPr txBox="1">
                <a:spLocks noChangeArrowheads="1"/>
              </p:cNvSpPr>
              <p:nvPr/>
            </p:nvSpPr>
            <p:spPr bwMode="auto">
              <a:xfrm>
                <a:off x="618" y="3158"/>
                <a:ext cx="515" cy="1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it-IT" sz="900" dirty="0" err="1">
                    <a:latin typeface="Calibri Light" panose="020F0302020204030204" pitchFamily="34" charset="0"/>
                  </a:rPr>
                  <a:t>request</a:t>
                </a:r>
                <a:r>
                  <a:rPr lang="it-IT" sz="900" dirty="0">
                    <a:latin typeface="Calibri Light" panose="020F0302020204030204" pitchFamily="34" charset="0"/>
                  </a:rPr>
                  <a:t>()</a:t>
                </a:r>
                <a:endParaRPr lang="en-US" sz="900" dirty="0">
                  <a:latin typeface="Calibri Light" panose="020F0302020204030204" pitchFamily="34" charset="0"/>
                </a:endParaRPr>
              </a:p>
            </p:txBody>
          </p:sp>
        </p:grpSp>
        <p:grpSp>
          <p:nvGrpSpPr>
            <p:cNvPr id="30725" name="Group 28"/>
            <p:cNvGrpSpPr>
              <a:grpSpLocks/>
            </p:cNvGrpSpPr>
            <p:nvPr/>
          </p:nvGrpSpPr>
          <p:grpSpPr bwMode="auto">
            <a:xfrm>
              <a:off x="3923" y="2907"/>
              <a:ext cx="817" cy="499"/>
              <a:chOff x="1609" y="2886"/>
              <a:chExt cx="817" cy="499"/>
            </a:xfrm>
          </p:grpSpPr>
          <p:grpSp>
            <p:nvGrpSpPr>
              <p:cNvPr id="30743" name="Group 19"/>
              <p:cNvGrpSpPr>
                <a:grpSpLocks/>
              </p:cNvGrpSpPr>
              <p:nvPr/>
            </p:nvGrpSpPr>
            <p:grpSpPr bwMode="auto">
              <a:xfrm>
                <a:off x="1609" y="2886"/>
                <a:ext cx="817" cy="499"/>
                <a:chOff x="612" y="1933"/>
                <a:chExt cx="817" cy="499"/>
              </a:xfrm>
            </p:grpSpPr>
            <p:sp>
              <p:nvSpPr>
                <p:cNvPr id="30745" name="Rectangle 20"/>
                <p:cNvSpPr>
                  <a:spLocks noChangeArrowheads="1"/>
                </p:cNvSpPr>
                <p:nvPr/>
              </p:nvSpPr>
              <p:spPr bwMode="auto">
                <a:xfrm>
                  <a:off x="612" y="1933"/>
                  <a:ext cx="817" cy="499"/>
                </a:xfrm>
                <a:prstGeom prst="rect">
                  <a:avLst/>
                </a:prstGeom>
                <a:solidFill>
                  <a:schemeClr val="bg1"/>
                </a:solidFill>
                <a:ln w="9525">
                  <a:solidFill>
                    <a:schemeClr val="tx1"/>
                  </a:solidFill>
                  <a:miter lim="800000"/>
                  <a:headEnd/>
                  <a:tailEnd/>
                </a:ln>
                <a:effectLst>
                  <a:outerShdw blurRad="63500" dist="53882" dir="2700000" algn="ctr" rotWithShape="0">
                    <a:schemeClr val="tx2">
                      <a:alpha val="50000"/>
                    </a:schemeClr>
                  </a:outerShdw>
                </a:effectLst>
              </p:spPr>
              <p:txBody>
                <a:bodyPr wrap="none" anchor="ctr"/>
                <a:lstStyle/>
                <a:p>
                  <a:endParaRPr lang="it-IT" sz="1350" dirty="0">
                    <a:latin typeface="Calibri Light" panose="020F0302020204030204" pitchFamily="34" charset="0"/>
                  </a:endParaRPr>
                </a:p>
              </p:txBody>
            </p:sp>
            <p:sp>
              <p:nvSpPr>
                <p:cNvPr id="30746" name="Line 21"/>
                <p:cNvSpPr>
                  <a:spLocks noChangeShapeType="1"/>
                </p:cNvSpPr>
                <p:nvPr/>
              </p:nvSpPr>
              <p:spPr bwMode="auto">
                <a:xfrm>
                  <a:off x="612" y="2160"/>
                  <a:ext cx="817"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sz="1350" dirty="0">
                    <a:latin typeface="Calibri Light" panose="020F0302020204030204" pitchFamily="34" charset="0"/>
                  </a:endParaRPr>
                </a:p>
              </p:txBody>
            </p:sp>
            <p:sp>
              <p:nvSpPr>
                <p:cNvPr id="30747" name="Text Box 22"/>
                <p:cNvSpPr txBox="1">
                  <a:spLocks noChangeArrowheads="1"/>
                </p:cNvSpPr>
                <p:nvPr/>
              </p:nvSpPr>
              <p:spPr bwMode="auto">
                <a:xfrm>
                  <a:off x="709" y="1952"/>
                  <a:ext cx="612" cy="1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ctr" eaLnBrk="1" hangingPunct="1">
                    <a:lnSpc>
                      <a:spcPct val="80000"/>
                    </a:lnSpc>
                  </a:pPr>
                  <a:r>
                    <a:rPr lang="it-IT" sz="900" dirty="0" err="1">
                      <a:latin typeface="Calibri Light" panose="020F0302020204030204" pitchFamily="34" charset="0"/>
                    </a:rPr>
                    <a:t>RealSubject</a:t>
                  </a:r>
                  <a:endParaRPr lang="en-US" sz="900" dirty="0">
                    <a:latin typeface="Calibri Light" panose="020F0302020204030204" pitchFamily="34" charset="0"/>
                  </a:endParaRPr>
                </a:p>
              </p:txBody>
            </p:sp>
          </p:grpSp>
          <p:sp>
            <p:nvSpPr>
              <p:cNvPr id="30744" name="Text Box 24"/>
              <p:cNvSpPr txBox="1">
                <a:spLocks noChangeArrowheads="1"/>
              </p:cNvSpPr>
              <p:nvPr/>
            </p:nvSpPr>
            <p:spPr bwMode="auto">
              <a:xfrm>
                <a:off x="1628" y="3166"/>
                <a:ext cx="515" cy="1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it-IT" sz="900" dirty="0" err="1">
                    <a:latin typeface="Calibri Light" panose="020F0302020204030204" pitchFamily="34" charset="0"/>
                  </a:rPr>
                  <a:t>request</a:t>
                </a:r>
                <a:r>
                  <a:rPr lang="it-IT" sz="900" dirty="0">
                    <a:latin typeface="Calibri Light" panose="020F0302020204030204" pitchFamily="34" charset="0"/>
                  </a:rPr>
                  <a:t>()</a:t>
                </a:r>
                <a:endParaRPr lang="en-US" sz="900" dirty="0">
                  <a:latin typeface="Calibri Light" panose="020F0302020204030204" pitchFamily="34" charset="0"/>
                </a:endParaRPr>
              </a:p>
            </p:txBody>
          </p:sp>
        </p:grpSp>
        <p:grpSp>
          <p:nvGrpSpPr>
            <p:cNvPr id="30726" name="Group 26"/>
            <p:cNvGrpSpPr>
              <a:grpSpLocks/>
            </p:cNvGrpSpPr>
            <p:nvPr/>
          </p:nvGrpSpPr>
          <p:grpSpPr bwMode="auto">
            <a:xfrm>
              <a:off x="3106" y="1933"/>
              <a:ext cx="817" cy="499"/>
              <a:chOff x="612" y="1933"/>
              <a:chExt cx="817" cy="499"/>
            </a:xfrm>
          </p:grpSpPr>
          <p:grpSp>
            <p:nvGrpSpPr>
              <p:cNvPr id="30738" name="Group 14"/>
              <p:cNvGrpSpPr>
                <a:grpSpLocks/>
              </p:cNvGrpSpPr>
              <p:nvPr/>
            </p:nvGrpSpPr>
            <p:grpSpPr bwMode="auto">
              <a:xfrm>
                <a:off x="612" y="1933"/>
                <a:ext cx="817" cy="499"/>
                <a:chOff x="612" y="1933"/>
                <a:chExt cx="817" cy="499"/>
              </a:xfrm>
            </p:grpSpPr>
            <p:sp>
              <p:nvSpPr>
                <p:cNvPr id="30740" name="Rectangle 4"/>
                <p:cNvSpPr>
                  <a:spLocks noChangeArrowheads="1"/>
                </p:cNvSpPr>
                <p:nvPr/>
              </p:nvSpPr>
              <p:spPr bwMode="auto">
                <a:xfrm>
                  <a:off x="612" y="1933"/>
                  <a:ext cx="817" cy="499"/>
                </a:xfrm>
                <a:prstGeom prst="rect">
                  <a:avLst/>
                </a:prstGeom>
                <a:solidFill>
                  <a:schemeClr val="bg1"/>
                </a:solidFill>
                <a:ln w="9525">
                  <a:solidFill>
                    <a:schemeClr val="tx1"/>
                  </a:solidFill>
                  <a:miter lim="800000"/>
                  <a:headEnd/>
                  <a:tailEnd/>
                </a:ln>
                <a:effectLst>
                  <a:outerShdw blurRad="63500" dist="53882" dir="2700000" algn="ctr" rotWithShape="0">
                    <a:schemeClr val="tx2">
                      <a:alpha val="50000"/>
                    </a:schemeClr>
                  </a:outerShdw>
                </a:effectLst>
              </p:spPr>
              <p:txBody>
                <a:bodyPr wrap="none" anchor="ctr"/>
                <a:lstStyle/>
                <a:p>
                  <a:endParaRPr lang="it-IT" sz="1350" dirty="0">
                    <a:latin typeface="Calibri Light" panose="020F0302020204030204" pitchFamily="34" charset="0"/>
                  </a:endParaRPr>
                </a:p>
              </p:txBody>
            </p:sp>
            <p:sp>
              <p:nvSpPr>
                <p:cNvPr id="30741" name="Line 12"/>
                <p:cNvSpPr>
                  <a:spLocks noChangeShapeType="1"/>
                </p:cNvSpPr>
                <p:nvPr/>
              </p:nvSpPr>
              <p:spPr bwMode="auto">
                <a:xfrm>
                  <a:off x="612" y="2160"/>
                  <a:ext cx="817"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sz="1350" dirty="0">
                    <a:latin typeface="Calibri Light" panose="020F0302020204030204" pitchFamily="34" charset="0"/>
                  </a:endParaRPr>
                </a:p>
              </p:txBody>
            </p:sp>
            <p:sp>
              <p:nvSpPr>
                <p:cNvPr id="30742" name="Text Box 13"/>
                <p:cNvSpPr txBox="1">
                  <a:spLocks noChangeArrowheads="1"/>
                </p:cNvSpPr>
                <p:nvPr/>
              </p:nvSpPr>
              <p:spPr bwMode="auto">
                <a:xfrm>
                  <a:off x="788" y="1952"/>
                  <a:ext cx="445" cy="1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ctr" eaLnBrk="1" hangingPunct="1">
                    <a:lnSpc>
                      <a:spcPct val="80000"/>
                    </a:lnSpc>
                  </a:pPr>
                  <a:r>
                    <a:rPr lang="it-IT" sz="900" dirty="0" err="1">
                      <a:latin typeface="Calibri Light" panose="020F0302020204030204" pitchFamily="34" charset="0"/>
                    </a:rPr>
                    <a:t>Subject</a:t>
                  </a:r>
                  <a:endParaRPr lang="en-US" sz="900" dirty="0">
                    <a:latin typeface="Calibri Light" panose="020F0302020204030204" pitchFamily="34" charset="0"/>
                  </a:endParaRPr>
                </a:p>
              </p:txBody>
            </p:sp>
          </p:grpSp>
          <p:sp>
            <p:nvSpPr>
              <p:cNvPr id="30739" name="Text Box 25"/>
              <p:cNvSpPr txBox="1">
                <a:spLocks noChangeArrowheads="1"/>
              </p:cNvSpPr>
              <p:nvPr/>
            </p:nvSpPr>
            <p:spPr bwMode="auto">
              <a:xfrm>
                <a:off x="612" y="2205"/>
                <a:ext cx="515" cy="1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it-IT" sz="900" dirty="0" err="1">
                    <a:latin typeface="Calibri Light" panose="020F0302020204030204" pitchFamily="34" charset="0"/>
                  </a:rPr>
                  <a:t>request</a:t>
                </a:r>
                <a:r>
                  <a:rPr lang="it-IT" sz="900" dirty="0">
                    <a:latin typeface="Calibri Light" panose="020F0302020204030204" pitchFamily="34" charset="0"/>
                  </a:rPr>
                  <a:t>()</a:t>
                </a:r>
                <a:endParaRPr lang="en-US" sz="900" dirty="0">
                  <a:latin typeface="Calibri Light" panose="020F0302020204030204" pitchFamily="34" charset="0"/>
                </a:endParaRPr>
              </a:p>
            </p:txBody>
          </p:sp>
        </p:grpSp>
        <p:cxnSp>
          <p:nvCxnSpPr>
            <p:cNvPr id="30727" name="AutoShape 30"/>
            <p:cNvCxnSpPr>
              <a:cxnSpLocks noChangeShapeType="1"/>
            </p:cNvCxnSpPr>
            <p:nvPr/>
          </p:nvCxnSpPr>
          <p:spPr bwMode="auto">
            <a:xfrm flipV="1">
              <a:off x="2654" y="2432"/>
              <a:ext cx="861" cy="454"/>
            </a:xfrm>
            <a:prstGeom prst="straightConnector1">
              <a:avLst/>
            </a:prstGeom>
            <a:noFill/>
            <a:ln w="9525">
              <a:solidFill>
                <a:schemeClr val="tx1"/>
              </a:solidFill>
              <a:round/>
              <a:headEnd/>
              <a:tailEnd type="triangle" w="lg" len="lg"/>
            </a:ln>
            <a:extLst>
              <a:ext uri="{909E8E84-426E-40dd-AFC4-6F175D3DCCD1}">
                <a14:hiddenFill xmlns:a14="http://schemas.microsoft.com/office/drawing/2010/main" xmlns="">
                  <a:noFill/>
                </a14:hiddenFill>
              </a:ext>
            </a:extLst>
          </p:spPr>
        </p:cxnSp>
        <p:cxnSp>
          <p:nvCxnSpPr>
            <p:cNvPr id="30728" name="AutoShape 31"/>
            <p:cNvCxnSpPr>
              <a:cxnSpLocks noChangeShapeType="1"/>
              <a:stCxn id="30745" idx="0"/>
            </p:cNvCxnSpPr>
            <p:nvPr/>
          </p:nvCxnSpPr>
          <p:spPr bwMode="auto">
            <a:xfrm flipH="1" flipV="1">
              <a:off x="3515" y="2432"/>
              <a:ext cx="817" cy="475"/>
            </a:xfrm>
            <a:prstGeom prst="straightConnector1">
              <a:avLst/>
            </a:prstGeom>
            <a:noFill/>
            <a:ln w="9525">
              <a:solidFill>
                <a:schemeClr val="tx1"/>
              </a:solidFill>
              <a:round/>
              <a:headEnd/>
              <a:tailEnd type="triangle" w="lg" len="lg"/>
            </a:ln>
            <a:extLst>
              <a:ext uri="{909E8E84-426E-40dd-AFC4-6F175D3DCCD1}">
                <a14:hiddenFill xmlns:a14="http://schemas.microsoft.com/office/drawing/2010/main" xmlns="">
                  <a:noFill/>
                </a14:hiddenFill>
              </a:ext>
            </a:extLst>
          </p:spPr>
        </p:cxnSp>
        <p:sp>
          <p:nvSpPr>
            <p:cNvPr id="30729" name="AutoShape 32"/>
            <p:cNvSpPr>
              <a:spLocks noChangeArrowheads="1"/>
            </p:cNvSpPr>
            <p:nvPr/>
          </p:nvSpPr>
          <p:spPr bwMode="auto">
            <a:xfrm>
              <a:off x="3062" y="3113"/>
              <a:ext cx="90" cy="45"/>
            </a:xfrm>
            <a:prstGeom prst="diamond">
              <a:avLst/>
            </a:prstGeom>
            <a:solidFill>
              <a:schemeClr val="bg1"/>
            </a:solidFill>
            <a:ln w="9525">
              <a:solidFill>
                <a:schemeClr val="tx1"/>
              </a:solidFill>
              <a:miter lim="800000"/>
              <a:headEnd/>
              <a:tailEnd/>
            </a:ln>
          </p:spPr>
          <p:txBody>
            <a:bodyPr wrap="none" anchor="ctr"/>
            <a:lstStyle/>
            <a:p>
              <a:endParaRPr lang="it-IT" sz="1350" dirty="0">
                <a:latin typeface="Calibri Light" panose="020F0302020204030204" pitchFamily="34" charset="0"/>
              </a:endParaRPr>
            </a:p>
          </p:txBody>
        </p:sp>
        <p:cxnSp>
          <p:nvCxnSpPr>
            <p:cNvPr id="30730" name="AutoShape 33"/>
            <p:cNvCxnSpPr>
              <a:cxnSpLocks noChangeShapeType="1"/>
              <a:stCxn id="30729" idx="3"/>
              <a:endCxn id="30746" idx="0"/>
            </p:cNvCxnSpPr>
            <p:nvPr/>
          </p:nvCxnSpPr>
          <p:spPr bwMode="auto">
            <a:xfrm flipV="1">
              <a:off x="3152" y="3134"/>
              <a:ext cx="771" cy="2"/>
            </a:xfrm>
            <a:prstGeom prst="straightConnector1">
              <a:avLst/>
            </a:prstGeom>
            <a:noFill/>
            <a:ln w="9525">
              <a:solidFill>
                <a:schemeClr val="tx1"/>
              </a:solidFill>
              <a:round/>
              <a:headEnd/>
              <a:tailEnd/>
            </a:ln>
            <a:extLst>
              <a:ext uri="{909E8E84-426E-40dd-AFC4-6F175D3DCCD1}">
                <a14:hiddenFill xmlns:a14="http://schemas.microsoft.com/office/drawing/2010/main" xmlns="">
                  <a:noFill/>
                </a14:hiddenFill>
              </a:ext>
            </a:extLst>
          </p:spPr>
        </p:cxnSp>
        <p:grpSp>
          <p:nvGrpSpPr>
            <p:cNvPr id="30731" name="Group 34"/>
            <p:cNvGrpSpPr>
              <a:grpSpLocks/>
            </p:cNvGrpSpPr>
            <p:nvPr/>
          </p:nvGrpSpPr>
          <p:grpSpPr bwMode="auto">
            <a:xfrm>
              <a:off x="793" y="2042"/>
              <a:ext cx="817" cy="499"/>
              <a:chOff x="1609" y="2886"/>
              <a:chExt cx="817" cy="499"/>
            </a:xfrm>
          </p:grpSpPr>
          <p:grpSp>
            <p:nvGrpSpPr>
              <p:cNvPr id="30733" name="Group 35"/>
              <p:cNvGrpSpPr>
                <a:grpSpLocks/>
              </p:cNvGrpSpPr>
              <p:nvPr/>
            </p:nvGrpSpPr>
            <p:grpSpPr bwMode="auto">
              <a:xfrm>
                <a:off x="1609" y="2886"/>
                <a:ext cx="817" cy="499"/>
                <a:chOff x="612" y="1933"/>
                <a:chExt cx="817" cy="499"/>
              </a:xfrm>
            </p:grpSpPr>
            <p:sp>
              <p:nvSpPr>
                <p:cNvPr id="30735" name="Rectangle 36"/>
                <p:cNvSpPr>
                  <a:spLocks noChangeArrowheads="1"/>
                </p:cNvSpPr>
                <p:nvPr/>
              </p:nvSpPr>
              <p:spPr bwMode="auto">
                <a:xfrm>
                  <a:off x="612" y="1933"/>
                  <a:ext cx="817" cy="499"/>
                </a:xfrm>
                <a:prstGeom prst="rect">
                  <a:avLst/>
                </a:prstGeom>
                <a:solidFill>
                  <a:schemeClr val="bg1"/>
                </a:solidFill>
                <a:ln w="9525">
                  <a:solidFill>
                    <a:schemeClr val="tx1"/>
                  </a:solidFill>
                  <a:miter lim="800000"/>
                  <a:headEnd/>
                  <a:tailEnd/>
                </a:ln>
                <a:effectLst>
                  <a:outerShdw blurRad="63500" dist="53882" dir="2700000" algn="ctr" rotWithShape="0">
                    <a:schemeClr val="tx2">
                      <a:alpha val="50000"/>
                    </a:schemeClr>
                  </a:outerShdw>
                </a:effectLst>
              </p:spPr>
              <p:txBody>
                <a:bodyPr wrap="none" anchor="ctr"/>
                <a:lstStyle/>
                <a:p>
                  <a:endParaRPr lang="it-IT" sz="1350" dirty="0">
                    <a:latin typeface="Calibri Light" panose="020F0302020204030204" pitchFamily="34" charset="0"/>
                  </a:endParaRPr>
                </a:p>
              </p:txBody>
            </p:sp>
            <p:sp>
              <p:nvSpPr>
                <p:cNvPr id="30736" name="Line 37"/>
                <p:cNvSpPr>
                  <a:spLocks noChangeShapeType="1"/>
                </p:cNvSpPr>
                <p:nvPr/>
              </p:nvSpPr>
              <p:spPr bwMode="auto">
                <a:xfrm>
                  <a:off x="612" y="2160"/>
                  <a:ext cx="817"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sz="1350" dirty="0">
                    <a:latin typeface="Calibri Light" panose="020F0302020204030204" pitchFamily="34" charset="0"/>
                  </a:endParaRPr>
                </a:p>
              </p:txBody>
            </p:sp>
            <p:sp>
              <p:nvSpPr>
                <p:cNvPr id="30737" name="Text Box 38"/>
                <p:cNvSpPr txBox="1">
                  <a:spLocks noChangeArrowheads="1"/>
                </p:cNvSpPr>
                <p:nvPr/>
              </p:nvSpPr>
              <p:spPr bwMode="auto">
                <a:xfrm>
                  <a:off x="826" y="1952"/>
                  <a:ext cx="381" cy="1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ctr" eaLnBrk="1" hangingPunct="1">
                    <a:lnSpc>
                      <a:spcPct val="80000"/>
                    </a:lnSpc>
                  </a:pPr>
                  <a:r>
                    <a:rPr lang="it-IT" sz="900" dirty="0">
                      <a:latin typeface="Calibri Light" panose="020F0302020204030204" pitchFamily="34" charset="0"/>
                    </a:rPr>
                    <a:t>Client</a:t>
                  </a:r>
                  <a:endParaRPr lang="en-US" sz="900" dirty="0">
                    <a:latin typeface="Calibri Light" panose="020F0302020204030204" pitchFamily="34" charset="0"/>
                  </a:endParaRPr>
                </a:p>
              </p:txBody>
            </p:sp>
          </p:grpSp>
          <p:sp>
            <p:nvSpPr>
              <p:cNvPr id="30734" name="Text Box 39"/>
              <p:cNvSpPr txBox="1">
                <a:spLocks noChangeArrowheads="1"/>
              </p:cNvSpPr>
              <p:nvPr/>
            </p:nvSpPr>
            <p:spPr bwMode="auto">
              <a:xfrm>
                <a:off x="1628" y="3166"/>
                <a:ext cx="155" cy="1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endParaRPr lang="it-IT" sz="900" dirty="0">
                  <a:latin typeface="Calibri Light" panose="020F0302020204030204" pitchFamily="34" charset="0"/>
                </a:endParaRPr>
              </a:p>
            </p:txBody>
          </p:sp>
        </p:grpSp>
        <p:cxnSp>
          <p:nvCxnSpPr>
            <p:cNvPr id="30732" name="AutoShape 40"/>
            <p:cNvCxnSpPr>
              <a:cxnSpLocks noChangeShapeType="1"/>
              <a:stCxn id="30735" idx="3"/>
              <a:endCxn id="30739" idx="1"/>
            </p:cNvCxnSpPr>
            <p:nvPr/>
          </p:nvCxnSpPr>
          <p:spPr bwMode="auto">
            <a:xfrm>
              <a:off x="1610" y="2291"/>
              <a:ext cx="1496" cy="11"/>
            </a:xfrm>
            <a:prstGeom prst="straightConnector1">
              <a:avLst/>
            </a:prstGeom>
            <a:noFill/>
            <a:ln w="9525">
              <a:solidFill>
                <a:schemeClr val="tx1"/>
              </a:solidFill>
              <a:prstDash val="dash"/>
              <a:round/>
              <a:headEnd/>
              <a:tailEnd type="triangle" w="med" len="med"/>
            </a:ln>
            <a:extLst>
              <a:ext uri="{909E8E84-426E-40dd-AFC4-6F175D3DCCD1}">
                <a14:hiddenFill xmlns:a14="http://schemas.microsoft.com/office/drawing/2010/main" xmlns="">
                  <a:noFill/>
                </a14:hiddenFill>
              </a:ext>
            </a:extLst>
          </p:spPr>
        </p:cxnSp>
      </p:grpSp>
    </p:spTree>
    <p:extLst>
      <p:ext uri="{BB962C8B-B14F-4D97-AF65-F5344CB8AC3E}">
        <p14:creationId xmlns:p14="http://schemas.microsoft.com/office/powerpoint/2010/main" val="474054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Line 54"/>
          <p:cNvSpPr>
            <a:spLocks noChangeShapeType="1"/>
          </p:cNvSpPr>
          <p:nvPr/>
        </p:nvSpPr>
        <p:spPr bwMode="auto">
          <a:xfrm>
            <a:off x="2761060" y="1977629"/>
            <a:ext cx="0" cy="2484834"/>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sz="1350" dirty="0">
              <a:latin typeface="Calibri Light" panose="020F0302020204030204" pitchFamily="34" charset="0"/>
            </a:endParaRPr>
          </a:p>
        </p:txBody>
      </p:sp>
      <p:sp>
        <p:nvSpPr>
          <p:cNvPr id="31747" name="Line 55"/>
          <p:cNvSpPr>
            <a:spLocks noChangeShapeType="1"/>
          </p:cNvSpPr>
          <p:nvPr/>
        </p:nvSpPr>
        <p:spPr bwMode="auto">
          <a:xfrm>
            <a:off x="3762375" y="1977629"/>
            <a:ext cx="0" cy="2484834"/>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sz="1350" dirty="0">
              <a:latin typeface="Calibri Light" panose="020F0302020204030204" pitchFamily="34" charset="0"/>
            </a:endParaRPr>
          </a:p>
        </p:txBody>
      </p:sp>
      <p:sp>
        <p:nvSpPr>
          <p:cNvPr id="31748" name="Line 56"/>
          <p:cNvSpPr>
            <a:spLocks noChangeShapeType="1"/>
          </p:cNvSpPr>
          <p:nvPr/>
        </p:nvSpPr>
        <p:spPr bwMode="auto">
          <a:xfrm>
            <a:off x="4758929" y="1977629"/>
            <a:ext cx="0" cy="2484834"/>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sz="1350" dirty="0">
              <a:latin typeface="Calibri Light" panose="020F0302020204030204" pitchFamily="34" charset="0"/>
            </a:endParaRPr>
          </a:p>
        </p:txBody>
      </p:sp>
      <p:sp>
        <p:nvSpPr>
          <p:cNvPr id="31749" name="Line 57"/>
          <p:cNvSpPr>
            <a:spLocks noChangeShapeType="1"/>
          </p:cNvSpPr>
          <p:nvPr/>
        </p:nvSpPr>
        <p:spPr bwMode="auto">
          <a:xfrm>
            <a:off x="5806679" y="1977629"/>
            <a:ext cx="0" cy="2484834"/>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sz="1350" dirty="0">
              <a:latin typeface="Calibri Light" panose="020F0302020204030204" pitchFamily="34" charset="0"/>
            </a:endParaRPr>
          </a:p>
        </p:txBody>
      </p:sp>
      <p:sp>
        <p:nvSpPr>
          <p:cNvPr id="31750" name="Rectangle 2"/>
          <p:cNvSpPr>
            <a:spLocks noGrp="1" noChangeArrowheads="1"/>
          </p:cNvSpPr>
          <p:nvPr>
            <p:ph type="title"/>
          </p:nvPr>
        </p:nvSpPr>
        <p:spPr/>
        <p:txBody>
          <a:bodyPr/>
          <a:lstStyle/>
          <a:p>
            <a:pPr eaLnBrk="1" hangingPunct="1">
              <a:lnSpc>
                <a:spcPct val="70000"/>
              </a:lnSpc>
            </a:pPr>
            <a:r>
              <a:rPr lang="en-US" sz="2400" dirty="0"/>
              <a:t>Pattern Proxy: </a:t>
            </a:r>
            <a:br>
              <a:rPr lang="en-US" sz="2400" dirty="0"/>
            </a:br>
            <a:r>
              <a:rPr lang="en-US" sz="2400" dirty="0"/>
              <a:t>Participants and Responsibilities</a:t>
            </a:r>
          </a:p>
        </p:txBody>
      </p:sp>
      <p:sp>
        <p:nvSpPr>
          <p:cNvPr id="31751" name="Rectangle 9"/>
          <p:cNvSpPr>
            <a:spLocks noChangeArrowheads="1"/>
          </p:cNvSpPr>
          <p:nvPr/>
        </p:nvSpPr>
        <p:spPr bwMode="auto">
          <a:xfrm>
            <a:off x="3437335" y="1653778"/>
            <a:ext cx="701278" cy="270272"/>
          </a:xfrm>
          <a:prstGeom prst="rect">
            <a:avLst/>
          </a:prstGeom>
          <a:solidFill>
            <a:schemeClr val="bg1"/>
          </a:solidFill>
          <a:ln w="9525">
            <a:solidFill>
              <a:schemeClr val="tx1"/>
            </a:solidFill>
            <a:miter lim="800000"/>
            <a:headEnd/>
            <a:tailEnd/>
          </a:ln>
          <a:effectLst>
            <a:outerShdw blurRad="63500" dist="53882" dir="2700000" algn="ctr" rotWithShape="0">
              <a:schemeClr val="tx2">
                <a:alpha val="50000"/>
              </a:schemeClr>
            </a:outerShdw>
          </a:effectLst>
        </p:spPr>
        <p:txBody>
          <a:bodyPr wrap="none" anchor="ctr"/>
          <a:lstStyle/>
          <a:p>
            <a:endParaRPr lang="it-IT" sz="1350" dirty="0">
              <a:latin typeface="Calibri Light" panose="020F0302020204030204" pitchFamily="34" charset="0"/>
            </a:endParaRPr>
          </a:p>
        </p:txBody>
      </p:sp>
      <p:sp>
        <p:nvSpPr>
          <p:cNvPr id="31752" name="Text Box 11"/>
          <p:cNvSpPr txBox="1">
            <a:spLocks noChangeArrowheads="1"/>
          </p:cNvSpPr>
          <p:nvPr/>
        </p:nvSpPr>
        <p:spPr bwMode="auto">
          <a:xfrm>
            <a:off x="3556869" y="1700213"/>
            <a:ext cx="444352" cy="204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ctr" eaLnBrk="1" hangingPunct="1">
              <a:lnSpc>
                <a:spcPct val="80000"/>
              </a:lnSpc>
            </a:pPr>
            <a:r>
              <a:rPr lang="it-IT" sz="900" dirty="0">
                <a:latin typeface="Calibri Light" panose="020F0302020204030204" pitchFamily="34" charset="0"/>
              </a:rPr>
              <a:t>Proxy</a:t>
            </a:r>
            <a:endParaRPr lang="en-US" sz="900" dirty="0">
              <a:latin typeface="Calibri Light" panose="020F0302020204030204" pitchFamily="34" charset="0"/>
            </a:endParaRPr>
          </a:p>
        </p:txBody>
      </p:sp>
      <p:sp>
        <p:nvSpPr>
          <p:cNvPr id="31753" name="Text Box 12"/>
          <p:cNvSpPr txBox="1">
            <a:spLocks noChangeArrowheads="1"/>
          </p:cNvSpPr>
          <p:nvPr/>
        </p:nvSpPr>
        <p:spPr bwMode="auto">
          <a:xfrm>
            <a:off x="2897982" y="2031206"/>
            <a:ext cx="612668" cy="2308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it-IT" sz="900" dirty="0" err="1">
                <a:latin typeface="Calibri Light" panose="020F0302020204030204" pitchFamily="34" charset="0"/>
              </a:rPr>
              <a:t>request</a:t>
            </a:r>
            <a:r>
              <a:rPr lang="it-IT" sz="900" dirty="0">
                <a:latin typeface="Calibri Light" panose="020F0302020204030204" pitchFamily="34" charset="0"/>
              </a:rPr>
              <a:t>()</a:t>
            </a:r>
            <a:endParaRPr lang="en-US" sz="900" dirty="0">
              <a:latin typeface="Calibri Light" panose="020F0302020204030204" pitchFamily="34" charset="0"/>
            </a:endParaRPr>
          </a:p>
        </p:txBody>
      </p:sp>
      <p:sp>
        <p:nvSpPr>
          <p:cNvPr id="31754" name="Rectangle 36"/>
          <p:cNvSpPr>
            <a:spLocks noChangeArrowheads="1"/>
          </p:cNvSpPr>
          <p:nvPr/>
        </p:nvSpPr>
        <p:spPr bwMode="auto">
          <a:xfrm>
            <a:off x="2736056" y="2085976"/>
            <a:ext cx="53579" cy="1889522"/>
          </a:xfrm>
          <a:prstGeom prst="rect">
            <a:avLst/>
          </a:prstGeom>
          <a:solidFill>
            <a:schemeClr val="bg1"/>
          </a:solidFill>
          <a:ln w="9525">
            <a:solidFill>
              <a:schemeClr val="tx1"/>
            </a:solidFill>
            <a:miter lim="800000"/>
            <a:headEnd/>
            <a:tailEnd/>
          </a:ln>
        </p:spPr>
        <p:txBody>
          <a:bodyPr wrap="none" anchor="ctr"/>
          <a:lstStyle/>
          <a:p>
            <a:endParaRPr lang="it-IT" sz="1350" dirty="0">
              <a:latin typeface="Calibri Light" panose="020F0302020204030204" pitchFamily="34" charset="0"/>
            </a:endParaRPr>
          </a:p>
        </p:txBody>
      </p:sp>
      <p:sp>
        <p:nvSpPr>
          <p:cNvPr id="31755" name="Line 37"/>
          <p:cNvSpPr>
            <a:spLocks noChangeShapeType="1"/>
          </p:cNvSpPr>
          <p:nvPr/>
        </p:nvSpPr>
        <p:spPr bwMode="auto">
          <a:xfrm>
            <a:off x="2844404" y="2193131"/>
            <a:ext cx="863203"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sz="1350" dirty="0">
              <a:latin typeface="Calibri Light" panose="020F0302020204030204" pitchFamily="34" charset="0"/>
            </a:endParaRPr>
          </a:p>
        </p:txBody>
      </p:sp>
      <p:sp>
        <p:nvSpPr>
          <p:cNvPr id="31756" name="Rectangle 38"/>
          <p:cNvSpPr>
            <a:spLocks noChangeArrowheads="1"/>
          </p:cNvSpPr>
          <p:nvPr/>
        </p:nvSpPr>
        <p:spPr bwMode="auto">
          <a:xfrm>
            <a:off x="2412206" y="1653778"/>
            <a:ext cx="701279" cy="270272"/>
          </a:xfrm>
          <a:prstGeom prst="rect">
            <a:avLst/>
          </a:prstGeom>
          <a:solidFill>
            <a:schemeClr val="bg1"/>
          </a:solidFill>
          <a:ln w="9525">
            <a:solidFill>
              <a:schemeClr val="tx1"/>
            </a:solidFill>
            <a:miter lim="800000"/>
            <a:headEnd/>
            <a:tailEnd/>
          </a:ln>
          <a:effectLst>
            <a:outerShdw blurRad="63500" dist="53882" dir="2700000" algn="ctr" rotWithShape="0">
              <a:schemeClr val="tx2">
                <a:alpha val="50000"/>
              </a:schemeClr>
            </a:outerShdw>
          </a:effectLst>
        </p:spPr>
        <p:txBody>
          <a:bodyPr wrap="none" anchor="ctr"/>
          <a:lstStyle/>
          <a:p>
            <a:endParaRPr lang="it-IT" sz="1350" dirty="0">
              <a:latin typeface="Calibri Light" panose="020F0302020204030204" pitchFamily="34" charset="0"/>
            </a:endParaRPr>
          </a:p>
        </p:txBody>
      </p:sp>
      <p:sp>
        <p:nvSpPr>
          <p:cNvPr id="31757" name="Text Box 39"/>
          <p:cNvSpPr txBox="1">
            <a:spLocks noChangeArrowheads="1"/>
          </p:cNvSpPr>
          <p:nvPr/>
        </p:nvSpPr>
        <p:spPr bwMode="auto">
          <a:xfrm>
            <a:off x="2535861" y="1697832"/>
            <a:ext cx="453970" cy="204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ctr" eaLnBrk="1" hangingPunct="1">
              <a:lnSpc>
                <a:spcPct val="80000"/>
              </a:lnSpc>
            </a:pPr>
            <a:r>
              <a:rPr lang="it-IT" sz="900" dirty="0">
                <a:latin typeface="Calibri Light" panose="020F0302020204030204" pitchFamily="34" charset="0"/>
              </a:rPr>
              <a:t>Client</a:t>
            </a:r>
            <a:endParaRPr lang="en-US" sz="900" dirty="0">
              <a:latin typeface="Calibri Light" panose="020F0302020204030204" pitchFamily="34" charset="0"/>
            </a:endParaRPr>
          </a:p>
        </p:txBody>
      </p:sp>
      <p:sp>
        <p:nvSpPr>
          <p:cNvPr id="31758" name="Rectangle 40"/>
          <p:cNvSpPr>
            <a:spLocks noChangeArrowheads="1"/>
          </p:cNvSpPr>
          <p:nvPr/>
        </p:nvSpPr>
        <p:spPr bwMode="auto">
          <a:xfrm>
            <a:off x="4460081" y="1653778"/>
            <a:ext cx="701279" cy="270272"/>
          </a:xfrm>
          <a:prstGeom prst="rect">
            <a:avLst/>
          </a:prstGeom>
          <a:solidFill>
            <a:schemeClr val="bg1"/>
          </a:solidFill>
          <a:ln w="9525">
            <a:solidFill>
              <a:schemeClr val="tx1"/>
            </a:solidFill>
            <a:miter lim="800000"/>
            <a:headEnd/>
            <a:tailEnd/>
          </a:ln>
          <a:effectLst>
            <a:outerShdw blurRad="63500" dist="53882" dir="2700000" algn="ctr" rotWithShape="0">
              <a:schemeClr val="tx2">
                <a:alpha val="50000"/>
              </a:schemeClr>
            </a:outerShdw>
          </a:effectLst>
        </p:spPr>
        <p:txBody>
          <a:bodyPr wrap="none" anchor="ctr"/>
          <a:lstStyle/>
          <a:p>
            <a:endParaRPr lang="it-IT" sz="1350" dirty="0">
              <a:latin typeface="Calibri Light" panose="020F0302020204030204" pitchFamily="34" charset="0"/>
            </a:endParaRPr>
          </a:p>
        </p:txBody>
      </p:sp>
      <p:sp>
        <p:nvSpPr>
          <p:cNvPr id="31759" name="Text Box 41"/>
          <p:cNvSpPr txBox="1">
            <a:spLocks noChangeArrowheads="1"/>
          </p:cNvSpPr>
          <p:nvPr/>
        </p:nvSpPr>
        <p:spPr bwMode="auto">
          <a:xfrm>
            <a:off x="4441917" y="1700213"/>
            <a:ext cx="728083" cy="204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ctr" eaLnBrk="1" hangingPunct="1">
              <a:lnSpc>
                <a:spcPct val="80000"/>
              </a:lnSpc>
            </a:pPr>
            <a:r>
              <a:rPr lang="it-IT" sz="900" dirty="0" err="1">
                <a:latin typeface="Calibri Light" panose="020F0302020204030204" pitchFamily="34" charset="0"/>
              </a:rPr>
              <a:t>RealSubject</a:t>
            </a:r>
            <a:endParaRPr lang="en-US" sz="900" dirty="0">
              <a:latin typeface="Calibri Light" panose="020F0302020204030204" pitchFamily="34" charset="0"/>
            </a:endParaRPr>
          </a:p>
        </p:txBody>
      </p:sp>
      <p:sp>
        <p:nvSpPr>
          <p:cNvPr id="31760" name="Rectangle 42"/>
          <p:cNvSpPr>
            <a:spLocks noChangeArrowheads="1"/>
          </p:cNvSpPr>
          <p:nvPr/>
        </p:nvSpPr>
        <p:spPr bwMode="auto">
          <a:xfrm>
            <a:off x="3733800" y="2085976"/>
            <a:ext cx="53579" cy="1889522"/>
          </a:xfrm>
          <a:prstGeom prst="rect">
            <a:avLst/>
          </a:prstGeom>
          <a:solidFill>
            <a:schemeClr val="bg1"/>
          </a:solidFill>
          <a:ln w="9525">
            <a:solidFill>
              <a:schemeClr val="tx1"/>
            </a:solidFill>
            <a:miter lim="800000"/>
            <a:headEnd/>
            <a:tailEnd/>
          </a:ln>
        </p:spPr>
        <p:txBody>
          <a:bodyPr wrap="none" anchor="ctr"/>
          <a:lstStyle/>
          <a:p>
            <a:endParaRPr lang="it-IT" sz="1350" dirty="0">
              <a:latin typeface="Calibri Light" panose="020F0302020204030204" pitchFamily="34" charset="0"/>
            </a:endParaRPr>
          </a:p>
        </p:txBody>
      </p:sp>
      <p:sp>
        <p:nvSpPr>
          <p:cNvPr id="31761" name="Text Box 43"/>
          <p:cNvSpPr txBox="1">
            <a:spLocks noChangeArrowheads="1"/>
          </p:cNvSpPr>
          <p:nvPr/>
        </p:nvSpPr>
        <p:spPr bwMode="auto">
          <a:xfrm>
            <a:off x="3870723" y="2193131"/>
            <a:ext cx="612668" cy="2308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it-IT" sz="900" dirty="0" err="1">
                <a:latin typeface="Calibri Light" panose="020F0302020204030204" pitchFamily="34" charset="0"/>
              </a:rPr>
              <a:t>request</a:t>
            </a:r>
            <a:r>
              <a:rPr lang="it-IT" sz="900" dirty="0">
                <a:latin typeface="Calibri Light" panose="020F0302020204030204" pitchFamily="34" charset="0"/>
              </a:rPr>
              <a:t>()</a:t>
            </a:r>
            <a:endParaRPr lang="en-US" sz="900" dirty="0">
              <a:latin typeface="Calibri Light" panose="020F0302020204030204" pitchFamily="34" charset="0"/>
            </a:endParaRPr>
          </a:p>
        </p:txBody>
      </p:sp>
      <p:sp>
        <p:nvSpPr>
          <p:cNvPr id="31762" name="Line 44"/>
          <p:cNvSpPr>
            <a:spLocks noChangeShapeType="1"/>
          </p:cNvSpPr>
          <p:nvPr/>
        </p:nvSpPr>
        <p:spPr bwMode="auto">
          <a:xfrm>
            <a:off x="3817144" y="2355056"/>
            <a:ext cx="863204"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sz="1350" dirty="0">
              <a:latin typeface="Calibri Light" panose="020F0302020204030204" pitchFamily="34" charset="0"/>
            </a:endParaRPr>
          </a:p>
        </p:txBody>
      </p:sp>
      <p:sp>
        <p:nvSpPr>
          <p:cNvPr id="31763" name="Rectangle 45"/>
          <p:cNvSpPr>
            <a:spLocks noChangeArrowheads="1"/>
          </p:cNvSpPr>
          <p:nvPr/>
        </p:nvSpPr>
        <p:spPr bwMode="auto">
          <a:xfrm>
            <a:off x="4733925" y="2247900"/>
            <a:ext cx="53579" cy="1188244"/>
          </a:xfrm>
          <a:prstGeom prst="rect">
            <a:avLst/>
          </a:prstGeom>
          <a:solidFill>
            <a:schemeClr val="bg1"/>
          </a:solidFill>
          <a:ln w="9525">
            <a:solidFill>
              <a:schemeClr val="tx1"/>
            </a:solidFill>
            <a:miter lim="800000"/>
            <a:headEnd/>
            <a:tailEnd/>
          </a:ln>
        </p:spPr>
        <p:txBody>
          <a:bodyPr wrap="none" anchor="ctr"/>
          <a:lstStyle/>
          <a:p>
            <a:endParaRPr lang="it-IT" sz="1350" dirty="0">
              <a:latin typeface="Calibri Light" panose="020F0302020204030204" pitchFamily="34" charset="0"/>
            </a:endParaRPr>
          </a:p>
        </p:txBody>
      </p:sp>
      <p:sp>
        <p:nvSpPr>
          <p:cNvPr id="31764" name="Line 46"/>
          <p:cNvSpPr>
            <a:spLocks noChangeShapeType="1"/>
          </p:cNvSpPr>
          <p:nvPr/>
        </p:nvSpPr>
        <p:spPr bwMode="auto">
          <a:xfrm>
            <a:off x="3815954" y="3274219"/>
            <a:ext cx="863203" cy="0"/>
          </a:xfrm>
          <a:prstGeom prst="line">
            <a:avLst/>
          </a:prstGeom>
          <a:noFill/>
          <a:ln w="9525">
            <a:solidFill>
              <a:schemeClr val="tx1"/>
            </a:solidFill>
            <a:round/>
            <a:headEnd type="triangle" w="med" len="med"/>
            <a:tailEnd/>
          </a:ln>
          <a:extLst>
            <a:ext uri="{909E8E84-426E-40dd-AFC4-6F175D3DCCD1}">
              <a14:hiddenFill xmlns:a14="http://schemas.microsoft.com/office/drawing/2010/main" xmlns="">
                <a:noFill/>
              </a14:hiddenFill>
            </a:ext>
          </a:extLst>
        </p:spPr>
        <p:txBody>
          <a:bodyPr/>
          <a:lstStyle/>
          <a:p>
            <a:endParaRPr lang="en-US" sz="1350" dirty="0">
              <a:latin typeface="Calibri Light" panose="020F0302020204030204" pitchFamily="34" charset="0"/>
            </a:endParaRPr>
          </a:p>
        </p:txBody>
      </p:sp>
      <p:sp>
        <p:nvSpPr>
          <p:cNvPr id="31765" name="Line 47"/>
          <p:cNvSpPr>
            <a:spLocks noChangeShapeType="1"/>
          </p:cNvSpPr>
          <p:nvPr/>
        </p:nvSpPr>
        <p:spPr bwMode="auto">
          <a:xfrm>
            <a:off x="2825354" y="3759994"/>
            <a:ext cx="863203" cy="0"/>
          </a:xfrm>
          <a:prstGeom prst="line">
            <a:avLst/>
          </a:prstGeom>
          <a:noFill/>
          <a:ln w="9525">
            <a:solidFill>
              <a:schemeClr val="tx1"/>
            </a:solidFill>
            <a:round/>
            <a:headEnd type="triangle" w="med" len="med"/>
            <a:tailEnd/>
          </a:ln>
          <a:extLst>
            <a:ext uri="{909E8E84-426E-40dd-AFC4-6F175D3DCCD1}">
              <a14:hiddenFill xmlns:a14="http://schemas.microsoft.com/office/drawing/2010/main" xmlns="">
                <a:noFill/>
              </a14:hiddenFill>
            </a:ext>
          </a:extLst>
        </p:spPr>
        <p:txBody>
          <a:bodyPr/>
          <a:lstStyle/>
          <a:p>
            <a:endParaRPr lang="en-US" sz="1350" dirty="0">
              <a:latin typeface="Calibri Light" panose="020F0302020204030204" pitchFamily="34" charset="0"/>
            </a:endParaRPr>
          </a:p>
        </p:txBody>
      </p:sp>
      <p:sp>
        <p:nvSpPr>
          <p:cNvPr id="31766" name="Rectangle 48"/>
          <p:cNvSpPr>
            <a:spLocks noChangeArrowheads="1"/>
          </p:cNvSpPr>
          <p:nvPr/>
        </p:nvSpPr>
        <p:spPr bwMode="auto">
          <a:xfrm>
            <a:off x="5504260" y="1653778"/>
            <a:ext cx="701278" cy="270272"/>
          </a:xfrm>
          <a:prstGeom prst="rect">
            <a:avLst/>
          </a:prstGeom>
          <a:solidFill>
            <a:schemeClr val="bg1"/>
          </a:solidFill>
          <a:ln w="9525">
            <a:solidFill>
              <a:schemeClr val="tx1"/>
            </a:solidFill>
            <a:miter lim="800000"/>
            <a:headEnd/>
            <a:tailEnd/>
          </a:ln>
          <a:effectLst>
            <a:outerShdw blurRad="63500" dist="53882" dir="2700000" algn="ctr" rotWithShape="0">
              <a:schemeClr val="tx2">
                <a:alpha val="50000"/>
              </a:schemeClr>
            </a:outerShdw>
          </a:effectLst>
        </p:spPr>
        <p:txBody>
          <a:bodyPr wrap="none" anchor="ctr"/>
          <a:lstStyle/>
          <a:p>
            <a:endParaRPr lang="it-IT" sz="1350" dirty="0">
              <a:latin typeface="Calibri Light" panose="020F0302020204030204" pitchFamily="34" charset="0"/>
            </a:endParaRPr>
          </a:p>
        </p:txBody>
      </p:sp>
      <p:sp>
        <p:nvSpPr>
          <p:cNvPr id="31767" name="Text Box 49"/>
          <p:cNvSpPr txBox="1">
            <a:spLocks noChangeArrowheads="1"/>
          </p:cNvSpPr>
          <p:nvPr/>
        </p:nvSpPr>
        <p:spPr bwMode="auto">
          <a:xfrm>
            <a:off x="5546368" y="1700213"/>
            <a:ext cx="615873" cy="204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ctr" eaLnBrk="1" hangingPunct="1">
              <a:lnSpc>
                <a:spcPct val="80000"/>
              </a:lnSpc>
            </a:pPr>
            <a:r>
              <a:rPr lang="it-IT" sz="900" dirty="0">
                <a:latin typeface="Calibri Light" panose="020F0302020204030204" pitchFamily="34" charset="0"/>
              </a:rPr>
              <a:t>Resource</a:t>
            </a:r>
            <a:endParaRPr lang="en-US" sz="900" dirty="0">
              <a:latin typeface="Calibri Light" panose="020F0302020204030204" pitchFamily="34" charset="0"/>
            </a:endParaRPr>
          </a:p>
        </p:txBody>
      </p:sp>
      <p:sp>
        <p:nvSpPr>
          <p:cNvPr id="31768" name="Line 51"/>
          <p:cNvSpPr>
            <a:spLocks noChangeShapeType="1"/>
          </p:cNvSpPr>
          <p:nvPr/>
        </p:nvSpPr>
        <p:spPr bwMode="auto">
          <a:xfrm>
            <a:off x="4861323" y="2787254"/>
            <a:ext cx="863203"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sz="1350" dirty="0">
              <a:latin typeface="Calibri Light" panose="020F0302020204030204" pitchFamily="34" charset="0"/>
            </a:endParaRPr>
          </a:p>
        </p:txBody>
      </p:sp>
      <p:sp>
        <p:nvSpPr>
          <p:cNvPr id="31769" name="Rectangle 52"/>
          <p:cNvSpPr>
            <a:spLocks noChangeArrowheads="1"/>
          </p:cNvSpPr>
          <p:nvPr/>
        </p:nvSpPr>
        <p:spPr bwMode="auto">
          <a:xfrm>
            <a:off x="5778104" y="2680097"/>
            <a:ext cx="53578" cy="647700"/>
          </a:xfrm>
          <a:prstGeom prst="rect">
            <a:avLst/>
          </a:prstGeom>
          <a:solidFill>
            <a:schemeClr val="bg1"/>
          </a:solidFill>
          <a:ln w="9525">
            <a:solidFill>
              <a:schemeClr val="tx1"/>
            </a:solidFill>
            <a:miter lim="800000"/>
            <a:headEnd/>
            <a:tailEnd/>
          </a:ln>
        </p:spPr>
        <p:txBody>
          <a:bodyPr wrap="none" anchor="ctr"/>
          <a:lstStyle/>
          <a:p>
            <a:endParaRPr lang="it-IT" sz="1350" dirty="0">
              <a:latin typeface="Calibri Light" panose="020F0302020204030204" pitchFamily="34" charset="0"/>
            </a:endParaRPr>
          </a:p>
        </p:txBody>
      </p:sp>
      <p:sp>
        <p:nvSpPr>
          <p:cNvPr id="31770" name="Line 53"/>
          <p:cNvSpPr>
            <a:spLocks noChangeShapeType="1"/>
          </p:cNvSpPr>
          <p:nvPr/>
        </p:nvSpPr>
        <p:spPr bwMode="auto">
          <a:xfrm>
            <a:off x="4860131" y="3274219"/>
            <a:ext cx="863204" cy="0"/>
          </a:xfrm>
          <a:prstGeom prst="line">
            <a:avLst/>
          </a:prstGeom>
          <a:noFill/>
          <a:ln w="9525">
            <a:solidFill>
              <a:schemeClr val="tx1"/>
            </a:solidFill>
            <a:round/>
            <a:headEnd type="triangle" w="med" len="med"/>
            <a:tailEnd/>
          </a:ln>
          <a:extLst>
            <a:ext uri="{909E8E84-426E-40dd-AFC4-6F175D3DCCD1}">
              <a14:hiddenFill xmlns:a14="http://schemas.microsoft.com/office/drawing/2010/main" xmlns="">
                <a:noFill/>
              </a14:hiddenFill>
            </a:ext>
          </a:extLst>
        </p:spPr>
        <p:txBody>
          <a:bodyPr/>
          <a:lstStyle/>
          <a:p>
            <a:endParaRPr lang="en-US" sz="1350" dirty="0">
              <a:latin typeface="Calibri Light" panose="020F0302020204030204" pitchFamily="34" charset="0"/>
            </a:endParaRPr>
          </a:p>
        </p:txBody>
      </p:sp>
    </p:spTree>
    <p:extLst>
      <p:ext uri="{BB962C8B-B14F-4D97-AF65-F5344CB8AC3E}">
        <p14:creationId xmlns:p14="http://schemas.microsoft.com/office/powerpoint/2010/main" val="139602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dirty="0"/>
              <a:t>Lazy Load e </a:t>
            </a:r>
            <a:r>
              <a:rPr lang="en-US" dirty="0" err="1"/>
              <a:t>classi</a:t>
            </a:r>
            <a:r>
              <a:rPr lang="en-US" dirty="0"/>
              <a:t> proxy</a:t>
            </a:r>
          </a:p>
        </p:txBody>
      </p:sp>
      <p:sp>
        <p:nvSpPr>
          <p:cNvPr id="32771" name="Rectangle 3"/>
          <p:cNvSpPr>
            <a:spLocks noGrp="1" noChangeArrowheads="1"/>
          </p:cNvSpPr>
          <p:nvPr>
            <p:ph idx="1"/>
          </p:nvPr>
        </p:nvSpPr>
        <p:spPr/>
        <p:txBody>
          <a:bodyPr>
            <a:normAutofit/>
          </a:bodyPr>
          <a:lstStyle/>
          <a:p>
            <a:pPr eaLnBrk="1" hangingPunct="1"/>
            <a:r>
              <a:rPr lang="en-US" dirty="0"/>
              <a:t>I DAO non </a:t>
            </a:r>
            <a:r>
              <a:rPr lang="en-US" dirty="0" err="1"/>
              <a:t>restituiscono</a:t>
            </a:r>
            <a:r>
              <a:rPr lang="en-US" dirty="0"/>
              <a:t> un </a:t>
            </a:r>
            <a:r>
              <a:rPr lang="en-US" dirty="0" err="1"/>
              <a:t>oggetto</a:t>
            </a:r>
            <a:r>
              <a:rPr lang="en-US" dirty="0"/>
              <a:t> </a:t>
            </a:r>
            <a:r>
              <a:rPr lang="ja-JP" altLang="en-US" dirty="0"/>
              <a:t>“</a:t>
            </a:r>
            <a:r>
              <a:rPr lang="en-US" dirty="0" err="1"/>
              <a:t>completo</a:t>
            </a:r>
            <a:r>
              <a:rPr lang="ja-JP" altLang="en-US" dirty="0"/>
              <a:t>”</a:t>
            </a:r>
            <a:r>
              <a:rPr lang="en-US" dirty="0"/>
              <a:t> ma un </a:t>
            </a:r>
            <a:r>
              <a:rPr lang="en-US" i="1" dirty="0"/>
              <a:t>proxy</a:t>
            </a:r>
          </a:p>
          <a:p>
            <a:pPr lvl="1" eaLnBrk="1" hangingPunct="1"/>
            <a:r>
              <a:rPr lang="en-US" dirty="0"/>
              <a:t>Il </a:t>
            </a:r>
            <a:r>
              <a:rPr lang="en-US" i="1" dirty="0"/>
              <a:t>proxy</a:t>
            </a:r>
            <a:r>
              <a:rPr lang="en-US" dirty="0"/>
              <a:t> ha </a:t>
            </a:r>
            <a:r>
              <a:rPr lang="en-US" dirty="0" err="1"/>
              <a:t>il</a:t>
            </a:r>
            <a:r>
              <a:rPr lang="en-US" dirty="0"/>
              <a:t> </a:t>
            </a:r>
            <a:r>
              <a:rPr lang="en-US" dirty="0" err="1"/>
              <a:t>compito</a:t>
            </a:r>
            <a:r>
              <a:rPr lang="en-US" dirty="0"/>
              <a:t> di </a:t>
            </a:r>
            <a:r>
              <a:rPr lang="en-US" dirty="0" err="1"/>
              <a:t>gestire</a:t>
            </a:r>
            <a:r>
              <a:rPr lang="en-US" dirty="0"/>
              <a:t> </a:t>
            </a:r>
            <a:r>
              <a:rPr lang="en-US" dirty="0" err="1"/>
              <a:t>il</a:t>
            </a:r>
            <a:r>
              <a:rPr lang="en-US" dirty="0"/>
              <a:t> </a:t>
            </a:r>
            <a:r>
              <a:rPr lang="en-US" dirty="0" err="1"/>
              <a:t>caricamento</a:t>
            </a:r>
            <a:r>
              <a:rPr lang="en-US" dirty="0"/>
              <a:t> </a:t>
            </a:r>
            <a:r>
              <a:rPr lang="en-US" dirty="0" err="1"/>
              <a:t>degli</a:t>
            </a:r>
            <a:r>
              <a:rPr lang="en-US" dirty="0"/>
              <a:t>  </a:t>
            </a:r>
            <a:r>
              <a:rPr lang="en-US" dirty="0" err="1"/>
              <a:t>oggetti</a:t>
            </a:r>
            <a:r>
              <a:rPr lang="en-US" dirty="0"/>
              <a:t> </a:t>
            </a:r>
            <a:r>
              <a:rPr lang="en-US" dirty="0" err="1"/>
              <a:t>collegati</a:t>
            </a:r>
            <a:endParaRPr lang="en-US" dirty="0"/>
          </a:p>
          <a:p>
            <a:pPr lvl="1" eaLnBrk="1" hangingPunct="1"/>
            <a:r>
              <a:rPr lang="en-US" dirty="0"/>
              <a:t>Il </a:t>
            </a:r>
            <a:r>
              <a:rPr lang="en-US" i="1" dirty="0"/>
              <a:t>proxy</a:t>
            </a:r>
            <a:r>
              <a:rPr lang="en-US" dirty="0"/>
              <a:t> </a:t>
            </a:r>
            <a:r>
              <a:rPr lang="en-US" dirty="0" err="1"/>
              <a:t>deve</a:t>
            </a:r>
            <a:r>
              <a:rPr lang="en-US" dirty="0"/>
              <a:t> </a:t>
            </a:r>
            <a:r>
              <a:rPr lang="en-US" dirty="0" err="1"/>
              <a:t>contenere</a:t>
            </a:r>
            <a:r>
              <a:rPr lang="en-US" dirty="0"/>
              <a:t> </a:t>
            </a:r>
            <a:r>
              <a:rPr lang="en-US" dirty="0" err="1"/>
              <a:t>tutte</a:t>
            </a:r>
            <a:r>
              <a:rPr lang="en-US" dirty="0"/>
              <a:t> le </a:t>
            </a:r>
            <a:r>
              <a:rPr lang="en-US" dirty="0" err="1"/>
              <a:t>informazioni</a:t>
            </a:r>
            <a:r>
              <a:rPr lang="en-US" dirty="0"/>
              <a:t> </a:t>
            </a:r>
            <a:r>
              <a:rPr lang="en-US" dirty="0" err="1"/>
              <a:t>necessarie</a:t>
            </a:r>
            <a:r>
              <a:rPr lang="en-US" dirty="0"/>
              <a:t> per </a:t>
            </a:r>
            <a:r>
              <a:rPr lang="en-US" dirty="0" err="1"/>
              <a:t>effettuare</a:t>
            </a:r>
            <a:r>
              <a:rPr lang="en-US" dirty="0"/>
              <a:t> </a:t>
            </a:r>
            <a:r>
              <a:rPr lang="en-US" dirty="0" err="1"/>
              <a:t>il</a:t>
            </a:r>
            <a:r>
              <a:rPr lang="en-US" dirty="0"/>
              <a:t> </a:t>
            </a:r>
            <a:r>
              <a:rPr lang="en-US" dirty="0" err="1"/>
              <a:t>caricamento</a:t>
            </a:r>
            <a:r>
              <a:rPr lang="en-US" dirty="0"/>
              <a:t> </a:t>
            </a:r>
            <a:r>
              <a:rPr lang="ja-JP" altLang="en-US" dirty="0"/>
              <a:t>“</a:t>
            </a:r>
            <a:r>
              <a:rPr lang="en-US" dirty="0"/>
              <a:t>lazy</a:t>
            </a:r>
            <a:r>
              <a:rPr lang="ja-JP" altLang="en-US" dirty="0"/>
              <a:t>”</a:t>
            </a:r>
            <a:endParaRPr lang="en-US" dirty="0"/>
          </a:p>
          <a:p>
            <a:pPr lvl="1" eaLnBrk="1" hangingPunct="1"/>
            <a:r>
              <a:rPr lang="en-US" dirty="0" err="1"/>
              <a:t>Gli</a:t>
            </a:r>
            <a:r>
              <a:rPr lang="en-US" dirty="0"/>
              <a:t> </a:t>
            </a:r>
            <a:r>
              <a:rPr lang="en-US" dirty="0" err="1"/>
              <a:t>oggetti</a:t>
            </a:r>
            <a:r>
              <a:rPr lang="en-US" dirty="0"/>
              <a:t> </a:t>
            </a:r>
            <a:r>
              <a:rPr lang="en-US" dirty="0" err="1"/>
              <a:t>collegati</a:t>
            </a:r>
            <a:r>
              <a:rPr lang="en-US" dirty="0"/>
              <a:t> </a:t>
            </a:r>
            <a:r>
              <a:rPr lang="en-US" dirty="0" err="1"/>
              <a:t>vengono</a:t>
            </a:r>
            <a:r>
              <a:rPr lang="en-US" dirty="0"/>
              <a:t> </a:t>
            </a:r>
            <a:r>
              <a:rPr lang="en-US" dirty="0" err="1"/>
              <a:t>caricati</a:t>
            </a:r>
            <a:r>
              <a:rPr lang="en-US" dirty="0"/>
              <a:t> solo </a:t>
            </a:r>
            <a:r>
              <a:rPr lang="en-US" dirty="0" err="1"/>
              <a:t>su</a:t>
            </a:r>
            <a:r>
              <a:rPr lang="en-US" dirty="0"/>
              <a:t> </a:t>
            </a:r>
            <a:r>
              <a:rPr lang="en-US" dirty="0" err="1"/>
              <a:t>richiesta</a:t>
            </a:r>
            <a:endParaRPr lang="en-US" dirty="0"/>
          </a:p>
          <a:p>
            <a:pPr lvl="1" eaLnBrk="1" hangingPunct="1"/>
            <a:r>
              <a:rPr lang="en-US" dirty="0"/>
              <a:t>Il </a:t>
            </a:r>
            <a:r>
              <a:rPr lang="en-US" i="1" dirty="0"/>
              <a:t>proxy</a:t>
            </a:r>
            <a:r>
              <a:rPr lang="en-US" dirty="0"/>
              <a:t> </a:t>
            </a:r>
            <a:r>
              <a:rPr lang="it-IT" altLang="ja-JP" dirty="0"/>
              <a:t>nasconde l'accesso al database</a:t>
            </a:r>
            <a:endParaRPr lang="en-US" i="1" dirty="0"/>
          </a:p>
        </p:txBody>
      </p:sp>
    </p:spTree>
    <p:extLst>
      <p:ext uri="{BB962C8B-B14F-4D97-AF65-F5344CB8AC3E}">
        <p14:creationId xmlns:p14="http://schemas.microsoft.com/office/powerpoint/2010/main" val="3260504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dirty="0"/>
              <a:t>Lazy Load: </a:t>
            </a:r>
            <a:r>
              <a:rPr lang="en-US" dirty="0" err="1"/>
              <a:t>dettagli</a:t>
            </a:r>
            <a:endParaRPr lang="en-US" dirty="0"/>
          </a:p>
        </p:txBody>
      </p:sp>
      <p:sp>
        <p:nvSpPr>
          <p:cNvPr id="33795" name="Rectangle 3"/>
          <p:cNvSpPr>
            <a:spLocks noGrp="1" noChangeArrowheads="1"/>
          </p:cNvSpPr>
          <p:nvPr>
            <p:ph idx="1"/>
          </p:nvPr>
        </p:nvSpPr>
        <p:spPr/>
        <p:txBody>
          <a:bodyPr>
            <a:normAutofit lnSpcReduction="10000"/>
          </a:bodyPr>
          <a:lstStyle/>
          <a:p>
            <a:pPr eaLnBrk="1" hangingPunct="1">
              <a:lnSpc>
                <a:spcPct val="120000"/>
              </a:lnSpc>
            </a:pPr>
            <a:r>
              <a:rPr lang="en-US" dirty="0"/>
              <a:t>Quando </a:t>
            </a:r>
            <a:r>
              <a:rPr lang="en-US" dirty="0" err="1"/>
              <a:t>chiediamo</a:t>
            </a:r>
            <a:r>
              <a:rPr lang="en-US" dirty="0"/>
              <a:t> ad un DAO di </a:t>
            </a:r>
            <a:r>
              <a:rPr lang="en-US" dirty="0" err="1"/>
              <a:t>recuperare</a:t>
            </a:r>
            <a:r>
              <a:rPr lang="en-US" dirty="0"/>
              <a:t> un </a:t>
            </a:r>
            <a:r>
              <a:rPr lang="en-US" dirty="0" err="1"/>
              <a:t>oggetto</a:t>
            </a:r>
            <a:r>
              <a:rPr lang="en-US" dirty="0"/>
              <a:t> (o </a:t>
            </a:r>
            <a:r>
              <a:rPr lang="en-US" dirty="0" err="1"/>
              <a:t>una</a:t>
            </a:r>
            <a:r>
              <a:rPr lang="en-US" dirty="0"/>
              <a:t> </a:t>
            </a:r>
            <a:r>
              <a:rPr lang="en-US" dirty="0" err="1"/>
              <a:t>collezioni</a:t>
            </a:r>
            <a:r>
              <a:rPr lang="en-US" dirty="0"/>
              <a:t> di </a:t>
            </a:r>
            <a:r>
              <a:rPr lang="en-US" dirty="0" err="1"/>
              <a:t>oggetti</a:t>
            </a:r>
            <a:r>
              <a:rPr lang="en-US" dirty="0"/>
              <a:t>), </a:t>
            </a:r>
            <a:r>
              <a:rPr lang="en-US" dirty="0" err="1"/>
              <a:t>questi</a:t>
            </a:r>
            <a:r>
              <a:rPr lang="en-US" dirty="0"/>
              <a:t> </a:t>
            </a:r>
            <a:r>
              <a:rPr lang="en-US" dirty="0" err="1"/>
              <a:t>esegue</a:t>
            </a:r>
            <a:r>
              <a:rPr lang="en-US" dirty="0"/>
              <a:t> </a:t>
            </a:r>
            <a:r>
              <a:rPr lang="en-US" dirty="0" err="1"/>
              <a:t>una</a:t>
            </a:r>
            <a:r>
              <a:rPr lang="en-US" dirty="0"/>
              <a:t> query </a:t>
            </a:r>
            <a:r>
              <a:rPr lang="en-US" dirty="0" err="1"/>
              <a:t>sul</a:t>
            </a:r>
            <a:r>
              <a:rPr lang="en-US" dirty="0"/>
              <a:t> DB e, con </a:t>
            </a:r>
            <a:r>
              <a:rPr lang="en-US" dirty="0" err="1"/>
              <a:t>i</a:t>
            </a:r>
            <a:r>
              <a:rPr lang="en-US" dirty="0"/>
              <a:t> </a:t>
            </a:r>
            <a:r>
              <a:rPr lang="en-US" dirty="0" err="1"/>
              <a:t>dati</a:t>
            </a:r>
            <a:r>
              <a:rPr lang="en-US" dirty="0"/>
              <a:t> </a:t>
            </a:r>
            <a:r>
              <a:rPr lang="en-US" dirty="0" err="1"/>
              <a:t>recuperati</a:t>
            </a:r>
            <a:r>
              <a:rPr lang="en-US" dirty="0"/>
              <a:t>, </a:t>
            </a:r>
            <a:r>
              <a:rPr lang="en-US" dirty="0" err="1"/>
              <a:t>istanzia</a:t>
            </a:r>
            <a:r>
              <a:rPr lang="en-US" dirty="0"/>
              <a:t> e </a:t>
            </a:r>
            <a:r>
              <a:rPr lang="en-US" dirty="0" err="1"/>
              <a:t>restituisce</a:t>
            </a:r>
            <a:r>
              <a:rPr lang="en-US" dirty="0"/>
              <a:t> </a:t>
            </a:r>
            <a:r>
              <a:rPr lang="en-US" dirty="0" err="1"/>
              <a:t>l'oggetto</a:t>
            </a:r>
            <a:r>
              <a:rPr lang="en-US" dirty="0"/>
              <a:t> </a:t>
            </a:r>
            <a:r>
              <a:rPr lang="en-US" dirty="0" err="1"/>
              <a:t>richiesto</a:t>
            </a:r>
            <a:endParaRPr lang="en-US" dirty="0"/>
          </a:p>
          <a:p>
            <a:pPr eaLnBrk="1" hangingPunct="1">
              <a:lnSpc>
                <a:spcPct val="120000"/>
              </a:lnSpc>
            </a:pPr>
            <a:r>
              <a:rPr lang="en-US" dirty="0"/>
              <a:t>L</a:t>
            </a:r>
            <a:r>
              <a:rPr lang="it-IT" dirty="0"/>
              <a:t>'</a:t>
            </a:r>
            <a:r>
              <a:rPr lang="en-US" dirty="0" err="1"/>
              <a:t>oggetto</a:t>
            </a:r>
            <a:r>
              <a:rPr lang="en-US" dirty="0"/>
              <a:t> </a:t>
            </a:r>
            <a:r>
              <a:rPr lang="en-US" dirty="0" err="1"/>
              <a:t>restituito</a:t>
            </a:r>
            <a:r>
              <a:rPr lang="en-US" dirty="0"/>
              <a:t> non </a:t>
            </a:r>
            <a:r>
              <a:rPr lang="en-US" dirty="0" err="1"/>
              <a:t>è</a:t>
            </a:r>
            <a:r>
              <a:rPr lang="en-US" dirty="0"/>
              <a:t> </a:t>
            </a:r>
            <a:r>
              <a:rPr lang="en-US" dirty="0" err="1"/>
              <a:t>però</a:t>
            </a:r>
            <a:r>
              <a:rPr lang="en-US" dirty="0"/>
              <a:t> del </a:t>
            </a:r>
            <a:r>
              <a:rPr lang="en-US" dirty="0" err="1"/>
              <a:t>tipo</a:t>
            </a:r>
            <a:r>
              <a:rPr lang="en-US" dirty="0"/>
              <a:t> </a:t>
            </a:r>
            <a:r>
              <a:rPr lang="en-US" dirty="0" err="1"/>
              <a:t>richiesto</a:t>
            </a:r>
            <a:r>
              <a:rPr lang="en-US" dirty="0"/>
              <a:t>, ma </a:t>
            </a:r>
            <a:r>
              <a:rPr lang="en-US" dirty="0" err="1"/>
              <a:t>è</a:t>
            </a:r>
            <a:r>
              <a:rPr lang="en-US" dirty="0"/>
              <a:t> un proxy, </a:t>
            </a:r>
            <a:r>
              <a:rPr lang="en-US" dirty="0" err="1"/>
              <a:t>il</a:t>
            </a:r>
            <a:r>
              <a:rPr lang="en-US" dirty="0"/>
              <a:t> cui </a:t>
            </a:r>
            <a:r>
              <a:rPr lang="en-US" dirty="0" err="1"/>
              <a:t>tipo</a:t>
            </a:r>
            <a:r>
              <a:rPr lang="en-US" dirty="0"/>
              <a:t> </a:t>
            </a:r>
            <a:r>
              <a:rPr lang="en-US" b="1" dirty="0" err="1"/>
              <a:t>estende</a:t>
            </a:r>
            <a:r>
              <a:rPr lang="en-US" dirty="0"/>
              <a:t> </a:t>
            </a:r>
            <a:r>
              <a:rPr lang="en-US" dirty="0" err="1"/>
              <a:t>il</a:t>
            </a:r>
            <a:r>
              <a:rPr lang="en-US" dirty="0"/>
              <a:t> </a:t>
            </a:r>
            <a:r>
              <a:rPr lang="en-US" dirty="0" err="1"/>
              <a:t>quello</a:t>
            </a:r>
            <a:r>
              <a:rPr lang="en-US" dirty="0"/>
              <a:t> </a:t>
            </a:r>
            <a:r>
              <a:rPr lang="en-US" dirty="0" err="1"/>
              <a:t>richiesto</a:t>
            </a:r>
            <a:r>
              <a:rPr lang="en-US" dirty="0"/>
              <a:t> e </a:t>
            </a:r>
            <a:r>
              <a:rPr lang="en-US" b="1" dirty="0" err="1"/>
              <a:t>riscrive</a:t>
            </a:r>
            <a:r>
              <a:rPr lang="en-US" dirty="0"/>
              <a:t> </a:t>
            </a:r>
            <a:r>
              <a:rPr lang="en-US" dirty="0" err="1"/>
              <a:t>i</a:t>
            </a:r>
            <a:r>
              <a:rPr lang="en-US" dirty="0"/>
              <a:t> </a:t>
            </a:r>
            <a:r>
              <a:rPr lang="en-US" dirty="0" err="1"/>
              <a:t>metodi</a:t>
            </a:r>
            <a:r>
              <a:rPr lang="en-US" dirty="0"/>
              <a:t> </a:t>
            </a:r>
            <a:r>
              <a:rPr lang="en-US" dirty="0" err="1"/>
              <a:t>che</a:t>
            </a:r>
            <a:r>
              <a:rPr lang="en-US" dirty="0"/>
              <a:t> </a:t>
            </a:r>
            <a:r>
              <a:rPr lang="en-US" dirty="0" err="1"/>
              <a:t>devono</a:t>
            </a:r>
            <a:r>
              <a:rPr lang="en-US" dirty="0"/>
              <a:t> </a:t>
            </a:r>
            <a:r>
              <a:rPr lang="en-US" dirty="0" err="1"/>
              <a:t>implementare</a:t>
            </a:r>
            <a:r>
              <a:rPr lang="en-US" dirty="0"/>
              <a:t> le </a:t>
            </a:r>
            <a:r>
              <a:rPr lang="en-US" dirty="0" err="1"/>
              <a:t>operazioni</a:t>
            </a:r>
            <a:r>
              <a:rPr lang="en-US" dirty="0"/>
              <a:t> </a:t>
            </a:r>
            <a:r>
              <a:rPr lang="en-US" dirty="0" err="1"/>
              <a:t>onerose</a:t>
            </a:r>
            <a:r>
              <a:rPr lang="en-US" dirty="0"/>
              <a:t> </a:t>
            </a:r>
          </a:p>
          <a:p>
            <a:pPr lvl="1">
              <a:lnSpc>
                <a:spcPct val="120000"/>
              </a:lnSpc>
            </a:pPr>
            <a:r>
              <a:rPr lang="en-US" dirty="0" err="1"/>
              <a:t>nell'esempio</a:t>
            </a:r>
            <a:r>
              <a:rPr lang="en-US" dirty="0"/>
              <a:t>, </a:t>
            </a:r>
            <a:r>
              <a:rPr lang="en-US" dirty="0" err="1"/>
              <a:t>l'operazione</a:t>
            </a:r>
            <a:r>
              <a:rPr lang="en-US" dirty="0"/>
              <a:t> </a:t>
            </a:r>
            <a:r>
              <a:rPr lang="en-US" dirty="0" err="1"/>
              <a:t>onerosa</a:t>
            </a:r>
            <a:r>
              <a:rPr lang="en-US" dirty="0"/>
              <a:t> </a:t>
            </a:r>
            <a:r>
              <a:rPr lang="en-US" dirty="0" err="1"/>
              <a:t>consiste</a:t>
            </a:r>
            <a:r>
              <a:rPr lang="en-US" dirty="0"/>
              <a:t> </a:t>
            </a:r>
            <a:r>
              <a:rPr lang="en-US" dirty="0" err="1"/>
              <a:t>nel</a:t>
            </a:r>
            <a:r>
              <a:rPr lang="en-US" dirty="0"/>
              <a:t> </a:t>
            </a:r>
            <a:r>
              <a:rPr lang="en-US" dirty="0" err="1"/>
              <a:t>metodo</a:t>
            </a:r>
            <a:r>
              <a:rPr lang="en-US" dirty="0"/>
              <a:t> </a:t>
            </a:r>
            <a:r>
              <a:rPr lang="en-US" b="1" dirty="0" err="1">
                <a:latin typeface="Courier New" charset="0"/>
                <a:cs typeface="Courier New" charset="0"/>
              </a:rPr>
              <a:t>getStudenti</a:t>
            </a:r>
            <a:r>
              <a:rPr lang="en-US" b="1" dirty="0">
                <a:latin typeface="Courier New" charset="0"/>
                <a:cs typeface="Courier New" charset="0"/>
              </a:rPr>
              <a:t>()</a:t>
            </a:r>
            <a:endParaRPr lang="en-US" dirty="0"/>
          </a:p>
        </p:txBody>
      </p:sp>
    </p:spTree>
    <p:extLst>
      <p:ext uri="{BB962C8B-B14F-4D97-AF65-F5344CB8AC3E}">
        <p14:creationId xmlns:p14="http://schemas.microsoft.com/office/powerpoint/2010/main" val="1317465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olo 1"/>
          <p:cNvSpPr>
            <a:spLocks noGrp="1"/>
          </p:cNvSpPr>
          <p:nvPr>
            <p:ph type="title"/>
          </p:nvPr>
        </p:nvSpPr>
        <p:spPr/>
        <p:txBody>
          <a:bodyPr/>
          <a:lstStyle/>
          <a:p>
            <a:r>
              <a:rPr lang="it-IT" dirty="0" err="1"/>
              <a:t>Lazy</a:t>
            </a:r>
            <a:r>
              <a:rPr lang="it-IT" dirty="0"/>
              <a:t> </a:t>
            </a:r>
            <a:r>
              <a:rPr lang="it-IT" dirty="0" err="1"/>
              <a:t>Load</a:t>
            </a:r>
            <a:endParaRPr lang="it-IT" dirty="0"/>
          </a:p>
        </p:txBody>
      </p:sp>
      <p:sp>
        <p:nvSpPr>
          <p:cNvPr id="3" name="Segnaposto contenuto 2"/>
          <p:cNvSpPr>
            <a:spLocks noGrp="1"/>
          </p:cNvSpPr>
          <p:nvPr>
            <p:ph idx="1"/>
          </p:nvPr>
        </p:nvSpPr>
        <p:spPr>
          <a:xfrm>
            <a:off x="1485900" y="963016"/>
            <a:ext cx="6172200" cy="4071884"/>
          </a:xfrm>
        </p:spPr>
        <p:txBody>
          <a:bodyPr>
            <a:normAutofit fontScale="92500" lnSpcReduction="10000"/>
          </a:bodyPr>
          <a:lstStyle/>
          <a:p>
            <a:pPr marL="0" indent="0">
              <a:buNone/>
            </a:pPr>
            <a:r>
              <a:rPr lang="en-US" sz="1200" dirty="0"/>
              <a:t>public class </a:t>
            </a:r>
            <a:r>
              <a:rPr lang="en-US" sz="1200" dirty="0" err="1"/>
              <a:t>GruppoDaoJDBC</a:t>
            </a:r>
            <a:r>
              <a:rPr lang="en-US" sz="1200" dirty="0"/>
              <a:t> {</a:t>
            </a:r>
          </a:p>
          <a:p>
            <a:pPr marL="0" indent="0">
              <a:buNone/>
            </a:pPr>
            <a:r>
              <a:rPr lang="en-US" sz="1200" dirty="0"/>
              <a:t>// …	</a:t>
            </a:r>
          </a:p>
          <a:p>
            <a:pPr marL="0" indent="0">
              <a:buNone/>
            </a:pPr>
            <a:r>
              <a:rPr lang="en-US" sz="1200" b="1" dirty="0"/>
              <a:t>public </a:t>
            </a:r>
            <a:r>
              <a:rPr lang="en-US" sz="1200" b="1" dirty="0" err="1"/>
              <a:t>Gruppo</a:t>
            </a:r>
            <a:r>
              <a:rPr lang="en-US" sz="1200" b="1" dirty="0"/>
              <a:t> </a:t>
            </a:r>
            <a:r>
              <a:rPr lang="en-US" sz="1200" b="1" dirty="0" err="1"/>
              <a:t>findByPrimaryKey</a:t>
            </a:r>
            <a:r>
              <a:rPr lang="en-US" sz="1200" b="1" dirty="0"/>
              <a:t>(Long id) {</a:t>
            </a:r>
          </a:p>
          <a:p>
            <a:pPr marL="0" indent="0">
              <a:buNone/>
            </a:pPr>
            <a:r>
              <a:rPr lang="en-US" sz="1200" dirty="0"/>
              <a:t>		Connection connection = </a:t>
            </a:r>
            <a:r>
              <a:rPr lang="en-US" sz="1200" b="1" dirty="0" err="1"/>
              <a:t>this.dataSource.getConnection</a:t>
            </a:r>
            <a:r>
              <a:rPr lang="en-US" sz="1200" b="1" dirty="0"/>
              <a:t>();</a:t>
            </a:r>
          </a:p>
          <a:p>
            <a:pPr marL="0" indent="0">
              <a:buNone/>
            </a:pPr>
            <a:r>
              <a:rPr lang="en-US" sz="1200" dirty="0"/>
              <a:t>		</a:t>
            </a:r>
            <a:r>
              <a:rPr lang="en-US" sz="1200" dirty="0" err="1"/>
              <a:t>Gruppo</a:t>
            </a:r>
            <a:r>
              <a:rPr lang="en-US" sz="1200" dirty="0"/>
              <a:t> </a:t>
            </a:r>
            <a:r>
              <a:rPr lang="en-US" sz="1200" dirty="0" err="1"/>
              <a:t>gruppo</a:t>
            </a:r>
            <a:r>
              <a:rPr lang="en-US" sz="1200" dirty="0"/>
              <a:t> = </a:t>
            </a:r>
            <a:r>
              <a:rPr lang="en-US" sz="1200" b="1" dirty="0"/>
              <a:t>null;</a:t>
            </a:r>
          </a:p>
          <a:p>
            <a:pPr marL="0" indent="0">
              <a:buNone/>
            </a:pPr>
            <a:r>
              <a:rPr lang="en-US" sz="1200" dirty="0"/>
              <a:t>		</a:t>
            </a:r>
            <a:r>
              <a:rPr lang="en-US" sz="1200" b="1" dirty="0"/>
              <a:t>try {</a:t>
            </a:r>
          </a:p>
          <a:p>
            <a:pPr marL="0" indent="0">
              <a:buNone/>
            </a:pPr>
            <a:r>
              <a:rPr lang="en-US" sz="1200" dirty="0"/>
              <a:t>			</a:t>
            </a:r>
            <a:r>
              <a:rPr lang="en-US" sz="1200" dirty="0" err="1"/>
              <a:t>PreparedStatement</a:t>
            </a:r>
            <a:r>
              <a:rPr lang="en-US" sz="1200" dirty="0"/>
              <a:t> statement;</a:t>
            </a:r>
          </a:p>
          <a:p>
            <a:pPr marL="0" indent="0">
              <a:buNone/>
            </a:pPr>
            <a:r>
              <a:rPr lang="en-US" sz="1200" dirty="0"/>
              <a:t>			String query = "select * from </a:t>
            </a:r>
            <a:r>
              <a:rPr lang="en-US" sz="1200" dirty="0" err="1"/>
              <a:t>gruppo</a:t>
            </a:r>
            <a:r>
              <a:rPr lang="en-US" sz="1200" dirty="0"/>
              <a:t> where id = ?";</a:t>
            </a:r>
          </a:p>
          <a:p>
            <a:pPr marL="0" indent="0">
              <a:buNone/>
            </a:pPr>
            <a:r>
              <a:rPr lang="en-US" sz="1200" dirty="0"/>
              <a:t>			statement = </a:t>
            </a:r>
            <a:r>
              <a:rPr lang="en-US" sz="1200" dirty="0" err="1"/>
              <a:t>connection.prepareStatement</a:t>
            </a:r>
            <a:r>
              <a:rPr lang="en-US" sz="1200" dirty="0"/>
              <a:t>(query);</a:t>
            </a:r>
          </a:p>
          <a:p>
            <a:pPr marL="0" indent="0">
              <a:buNone/>
            </a:pPr>
            <a:r>
              <a:rPr lang="en-US" sz="1200" dirty="0"/>
              <a:t>			</a:t>
            </a:r>
            <a:r>
              <a:rPr lang="en-US" sz="1200" dirty="0" err="1"/>
              <a:t>statement.setLong</a:t>
            </a:r>
            <a:r>
              <a:rPr lang="en-US" sz="1200" dirty="0"/>
              <a:t>(1, id);</a:t>
            </a:r>
          </a:p>
          <a:p>
            <a:pPr marL="0" indent="0">
              <a:buNone/>
            </a:pPr>
            <a:r>
              <a:rPr lang="en-US" sz="1200" dirty="0"/>
              <a:t>			</a:t>
            </a:r>
            <a:r>
              <a:rPr lang="en-US" sz="1200" dirty="0" err="1"/>
              <a:t>ResultSet</a:t>
            </a:r>
            <a:r>
              <a:rPr lang="en-US" sz="1200" dirty="0"/>
              <a:t> result = </a:t>
            </a:r>
            <a:r>
              <a:rPr lang="en-US" sz="1200" dirty="0" err="1"/>
              <a:t>statement.executeQuery</a:t>
            </a:r>
            <a:r>
              <a:rPr lang="en-US" sz="1200" dirty="0"/>
              <a:t>();</a:t>
            </a:r>
          </a:p>
          <a:p>
            <a:pPr marL="0" indent="0">
              <a:buNone/>
            </a:pPr>
            <a:r>
              <a:rPr lang="hu-HU" sz="1200" dirty="0"/>
              <a:t>			</a:t>
            </a:r>
            <a:r>
              <a:rPr lang="hu-HU" sz="1200" b="1" dirty="0"/>
              <a:t>if (result.next()) {</a:t>
            </a:r>
          </a:p>
          <a:p>
            <a:pPr marL="0" indent="0">
              <a:buNone/>
            </a:pPr>
            <a:r>
              <a:rPr lang="it-IT" sz="1200" dirty="0"/>
              <a:t>				</a:t>
            </a:r>
            <a:r>
              <a:rPr lang="it-IT" sz="1200" dirty="0">
                <a:solidFill>
                  <a:srgbClr val="FF0000"/>
                </a:solidFill>
              </a:rPr>
              <a:t>gruppo = </a:t>
            </a:r>
            <a:r>
              <a:rPr lang="it-IT" sz="1200" b="1" dirty="0">
                <a:solidFill>
                  <a:srgbClr val="FF0000"/>
                </a:solidFill>
              </a:rPr>
              <a:t>new </a:t>
            </a:r>
            <a:r>
              <a:rPr lang="it-IT" sz="1200" b="1" dirty="0" err="1">
                <a:solidFill>
                  <a:srgbClr val="FF0000"/>
                </a:solidFill>
              </a:rPr>
              <a:t>GruppoProxy</a:t>
            </a:r>
            <a:r>
              <a:rPr lang="it-IT" sz="1200" b="1" dirty="0">
                <a:solidFill>
                  <a:srgbClr val="FF0000"/>
                </a:solidFill>
              </a:rPr>
              <a:t>();</a:t>
            </a:r>
          </a:p>
          <a:p>
            <a:pPr marL="0" indent="0">
              <a:buNone/>
            </a:pPr>
            <a:r>
              <a:rPr lang="it-IT" sz="1200" dirty="0"/>
              <a:t>				</a:t>
            </a:r>
            <a:r>
              <a:rPr lang="it-IT" sz="1200" dirty="0" err="1"/>
              <a:t>gruppo.setId</a:t>
            </a:r>
            <a:r>
              <a:rPr lang="it-IT" sz="1200" dirty="0"/>
              <a:t>(</a:t>
            </a:r>
            <a:r>
              <a:rPr lang="it-IT" sz="1200" dirty="0" err="1"/>
              <a:t>result.getLong</a:t>
            </a:r>
            <a:r>
              <a:rPr lang="it-IT" sz="1200" dirty="0"/>
              <a:t>("id"));				</a:t>
            </a:r>
          </a:p>
          <a:p>
            <a:pPr marL="0" indent="0">
              <a:buNone/>
            </a:pPr>
            <a:r>
              <a:rPr lang="it-IT" sz="1200" dirty="0"/>
              <a:t>				</a:t>
            </a:r>
            <a:r>
              <a:rPr lang="it-IT" sz="1200" dirty="0" err="1"/>
              <a:t>gruppo.setNome</a:t>
            </a:r>
            <a:r>
              <a:rPr lang="it-IT" sz="1200" dirty="0"/>
              <a:t>(</a:t>
            </a:r>
            <a:r>
              <a:rPr lang="it-IT" sz="1200" dirty="0" err="1"/>
              <a:t>result.getString</a:t>
            </a:r>
            <a:r>
              <a:rPr lang="it-IT" sz="1200" dirty="0"/>
              <a:t>("nome"));</a:t>
            </a:r>
          </a:p>
          <a:p>
            <a:pPr marL="0" indent="0">
              <a:buNone/>
            </a:pPr>
            <a:r>
              <a:rPr lang="it-IT" sz="1200" dirty="0"/>
              <a:t>			}</a:t>
            </a:r>
          </a:p>
          <a:p>
            <a:pPr marL="0" indent="0">
              <a:buNone/>
            </a:pPr>
            <a:r>
              <a:rPr lang="it-IT" sz="1200" dirty="0"/>
              <a:t>		} </a:t>
            </a:r>
            <a:r>
              <a:rPr lang="it-IT" sz="1200" b="1" dirty="0"/>
              <a:t>catch (</a:t>
            </a:r>
            <a:r>
              <a:rPr lang="it-IT" sz="1200" b="1" dirty="0" err="1"/>
              <a:t>SQLException</a:t>
            </a:r>
            <a:r>
              <a:rPr lang="it-IT" sz="1200" b="1" dirty="0"/>
              <a:t> e) {…</a:t>
            </a:r>
            <a:r>
              <a:rPr lang="en-US" sz="1200" dirty="0"/>
              <a:t>		}	</a:t>
            </a:r>
          </a:p>
          <a:p>
            <a:pPr marL="0" indent="0">
              <a:buNone/>
            </a:pPr>
            <a:r>
              <a:rPr lang="en-US" sz="1200" dirty="0"/>
              <a:t>		</a:t>
            </a:r>
            <a:r>
              <a:rPr lang="en-US" sz="1200" b="1" dirty="0"/>
              <a:t>return </a:t>
            </a:r>
            <a:r>
              <a:rPr lang="en-US" sz="1200" b="1" dirty="0" err="1"/>
              <a:t>gruppo</a:t>
            </a:r>
            <a:r>
              <a:rPr lang="en-US" sz="1200" b="1" dirty="0"/>
              <a:t>;</a:t>
            </a:r>
          </a:p>
          <a:p>
            <a:pPr marL="0" indent="0">
              <a:buNone/>
            </a:pPr>
            <a:r>
              <a:rPr lang="en-US" sz="1200" dirty="0"/>
              <a:t>	}</a:t>
            </a:r>
          </a:p>
          <a:p>
            <a:pPr marL="0" indent="0">
              <a:buNone/>
            </a:pPr>
            <a:r>
              <a:rPr lang="en-US" sz="1200" dirty="0"/>
              <a:t>}</a:t>
            </a:r>
          </a:p>
        </p:txBody>
      </p:sp>
    </p:spTree>
    <p:extLst>
      <p:ext uri="{BB962C8B-B14F-4D97-AF65-F5344CB8AC3E}">
        <p14:creationId xmlns:p14="http://schemas.microsoft.com/office/powerpoint/2010/main" val="1606083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sz="2400" dirty="0"/>
              <a:t>Lazy Load: </a:t>
            </a:r>
            <a:r>
              <a:rPr lang="en-US" sz="2400" dirty="0" err="1"/>
              <a:t>implementazione</a:t>
            </a:r>
            <a:r>
              <a:rPr lang="en-US" sz="2400" dirty="0"/>
              <a:t> Proxy</a:t>
            </a:r>
          </a:p>
        </p:txBody>
      </p:sp>
      <p:sp>
        <p:nvSpPr>
          <p:cNvPr id="34819" name="Rectangle 3"/>
          <p:cNvSpPr>
            <a:spLocks noGrp="1" noChangeArrowheads="1"/>
          </p:cNvSpPr>
          <p:nvPr>
            <p:ph idx="1"/>
          </p:nvPr>
        </p:nvSpPr>
        <p:spPr>
          <a:xfrm>
            <a:off x="1223963" y="822625"/>
            <a:ext cx="6696075" cy="4407694"/>
          </a:xfrm>
        </p:spPr>
        <p:txBody>
          <a:bodyPr>
            <a:normAutofit fontScale="77500" lnSpcReduction="20000"/>
          </a:bodyPr>
          <a:lstStyle/>
          <a:p>
            <a:pPr marL="0" indent="0">
              <a:buNone/>
            </a:pPr>
            <a:r>
              <a:rPr lang="en-US" sz="1200" dirty="0">
                <a:solidFill>
                  <a:srgbClr val="7F0055"/>
                </a:solidFill>
              </a:rPr>
              <a:t>public</a:t>
            </a:r>
            <a:r>
              <a:rPr lang="en-US" sz="1200" dirty="0">
                <a:solidFill>
                  <a:srgbClr val="000000"/>
                </a:solidFill>
              </a:rPr>
              <a:t> </a:t>
            </a:r>
            <a:r>
              <a:rPr lang="en-US" sz="1200" dirty="0">
                <a:solidFill>
                  <a:srgbClr val="7F0055"/>
                </a:solidFill>
              </a:rPr>
              <a:t>class</a:t>
            </a:r>
            <a:r>
              <a:rPr lang="en-US" sz="1200" dirty="0">
                <a:solidFill>
                  <a:srgbClr val="000000"/>
                </a:solidFill>
              </a:rPr>
              <a:t> </a:t>
            </a:r>
            <a:r>
              <a:rPr lang="en-US" sz="1200" dirty="0" err="1">
                <a:solidFill>
                  <a:srgbClr val="000000"/>
                </a:solidFill>
              </a:rPr>
              <a:t>GruppoProxy</a:t>
            </a:r>
            <a:r>
              <a:rPr lang="en-US" sz="1200" dirty="0">
                <a:solidFill>
                  <a:srgbClr val="000000"/>
                </a:solidFill>
              </a:rPr>
              <a:t> </a:t>
            </a:r>
            <a:r>
              <a:rPr lang="en-US" sz="1200" dirty="0">
                <a:solidFill>
                  <a:srgbClr val="7F0055"/>
                </a:solidFill>
              </a:rPr>
              <a:t>extends</a:t>
            </a:r>
            <a:r>
              <a:rPr lang="en-US" sz="1200" dirty="0">
                <a:solidFill>
                  <a:srgbClr val="000000"/>
                </a:solidFill>
              </a:rPr>
              <a:t> </a:t>
            </a:r>
            <a:r>
              <a:rPr lang="en-US" sz="1200" dirty="0" err="1">
                <a:solidFill>
                  <a:srgbClr val="000000"/>
                </a:solidFill>
              </a:rPr>
              <a:t>Gruppo</a:t>
            </a:r>
            <a:r>
              <a:rPr lang="en-US" sz="1200" dirty="0">
                <a:solidFill>
                  <a:srgbClr val="000000"/>
                </a:solidFill>
              </a:rPr>
              <a:t> {</a:t>
            </a:r>
          </a:p>
          <a:p>
            <a:pPr marL="0" indent="0">
              <a:buNone/>
            </a:pPr>
            <a:r>
              <a:rPr lang="en-US" sz="1200" dirty="0">
                <a:solidFill>
                  <a:srgbClr val="000000"/>
                </a:solidFill>
              </a:rPr>
              <a:t>	</a:t>
            </a:r>
            <a:r>
              <a:rPr lang="en-US" sz="1200" dirty="0">
                <a:solidFill>
                  <a:srgbClr val="7F0055"/>
                </a:solidFill>
              </a:rPr>
              <a:t>private</a:t>
            </a:r>
            <a:r>
              <a:rPr lang="en-US" sz="1200" dirty="0">
                <a:solidFill>
                  <a:srgbClr val="000000"/>
                </a:solidFill>
              </a:rPr>
              <a:t> </a:t>
            </a:r>
            <a:r>
              <a:rPr lang="en-US" sz="1200" dirty="0" err="1">
                <a:solidFill>
                  <a:srgbClr val="000000"/>
                </a:solidFill>
              </a:rPr>
              <a:t>DataSource</a:t>
            </a:r>
            <a:r>
              <a:rPr lang="en-US" sz="1200" dirty="0">
                <a:solidFill>
                  <a:srgbClr val="000000"/>
                </a:solidFill>
              </a:rPr>
              <a:t> </a:t>
            </a:r>
            <a:r>
              <a:rPr lang="en-US" sz="1200" dirty="0" err="1">
                <a:solidFill>
                  <a:srgbClr val="0000C0"/>
                </a:solidFill>
              </a:rPr>
              <a:t>dataSource</a:t>
            </a:r>
            <a:r>
              <a:rPr lang="en-US" sz="1200" dirty="0">
                <a:solidFill>
                  <a:srgbClr val="000000"/>
                </a:solidFill>
              </a:rPr>
              <a:t>;</a:t>
            </a:r>
          </a:p>
          <a:p>
            <a:pPr marL="0" indent="0">
              <a:buNone/>
            </a:pPr>
            <a:endParaRPr lang="en-US" sz="1200" dirty="0"/>
          </a:p>
          <a:p>
            <a:pPr marL="0" indent="0">
              <a:buNone/>
            </a:pPr>
            <a:r>
              <a:rPr lang="en-US" sz="1200" dirty="0">
                <a:solidFill>
                  <a:srgbClr val="000000"/>
                </a:solidFill>
              </a:rPr>
              <a:t>	</a:t>
            </a:r>
            <a:r>
              <a:rPr lang="en-US" sz="1200" dirty="0">
                <a:solidFill>
                  <a:srgbClr val="7F0055"/>
                </a:solidFill>
              </a:rPr>
              <a:t>public</a:t>
            </a:r>
            <a:r>
              <a:rPr lang="en-US" sz="1200" dirty="0">
                <a:solidFill>
                  <a:srgbClr val="000000"/>
                </a:solidFill>
              </a:rPr>
              <a:t> </a:t>
            </a:r>
            <a:r>
              <a:rPr lang="en-US" sz="1200" dirty="0" err="1">
                <a:solidFill>
                  <a:srgbClr val="000000"/>
                </a:solidFill>
              </a:rPr>
              <a:t>GruppoProxy</a:t>
            </a:r>
            <a:r>
              <a:rPr lang="en-US" sz="1200" dirty="0">
                <a:solidFill>
                  <a:srgbClr val="000000"/>
                </a:solidFill>
              </a:rPr>
              <a:t>() {</a:t>
            </a:r>
          </a:p>
          <a:p>
            <a:pPr marL="0" indent="0">
              <a:buNone/>
            </a:pPr>
            <a:r>
              <a:rPr lang="en-US" sz="1200" dirty="0">
                <a:solidFill>
                  <a:srgbClr val="000000"/>
                </a:solidFill>
              </a:rPr>
              <a:t>		</a:t>
            </a:r>
            <a:r>
              <a:rPr lang="en-US" sz="1200" dirty="0" err="1">
                <a:solidFill>
                  <a:srgbClr val="7F0055"/>
                </a:solidFill>
              </a:rPr>
              <a:t>this</a:t>
            </a:r>
            <a:r>
              <a:rPr lang="en-US" sz="1200" dirty="0" err="1">
                <a:solidFill>
                  <a:srgbClr val="000000"/>
                </a:solidFill>
              </a:rPr>
              <a:t>.</a:t>
            </a:r>
            <a:r>
              <a:rPr lang="en-US" sz="1200" dirty="0" err="1">
                <a:solidFill>
                  <a:srgbClr val="0000C0"/>
                </a:solidFill>
              </a:rPr>
              <a:t>dataSource</a:t>
            </a:r>
            <a:r>
              <a:rPr lang="en-US" sz="1200" dirty="0">
                <a:solidFill>
                  <a:srgbClr val="000000"/>
                </a:solidFill>
              </a:rPr>
              <a:t> = </a:t>
            </a:r>
            <a:r>
              <a:rPr lang="en-US" sz="1200" dirty="0">
                <a:solidFill>
                  <a:srgbClr val="7F0055"/>
                </a:solidFill>
              </a:rPr>
              <a:t>new</a:t>
            </a:r>
            <a:r>
              <a:rPr lang="en-US" sz="1200" dirty="0">
                <a:solidFill>
                  <a:srgbClr val="000000"/>
                </a:solidFill>
              </a:rPr>
              <a:t> </a:t>
            </a:r>
            <a:r>
              <a:rPr lang="en-US" sz="1200" dirty="0" err="1">
                <a:solidFill>
                  <a:srgbClr val="000000"/>
                </a:solidFill>
              </a:rPr>
              <a:t>DataSource</a:t>
            </a:r>
            <a:r>
              <a:rPr lang="en-US" sz="1200" dirty="0">
                <a:solidFill>
                  <a:srgbClr val="000000"/>
                </a:solidFill>
              </a:rPr>
              <a:t>();</a:t>
            </a:r>
          </a:p>
          <a:p>
            <a:pPr marL="0" indent="0">
              <a:buNone/>
            </a:pPr>
            <a:r>
              <a:rPr lang="en-US" sz="1200" dirty="0">
                <a:solidFill>
                  <a:srgbClr val="000000"/>
                </a:solidFill>
              </a:rPr>
              <a:t>	}	</a:t>
            </a:r>
          </a:p>
          <a:p>
            <a:pPr marL="0" indent="0">
              <a:buNone/>
            </a:pPr>
            <a:endParaRPr lang="en-US" sz="1200" dirty="0">
              <a:solidFill>
                <a:srgbClr val="000000"/>
              </a:solidFill>
            </a:endParaRPr>
          </a:p>
          <a:p>
            <a:pPr marL="0" indent="0">
              <a:buNone/>
            </a:pPr>
            <a:r>
              <a:rPr lang="en-US" sz="1200" dirty="0">
                <a:solidFill>
                  <a:srgbClr val="7F0055"/>
                </a:solidFill>
              </a:rPr>
              <a:t>	public</a:t>
            </a:r>
            <a:r>
              <a:rPr lang="en-US" sz="1200" dirty="0">
                <a:solidFill>
                  <a:srgbClr val="000000"/>
                </a:solidFill>
              </a:rPr>
              <a:t> Set&lt;</a:t>
            </a:r>
            <a:r>
              <a:rPr lang="en-US" sz="1200" dirty="0" err="1">
                <a:solidFill>
                  <a:srgbClr val="000000"/>
                </a:solidFill>
              </a:rPr>
              <a:t>Studente</a:t>
            </a:r>
            <a:r>
              <a:rPr lang="en-US" sz="1200" dirty="0">
                <a:solidFill>
                  <a:srgbClr val="000000"/>
                </a:solidFill>
              </a:rPr>
              <a:t>&gt; </a:t>
            </a:r>
            <a:r>
              <a:rPr lang="en-US" sz="1200" dirty="0" err="1">
                <a:solidFill>
                  <a:srgbClr val="000000"/>
                </a:solidFill>
              </a:rPr>
              <a:t>getStudenti</a:t>
            </a:r>
            <a:r>
              <a:rPr lang="en-US" sz="1200" dirty="0">
                <a:solidFill>
                  <a:srgbClr val="000000"/>
                </a:solidFill>
              </a:rPr>
              <a:t>() { </a:t>
            </a:r>
          </a:p>
          <a:p>
            <a:pPr marL="0" indent="0">
              <a:buNone/>
            </a:pPr>
            <a:r>
              <a:rPr lang="en-US" sz="1200" dirty="0">
                <a:solidFill>
                  <a:srgbClr val="000000"/>
                </a:solidFill>
              </a:rPr>
              <a:t>		Set&lt;</a:t>
            </a:r>
            <a:r>
              <a:rPr lang="en-US" sz="1200" dirty="0" err="1">
                <a:solidFill>
                  <a:srgbClr val="000000"/>
                </a:solidFill>
              </a:rPr>
              <a:t>Studente</a:t>
            </a:r>
            <a:r>
              <a:rPr lang="en-US" sz="1200" dirty="0">
                <a:solidFill>
                  <a:srgbClr val="000000"/>
                </a:solidFill>
              </a:rPr>
              <a:t>&gt; </a:t>
            </a:r>
            <a:r>
              <a:rPr lang="en-US" sz="1200" dirty="0" err="1">
                <a:solidFill>
                  <a:srgbClr val="6A3E3E"/>
                </a:solidFill>
              </a:rPr>
              <a:t>studenti</a:t>
            </a:r>
            <a:r>
              <a:rPr lang="en-US" sz="1200" dirty="0">
                <a:solidFill>
                  <a:srgbClr val="000000"/>
                </a:solidFill>
              </a:rPr>
              <a:t> = </a:t>
            </a:r>
            <a:r>
              <a:rPr lang="en-US" sz="1200" dirty="0">
                <a:solidFill>
                  <a:srgbClr val="7F0055"/>
                </a:solidFill>
              </a:rPr>
              <a:t>new</a:t>
            </a:r>
            <a:r>
              <a:rPr lang="en-US" sz="1200" dirty="0">
                <a:solidFill>
                  <a:srgbClr val="000000"/>
                </a:solidFill>
              </a:rPr>
              <a:t> </a:t>
            </a:r>
            <a:r>
              <a:rPr lang="en-US" sz="1200" dirty="0" err="1">
                <a:solidFill>
                  <a:srgbClr val="000000"/>
                </a:solidFill>
              </a:rPr>
              <a:t>HashSet</a:t>
            </a:r>
            <a:r>
              <a:rPr lang="en-US" sz="1200" dirty="0">
                <a:solidFill>
                  <a:srgbClr val="000000"/>
                </a:solidFill>
              </a:rPr>
              <a:t>&lt;&gt;();</a:t>
            </a:r>
          </a:p>
          <a:p>
            <a:pPr marL="0" indent="0">
              <a:buNone/>
            </a:pPr>
            <a:r>
              <a:rPr lang="en-US" sz="1200" dirty="0">
                <a:solidFill>
                  <a:srgbClr val="000000"/>
                </a:solidFill>
              </a:rPr>
              <a:t>		Connection </a:t>
            </a:r>
            <a:r>
              <a:rPr lang="en-US" sz="1200" dirty="0">
                <a:solidFill>
                  <a:srgbClr val="6A3E3E"/>
                </a:solidFill>
              </a:rPr>
              <a:t>connection</a:t>
            </a:r>
            <a:r>
              <a:rPr lang="en-US" sz="1200" dirty="0">
                <a:solidFill>
                  <a:srgbClr val="000000"/>
                </a:solidFill>
              </a:rPr>
              <a:t> = </a:t>
            </a:r>
            <a:r>
              <a:rPr lang="en-US" sz="1200" dirty="0" err="1">
                <a:solidFill>
                  <a:srgbClr val="7F0055"/>
                </a:solidFill>
              </a:rPr>
              <a:t>this</a:t>
            </a:r>
            <a:r>
              <a:rPr lang="en-US" sz="1200" dirty="0" err="1">
                <a:solidFill>
                  <a:srgbClr val="000000"/>
                </a:solidFill>
              </a:rPr>
              <a:t>.</a:t>
            </a:r>
            <a:r>
              <a:rPr lang="en-US" sz="1200" dirty="0" err="1">
                <a:solidFill>
                  <a:srgbClr val="0000C0"/>
                </a:solidFill>
              </a:rPr>
              <a:t>dataSource</a:t>
            </a:r>
            <a:r>
              <a:rPr lang="en-US" sz="1200" dirty="0" err="1">
                <a:solidFill>
                  <a:srgbClr val="000000"/>
                </a:solidFill>
              </a:rPr>
              <a:t>.getConnection</a:t>
            </a:r>
            <a:r>
              <a:rPr lang="en-US" sz="1200" dirty="0">
                <a:solidFill>
                  <a:srgbClr val="000000"/>
                </a:solidFill>
              </a:rPr>
              <a:t>();</a:t>
            </a:r>
          </a:p>
          <a:p>
            <a:pPr marL="0" indent="0">
              <a:buNone/>
            </a:pPr>
            <a:r>
              <a:rPr lang="en-US" sz="1200" dirty="0">
                <a:solidFill>
                  <a:srgbClr val="000000"/>
                </a:solidFill>
              </a:rPr>
              <a:t>		</a:t>
            </a:r>
            <a:r>
              <a:rPr lang="en-US" sz="1200" dirty="0">
                <a:solidFill>
                  <a:srgbClr val="7F0055"/>
                </a:solidFill>
              </a:rPr>
              <a:t>try</a:t>
            </a:r>
            <a:r>
              <a:rPr lang="en-US" sz="1200" dirty="0">
                <a:solidFill>
                  <a:srgbClr val="000000"/>
                </a:solidFill>
              </a:rPr>
              <a:t> {</a:t>
            </a:r>
          </a:p>
          <a:p>
            <a:pPr marL="0" indent="0">
              <a:buNone/>
            </a:pPr>
            <a:r>
              <a:rPr lang="en-US" sz="1200" dirty="0">
                <a:solidFill>
                  <a:srgbClr val="000000"/>
                </a:solidFill>
              </a:rPr>
              <a:t>			</a:t>
            </a:r>
            <a:r>
              <a:rPr lang="en-US" sz="1200" dirty="0" err="1">
                <a:solidFill>
                  <a:srgbClr val="000000"/>
                </a:solidFill>
              </a:rPr>
              <a:t>PreparedStatement</a:t>
            </a:r>
            <a:r>
              <a:rPr lang="en-US" sz="1200" dirty="0">
                <a:solidFill>
                  <a:srgbClr val="000000"/>
                </a:solidFill>
              </a:rPr>
              <a:t> </a:t>
            </a:r>
            <a:r>
              <a:rPr lang="en-US" sz="1200" dirty="0">
                <a:solidFill>
                  <a:srgbClr val="6A3E3E"/>
                </a:solidFill>
              </a:rPr>
              <a:t>statement</a:t>
            </a:r>
            <a:r>
              <a:rPr lang="en-US" sz="1200" dirty="0">
                <a:solidFill>
                  <a:srgbClr val="000000"/>
                </a:solidFill>
              </a:rPr>
              <a:t>;</a:t>
            </a:r>
          </a:p>
          <a:p>
            <a:pPr marL="0" indent="0">
              <a:buNone/>
            </a:pPr>
            <a:r>
              <a:rPr lang="en-US" sz="1200" dirty="0">
                <a:solidFill>
                  <a:srgbClr val="000000"/>
                </a:solidFill>
              </a:rPr>
              <a:t>			String </a:t>
            </a:r>
            <a:r>
              <a:rPr lang="en-US" sz="1200" dirty="0">
                <a:solidFill>
                  <a:srgbClr val="6A3E3E"/>
                </a:solidFill>
              </a:rPr>
              <a:t>query</a:t>
            </a:r>
            <a:r>
              <a:rPr lang="en-US" sz="1200" dirty="0">
                <a:solidFill>
                  <a:srgbClr val="000000"/>
                </a:solidFill>
              </a:rPr>
              <a:t> = </a:t>
            </a:r>
            <a:r>
              <a:rPr lang="en-US" sz="1200" dirty="0">
                <a:solidFill>
                  <a:srgbClr val="2A00FF"/>
                </a:solidFill>
              </a:rPr>
              <a:t>"select * from </a:t>
            </a:r>
            <a:r>
              <a:rPr lang="en-US" sz="1200" dirty="0" err="1">
                <a:solidFill>
                  <a:srgbClr val="2A00FF"/>
                </a:solidFill>
              </a:rPr>
              <a:t>studente</a:t>
            </a:r>
            <a:r>
              <a:rPr lang="en-US" sz="1200" dirty="0">
                <a:solidFill>
                  <a:srgbClr val="2A00FF"/>
                </a:solidFill>
              </a:rPr>
              <a:t> where </a:t>
            </a:r>
            <a:r>
              <a:rPr lang="en-US" sz="1200" dirty="0" err="1">
                <a:solidFill>
                  <a:srgbClr val="2A00FF"/>
                </a:solidFill>
              </a:rPr>
              <a:t>gruppo_id</a:t>
            </a:r>
            <a:r>
              <a:rPr lang="en-US" sz="1200" dirty="0">
                <a:solidFill>
                  <a:srgbClr val="2A00FF"/>
                </a:solidFill>
              </a:rPr>
              <a:t> = ?"</a:t>
            </a:r>
            <a:r>
              <a:rPr lang="en-US" sz="1200" dirty="0">
                <a:solidFill>
                  <a:srgbClr val="000000"/>
                </a:solidFill>
              </a:rPr>
              <a:t>;</a:t>
            </a:r>
          </a:p>
          <a:p>
            <a:pPr marL="0" indent="0">
              <a:buNone/>
            </a:pPr>
            <a:r>
              <a:rPr lang="en-US" sz="1200" dirty="0">
                <a:solidFill>
                  <a:srgbClr val="000000"/>
                </a:solidFill>
              </a:rPr>
              <a:t>			</a:t>
            </a:r>
            <a:r>
              <a:rPr lang="en-US" sz="1200" dirty="0">
                <a:solidFill>
                  <a:srgbClr val="6A3E3E"/>
                </a:solidFill>
              </a:rPr>
              <a:t>statement</a:t>
            </a:r>
            <a:r>
              <a:rPr lang="en-US" sz="1200" dirty="0">
                <a:solidFill>
                  <a:srgbClr val="000000"/>
                </a:solidFill>
              </a:rPr>
              <a:t> = </a:t>
            </a:r>
            <a:r>
              <a:rPr lang="en-US" sz="1200" dirty="0" err="1">
                <a:solidFill>
                  <a:srgbClr val="6A3E3E"/>
                </a:solidFill>
              </a:rPr>
              <a:t>connection</a:t>
            </a:r>
            <a:r>
              <a:rPr lang="en-US" sz="1200" dirty="0" err="1">
                <a:solidFill>
                  <a:srgbClr val="000000"/>
                </a:solidFill>
              </a:rPr>
              <a:t>.prepareStatement</a:t>
            </a:r>
            <a:r>
              <a:rPr lang="en-US" sz="1200" dirty="0">
                <a:solidFill>
                  <a:srgbClr val="000000"/>
                </a:solidFill>
              </a:rPr>
              <a:t>(</a:t>
            </a:r>
            <a:r>
              <a:rPr lang="en-US" sz="1200" dirty="0">
                <a:solidFill>
                  <a:srgbClr val="6A3E3E"/>
                </a:solidFill>
              </a:rPr>
              <a:t>query</a:t>
            </a:r>
            <a:r>
              <a:rPr lang="en-US" sz="1200" dirty="0">
                <a:solidFill>
                  <a:srgbClr val="000000"/>
                </a:solidFill>
              </a:rPr>
              <a:t>);</a:t>
            </a:r>
          </a:p>
          <a:p>
            <a:pPr marL="0" indent="0">
              <a:buNone/>
            </a:pPr>
            <a:r>
              <a:rPr lang="en-US" sz="1200" dirty="0">
                <a:solidFill>
                  <a:srgbClr val="000000"/>
                </a:solidFill>
              </a:rPr>
              <a:t>			</a:t>
            </a:r>
            <a:r>
              <a:rPr lang="en-US" sz="1200" dirty="0" err="1">
                <a:solidFill>
                  <a:srgbClr val="6A3E3E"/>
                </a:solidFill>
              </a:rPr>
              <a:t>statement</a:t>
            </a:r>
            <a:r>
              <a:rPr lang="en-US" sz="1200" dirty="0" err="1">
                <a:solidFill>
                  <a:srgbClr val="000000"/>
                </a:solidFill>
              </a:rPr>
              <a:t>.setLong</a:t>
            </a:r>
            <a:r>
              <a:rPr lang="en-US" sz="1200" dirty="0">
                <a:solidFill>
                  <a:srgbClr val="000000"/>
                </a:solidFill>
              </a:rPr>
              <a:t>(1, </a:t>
            </a:r>
            <a:r>
              <a:rPr lang="en-US" sz="1200" dirty="0" err="1">
                <a:solidFill>
                  <a:srgbClr val="7F0055"/>
                </a:solidFill>
              </a:rPr>
              <a:t>this</a:t>
            </a:r>
            <a:r>
              <a:rPr lang="en-US" sz="1200" dirty="0" err="1">
                <a:solidFill>
                  <a:srgbClr val="000000"/>
                </a:solidFill>
              </a:rPr>
              <a:t>.getId</a:t>
            </a:r>
            <a:r>
              <a:rPr lang="en-US" sz="1200" dirty="0">
                <a:solidFill>
                  <a:srgbClr val="000000"/>
                </a:solidFill>
              </a:rPr>
              <a:t>());</a:t>
            </a:r>
          </a:p>
          <a:p>
            <a:pPr marL="0" indent="0">
              <a:buNone/>
            </a:pPr>
            <a:r>
              <a:rPr lang="en-US" sz="1200" dirty="0">
                <a:solidFill>
                  <a:srgbClr val="000000"/>
                </a:solidFill>
              </a:rPr>
              <a:t>			</a:t>
            </a:r>
            <a:r>
              <a:rPr lang="en-US" sz="1200" dirty="0" err="1">
                <a:solidFill>
                  <a:srgbClr val="000000"/>
                </a:solidFill>
              </a:rPr>
              <a:t>ResultSet</a:t>
            </a:r>
            <a:r>
              <a:rPr lang="en-US" sz="1200" dirty="0">
                <a:solidFill>
                  <a:srgbClr val="000000"/>
                </a:solidFill>
              </a:rPr>
              <a:t> </a:t>
            </a:r>
            <a:r>
              <a:rPr lang="en-US" sz="1200" dirty="0">
                <a:solidFill>
                  <a:srgbClr val="6A3E3E"/>
                </a:solidFill>
              </a:rPr>
              <a:t>result</a:t>
            </a:r>
            <a:r>
              <a:rPr lang="en-US" sz="1200" dirty="0">
                <a:solidFill>
                  <a:srgbClr val="000000"/>
                </a:solidFill>
              </a:rPr>
              <a:t> = </a:t>
            </a:r>
            <a:r>
              <a:rPr lang="en-US" sz="1200" dirty="0" err="1">
                <a:solidFill>
                  <a:srgbClr val="6A3E3E"/>
                </a:solidFill>
              </a:rPr>
              <a:t>statement</a:t>
            </a:r>
            <a:r>
              <a:rPr lang="en-US" sz="1200" dirty="0" err="1">
                <a:solidFill>
                  <a:srgbClr val="000000"/>
                </a:solidFill>
              </a:rPr>
              <a:t>.executeQuery</a:t>
            </a:r>
            <a:r>
              <a:rPr lang="en-US" sz="1200" dirty="0">
                <a:solidFill>
                  <a:srgbClr val="000000"/>
                </a:solidFill>
              </a:rPr>
              <a:t>();</a:t>
            </a:r>
          </a:p>
          <a:p>
            <a:pPr marL="0" indent="0">
              <a:buNone/>
            </a:pPr>
            <a:r>
              <a:rPr lang="en-US" sz="1200" dirty="0">
                <a:solidFill>
                  <a:srgbClr val="000000"/>
                </a:solidFill>
              </a:rPr>
              <a:t>			</a:t>
            </a:r>
            <a:r>
              <a:rPr lang="en-US" sz="1200" dirty="0">
                <a:solidFill>
                  <a:srgbClr val="7F0055"/>
                </a:solidFill>
              </a:rPr>
              <a:t>while</a:t>
            </a:r>
            <a:r>
              <a:rPr lang="en-US" sz="1200" dirty="0">
                <a:solidFill>
                  <a:srgbClr val="000000"/>
                </a:solidFill>
              </a:rPr>
              <a:t> (</a:t>
            </a:r>
            <a:r>
              <a:rPr lang="en-US" sz="1200" dirty="0" err="1">
                <a:solidFill>
                  <a:srgbClr val="6A3E3E"/>
                </a:solidFill>
              </a:rPr>
              <a:t>result</a:t>
            </a:r>
            <a:r>
              <a:rPr lang="en-US" sz="1200" dirty="0" err="1">
                <a:solidFill>
                  <a:srgbClr val="000000"/>
                </a:solidFill>
              </a:rPr>
              <a:t>.next</a:t>
            </a:r>
            <a:r>
              <a:rPr lang="en-US" sz="1200" dirty="0">
                <a:solidFill>
                  <a:srgbClr val="000000"/>
                </a:solidFill>
              </a:rPr>
              <a:t>()) {</a:t>
            </a:r>
          </a:p>
          <a:p>
            <a:pPr marL="0" indent="0">
              <a:buNone/>
            </a:pPr>
            <a:r>
              <a:rPr lang="en-US" sz="1200" dirty="0">
                <a:solidFill>
                  <a:srgbClr val="000000"/>
                </a:solidFill>
              </a:rPr>
              <a:t>				</a:t>
            </a:r>
            <a:r>
              <a:rPr lang="en-US" sz="1200" dirty="0" err="1">
                <a:solidFill>
                  <a:srgbClr val="000000"/>
                </a:solidFill>
              </a:rPr>
              <a:t>Studente</a:t>
            </a:r>
            <a:r>
              <a:rPr lang="en-US" sz="1200" dirty="0">
                <a:solidFill>
                  <a:srgbClr val="000000"/>
                </a:solidFill>
              </a:rPr>
              <a:t> </a:t>
            </a:r>
            <a:r>
              <a:rPr lang="en-US" sz="1200" dirty="0" err="1">
                <a:solidFill>
                  <a:srgbClr val="6A3E3E"/>
                </a:solidFill>
              </a:rPr>
              <a:t>studente</a:t>
            </a:r>
            <a:r>
              <a:rPr lang="en-US" sz="1200" dirty="0">
                <a:solidFill>
                  <a:srgbClr val="000000"/>
                </a:solidFill>
              </a:rPr>
              <a:t> = </a:t>
            </a:r>
            <a:r>
              <a:rPr lang="en-US" sz="1200" dirty="0">
                <a:solidFill>
                  <a:srgbClr val="7F0055"/>
                </a:solidFill>
              </a:rPr>
              <a:t>new</a:t>
            </a:r>
            <a:r>
              <a:rPr lang="en-US" sz="1200" dirty="0">
                <a:solidFill>
                  <a:srgbClr val="000000"/>
                </a:solidFill>
              </a:rPr>
              <a:t> </a:t>
            </a:r>
            <a:r>
              <a:rPr lang="en-US" sz="1200" dirty="0" err="1">
                <a:solidFill>
                  <a:srgbClr val="000000"/>
                </a:solidFill>
              </a:rPr>
              <a:t>Studente</a:t>
            </a:r>
            <a:r>
              <a:rPr lang="en-US" sz="1200" dirty="0">
                <a:solidFill>
                  <a:srgbClr val="000000"/>
                </a:solidFill>
              </a:rPr>
              <a:t>();</a:t>
            </a:r>
          </a:p>
          <a:p>
            <a:pPr marL="0" indent="0">
              <a:buNone/>
            </a:pPr>
            <a:r>
              <a:rPr lang="en-US" sz="1200" dirty="0">
                <a:solidFill>
                  <a:srgbClr val="000000"/>
                </a:solidFill>
              </a:rPr>
              <a:t>				</a:t>
            </a:r>
            <a:r>
              <a:rPr lang="en-US" sz="1200" dirty="0" err="1">
                <a:solidFill>
                  <a:srgbClr val="6A3E3E"/>
                </a:solidFill>
              </a:rPr>
              <a:t>studente</a:t>
            </a:r>
            <a:r>
              <a:rPr lang="en-US" sz="1200" dirty="0" err="1">
                <a:solidFill>
                  <a:srgbClr val="000000"/>
                </a:solidFill>
              </a:rPr>
              <a:t>.setMatricola</a:t>
            </a:r>
            <a:r>
              <a:rPr lang="en-US" sz="1200" dirty="0">
                <a:solidFill>
                  <a:srgbClr val="000000"/>
                </a:solidFill>
              </a:rPr>
              <a:t>(</a:t>
            </a:r>
            <a:r>
              <a:rPr lang="en-US" sz="1200" dirty="0" err="1">
                <a:solidFill>
                  <a:srgbClr val="6A3E3E"/>
                </a:solidFill>
              </a:rPr>
              <a:t>result</a:t>
            </a:r>
            <a:r>
              <a:rPr lang="en-US" sz="1200" dirty="0" err="1">
                <a:solidFill>
                  <a:srgbClr val="000000"/>
                </a:solidFill>
              </a:rPr>
              <a:t>.getString</a:t>
            </a:r>
            <a:r>
              <a:rPr lang="en-US" sz="1200" dirty="0">
                <a:solidFill>
                  <a:srgbClr val="000000"/>
                </a:solidFill>
              </a:rPr>
              <a:t>(</a:t>
            </a:r>
            <a:r>
              <a:rPr lang="en-US" sz="1200" dirty="0">
                <a:solidFill>
                  <a:srgbClr val="2A00FF"/>
                </a:solidFill>
              </a:rPr>
              <a:t>"</a:t>
            </a:r>
            <a:r>
              <a:rPr lang="en-US" sz="1200" dirty="0" err="1">
                <a:solidFill>
                  <a:srgbClr val="2A00FF"/>
                </a:solidFill>
              </a:rPr>
              <a:t>matricola</a:t>
            </a:r>
            <a:r>
              <a:rPr lang="en-US" sz="1200" dirty="0">
                <a:solidFill>
                  <a:srgbClr val="2A00FF"/>
                </a:solidFill>
              </a:rPr>
              <a:t>"</a:t>
            </a:r>
            <a:r>
              <a:rPr lang="en-US" sz="1200" dirty="0">
                <a:solidFill>
                  <a:srgbClr val="000000"/>
                </a:solidFill>
              </a:rPr>
              <a:t>));	</a:t>
            </a:r>
          </a:p>
          <a:p>
            <a:pPr marL="0" indent="0">
              <a:buNone/>
            </a:pPr>
            <a:r>
              <a:rPr lang="en-US" sz="1200" dirty="0">
                <a:solidFill>
                  <a:srgbClr val="000000"/>
                </a:solidFill>
              </a:rPr>
              <a:t>				</a:t>
            </a:r>
            <a:r>
              <a:rPr lang="en-US" sz="1200" dirty="0" err="1">
                <a:solidFill>
                  <a:srgbClr val="6A3E3E"/>
                </a:solidFill>
              </a:rPr>
              <a:t>studente</a:t>
            </a:r>
            <a:r>
              <a:rPr lang="en-US" sz="1200" dirty="0" err="1">
                <a:solidFill>
                  <a:srgbClr val="000000"/>
                </a:solidFill>
              </a:rPr>
              <a:t>.setNome</a:t>
            </a:r>
            <a:r>
              <a:rPr lang="en-US" sz="1200" dirty="0">
                <a:solidFill>
                  <a:srgbClr val="000000"/>
                </a:solidFill>
              </a:rPr>
              <a:t>(</a:t>
            </a:r>
            <a:r>
              <a:rPr lang="en-US" sz="1200" dirty="0" err="1">
                <a:solidFill>
                  <a:srgbClr val="6A3E3E"/>
                </a:solidFill>
              </a:rPr>
              <a:t>result</a:t>
            </a:r>
            <a:r>
              <a:rPr lang="en-US" sz="1200" dirty="0" err="1">
                <a:solidFill>
                  <a:srgbClr val="000000"/>
                </a:solidFill>
              </a:rPr>
              <a:t>.getString</a:t>
            </a:r>
            <a:r>
              <a:rPr lang="en-US" sz="1200" dirty="0">
                <a:solidFill>
                  <a:srgbClr val="000000"/>
                </a:solidFill>
              </a:rPr>
              <a:t>(</a:t>
            </a:r>
            <a:r>
              <a:rPr lang="en-US" sz="1200" dirty="0">
                <a:solidFill>
                  <a:srgbClr val="2A00FF"/>
                </a:solidFill>
              </a:rPr>
              <a:t>"</a:t>
            </a:r>
            <a:r>
              <a:rPr lang="en-US" sz="1200" dirty="0" err="1">
                <a:solidFill>
                  <a:srgbClr val="2A00FF"/>
                </a:solidFill>
              </a:rPr>
              <a:t>nome</a:t>
            </a:r>
            <a:r>
              <a:rPr lang="en-US" sz="1200" dirty="0">
                <a:solidFill>
                  <a:srgbClr val="2A00FF"/>
                </a:solidFill>
              </a:rPr>
              <a:t>"</a:t>
            </a:r>
            <a:r>
              <a:rPr lang="en-US" sz="1200" dirty="0">
                <a:solidFill>
                  <a:srgbClr val="000000"/>
                </a:solidFill>
              </a:rPr>
              <a:t>));</a:t>
            </a:r>
          </a:p>
          <a:p>
            <a:pPr marL="0" indent="0">
              <a:buNone/>
            </a:pPr>
            <a:r>
              <a:rPr lang="en-US" sz="1200" dirty="0">
                <a:solidFill>
                  <a:srgbClr val="000000"/>
                </a:solidFill>
              </a:rPr>
              <a:t>				</a:t>
            </a:r>
            <a:r>
              <a:rPr lang="en-US" sz="1200" dirty="0" err="1">
                <a:solidFill>
                  <a:srgbClr val="6A3E3E"/>
                </a:solidFill>
              </a:rPr>
              <a:t>studente</a:t>
            </a:r>
            <a:r>
              <a:rPr lang="en-US" sz="1200" dirty="0" err="1">
                <a:solidFill>
                  <a:srgbClr val="000000"/>
                </a:solidFill>
              </a:rPr>
              <a:t>.setCognome</a:t>
            </a:r>
            <a:r>
              <a:rPr lang="en-US" sz="1200" dirty="0">
                <a:solidFill>
                  <a:srgbClr val="000000"/>
                </a:solidFill>
              </a:rPr>
              <a:t>(</a:t>
            </a:r>
            <a:r>
              <a:rPr lang="en-US" sz="1200" dirty="0" err="1">
                <a:solidFill>
                  <a:srgbClr val="6A3E3E"/>
                </a:solidFill>
              </a:rPr>
              <a:t>result</a:t>
            </a:r>
            <a:r>
              <a:rPr lang="en-US" sz="1200" dirty="0" err="1">
                <a:solidFill>
                  <a:srgbClr val="000000"/>
                </a:solidFill>
              </a:rPr>
              <a:t>.getString</a:t>
            </a:r>
            <a:r>
              <a:rPr lang="en-US" sz="1200" dirty="0">
                <a:solidFill>
                  <a:srgbClr val="000000"/>
                </a:solidFill>
              </a:rPr>
              <a:t>(</a:t>
            </a:r>
            <a:r>
              <a:rPr lang="en-US" sz="1200" dirty="0">
                <a:solidFill>
                  <a:srgbClr val="2A00FF"/>
                </a:solidFill>
              </a:rPr>
              <a:t>"</a:t>
            </a:r>
            <a:r>
              <a:rPr lang="en-US" sz="1200" dirty="0" err="1">
                <a:solidFill>
                  <a:srgbClr val="2A00FF"/>
                </a:solidFill>
              </a:rPr>
              <a:t>cognome</a:t>
            </a:r>
            <a:r>
              <a:rPr lang="en-US" sz="1200" dirty="0">
                <a:solidFill>
                  <a:srgbClr val="2A00FF"/>
                </a:solidFill>
              </a:rPr>
              <a:t>"</a:t>
            </a:r>
            <a:r>
              <a:rPr lang="en-US" sz="1200" dirty="0">
                <a:solidFill>
                  <a:srgbClr val="000000"/>
                </a:solidFill>
              </a:rPr>
              <a:t>));</a:t>
            </a:r>
          </a:p>
          <a:p>
            <a:pPr marL="0" indent="0">
              <a:buNone/>
            </a:pPr>
            <a:r>
              <a:rPr lang="en-US" sz="1200" dirty="0">
                <a:solidFill>
                  <a:srgbClr val="000000"/>
                </a:solidFill>
              </a:rPr>
              <a:t>				</a:t>
            </a:r>
            <a:r>
              <a:rPr lang="en-US" sz="1200" dirty="0">
                <a:solidFill>
                  <a:srgbClr val="7F0055"/>
                </a:solidFill>
              </a:rPr>
              <a:t>long</a:t>
            </a:r>
            <a:r>
              <a:rPr lang="en-US" sz="1200" dirty="0">
                <a:solidFill>
                  <a:srgbClr val="000000"/>
                </a:solidFill>
              </a:rPr>
              <a:t> </a:t>
            </a:r>
            <a:r>
              <a:rPr lang="en-US" sz="1200" dirty="0" err="1">
                <a:solidFill>
                  <a:srgbClr val="6A3E3E"/>
                </a:solidFill>
              </a:rPr>
              <a:t>secs</a:t>
            </a:r>
            <a:r>
              <a:rPr lang="en-US" sz="1200" dirty="0">
                <a:solidFill>
                  <a:srgbClr val="000000"/>
                </a:solidFill>
              </a:rPr>
              <a:t> = </a:t>
            </a:r>
            <a:r>
              <a:rPr lang="en-US" sz="1200" dirty="0" err="1">
                <a:solidFill>
                  <a:srgbClr val="6A3E3E"/>
                </a:solidFill>
              </a:rPr>
              <a:t>result</a:t>
            </a:r>
            <a:r>
              <a:rPr lang="en-US" sz="1200" dirty="0" err="1">
                <a:solidFill>
                  <a:srgbClr val="000000"/>
                </a:solidFill>
              </a:rPr>
              <a:t>.getDate</a:t>
            </a:r>
            <a:r>
              <a:rPr lang="en-US" sz="1200" dirty="0">
                <a:solidFill>
                  <a:srgbClr val="000000"/>
                </a:solidFill>
              </a:rPr>
              <a:t>(</a:t>
            </a:r>
            <a:r>
              <a:rPr lang="en-US" sz="1200" dirty="0">
                <a:solidFill>
                  <a:srgbClr val="2A00FF"/>
                </a:solidFill>
              </a:rPr>
              <a:t>"</a:t>
            </a:r>
            <a:r>
              <a:rPr lang="en-US" sz="1200" dirty="0" err="1">
                <a:solidFill>
                  <a:srgbClr val="2A00FF"/>
                </a:solidFill>
              </a:rPr>
              <a:t>datanascita</a:t>
            </a:r>
            <a:r>
              <a:rPr lang="en-US" sz="1200" dirty="0">
                <a:solidFill>
                  <a:srgbClr val="2A00FF"/>
                </a:solidFill>
              </a:rPr>
              <a:t>"</a:t>
            </a:r>
            <a:r>
              <a:rPr lang="en-US" sz="1200" dirty="0">
                <a:solidFill>
                  <a:srgbClr val="000000"/>
                </a:solidFill>
              </a:rPr>
              <a:t>).</a:t>
            </a:r>
            <a:r>
              <a:rPr lang="en-US" sz="1200" dirty="0" err="1">
                <a:solidFill>
                  <a:srgbClr val="000000"/>
                </a:solidFill>
              </a:rPr>
              <a:t>getTime</a:t>
            </a:r>
            <a:r>
              <a:rPr lang="en-US" sz="1200" dirty="0">
                <a:solidFill>
                  <a:srgbClr val="000000"/>
                </a:solidFill>
              </a:rPr>
              <a:t>();</a:t>
            </a:r>
          </a:p>
          <a:p>
            <a:pPr marL="0" indent="0">
              <a:buNone/>
            </a:pPr>
            <a:r>
              <a:rPr lang="en-US" sz="1200" dirty="0">
                <a:solidFill>
                  <a:srgbClr val="000000"/>
                </a:solidFill>
              </a:rPr>
              <a:t>				</a:t>
            </a:r>
            <a:r>
              <a:rPr lang="en-US" sz="1200" dirty="0" err="1">
                <a:solidFill>
                  <a:srgbClr val="6A3E3E"/>
                </a:solidFill>
              </a:rPr>
              <a:t>studente</a:t>
            </a:r>
            <a:r>
              <a:rPr lang="en-US" sz="1200" dirty="0" err="1">
                <a:solidFill>
                  <a:srgbClr val="000000"/>
                </a:solidFill>
              </a:rPr>
              <a:t>.setDataNascita</a:t>
            </a:r>
            <a:r>
              <a:rPr lang="en-US" sz="1200" dirty="0">
                <a:solidFill>
                  <a:srgbClr val="000000"/>
                </a:solidFill>
              </a:rPr>
              <a:t>(</a:t>
            </a:r>
            <a:r>
              <a:rPr lang="en-US" sz="1200" dirty="0">
                <a:solidFill>
                  <a:srgbClr val="7F0055"/>
                </a:solidFill>
              </a:rPr>
              <a:t>new</a:t>
            </a:r>
            <a:r>
              <a:rPr lang="en-US" sz="1200" dirty="0">
                <a:solidFill>
                  <a:srgbClr val="000000"/>
                </a:solidFill>
              </a:rPr>
              <a:t> </a:t>
            </a:r>
            <a:r>
              <a:rPr lang="en-US" sz="1200" dirty="0" err="1">
                <a:solidFill>
                  <a:srgbClr val="000000"/>
                </a:solidFill>
              </a:rPr>
              <a:t>java.util.Date</a:t>
            </a:r>
            <a:r>
              <a:rPr lang="en-US" sz="1200" dirty="0">
                <a:solidFill>
                  <a:srgbClr val="000000"/>
                </a:solidFill>
              </a:rPr>
              <a:t>(</a:t>
            </a:r>
            <a:r>
              <a:rPr lang="en-US" sz="1200" dirty="0" err="1">
                <a:solidFill>
                  <a:srgbClr val="6A3E3E"/>
                </a:solidFill>
              </a:rPr>
              <a:t>secs</a:t>
            </a:r>
            <a:r>
              <a:rPr lang="en-US" sz="1200" dirty="0">
                <a:solidFill>
                  <a:srgbClr val="000000"/>
                </a:solidFill>
              </a:rPr>
              <a:t>));</a:t>
            </a:r>
          </a:p>
          <a:p>
            <a:pPr marL="0" indent="0">
              <a:buNone/>
            </a:pPr>
            <a:r>
              <a:rPr lang="en-US" sz="1200" dirty="0">
                <a:solidFill>
                  <a:srgbClr val="000000"/>
                </a:solidFill>
              </a:rPr>
              <a:t>				</a:t>
            </a:r>
            <a:r>
              <a:rPr lang="en-US" sz="1200" dirty="0" err="1">
                <a:solidFill>
                  <a:srgbClr val="6A3E3E"/>
                </a:solidFill>
              </a:rPr>
              <a:t>studenti</a:t>
            </a:r>
            <a:r>
              <a:rPr lang="en-US" sz="1200" dirty="0" err="1">
                <a:solidFill>
                  <a:srgbClr val="000000"/>
                </a:solidFill>
              </a:rPr>
              <a:t>.add</a:t>
            </a:r>
            <a:r>
              <a:rPr lang="en-US" sz="1200" dirty="0">
                <a:solidFill>
                  <a:srgbClr val="000000"/>
                </a:solidFill>
              </a:rPr>
              <a:t>(</a:t>
            </a:r>
            <a:r>
              <a:rPr lang="en-US" sz="1200" dirty="0" err="1">
                <a:solidFill>
                  <a:srgbClr val="6A3E3E"/>
                </a:solidFill>
              </a:rPr>
              <a:t>studente</a:t>
            </a:r>
            <a:r>
              <a:rPr lang="en-US" sz="1200" dirty="0">
                <a:solidFill>
                  <a:srgbClr val="000000"/>
                </a:solidFill>
              </a:rPr>
              <a:t>);</a:t>
            </a:r>
          </a:p>
          <a:p>
            <a:pPr marL="0" indent="0">
              <a:buNone/>
            </a:pPr>
            <a:r>
              <a:rPr lang="en-US" sz="1200" dirty="0">
                <a:solidFill>
                  <a:srgbClr val="000000"/>
                </a:solidFill>
              </a:rPr>
              <a:t>			}</a:t>
            </a:r>
          </a:p>
          <a:p>
            <a:pPr marL="0" indent="0">
              <a:buNone/>
            </a:pPr>
            <a:r>
              <a:rPr lang="en-US" sz="1200" dirty="0">
                <a:solidFill>
                  <a:srgbClr val="000000"/>
                </a:solidFill>
              </a:rPr>
              <a:t>		} </a:t>
            </a:r>
            <a:r>
              <a:rPr lang="en-US" sz="1200" dirty="0">
                <a:solidFill>
                  <a:srgbClr val="7F0055"/>
                </a:solidFill>
              </a:rPr>
              <a:t>catch</a:t>
            </a:r>
            <a:r>
              <a:rPr lang="en-US" sz="1200" dirty="0">
                <a:solidFill>
                  <a:srgbClr val="000000"/>
                </a:solidFill>
              </a:rPr>
              <a:t> (</a:t>
            </a:r>
            <a:r>
              <a:rPr lang="en-US" sz="1200" dirty="0" err="1">
                <a:solidFill>
                  <a:srgbClr val="000000"/>
                </a:solidFill>
              </a:rPr>
              <a:t>SQLException</a:t>
            </a:r>
            <a:r>
              <a:rPr lang="en-US" sz="1200" dirty="0">
                <a:solidFill>
                  <a:srgbClr val="000000"/>
                </a:solidFill>
              </a:rPr>
              <a:t> </a:t>
            </a:r>
            <a:r>
              <a:rPr lang="en-US" sz="1200" dirty="0">
                <a:solidFill>
                  <a:srgbClr val="6A3E3E"/>
                </a:solidFill>
              </a:rPr>
              <a:t>e</a:t>
            </a:r>
            <a:r>
              <a:rPr lang="en-US" sz="1200" dirty="0">
                <a:solidFill>
                  <a:srgbClr val="000000"/>
                </a:solidFill>
              </a:rPr>
              <a:t>) { …</a:t>
            </a:r>
          </a:p>
          <a:p>
            <a:pPr marL="0" indent="0">
              <a:buNone/>
            </a:pPr>
            <a:r>
              <a:rPr lang="en-US" sz="1200" dirty="0">
                <a:solidFill>
                  <a:srgbClr val="000000"/>
                </a:solidFill>
              </a:rPr>
              <a:t>		}</a:t>
            </a:r>
          </a:p>
          <a:p>
            <a:pPr marL="0" indent="0">
              <a:buNone/>
            </a:pPr>
            <a:r>
              <a:rPr lang="en-US" sz="1200" dirty="0">
                <a:solidFill>
                  <a:srgbClr val="000000"/>
                </a:solidFill>
              </a:rPr>
              <a:t>		</a:t>
            </a:r>
            <a:r>
              <a:rPr lang="en-US" sz="1200" dirty="0" err="1">
                <a:solidFill>
                  <a:srgbClr val="7F0055"/>
                </a:solidFill>
              </a:rPr>
              <a:t>this</a:t>
            </a:r>
            <a:r>
              <a:rPr lang="en-US" sz="1200" dirty="0" err="1">
                <a:solidFill>
                  <a:srgbClr val="000000"/>
                </a:solidFill>
              </a:rPr>
              <a:t>.setStudenti</a:t>
            </a:r>
            <a:r>
              <a:rPr lang="en-US" sz="1200" dirty="0">
                <a:solidFill>
                  <a:srgbClr val="000000"/>
                </a:solidFill>
              </a:rPr>
              <a:t>(</a:t>
            </a:r>
            <a:r>
              <a:rPr lang="en-US" sz="1200" dirty="0" err="1">
                <a:solidFill>
                  <a:srgbClr val="6A3E3E"/>
                </a:solidFill>
              </a:rPr>
              <a:t>studenti</a:t>
            </a:r>
            <a:r>
              <a:rPr lang="en-US" sz="1200" dirty="0">
                <a:solidFill>
                  <a:srgbClr val="000000"/>
                </a:solidFill>
              </a:rPr>
              <a:t>);</a:t>
            </a:r>
          </a:p>
          <a:p>
            <a:pPr marL="0" indent="0">
              <a:buNone/>
            </a:pPr>
            <a:r>
              <a:rPr lang="en-US" sz="1200" dirty="0">
                <a:solidFill>
                  <a:srgbClr val="000000"/>
                </a:solidFill>
              </a:rPr>
              <a:t>		</a:t>
            </a:r>
            <a:r>
              <a:rPr lang="en-US" sz="1200" dirty="0">
                <a:solidFill>
                  <a:srgbClr val="7F0055"/>
                </a:solidFill>
              </a:rPr>
              <a:t>return</a:t>
            </a:r>
            <a:r>
              <a:rPr lang="en-US" sz="1200" dirty="0">
                <a:solidFill>
                  <a:srgbClr val="000000"/>
                </a:solidFill>
              </a:rPr>
              <a:t> </a:t>
            </a:r>
            <a:r>
              <a:rPr lang="en-US" sz="1200" dirty="0" err="1">
                <a:solidFill>
                  <a:srgbClr val="7F0055"/>
                </a:solidFill>
              </a:rPr>
              <a:t>super</a:t>
            </a:r>
            <a:r>
              <a:rPr lang="en-US" sz="1200" dirty="0" err="1">
                <a:solidFill>
                  <a:srgbClr val="000000"/>
                </a:solidFill>
              </a:rPr>
              <a:t>.getStudenti</a:t>
            </a:r>
            <a:r>
              <a:rPr lang="en-US" sz="1200" dirty="0">
                <a:solidFill>
                  <a:srgbClr val="000000"/>
                </a:solidFill>
              </a:rPr>
              <a:t>(); </a:t>
            </a:r>
          </a:p>
          <a:p>
            <a:pPr marL="0" indent="0">
              <a:buNone/>
            </a:pPr>
            <a:r>
              <a:rPr lang="en-US" sz="1200" dirty="0">
                <a:solidFill>
                  <a:srgbClr val="000000"/>
                </a:solidFill>
              </a:rPr>
              <a:t>	}</a:t>
            </a:r>
          </a:p>
        </p:txBody>
      </p:sp>
    </p:spTree>
    <p:extLst>
      <p:ext uri="{BB962C8B-B14F-4D97-AF65-F5344CB8AC3E}">
        <p14:creationId xmlns:p14="http://schemas.microsoft.com/office/powerpoint/2010/main" val="295084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CA195E-0EB8-952D-3276-A2D4644F9E13}"/>
              </a:ext>
            </a:extLst>
          </p:cNvPr>
          <p:cNvSpPr>
            <a:spLocks noGrp="1"/>
          </p:cNvSpPr>
          <p:nvPr>
            <p:ph type="title"/>
          </p:nvPr>
        </p:nvSpPr>
        <p:spPr/>
        <p:txBody>
          <a:bodyPr/>
          <a:lstStyle/>
          <a:p>
            <a:endParaRPr lang="en-US"/>
          </a:p>
        </p:txBody>
      </p:sp>
      <p:sp>
        <p:nvSpPr>
          <p:cNvPr id="3" name="Segnaposto contenuto 2">
            <a:extLst>
              <a:ext uri="{FF2B5EF4-FFF2-40B4-BE49-F238E27FC236}">
                <a16:creationId xmlns:a16="http://schemas.microsoft.com/office/drawing/2014/main" id="{3E9437AD-8EFC-28B8-9419-6460F0A94A49}"/>
              </a:ext>
            </a:extLst>
          </p:cNvPr>
          <p:cNvSpPr>
            <a:spLocks noGrp="1"/>
          </p:cNvSpPr>
          <p:nvPr>
            <p:ph idx="1"/>
          </p:nvPr>
        </p:nvSpPr>
        <p:spPr/>
        <p:txBody>
          <a:bodyPr/>
          <a:lstStyle/>
          <a:p>
            <a:endParaRPr lang="en-US"/>
          </a:p>
        </p:txBody>
      </p:sp>
      <p:pic>
        <p:nvPicPr>
          <p:cNvPr id="2054" name="Picture 6" descr="Cuscino oblungo Piccolo aereo elica per uso ricreativo - PIXERS.IT">
            <a:extLst>
              <a:ext uri="{FF2B5EF4-FFF2-40B4-BE49-F238E27FC236}">
                <a16:creationId xmlns:a16="http://schemas.microsoft.com/office/drawing/2014/main" id="{D30754C4-394D-BE13-F2FF-7D85551291D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583" b="7804"/>
          <a:stretch/>
        </p:blipFill>
        <p:spPr bwMode="auto">
          <a:xfrm>
            <a:off x="-71718" y="0"/>
            <a:ext cx="9215718" cy="5143500"/>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784F30AB-197D-FF0E-EDD5-DC7E11C338AA}"/>
              </a:ext>
            </a:extLst>
          </p:cNvPr>
          <p:cNvSpPr txBox="1"/>
          <p:nvPr/>
        </p:nvSpPr>
        <p:spPr>
          <a:xfrm>
            <a:off x="7021515" y="829836"/>
            <a:ext cx="1262590" cy="1015663"/>
          </a:xfrm>
          <a:prstGeom prst="rect">
            <a:avLst/>
          </a:prstGeom>
          <a:noFill/>
        </p:spPr>
        <p:txBody>
          <a:bodyPr wrap="none" rtlCol="0">
            <a:spAutoFit/>
          </a:bodyPr>
          <a:lstStyle/>
          <a:p>
            <a:r>
              <a:rPr lang="en-US" sz="6000" b="1" dirty="0">
                <a:solidFill>
                  <a:srgbClr val="FF0000"/>
                </a:solidFill>
              </a:rPr>
              <a:t>JPA</a:t>
            </a:r>
            <a:endParaRPr lang="en-US" b="1" dirty="0">
              <a:solidFill>
                <a:srgbClr val="FF0000"/>
              </a:solidFill>
            </a:endParaRPr>
          </a:p>
        </p:txBody>
      </p:sp>
    </p:spTree>
    <p:extLst>
      <p:ext uri="{BB962C8B-B14F-4D97-AF65-F5344CB8AC3E}">
        <p14:creationId xmlns:p14="http://schemas.microsoft.com/office/powerpoint/2010/main" val="880293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JPA</a:t>
            </a:r>
          </a:p>
        </p:txBody>
      </p:sp>
      <p:sp>
        <p:nvSpPr>
          <p:cNvPr id="3" name="Segnaposto contenuto 2"/>
          <p:cNvSpPr>
            <a:spLocks noGrp="1"/>
          </p:cNvSpPr>
          <p:nvPr>
            <p:ph idx="1"/>
          </p:nvPr>
        </p:nvSpPr>
        <p:spPr/>
        <p:txBody>
          <a:bodyPr>
            <a:normAutofit fontScale="85000" lnSpcReduction="20000"/>
          </a:bodyPr>
          <a:lstStyle/>
          <a:p>
            <a:r>
              <a:rPr lang="en-US"/>
              <a:t>Object Relational Mapping</a:t>
            </a:r>
          </a:p>
          <a:p>
            <a:pPr lvl="1"/>
            <a:r>
              <a:rPr lang="en-US" err="1"/>
              <a:t>modello</a:t>
            </a:r>
            <a:r>
              <a:rPr lang="en-US"/>
              <a:t> di </a:t>
            </a:r>
            <a:r>
              <a:rPr lang="en-US" err="1"/>
              <a:t>corrispondenza</a:t>
            </a:r>
            <a:r>
              <a:rPr lang="en-US"/>
              <a:t> </a:t>
            </a:r>
            <a:r>
              <a:rPr lang="en-US" err="1"/>
              <a:t>tra</a:t>
            </a:r>
            <a:r>
              <a:rPr lang="en-US"/>
              <a:t> </a:t>
            </a:r>
            <a:r>
              <a:rPr lang="en-US" err="1"/>
              <a:t>classi</a:t>
            </a:r>
            <a:r>
              <a:rPr lang="en-US"/>
              <a:t> e </a:t>
            </a:r>
            <a:r>
              <a:rPr lang="en-US" err="1"/>
              <a:t>tabelle</a:t>
            </a:r>
            <a:endParaRPr lang="en-US"/>
          </a:p>
          <a:p>
            <a:pPr lvl="1"/>
            <a:r>
              <a:rPr lang="en-US" err="1"/>
              <a:t>metadati</a:t>
            </a:r>
            <a:r>
              <a:rPr lang="en-US"/>
              <a:t> (</a:t>
            </a:r>
            <a:r>
              <a:rPr lang="en-US" err="1"/>
              <a:t>sintassi</a:t>
            </a:r>
            <a:r>
              <a:rPr lang="en-US"/>
              <a:t> per </a:t>
            </a:r>
            <a:r>
              <a:rPr lang="en-US" err="1"/>
              <a:t>definire</a:t>
            </a:r>
            <a:r>
              <a:rPr lang="en-US"/>
              <a:t> </a:t>
            </a:r>
            <a:r>
              <a:rPr lang="en-US" err="1"/>
              <a:t>i</a:t>
            </a:r>
            <a:r>
              <a:rPr lang="en-US"/>
              <a:t> </a:t>
            </a:r>
            <a:r>
              <a:rPr lang="en-US" err="1"/>
              <a:t>dettagli</a:t>
            </a:r>
            <a:r>
              <a:rPr lang="en-US"/>
              <a:t> </a:t>
            </a:r>
            <a:r>
              <a:rPr lang="en-US" err="1"/>
              <a:t>della</a:t>
            </a:r>
            <a:r>
              <a:rPr lang="en-US"/>
              <a:t> </a:t>
            </a:r>
            <a:r>
              <a:rPr lang="en-US" err="1"/>
              <a:t>corrispondenza</a:t>
            </a:r>
            <a:r>
              <a:rPr lang="en-US"/>
              <a:t>)</a:t>
            </a:r>
          </a:p>
          <a:p>
            <a:pPr lvl="1"/>
            <a:r>
              <a:rPr lang="en-US" err="1"/>
              <a:t>linguaggio</a:t>
            </a:r>
            <a:r>
              <a:rPr lang="en-US"/>
              <a:t> di </a:t>
            </a:r>
            <a:r>
              <a:rPr lang="en-US" err="1"/>
              <a:t>interrogazione</a:t>
            </a:r>
            <a:r>
              <a:rPr lang="en-US"/>
              <a:t> (simile a SQL, ma con dot-notation)</a:t>
            </a:r>
          </a:p>
          <a:p>
            <a:pPr lvl="1"/>
            <a:r>
              <a:rPr lang="en-US"/>
              <a:t>API e framework</a:t>
            </a:r>
          </a:p>
          <a:p>
            <a:r>
              <a:rPr lang="it-IT"/>
              <a:t>Varie implementazioni</a:t>
            </a:r>
          </a:p>
          <a:p>
            <a:pPr lvl="1"/>
            <a:r>
              <a:rPr lang="it-IT" err="1"/>
              <a:t>OpenJPA</a:t>
            </a:r>
            <a:endParaRPr lang="it-IT" sz="1200"/>
          </a:p>
          <a:p>
            <a:pPr lvl="1"/>
            <a:r>
              <a:rPr lang="it-IT" err="1"/>
              <a:t>TopLink</a:t>
            </a:r>
            <a:endParaRPr lang="it-IT"/>
          </a:p>
          <a:p>
            <a:pPr lvl="1"/>
            <a:r>
              <a:rPr lang="it-IT" b="1" err="1"/>
              <a:t>Hibernate</a:t>
            </a:r>
            <a:endParaRPr lang="it-IT" sz="1200" b="1"/>
          </a:p>
          <a:p>
            <a:pPr lvl="1"/>
            <a:r>
              <a:rPr lang="it-IT" err="1"/>
              <a:t>EclipseLink</a:t>
            </a:r>
            <a:endParaRPr lang="it-IT"/>
          </a:p>
          <a:p>
            <a:pPr lvl="1"/>
            <a:r>
              <a:rPr lang="it-IT"/>
              <a:t>…</a:t>
            </a:r>
          </a:p>
          <a:p>
            <a:pPr lvl="1"/>
            <a:endParaRPr lang="it-IT"/>
          </a:p>
          <a:p>
            <a:pPr lvl="1"/>
            <a:endParaRPr lang="en-US"/>
          </a:p>
        </p:txBody>
      </p:sp>
    </p:spTree>
    <p:extLst>
      <p:ext uri="{BB962C8B-B14F-4D97-AF65-F5344CB8AC3E}">
        <p14:creationId xmlns:p14="http://schemas.microsoft.com/office/powerpoint/2010/main" val="3023560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noProof="0"/>
              <a:t>Entity</a:t>
            </a:r>
          </a:p>
        </p:txBody>
      </p:sp>
      <p:sp>
        <p:nvSpPr>
          <p:cNvPr id="3" name="Segnaposto contenuto 2"/>
          <p:cNvSpPr>
            <a:spLocks noGrp="1"/>
          </p:cNvSpPr>
          <p:nvPr>
            <p:ph idx="1"/>
          </p:nvPr>
        </p:nvSpPr>
        <p:spPr/>
        <p:txBody>
          <a:bodyPr>
            <a:normAutofit/>
          </a:bodyPr>
          <a:lstStyle/>
          <a:p>
            <a:r>
              <a:rPr lang="it-IT" noProof="0" dirty="0"/>
              <a:t>Applicazione OOP: interazione tra oggetti</a:t>
            </a:r>
          </a:p>
          <a:p>
            <a:pPr lvl="1"/>
            <a:r>
              <a:rPr lang="it-IT" noProof="0" dirty="0"/>
              <a:t>Oggetti: istanze di classi in memoria centrale</a:t>
            </a:r>
          </a:p>
          <a:p>
            <a:r>
              <a:rPr lang="it-IT" noProof="0" dirty="0"/>
              <a:t>Chiamiamo </a:t>
            </a:r>
            <a:r>
              <a:rPr lang="it-IT" b="1" noProof="0" dirty="0"/>
              <a:t>entità </a:t>
            </a:r>
            <a:r>
              <a:rPr lang="it-IT" noProof="0" dirty="0"/>
              <a:t>(</a:t>
            </a:r>
            <a:r>
              <a:rPr lang="it-IT" noProof="0" dirty="0" err="1"/>
              <a:t>entity</a:t>
            </a:r>
            <a:r>
              <a:rPr lang="it-IT" noProof="0" dirty="0"/>
              <a:t>) le classi corrispondenti ad oggetti che devono essere memorizzati in maniera persistente in un </a:t>
            </a:r>
            <a:r>
              <a:rPr lang="it-IT" noProof="0" dirty="0" err="1"/>
              <a:t>db</a:t>
            </a:r>
            <a:r>
              <a:rPr lang="it-IT" noProof="0" dirty="0"/>
              <a:t> </a:t>
            </a:r>
          </a:p>
          <a:p>
            <a:pPr lvl="1"/>
            <a:r>
              <a:rPr lang="it-IT" dirty="0"/>
              <a:t>nome molto appropriato (</a:t>
            </a:r>
            <a:r>
              <a:rPr lang="it-IT" dirty="0" err="1"/>
              <a:t>cfr</a:t>
            </a:r>
            <a:r>
              <a:rPr lang="it-IT" dirty="0"/>
              <a:t> BD: modello ER)</a:t>
            </a:r>
          </a:p>
          <a:p>
            <a:pPr lvl="1"/>
            <a:r>
              <a:rPr lang="it-IT" dirty="0"/>
              <a:t>in linea di massima corrispondono alle classi del modello di dominio (</a:t>
            </a:r>
            <a:r>
              <a:rPr lang="it-IT" dirty="0" err="1"/>
              <a:t>cfr</a:t>
            </a:r>
            <a:r>
              <a:rPr lang="it-IT" dirty="0"/>
              <a:t> APS)</a:t>
            </a:r>
            <a:endParaRPr lang="it-IT" noProof="0" dirty="0"/>
          </a:p>
        </p:txBody>
      </p:sp>
    </p:spTree>
    <p:extLst>
      <p:ext uri="{BB962C8B-B14F-4D97-AF65-F5344CB8AC3E}">
        <p14:creationId xmlns:p14="http://schemas.microsoft.com/office/powerpoint/2010/main" val="1565363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a:t>Entity</a:t>
            </a:r>
          </a:p>
        </p:txBody>
      </p:sp>
      <p:sp>
        <p:nvSpPr>
          <p:cNvPr id="3" name="Segnaposto contenuto 2"/>
          <p:cNvSpPr>
            <a:spLocks noGrp="1"/>
          </p:cNvSpPr>
          <p:nvPr>
            <p:ph idx="1"/>
          </p:nvPr>
        </p:nvSpPr>
        <p:spPr/>
        <p:txBody>
          <a:bodyPr>
            <a:normAutofit fontScale="92500"/>
          </a:bodyPr>
          <a:lstStyle/>
          <a:p>
            <a:r>
              <a:rPr lang="it-IT" noProof="0" dirty="0"/>
              <a:t>Un oggetto istanza di un'entità può essere</a:t>
            </a:r>
          </a:p>
          <a:p>
            <a:pPr lvl="1"/>
            <a:r>
              <a:rPr lang="it-IT" noProof="0" dirty="0"/>
              <a:t>aggiunto nel database</a:t>
            </a:r>
          </a:p>
          <a:p>
            <a:pPr lvl="1"/>
            <a:r>
              <a:rPr lang="it-IT" noProof="0" dirty="0"/>
              <a:t>recuperato dal database</a:t>
            </a:r>
          </a:p>
          <a:p>
            <a:pPr lvl="1"/>
            <a:r>
              <a:rPr lang="it-IT" noProof="0" dirty="0"/>
              <a:t>aggiornato nel database</a:t>
            </a:r>
          </a:p>
          <a:p>
            <a:pPr lvl="1"/>
            <a:r>
              <a:rPr lang="it-IT" noProof="0" dirty="0"/>
              <a:t>cancellato dal database</a:t>
            </a:r>
          </a:p>
          <a:p>
            <a:r>
              <a:rPr lang="it-IT" dirty="0"/>
              <a:t>In pratica le operazioni CRUD</a:t>
            </a:r>
            <a:endParaRPr lang="it-IT" noProof="0" dirty="0"/>
          </a:p>
          <a:p>
            <a:r>
              <a:rPr lang="it-IT" noProof="0" dirty="0"/>
              <a:t>JPA (in generale un ORM) offre il supporto per manipolare le entità</a:t>
            </a:r>
          </a:p>
          <a:p>
            <a:pPr lvl="1"/>
            <a:r>
              <a:rPr lang="it-IT" dirty="0"/>
              <a:t>permette di definire il </a:t>
            </a:r>
            <a:r>
              <a:rPr lang="it-IT" dirty="0" err="1"/>
              <a:t>mapping</a:t>
            </a:r>
            <a:r>
              <a:rPr lang="it-IT" dirty="0"/>
              <a:t> tra classi Java e tabelle relazionali</a:t>
            </a:r>
          </a:p>
          <a:p>
            <a:pPr lvl="1"/>
            <a:r>
              <a:rPr lang="it-IT" dirty="0"/>
              <a:t>o</a:t>
            </a:r>
            <a:r>
              <a:rPr lang="it-IT" noProof="0" dirty="0" err="1"/>
              <a:t>ffre</a:t>
            </a:r>
            <a:r>
              <a:rPr lang="it-IT" noProof="0" dirty="0"/>
              <a:t> librerie per gestire le operazioni CRUD sugli oggetti istanza di un'entità</a:t>
            </a:r>
          </a:p>
        </p:txBody>
      </p:sp>
    </p:spTree>
    <p:extLst>
      <p:ext uri="{BB962C8B-B14F-4D97-AF65-F5344CB8AC3E}">
        <p14:creationId xmlns:p14="http://schemas.microsoft.com/office/powerpoint/2010/main" val="1102064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a:t>Object-Relational-Mapping</a:t>
            </a:r>
          </a:p>
        </p:txBody>
      </p:sp>
      <p:sp>
        <p:nvSpPr>
          <p:cNvPr id="3" name="Segnaposto contenuto 2"/>
          <p:cNvSpPr>
            <a:spLocks noGrp="1"/>
          </p:cNvSpPr>
          <p:nvPr>
            <p:ph idx="1"/>
          </p:nvPr>
        </p:nvSpPr>
        <p:spPr/>
        <p:txBody>
          <a:bodyPr>
            <a:normAutofit/>
          </a:bodyPr>
          <a:lstStyle/>
          <a:p>
            <a:r>
              <a:rPr lang="it-IT" noProof="0" dirty="0"/>
              <a:t>Obiettivo: creare una corrispondenza tra classi e tabelle</a:t>
            </a:r>
          </a:p>
          <a:p>
            <a:r>
              <a:rPr lang="it-IT" noProof="0" dirty="0"/>
              <a:t>Questa corrispondenza offre una "vista" OO agli sviluppatori, consentendogli di usare in maniera trasparente entità (oggetti persistiti) anziché tabelle</a:t>
            </a:r>
          </a:p>
        </p:txBody>
      </p:sp>
    </p:spTree>
    <p:extLst>
      <p:ext uri="{BB962C8B-B14F-4D97-AF65-F5344CB8AC3E}">
        <p14:creationId xmlns:p14="http://schemas.microsoft.com/office/powerpoint/2010/main" val="3986443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a:t>Object-</a:t>
            </a:r>
            <a:r>
              <a:rPr lang="it-IT" err="1"/>
              <a:t>Relational-Mapping</a:t>
            </a:r>
            <a:endParaRPr lang="it-IT" noProof="0"/>
          </a:p>
        </p:txBody>
      </p:sp>
      <p:sp>
        <p:nvSpPr>
          <p:cNvPr id="3" name="Segnaposto contenuto 2"/>
          <p:cNvSpPr>
            <a:spLocks noGrp="1"/>
          </p:cNvSpPr>
          <p:nvPr>
            <p:ph idx="1"/>
          </p:nvPr>
        </p:nvSpPr>
        <p:spPr>
          <a:xfrm>
            <a:off x="457199" y="1207312"/>
            <a:ext cx="8229599" cy="3394472"/>
          </a:xfrm>
        </p:spPr>
        <p:txBody>
          <a:bodyPr>
            <a:normAutofit/>
          </a:bodyPr>
          <a:lstStyle/>
          <a:p>
            <a:r>
              <a:rPr lang="en-US" dirty="0"/>
              <a:t>Idea di base: </a:t>
            </a:r>
          </a:p>
          <a:p>
            <a:pPr lvl="1"/>
            <a:r>
              <a:rPr lang="en-US" dirty="0" err="1"/>
              <a:t>ogni</a:t>
            </a:r>
            <a:r>
              <a:rPr lang="en-US" dirty="0"/>
              <a:t> </a:t>
            </a:r>
            <a:r>
              <a:rPr lang="en-US" dirty="0" err="1"/>
              <a:t>classe</a:t>
            </a:r>
            <a:r>
              <a:rPr lang="en-US" dirty="0"/>
              <a:t> </a:t>
            </a:r>
            <a:r>
              <a:rPr lang="en-US" dirty="0" err="1"/>
              <a:t>corrisponde</a:t>
            </a:r>
            <a:r>
              <a:rPr lang="en-US" dirty="0"/>
              <a:t> ad una </a:t>
            </a:r>
            <a:r>
              <a:rPr lang="en-US" dirty="0" err="1"/>
              <a:t>tabella</a:t>
            </a:r>
            <a:r>
              <a:rPr lang="en-US" dirty="0"/>
              <a:t> </a:t>
            </a:r>
          </a:p>
          <a:p>
            <a:pPr lvl="2"/>
            <a:r>
              <a:rPr lang="en-US" dirty="0" err="1"/>
              <a:t>ogni</a:t>
            </a:r>
            <a:r>
              <a:rPr lang="en-US" dirty="0"/>
              <a:t> </a:t>
            </a:r>
            <a:r>
              <a:rPr lang="en-US" dirty="0" err="1"/>
              <a:t>attributo</a:t>
            </a:r>
            <a:r>
              <a:rPr lang="en-US" dirty="0"/>
              <a:t> (</a:t>
            </a:r>
            <a:r>
              <a:rPr lang="en-US" dirty="0" err="1"/>
              <a:t>variabile</a:t>
            </a:r>
            <a:r>
              <a:rPr lang="en-US" dirty="0"/>
              <a:t> di </a:t>
            </a:r>
            <a:r>
              <a:rPr lang="en-US" dirty="0" err="1"/>
              <a:t>istanza</a:t>
            </a:r>
            <a:r>
              <a:rPr lang="en-US" dirty="0"/>
              <a:t> di </a:t>
            </a:r>
            <a:r>
              <a:rPr lang="en-US" dirty="0" err="1"/>
              <a:t>tipo</a:t>
            </a:r>
            <a:r>
              <a:rPr lang="en-US" dirty="0"/>
              <a:t> </a:t>
            </a:r>
            <a:r>
              <a:rPr lang="en-US" dirty="0" err="1"/>
              <a:t>primitivo</a:t>
            </a:r>
            <a:r>
              <a:rPr lang="en-US" dirty="0"/>
              <a:t> o wrapper, String, </a:t>
            </a:r>
            <a:r>
              <a:rPr lang="en-US" dirty="0" err="1"/>
              <a:t>tipo</a:t>
            </a:r>
            <a:r>
              <a:rPr lang="en-US" dirty="0"/>
              <a:t> data/tempo di </a:t>
            </a:r>
            <a:r>
              <a:rPr lang="en-US" dirty="0" err="1"/>
              <a:t>java.time</a:t>
            </a:r>
            <a:r>
              <a:rPr lang="en-US" dirty="0"/>
              <a:t>) </a:t>
            </a:r>
            <a:r>
              <a:rPr lang="en-US" dirty="0" err="1"/>
              <a:t>corrisponde</a:t>
            </a:r>
            <a:r>
              <a:rPr lang="en-US" dirty="0"/>
              <a:t> ad una </a:t>
            </a:r>
            <a:r>
              <a:rPr lang="en-US" dirty="0" err="1"/>
              <a:t>colonna</a:t>
            </a:r>
            <a:endParaRPr lang="en-US" dirty="0"/>
          </a:p>
          <a:p>
            <a:pPr lvl="1"/>
            <a:r>
              <a:rPr lang="en-US" dirty="0" err="1"/>
              <a:t>ogni</a:t>
            </a:r>
            <a:r>
              <a:rPr lang="en-US" dirty="0"/>
              <a:t> </a:t>
            </a:r>
            <a:r>
              <a:rPr lang="en-US" dirty="0" err="1"/>
              <a:t>oggetto</a:t>
            </a:r>
            <a:r>
              <a:rPr lang="en-US" dirty="0"/>
              <a:t> </a:t>
            </a:r>
            <a:r>
              <a:rPr lang="en-US" dirty="0" err="1"/>
              <a:t>corrisponde</a:t>
            </a:r>
            <a:r>
              <a:rPr lang="en-US" dirty="0"/>
              <a:t> ad una </a:t>
            </a:r>
            <a:r>
              <a:rPr lang="en-US" dirty="0" err="1"/>
              <a:t>riga</a:t>
            </a:r>
            <a:r>
              <a:rPr lang="en-US" dirty="0"/>
              <a:t> </a:t>
            </a:r>
            <a:r>
              <a:rPr lang="en-US" dirty="0" err="1"/>
              <a:t>della</a:t>
            </a:r>
            <a:r>
              <a:rPr lang="en-US" dirty="0"/>
              <a:t> </a:t>
            </a:r>
            <a:r>
              <a:rPr lang="en-US" dirty="0" err="1"/>
              <a:t>tabella</a:t>
            </a:r>
            <a:endParaRPr lang="en-US" dirty="0"/>
          </a:p>
          <a:p>
            <a:pPr lvl="1"/>
            <a:endParaRPr lang="en-US" dirty="0"/>
          </a:p>
        </p:txBody>
      </p:sp>
    </p:spTree>
    <p:extLst>
      <p:ext uri="{BB962C8B-B14F-4D97-AF65-F5344CB8AC3E}">
        <p14:creationId xmlns:p14="http://schemas.microsoft.com/office/powerpoint/2010/main" val="207662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249406" y="-29807"/>
            <a:ext cx="6172200" cy="857250"/>
          </a:xfrm>
        </p:spPr>
        <p:txBody>
          <a:bodyPr/>
          <a:lstStyle/>
          <a:p>
            <a:r>
              <a:rPr lang="en-US" dirty="0" err="1"/>
              <a:t>Esempio</a:t>
            </a:r>
            <a:r>
              <a:rPr lang="en-US" dirty="0"/>
              <a:t> (1/3)</a:t>
            </a:r>
          </a:p>
        </p:txBody>
      </p:sp>
      <p:sp>
        <p:nvSpPr>
          <p:cNvPr id="3" name="Segnaposto contenuto 2"/>
          <p:cNvSpPr>
            <a:spLocks noGrp="1"/>
          </p:cNvSpPr>
          <p:nvPr>
            <p:ph idx="1"/>
          </p:nvPr>
        </p:nvSpPr>
        <p:spPr>
          <a:xfrm>
            <a:off x="1249406" y="398819"/>
            <a:ext cx="6224471" cy="3742948"/>
          </a:xfrm>
        </p:spPr>
        <p:txBody>
          <a:bodyPr vert="horz" lIns="68580" tIns="34290" rIns="68580" bIns="34290" rtlCol="0" anchor="t">
            <a:noAutofit/>
          </a:bodyPr>
          <a:lstStyle/>
          <a:p>
            <a:pPr marL="0" indent="0">
              <a:buNone/>
            </a:pPr>
            <a:r>
              <a:rPr lang="en-US" sz="900" dirty="0"/>
              <a:t>package it.uniroma3.siw.model;</a:t>
            </a:r>
          </a:p>
          <a:p>
            <a:pPr marL="0" indent="0">
              <a:buNone/>
            </a:pPr>
            <a:endParaRPr lang="en-US" sz="900" dirty="0"/>
          </a:p>
          <a:p>
            <a:pPr marL="0" indent="0">
              <a:buNone/>
            </a:pPr>
            <a:r>
              <a:rPr lang="en-US" sz="900" dirty="0"/>
              <a:t>import </a:t>
            </a:r>
            <a:r>
              <a:rPr lang="en-US" sz="900" dirty="0" err="1"/>
              <a:t>javax.persistence.Entity</a:t>
            </a:r>
            <a:r>
              <a:rPr lang="en-US" sz="900" dirty="0"/>
              <a:t>;</a:t>
            </a:r>
          </a:p>
          <a:p>
            <a:pPr marL="0" indent="0">
              <a:buNone/>
            </a:pPr>
            <a:r>
              <a:rPr lang="en-US" sz="900" dirty="0"/>
              <a:t>import </a:t>
            </a:r>
            <a:r>
              <a:rPr lang="en-US" sz="900" dirty="0" err="1"/>
              <a:t>javax.persistence.GeneratedValue</a:t>
            </a:r>
            <a:r>
              <a:rPr lang="en-US" sz="900" dirty="0"/>
              <a:t>;</a:t>
            </a:r>
          </a:p>
          <a:p>
            <a:pPr marL="0" indent="0">
              <a:buNone/>
            </a:pPr>
            <a:r>
              <a:rPr lang="en-US" sz="900" dirty="0"/>
              <a:t>import </a:t>
            </a:r>
            <a:r>
              <a:rPr lang="en-US" sz="900" dirty="0" err="1"/>
              <a:t>javax.persistence.GenerationType</a:t>
            </a:r>
            <a:r>
              <a:rPr lang="en-US" sz="900" dirty="0"/>
              <a:t>;</a:t>
            </a:r>
          </a:p>
          <a:p>
            <a:pPr marL="0" indent="0">
              <a:buNone/>
            </a:pPr>
            <a:r>
              <a:rPr lang="en-US" sz="900" dirty="0"/>
              <a:t>import </a:t>
            </a:r>
            <a:r>
              <a:rPr lang="en-US" sz="900" dirty="0" err="1"/>
              <a:t>javax.persistence.Id</a:t>
            </a:r>
            <a:r>
              <a:rPr lang="en-US" sz="900" dirty="0"/>
              <a:t>;</a:t>
            </a:r>
          </a:p>
          <a:p>
            <a:pPr marL="0" indent="0">
              <a:buNone/>
            </a:pPr>
            <a:r>
              <a:rPr lang="en-US" sz="900" dirty="0"/>
              <a:t>import </a:t>
            </a:r>
            <a:r>
              <a:rPr lang="en-US" sz="900" dirty="0" err="1"/>
              <a:t>javax.persistence.NamedQuery</a:t>
            </a:r>
            <a:r>
              <a:rPr lang="en-US" sz="900" dirty="0"/>
              <a:t>;</a:t>
            </a:r>
          </a:p>
          <a:p>
            <a:pPr marL="0" indent="0">
              <a:buNone/>
            </a:pPr>
            <a:r>
              <a:rPr lang="en-US" sz="900" dirty="0"/>
              <a:t>import </a:t>
            </a:r>
            <a:r>
              <a:rPr lang="en-US" sz="900" dirty="0" err="1"/>
              <a:t>javax.persistence.Column</a:t>
            </a:r>
            <a:r>
              <a:rPr lang="en-US" sz="900" dirty="0"/>
              <a:t>;</a:t>
            </a:r>
          </a:p>
          <a:p>
            <a:pPr marL="0" indent="0">
              <a:buNone/>
            </a:pPr>
            <a:endParaRPr lang="en-US" sz="900" dirty="0"/>
          </a:p>
          <a:p>
            <a:pPr marL="0" indent="0">
              <a:buNone/>
            </a:pPr>
            <a:r>
              <a:rPr lang="en-US" sz="900" dirty="0"/>
              <a:t>@Entity</a:t>
            </a:r>
          </a:p>
          <a:p>
            <a:pPr marL="0" indent="0">
              <a:buNone/>
            </a:pPr>
            <a:r>
              <a:rPr lang="en-US" sz="900" dirty="0"/>
              <a:t>@</a:t>
            </a:r>
            <a:r>
              <a:rPr lang="en-US" sz="900" dirty="0" err="1"/>
              <a:t>NamedQuery</a:t>
            </a:r>
            <a:r>
              <a:rPr lang="en-US" sz="900" dirty="0"/>
              <a:t>(name = "</a:t>
            </a:r>
            <a:r>
              <a:rPr lang="en-US" sz="900" dirty="0" err="1"/>
              <a:t>findAllProducts</a:t>
            </a:r>
            <a:r>
              <a:rPr lang="en-US" sz="900" dirty="0"/>
              <a:t>", query = "SELECT p FROM Product p")</a:t>
            </a:r>
          </a:p>
          <a:p>
            <a:pPr marL="0" indent="0">
              <a:buNone/>
            </a:pPr>
            <a:r>
              <a:rPr lang="en-US" sz="900" dirty="0"/>
              <a:t>public class Product {</a:t>
            </a:r>
          </a:p>
          <a:p>
            <a:pPr marL="0" indent="0">
              <a:buNone/>
            </a:pPr>
            <a:endParaRPr lang="en-US" sz="900" dirty="0"/>
          </a:p>
          <a:p>
            <a:pPr marL="0" indent="0">
              <a:buNone/>
            </a:pPr>
            <a:r>
              <a:rPr lang="en-US" sz="900" dirty="0"/>
              <a:t>    @Id</a:t>
            </a:r>
          </a:p>
          <a:p>
            <a:pPr marL="0" indent="0">
              <a:buNone/>
            </a:pPr>
            <a:r>
              <a:rPr lang="en-US" sz="900" dirty="0"/>
              <a:t>    @</a:t>
            </a:r>
            <a:r>
              <a:rPr lang="en-US" sz="900" dirty="0" err="1"/>
              <a:t>GeneratedValue</a:t>
            </a:r>
            <a:r>
              <a:rPr lang="en-US" sz="900" dirty="0"/>
              <a:t>(strategy = </a:t>
            </a:r>
            <a:r>
              <a:rPr lang="en-US" sz="900" dirty="0" err="1"/>
              <a:t>GenerationType.AUTO</a:t>
            </a:r>
            <a:r>
              <a:rPr lang="en-US" sz="900" dirty="0"/>
              <a:t>)</a:t>
            </a:r>
          </a:p>
          <a:p>
            <a:pPr marL="0" indent="0">
              <a:buNone/>
            </a:pPr>
            <a:r>
              <a:rPr lang="en-US" sz="900" dirty="0"/>
              <a:t>    private Long id;</a:t>
            </a:r>
          </a:p>
          <a:p>
            <a:pPr marL="0" indent="0">
              <a:buNone/>
            </a:pPr>
            <a:endParaRPr lang="en-US" sz="900" dirty="0"/>
          </a:p>
          <a:p>
            <a:pPr marL="0" indent="0">
              <a:buNone/>
            </a:pPr>
            <a:r>
              <a:rPr lang="en-US" sz="900" dirty="0"/>
              <a:t>    @Column(nullable = false)</a:t>
            </a:r>
          </a:p>
          <a:p>
            <a:pPr marL="0" indent="0">
              <a:buNone/>
            </a:pPr>
            <a:r>
              <a:rPr lang="en-US" sz="900" dirty="0"/>
              <a:t>    private String name;</a:t>
            </a:r>
          </a:p>
          <a:p>
            <a:pPr marL="0" indent="0">
              <a:buNone/>
            </a:pPr>
            <a:endParaRPr lang="en-US" sz="900" dirty="0"/>
          </a:p>
          <a:p>
            <a:pPr marL="0" indent="0">
              <a:buNone/>
            </a:pPr>
            <a:r>
              <a:rPr lang="en-US" sz="900" dirty="0"/>
              <a:t>     private Float price;</a:t>
            </a:r>
          </a:p>
          <a:p>
            <a:pPr marL="0" indent="0">
              <a:buNone/>
            </a:pPr>
            <a:endParaRPr lang="en-US" sz="900" dirty="0"/>
          </a:p>
          <a:p>
            <a:pPr marL="0" indent="0">
              <a:buNone/>
            </a:pPr>
            <a:r>
              <a:rPr lang="en-US" sz="900" dirty="0"/>
              <a:t>    @Column(length = 2000)</a:t>
            </a:r>
          </a:p>
          <a:p>
            <a:pPr marL="0" indent="0">
              <a:buNone/>
            </a:pPr>
            <a:r>
              <a:rPr lang="en-US" sz="900" dirty="0"/>
              <a:t>    private String description;</a:t>
            </a:r>
          </a:p>
          <a:p>
            <a:pPr marL="0" indent="0">
              <a:buNone/>
            </a:pPr>
            <a:endParaRPr lang="en-US" sz="900" dirty="0"/>
          </a:p>
          <a:p>
            <a:pPr marL="0" indent="0">
              <a:buNone/>
            </a:pPr>
            <a:r>
              <a:rPr lang="en-US" sz="900" dirty="0"/>
              <a:t>    @Column(nullable = false)</a:t>
            </a:r>
          </a:p>
          <a:p>
            <a:pPr marL="0" indent="0">
              <a:buNone/>
            </a:pPr>
            <a:r>
              <a:rPr lang="en-US" sz="900" dirty="0"/>
              <a:t>    private String code;</a:t>
            </a:r>
          </a:p>
        </p:txBody>
      </p:sp>
    </p:spTree>
    <p:extLst>
      <p:ext uri="{BB962C8B-B14F-4D97-AF65-F5344CB8AC3E}">
        <p14:creationId xmlns:p14="http://schemas.microsoft.com/office/powerpoint/2010/main" val="2657548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err="1"/>
              <a:t>Esempio</a:t>
            </a:r>
            <a:r>
              <a:rPr lang="en-US" dirty="0"/>
              <a:t> (2/3)</a:t>
            </a:r>
          </a:p>
        </p:txBody>
      </p:sp>
      <p:sp>
        <p:nvSpPr>
          <p:cNvPr id="3" name="Segnaposto contenuto 2"/>
          <p:cNvSpPr>
            <a:spLocks noGrp="1"/>
          </p:cNvSpPr>
          <p:nvPr>
            <p:ph idx="1"/>
          </p:nvPr>
        </p:nvSpPr>
        <p:spPr>
          <a:xfrm>
            <a:off x="1485900" y="303951"/>
            <a:ext cx="6172200" cy="4839550"/>
          </a:xfrm>
        </p:spPr>
        <p:txBody>
          <a:bodyPr vert="horz" lIns="68580" tIns="34290" rIns="68580" bIns="34290" rtlCol="0" anchor="t">
            <a:noAutofit/>
          </a:bodyPr>
          <a:lstStyle/>
          <a:p>
            <a:pPr marL="0" indent="0">
              <a:buNone/>
            </a:pPr>
            <a:r>
              <a:rPr lang="en-US" sz="900" dirty="0"/>
              <a:t>    public Product() {</a:t>
            </a:r>
          </a:p>
          <a:p>
            <a:pPr marL="0" indent="0">
              <a:buNone/>
            </a:pPr>
            <a:r>
              <a:rPr lang="en-US" sz="900" dirty="0"/>
              <a:t>    }</a:t>
            </a:r>
          </a:p>
          <a:p>
            <a:pPr marL="0" indent="0">
              <a:buNone/>
            </a:pPr>
            <a:endParaRPr lang="en-US" sz="900" dirty="0"/>
          </a:p>
          <a:p>
            <a:pPr marL="0" indent="0">
              <a:buNone/>
            </a:pPr>
            <a:r>
              <a:rPr lang="en-US" sz="900" dirty="0"/>
              <a:t>    public Product(String name, Float price, String description, String code) {</a:t>
            </a:r>
          </a:p>
          <a:p>
            <a:pPr marL="0" indent="0">
              <a:buNone/>
            </a:pPr>
            <a:r>
              <a:rPr lang="en-US" sz="900" dirty="0"/>
              <a:t>        </a:t>
            </a:r>
            <a:r>
              <a:rPr lang="en-US" sz="900" dirty="0" err="1"/>
              <a:t>this.name</a:t>
            </a:r>
            <a:r>
              <a:rPr lang="en-US" sz="900" dirty="0"/>
              <a:t> = name;</a:t>
            </a:r>
          </a:p>
          <a:p>
            <a:pPr marL="0" indent="0">
              <a:buNone/>
            </a:pPr>
            <a:r>
              <a:rPr lang="en-US" sz="900" dirty="0"/>
              <a:t>        </a:t>
            </a:r>
            <a:r>
              <a:rPr lang="en-US" sz="900" dirty="0" err="1"/>
              <a:t>this.price</a:t>
            </a:r>
            <a:r>
              <a:rPr lang="en-US" sz="900" dirty="0"/>
              <a:t> = price;</a:t>
            </a:r>
          </a:p>
          <a:p>
            <a:pPr marL="0" indent="0">
              <a:buNone/>
            </a:pPr>
            <a:r>
              <a:rPr lang="en-US" sz="900" dirty="0"/>
              <a:t>        </a:t>
            </a:r>
            <a:r>
              <a:rPr lang="en-US" sz="900" dirty="0" err="1"/>
              <a:t>this.description</a:t>
            </a:r>
            <a:r>
              <a:rPr lang="en-US" sz="900" dirty="0"/>
              <a:t> = description;</a:t>
            </a:r>
          </a:p>
          <a:p>
            <a:pPr marL="0" indent="0">
              <a:buNone/>
            </a:pPr>
            <a:r>
              <a:rPr lang="en-US" sz="900" dirty="0"/>
              <a:t>        </a:t>
            </a:r>
            <a:r>
              <a:rPr lang="en-US" sz="900" dirty="0" err="1"/>
              <a:t>this.code</a:t>
            </a:r>
            <a:r>
              <a:rPr lang="en-US" sz="900" dirty="0"/>
              <a:t> = code;</a:t>
            </a:r>
          </a:p>
          <a:p>
            <a:pPr marL="0" indent="0">
              <a:buNone/>
            </a:pPr>
            <a:r>
              <a:rPr lang="en-US" sz="900" dirty="0"/>
              <a:t>    }</a:t>
            </a:r>
          </a:p>
          <a:p>
            <a:pPr marL="0" indent="0">
              <a:buNone/>
            </a:pPr>
            <a:endParaRPr lang="en-US" sz="900" dirty="0">
              <a:cs typeface="Calibri Light" panose="020F0302020204030204" pitchFamily="34" charset="0"/>
            </a:endParaRPr>
          </a:p>
          <a:p>
            <a:pPr marL="0" indent="0">
              <a:buNone/>
            </a:pPr>
            <a:r>
              <a:rPr lang="en-US" sz="900" dirty="0">
                <a:cs typeface="Calibri Light" panose="020F0302020204030204" pitchFamily="34" charset="0"/>
              </a:rPr>
              <a:t>    public String </a:t>
            </a:r>
            <a:r>
              <a:rPr lang="en-US" sz="900" dirty="0" err="1">
                <a:cs typeface="Calibri Light" panose="020F0302020204030204" pitchFamily="34" charset="0"/>
              </a:rPr>
              <a:t>getDescription</a:t>
            </a:r>
            <a:r>
              <a:rPr lang="en-US" sz="900" dirty="0">
                <a:cs typeface="Calibri Light" panose="020F0302020204030204" pitchFamily="34" charset="0"/>
              </a:rPr>
              <a:t>() {</a:t>
            </a:r>
          </a:p>
          <a:p>
            <a:pPr marL="0" indent="0">
              <a:buNone/>
            </a:pPr>
            <a:r>
              <a:rPr lang="en-US" sz="900" dirty="0">
                <a:cs typeface="Calibri Light" panose="020F0302020204030204" pitchFamily="34" charset="0"/>
              </a:rPr>
              <a:t>        return description;</a:t>
            </a:r>
          </a:p>
          <a:p>
            <a:pPr marL="0" indent="0">
              <a:buNone/>
            </a:pPr>
            <a:r>
              <a:rPr lang="en-US" sz="900" dirty="0">
                <a:cs typeface="Calibri Light" panose="020F0302020204030204" pitchFamily="34" charset="0"/>
              </a:rPr>
              <a:t>    }</a:t>
            </a:r>
          </a:p>
          <a:p>
            <a:pPr marL="0" indent="0">
              <a:buNone/>
            </a:pPr>
            <a:endParaRPr lang="en-US" sz="900" dirty="0">
              <a:cs typeface="Calibri Light" panose="020F0302020204030204" pitchFamily="34" charset="0"/>
            </a:endParaRPr>
          </a:p>
          <a:p>
            <a:pPr marL="0" indent="0">
              <a:buNone/>
            </a:pPr>
            <a:r>
              <a:rPr lang="en-US" sz="900" dirty="0">
                <a:cs typeface="Calibri Light" panose="020F0302020204030204" pitchFamily="34" charset="0"/>
              </a:rPr>
              <a:t>    public void </a:t>
            </a:r>
            <a:r>
              <a:rPr lang="en-US" sz="900" dirty="0" err="1">
                <a:cs typeface="Calibri Light" panose="020F0302020204030204" pitchFamily="34" charset="0"/>
              </a:rPr>
              <a:t>setDescription</a:t>
            </a:r>
            <a:r>
              <a:rPr lang="en-US" sz="900" dirty="0">
                <a:cs typeface="Calibri Light" panose="020F0302020204030204" pitchFamily="34" charset="0"/>
              </a:rPr>
              <a:t>(String description) {</a:t>
            </a:r>
          </a:p>
          <a:p>
            <a:pPr marL="0" indent="0">
              <a:buNone/>
            </a:pPr>
            <a:r>
              <a:rPr lang="en-US" sz="900" dirty="0">
                <a:cs typeface="Calibri Light" panose="020F0302020204030204" pitchFamily="34" charset="0"/>
              </a:rPr>
              <a:t>        </a:t>
            </a:r>
            <a:r>
              <a:rPr lang="en-US" sz="900" dirty="0" err="1">
                <a:cs typeface="Calibri Light" panose="020F0302020204030204" pitchFamily="34" charset="0"/>
              </a:rPr>
              <a:t>this.description</a:t>
            </a:r>
            <a:r>
              <a:rPr lang="en-US" sz="900" dirty="0">
                <a:cs typeface="Calibri Light" panose="020F0302020204030204" pitchFamily="34" charset="0"/>
              </a:rPr>
              <a:t> = description;</a:t>
            </a:r>
          </a:p>
          <a:p>
            <a:pPr marL="0" indent="0">
              <a:buNone/>
            </a:pPr>
            <a:r>
              <a:rPr lang="en-US" sz="900" dirty="0">
                <a:cs typeface="Calibri Light" panose="020F0302020204030204" pitchFamily="34" charset="0"/>
              </a:rPr>
              <a:t>    }</a:t>
            </a:r>
          </a:p>
          <a:p>
            <a:pPr marL="0" indent="0">
              <a:buNone/>
            </a:pPr>
            <a:endParaRPr lang="en-US" sz="900" dirty="0">
              <a:cs typeface="Calibri Light" panose="020F0302020204030204" pitchFamily="34" charset="0"/>
            </a:endParaRPr>
          </a:p>
          <a:p>
            <a:pPr marL="0" indent="0">
              <a:buNone/>
            </a:pPr>
            <a:r>
              <a:rPr lang="en-US" sz="900" dirty="0">
                <a:cs typeface="Calibri Light" panose="020F0302020204030204" pitchFamily="34" charset="0"/>
              </a:rPr>
              <a:t>    public String </a:t>
            </a:r>
            <a:r>
              <a:rPr lang="en-US" sz="900" dirty="0" err="1">
                <a:cs typeface="Calibri Light" panose="020F0302020204030204" pitchFamily="34" charset="0"/>
              </a:rPr>
              <a:t>getCode</a:t>
            </a:r>
            <a:r>
              <a:rPr lang="en-US" sz="900" dirty="0">
                <a:cs typeface="Calibri Light" panose="020F0302020204030204" pitchFamily="34" charset="0"/>
              </a:rPr>
              <a:t>() {</a:t>
            </a:r>
          </a:p>
          <a:p>
            <a:pPr marL="0" indent="0">
              <a:buNone/>
            </a:pPr>
            <a:r>
              <a:rPr lang="en-US" sz="900" dirty="0">
                <a:cs typeface="Calibri Light" panose="020F0302020204030204" pitchFamily="34" charset="0"/>
              </a:rPr>
              <a:t>        return code;</a:t>
            </a:r>
          </a:p>
          <a:p>
            <a:pPr marL="0" indent="0">
              <a:buNone/>
            </a:pPr>
            <a:r>
              <a:rPr lang="en-US" sz="900" dirty="0">
                <a:cs typeface="Calibri Light" panose="020F0302020204030204" pitchFamily="34" charset="0"/>
              </a:rPr>
              <a:t>    }</a:t>
            </a:r>
          </a:p>
          <a:p>
            <a:pPr marL="0" indent="0">
              <a:buNone/>
            </a:pPr>
            <a:endParaRPr lang="en-US" sz="900" dirty="0">
              <a:cs typeface="Calibri Light" panose="020F0302020204030204" pitchFamily="34" charset="0"/>
            </a:endParaRPr>
          </a:p>
          <a:p>
            <a:pPr marL="0" indent="0">
              <a:buNone/>
            </a:pPr>
            <a:r>
              <a:rPr lang="en-US" sz="900" dirty="0">
                <a:cs typeface="Calibri Light" panose="020F0302020204030204" pitchFamily="34" charset="0"/>
              </a:rPr>
              <a:t>    public void </a:t>
            </a:r>
            <a:r>
              <a:rPr lang="en-US" sz="900" dirty="0" err="1">
                <a:cs typeface="Calibri Light" panose="020F0302020204030204" pitchFamily="34" charset="0"/>
              </a:rPr>
              <a:t>setCode</a:t>
            </a:r>
            <a:r>
              <a:rPr lang="en-US" sz="900" dirty="0">
                <a:cs typeface="Calibri Light" panose="020F0302020204030204" pitchFamily="34" charset="0"/>
              </a:rPr>
              <a:t>(String code) {</a:t>
            </a:r>
          </a:p>
          <a:p>
            <a:pPr marL="0" indent="0">
              <a:buNone/>
            </a:pPr>
            <a:r>
              <a:rPr lang="en-US" sz="900" dirty="0">
                <a:cs typeface="Calibri Light" panose="020F0302020204030204" pitchFamily="34" charset="0"/>
              </a:rPr>
              <a:t>        </a:t>
            </a:r>
            <a:r>
              <a:rPr lang="en-US" sz="900" dirty="0" err="1">
                <a:cs typeface="Calibri Light" panose="020F0302020204030204" pitchFamily="34" charset="0"/>
              </a:rPr>
              <a:t>this.code</a:t>
            </a:r>
            <a:r>
              <a:rPr lang="en-US" sz="900" dirty="0">
                <a:cs typeface="Calibri Light" panose="020F0302020204030204" pitchFamily="34" charset="0"/>
              </a:rPr>
              <a:t> = code;</a:t>
            </a:r>
          </a:p>
          <a:p>
            <a:pPr marL="0" indent="0">
              <a:buNone/>
            </a:pPr>
            <a:r>
              <a:rPr lang="en-US" sz="900" dirty="0">
                <a:cs typeface="Calibri Light" panose="020F0302020204030204" pitchFamily="34" charset="0"/>
              </a:rPr>
              <a:t>    }</a:t>
            </a:r>
          </a:p>
          <a:p>
            <a:pPr marL="0" indent="0">
              <a:buNone/>
            </a:pPr>
            <a:endParaRPr lang="en-US" sz="900" dirty="0">
              <a:cs typeface="Calibri Light" panose="020F0302020204030204" pitchFamily="34" charset="0"/>
            </a:endParaRPr>
          </a:p>
          <a:p>
            <a:pPr marL="0" indent="0">
              <a:buNone/>
            </a:pPr>
            <a:r>
              <a:rPr lang="en-US" sz="900" dirty="0">
                <a:cs typeface="Calibri Light" panose="020F0302020204030204" pitchFamily="34" charset="0"/>
              </a:rPr>
              <a:t>    public void </a:t>
            </a:r>
            <a:r>
              <a:rPr lang="en-US" sz="900" dirty="0" err="1">
                <a:cs typeface="Calibri Light" panose="020F0302020204030204" pitchFamily="34" charset="0"/>
              </a:rPr>
              <a:t>setId</a:t>
            </a:r>
            <a:r>
              <a:rPr lang="en-US" sz="900" dirty="0">
                <a:cs typeface="Calibri Light" panose="020F0302020204030204" pitchFamily="34" charset="0"/>
              </a:rPr>
              <a:t>(Long id) {</a:t>
            </a:r>
          </a:p>
          <a:p>
            <a:pPr marL="0" indent="0">
              <a:buNone/>
            </a:pPr>
            <a:r>
              <a:rPr lang="en-US" sz="900" dirty="0">
                <a:cs typeface="Calibri Light" panose="020F0302020204030204" pitchFamily="34" charset="0"/>
              </a:rPr>
              <a:t>        </a:t>
            </a:r>
            <a:r>
              <a:rPr lang="en-US" sz="900" dirty="0" err="1">
                <a:cs typeface="Calibri Light" panose="020F0302020204030204" pitchFamily="34" charset="0"/>
              </a:rPr>
              <a:t>this.id</a:t>
            </a:r>
            <a:r>
              <a:rPr lang="en-US" sz="900" dirty="0">
                <a:cs typeface="Calibri Light" panose="020F0302020204030204" pitchFamily="34" charset="0"/>
              </a:rPr>
              <a:t> = id;</a:t>
            </a:r>
          </a:p>
          <a:p>
            <a:pPr marL="0" indent="0">
              <a:buNone/>
            </a:pPr>
            <a:r>
              <a:rPr lang="en-US" sz="900" dirty="0">
                <a:cs typeface="Calibri Light" panose="020F0302020204030204" pitchFamily="34" charset="0"/>
              </a:rPr>
              <a:t>    }</a:t>
            </a:r>
          </a:p>
        </p:txBody>
      </p:sp>
    </p:spTree>
    <p:extLst>
      <p:ext uri="{BB962C8B-B14F-4D97-AF65-F5344CB8AC3E}">
        <p14:creationId xmlns:p14="http://schemas.microsoft.com/office/powerpoint/2010/main" val="1484603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err="1"/>
              <a:t>Esempio</a:t>
            </a:r>
            <a:r>
              <a:rPr lang="en-US" dirty="0"/>
              <a:t> (3/3)</a:t>
            </a:r>
          </a:p>
        </p:txBody>
      </p:sp>
      <p:sp>
        <p:nvSpPr>
          <p:cNvPr id="3" name="Segnaposto contenuto 2"/>
          <p:cNvSpPr>
            <a:spLocks noGrp="1"/>
          </p:cNvSpPr>
          <p:nvPr>
            <p:ph idx="1"/>
          </p:nvPr>
        </p:nvSpPr>
        <p:spPr>
          <a:xfrm>
            <a:off x="1485900" y="114302"/>
            <a:ext cx="6172200" cy="4669971"/>
          </a:xfrm>
        </p:spPr>
        <p:txBody>
          <a:bodyPr vert="horz" lIns="68580" tIns="34290" rIns="68580" bIns="34290" rtlCol="0" anchor="t">
            <a:noAutofit/>
          </a:bodyPr>
          <a:lstStyle/>
          <a:p>
            <a:pPr marL="0" indent="0">
              <a:buNone/>
            </a:pPr>
            <a:r>
              <a:rPr lang="is-IS" sz="675" dirty="0"/>
              <a:t>    public Long getId() {</a:t>
            </a:r>
          </a:p>
          <a:p>
            <a:pPr marL="0" indent="0">
              <a:buNone/>
            </a:pPr>
            <a:r>
              <a:rPr lang="is-IS" sz="675" dirty="0"/>
              <a:t>        return id;</a:t>
            </a:r>
          </a:p>
          <a:p>
            <a:pPr marL="0" indent="0">
              <a:buNone/>
            </a:pPr>
            <a:r>
              <a:rPr lang="is-IS" sz="675" dirty="0"/>
              <a:t>    }</a:t>
            </a:r>
            <a:endParaRPr lang="en-US" sz="675" dirty="0">
              <a:cs typeface="Calibri Light" panose="020F0302020204030204" pitchFamily="34" charset="0"/>
            </a:endParaRPr>
          </a:p>
          <a:p>
            <a:pPr marL="0" indent="0">
              <a:buNone/>
            </a:pPr>
            <a:r>
              <a:rPr lang="is-IS" sz="675" dirty="0"/>
              <a:t>    </a:t>
            </a:r>
          </a:p>
          <a:p>
            <a:pPr marL="0" indent="0">
              <a:buNone/>
            </a:pPr>
            <a:r>
              <a:rPr lang="is-IS" sz="675" dirty="0"/>
              <a:t>    public String getName() {</a:t>
            </a:r>
          </a:p>
          <a:p>
            <a:pPr marL="0" indent="0">
              <a:buNone/>
            </a:pPr>
            <a:r>
              <a:rPr lang="is-IS" sz="675" dirty="0"/>
              <a:t>        return this.name;</a:t>
            </a:r>
          </a:p>
          <a:p>
            <a:pPr marL="0" indent="0">
              <a:buNone/>
            </a:pPr>
            <a:r>
              <a:rPr lang="is-IS" sz="675" dirty="0"/>
              <a:t>    }</a:t>
            </a:r>
          </a:p>
          <a:p>
            <a:pPr marL="0" indent="0">
              <a:buNone/>
            </a:pPr>
            <a:endParaRPr lang="is-IS" sz="675" dirty="0"/>
          </a:p>
          <a:p>
            <a:pPr marL="0" indent="0">
              <a:buNone/>
            </a:pPr>
            <a:r>
              <a:rPr lang="is-IS" sz="675" dirty="0"/>
              <a:t>    public void setName(String name) {</a:t>
            </a:r>
          </a:p>
          <a:p>
            <a:pPr marL="0" indent="0">
              <a:buNone/>
            </a:pPr>
            <a:r>
              <a:rPr lang="is-IS" sz="675" dirty="0"/>
              <a:t>        this.name = name;</a:t>
            </a:r>
          </a:p>
          <a:p>
            <a:pPr marL="0" indent="0">
              <a:buNone/>
            </a:pPr>
            <a:r>
              <a:rPr lang="is-IS" sz="675" dirty="0"/>
              <a:t>    }</a:t>
            </a:r>
          </a:p>
          <a:p>
            <a:pPr marL="0" indent="0">
              <a:buNone/>
            </a:pPr>
            <a:endParaRPr lang="is-IS" sz="675" dirty="0"/>
          </a:p>
          <a:p>
            <a:pPr marL="0" indent="0">
              <a:buNone/>
            </a:pPr>
            <a:r>
              <a:rPr lang="is-IS" sz="675" dirty="0"/>
              <a:t>    public Float getPrice() {</a:t>
            </a:r>
          </a:p>
          <a:p>
            <a:pPr marL="0" indent="0">
              <a:buNone/>
            </a:pPr>
            <a:r>
              <a:rPr lang="is-IS" sz="675" dirty="0"/>
              <a:t>        return price;</a:t>
            </a:r>
          </a:p>
          <a:p>
            <a:pPr marL="0" indent="0">
              <a:buNone/>
            </a:pPr>
            <a:r>
              <a:rPr lang="is-IS" sz="675" dirty="0"/>
              <a:t>    }</a:t>
            </a:r>
          </a:p>
          <a:p>
            <a:pPr marL="0" indent="0">
              <a:buNone/>
            </a:pPr>
            <a:endParaRPr lang="is-IS" sz="675" dirty="0"/>
          </a:p>
          <a:p>
            <a:pPr marL="0" indent="0">
              <a:buNone/>
            </a:pPr>
            <a:r>
              <a:rPr lang="is-IS" sz="675" dirty="0"/>
              <a:t>    public void setPrice(Float price) {</a:t>
            </a:r>
          </a:p>
          <a:p>
            <a:pPr marL="0" indent="0">
              <a:buNone/>
            </a:pPr>
            <a:r>
              <a:rPr lang="is-IS" sz="675" dirty="0"/>
              <a:t>        this.price = price;</a:t>
            </a:r>
          </a:p>
          <a:p>
            <a:pPr marL="0" indent="0">
              <a:buNone/>
            </a:pPr>
            <a:r>
              <a:rPr lang="is-IS" sz="675" dirty="0"/>
              <a:t>    }</a:t>
            </a:r>
          </a:p>
          <a:p>
            <a:pPr marL="0" indent="0">
              <a:buNone/>
            </a:pPr>
            <a:r>
              <a:rPr lang="is-IS" sz="675" dirty="0"/>
              <a:t>    public boolean equals(Object obj) {</a:t>
            </a:r>
          </a:p>
          <a:p>
            <a:pPr marL="0" indent="0">
              <a:buNone/>
            </a:pPr>
            <a:r>
              <a:rPr lang="is-IS" sz="675" dirty="0"/>
              <a:t>        Product product = (Product)obj;</a:t>
            </a:r>
          </a:p>
          <a:p>
            <a:pPr marL="0" indent="0">
              <a:buNone/>
            </a:pPr>
            <a:r>
              <a:rPr lang="is-IS" sz="675" dirty="0"/>
              <a:t>        return this.getCode().equals(product.getCode());</a:t>
            </a:r>
          </a:p>
          <a:p>
            <a:pPr marL="0" indent="0">
              <a:buNone/>
            </a:pPr>
            <a:r>
              <a:rPr lang="is-IS" sz="675" dirty="0"/>
              <a:t>   }</a:t>
            </a:r>
          </a:p>
          <a:p>
            <a:pPr marL="0" indent="0">
              <a:buNone/>
            </a:pPr>
            <a:endParaRPr lang="is-IS" sz="675" dirty="0"/>
          </a:p>
          <a:p>
            <a:pPr marL="0" indent="0">
              <a:buNone/>
            </a:pPr>
            <a:r>
              <a:rPr lang="is-IS" sz="675" dirty="0"/>
              <a:t>    public int hashCode() {</a:t>
            </a:r>
          </a:p>
          <a:p>
            <a:pPr marL="0" indent="0">
              <a:buNone/>
            </a:pPr>
            <a:r>
              <a:rPr lang="is-IS" sz="675" dirty="0"/>
              <a:t>        return this.code.hashCode();</a:t>
            </a:r>
          </a:p>
          <a:p>
            <a:pPr marL="0" indent="0">
              <a:buNone/>
            </a:pPr>
            <a:r>
              <a:rPr lang="is-IS" sz="675" dirty="0"/>
              <a:t>     }</a:t>
            </a:r>
          </a:p>
          <a:p>
            <a:pPr marL="0" indent="0">
              <a:buNone/>
            </a:pPr>
            <a:endParaRPr lang="is-IS" sz="675" dirty="0"/>
          </a:p>
          <a:p>
            <a:pPr marL="0" indent="0">
              <a:buNone/>
            </a:pPr>
            <a:r>
              <a:rPr lang="is-IS" sz="675" dirty="0"/>
              <a:t>    public String toString() {</a:t>
            </a:r>
          </a:p>
          <a:p>
            <a:pPr marL="0" indent="0">
              <a:buNone/>
            </a:pPr>
            <a:r>
              <a:rPr lang="is-IS" sz="675" dirty="0"/>
              <a:t>        final StringBuilder sb = new StringBuilder();</a:t>
            </a:r>
          </a:p>
          <a:p>
            <a:pPr marL="0" indent="0">
              <a:buNone/>
            </a:pPr>
            <a:r>
              <a:rPr lang="is-IS" sz="675" dirty="0"/>
              <a:t>        sb.append("Product");</a:t>
            </a:r>
          </a:p>
          <a:p>
            <a:pPr marL="0" indent="0">
              <a:buNone/>
            </a:pPr>
            <a:r>
              <a:rPr lang="is-IS" sz="675" dirty="0"/>
              <a:t>        sb.append("{id=").append(id);</a:t>
            </a:r>
          </a:p>
          <a:p>
            <a:pPr marL="0" indent="0">
              <a:buNone/>
            </a:pPr>
            <a:r>
              <a:rPr lang="is-IS" sz="675" dirty="0"/>
              <a:t>        sb.append(", name='").append(name);</a:t>
            </a:r>
          </a:p>
          <a:p>
            <a:pPr marL="0" indent="0">
              <a:buNone/>
            </a:pPr>
            <a:r>
              <a:rPr lang="is-IS" sz="675" dirty="0"/>
              <a:t>        sb.append(", price=").append(price);</a:t>
            </a:r>
          </a:p>
          <a:p>
            <a:pPr marL="0" indent="0">
              <a:buNone/>
            </a:pPr>
            <a:r>
              <a:rPr lang="is-IS" sz="675" dirty="0"/>
              <a:t>        sb.append(", description='").append(description);</a:t>
            </a:r>
          </a:p>
          <a:p>
            <a:pPr marL="0" indent="0">
              <a:buNone/>
            </a:pPr>
            <a:r>
              <a:rPr lang="is-IS" sz="675" dirty="0"/>
              <a:t>        sb.append(", code='").append(code);</a:t>
            </a:r>
          </a:p>
          <a:p>
            <a:pPr marL="0" indent="0">
              <a:buNone/>
            </a:pPr>
            <a:r>
              <a:rPr lang="is-IS" sz="675" dirty="0"/>
              <a:t>        sb.append("}\n");</a:t>
            </a:r>
          </a:p>
          <a:p>
            <a:pPr marL="0" indent="0">
              <a:buNone/>
            </a:pPr>
            <a:r>
              <a:rPr lang="is-IS" sz="675" dirty="0"/>
              <a:t>        return sb.toString();</a:t>
            </a:r>
          </a:p>
          <a:p>
            <a:pPr marL="0" indent="0">
              <a:buNone/>
            </a:pPr>
            <a:r>
              <a:rPr lang="is-IS" sz="675" dirty="0"/>
              <a:t>    }</a:t>
            </a:r>
          </a:p>
          <a:p>
            <a:pPr marL="0" indent="0">
              <a:buNone/>
            </a:pPr>
            <a:r>
              <a:rPr lang="is-IS" sz="675" dirty="0"/>
              <a:t>}</a:t>
            </a:r>
          </a:p>
          <a:p>
            <a:pPr marL="0" indent="0">
              <a:buNone/>
            </a:pPr>
            <a:endParaRPr lang="is-IS" sz="675" dirty="0"/>
          </a:p>
        </p:txBody>
      </p:sp>
    </p:spTree>
    <p:extLst>
      <p:ext uri="{BB962C8B-B14F-4D97-AF65-F5344CB8AC3E}">
        <p14:creationId xmlns:p14="http://schemas.microsoft.com/office/powerpoint/2010/main" val="1312529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err="1"/>
              <a:t>Esempio</a:t>
            </a:r>
            <a:r>
              <a:rPr lang="en-US"/>
              <a:t> (</a:t>
            </a:r>
            <a:r>
              <a:rPr lang="en-US" err="1"/>
              <a:t>dettagli</a:t>
            </a:r>
            <a:r>
              <a:rPr lang="en-US"/>
              <a:t>)</a:t>
            </a:r>
          </a:p>
        </p:txBody>
      </p:sp>
      <p:sp>
        <p:nvSpPr>
          <p:cNvPr id="3" name="Segnaposto contenuto 2"/>
          <p:cNvSpPr>
            <a:spLocks noGrp="1"/>
          </p:cNvSpPr>
          <p:nvPr>
            <p:ph idx="1"/>
          </p:nvPr>
        </p:nvSpPr>
        <p:spPr>
          <a:xfrm>
            <a:off x="1459319" y="914401"/>
            <a:ext cx="6172200" cy="3680222"/>
          </a:xfrm>
        </p:spPr>
        <p:txBody>
          <a:bodyPr>
            <a:noAutofit/>
          </a:bodyPr>
          <a:lstStyle/>
          <a:p>
            <a:pPr marL="0" indent="0">
              <a:buNone/>
            </a:pPr>
            <a:r>
              <a:rPr lang="en-US" sz="1050" dirty="0"/>
              <a:t>package it.uniroma3.siw.model;</a:t>
            </a:r>
          </a:p>
          <a:p>
            <a:pPr marL="0" indent="0">
              <a:buNone/>
            </a:pPr>
            <a:r>
              <a:rPr lang="en-US" sz="1050" dirty="0"/>
              <a:t>+</a:t>
            </a:r>
            <a:r>
              <a:rPr lang="en-US" sz="1050" b="1" dirty="0">
                <a:solidFill>
                  <a:schemeClr val="accent2"/>
                </a:solidFill>
              </a:rPr>
              <a:t>import </a:t>
            </a:r>
            <a:r>
              <a:rPr lang="en-US" sz="1050" b="1" dirty="0" err="1">
                <a:solidFill>
                  <a:schemeClr val="accent2"/>
                </a:solidFill>
              </a:rPr>
              <a:t>javax.persistence.Entity</a:t>
            </a:r>
            <a:r>
              <a:rPr lang="en-US" sz="1050" dirty="0"/>
              <a:t>;[…]</a:t>
            </a:r>
          </a:p>
          <a:p>
            <a:pPr marL="0" indent="0">
              <a:buNone/>
            </a:pPr>
            <a:endParaRPr lang="en-US" sz="1050" dirty="0"/>
          </a:p>
          <a:p>
            <a:pPr marL="0" indent="0">
              <a:buNone/>
            </a:pPr>
            <a:r>
              <a:rPr lang="en-US" sz="1050" dirty="0"/>
              <a:t>	</a:t>
            </a:r>
            <a:r>
              <a:rPr lang="en-US" sz="1050" b="1" dirty="0">
                <a:solidFill>
                  <a:schemeClr val="accent2"/>
                </a:solidFill>
              </a:rPr>
              <a:t>@Entity</a:t>
            </a:r>
          </a:p>
          <a:p>
            <a:pPr marL="0" indent="0">
              <a:buNone/>
            </a:pPr>
            <a:r>
              <a:rPr lang="en-US" sz="1050" b="1" dirty="0">
                <a:solidFill>
                  <a:schemeClr val="accent2"/>
                </a:solidFill>
              </a:rPr>
              <a:t>	@</a:t>
            </a:r>
            <a:r>
              <a:rPr lang="en-US" sz="1050" b="1" dirty="0" err="1">
                <a:solidFill>
                  <a:schemeClr val="accent2"/>
                </a:solidFill>
              </a:rPr>
              <a:t>NamedQuery</a:t>
            </a:r>
            <a:r>
              <a:rPr lang="en-US" sz="1050" b="1" dirty="0">
                <a:solidFill>
                  <a:schemeClr val="accent2"/>
                </a:solidFill>
              </a:rPr>
              <a:t>(name = "</a:t>
            </a:r>
            <a:r>
              <a:rPr lang="en-US" sz="1050" b="1" dirty="0" err="1">
                <a:solidFill>
                  <a:schemeClr val="accent2"/>
                </a:solidFill>
              </a:rPr>
              <a:t>findAllProducts</a:t>
            </a:r>
            <a:r>
              <a:rPr lang="en-US" sz="1050" b="1" dirty="0">
                <a:solidFill>
                  <a:schemeClr val="accent2"/>
                </a:solidFill>
              </a:rPr>
              <a:t>", query = "SELECT p FROM Product p")</a:t>
            </a:r>
          </a:p>
          <a:p>
            <a:pPr marL="0" indent="0">
              <a:buNone/>
            </a:pPr>
            <a:r>
              <a:rPr lang="en-US" sz="1050" dirty="0"/>
              <a:t>	public class Product {</a:t>
            </a:r>
          </a:p>
          <a:p>
            <a:pPr marL="0" indent="0">
              <a:buNone/>
            </a:pPr>
            <a:r>
              <a:rPr lang="fr-FR" sz="1050" dirty="0"/>
              <a:t>        </a:t>
            </a:r>
          </a:p>
          <a:p>
            <a:pPr marL="0" indent="0">
              <a:buNone/>
            </a:pPr>
            <a:r>
              <a:rPr lang="en-US" sz="1050" dirty="0"/>
              <a:t>		</a:t>
            </a:r>
            <a:r>
              <a:rPr lang="fr-FR" sz="1050" b="1" dirty="0">
                <a:solidFill>
                  <a:srgbClr val="C0504D"/>
                </a:solidFill>
              </a:rPr>
              <a:t>@Id</a:t>
            </a:r>
          </a:p>
          <a:p>
            <a:pPr marL="0" indent="0">
              <a:buNone/>
            </a:pPr>
            <a:r>
              <a:rPr lang="fr-FR" sz="1050" b="1" dirty="0">
                <a:solidFill>
                  <a:srgbClr val="C0504D"/>
                </a:solidFill>
              </a:rPr>
              <a:t>        </a:t>
            </a:r>
            <a:r>
              <a:rPr lang="en-US" sz="1050" b="1" dirty="0">
                <a:solidFill>
                  <a:srgbClr val="C0504D"/>
                </a:solidFill>
              </a:rPr>
              <a:t>		</a:t>
            </a:r>
            <a:r>
              <a:rPr lang="fr-FR" sz="1050" b="1" dirty="0">
                <a:solidFill>
                  <a:srgbClr val="C0504D"/>
                </a:solidFill>
              </a:rPr>
              <a:t>@</a:t>
            </a:r>
            <a:r>
              <a:rPr lang="fr-FR" sz="1050" b="1" dirty="0" err="1">
                <a:solidFill>
                  <a:srgbClr val="C0504D"/>
                </a:solidFill>
              </a:rPr>
              <a:t>GeneratedValue</a:t>
            </a:r>
            <a:r>
              <a:rPr lang="fr-FR" sz="1050" b="1" dirty="0">
                <a:solidFill>
                  <a:srgbClr val="C0504D"/>
                </a:solidFill>
              </a:rPr>
              <a:t>(</a:t>
            </a:r>
            <a:r>
              <a:rPr lang="fr-FR" sz="1050" b="1" dirty="0" err="1">
                <a:solidFill>
                  <a:srgbClr val="C0504D"/>
                </a:solidFill>
              </a:rPr>
              <a:t>strategy</a:t>
            </a:r>
            <a:r>
              <a:rPr lang="fr-FR" sz="1050" b="1" dirty="0">
                <a:solidFill>
                  <a:srgbClr val="C0504D"/>
                </a:solidFill>
              </a:rPr>
              <a:t> = </a:t>
            </a:r>
            <a:r>
              <a:rPr lang="fr-FR" sz="1050" b="1" dirty="0" err="1">
                <a:solidFill>
                  <a:srgbClr val="C0504D"/>
                </a:solidFill>
              </a:rPr>
              <a:t>GenerationType.</a:t>
            </a:r>
            <a:r>
              <a:rPr lang="fr-FR" sz="1050" b="1" i="1" dirty="0" err="1">
                <a:solidFill>
                  <a:srgbClr val="C0504D"/>
                </a:solidFill>
              </a:rPr>
              <a:t>AUTO</a:t>
            </a:r>
            <a:r>
              <a:rPr lang="fr-FR" sz="1050" b="1" i="1" dirty="0">
                <a:solidFill>
                  <a:srgbClr val="C0504D"/>
                </a:solidFill>
              </a:rPr>
              <a:t>)</a:t>
            </a:r>
          </a:p>
          <a:p>
            <a:pPr marL="0" indent="0">
              <a:buNone/>
            </a:pPr>
            <a:r>
              <a:rPr lang="fr-FR" sz="1050" dirty="0"/>
              <a:t>		</a:t>
            </a:r>
            <a:r>
              <a:rPr lang="fr-FR" sz="1050" dirty="0" err="1"/>
              <a:t>private</a:t>
            </a:r>
            <a:r>
              <a:rPr lang="fr-FR" sz="1050" dirty="0"/>
              <a:t> Long id;</a:t>
            </a:r>
          </a:p>
          <a:p>
            <a:pPr marL="0" indent="0">
              <a:buNone/>
            </a:pPr>
            <a:r>
              <a:rPr lang="fr-FR" sz="1050" dirty="0"/>
              <a:t>		</a:t>
            </a:r>
          </a:p>
          <a:p>
            <a:pPr marL="0" indent="0">
              <a:buNone/>
            </a:pPr>
            <a:r>
              <a:rPr lang="fr-FR" sz="1050" dirty="0"/>
              <a:t>		</a:t>
            </a:r>
            <a:r>
              <a:rPr lang="fr-FR" sz="1050" dirty="0" err="1"/>
              <a:t>private</a:t>
            </a:r>
            <a:r>
              <a:rPr lang="fr-FR" sz="1050" dirty="0"/>
              <a:t> String </a:t>
            </a:r>
            <a:r>
              <a:rPr lang="fr-FR" sz="1050" dirty="0" err="1"/>
              <a:t>name</a:t>
            </a:r>
            <a:r>
              <a:rPr lang="fr-FR" sz="1050" dirty="0"/>
              <a:t>;</a:t>
            </a:r>
          </a:p>
          <a:p>
            <a:pPr marL="0" indent="0">
              <a:buNone/>
            </a:pPr>
            <a:r>
              <a:rPr lang="fr-FR" sz="1050" dirty="0"/>
              <a:t>		</a:t>
            </a:r>
          </a:p>
          <a:p>
            <a:pPr marL="0" indent="0">
              <a:buNone/>
            </a:pPr>
            <a:r>
              <a:rPr lang="fr-FR" sz="1050" dirty="0"/>
              <a:t>		</a:t>
            </a:r>
            <a:r>
              <a:rPr lang="fr-FR" sz="1050" dirty="0" err="1"/>
              <a:t>private</a:t>
            </a:r>
            <a:r>
              <a:rPr lang="fr-FR" sz="1050" dirty="0"/>
              <a:t> </a:t>
            </a:r>
            <a:r>
              <a:rPr lang="fr-FR" sz="1050" dirty="0" err="1"/>
              <a:t>Float</a:t>
            </a:r>
            <a:r>
              <a:rPr lang="fr-FR" sz="1050" dirty="0"/>
              <a:t> </a:t>
            </a:r>
            <a:r>
              <a:rPr lang="fr-FR" sz="1050" dirty="0" err="1"/>
              <a:t>price</a:t>
            </a:r>
            <a:r>
              <a:rPr lang="fr-FR" sz="1050" dirty="0"/>
              <a:t>;</a:t>
            </a:r>
          </a:p>
          <a:p>
            <a:pPr marL="0" indent="0">
              <a:buNone/>
            </a:pPr>
            <a:r>
              <a:rPr lang="en-US" sz="1050" dirty="0"/>
              <a:t>	</a:t>
            </a:r>
          </a:p>
          <a:p>
            <a:pPr marL="0" indent="0">
              <a:buNone/>
            </a:pPr>
            <a:r>
              <a:rPr lang="en-US" sz="1050" b="1" dirty="0">
                <a:solidFill>
                  <a:srgbClr val="C0504D"/>
                </a:solidFill>
              </a:rPr>
              <a:t>		@Column(length = 2000)</a:t>
            </a:r>
          </a:p>
          <a:p>
            <a:pPr marL="0" indent="0">
              <a:buNone/>
            </a:pPr>
            <a:r>
              <a:rPr lang="en-US" sz="1050" dirty="0"/>
              <a:t>		private String description;</a:t>
            </a:r>
          </a:p>
          <a:p>
            <a:pPr marL="0" indent="0">
              <a:buNone/>
            </a:pPr>
            <a:r>
              <a:rPr lang="fr-FR" sz="1050" b="1" dirty="0">
                <a:solidFill>
                  <a:srgbClr val="C0504D"/>
                </a:solidFill>
              </a:rPr>
              <a:t>         		</a:t>
            </a:r>
          </a:p>
          <a:p>
            <a:pPr marL="0" indent="0">
              <a:buNone/>
            </a:pPr>
            <a:r>
              <a:rPr lang="fr-FR" sz="1050" b="1" dirty="0">
                <a:solidFill>
                  <a:srgbClr val="C0504D"/>
                </a:solidFill>
              </a:rPr>
              <a:t>		@</a:t>
            </a:r>
            <a:r>
              <a:rPr lang="fr-FR" sz="1050" b="1" dirty="0" err="1">
                <a:solidFill>
                  <a:srgbClr val="C0504D"/>
                </a:solidFill>
              </a:rPr>
              <a:t>Column</a:t>
            </a:r>
            <a:r>
              <a:rPr lang="fr-FR" sz="1050" b="1" dirty="0">
                <a:solidFill>
                  <a:srgbClr val="C0504D"/>
                </a:solidFill>
              </a:rPr>
              <a:t>(</a:t>
            </a:r>
            <a:r>
              <a:rPr lang="fr-FR" sz="1050" b="1" dirty="0" err="1">
                <a:solidFill>
                  <a:srgbClr val="C0504D"/>
                </a:solidFill>
              </a:rPr>
              <a:t>nullable</a:t>
            </a:r>
            <a:r>
              <a:rPr lang="fr-FR" sz="1050" b="1" dirty="0">
                <a:solidFill>
                  <a:srgbClr val="C0504D"/>
                </a:solidFill>
              </a:rPr>
              <a:t> = false)</a:t>
            </a:r>
            <a:endParaRPr lang="en-US" sz="1050" dirty="0"/>
          </a:p>
          <a:p>
            <a:pPr marL="0" indent="0">
              <a:buNone/>
            </a:pPr>
            <a:r>
              <a:rPr lang="en-US" sz="1050" dirty="0"/>
              <a:t>		private String code;</a:t>
            </a:r>
          </a:p>
          <a:p>
            <a:pPr marL="0" indent="0">
              <a:buNone/>
            </a:pPr>
            <a:endParaRPr lang="en-US" sz="1050" dirty="0"/>
          </a:p>
        </p:txBody>
      </p:sp>
      <p:sp>
        <p:nvSpPr>
          <p:cNvPr id="4" name="CasellaDiTesto 3">
            <a:extLst>
              <a:ext uri="{FF2B5EF4-FFF2-40B4-BE49-F238E27FC236}">
                <a16:creationId xmlns:a16="http://schemas.microsoft.com/office/drawing/2014/main" id="{1FE07C11-D954-5041-AC18-8BB9C1F9C7F2}"/>
              </a:ext>
            </a:extLst>
          </p:cNvPr>
          <p:cNvSpPr txBox="1"/>
          <p:nvPr/>
        </p:nvSpPr>
        <p:spPr>
          <a:xfrm>
            <a:off x="4947557" y="1071394"/>
            <a:ext cx="2350259" cy="507831"/>
          </a:xfrm>
          <a:prstGeom prst="rect">
            <a:avLst/>
          </a:prstGeom>
          <a:noFill/>
        </p:spPr>
        <p:txBody>
          <a:bodyPr wrap="none" rtlCol="0">
            <a:spAutoFit/>
          </a:bodyPr>
          <a:lstStyle/>
          <a:p>
            <a:r>
              <a:rPr lang="en-US" sz="1350" dirty="0">
                <a:highlight>
                  <a:srgbClr val="FFFF00"/>
                </a:highlight>
                <a:latin typeface="Calibri Light" panose="020F0302020204030204" pitchFamily="34" charset="0"/>
              </a:rPr>
              <a:t>In </a:t>
            </a:r>
            <a:r>
              <a:rPr lang="en-US" sz="1350" dirty="0" err="1">
                <a:highlight>
                  <a:srgbClr val="FFFF00"/>
                </a:highlight>
                <a:latin typeface="Calibri Light" panose="020F0302020204030204" pitchFamily="34" charset="0"/>
              </a:rPr>
              <a:t>rosso</a:t>
            </a:r>
            <a:r>
              <a:rPr lang="en-US" sz="1350" dirty="0">
                <a:highlight>
                  <a:srgbClr val="FFFF00"/>
                </a:highlight>
                <a:latin typeface="Calibri Light" panose="020F0302020204030204" pitchFamily="34" charset="0"/>
              </a:rPr>
              <a:t> le </a:t>
            </a:r>
            <a:r>
              <a:rPr lang="en-US" sz="1350" dirty="0" err="1">
                <a:highlight>
                  <a:srgbClr val="FFFF00"/>
                </a:highlight>
                <a:latin typeface="Calibri Light" panose="020F0302020204030204" pitchFamily="34" charset="0"/>
              </a:rPr>
              <a:t>annotazioni</a:t>
            </a:r>
            <a:r>
              <a:rPr lang="en-US" sz="1350" dirty="0">
                <a:highlight>
                  <a:srgbClr val="FFFF00"/>
                </a:highlight>
                <a:latin typeface="Calibri Light" panose="020F0302020204030204" pitchFamily="34" charset="0"/>
              </a:rPr>
              <a:t> JPA per </a:t>
            </a:r>
            <a:br>
              <a:rPr lang="en-US" sz="1350" dirty="0">
                <a:highlight>
                  <a:srgbClr val="FFFF00"/>
                </a:highlight>
                <a:latin typeface="Calibri Light" panose="020F0302020204030204" pitchFamily="34" charset="0"/>
              </a:rPr>
            </a:br>
            <a:r>
              <a:rPr lang="en-US" sz="1350" dirty="0" err="1">
                <a:highlight>
                  <a:srgbClr val="FFFF00"/>
                </a:highlight>
                <a:latin typeface="Calibri Light" panose="020F0302020204030204" pitchFamily="34" charset="0"/>
              </a:rPr>
              <a:t>il</a:t>
            </a:r>
            <a:r>
              <a:rPr lang="en-US" sz="1350" dirty="0">
                <a:highlight>
                  <a:srgbClr val="FFFF00"/>
                </a:highlight>
                <a:latin typeface="Calibri Light" panose="020F0302020204030204" pitchFamily="34" charset="0"/>
              </a:rPr>
              <a:t> mapping object relational </a:t>
            </a:r>
          </a:p>
        </p:txBody>
      </p:sp>
    </p:spTree>
    <p:extLst>
      <p:ext uri="{BB962C8B-B14F-4D97-AF65-F5344CB8AC3E}">
        <p14:creationId xmlns:p14="http://schemas.microsoft.com/office/powerpoint/2010/main" val="3579865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a:t>Esempio</a:t>
            </a:r>
          </a:p>
        </p:txBody>
      </p:sp>
      <p:graphicFrame>
        <p:nvGraphicFramePr>
          <p:cNvPr id="6" name="Segnaposto contenuto 5"/>
          <p:cNvGraphicFramePr>
            <a:graphicFrameLocks noGrp="1"/>
          </p:cNvGraphicFramePr>
          <p:nvPr>
            <p:ph sz="half" idx="1"/>
          </p:nvPr>
        </p:nvGraphicFramePr>
        <p:xfrm>
          <a:off x="1304925" y="1895475"/>
          <a:ext cx="1971675" cy="1932942"/>
        </p:xfrm>
        <a:graphic>
          <a:graphicData uri="http://schemas.openxmlformats.org/drawingml/2006/table">
            <a:tbl>
              <a:tblPr firstRow="1" bandRow="1">
                <a:tableStyleId>{5C22544A-7EE6-4342-B048-85BDC9FD1C3A}</a:tableStyleId>
              </a:tblPr>
              <a:tblGrid>
                <a:gridCol w="1971675">
                  <a:extLst>
                    <a:ext uri="{9D8B030D-6E8A-4147-A177-3AD203B41FA5}">
                      <a16:colId xmlns:a16="http://schemas.microsoft.com/office/drawing/2014/main" val="20000"/>
                    </a:ext>
                  </a:extLst>
                </a:gridCol>
              </a:tblGrid>
              <a:tr h="377190">
                <a:tc>
                  <a:txBody>
                    <a:bodyPr/>
                    <a:lstStyle/>
                    <a:p>
                      <a:pPr algn="ctr"/>
                      <a:r>
                        <a:rPr lang="it-IT" sz="1000" b="0" i="0" dirty="0">
                          <a:latin typeface="Calibri Light" panose="020F0302020204030204" pitchFamily="34" charset="0"/>
                        </a:rPr>
                        <a:t>&lt;&lt;</a:t>
                      </a:r>
                      <a:r>
                        <a:rPr lang="it-IT" sz="1000" dirty="0" err="1"/>
                        <a:t>Entity</a:t>
                      </a:r>
                      <a:r>
                        <a:rPr lang="it-IT" sz="1000" dirty="0"/>
                        <a:t>&gt;&gt;</a:t>
                      </a:r>
                    </a:p>
                    <a:p>
                      <a:pPr algn="ctr"/>
                      <a:r>
                        <a:rPr lang="it-IT" sz="1000" dirty="0"/>
                        <a:t>Product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259292">
                <a:tc>
                  <a:txBody>
                    <a:bodyPr/>
                    <a:lstStyle/>
                    <a:p>
                      <a:r>
                        <a:rPr lang="it-IT" sz="1000" b="0" i="0" dirty="0">
                          <a:latin typeface="Calibri Light" panose="020F0302020204030204" pitchFamily="34" charset="0"/>
                        </a:rPr>
                        <a:t>- id: Long</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tcPr>
                </a:tc>
                <a:extLst>
                  <a:ext uri="{0D108BD9-81ED-4DB2-BD59-A6C34878D82A}">
                    <a16:rowId xmlns:a16="http://schemas.microsoft.com/office/drawing/2014/main" val="10001"/>
                  </a:ext>
                </a:extLst>
              </a:tr>
              <a:tr h="259292">
                <a:tc>
                  <a:txBody>
                    <a:bodyPr/>
                    <a:lstStyle/>
                    <a:p>
                      <a:r>
                        <a:rPr lang="it-IT" sz="1000" b="0" i="0" dirty="0">
                          <a:latin typeface="Calibri Light" panose="020F0302020204030204" pitchFamily="34" charset="0"/>
                        </a:rPr>
                        <a:t>- </a:t>
                      </a:r>
                      <a:r>
                        <a:rPr lang="it-IT" sz="1000" dirty="0"/>
                        <a:t>name: </a:t>
                      </a:r>
                      <a:r>
                        <a:rPr lang="it-IT" sz="1000" dirty="0" err="1"/>
                        <a:t>String</a:t>
                      </a:r>
                      <a:endParaRPr lang="it-IT" sz="10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tcPr>
                </a:tc>
                <a:extLst>
                  <a:ext uri="{0D108BD9-81ED-4DB2-BD59-A6C34878D82A}">
                    <a16:rowId xmlns:a16="http://schemas.microsoft.com/office/drawing/2014/main" val="10002"/>
                  </a:ext>
                </a:extLst>
              </a:tr>
              <a:tr h="259292">
                <a:tc>
                  <a:txBody>
                    <a:bodyPr/>
                    <a:lstStyle/>
                    <a:p>
                      <a:r>
                        <a:rPr lang="it-IT" sz="1000" b="0" i="0" dirty="0">
                          <a:latin typeface="Calibri Light" panose="020F0302020204030204" pitchFamily="34" charset="0"/>
                        </a:rPr>
                        <a:t>- </a:t>
                      </a:r>
                      <a:r>
                        <a:rPr lang="it-IT" sz="1000" dirty="0"/>
                        <a:t>price: Float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tcPr>
                </a:tc>
                <a:extLst>
                  <a:ext uri="{0D108BD9-81ED-4DB2-BD59-A6C34878D82A}">
                    <a16:rowId xmlns:a16="http://schemas.microsoft.com/office/drawing/2014/main" val="10003"/>
                  </a:ext>
                </a:extLst>
              </a:tr>
              <a:tr h="259292">
                <a:tc>
                  <a:txBody>
                    <a:bodyPr/>
                    <a:lstStyle/>
                    <a:p>
                      <a:r>
                        <a:rPr lang="it-IT" sz="1000" b="0" i="0" dirty="0">
                          <a:latin typeface="Calibri Light" panose="020F0302020204030204" pitchFamily="34" charset="0"/>
                        </a:rPr>
                        <a:t>- </a:t>
                      </a:r>
                      <a:r>
                        <a:rPr lang="it-IT" sz="1000" dirty="0" err="1"/>
                        <a:t>description</a:t>
                      </a:r>
                      <a:r>
                        <a:rPr lang="it-IT" sz="1000" dirty="0"/>
                        <a:t>: </a:t>
                      </a:r>
                      <a:r>
                        <a:rPr lang="it-IT" sz="1000" dirty="0" err="1"/>
                        <a:t>String</a:t>
                      </a:r>
                      <a:endParaRPr lang="it-IT" sz="10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tcPr>
                </a:tc>
                <a:extLst>
                  <a:ext uri="{0D108BD9-81ED-4DB2-BD59-A6C34878D82A}">
                    <a16:rowId xmlns:a16="http://schemas.microsoft.com/office/drawing/2014/main" val="10004"/>
                  </a:ext>
                </a:extLst>
              </a:tr>
              <a:tr h="259292">
                <a:tc>
                  <a:txBody>
                    <a:bodyPr/>
                    <a:lstStyle/>
                    <a:p>
                      <a:r>
                        <a:rPr lang="it-IT" sz="1000" b="0" i="0" dirty="0">
                          <a:latin typeface="Calibri Light" panose="020F0302020204030204" pitchFamily="34" charset="0"/>
                        </a:rPr>
                        <a:t>- code: </a:t>
                      </a:r>
                      <a:r>
                        <a:rPr lang="it-IT" sz="1000" dirty="0" err="1"/>
                        <a:t>String</a:t>
                      </a:r>
                      <a:endParaRPr lang="it-IT" sz="10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tcPr>
                </a:tc>
                <a:extLst>
                  <a:ext uri="{0D108BD9-81ED-4DB2-BD59-A6C34878D82A}">
                    <a16:rowId xmlns:a16="http://schemas.microsoft.com/office/drawing/2014/main" val="10005"/>
                  </a:ext>
                </a:extLst>
              </a:tr>
              <a:tr h="259292">
                <a:tc>
                  <a:txBody>
                    <a:bodyPr/>
                    <a:lstStyle/>
                    <a:p>
                      <a:endParaRPr lang="it-IT" sz="1000" b="0" i="0" dirty="0">
                        <a:latin typeface="Calibri Light" panose="020F0302020204030204" pitchFamily="34" charset="0"/>
                      </a:endParaRP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7" name="Segnaposto contenuto 6"/>
          <p:cNvGraphicFramePr>
            <a:graphicFrameLocks noGrp="1"/>
          </p:cNvGraphicFramePr>
          <p:nvPr>
            <p:ph sz="half" idx="2"/>
          </p:nvPr>
        </p:nvGraphicFramePr>
        <p:xfrm>
          <a:off x="4238625" y="2085975"/>
          <a:ext cx="3695701" cy="1712595"/>
        </p:xfrm>
        <a:graphic>
          <a:graphicData uri="http://schemas.openxmlformats.org/drawingml/2006/table">
            <a:tbl>
              <a:tblPr firstRow="1" bandRow="1">
                <a:tableStyleId>{21E4AEA4-8DFA-4A89-87EB-49C32662AFE0}</a:tableStyleId>
              </a:tblPr>
              <a:tblGrid>
                <a:gridCol w="121920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238251">
                  <a:extLst>
                    <a:ext uri="{9D8B030D-6E8A-4147-A177-3AD203B41FA5}">
                      <a16:colId xmlns:a16="http://schemas.microsoft.com/office/drawing/2014/main" val="20002"/>
                    </a:ext>
                  </a:extLst>
                </a:gridCol>
              </a:tblGrid>
              <a:tr h="222885">
                <a:tc gridSpan="3">
                  <a:txBody>
                    <a:bodyPr/>
                    <a:lstStyle/>
                    <a:p>
                      <a:pPr algn="ctr"/>
                      <a:r>
                        <a:rPr lang="it-IT" sz="1000" b="0" i="0" dirty="0" err="1">
                          <a:latin typeface="Calibri Light" panose="020F0302020204030204" pitchFamily="34" charset="0"/>
                        </a:rPr>
                        <a:t>product</a:t>
                      </a:r>
                      <a:endParaRPr lang="it-IT" sz="1000" dirty="0"/>
                    </a:p>
                  </a:txBody>
                  <a:tcPr marL="68580" marR="68580" marT="34290" marB="34290"/>
                </a:tc>
                <a:tc hMerge="1">
                  <a:txBody>
                    <a:bodyPr/>
                    <a:lstStyle/>
                    <a:p>
                      <a:pPr algn="ctr"/>
                      <a:endParaRPr lang="it-IT"/>
                    </a:p>
                  </a:txBody>
                  <a:tcPr/>
                </a:tc>
                <a:tc hMerge="1">
                  <a:txBody>
                    <a:bodyPr/>
                    <a:lstStyle/>
                    <a:p>
                      <a:pPr algn="ctr"/>
                      <a:endParaRPr lang="it-IT"/>
                    </a:p>
                  </a:txBody>
                  <a:tcPr/>
                </a:tc>
                <a:extLst>
                  <a:ext uri="{0D108BD9-81ED-4DB2-BD59-A6C34878D82A}">
                    <a16:rowId xmlns:a16="http://schemas.microsoft.com/office/drawing/2014/main" val="10000"/>
                  </a:ext>
                </a:extLst>
              </a:tr>
              <a:tr h="377190">
                <a:tc>
                  <a:txBody>
                    <a:bodyPr/>
                    <a:lstStyle/>
                    <a:p>
                      <a:r>
                        <a:rPr lang="it-IT" sz="1000" b="0" i="0" dirty="0">
                          <a:latin typeface="Calibri Light" panose="020F0302020204030204" pitchFamily="34" charset="0"/>
                        </a:rPr>
                        <a:t>id</a:t>
                      </a:r>
                    </a:p>
                  </a:txBody>
                  <a:tcPr marL="68580" marR="68580" marT="34290" marB="34290"/>
                </a:tc>
                <a:tc>
                  <a:txBody>
                    <a:bodyPr/>
                    <a:lstStyle/>
                    <a:p>
                      <a:r>
                        <a:rPr lang="it-IT" sz="1000" b="0" i="0" dirty="0" err="1">
                          <a:latin typeface="Calibri Light" panose="020F0302020204030204" pitchFamily="34" charset="0"/>
                        </a:rPr>
                        <a:t>bigint</a:t>
                      </a:r>
                      <a:endParaRPr lang="it-IT" sz="1000" dirty="0"/>
                    </a:p>
                  </a:txBody>
                  <a:tcPr marL="68580" marR="68580" marT="34290" marB="34290"/>
                </a:tc>
                <a:tc>
                  <a:txBody>
                    <a:bodyPr/>
                    <a:lstStyle/>
                    <a:p>
                      <a:r>
                        <a:rPr lang="it-IT" sz="1000" b="0" i="0" dirty="0" err="1">
                          <a:latin typeface="Calibri Light" panose="020F0302020204030204" pitchFamily="34" charset="0"/>
                        </a:rPr>
                        <a:t>nullable</a:t>
                      </a:r>
                      <a:r>
                        <a:rPr lang="it-IT" sz="1000" dirty="0"/>
                        <a:t>=false</a:t>
                      </a:r>
                    </a:p>
                    <a:p>
                      <a:r>
                        <a:rPr lang="it-IT" sz="1000" dirty="0"/>
                        <a:t>PK</a:t>
                      </a:r>
                    </a:p>
                  </a:txBody>
                  <a:tcPr marL="68580" marR="68580" marT="34290" marB="34290"/>
                </a:tc>
                <a:extLst>
                  <a:ext uri="{0D108BD9-81ED-4DB2-BD59-A6C34878D82A}">
                    <a16:rowId xmlns:a16="http://schemas.microsoft.com/office/drawing/2014/main" val="10001"/>
                  </a:ext>
                </a:extLst>
              </a:tr>
              <a:tr h="278130">
                <a:tc>
                  <a:txBody>
                    <a:bodyPr/>
                    <a:lstStyle/>
                    <a:p>
                      <a:r>
                        <a:rPr lang="it-IT" sz="1000" b="0" i="0" dirty="0">
                          <a:latin typeface="Calibri Light" panose="020F0302020204030204" pitchFamily="34" charset="0"/>
                        </a:rPr>
                        <a:t>name</a:t>
                      </a:r>
                      <a:endParaRPr lang="it-IT" sz="1000" dirty="0"/>
                    </a:p>
                  </a:txBody>
                  <a:tcPr marL="68580" marR="68580" marT="34290" marB="34290"/>
                </a:tc>
                <a:tc>
                  <a:txBody>
                    <a:bodyPr/>
                    <a:lstStyle/>
                    <a:p>
                      <a:r>
                        <a:rPr lang="it-IT" sz="1000" b="0" i="0" dirty="0" err="1">
                          <a:latin typeface="Calibri Light" panose="020F0302020204030204" pitchFamily="34" charset="0"/>
                        </a:rPr>
                        <a:t>varchar</a:t>
                      </a:r>
                      <a:r>
                        <a:rPr lang="it-IT" sz="1000" dirty="0"/>
                        <a:t>(255)</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1000" b="0" i="0" dirty="0" err="1">
                          <a:latin typeface="Calibri Light" panose="020F0302020204030204" pitchFamily="34" charset="0"/>
                        </a:rPr>
                        <a:t>nullable</a:t>
                      </a:r>
                      <a:r>
                        <a:rPr lang="it-IT" sz="1000" dirty="0"/>
                        <a:t>=false</a:t>
                      </a:r>
                    </a:p>
                  </a:txBody>
                  <a:tcPr marL="68580" marR="68580" marT="34290" marB="34290"/>
                </a:tc>
                <a:extLst>
                  <a:ext uri="{0D108BD9-81ED-4DB2-BD59-A6C34878D82A}">
                    <a16:rowId xmlns:a16="http://schemas.microsoft.com/office/drawing/2014/main" val="10002"/>
                  </a:ext>
                </a:extLst>
              </a:tr>
              <a:tr h="278130">
                <a:tc>
                  <a:txBody>
                    <a:bodyPr/>
                    <a:lstStyle/>
                    <a:p>
                      <a:r>
                        <a:rPr lang="it-IT" sz="1000" b="0" i="0" dirty="0">
                          <a:latin typeface="Calibri Light" panose="020F0302020204030204" pitchFamily="34" charset="0"/>
                        </a:rPr>
                        <a:t>price</a:t>
                      </a:r>
                      <a:endParaRPr lang="it-IT" sz="1000" dirty="0"/>
                    </a:p>
                  </a:txBody>
                  <a:tcPr marL="68580" marR="68580" marT="34290" marB="34290"/>
                </a:tc>
                <a:tc>
                  <a:txBody>
                    <a:bodyPr/>
                    <a:lstStyle/>
                    <a:p>
                      <a:r>
                        <a:rPr lang="it-IT" sz="1000" b="0" i="0" dirty="0">
                          <a:latin typeface="Calibri Light" panose="020F0302020204030204" pitchFamily="34" charset="0"/>
                        </a:rPr>
                        <a:t>double</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1000" b="0" i="0" dirty="0" err="1">
                          <a:latin typeface="Calibri Light" panose="020F0302020204030204" pitchFamily="34" charset="0"/>
                        </a:rPr>
                        <a:t>nullable</a:t>
                      </a:r>
                      <a:r>
                        <a:rPr lang="it-IT" sz="1000" dirty="0"/>
                        <a:t>=</a:t>
                      </a:r>
                      <a:r>
                        <a:rPr lang="it-IT" sz="1000" dirty="0" err="1"/>
                        <a:t>true</a:t>
                      </a:r>
                      <a:endParaRPr lang="it-IT" sz="1000" dirty="0"/>
                    </a:p>
                  </a:txBody>
                  <a:tcPr marL="68580" marR="68580" marT="34290" marB="34290"/>
                </a:tc>
                <a:extLst>
                  <a:ext uri="{0D108BD9-81ED-4DB2-BD59-A6C34878D82A}">
                    <a16:rowId xmlns:a16="http://schemas.microsoft.com/office/drawing/2014/main" val="10003"/>
                  </a:ext>
                </a:extLst>
              </a:tr>
              <a:tr h="278130">
                <a:tc>
                  <a:txBody>
                    <a:bodyPr/>
                    <a:lstStyle/>
                    <a:p>
                      <a:r>
                        <a:rPr lang="it-IT" sz="1000" b="0" i="0" dirty="0" err="1">
                          <a:latin typeface="Calibri Light" panose="020F0302020204030204" pitchFamily="34" charset="0"/>
                        </a:rPr>
                        <a:t>description</a:t>
                      </a:r>
                      <a:endParaRPr lang="it-IT" sz="1000" dirty="0"/>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1000" b="0" i="0" dirty="0" err="1">
                          <a:latin typeface="Calibri Light" panose="020F0302020204030204" pitchFamily="34" charset="0"/>
                        </a:rPr>
                        <a:t>varchar</a:t>
                      </a:r>
                      <a:r>
                        <a:rPr lang="it-IT" sz="1000" dirty="0"/>
                        <a:t>(2000)</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1000" b="0" i="0" dirty="0" err="1">
                          <a:latin typeface="Calibri Light" panose="020F0302020204030204" pitchFamily="34" charset="0"/>
                        </a:rPr>
                        <a:t>nullable</a:t>
                      </a:r>
                      <a:r>
                        <a:rPr lang="it-IT" sz="1000" dirty="0"/>
                        <a:t>=</a:t>
                      </a:r>
                      <a:r>
                        <a:rPr lang="it-IT" sz="1000" dirty="0" err="1"/>
                        <a:t>true</a:t>
                      </a:r>
                      <a:endParaRPr lang="it-IT" sz="1000" dirty="0"/>
                    </a:p>
                  </a:txBody>
                  <a:tcPr marL="68580" marR="68580" marT="34290" marB="34290"/>
                </a:tc>
                <a:extLst>
                  <a:ext uri="{0D108BD9-81ED-4DB2-BD59-A6C34878D82A}">
                    <a16:rowId xmlns:a16="http://schemas.microsoft.com/office/drawing/2014/main" val="10004"/>
                  </a:ext>
                </a:extLst>
              </a:tr>
              <a:tr h="278130">
                <a:tc>
                  <a:txBody>
                    <a:bodyPr/>
                    <a:lstStyle/>
                    <a:p>
                      <a:r>
                        <a:rPr lang="it-IT" sz="1000" b="0" i="0" dirty="0">
                          <a:latin typeface="Calibri Light" panose="020F0302020204030204" pitchFamily="34" charset="0"/>
                        </a:rPr>
                        <a:t>code</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1000" b="0" i="0" dirty="0" err="1">
                          <a:latin typeface="Calibri Light" panose="020F0302020204030204" pitchFamily="34" charset="0"/>
                        </a:rPr>
                        <a:t>varchar</a:t>
                      </a:r>
                      <a:r>
                        <a:rPr lang="it-IT" sz="1000" dirty="0"/>
                        <a:t>(255)</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1000" b="0" i="0" dirty="0" err="1">
                          <a:latin typeface="Calibri Light" panose="020F0302020204030204" pitchFamily="34" charset="0"/>
                        </a:rPr>
                        <a:t>nullable</a:t>
                      </a:r>
                      <a:r>
                        <a:rPr lang="it-IT" sz="1000" dirty="0"/>
                        <a:t>=false</a:t>
                      </a:r>
                    </a:p>
                  </a:txBody>
                  <a:tcPr marL="68580" marR="68580" marT="34290" marB="34290"/>
                </a:tc>
                <a:extLst>
                  <a:ext uri="{0D108BD9-81ED-4DB2-BD59-A6C34878D82A}">
                    <a16:rowId xmlns:a16="http://schemas.microsoft.com/office/drawing/2014/main" val="10005"/>
                  </a:ext>
                </a:extLst>
              </a:tr>
            </a:tbl>
          </a:graphicData>
        </a:graphic>
      </p:graphicFrame>
      <p:sp>
        <p:nvSpPr>
          <p:cNvPr id="8" name="CasellaDiTesto 7"/>
          <p:cNvSpPr txBox="1"/>
          <p:nvPr/>
        </p:nvSpPr>
        <p:spPr>
          <a:xfrm>
            <a:off x="1771651" y="1409700"/>
            <a:ext cx="865943" cy="415498"/>
          </a:xfrm>
          <a:prstGeom prst="rect">
            <a:avLst/>
          </a:prstGeom>
          <a:noFill/>
        </p:spPr>
        <p:txBody>
          <a:bodyPr wrap="none" rtlCol="0">
            <a:spAutoFit/>
          </a:bodyPr>
          <a:lstStyle/>
          <a:p>
            <a:r>
              <a:rPr lang="it-IT" sz="2100" dirty="0">
                <a:latin typeface="Calibri Light" panose="020F0302020204030204" pitchFamily="34" charset="0"/>
              </a:rPr>
              <a:t>Classe</a:t>
            </a:r>
          </a:p>
        </p:txBody>
      </p:sp>
      <p:sp>
        <p:nvSpPr>
          <p:cNvPr id="9" name="CasellaDiTesto 8"/>
          <p:cNvSpPr txBox="1"/>
          <p:nvPr/>
        </p:nvSpPr>
        <p:spPr>
          <a:xfrm>
            <a:off x="4619625" y="1385500"/>
            <a:ext cx="952312" cy="415498"/>
          </a:xfrm>
          <a:prstGeom prst="rect">
            <a:avLst/>
          </a:prstGeom>
          <a:noFill/>
        </p:spPr>
        <p:txBody>
          <a:bodyPr wrap="none" rtlCol="0">
            <a:spAutoFit/>
          </a:bodyPr>
          <a:lstStyle/>
          <a:p>
            <a:r>
              <a:rPr lang="it-IT" sz="2100" dirty="0">
                <a:latin typeface="Calibri Light" panose="020F0302020204030204" pitchFamily="34" charset="0"/>
              </a:rPr>
              <a:t>Tabella</a:t>
            </a:r>
          </a:p>
        </p:txBody>
      </p:sp>
      <p:sp>
        <p:nvSpPr>
          <p:cNvPr id="10" name="CasellaDiTesto 9"/>
          <p:cNvSpPr txBox="1"/>
          <p:nvPr/>
        </p:nvSpPr>
        <p:spPr>
          <a:xfrm>
            <a:off x="3381376" y="2923401"/>
            <a:ext cx="801823" cy="300082"/>
          </a:xfrm>
          <a:prstGeom prst="rect">
            <a:avLst/>
          </a:prstGeom>
          <a:noFill/>
        </p:spPr>
        <p:txBody>
          <a:bodyPr wrap="none" rtlCol="0">
            <a:spAutoFit/>
          </a:bodyPr>
          <a:lstStyle/>
          <a:p>
            <a:r>
              <a:rPr lang="it-IT" sz="1350" dirty="0">
                <a:latin typeface="Calibri Light" panose="020F0302020204030204" pitchFamily="34" charset="0"/>
              </a:rPr>
              <a:t>mapping</a:t>
            </a:r>
          </a:p>
        </p:txBody>
      </p:sp>
      <p:cxnSp>
        <p:nvCxnSpPr>
          <p:cNvPr id="12" name="Connettore 2 11"/>
          <p:cNvCxnSpPr/>
          <p:nvPr/>
        </p:nvCxnSpPr>
        <p:spPr>
          <a:xfrm>
            <a:off x="3371850" y="3248025"/>
            <a:ext cx="753818" cy="0"/>
          </a:xfrm>
          <a:prstGeom prst="straightConnector1">
            <a:avLst/>
          </a:prstGeom>
          <a:ln w="38100" cmpd="dbl">
            <a:prstDash val="dash"/>
            <a:headEnd type="arrow"/>
            <a:tailEnd type="arrow"/>
          </a:ln>
        </p:spPr>
        <p:style>
          <a:lnRef idx="2">
            <a:schemeClr val="accent1"/>
          </a:lnRef>
          <a:fillRef idx="0">
            <a:schemeClr val="accent1"/>
          </a:fillRef>
          <a:effectRef idx="1">
            <a:schemeClr val="accent1"/>
          </a:effectRef>
          <a:fontRef idx="minor">
            <a:schemeClr val="tx1"/>
          </a:fontRef>
        </p:style>
      </p:cxnSp>
      <p:sp>
        <p:nvSpPr>
          <p:cNvPr id="11" name="CasellaDiTesto 10">
            <a:extLst>
              <a:ext uri="{FF2B5EF4-FFF2-40B4-BE49-F238E27FC236}">
                <a16:creationId xmlns:a16="http://schemas.microsoft.com/office/drawing/2014/main" id="{41437C9B-EC53-6449-BB62-A52753F2646F}"/>
              </a:ext>
            </a:extLst>
          </p:cNvPr>
          <p:cNvSpPr txBox="1"/>
          <p:nvPr/>
        </p:nvSpPr>
        <p:spPr>
          <a:xfrm>
            <a:off x="4238626" y="4087810"/>
            <a:ext cx="2356735" cy="369332"/>
          </a:xfrm>
          <a:prstGeom prst="rect">
            <a:avLst/>
          </a:prstGeom>
          <a:noFill/>
          <a:ln>
            <a:solidFill>
              <a:schemeClr val="accent1"/>
            </a:solidFill>
          </a:ln>
        </p:spPr>
        <p:txBody>
          <a:bodyPr wrap="none" rtlCol="0">
            <a:spAutoFit/>
          </a:bodyPr>
          <a:lstStyle/>
          <a:p>
            <a:r>
              <a:rPr lang="en-US" sz="900" dirty="0" err="1">
                <a:latin typeface="Calibri Light" panose="020F0302020204030204" pitchFamily="34" charset="0"/>
              </a:rPr>
              <a:t>Rappresentazione</a:t>
            </a:r>
            <a:r>
              <a:rPr lang="en-US" sz="900" dirty="0">
                <a:latin typeface="Calibri Light" panose="020F0302020204030204" pitchFamily="34" charset="0"/>
              </a:rPr>
              <a:t> </a:t>
            </a:r>
            <a:r>
              <a:rPr lang="en-US" sz="900" dirty="0" err="1">
                <a:latin typeface="Calibri Light" panose="020F0302020204030204" pitchFamily="34" charset="0"/>
              </a:rPr>
              <a:t>testuale</a:t>
            </a:r>
            <a:r>
              <a:rPr lang="en-US" sz="900" dirty="0">
                <a:latin typeface="Calibri Light" panose="020F0302020204030204" pitchFamily="34" charset="0"/>
              </a:rPr>
              <a:t> in forma </a:t>
            </a:r>
            <a:r>
              <a:rPr lang="en-US" sz="900" dirty="0" err="1">
                <a:latin typeface="Calibri Light" panose="020F0302020204030204" pitchFamily="34" charset="0"/>
              </a:rPr>
              <a:t>compatta</a:t>
            </a:r>
            <a:r>
              <a:rPr lang="en-US" sz="900" dirty="0">
                <a:latin typeface="Calibri Light" panose="020F0302020204030204" pitchFamily="34" charset="0"/>
              </a:rPr>
              <a:t>:</a:t>
            </a:r>
          </a:p>
          <a:p>
            <a:r>
              <a:rPr lang="en-US" sz="900" dirty="0">
                <a:latin typeface="Calibri Light" panose="020F0302020204030204" pitchFamily="34" charset="0"/>
              </a:rPr>
              <a:t>Product(</a:t>
            </a:r>
            <a:r>
              <a:rPr lang="en-US" sz="900" u="sng" dirty="0">
                <a:latin typeface="Calibri Light" panose="020F0302020204030204" pitchFamily="34" charset="0"/>
              </a:rPr>
              <a:t>id</a:t>
            </a:r>
            <a:r>
              <a:rPr lang="en-US" sz="900" dirty="0">
                <a:latin typeface="Calibri Light" panose="020F0302020204030204" pitchFamily="34" charset="0"/>
              </a:rPr>
              <a:t>, name, price, description, code)</a:t>
            </a:r>
          </a:p>
        </p:txBody>
      </p:sp>
    </p:spTree>
    <p:extLst>
      <p:ext uri="{BB962C8B-B14F-4D97-AF65-F5344CB8AC3E}">
        <p14:creationId xmlns:p14="http://schemas.microsoft.com/office/powerpoint/2010/main" val="23651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err="1"/>
              <a:t>Interrogare</a:t>
            </a:r>
            <a:r>
              <a:rPr lang="en-US"/>
              <a:t> le </a:t>
            </a:r>
            <a:r>
              <a:rPr lang="en-US" err="1"/>
              <a:t>entità</a:t>
            </a:r>
            <a:endParaRPr lang="en-US"/>
          </a:p>
        </p:txBody>
      </p:sp>
      <p:sp>
        <p:nvSpPr>
          <p:cNvPr id="3" name="Segnaposto contenuto 2"/>
          <p:cNvSpPr>
            <a:spLocks noGrp="1"/>
          </p:cNvSpPr>
          <p:nvPr>
            <p:ph idx="1"/>
          </p:nvPr>
        </p:nvSpPr>
        <p:spPr/>
        <p:txBody>
          <a:bodyPr>
            <a:normAutofit/>
          </a:bodyPr>
          <a:lstStyle/>
          <a:p>
            <a:r>
              <a:rPr lang="en-US" dirty="0"/>
              <a:t>JPA </a:t>
            </a:r>
            <a:r>
              <a:rPr lang="en-US" dirty="0" err="1"/>
              <a:t>offre</a:t>
            </a:r>
            <a:r>
              <a:rPr lang="en-US" dirty="0"/>
              <a:t> </a:t>
            </a:r>
            <a:r>
              <a:rPr lang="en-US" dirty="0" err="1"/>
              <a:t>anche</a:t>
            </a:r>
            <a:r>
              <a:rPr lang="en-US" dirty="0"/>
              <a:t> </a:t>
            </a:r>
            <a:r>
              <a:rPr lang="en-US" dirty="0" err="1"/>
              <a:t>uno</a:t>
            </a:r>
            <a:r>
              <a:rPr lang="en-US" dirty="0"/>
              <a:t> </a:t>
            </a:r>
            <a:r>
              <a:rPr lang="en-US" dirty="0" err="1"/>
              <a:t>strumento</a:t>
            </a:r>
            <a:r>
              <a:rPr lang="en-US" dirty="0"/>
              <a:t> per </a:t>
            </a:r>
            <a:r>
              <a:rPr lang="en-US" dirty="0" err="1"/>
              <a:t>interrogare</a:t>
            </a:r>
            <a:r>
              <a:rPr lang="en-US" dirty="0"/>
              <a:t> le </a:t>
            </a:r>
            <a:r>
              <a:rPr lang="en-US" dirty="0" err="1"/>
              <a:t>entità</a:t>
            </a:r>
            <a:r>
              <a:rPr lang="en-US" dirty="0"/>
              <a:t> </a:t>
            </a:r>
            <a:r>
              <a:rPr lang="en-US" dirty="0" err="1"/>
              <a:t>nel</a:t>
            </a:r>
            <a:r>
              <a:rPr lang="en-US" dirty="0"/>
              <a:t> </a:t>
            </a:r>
            <a:r>
              <a:rPr lang="en-US" dirty="0" err="1"/>
              <a:t>db</a:t>
            </a:r>
            <a:r>
              <a:rPr lang="en-US" dirty="0"/>
              <a:t>: Java Persistence Query Language (JPQL)</a:t>
            </a:r>
          </a:p>
          <a:p>
            <a:r>
              <a:rPr lang="en-US" dirty="0"/>
              <a:t>Una </a:t>
            </a:r>
            <a:r>
              <a:rPr lang="en-US" dirty="0" err="1"/>
              <a:t>istruzione</a:t>
            </a:r>
            <a:r>
              <a:rPr lang="en-US" dirty="0"/>
              <a:t> JPQL </a:t>
            </a:r>
            <a:r>
              <a:rPr lang="en-US" dirty="0" err="1"/>
              <a:t>può</a:t>
            </a:r>
            <a:r>
              <a:rPr lang="en-US" dirty="0"/>
              <a:t> </a:t>
            </a:r>
            <a:r>
              <a:rPr lang="en-US" dirty="0" err="1"/>
              <a:t>essere</a:t>
            </a:r>
            <a:r>
              <a:rPr lang="en-US" dirty="0"/>
              <a:t> </a:t>
            </a:r>
            <a:r>
              <a:rPr lang="en-US" dirty="0" err="1"/>
              <a:t>creata</a:t>
            </a:r>
            <a:r>
              <a:rPr lang="en-US" dirty="0"/>
              <a:t> </a:t>
            </a:r>
            <a:r>
              <a:rPr lang="en-US" dirty="0" err="1"/>
              <a:t>ed</a:t>
            </a:r>
            <a:r>
              <a:rPr lang="en-US" dirty="0"/>
              <a:t> </a:t>
            </a:r>
            <a:r>
              <a:rPr lang="en-US" dirty="0" err="1"/>
              <a:t>eseguita</a:t>
            </a:r>
            <a:r>
              <a:rPr lang="en-US" dirty="0"/>
              <a:t> </a:t>
            </a:r>
            <a:r>
              <a:rPr lang="en-US" dirty="0" err="1"/>
              <a:t>dinamicamente</a:t>
            </a:r>
            <a:r>
              <a:rPr lang="en-US" dirty="0"/>
              <a:t>, </a:t>
            </a:r>
            <a:r>
              <a:rPr lang="en-US" dirty="0" err="1"/>
              <a:t>oppure</a:t>
            </a:r>
            <a:r>
              <a:rPr lang="en-US" dirty="0"/>
              <a:t> </a:t>
            </a:r>
            <a:r>
              <a:rPr lang="en-US" dirty="0" err="1"/>
              <a:t>definita</a:t>
            </a:r>
            <a:r>
              <a:rPr lang="en-US" dirty="0"/>
              <a:t> </a:t>
            </a:r>
            <a:r>
              <a:rPr lang="en-US" dirty="0" err="1"/>
              <a:t>staticamente</a:t>
            </a:r>
            <a:endParaRPr lang="en-US" dirty="0"/>
          </a:p>
          <a:p>
            <a:r>
              <a:rPr lang="en-US" dirty="0" err="1"/>
              <a:t>Nell'esempio</a:t>
            </a:r>
            <a:r>
              <a:rPr lang="en-US" dirty="0"/>
              <a:t> </a:t>
            </a:r>
            <a:r>
              <a:rPr lang="en-US" dirty="0" err="1"/>
              <a:t>abbiamo</a:t>
            </a:r>
            <a:r>
              <a:rPr lang="en-US" dirty="0"/>
              <a:t> una query </a:t>
            </a:r>
            <a:r>
              <a:rPr lang="en-US" dirty="0" err="1"/>
              <a:t>definita</a:t>
            </a:r>
            <a:r>
              <a:rPr lang="en-US" dirty="0"/>
              <a:t> </a:t>
            </a:r>
            <a:r>
              <a:rPr lang="en-US" dirty="0" err="1"/>
              <a:t>staticamente</a:t>
            </a:r>
            <a:br>
              <a:rPr lang="en-US" dirty="0"/>
            </a:br>
            <a:r>
              <a:rPr lang="en-US" sz="1575" b="1" dirty="0">
                <a:solidFill>
                  <a:schemeClr val="accent2"/>
                </a:solidFill>
              </a:rPr>
              <a:t>@</a:t>
            </a:r>
            <a:r>
              <a:rPr lang="en-US" sz="1575" b="1" dirty="0" err="1">
                <a:solidFill>
                  <a:schemeClr val="accent2"/>
                </a:solidFill>
              </a:rPr>
              <a:t>NamedQuery</a:t>
            </a:r>
            <a:r>
              <a:rPr lang="en-US" sz="1575" b="1" dirty="0">
                <a:solidFill>
                  <a:schemeClr val="accent2"/>
                </a:solidFill>
              </a:rPr>
              <a:t>(name = "</a:t>
            </a:r>
            <a:r>
              <a:rPr lang="en-US" sz="1575" b="1" dirty="0" err="1">
                <a:solidFill>
                  <a:schemeClr val="accent2"/>
                </a:solidFill>
              </a:rPr>
              <a:t>findAllProducts</a:t>
            </a:r>
            <a:r>
              <a:rPr lang="en-US" sz="1575" b="1" dirty="0">
                <a:solidFill>
                  <a:schemeClr val="accent2"/>
                </a:solidFill>
              </a:rPr>
              <a:t>", query = "SELECT p FROM Product p")</a:t>
            </a:r>
            <a:endParaRPr lang="en-US" sz="1575" dirty="0"/>
          </a:p>
          <a:p>
            <a:pPr lvl="1"/>
            <a:r>
              <a:rPr lang="en-US" dirty="0" err="1"/>
              <a:t>queste</a:t>
            </a:r>
            <a:r>
              <a:rPr lang="en-US" dirty="0"/>
              <a:t> query </a:t>
            </a:r>
            <a:r>
              <a:rPr lang="en-US" dirty="0" err="1"/>
              <a:t>prendono</a:t>
            </a:r>
            <a:r>
              <a:rPr lang="en-US" dirty="0"/>
              <a:t> </a:t>
            </a:r>
            <a:r>
              <a:rPr lang="en-US" dirty="0" err="1"/>
              <a:t>il</a:t>
            </a:r>
            <a:r>
              <a:rPr lang="en-US" dirty="0"/>
              <a:t> </a:t>
            </a:r>
            <a:r>
              <a:rPr lang="en-US" dirty="0" err="1"/>
              <a:t>nome</a:t>
            </a:r>
            <a:r>
              <a:rPr lang="en-US" dirty="0"/>
              <a:t> di </a:t>
            </a:r>
            <a:r>
              <a:rPr lang="en-US" dirty="0" err="1"/>
              <a:t>NamedQuery</a:t>
            </a:r>
            <a:endParaRPr lang="en-US" dirty="0"/>
          </a:p>
          <a:p>
            <a:pPr lvl="1"/>
            <a:r>
              <a:rPr lang="en-US" dirty="0" err="1"/>
              <a:t>vanno</a:t>
            </a:r>
            <a:r>
              <a:rPr lang="en-US" dirty="0"/>
              <a:t> definite </a:t>
            </a:r>
            <a:r>
              <a:rPr lang="en-US" dirty="0" err="1"/>
              <a:t>nella</a:t>
            </a:r>
            <a:r>
              <a:rPr lang="en-US" dirty="0"/>
              <a:t> </a:t>
            </a:r>
            <a:r>
              <a:rPr lang="en-US" dirty="0" err="1"/>
              <a:t>classe</a:t>
            </a:r>
            <a:r>
              <a:rPr lang="en-US" dirty="0"/>
              <a:t> </a:t>
            </a:r>
            <a:r>
              <a:rPr lang="en-US" dirty="0" err="1"/>
              <a:t>dell'entità</a:t>
            </a:r>
            <a:r>
              <a:rPr lang="en-US" dirty="0"/>
              <a:t> a cui </a:t>
            </a:r>
            <a:r>
              <a:rPr lang="en-US" dirty="0" err="1"/>
              <a:t>fanno</a:t>
            </a:r>
            <a:r>
              <a:rPr lang="en-US" dirty="0"/>
              <a:t> </a:t>
            </a:r>
            <a:r>
              <a:rPr lang="en-US" dirty="0" err="1"/>
              <a:t>riferimento</a:t>
            </a:r>
            <a:endParaRPr lang="en-US" dirty="0"/>
          </a:p>
        </p:txBody>
      </p:sp>
    </p:spTree>
    <p:extLst>
      <p:ext uri="{BB962C8B-B14F-4D97-AF65-F5344CB8AC3E}">
        <p14:creationId xmlns:p14="http://schemas.microsoft.com/office/powerpoint/2010/main" val="1597855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err="1"/>
              <a:t>EntityManager</a:t>
            </a:r>
            <a:r>
              <a:rPr lang="en-US"/>
              <a:t>: </a:t>
            </a:r>
            <a:r>
              <a:rPr lang="en-US" err="1"/>
              <a:t>introduzione</a:t>
            </a:r>
            <a:endParaRPr lang="en-US"/>
          </a:p>
        </p:txBody>
      </p:sp>
      <p:sp>
        <p:nvSpPr>
          <p:cNvPr id="3" name="Segnaposto contenuto 2"/>
          <p:cNvSpPr>
            <a:spLocks noGrp="1"/>
          </p:cNvSpPr>
          <p:nvPr>
            <p:ph idx="1"/>
          </p:nvPr>
        </p:nvSpPr>
        <p:spPr/>
        <p:txBody>
          <a:bodyPr>
            <a:normAutofit/>
          </a:bodyPr>
          <a:lstStyle/>
          <a:p>
            <a:r>
              <a:rPr lang="it-IT" dirty="0"/>
              <a:t>Le operazioni di persistenza delle entità sono affidate ad un </a:t>
            </a:r>
            <a:r>
              <a:rPr lang="it-IT" i="1" dirty="0"/>
              <a:t>gestore delle entità</a:t>
            </a:r>
            <a:r>
              <a:rPr lang="it-IT" dirty="0"/>
              <a:t>, una classe istanza di </a:t>
            </a:r>
            <a:r>
              <a:rPr lang="it-IT" b="1" dirty="0" err="1"/>
              <a:t>EntityManager</a:t>
            </a:r>
            <a:endParaRPr lang="it-IT" b="1" dirty="0"/>
          </a:p>
          <a:p>
            <a:r>
              <a:rPr lang="it-IT" dirty="0"/>
              <a:t>Il ruolo dell'</a:t>
            </a:r>
            <a:r>
              <a:rPr lang="it-IT" dirty="0" err="1"/>
              <a:t>EntityManager</a:t>
            </a:r>
            <a:r>
              <a:rPr lang="it-IT" dirty="0"/>
              <a:t> è quello di gestire le operazioni di persistenza delle entità: interagire con il </a:t>
            </a:r>
            <a:r>
              <a:rPr lang="it-IT" dirty="0" err="1"/>
              <a:t>db</a:t>
            </a:r>
            <a:r>
              <a:rPr lang="it-IT" dirty="0"/>
              <a:t> per effettuare le operazioni CRUD sulle entità</a:t>
            </a:r>
          </a:p>
        </p:txBody>
      </p:sp>
    </p:spTree>
    <p:extLst>
      <p:ext uri="{BB962C8B-B14F-4D97-AF65-F5344CB8AC3E}">
        <p14:creationId xmlns:p14="http://schemas.microsoft.com/office/powerpoint/2010/main" val="4108460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err="1"/>
              <a:t>EntityManager</a:t>
            </a:r>
            <a:r>
              <a:rPr lang="en-US"/>
              <a:t>: </a:t>
            </a:r>
            <a:r>
              <a:rPr lang="en-US" err="1"/>
              <a:t>introduzione</a:t>
            </a:r>
            <a:endParaRPr lang="en-US"/>
          </a:p>
        </p:txBody>
      </p:sp>
      <p:graphicFrame>
        <p:nvGraphicFramePr>
          <p:cNvPr id="5" name="Segnaposto contenuto 5"/>
          <p:cNvGraphicFramePr>
            <a:graphicFrameLocks noGrp="1"/>
          </p:cNvGraphicFramePr>
          <p:nvPr>
            <p:ph sz="half" idx="1"/>
          </p:nvPr>
        </p:nvGraphicFramePr>
        <p:xfrm>
          <a:off x="3438191" y="3014901"/>
          <a:ext cx="1917563" cy="1523820"/>
        </p:xfrm>
        <a:graphic>
          <a:graphicData uri="http://schemas.openxmlformats.org/drawingml/2006/table">
            <a:tbl>
              <a:tblPr firstRow="1" bandRow="1">
                <a:tableStyleId>{5C22544A-7EE6-4342-B048-85BDC9FD1C3A}</a:tableStyleId>
              </a:tblPr>
              <a:tblGrid>
                <a:gridCol w="1917563">
                  <a:extLst>
                    <a:ext uri="{9D8B030D-6E8A-4147-A177-3AD203B41FA5}">
                      <a16:colId xmlns:a16="http://schemas.microsoft.com/office/drawing/2014/main" val="20000"/>
                    </a:ext>
                  </a:extLst>
                </a:gridCol>
              </a:tblGrid>
              <a:tr h="345151">
                <a:tc>
                  <a:txBody>
                    <a:bodyPr/>
                    <a:lstStyle/>
                    <a:p>
                      <a:pPr algn="ctr"/>
                      <a:r>
                        <a:rPr lang="it-IT" sz="800" b="0" i="0" dirty="0">
                          <a:latin typeface="Calibri Light" panose="020F0302020204030204" pitchFamily="34" charset="0"/>
                        </a:rPr>
                        <a:t>&lt;&lt;</a:t>
                      </a:r>
                      <a:r>
                        <a:rPr lang="it-IT" sz="800" dirty="0" err="1"/>
                        <a:t>entity</a:t>
                      </a:r>
                      <a:r>
                        <a:rPr lang="it-IT" sz="800" dirty="0"/>
                        <a:t>&gt;&gt;</a:t>
                      </a:r>
                    </a:p>
                    <a:p>
                      <a:pPr algn="ctr"/>
                      <a:r>
                        <a:rPr lang="it-IT" sz="800" dirty="0"/>
                        <a:t>Product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197229">
                <a:tc>
                  <a:txBody>
                    <a:bodyPr/>
                    <a:lstStyle/>
                    <a:p>
                      <a:r>
                        <a:rPr lang="it-IT" sz="800" b="0" i="0" dirty="0">
                          <a:latin typeface="Calibri Light" panose="020F0302020204030204" pitchFamily="34" charset="0"/>
                        </a:rPr>
                        <a:t>- id: Long</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tcPr>
                </a:tc>
                <a:extLst>
                  <a:ext uri="{0D108BD9-81ED-4DB2-BD59-A6C34878D82A}">
                    <a16:rowId xmlns:a16="http://schemas.microsoft.com/office/drawing/2014/main" val="10001"/>
                  </a:ext>
                </a:extLst>
              </a:tr>
              <a:tr h="197229">
                <a:tc>
                  <a:txBody>
                    <a:bodyPr/>
                    <a:lstStyle/>
                    <a:p>
                      <a:r>
                        <a:rPr lang="it-IT" sz="800" b="0" i="0" dirty="0">
                          <a:latin typeface="Calibri Light" panose="020F0302020204030204" pitchFamily="34" charset="0"/>
                        </a:rPr>
                        <a:t>- </a:t>
                      </a:r>
                      <a:r>
                        <a:rPr lang="it-IT" sz="800" dirty="0"/>
                        <a:t>name: </a:t>
                      </a:r>
                      <a:r>
                        <a:rPr lang="it-IT" sz="800" dirty="0" err="1"/>
                        <a:t>String</a:t>
                      </a:r>
                      <a:endParaRPr lang="it-IT" sz="8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tcPr>
                </a:tc>
                <a:extLst>
                  <a:ext uri="{0D108BD9-81ED-4DB2-BD59-A6C34878D82A}">
                    <a16:rowId xmlns:a16="http://schemas.microsoft.com/office/drawing/2014/main" val="10002"/>
                  </a:ext>
                </a:extLst>
              </a:tr>
              <a:tr h="197229">
                <a:tc>
                  <a:txBody>
                    <a:bodyPr/>
                    <a:lstStyle/>
                    <a:p>
                      <a:r>
                        <a:rPr lang="it-IT" sz="800" b="0" i="0" dirty="0">
                          <a:latin typeface="Calibri Light" panose="020F0302020204030204" pitchFamily="34" charset="0"/>
                        </a:rPr>
                        <a:t>- </a:t>
                      </a:r>
                      <a:r>
                        <a:rPr lang="it-IT" sz="800" dirty="0"/>
                        <a:t>price: Float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tcPr>
                </a:tc>
                <a:extLst>
                  <a:ext uri="{0D108BD9-81ED-4DB2-BD59-A6C34878D82A}">
                    <a16:rowId xmlns:a16="http://schemas.microsoft.com/office/drawing/2014/main" val="10003"/>
                  </a:ext>
                </a:extLst>
              </a:tr>
              <a:tr h="192524">
                <a:tc>
                  <a:txBody>
                    <a:bodyPr/>
                    <a:lstStyle/>
                    <a:p>
                      <a:r>
                        <a:rPr lang="it-IT" sz="800" b="0" i="0" dirty="0">
                          <a:latin typeface="Calibri Light" panose="020F0302020204030204" pitchFamily="34" charset="0"/>
                        </a:rPr>
                        <a:t>- </a:t>
                      </a:r>
                      <a:r>
                        <a:rPr lang="it-IT" sz="800" dirty="0" err="1"/>
                        <a:t>description</a:t>
                      </a:r>
                      <a:r>
                        <a:rPr lang="it-IT" sz="800" dirty="0"/>
                        <a:t>: </a:t>
                      </a:r>
                      <a:r>
                        <a:rPr lang="it-IT" sz="800" dirty="0" err="1"/>
                        <a:t>String</a:t>
                      </a:r>
                      <a:endParaRPr lang="it-IT" sz="8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tcPr>
                </a:tc>
                <a:extLst>
                  <a:ext uri="{0D108BD9-81ED-4DB2-BD59-A6C34878D82A}">
                    <a16:rowId xmlns:a16="http://schemas.microsoft.com/office/drawing/2014/main" val="10004"/>
                  </a:ext>
                </a:extLst>
              </a:tr>
              <a:tr h="197229">
                <a:tc>
                  <a:txBody>
                    <a:bodyPr/>
                    <a:lstStyle/>
                    <a:p>
                      <a:r>
                        <a:rPr lang="it-IT" sz="800" b="0" i="0" dirty="0">
                          <a:latin typeface="Calibri Light" panose="020F0302020204030204" pitchFamily="34" charset="0"/>
                        </a:rPr>
                        <a:t>- code: </a:t>
                      </a:r>
                      <a:r>
                        <a:rPr lang="it-IT" sz="800" dirty="0" err="1"/>
                        <a:t>String</a:t>
                      </a:r>
                      <a:endParaRPr lang="it-IT" sz="8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tcPr>
                </a:tc>
                <a:extLst>
                  <a:ext uri="{0D108BD9-81ED-4DB2-BD59-A6C34878D82A}">
                    <a16:rowId xmlns:a16="http://schemas.microsoft.com/office/drawing/2014/main" val="10005"/>
                  </a:ext>
                </a:extLst>
              </a:tr>
              <a:tr h="197229">
                <a:tc>
                  <a:txBody>
                    <a:bodyPr/>
                    <a:lstStyle/>
                    <a:p>
                      <a:endParaRPr lang="it-IT" sz="800" b="0" i="0" dirty="0">
                        <a:latin typeface="Calibri Light" panose="020F0302020204030204" pitchFamily="34" charset="0"/>
                      </a:endParaRP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6" name="Segnaposto contenuto 5"/>
          <p:cNvGraphicFramePr>
            <a:graphicFrameLocks/>
          </p:cNvGraphicFramePr>
          <p:nvPr/>
        </p:nvGraphicFramePr>
        <p:xfrm>
          <a:off x="1352824" y="1724865"/>
          <a:ext cx="1164968" cy="542380"/>
        </p:xfrm>
        <a:graphic>
          <a:graphicData uri="http://schemas.openxmlformats.org/drawingml/2006/table">
            <a:tbl>
              <a:tblPr firstRow="1" bandRow="1">
                <a:tableStyleId>{5C22544A-7EE6-4342-B048-85BDC9FD1C3A}</a:tableStyleId>
              </a:tblPr>
              <a:tblGrid>
                <a:gridCol w="1164968">
                  <a:extLst>
                    <a:ext uri="{9D8B030D-6E8A-4147-A177-3AD203B41FA5}">
                      <a16:colId xmlns:a16="http://schemas.microsoft.com/office/drawing/2014/main" val="20000"/>
                    </a:ext>
                  </a:extLst>
                </a:gridCol>
              </a:tblGrid>
              <a:tr h="345151">
                <a:tc>
                  <a:txBody>
                    <a:bodyPr/>
                    <a:lstStyle/>
                    <a:p>
                      <a:pPr algn="ctr"/>
                      <a:r>
                        <a:rPr lang="it-IT" sz="800" b="0" i="0" dirty="0" err="1">
                          <a:latin typeface="Calibri Light" panose="020F0302020204030204" pitchFamily="34" charset="0"/>
                        </a:rPr>
                        <a:t>Main</a:t>
                      </a:r>
                      <a:endParaRPr lang="it-IT" sz="8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197229">
                <a:tc>
                  <a:txBody>
                    <a:bodyPr/>
                    <a:lstStyle/>
                    <a:p>
                      <a:endParaRPr lang="it-IT" sz="800" b="0" i="0" dirty="0">
                        <a:latin typeface="Calibri Light" panose="020F0302020204030204" pitchFamily="34" charset="0"/>
                      </a:endParaRP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7" name="Segnaposto contenuto 5"/>
          <p:cNvGraphicFramePr>
            <a:graphicFrameLocks/>
          </p:cNvGraphicFramePr>
          <p:nvPr/>
        </p:nvGraphicFramePr>
        <p:xfrm>
          <a:off x="3173052" y="1524908"/>
          <a:ext cx="2431740" cy="936020"/>
        </p:xfrm>
        <a:graphic>
          <a:graphicData uri="http://schemas.openxmlformats.org/drawingml/2006/table">
            <a:tbl>
              <a:tblPr firstRow="1" bandRow="1">
                <a:tableStyleId>{5C22544A-7EE6-4342-B048-85BDC9FD1C3A}</a:tableStyleId>
              </a:tblPr>
              <a:tblGrid>
                <a:gridCol w="2431740">
                  <a:extLst>
                    <a:ext uri="{9D8B030D-6E8A-4147-A177-3AD203B41FA5}">
                      <a16:colId xmlns:a16="http://schemas.microsoft.com/office/drawing/2014/main" val="20000"/>
                    </a:ext>
                  </a:extLst>
                </a:gridCol>
              </a:tblGrid>
              <a:tr h="345151">
                <a:tc>
                  <a:txBody>
                    <a:bodyPr/>
                    <a:lstStyle/>
                    <a:p>
                      <a:pPr algn="ctr"/>
                      <a:r>
                        <a:rPr lang="it-IT" sz="800" b="0" i="0" dirty="0">
                          <a:latin typeface="Calibri Light" panose="020F0302020204030204" pitchFamily="34" charset="0"/>
                        </a:rPr>
                        <a:t>&lt;&lt;</a:t>
                      </a:r>
                      <a:r>
                        <a:rPr lang="it-IT" sz="800" dirty="0" err="1"/>
                        <a:t>interface</a:t>
                      </a:r>
                      <a:r>
                        <a:rPr lang="it-IT" sz="800" dirty="0"/>
                        <a:t>&gt;&gt;</a:t>
                      </a:r>
                    </a:p>
                    <a:p>
                      <a:pPr algn="ctr"/>
                      <a:r>
                        <a:rPr lang="it-IT" sz="800" dirty="0" err="1"/>
                        <a:t>EntityManager</a:t>
                      </a:r>
                      <a:endParaRPr lang="it-IT" sz="8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197229">
                <a:tc>
                  <a:txBody>
                    <a:bodyPr/>
                    <a:lstStyle/>
                    <a:p>
                      <a:r>
                        <a:rPr lang="it-IT" sz="800" b="0" i="0" dirty="0">
                          <a:latin typeface="Calibri Light" panose="020F0302020204030204" pitchFamily="34" charset="0"/>
                        </a:rPr>
                        <a:t>+ </a:t>
                      </a:r>
                      <a:r>
                        <a:rPr lang="it-IT" sz="800" dirty="0" err="1"/>
                        <a:t>persist</a:t>
                      </a:r>
                      <a:r>
                        <a:rPr lang="it-IT" sz="800" dirty="0"/>
                        <a:t>(</a:t>
                      </a:r>
                      <a:r>
                        <a:rPr lang="it-IT" sz="800" dirty="0" err="1"/>
                        <a:t>entity</a:t>
                      </a:r>
                      <a:r>
                        <a:rPr lang="it-IT" sz="800" dirty="0"/>
                        <a:t>: Object) : </a:t>
                      </a:r>
                      <a:r>
                        <a:rPr lang="it-IT" sz="800" dirty="0" err="1"/>
                        <a:t>void</a:t>
                      </a:r>
                      <a:endParaRPr lang="it-IT" sz="800" dirty="0"/>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tcPr>
                </a:tc>
                <a:extLst>
                  <a:ext uri="{0D108BD9-81ED-4DB2-BD59-A6C34878D82A}">
                    <a16:rowId xmlns:a16="http://schemas.microsoft.com/office/drawing/2014/main" val="10001"/>
                  </a:ext>
                </a:extLst>
              </a:tr>
              <a:tr h="196411">
                <a:tc>
                  <a:txBody>
                    <a:bodyPr/>
                    <a:lstStyle/>
                    <a:p>
                      <a:r>
                        <a:rPr lang="it-IT" sz="800" b="0" i="0" dirty="0">
                          <a:latin typeface="Calibri Light" panose="020F0302020204030204" pitchFamily="34" charset="0"/>
                        </a:rPr>
                        <a:t>+ </a:t>
                      </a:r>
                      <a:r>
                        <a:rPr lang="it-IT" sz="800" dirty="0" err="1"/>
                        <a:t>find</a:t>
                      </a:r>
                      <a:r>
                        <a:rPr lang="it-IT" sz="800" dirty="0"/>
                        <a:t>(</a:t>
                      </a:r>
                      <a:r>
                        <a:rPr lang="it-IT" sz="800" dirty="0" err="1"/>
                        <a:t>entity.Class</a:t>
                      </a:r>
                      <a:r>
                        <a:rPr lang="it-IT" sz="800" dirty="0"/>
                        <a:t>,</a:t>
                      </a:r>
                      <a:r>
                        <a:rPr lang="it-IT" sz="800" baseline="0" dirty="0"/>
                        <a:t> :Class&lt;T&gt;, </a:t>
                      </a:r>
                      <a:r>
                        <a:rPr lang="it-IT" sz="800" baseline="0" dirty="0" err="1"/>
                        <a:t>primaryK</a:t>
                      </a:r>
                      <a:r>
                        <a:rPr lang="it-IT" sz="800" dirty="0" err="1"/>
                        <a:t>ey</a:t>
                      </a:r>
                      <a:r>
                        <a:rPr lang="it-IT" sz="800" dirty="0"/>
                        <a:t> :Object) : &lt;T&gt;</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tcPr>
                </a:tc>
                <a:extLst>
                  <a:ext uri="{0D108BD9-81ED-4DB2-BD59-A6C34878D82A}">
                    <a16:rowId xmlns:a16="http://schemas.microsoft.com/office/drawing/2014/main" val="10002"/>
                  </a:ext>
                </a:extLst>
              </a:tr>
              <a:tr h="197229">
                <a:tc>
                  <a:txBody>
                    <a:bodyPr/>
                    <a:lstStyle/>
                    <a:p>
                      <a:r>
                        <a:rPr lang="it-IT" sz="800" b="0" i="0" dirty="0">
                          <a:latin typeface="Calibri Light" panose="020F0302020204030204" pitchFamily="34" charset="0"/>
                        </a:rPr>
                        <a:t>+ …</a:t>
                      </a:r>
                    </a:p>
                  </a:txBody>
                  <a:tcPr marL="68580" marR="68580" marT="34290" marB="34290">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Cilindro 7"/>
          <p:cNvSpPr/>
          <p:nvPr/>
        </p:nvSpPr>
        <p:spPr>
          <a:xfrm>
            <a:off x="6327928" y="1538276"/>
            <a:ext cx="1433711" cy="848112"/>
          </a:xfrm>
          <a:prstGeom prst="ca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1350" dirty="0">
                <a:latin typeface="Calibri Light" panose="020F0302020204030204" pitchFamily="34" charset="0"/>
              </a:rPr>
              <a:t>Database</a:t>
            </a:r>
          </a:p>
        </p:txBody>
      </p:sp>
      <p:cxnSp>
        <p:nvCxnSpPr>
          <p:cNvPr id="10" name="Connettore 2 9"/>
          <p:cNvCxnSpPr>
            <a:endCxn id="8" idx="2"/>
          </p:cNvCxnSpPr>
          <p:nvPr/>
        </p:nvCxnSpPr>
        <p:spPr>
          <a:xfrm flipV="1">
            <a:off x="5604792" y="1962332"/>
            <a:ext cx="723136" cy="1774"/>
          </a:xfrm>
          <a:prstGeom prst="straightConnector1">
            <a:avLst/>
          </a:prstGeom>
          <a:ln>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11" name="Connettore 2 10"/>
          <p:cNvCxnSpPr>
            <a:stCxn id="7" idx="2"/>
            <a:endCxn id="5" idx="0"/>
          </p:cNvCxnSpPr>
          <p:nvPr/>
        </p:nvCxnSpPr>
        <p:spPr>
          <a:xfrm>
            <a:off x="4388922" y="2460928"/>
            <a:ext cx="8050" cy="553973"/>
          </a:xfrm>
          <a:prstGeom prst="straightConnector1">
            <a:avLst/>
          </a:prstGeom>
          <a:ln>
            <a:prstDash val="dash"/>
            <a:headEnd type="none"/>
            <a:tailEnd type="arrow"/>
          </a:ln>
        </p:spPr>
        <p:style>
          <a:lnRef idx="2">
            <a:schemeClr val="accent1"/>
          </a:lnRef>
          <a:fillRef idx="0">
            <a:schemeClr val="accent1"/>
          </a:fillRef>
          <a:effectRef idx="1">
            <a:schemeClr val="accent1"/>
          </a:effectRef>
          <a:fontRef idx="minor">
            <a:schemeClr val="tx1"/>
          </a:fontRef>
        </p:style>
      </p:cxnSp>
      <p:cxnSp>
        <p:nvCxnSpPr>
          <p:cNvPr id="14" name="Connettore 2 13"/>
          <p:cNvCxnSpPr>
            <a:stCxn id="6" idx="3"/>
            <a:endCxn id="7" idx="1"/>
          </p:cNvCxnSpPr>
          <p:nvPr/>
        </p:nvCxnSpPr>
        <p:spPr>
          <a:xfrm flipV="1">
            <a:off x="2517792" y="1992918"/>
            <a:ext cx="655260" cy="3137"/>
          </a:xfrm>
          <a:prstGeom prst="straightConnector1">
            <a:avLst/>
          </a:prstGeom>
          <a:ln>
            <a:prstDash val="dash"/>
            <a:headEnd type="arrow"/>
            <a:tailEnd type="arrow"/>
          </a:ln>
        </p:spPr>
        <p:style>
          <a:lnRef idx="2">
            <a:schemeClr val="accent1"/>
          </a:lnRef>
          <a:fillRef idx="0">
            <a:schemeClr val="accent1"/>
          </a:fillRef>
          <a:effectRef idx="1">
            <a:schemeClr val="accent1"/>
          </a:effectRef>
          <a:fontRef idx="minor">
            <a:schemeClr val="tx1"/>
          </a:fontRef>
        </p:style>
      </p:cxnSp>
      <p:sp>
        <p:nvSpPr>
          <p:cNvPr id="17" name="CasellaDiTesto 16"/>
          <p:cNvSpPr txBox="1"/>
          <p:nvPr/>
        </p:nvSpPr>
        <p:spPr>
          <a:xfrm>
            <a:off x="5773761" y="1689131"/>
            <a:ext cx="482825" cy="507831"/>
          </a:xfrm>
          <a:prstGeom prst="rect">
            <a:avLst/>
          </a:prstGeom>
          <a:noFill/>
        </p:spPr>
        <p:txBody>
          <a:bodyPr wrap="none" rtlCol="0">
            <a:spAutoFit/>
          </a:bodyPr>
          <a:lstStyle/>
          <a:p>
            <a:pPr algn="ctr"/>
            <a:r>
              <a:rPr lang="it-IT" sz="1350" dirty="0" err="1">
                <a:latin typeface="Calibri Light" panose="020F0302020204030204" pitchFamily="34" charset="0"/>
              </a:rPr>
              <a:t>sql</a:t>
            </a:r>
            <a:endParaRPr lang="it-IT" sz="1350" dirty="0">
              <a:latin typeface="Calibri Light" panose="020F0302020204030204" pitchFamily="34" charset="0"/>
            </a:endParaRPr>
          </a:p>
          <a:p>
            <a:pPr algn="ctr"/>
            <a:r>
              <a:rPr lang="it-IT" sz="1350" dirty="0" err="1">
                <a:latin typeface="Calibri Light" panose="020F0302020204030204" pitchFamily="34" charset="0"/>
              </a:rPr>
              <a:t>jdbc</a:t>
            </a:r>
            <a:endParaRPr lang="it-IT" sz="1350" dirty="0">
              <a:latin typeface="Calibri Light" panose="020F0302020204030204" pitchFamily="34" charset="0"/>
            </a:endParaRPr>
          </a:p>
        </p:txBody>
      </p:sp>
    </p:spTree>
    <p:extLst>
      <p:ext uri="{BB962C8B-B14F-4D97-AF65-F5344CB8AC3E}">
        <p14:creationId xmlns:p14="http://schemas.microsoft.com/office/powerpoint/2010/main" val="1711795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err="1"/>
              <a:t>EntityManager</a:t>
            </a:r>
            <a:r>
              <a:rPr lang="en-US"/>
              <a:t>: </a:t>
            </a:r>
            <a:r>
              <a:rPr lang="en-US" err="1"/>
              <a:t>introduzione</a:t>
            </a:r>
            <a:endParaRPr lang="en-US"/>
          </a:p>
        </p:txBody>
      </p:sp>
      <p:sp>
        <p:nvSpPr>
          <p:cNvPr id="3" name="Segnaposto contenuto 2"/>
          <p:cNvSpPr>
            <a:spLocks noGrp="1"/>
          </p:cNvSpPr>
          <p:nvPr>
            <p:ph idx="1"/>
          </p:nvPr>
        </p:nvSpPr>
        <p:spPr/>
        <p:txBody>
          <a:bodyPr>
            <a:normAutofit/>
          </a:bodyPr>
          <a:lstStyle/>
          <a:p>
            <a:r>
              <a:rPr lang="en-US" dirty="0"/>
              <a:t>Le </a:t>
            </a:r>
            <a:r>
              <a:rPr lang="en-US" dirty="0" err="1"/>
              <a:t>entità</a:t>
            </a:r>
            <a:r>
              <a:rPr lang="en-US" dirty="0"/>
              <a:t> </a:t>
            </a:r>
            <a:r>
              <a:rPr lang="en-US" dirty="0" err="1"/>
              <a:t>sono</a:t>
            </a:r>
            <a:r>
              <a:rPr lang="en-US" dirty="0"/>
              <a:t> </a:t>
            </a:r>
            <a:r>
              <a:rPr lang="en-US" dirty="0" err="1"/>
              <a:t>semplici</a:t>
            </a:r>
            <a:r>
              <a:rPr lang="en-US" dirty="0"/>
              <a:t> </a:t>
            </a:r>
            <a:r>
              <a:rPr lang="en-US" dirty="0" err="1"/>
              <a:t>classi</a:t>
            </a:r>
            <a:r>
              <a:rPr lang="en-US" dirty="0"/>
              <a:t> Java </a:t>
            </a:r>
          </a:p>
          <a:p>
            <a:r>
              <a:rPr lang="en-US" dirty="0" err="1"/>
              <a:t>Quando</a:t>
            </a:r>
            <a:r>
              <a:rPr lang="en-US" dirty="0"/>
              <a:t> </a:t>
            </a:r>
            <a:r>
              <a:rPr lang="en-US" dirty="0" err="1"/>
              <a:t>un'istanza</a:t>
            </a:r>
            <a:r>
              <a:rPr lang="en-US" dirty="0"/>
              <a:t> di una </a:t>
            </a:r>
            <a:r>
              <a:rPr lang="en-US" dirty="0" err="1"/>
              <a:t>entità</a:t>
            </a:r>
            <a:r>
              <a:rPr lang="en-US" dirty="0"/>
              <a:t> </a:t>
            </a:r>
            <a:r>
              <a:rPr lang="en-US" dirty="0" err="1"/>
              <a:t>è</a:t>
            </a:r>
            <a:r>
              <a:rPr lang="en-US" dirty="0"/>
              <a:t> sotto la </a:t>
            </a:r>
            <a:r>
              <a:rPr lang="en-US" dirty="0" err="1"/>
              <a:t>gestione</a:t>
            </a:r>
            <a:r>
              <a:rPr lang="en-US" dirty="0"/>
              <a:t> </a:t>
            </a:r>
            <a:r>
              <a:rPr lang="en-US" dirty="0" err="1"/>
              <a:t>dell'EntityManager</a:t>
            </a:r>
            <a:r>
              <a:rPr lang="en-US" dirty="0"/>
              <a:t> </a:t>
            </a:r>
            <a:r>
              <a:rPr lang="en-US" dirty="0" err="1"/>
              <a:t>diciamo</a:t>
            </a:r>
            <a:r>
              <a:rPr lang="en-US" dirty="0"/>
              <a:t> </a:t>
            </a:r>
            <a:r>
              <a:rPr lang="en-US" dirty="0" err="1"/>
              <a:t>che</a:t>
            </a:r>
            <a:r>
              <a:rPr lang="en-US" dirty="0"/>
              <a:t> </a:t>
            </a:r>
            <a:r>
              <a:rPr lang="en-US" dirty="0" err="1"/>
              <a:t>si</a:t>
            </a:r>
            <a:r>
              <a:rPr lang="en-US" dirty="0"/>
              <a:t> </a:t>
            </a:r>
            <a:r>
              <a:rPr lang="en-US" dirty="0" err="1"/>
              <a:t>trova</a:t>
            </a:r>
            <a:r>
              <a:rPr lang="en-US" dirty="0"/>
              <a:t> </a:t>
            </a:r>
            <a:r>
              <a:rPr lang="en-US" dirty="0" err="1"/>
              <a:t>nello</a:t>
            </a:r>
            <a:r>
              <a:rPr lang="en-US" dirty="0"/>
              <a:t> </a:t>
            </a:r>
            <a:r>
              <a:rPr lang="en-US" dirty="0" err="1"/>
              <a:t>stato</a:t>
            </a:r>
            <a:r>
              <a:rPr lang="en-US" dirty="0"/>
              <a:t> </a:t>
            </a:r>
            <a:r>
              <a:rPr lang="en-US" b="1" dirty="0"/>
              <a:t>managed</a:t>
            </a:r>
            <a:r>
              <a:rPr lang="en-US" dirty="0"/>
              <a:t> (o attached, </a:t>
            </a:r>
            <a:r>
              <a:rPr lang="en-US" dirty="0" err="1"/>
              <a:t>usando</a:t>
            </a:r>
            <a:r>
              <a:rPr lang="en-US" dirty="0"/>
              <a:t> </a:t>
            </a:r>
            <a:r>
              <a:rPr lang="en-US" dirty="0" err="1"/>
              <a:t>l'iniziale</a:t>
            </a:r>
            <a:r>
              <a:rPr lang="en-US" dirty="0"/>
              <a:t>  </a:t>
            </a:r>
            <a:r>
              <a:rPr lang="en-US" dirty="0" err="1"/>
              <a:t>terminologia</a:t>
            </a:r>
            <a:r>
              <a:rPr lang="en-US" dirty="0"/>
              <a:t> Hibernate)</a:t>
            </a:r>
          </a:p>
          <a:p>
            <a:r>
              <a:rPr lang="en-US" dirty="0" err="1"/>
              <a:t>Quando</a:t>
            </a:r>
            <a:r>
              <a:rPr lang="en-US" dirty="0"/>
              <a:t> un </a:t>
            </a:r>
            <a:r>
              <a:rPr lang="en-US" dirty="0" err="1"/>
              <a:t>oggetto</a:t>
            </a:r>
            <a:r>
              <a:rPr lang="en-US" dirty="0"/>
              <a:t> </a:t>
            </a:r>
            <a:r>
              <a:rPr lang="en-US" dirty="0" err="1"/>
              <a:t>è</a:t>
            </a:r>
            <a:r>
              <a:rPr lang="en-US" dirty="0"/>
              <a:t> </a:t>
            </a:r>
            <a:r>
              <a:rPr lang="en-US" dirty="0" err="1"/>
              <a:t>gestito</a:t>
            </a:r>
            <a:r>
              <a:rPr lang="en-US" dirty="0"/>
              <a:t> </a:t>
            </a:r>
            <a:r>
              <a:rPr lang="en-US" dirty="0" err="1"/>
              <a:t>dall'EntityManager</a:t>
            </a:r>
            <a:r>
              <a:rPr lang="en-US" dirty="0"/>
              <a:t> ha una </a:t>
            </a:r>
            <a:r>
              <a:rPr lang="en-US" dirty="0" err="1"/>
              <a:t>identità</a:t>
            </a:r>
            <a:r>
              <a:rPr lang="en-US" dirty="0"/>
              <a:t> </a:t>
            </a:r>
            <a:r>
              <a:rPr lang="en-US" dirty="0" err="1"/>
              <a:t>persistente</a:t>
            </a:r>
            <a:r>
              <a:rPr lang="en-US" dirty="0"/>
              <a:t> e </a:t>
            </a:r>
            <a:r>
              <a:rPr lang="en-US" dirty="0" err="1"/>
              <a:t>il</a:t>
            </a:r>
            <a:r>
              <a:rPr lang="en-US" dirty="0"/>
              <a:t> </a:t>
            </a:r>
            <a:r>
              <a:rPr lang="en-US" dirty="0" err="1"/>
              <a:t>suo</a:t>
            </a:r>
            <a:r>
              <a:rPr lang="en-US" dirty="0"/>
              <a:t> </a:t>
            </a:r>
            <a:r>
              <a:rPr lang="en-US" dirty="0" err="1"/>
              <a:t>stato</a:t>
            </a:r>
            <a:r>
              <a:rPr lang="en-US" dirty="0"/>
              <a:t> in </a:t>
            </a:r>
            <a:r>
              <a:rPr lang="en-US" dirty="0" err="1"/>
              <a:t>memoria</a:t>
            </a:r>
            <a:r>
              <a:rPr lang="en-US" dirty="0"/>
              <a:t> </a:t>
            </a:r>
            <a:r>
              <a:rPr lang="en-US" dirty="0" err="1"/>
              <a:t>centrale</a:t>
            </a:r>
            <a:r>
              <a:rPr lang="en-US" dirty="0"/>
              <a:t> </a:t>
            </a:r>
            <a:r>
              <a:rPr lang="en-US" dirty="0" err="1"/>
              <a:t>è</a:t>
            </a:r>
            <a:r>
              <a:rPr lang="en-US" dirty="0"/>
              <a:t> </a:t>
            </a:r>
            <a:r>
              <a:rPr lang="en-US" dirty="0" err="1"/>
              <a:t>sincronizzato</a:t>
            </a:r>
            <a:r>
              <a:rPr lang="en-US" dirty="0"/>
              <a:t> con </a:t>
            </a:r>
            <a:r>
              <a:rPr lang="en-US" dirty="0" err="1"/>
              <a:t>il</a:t>
            </a:r>
            <a:r>
              <a:rPr lang="en-US" dirty="0"/>
              <a:t> database</a:t>
            </a:r>
          </a:p>
          <a:p>
            <a:r>
              <a:rPr lang="en-US" dirty="0"/>
              <a:t>Le </a:t>
            </a:r>
            <a:r>
              <a:rPr lang="en-US" dirty="0" err="1"/>
              <a:t>istanze</a:t>
            </a:r>
            <a:r>
              <a:rPr lang="en-US" dirty="0"/>
              <a:t> </a:t>
            </a:r>
            <a:r>
              <a:rPr lang="en-US" dirty="0" err="1"/>
              <a:t>delle</a:t>
            </a:r>
            <a:r>
              <a:rPr lang="en-US" dirty="0"/>
              <a:t> </a:t>
            </a:r>
            <a:r>
              <a:rPr lang="en-US" dirty="0" err="1"/>
              <a:t>entità</a:t>
            </a:r>
            <a:r>
              <a:rPr lang="en-US" dirty="0"/>
              <a:t> </a:t>
            </a:r>
            <a:r>
              <a:rPr lang="en-US" dirty="0" err="1"/>
              <a:t>hanno</a:t>
            </a:r>
            <a:r>
              <a:rPr lang="en-US" dirty="0"/>
              <a:t>  </a:t>
            </a:r>
            <a:r>
              <a:rPr lang="en-US" dirty="0" err="1"/>
              <a:t>quindi</a:t>
            </a:r>
            <a:r>
              <a:rPr lang="en-US" dirty="0"/>
              <a:t> un "</a:t>
            </a:r>
            <a:r>
              <a:rPr lang="en-US" dirty="0" err="1"/>
              <a:t>ciclo</a:t>
            </a:r>
            <a:r>
              <a:rPr lang="en-US" dirty="0"/>
              <a:t> di vita"</a:t>
            </a:r>
          </a:p>
        </p:txBody>
      </p:sp>
    </p:spTree>
    <p:extLst>
      <p:ext uri="{BB962C8B-B14F-4D97-AF65-F5344CB8AC3E}">
        <p14:creationId xmlns:p14="http://schemas.microsoft.com/office/powerpoint/2010/main" val="3366424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olo 1"/>
          <p:cNvSpPr>
            <a:spLocks noGrp="1"/>
          </p:cNvSpPr>
          <p:nvPr>
            <p:ph type="title"/>
          </p:nvPr>
        </p:nvSpPr>
        <p:spPr/>
        <p:txBody>
          <a:bodyPr>
            <a:normAutofit/>
          </a:bodyPr>
          <a:lstStyle/>
          <a:p>
            <a:r>
              <a:rPr lang="it-IT" dirty="0"/>
              <a:t>Ciclo di vita delle entità</a:t>
            </a:r>
          </a:p>
        </p:txBody>
      </p:sp>
      <p:pic>
        <p:nvPicPr>
          <p:cNvPr id="14339" name="Picture 2" descr="http://www.objectdb.com/files/images/manual/jpa-states.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335882" y="1600201"/>
            <a:ext cx="6665119" cy="2403872"/>
          </a:xfrm>
          <a:noFill/>
        </p:spPr>
      </p:pic>
      <p:sp>
        <p:nvSpPr>
          <p:cNvPr id="2" name="CasellaDiTesto 1">
            <a:extLst>
              <a:ext uri="{FF2B5EF4-FFF2-40B4-BE49-F238E27FC236}">
                <a16:creationId xmlns:a16="http://schemas.microsoft.com/office/drawing/2014/main" id="{875636B3-8EEF-DE43-98E5-C41010771489}"/>
              </a:ext>
            </a:extLst>
          </p:cNvPr>
          <p:cNvSpPr txBox="1"/>
          <p:nvPr/>
        </p:nvSpPr>
        <p:spPr>
          <a:xfrm>
            <a:off x="1485900" y="4069080"/>
            <a:ext cx="5206938" cy="923330"/>
          </a:xfrm>
          <a:prstGeom prst="rect">
            <a:avLst/>
          </a:prstGeom>
          <a:noFill/>
        </p:spPr>
        <p:txBody>
          <a:bodyPr wrap="none" rtlCol="0">
            <a:spAutoFit/>
          </a:bodyPr>
          <a:lstStyle/>
          <a:p>
            <a:pPr marL="257175" indent="-257175">
              <a:buFont typeface="Arial" panose="020B0604020202020204" pitchFamily="34" charset="0"/>
              <a:buChar char="•"/>
            </a:pPr>
            <a:r>
              <a:rPr lang="it-IT" dirty="0">
                <a:latin typeface="Calibri Light" panose="020F0302020204030204" pitchFamily="34" charset="0"/>
              </a:rPr>
              <a:t>Ogni ellisse rappresenta uno stato</a:t>
            </a:r>
          </a:p>
          <a:p>
            <a:pPr marL="257175" indent="-257175">
              <a:buFont typeface="Arial" panose="020B0604020202020204" pitchFamily="34" charset="0"/>
              <a:buChar char="•"/>
            </a:pPr>
            <a:r>
              <a:rPr lang="it-IT" dirty="0">
                <a:latin typeface="Calibri Light" panose="020F0302020204030204" pitchFamily="34" charset="0"/>
              </a:rPr>
              <a:t>Ogni freccia rappresenta un evento che determina </a:t>
            </a:r>
            <a:br>
              <a:rPr lang="it-IT" dirty="0">
                <a:latin typeface="Calibri Light" panose="020F0302020204030204" pitchFamily="34" charset="0"/>
              </a:rPr>
            </a:br>
            <a:r>
              <a:rPr lang="it-IT" dirty="0">
                <a:latin typeface="Calibri Light" panose="020F0302020204030204" pitchFamily="34" charset="0"/>
              </a:rPr>
              <a:t>un cambiamento di stato</a:t>
            </a:r>
          </a:p>
        </p:txBody>
      </p:sp>
    </p:spTree>
    <p:extLst>
      <p:ext uri="{BB962C8B-B14F-4D97-AF65-F5344CB8AC3E}">
        <p14:creationId xmlns:p14="http://schemas.microsoft.com/office/powerpoint/2010/main" val="3510711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olo 1"/>
          <p:cNvSpPr>
            <a:spLocks noGrp="1"/>
          </p:cNvSpPr>
          <p:nvPr>
            <p:ph type="title"/>
          </p:nvPr>
        </p:nvSpPr>
        <p:spPr/>
        <p:txBody>
          <a:bodyPr>
            <a:normAutofit/>
          </a:bodyPr>
          <a:lstStyle/>
          <a:p>
            <a:r>
              <a:rPr lang="it-IT" dirty="0"/>
              <a:t>Ciclo di vita delle entità</a:t>
            </a:r>
          </a:p>
        </p:txBody>
      </p:sp>
      <p:sp>
        <p:nvSpPr>
          <p:cNvPr id="2" name="Segnaposto contenuto 1">
            <a:extLst>
              <a:ext uri="{FF2B5EF4-FFF2-40B4-BE49-F238E27FC236}">
                <a16:creationId xmlns:a16="http://schemas.microsoft.com/office/drawing/2014/main" id="{F6085C26-A505-584D-B8BE-07E60C4545BF}"/>
              </a:ext>
            </a:extLst>
          </p:cNvPr>
          <p:cNvSpPr>
            <a:spLocks noGrp="1"/>
          </p:cNvSpPr>
          <p:nvPr>
            <p:ph idx="1"/>
          </p:nvPr>
        </p:nvSpPr>
        <p:spPr/>
        <p:txBody>
          <a:bodyPr/>
          <a:lstStyle/>
          <a:p>
            <a:r>
              <a:rPr lang="en-US" dirty="0"/>
              <a:t>Un </a:t>
            </a:r>
            <a:r>
              <a:rPr lang="en-US" dirty="0" err="1"/>
              <a:t>oggetto</a:t>
            </a:r>
            <a:r>
              <a:rPr lang="en-US" dirty="0"/>
              <a:t> </a:t>
            </a:r>
            <a:r>
              <a:rPr lang="en-US" dirty="0" err="1"/>
              <a:t>appena</a:t>
            </a:r>
            <a:r>
              <a:rPr lang="en-US" dirty="0"/>
              <a:t> </a:t>
            </a:r>
            <a:r>
              <a:rPr lang="en-US" dirty="0" err="1"/>
              <a:t>creato</a:t>
            </a:r>
            <a:r>
              <a:rPr lang="en-US" dirty="0"/>
              <a:t> con </a:t>
            </a:r>
            <a:r>
              <a:rPr lang="en-US" dirty="0" err="1"/>
              <a:t>l'operatore</a:t>
            </a:r>
            <a:r>
              <a:rPr lang="en-US" dirty="0"/>
              <a:t> Java new </a:t>
            </a:r>
            <a:r>
              <a:rPr lang="en-US" dirty="0" err="1"/>
              <a:t>si</a:t>
            </a:r>
            <a:r>
              <a:rPr lang="en-US" dirty="0"/>
              <a:t> </a:t>
            </a:r>
            <a:r>
              <a:rPr lang="en-US" dirty="0" err="1"/>
              <a:t>trova</a:t>
            </a:r>
            <a:r>
              <a:rPr lang="en-US" dirty="0"/>
              <a:t> </a:t>
            </a:r>
            <a:r>
              <a:rPr lang="en-US" dirty="0" err="1"/>
              <a:t>nello</a:t>
            </a:r>
            <a:r>
              <a:rPr lang="en-US" dirty="0"/>
              <a:t> </a:t>
            </a:r>
            <a:r>
              <a:rPr lang="en-US" dirty="0" err="1"/>
              <a:t>stato</a:t>
            </a:r>
            <a:r>
              <a:rPr lang="en-US" dirty="0"/>
              <a:t> "</a:t>
            </a:r>
            <a:r>
              <a:rPr lang="en-US" b="1" dirty="0"/>
              <a:t>New</a:t>
            </a:r>
            <a:r>
              <a:rPr lang="en-US" dirty="0"/>
              <a:t>": </a:t>
            </a:r>
          </a:p>
          <a:p>
            <a:pPr lvl="1"/>
            <a:r>
              <a:rPr lang="en-US" dirty="0" err="1"/>
              <a:t>si</a:t>
            </a:r>
            <a:r>
              <a:rPr lang="en-US" dirty="0"/>
              <a:t> </a:t>
            </a:r>
            <a:r>
              <a:rPr lang="en-US" dirty="0" err="1"/>
              <a:t>trova</a:t>
            </a:r>
            <a:r>
              <a:rPr lang="en-US" dirty="0"/>
              <a:t> solo in </a:t>
            </a:r>
            <a:r>
              <a:rPr lang="en-US" dirty="0" err="1"/>
              <a:t>memoria</a:t>
            </a:r>
            <a:r>
              <a:rPr lang="en-US" dirty="0"/>
              <a:t> </a:t>
            </a:r>
            <a:r>
              <a:rPr lang="en-US" dirty="0" err="1"/>
              <a:t>centrale</a:t>
            </a:r>
            <a:endParaRPr lang="en-US" dirty="0"/>
          </a:p>
        </p:txBody>
      </p:sp>
      <p:pic>
        <p:nvPicPr>
          <p:cNvPr id="5" name="Picture 2" descr="http://www.objectdb.com/files/images/manual/jpa-states.png">
            <a:extLst>
              <a:ext uri="{FF2B5EF4-FFF2-40B4-BE49-F238E27FC236}">
                <a16:creationId xmlns:a16="http://schemas.microsoft.com/office/drawing/2014/main" id="{F2D1FC43-EA79-AB47-B2C9-369423F0880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a:xfrm>
            <a:off x="2350008" y="3265225"/>
            <a:ext cx="5308092" cy="1905469"/>
          </a:xfrm>
          <a:prstGeom prst="rect">
            <a:avLst/>
          </a:prstGeom>
          <a:noFill/>
        </p:spPr>
      </p:pic>
      <p:sp>
        <p:nvSpPr>
          <p:cNvPr id="3" name="Rettangolo 2">
            <a:extLst>
              <a:ext uri="{FF2B5EF4-FFF2-40B4-BE49-F238E27FC236}">
                <a16:creationId xmlns:a16="http://schemas.microsoft.com/office/drawing/2014/main" id="{A91919E4-6DE3-F54E-A95F-4CC6156EDD97}"/>
              </a:ext>
            </a:extLst>
          </p:cNvPr>
          <p:cNvSpPr/>
          <p:nvPr/>
        </p:nvSpPr>
        <p:spPr>
          <a:xfrm>
            <a:off x="2386585" y="3409024"/>
            <a:ext cx="1699412" cy="671486"/>
          </a:xfrm>
          <a:prstGeom prst="rect">
            <a:avLst/>
          </a:prstGeom>
          <a:solidFill>
            <a:srgbClr val="FFFF00">
              <a:alpha val="47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latin typeface="Calibri Light" panose="020F0302020204030204" pitchFamily="34" charset="0"/>
            </a:endParaRPr>
          </a:p>
        </p:txBody>
      </p:sp>
    </p:spTree>
    <p:extLst>
      <p:ext uri="{BB962C8B-B14F-4D97-AF65-F5344CB8AC3E}">
        <p14:creationId xmlns:p14="http://schemas.microsoft.com/office/powerpoint/2010/main" val="1779591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olo 1"/>
          <p:cNvSpPr>
            <a:spLocks noGrp="1"/>
          </p:cNvSpPr>
          <p:nvPr>
            <p:ph type="title"/>
          </p:nvPr>
        </p:nvSpPr>
        <p:spPr/>
        <p:txBody>
          <a:bodyPr>
            <a:normAutofit/>
          </a:bodyPr>
          <a:lstStyle/>
          <a:p>
            <a:r>
              <a:rPr lang="it-IT" dirty="0"/>
              <a:t>Ciclo di vita delle entità</a:t>
            </a:r>
          </a:p>
        </p:txBody>
      </p:sp>
      <p:pic>
        <p:nvPicPr>
          <p:cNvPr id="6" name="Picture 2">
            <a:extLst>
              <a:ext uri="{FF2B5EF4-FFF2-40B4-BE49-F238E27FC236}">
                <a16:creationId xmlns:a16="http://schemas.microsoft.com/office/drawing/2014/main" id="{9F21B8DF-F87A-1C4B-BCA2-49C8FD297CB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a:xfrm>
            <a:off x="2350008" y="3265225"/>
            <a:ext cx="5308092" cy="1905469"/>
          </a:xfrm>
          <a:prstGeom prst="rect">
            <a:avLst/>
          </a:prstGeom>
          <a:noFill/>
        </p:spPr>
      </p:pic>
      <p:sp>
        <p:nvSpPr>
          <p:cNvPr id="2" name="Segnaposto contenuto 1">
            <a:extLst>
              <a:ext uri="{FF2B5EF4-FFF2-40B4-BE49-F238E27FC236}">
                <a16:creationId xmlns:a16="http://schemas.microsoft.com/office/drawing/2014/main" id="{F6085C26-A505-584D-B8BE-07E60C4545BF}"/>
              </a:ext>
            </a:extLst>
          </p:cNvPr>
          <p:cNvSpPr>
            <a:spLocks noGrp="1"/>
          </p:cNvSpPr>
          <p:nvPr>
            <p:ph idx="1"/>
          </p:nvPr>
        </p:nvSpPr>
        <p:spPr/>
        <p:txBody>
          <a:bodyPr/>
          <a:lstStyle/>
          <a:p>
            <a:r>
              <a:rPr lang="en-US" dirty="0"/>
              <a:t>Se </a:t>
            </a:r>
            <a:r>
              <a:rPr lang="en-US" dirty="0" err="1"/>
              <a:t>su</a:t>
            </a:r>
            <a:r>
              <a:rPr lang="en-US" dirty="0"/>
              <a:t> un </a:t>
            </a:r>
            <a:r>
              <a:rPr lang="en-US" dirty="0" err="1"/>
              <a:t>oggetto</a:t>
            </a:r>
            <a:r>
              <a:rPr lang="en-US" dirty="0"/>
              <a:t> </a:t>
            </a:r>
            <a:r>
              <a:rPr lang="en-US" dirty="0" err="1"/>
              <a:t>viene</a:t>
            </a:r>
            <a:r>
              <a:rPr lang="en-US" dirty="0"/>
              <a:t> </a:t>
            </a:r>
            <a:r>
              <a:rPr lang="en-US" dirty="0" err="1"/>
              <a:t>persistito</a:t>
            </a:r>
            <a:r>
              <a:rPr lang="en-US" dirty="0"/>
              <a:t>, </a:t>
            </a:r>
            <a:r>
              <a:rPr lang="en-US" dirty="0" err="1"/>
              <a:t>passa</a:t>
            </a:r>
            <a:r>
              <a:rPr lang="en-US" dirty="0"/>
              <a:t> </a:t>
            </a:r>
            <a:r>
              <a:rPr lang="en-US" dirty="0" err="1"/>
              <a:t>nello</a:t>
            </a:r>
            <a:r>
              <a:rPr lang="en-US" dirty="0"/>
              <a:t> </a:t>
            </a:r>
            <a:r>
              <a:rPr lang="en-US" dirty="0" err="1"/>
              <a:t>stato</a:t>
            </a:r>
            <a:r>
              <a:rPr lang="en-US" dirty="0"/>
              <a:t> </a:t>
            </a:r>
            <a:r>
              <a:rPr lang="en-US" b="1" dirty="0"/>
              <a:t>Managed</a:t>
            </a:r>
            <a:r>
              <a:rPr lang="en-US" dirty="0"/>
              <a:t>: </a:t>
            </a:r>
          </a:p>
          <a:p>
            <a:pPr lvl="1"/>
            <a:r>
              <a:rPr lang="en-US" dirty="0" err="1"/>
              <a:t>si</a:t>
            </a:r>
            <a:r>
              <a:rPr lang="en-US" dirty="0"/>
              <a:t> </a:t>
            </a:r>
            <a:r>
              <a:rPr lang="en-US" dirty="0" err="1"/>
              <a:t>trova</a:t>
            </a:r>
            <a:r>
              <a:rPr lang="en-US" dirty="0"/>
              <a:t> in </a:t>
            </a:r>
            <a:r>
              <a:rPr lang="en-US" dirty="0" err="1"/>
              <a:t>memoria</a:t>
            </a:r>
            <a:r>
              <a:rPr lang="en-US" dirty="0"/>
              <a:t> </a:t>
            </a:r>
            <a:r>
              <a:rPr lang="en-US" dirty="0" err="1"/>
              <a:t>centrale</a:t>
            </a:r>
            <a:endParaRPr lang="en-US" dirty="0"/>
          </a:p>
          <a:p>
            <a:pPr lvl="1"/>
            <a:r>
              <a:rPr lang="en-US" dirty="0"/>
              <a:t>una </a:t>
            </a:r>
            <a:r>
              <a:rPr lang="en-US" dirty="0" err="1"/>
              <a:t>sua</a:t>
            </a:r>
            <a:r>
              <a:rPr lang="en-US" dirty="0"/>
              <a:t> </a:t>
            </a:r>
            <a:r>
              <a:rPr lang="en-US" dirty="0" err="1"/>
              <a:t>copia</a:t>
            </a:r>
            <a:r>
              <a:rPr lang="en-US" dirty="0"/>
              <a:t> </a:t>
            </a:r>
            <a:r>
              <a:rPr lang="en-US" dirty="0" err="1"/>
              <a:t>è</a:t>
            </a:r>
            <a:r>
              <a:rPr lang="en-US" dirty="0"/>
              <a:t> </a:t>
            </a:r>
            <a:r>
              <a:rPr lang="en-US" dirty="0" err="1"/>
              <a:t>memorizzata</a:t>
            </a:r>
            <a:r>
              <a:rPr lang="en-US" dirty="0"/>
              <a:t> </a:t>
            </a:r>
            <a:r>
              <a:rPr lang="en-US" dirty="0" err="1"/>
              <a:t>anche</a:t>
            </a:r>
            <a:r>
              <a:rPr lang="en-US" dirty="0"/>
              <a:t> </a:t>
            </a:r>
            <a:r>
              <a:rPr lang="en-US" dirty="0" err="1"/>
              <a:t>nel</a:t>
            </a:r>
            <a:r>
              <a:rPr lang="en-US" dirty="0"/>
              <a:t> </a:t>
            </a:r>
            <a:r>
              <a:rPr lang="en-US" dirty="0" err="1"/>
              <a:t>db</a:t>
            </a:r>
            <a:r>
              <a:rPr lang="en-US" dirty="0"/>
              <a:t> (</a:t>
            </a:r>
            <a:r>
              <a:rPr lang="en-US" dirty="0" err="1"/>
              <a:t>oggetto</a:t>
            </a:r>
            <a:r>
              <a:rPr lang="en-US" dirty="0"/>
              <a:t> in </a:t>
            </a:r>
            <a:r>
              <a:rPr lang="en-US" dirty="0" err="1"/>
              <a:t>memoria</a:t>
            </a:r>
            <a:r>
              <a:rPr lang="en-US" dirty="0"/>
              <a:t> e </a:t>
            </a:r>
            <a:r>
              <a:rPr lang="en-US" dirty="0" err="1"/>
              <a:t>tupla</a:t>
            </a:r>
            <a:r>
              <a:rPr lang="en-US" dirty="0"/>
              <a:t> del </a:t>
            </a:r>
            <a:r>
              <a:rPr lang="en-US" dirty="0" err="1"/>
              <a:t>db</a:t>
            </a:r>
            <a:r>
              <a:rPr lang="en-US" dirty="0"/>
              <a:t> </a:t>
            </a:r>
            <a:r>
              <a:rPr lang="en-US" dirty="0" err="1"/>
              <a:t>sono</a:t>
            </a:r>
            <a:r>
              <a:rPr lang="en-US" dirty="0"/>
              <a:t> </a:t>
            </a:r>
            <a:r>
              <a:rPr lang="en-US" dirty="0" err="1"/>
              <a:t>sincronizzate</a:t>
            </a:r>
            <a:r>
              <a:rPr lang="en-US" dirty="0"/>
              <a:t>) </a:t>
            </a:r>
          </a:p>
        </p:txBody>
      </p:sp>
      <p:sp>
        <p:nvSpPr>
          <p:cNvPr id="7" name="Rettangolo 6">
            <a:extLst>
              <a:ext uri="{FF2B5EF4-FFF2-40B4-BE49-F238E27FC236}">
                <a16:creationId xmlns:a16="http://schemas.microsoft.com/office/drawing/2014/main" id="{EABCE85A-29EC-9A43-B981-FC994E1E7E73}"/>
              </a:ext>
            </a:extLst>
          </p:cNvPr>
          <p:cNvSpPr/>
          <p:nvPr/>
        </p:nvSpPr>
        <p:spPr>
          <a:xfrm>
            <a:off x="4059937" y="3345016"/>
            <a:ext cx="1699412" cy="671486"/>
          </a:xfrm>
          <a:prstGeom prst="rect">
            <a:avLst/>
          </a:prstGeom>
          <a:solidFill>
            <a:srgbClr val="FFFF00">
              <a:alpha val="47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latin typeface="Calibri Light" panose="020F0302020204030204" pitchFamily="34" charset="0"/>
            </a:endParaRPr>
          </a:p>
        </p:txBody>
      </p:sp>
    </p:spTree>
    <p:extLst>
      <p:ext uri="{BB962C8B-B14F-4D97-AF65-F5344CB8AC3E}">
        <p14:creationId xmlns:p14="http://schemas.microsoft.com/office/powerpoint/2010/main" val="2760129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olo 1"/>
          <p:cNvSpPr>
            <a:spLocks noGrp="1"/>
          </p:cNvSpPr>
          <p:nvPr>
            <p:ph type="title"/>
          </p:nvPr>
        </p:nvSpPr>
        <p:spPr/>
        <p:txBody>
          <a:bodyPr>
            <a:normAutofit/>
          </a:bodyPr>
          <a:lstStyle/>
          <a:p>
            <a:r>
              <a:rPr lang="it-IT" dirty="0"/>
              <a:t>Ciclo di vita delle entità</a:t>
            </a:r>
          </a:p>
        </p:txBody>
      </p:sp>
      <p:sp>
        <p:nvSpPr>
          <p:cNvPr id="2" name="Segnaposto contenuto 1">
            <a:extLst>
              <a:ext uri="{FF2B5EF4-FFF2-40B4-BE49-F238E27FC236}">
                <a16:creationId xmlns:a16="http://schemas.microsoft.com/office/drawing/2014/main" id="{F6085C26-A505-584D-B8BE-07E60C4545BF}"/>
              </a:ext>
            </a:extLst>
          </p:cNvPr>
          <p:cNvSpPr>
            <a:spLocks noGrp="1"/>
          </p:cNvSpPr>
          <p:nvPr>
            <p:ph idx="1"/>
          </p:nvPr>
        </p:nvSpPr>
        <p:spPr/>
        <p:txBody>
          <a:bodyPr/>
          <a:lstStyle/>
          <a:p>
            <a:r>
              <a:rPr lang="en-US" dirty="0"/>
              <a:t>Un </a:t>
            </a:r>
            <a:r>
              <a:rPr lang="en-US" dirty="0" err="1"/>
              <a:t>oggetto</a:t>
            </a:r>
            <a:r>
              <a:rPr lang="en-US" dirty="0"/>
              <a:t> </a:t>
            </a:r>
            <a:r>
              <a:rPr lang="en-US" dirty="0" err="1"/>
              <a:t>creato</a:t>
            </a:r>
            <a:r>
              <a:rPr lang="en-US" dirty="0"/>
              <a:t> </a:t>
            </a:r>
            <a:r>
              <a:rPr lang="en-US" dirty="0" err="1"/>
              <a:t>recuperandone</a:t>
            </a:r>
            <a:r>
              <a:rPr lang="en-US" dirty="0"/>
              <a:t> la </a:t>
            </a:r>
            <a:r>
              <a:rPr lang="en-US" dirty="0" err="1"/>
              <a:t>copia</a:t>
            </a:r>
            <a:r>
              <a:rPr lang="en-US" dirty="0"/>
              <a:t> </a:t>
            </a:r>
            <a:r>
              <a:rPr lang="en-US" dirty="0" err="1"/>
              <a:t>persistita</a:t>
            </a:r>
            <a:r>
              <a:rPr lang="en-US" dirty="0"/>
              <a:t> </a:t>
            </a:r>
            <a:r>
              <a:rPr lang="en-US" dirty="0" err="1"/>
              <a:t>nel</a:t>
            </a:r>
            <a:r>
              <a:rPr lang="en-US" dirty="0"/>
              <a:t> </a:t>
            </a:r>
            <a:r>
              <a:rPr lang="en-US" dirty="0" err="1"/>
              <a:t>db</a:t>
            </a:r>
            <a:r>
              <a:rPr lang="en-US" dirty="0"/>
              <a:t> </a:t>
            </a:r>
            <a:r>
              <a:rPr lang="en-US" dirty="0" err="1"/>
              <a:t>si</a:t>
            </a:r>
            <a:r>
              <a:rPr lang="en-US" dirty="0"/>
              <a:t> </a:t>
            </a:r>
            <a:r>
              <a:rPr lang="en-US" dirty="0" err="1"/>
              <a:t>trova</a:t>
            </a:r>
            <a:r>
              <a:rPr lang="en-US" dirty="0"/>
              <a:t> </a:t>
            </a:r>
            <a:r>
              <a:rPr lang="en-US" dirty="0" err="1"/>
              <a:t>nello</a:t>
            </a:r>
            <a:r>
              <a:rPr lang="en-US" dirty="0"/>
              <a:t> </a:t>
            </a:r>
            <a:r>
              <a:rPr lang="en-US" dirty="0" err="1"/>
              <a:t>stato</a:t>
            </a:r>
            <a:r>
              <a:rPr lang="en-US" dirty="0"/>
              <a:t> Managed:</a:t>
            </a:r>
          </a:p>
          <a:p>
            <a:pPr lvl="1"/>
            <a:r>
              <a:rPr lang="en-US" dirty="0" err="1"/>
              <a:t>si</a:t>
            </a:r>
            <a:r>
              <a:rPr lang="en-US" dirty="0"/>
              <a:t> </a:t>
            </a:r>
            <a:r>
              <a:rPr lang="en-US" dirty="0" err="1"/>
              <a:t>trova</a:t>
            </a:r>
            <a:r>
              <a:rPr lang="en-US" dirty="0"/>
              <a:t> in </a:t>
            </a:r>
            <a:r>
              <a:rPr lang="en-US" dirty="0" err="1"/>
              <a:t>memoria</a:t>
            </a:r>
            <a:r>
              <a:rPr lang="en-US" dirty="0"/>
              <a:t> </a:t>
            </a:r>
            <a:r>
              <a:rPr lang="en-US" dirty="0" err="1"/>
              <a:t>centrale</a:t>
            </a:r>
            <a:r>
              <a:rPr lang="en-US" dirty="0"/>
              <a:t> </a:t>
            </a:r>
          </a:p>
          <a:p>
            <a:pPr lvl="1"/>
            <a:r>
              <a:rPr lang="en-US" dirty="0"/>
              <a:t>una </a:t>
            </a:r>
            <a:r>
              <a:rPr lang="en-US" dirty="0" err="1"/>
              <a:t>sua</a:t>
            </a:r>
            <a:r>
              <a:rPr lang="en-US" dirty="0"/>
              <a:t> </a:t>
            </a:r>
            <a:r>
              <a:rPr lang="en-US" dirty="0" err="1"/>
              <a:t>copia</a:t>
            </a:r>
            <a:r>
              <a:rPr lang="en-US" dirty="0"/>
              <a:t> </a:t>
            </a:r>
            <a:r>
              <a:rPr lang="en-US" dirty="0" err="1"/>
              <a:t>è</a:t>
            </a:r>
            <a:r>
              <a:rPr lang="en-US" dirty="0"/>
              <a:t> </a:t>
            </a:r>
            <a:r>
              <a:rPr lang="en-US" dirty="0" err="1"/>
              <a:t>memorizzata</a:t>
            </a:r>
            <a:r>
              <a:rPr lang="en-US" dirty="0"/>
              <a:t> </a:t>
            </a:r>
            <a:r>
              <a:rPr lang="en-US" dirty="0" err="1"/>
              <a:t>anche</a:t>
            </a:r>
            <a:r>
              <a:rPr lang="en-US" dirty="0"/>
              <a:t> </a:t>
            </a:r>
            <a:r>
              <a:rPr lang="en-US" dirty="0" err="1"/>
              <a:t>nel</a:t>
            </a:r>
            <a:r>
              <a:rPr lang="en-US" dirty="0"/>
              <a:t> </a:t>
            </a:r>
            <a:r>
              <a:rPr lang="en-US" dirty="0" err="1"/>
              <a:t>db</a:t>
            </a:r>
            <a:r>
              <a:rPr lang="en-US" dirty="0"/>
              <a:t> (</a:t>
            </a:r>
            <a:r>
              <a:rPr lang="en-US" dirty="0" err="1"/>
              <a:t>oggetto</a:t>
            </a:r>
            <a:r>
              <a:rPr lang="en-US" dirty="0"/>
              <a:t> in </a:t>
            </a:r>
            <a:r>
              <a:rPr lang="en-US" dirty="0" err="1"/>
              <a:t>memoria</a:t>
            </a:r>
            <a:r>
              <a:rPr lang="en-US" dirty="0"/>
              <a:t> e </a:t>
            </a:r>
            <a:r>
              <a:rPr lang="en-US" dirty="0" err="1"/>
              <a:t>tupla</a:t>
            </a:r>
            <a:r>
              <a:rPr lang="en-US" dirty="0"/>
              <a:t> del </a:t>
            </a:r>
            <a:r>
              <a:rPr lang="en-US" dirty="0" err="1"/>
              <a:t>db</a:t>
            </a:r>
            <a:r>
              <a:rPr lang="en-US" dirty="0"/>
              <a:t> </a:t>
            </a:r>
            <a:r>
              <a:rPr lang="en-US" dirty="0" err="1"/>
              <a:t>sono</a:t>
            </a:r>
            <a:r>
              <a:rPr lang="en-US" dirty="0"/>
              <a:t> </a:t>
            </a:r>
            <a:r>
              <a:rPr lang="en-US" dirty="0" err="1"/>
              <a:t>sincronizzate</a:t>
            </a:r>
            <a:endParaRPr lang="en-US" dirty="0"/>
          </a:p>
        </p:txBody>
      </p:sp>
      <p:pic>
        <p:nvPicPr>
          <p:cNvPr id="6" name="Picture 2">
            <a:extLst>
              <a:ext uri="{FF2B5EF4-FFF2-40B4-BE49-F238E27FC236}">
                <a16:creationId xmlns:a16="http://schemas.microsoft.com/office/drawing/2014/main" id="{13F18C2F-091A-964A-AF9D-D63F71CB9A0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a:xfrm>
            <a:off x="2350008" y="3265225"/>
            <a:ext cx="5308092" cy="1905469"/>
          </a:xfrm>
          <a:prstGeom prst="rect">
            <a:avLst/>
          </a:prstGeom>
          <a:noFill/>
        </p:spPr>
      </p:pic>
      <p:sp>
        <p:nvSpPr>
          <p:cNvPr id="7" name="Rettangolo 6">
            <a:extLst>
              <a:ext uri="{FF2B5EF4-FFF2-40B4-BE49-F238E27FC236}">
                <a16:creationId xmlns:a16="http://schemas.microsoft.com/office/drawing/2014/main" id="{1FA5BD17-9A65-0A4F-A29E-5F86D8B0DDF1}"/>
              </a:ext>
            </a:extLst>
          </p:cNvPr>
          <p:cNvSpPr/>
          <p:nvPr/>
        </p:nvSpPr>
        <p:spPr>
          <a:xfrm>
            <a:off x="4697077" y="3409024"/>
            <a:ext cx="1699412" cy="671486"/>
          </a:xfrm>
          <a:prstGeom prst="rect">
            <a:avLst/>
          </a:prstGeom>
          <a:solidFill>
            <a:srgbClr val="FFFF00">
              <a:alpha val="47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latin typeface="Calibri Light" panose="020F0302020204030204" pitchFamily="34" charset="0"/>
            </a:endParaRPr>
          </a:p>
        </p:txBody>
      </p:sp>
    </p:spTree>
    <p:extLst>
      <p:ext uri="{BB962C8B-B14F-4D97-AF65-F5344CB8AC3E}">
        <p14:creationId xmlns:p14="http://schemas.microsoft.com/office/powerpoint/2010/main" val="3015478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olo 1"/>
          <p:cNvSpPr>
            <a:spLocks noGrp="1"/>
          </p:cNvSpPr>
          <p:nvPr>
            <p:ph type="title"/>
          </p:nvPr>
        </p:nvSpPr>
        <p:spPr/>
        <p:txBody>
          <a:bodyPr>
            <a:normAutofit/>
          </a:bodyPr>
          <a:lstStyle/>
          <a:p>
            <a:r>
              <a:rPr lang="it-IT" dirty="0"/>
              <a:t>Ciclo di vita delle entità</a:t>
            </a:r>
          </a:p>
        </p:txBody>
      </p:sp>
      <p:sp>
        <p:nvSpPr>
          <p:cNvPr id="2" name="Segnaposto contenuto 1">
            <a:extLst>
              <a:ext uri="{FF2B5EF4-FFF2-40B4-BE49-F238E27FC236}">
                <a16:creationId xmlns:a16="http://schemas.microsoft.com/office/drawing/2014/main" id="{F6085C26-A505-584D-B8BE-07E60C4545BF}"/>
              </a:ext>
            </a:extLst>
          </p:cNvPr>
          <p:cNvSpPr>
            <a:spLocks noGrp="1"/>
          </p:cNvSpPr>
          <p:nvPr>
            <p:ph idx="1"/>
          </p:nvPr>
        </p:nvSpPr>
        <p:spPr/>
        <p:txBody>
          <a:bodyPr/>
          <a:lstStyle/>
          <a:p>
            <a:r>
              <a:rPr lang="en-US" dirty="0"/>
              <a:t>Un </a:t>
            </a:r>
            <a:r>
              <a:rPr lang="en-US" dirty="0" err="1"/>
              <a:t>oggetto</a:t>
            </a:r>
            <a:r>
              <a:rPr lang="en-US" dirty="0"/>
              <a:t> </a:t>
            </a:r>
            <a:r>
              <a:rPr lang="en-US" dirty="0" err="1"/>
              <a:t>rimosso</a:t>
            </a:r>
            <a:r>
              <a:rPr lang="en-US" dirty="0"/>
              <a:t> dal </a:t>
            </a:r>
            <a:r>
              <a:rPr lang="en-US" dirty="0" err="1"/>
              <a:t>db</a:t>
            </a:r>
            <a:r>
              <a:rPr lang="en-US" dirty="0"/>
              <a:t> </a:t>
            </a:r>
            <a:r>
              <a:rPr lang="en-US" dirty="0" err="1"/>
              <a:t>si</a:t>
            </a:r>
            <a:r>
              <a:rPr lang="en-US" dirty="0"/>
              <a:t> </a:t>
            </a:r>
            <a:r>
              <a:rPr lang="en-US" dirty="0" err="1"/>
              <a:t>trova</a:t>
            </a:r>
            <a:r>
              <a:rPr lang="en-US" dirty="0"/>
              <a:t> </a:t>
            </a:r>
            <a:r>
              <a:rPr lang="en-US" dirty="0" err="1"/>
              <a:t>nello</a:t>
            </a:r>
            <a:r>
              <a:rPr lang="en-US" dirty="0"/>
              <a:t> </a:t>
            </a:r>
            <a:r>
              <a:rPr lang="en-US" dirty="0" err="1"/>
              <a:t>stato</a:t>
            </a:r>
            <a:r>
              <a:rPr lang="en-US" dirty="0"/>
              <a:t> Removed: </a:t>
            </a:r>
          </a:p>
          <a:p>
            <a:pPr lvl="1"/>
            <a:r>
              <a:rPr lang="en-US" dirty="0" err="1"/>
              <a:t>si</a:t>
            </a:r>
            <a:r>
              <a:rPr lang="en-US" dirty="0"/>
              <a:t> </a:t>
            </a:r>
            <a:r>
              <a:rPr lang="en-US" dirty="0" err="1"/>
              <a:t>trova</a:t>
            </a:r>
            <a:r>
              <a:rPr lang="en-US" dirty="0"/>
              <a:t> in </a:t>
            </a:r>
            <a:r>
              <a:rPr lang="en-US" dirty="0" err="1"/>
              <a:t>memoria</a:t>
            </a:r>
            <a:r>
              <a:rPr lang="en-US" dirty="0"/>
              <a:t> </a:t>
            </a:r>
            <a:r>
              <a:rPr lang="en-US" dirty="0" err="1"/>
              <a:t>centrale</a:t>
            </a:r>
            <a:r>
              <a:rPr lang="en-US" dirty="0"/>
              <a:t>, la </a:t>
            </a:r>
            <a:r>
              <a:rPr lang="en-US" dirty="0" err="1"/>
              <a:t>sua</a:t>
            </a:r>
            <a:r>
              <a:rPr lang="en-US" dirty="0"/>
              <a:t> </a:t>
            </a:r>
            <a:r>
              <a:rPr lang="en-US" dirty="0" err="1"/>
              <a:t>sua</a:t>
            </a:r>
            <a:r>
              <a:rPr lang="en-US" dirty="0"/>
              <a:t> </a:t>
            </a:r>
            <a:r>
              <a:rPr lang="en-US" dirty="0" err="1"/>
              <a:t>copia</a:t>
            </a:r>
            <a:r>
              <a:rPr lang="en-US" dirty="0"/>
              <a:t> </a:t>
            </a:r>
            <a:r>
              <a:rPr lang="en-US" dirty="0" err="1"/>
              <a:t>nel</a:t>
            </a:r>
            <a:r>
              <a:rPr lang="en-US" dirty="0"/>
              <a:t> </a:t>
            </a:r>
            <a:r>
              <a:rPr lang="en-US" dirty="0" err="1"/>
              <a:t>db</a:t>
            </a:r>
            <a:r>
              <a:rPr lang="en-US" dirty="0"/>
              <a:t> non </a:t>
            </a:r>
            <a:r>
              <a:rPr lang="en-US" dirty="0" err="1"/>
              <a:t>esiste</a:t>
            </a:r>
            <a:r>
              <a:rPr lang="en-US" dirty="0"/>
              <a:t> </a:t>
            </a:r>
            <a:r>
              <a:rPr lang="en-US" dirty="0" err="1"/>
              <a:t>più</a:t>
            </a:r>
            <a:endParaRPr lang="en-US" dirty="0"/>
          </a:p>
        </p:txBody>
      </p:sp>
      <p:pic>
        <p:nvPicPr>
          <p:cNvPr id="6" name="Picture 2">
            <a:extLst>
              <a:ext uri="{FF2B5EF4-FFF2-40B4-BE49-F238E27FC236}">
                <a16:creationId xmlns:a16="http://schemas.microsoft.com/office/drawing/2014/main" id="{F4A6DDFB-41EE-F048-BD29-CF788202042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a:xfrm>
            <a:off x="2350008" y="3265225"/>
            <a:ext cx="5308092" cy="1905469"/>
          </a:xfrm>
          <a:prstGeom prst="rect">
            <a:avLst/>
          </a:prstGeom>
          <a:noFill/>
        </p:spPr>
      </p:pic>
      <p:sp>
        <p:nvSpPr>
          <p:cNvPr id="3" name="Rettangolo 2">
            <a:extLst>
              <a:ext uri="{FF2B5EF4-FFF2-40B4-BE49-F238E27FC236}">
                <a16:creationId xmlns:a16="http://schemas.microsoft.com/office/drawing/2014/main" id="{A91919E4-6DE3-F54E-A95F-4CC6156EDD97}"/>
              </a:ext>
            </a:extLst>
          </p:cNvPr>
          <p:cNvSpPr/>
          <p:nvPr/>
        </p:nvSpPr>
        <p:spPr>
          <a:xfrm>
            <a:off x="4572000" y="4464424"/>
            <a:ext cx="1147481" cy="679076"/>
          </a:xfrm>
          <a:prstGeom prst="rect">
            <a:avLst/>
          </a:prstGeom>
          <a:solidFill>
            <a:srgbClr val="FFFF00">
              <a:alpha val="47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latin typeface="Calibri Light" panose="020F0302020204030204" pitchFamily="34" charset="0"/>
            </a:endParaRPr>
          </a:p>
        </p:txBody>
      </p:sp>
    </p:spTree>
    <p:extLst>
      <p:ext uri="{BB962C8B-B14F-4D97-AF65-F5344CB8AC3E}">
        <p14:creationId xmlns:p14="http://schemas.microsoft.com/office/powerpoint/2010/main" val="555427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err="1"/>
              <a:t>EntityManager</a:t>
            </a:r>
            <a:r>
              <a:rPr lang="en-US"/>
              <a:t>: </a:t>
            </a:r>
            <a:r>
              <a:rPr lang="en-US" err="1"/>
              <a:t>introduzione</a:t>
            </a:r>
            <a:endParaRPr lang="en-US"/>
          </a:p>
        </p:txBody>
      </p:sp>
      <p:sp>
        <p:nvSpPr>
          <p:cNvPr id="3" name="Segnaposto contenuto 2"/>
          <p:cNvSpPr>
            <a:spLocks noGrp="1"/>
          </p:cNvSpPr>
          <p:nvPr>
            <p:ph idx="1"/>
          </p:nvPr>
        </p:nvSpPr>
        <p:spPr/>
        <p:txBody>
          <a:bodyPr/>
          <a:lstStyle/>
          <a:p>
            <a:r>
              <a:rPr lang="en-US" err="1"/>
              <a:t>Attraverso</a:t>
            </a:r>
            <a:r>
              <a:rPr lang="en-US"/>
              <a:t> un </a:t>
            </a:r>
            <a:r>
              <a:rPr lang="en-US" err="1"/>
              <a:t>esempio</a:t>
            </a:r>
            <a:r>
              <a:rPr lang="en-US"/>
              <a:t> </a:t>
            </a:r>
            <a:r>
              <a:rPr lang="en-US" err="1"/>
              <a:t>scritto</a:t>
            </a:r>
            <a:r>
              <a:rPr lang="en-US"/>
              <a:t> </a:t>
            </a:r>
            <a:r>
              <a:rPr lang="en-US" b="1"/>
              <a:t>a </a:t>
            </a:r>
            <a:r>
              <a:rPr lang="en-US" b="1" err="1"/>
              <a:t>puro</a:t>
            </a:r>
            <a:r>
              <a:rPr lang="en-US" b="1"/>
              <a:t> </a:t>
            </a:r>
            <a:r>
              <a:rPr lang="en-US" b="1" err="1"/>
              <a:t>scopo</a:t>
            </a:r>
            <a:r>
              <a:rPr lang="en-US" b="1"/>
              <a:t> </a:t>
            </a:r>
            <a:r>
              <a:rPr lang="en-US" b="1" err="1"/>
              <a:t>didattico</a:t>
            </a:r>
            <a:r>
              <a:rPr lang="en-US" b="1"/>
              <a:t> </a:t>
            </a:r>
            <a:r>
              <a:rPr lang="en-US"/>
              <a:t>(</a:t>
            </a:r>
            <a:r>
              <a:rPr lang="en-US" err="1"/>
              <a:t>che</a:t>
            </a:r>
            <a:r>
              <a:rPr lang="en-US"/>
              <a:t> </a:t>
            </a:r>
            <a:r>
              <a:rPr lang="en-US" err="1"/>
              <a:t>fa</a:t>
            </a:r>
            <a:r>
              <a:rPr lang="en-US"/>
              <a:t> </a:t>
            </a:r>
            <a:r>
              <a:rPr lang="en-US" err="1"/>
              <a:t>uso</a:t>
            </a:r>
            <a:r>
              <a:rPr lang="en-US"/>
              <a:t> di </a:t>
            </a:r>
            <a:r>
              <a:rPr lang="en-US" err="1"/>
              <a:t>una</a:t>
            </a:r>
            <a:r>
              <a:rPr lang="en-US"/>
              <a:t> </a:t>
            </a:r>
            <a:r>
              <a:rPr lang="en-US" err="1"/>
              <a:t>classe</a:t>
            </a:r>
            <a:r>
              <a:rPr lang="en-US"/>
              <a:t>, </a:t>
            </a:r>
            <a:r>
              <a:rPr lang="en-US" err="1"/>
              <a:t>ProductMain</a:t>
            </a:r>
            <a:r>
              <a:rPr lang="en-US"/>
              <a:t>, con un </a:t>
            </a:r>
            <a:r>
              <a:rPr lang="en-US" err="1"/>
              <a:t>unico</a:t>
            </a:r>
            <a:r>
              <a:rPr lang="en-US"/>
              <a:t> </a:t>
            </a:r>
            <a:r>
              <a:rPr lang="en-US" err="1"/>
              <a:t>metodo</a:t>
            </a:r>
            <a:r>
              <a:rPr lang="en-US"/>
              <a:t> main()), </a:t>
            </a:r>
            <a:r>
              <a:rPr lang="en-US" err="1"/>
              <a:t>vediamo</a:t>
            </a:r>
            <a:r>
              <a:rPr lang="en-US"/>
              <a:t>:</a:t>
            </a:r>
          </a:p>
          <a:p>
            <a:pPr lvl="1"/>
            <a:r>
              <a:rPr lang="en-US"/>
              <a:t>come </a:t>
            </a:r>
            <a:r>
              <a:rPr lang="en-US" err="1"/>
              <a:t>si</a:t>
            </a:r>
            <a:r>
              <a:rPr lang="en-US"/>
              <a:t> </a:t>
            </a:r>
            <a:r>
              <a:rPr lang="en-US" err="1"/>
              <a:t>crea</a:t>
            </a:r>
            <a:r>
              <a:rPr lang="en-US"/>
              <a:t> e </a:t>
            </a:r>
            <a:r>
              <a:rPr lang="en-US" err="1"/>
              <a:t>si</a:t>
            </a:r>
            <a:r>
              <a:rPr lang="en-US"/>
              <a:t> </a:t>
            </a:r>
            <a:r>
              <a:rPr lang="en-US" err="1"/>
              <a:t>configura</a:t>
            </a:r>
            <a:r>
              <a:rPr lang="en-US"/>
              <a:t> </a:t>
            </a:r>
            <a:r>
              <a:rPr lang="en-US" err="1"/>
              <a:t>l'EntityManager</a:t>
            </a:r>
            <a:endParaRPr lang="en-US"/>
          </a:p>
          <a:p>
            <a:pPr lvl="1"/>
            <a:r>
              <a:rPr lang="en-US"/>
              <a:t>come </a:t>
            </a:r>
            <a:r>
              <a:rPr lang="en-US" err="1"/>
              <a:t>si</a:t>
            </a:r>
            <a:r>
              <a:rPr lang="en-US"/>
              <a:t> </a:t>
            </a:r>
            <a:r>
              <a:rPr lang="en-US" err="1"/>
              <a:t>affida</a:t>
            </a:r>
            <a:r>
              <a:rPr lang="en-US"/>
              <a:t> </a:t>
            </a:r>
            <a:r>
              <a:rPr lang="en-US" err="1"/>
              <a:t>all'EntityManager</a:t>
            </a:r>
            <a:r>
              <a:rPr lang="en-US"/>
              <a:t> la </a:t>
            </a:r>
            <a:r>
              <a:rPr lang="en-US" err="1"/>
              <a:t>responsabilità</a:t>
            </a:r>
            <a:r>
              <a:rPr lang="en-US"/>
              <a:t> di </a:t>
            </a:r>
            <a:r>
              <a:rPr lang="en-US" err="1"/>
              <a:t>gestire</a:t>
            </a:r>
            <a:r>
              <a:rPr lang="en-US"/>
              <a:t> le </a:t>
            </a:r>
            <a:r>
              <a:rPr lang="en-US" err="1"/>
              <a:t>operazioni</a:t>
            </a:r>
            <a:r>
              <a:rPr lang="en-US"/>
              <a:t> CRUD di </a:t>
            </a:r>
            <a:r>
              <a:rPr lang="en-US" err="1"/>
              <a:t>una</a:t>
            </a:r>
            <a:r>
              <a:rPr lang="en-US"/>
              <a:t> </a:t>
            </a:r>
            <a:r>
              <a:rPr lang="en-US" err="1"/>
              <a:t>entità</a:t>
            </a:r>
            <a:endParaRPr lang="en-US"/>
          </a:p>
          <a:p>
            <a:pPr lvl="1"/>
            <a:r>
              <a:rPr lang="en-US"/>
              <a:t>come </a:t>
            </a:r>
            <a:r>
              <a:rPr lang="en-US" err="1"/>
              <a:t>si</a:t>
            </a:r>
            <a:r>
              <a:rPr lang="en-US"/>
              <a:t> </a:t>
            </a:r>
            <a:r>
              <a:rPr lang="en-US" err="1"/>
              <a:t>rende</a:t>
            </a:r>
            <a:r>
              <a:rPr lang="en-US"/>
              <a:t> </a:t>
            </a:r>
            <a:r>
              <a:rPr lang="en-US" err="1"/>
              <a:t>persistente</a:t>
            </a:r>
            <a:r>
              <a:rPr lang="en-US"/>
              <a:t> </a:t>
            </a:r>
            <a:r>
              <a:rPr lang="en-US" err="1"/>
              <a:t>una</a:t>
            </a:r>
            <a:r>
              <a:rPr lang="en-US"/>
              <a:t> </a:t>
            </a:r>
            <a:r>
              <a:rPr lang="en-US" err="1"/>
              <a:t>entità</a:t>
            </a:r>
            <a:endParaRPr lang="en-US"/>
          </a:p>
        </p:txBody>
      </p:sp>
    </p:spTree>
    <p:extLst>
      <p:ext uri="{BB962C8B-B14F-4D97-AF65-F5344CB8AC3E}">
        <p14:creationId xmlns:p14="http://schemas.microsoft.com/office/powerpoint/2010/main" val="3812610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err="1"/>
              <a:t>Esempio</a:t>
            </a:r>
            <a:endParaRPr lang="en-US"/>
          </a:p>
        </p:txBody>
      </p:sp>
      <p:sp>
        <p:nvSpPr>
          <p:cNvPr id="3" name="Segnaposto contenuto 2"/>
          <p:cNvSpPr>
            <a:spLocks noGrp="1"/>
          </p:cNvSpPr>
          <p:nvPr>
            <p:ph idx="1"/>
          </p:nvPr>
        </p:nvSpPr>
        <p:spPr>
          <a:xfrm>
            <a:off x="159391" y="205978"/>
            <a:ext cx="8816829" cy="4937521"/>
          </a:xfrm>
        </p:spPr>
        <p:txBody>
          <a:bodyPr>
            <a:noAutofit/>
          </a:bodyPr>
          <a:lstStyle/>
          <a:p>
            <a:pPr marL="0" indent="0">
              <a:buNone/>
            </a:pPr>
            <a:r>
              <a:rPr lang="en-US" sz="1600" dirty="0"/>
              <a:t>package it.uniroma3.siw.main;</a:t>
            </a:r>
          </a:p>
          <a:p>
            <a:pPr marL="0" indent="0">
              <a:buNone/>
            </a:pPr>
            <a:endParaRPr lang="en-US" sz="1600" dirty="0"/>
          </a:p>
          <a:p>
            <a:pPr marL="0" indent="0">
              <a:buNone/>
            </a:pPr>
            <a:r>
              <a:rPr lang="en-US" sz="1600" dirty="0"/>
              <a:t>import </a:t>
            </a:r>
            <a:r>
              <a:rPr lang="en-US" sz="1600" dirty="0" err="1"/>
              <a:t>javax.persistence.EntityManager</a:t>
            </a:r>
            <a:r>
              <a:rPr lang="en-US" sz="1600" dirty="0"/>
              <a:t>;</a:t>
            </a:r>
          </a:p>
          <a:p>
            <a:pPr marL="0" indent="0">
              <a:buNone/>
            </a:pPr>
            <a:r>
              <a:rPr lang="en-US" sz="1600" dirty="0"/>
              <a:t>import </a:t>
            </a:r>
            <a:r>
              <a:rPr lang="en-US" sz="1600" dirty="0" err="1"/>
              <a:t>javax.persistence.EntityManagerFactory</a:t>
            </a:r>
            <a:r>
              <a:rPr lang="en-US" sz="1600" dirty="0"/>
              <a:t>;</a:t>
            </a:r>
          </a:p>
          <a:p>
            <a:pPr marL="0" indent="0">
              <a:buNone/>
            </a:pPr>
            <a:r>
              <a:rPr lang="en-US" sz="1600" dirty="0"/>
              <a:t>import </a:t>
            </a:r>
            <a:r>
              <a:rPr lang="en-US" sz="1600" dirty="0" err="1"/>
              <a:t>javax.persistence.EntityTransaction</a:t>
            </a:r>
            <a:r>
              <a:rPr lang="en-US" sz="1600" dirty="0"/>
              <a:t>;</a:t>
            </a:r>
          </a:p>
          <a:p>
            <a:pPr marL="0" indent="0">
              <a:buNone/>
            </a:pPr>
            <a:r>
              <a:rPr lang="en-US" sz="1600" dirty="0"/>
              <a:t>import </a:t>
            </a:r>
            <a:r>
              <a:rPr lang="en-US" sz="1600" dirty="0" err="1"/>
              <a:t>javax.persistence.Persistence</a:t>
            </a:r>
            <a:r>
              <a:rPr lang="en-US" sz="1600" dirty="0"/>
              <a:t>;</a:t>
            </a:r>
          </a:p>
          <a:p>
            <a:pPr marL="0" indent="0">
              <a:buNone/>
            </a:pPr>
            <a:endParaRPr lang="en-US" sz="1600" dirty="0"/>
          </a:p>
          <a:p>
            <a:pPr marL="0" indent="0">
              <a:buNone/>
            </a:pPr>
            <a:r>
              <a:rPr lang="en-US" sz="1600" dirty="0"/>
              <a:t>import it.uniroma3.siw.model.Product;</a:t>
            </a:r>
          </a:p>
          <a:p>
            <a:pPr marL="0" indent="0">
              <a:buNone/>
            </a:pPr>
            <a:endParaRPr lang="en-US" sz="1600" dirty="0"/>
          </a:p>
          <a:p>
            <a:pPr marL="0" indent="0">
              <a:buNone/>
            </a:pPr>
            <a:r>
              <a:rPr lang="en-US" sz="1600" dirty="0"/>
              <a:t>public class </a:t>
            </a:r>
            <a:r>
              <a:rPr lang="en-US" sz="1600" dirty="0" err="1"/>
              <a:t>ProductMain</a:t>
            </a:r>
            <a:r>
              <a:rPr lang="en-US" sz="1600" dirty="0"/>
              <a:t> {</a:t>
            </a:r>
          </a:p>
          <a:p>
            <a:pPr marL="0" indent="0">
              <a:buNone/>
            </a:pPr>
            <a:endParaRPr lang="en-US" sz="1600" dirty="0"/>
          </a:p>
          <a:p>
            <a:pPr marL="0" indent="0">
              <a:buNone/>
            </a:pPr>
            <a:r>
              <a:rPr lang="en-US" sz="1600" dirty="0"/>
              <a:t>	public static void main(String[] </a:t>
            </a:r>
            <a:r>
              <a:rPr lang="en-US" sz="1600" dirty="0" err="1"/>
              <a:t>args</a:t>
            </a:r>
            <a:r>
              <a:rPr lang="en-US" sz="1600" dirty="0"/>
              <a:t>) {</a:t>
            </a:r>
          </a:p>
          <a:p>
            <a:pPr marL="0" indent="0">
              <a:buNone/>
            </a:pPr>
            <a:r>
              <a:rPr lang="en-US" sz="1600" dirty="0"/>
              <a:t>		</a:t>
            </a:r>
            <a:r>
              <a:rPr lang="en-US" sz="1600" dirty="0" err="1"/>
              <a:t>EntityManagerFactory</a:t>
            </a:r>
            <a:r>
              <a:rPr lang="en-US" sz="1600" dirty="0"/>
              <a:t> emf = </a:t>
            </a:r>
            <a:r>
              <a:rPr lang="en-US" sz="1600" dirty="0" err="1"/>
              <a:t>Persistence.createEntityManagerFactory</a:t>
            </a:r>
            <a:r>
              <a:rPr lang="en-US" sz="1600" dirty="0"/>
              <a:t>("products-unit");</a:t>
            </a:r>
          </a:p>
          <a:p>
            <a:pPr marL="0" indent="0">
              <a:buNone/>
            </a:pPr>
            <a:r>
              <a:rPr lang="en-US" sz="1600" dirty="0"/>
              <a:t>		</a:t>
            </a:r>
            <a:r>
              <a:rPr lang="en-US" sz="1600" dirty="0" err="1"/>
              <a:t>EntityManager</a:t>
            </a:r>
            <a:r>
              <a:rPr lang="en-US" sz="1600" dirty="0"/>
              <a:t> </a:t>
            </a:r>
            <a:r>
              <a:rPr lang="en-US" sz="1600" dirty="0" err="1"/>
              <a:t>em</a:t>
            </a:r>
            <a:r>
              <a:rPr lang="en-US" sz="1600" dirty="0"/>
              <a:t> = </a:t>
            </a:r>
            <a:r>
              <a:rPr lang="en-US" sz="1600" dirty="0" err="1"/>
              <a:t>emf.createEntityManager</a:t>
            </a:r>
            <a:r>
              <a:rPr lang="en-US" sz="1600" dirty="0"/>
              <a:t>();</a:t>
            </a:r>
          </a:p>
          <a:p>
            <a:pPr marL="0" indent="0">
              <a:buNone/>
            </a:pPr>
            <a:r>
              <a:rPr lang="en-US" sz="1600" dirty="0"/>
              <a:t>		</a:t>
            </a:r>
          </a:p>
        </p:txBody>
      </p:sp>
      <p:sp>
        <p:nvSpPr>
          <p:cNvPr id="4" name="Freccia giù 3"/>
          <p:cNvSpPr/>
          <p:nvPr/>
        </p:nvSpPr>
        <p:spPr>
          <a:xfrm>
            <a:off x="6295264" y="2491382"/>
            <a:ext cx="2090057" cy="1223963"/>
          </a:xfrm>
          <a:prstGeom prst="downArrow">
            <a:avLst>
              <a:gd name="adj1" fmla="val 50000"/>
              <a:gd name="adj2" fmla="val 3804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sz="2400" dirty="0">
              <a:latin typeface="Calibri Light" panose="020F0302020204030204" pitchFamily="34" charset="0"/>
            </a:endParaRPr>
          </a:p>
          <a:p>
            <a:pPr algn="ctr"/>
            <a:r>
              <a:rPr lang="it-IT" sz="2400" dirty="0">
                <a:latin typeface="Calibri Light" panose="020F0302020204030204" pitchFamily="34" charset="0"/>
              </a:rPr>
              <a:t>vedi</a:t>
            </a:r>
          </a:p>
          <a:p>
            <a:pPr algn="ctr"/>
            <a:r>
              <a:rPr lang="it-IT" sz="2400" dirty="0">
                <a:solidFill>
                  <a:srgbClr val="FF0080"/>
                </a:solidFill>
                <a:latin typeface="Calibri Light" panose="020F0302020204030204" pitchFamily="34" charset="0"/>
              </a:rPr>
              <a:t>slide 83</a:t>
            </a:r>
            <a:endParaRPr lang="it-IT" sz="1350" dirty="0">
              <a:solidFill>
                <a:srgbClr val="FF0080"/>
              </a:solidFill>
              <a:latin typeface="Calibri Light" panose="020F0302020204030204" pitchFamily="34" charset="0"/>
            </a:endParaRPr>
          </a:p>
        </p:txBody>
      </p:sp>
    </p:spTree>
    <p:extLst>
      <p:ext uri="{BB962C8B-B14F-4D97-AF65-F5344CB8AC3E}">
        <p14:creationId xmlns:p14="http://schemas.microsoft.com/office/powerpoint/2010/main" val="4284249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algn="r"/>
            <a:r>
              <a:rPr lang="en-US" i="1" dirty="0" err="1"/>
              <a:t>Esempio</a:t>
            </a:r>
            <a:r>
              <a:rPr lang="en-US" i="1" dirty="0"/>
              <a:t> (cont.)</a:t>
            </a:r>
          </a:p>
        </p:txBody>
      </p:sp>
      <p:sp>
        <p:nvSpPr>
          <p:cNvPr id="3" name="Segnaposto contenuto 2"/>
          <p:cNvSpPr>
            <a:spLocks noGrp="1"/>
          </p:cNvSpPr>
          <p:nvPr>
            <p:ph idx="1"/>
          </p:nvPr>
        </p:nvSpPr>
        <p:spPr>
          <a:xfrm>
            <a:off x="0" y="763398"/>
            <a:ext cx="8686800" cy="4535900"/>
          </a:xfrm>
        </p:spPr>
        <p:txBody>
          <a:bodyPr vert="horz" lIns="68580" tIns="34290" rIns="68580" bIns="34290" rtlCol="0" anchor="t">
            <a:normAutofit/>
          </a:bodyPr>
          <a:lstStyle/>
          <a:p>
            <a:pPr marL="0" indent="0">
              <a:buNone/>
            </a:pPr>
            <a:r>
              <a:rPr lang="en-US" sz="1600" dirty="0"/>
              <a:t>		Product product = new Product();</a:t>
            </a:r>
          </a:p>
          <a:p>
            <a:pPr marL="0" indent="0">
              <a:buNone/>
            </a:pPr>
            <a:r>
              <a:rPr lang="en-US" sz="1600" dirty="0"/>
              <a:t>		</a:t>
            </a:r>
            <a:r>
              <a:rPr lang="en-US" sz="1600" dirty="0" err="1"/>
              <a:t>product.setName</a:t>
            </a:r>
            <a:r>
              <a:rPr lang="en-US" sz="1600" dirty="0"/>
              <a:t>("KRIDDIG");</a:t>
            </a:r>
          </a:p>
          <a:p>
            <a:pPr marL="0" indent="0">
              <a:buNone/>
            </a:pPr>
            <a:r>
              <a:rPr lang="en-US" sz="1600" dirty="0"/>
              <a:t>		</a:t>
            </a:r>
            <a:r>
              <a:rPr lang="en-US" sz="1600" dirty="0" err="1"/>
              <a:t>product.setPrice</a:t>
            </a:r>
            <a:r>
              <a:rPr lang="en-US" sz="1600" dirty="0"/>
              <a:t>(3.5F);</a:t>
            </a:r>
          </a:p>
          <a:p>
            <a:pPr marL="0" indent="0">
              <a:buNone/>
            </a:pPr>
            <a:r>
              <a:rPr lang="en-US" sz="1600" dirty="0"/>
              <a:t>		</a:t>
            </a:r>
            <a:r>
              <a:rPr lang="en-US" sz="1600" dirty="0" err="1"/>
              <a:t>product.setDescription</a:t>
            </a:r>
            <a:r>
              <a:rPr lang="en-US" sz="1600" dirty="0"/>
              <a:t>("A wonderful </a:t>
            </a:r>
            <a:r>
              <a:rPr lang="en-US" sz="1600" dirty="0" err="1"/>
              <a:t>bla</a:t>
            </a:r>
            <a:r>
              <a:rPr lang="en-US" sz="1600" dirty="0"/>
              <a:t> </a:t>
            </a:r>
            <a:r>
              <a:rPr lang="en-US" sz="1600" dirty="0" err="1"/>
              <a:t>bla</a:t>
            </a:r>
            <a:r>
              <a:rPr lang="en-US" sz="1600" dirty="0"/>
              <a:t>");</a:t>
            </a:r>
          </a:p>
          <a:p>
            <a:pPr marL="0" indent="0">
              <a:buNone/>
            </a:pPr>
            <a:r>
              <a:rPr lang="en-US" sz="1600" dirty="0"/>
              <a:t>		</a:t>
            </a:r>
            <a:r>
              <a:rPr lang="en-US" sz="1600" dirty="0" err="1"/>
              <a:t>product.setCode</a:t>
            </a:r>
            <a:r>
              <a:rPr lang="en-US" sz="1600" dirty="0"/>
              <a:t>("pt000154");</a:t>
            </a:r>
          </a:p>
          <a:p>
            <a:pPr marL="0" indent="0">
              <a:buNone/>
            </a:pPr>
            <a:endParaRPr lang="en-US" sz="1600" dirty="0"/>
          </a:p>
          <a:p>
            <a:pPr marL="0" indent="0">
              <a:buNone/>
            </a:pPr>
            <a:r>
              <a:rPr lang="en-US" sz="1600" dirty="0"/>
              <a:t>		</a:t>
            </a:r>
            <a:r>
              <a:rPr lang="en-US" sz="1600" dirty="0" err="1"/>
              <a:t>EntityTransaction</a:t>
            </a:r>
            <a:r>
              <a:rPr lang="en-US" sz="1600" dirty="0"/>
              <a:t> </a:t>
            </a:r>
            <a:r>
              <a:rPr lang="en-US" sz="1600" dirty="0" err="1"/>
              <a:t>tx</a:t>
            </a:r>
            <a:r>
              <a:rPr lang="en-US" sz="1600" dirty="0"/>
              <a:t> = </a:t>
            </a:r>
            <a:r>
              <a:rPr lang="en-US" sz="1600" dirty="0" err="1"/>
              <a:t>em.getTransaction</a:t>
            </a:r>
            <a:r>
              <a:rPr lang="en-US" sz="1600" dirty="0"/>
              <a:t>();</a:t>
            </a:r>
          </a:p>
          <a:p>
            <a:pPr marL="0" indent="0">
              <a:buNone/>
            </a:pPr>
            <a:r>
              <a:rPr lang="en-US" sz="1600" dirty="0"/>
              <a:t>		</a:t>
            </a:r>
            <a:r>
              <a:rPr lang="en-US" sz="1600" dirty="0" err="1"/>
              <a:t>tx.begin</a:t>
            </a:r>
            <a:r>
              <a:rPr lang="en-US" sz="1600" dirty="0"/>
              <a:t>();</a:t>
            </a:r>
          </a:p>
          <a:p>
            <a:pPr marL="0" indent="0">
              <a:buNone/>
            </a:pPr>
            <a:r>
              <a:rPr lang="en-US" sz="1600" dirty="0"/>
              <a:t>		</a:t>
            </a:r>
            <a:r>
              <a:rPr lang="en-US" sz="1600" dirty="0" err="1"/>
              <a:t>em.persist</a:t>
            </a:r>
            <a:r>
              <a:rPr lang="en-US" sz="1600" dirty="0"/>
              <a:t>(product);</a:t>
            </a:r>
          </a:p>
          <a:p>
            <a:pPr marL="0" indent="0">
              <a:buNone/>
            </a:pPr>
            <a:r>
              <a:rPr lang="en-US" sz="1600" dirty="0"/>
              <a:t>		</a:t>
            </a:r>
            <a:r>
              <a:rPr lang="en-US" sz="1600" dirty="0" err="1"/>
              <a:t>tx.commit</a:t>
            </a:r>
            <a:r>
              <a:rPr lang="en-US" sz="1600" dirty="0"/>
              <a:t>();</a:t>
            </a:r>
          </a:p>
          <a:p>
            <a:pPr marL="0" indent="0">
              <a:buNone/>
            </a:pPr>
            <a:endParaRPr lang="en-US" sz="1600" dirty="0"/>
          </a:p>
          <a:p>
            <a:pPr marL="0" indent="0">
              <a:buNone/>
            </a:pPr>
            <a:r>
              <a:rPr lang="en-US" sz="1600" dirty="0"/>
              <a:t>		</a:t>
            </a:r>
            <a:r>
              <a:rPr lang="en-US" sz="1600" dirty="0" err="1"/>
              <a:t>em.close</a:t>
            </a:r>
            <a:r>
              <a:rPr lang="en-US" sz="1600" dirty="0"/>
              <a:t>();</a:t>
            </a:r>
          </a:p>
          <a:p>
            <a:pPr marL="0" indent="0">
              <a:buNone/>
            </a:pPr>
            <a:r>
              <a:rPr lang="en-US" sz="1600" dirty="0"/>
              <a:t>		</a:t>
            </a:r>
            <a:r>
              <a:rPr lang="en-US" sz="1600" dirty="0" err="1"/>
              <a:t>emf.close</a:t>
            </a:r>
            <a:r>
              <a:rPr lang="en-US" sz="1600" dirty="0"/>
              <a:t>();</a:t>
            </a:r>
          </a:p>
          <a:p>
            <a:pPr marL="0" indent="0">
              <a:buNone/>
            </a:pPr>
            <a:r>
              <a:rPr lang="en-US" sz="1600" dirty="0"/>
              <a:t>	}</a:t>
            </a:r>
          </a:p>
          <a:p>
            <a:pPr marL="0" indent="0">
              <a:buNone/>
            </a:pPr>
            <a:r>
              <a:rPr lang="en-US" sz="1600" dirty="0"/>
              <a:t>}</a:t>
            </a:r>
            <a:endParaRPr lang="en-US" sz="1600" dirty="0">
              <a:cs typeface="Calibri Light" panose="020F0302020204030204" pitchFamily="34" charset="0"/>
            </a:endParaRPr>
          </a:p>
        </p:txBody>
      </p:sp>
    </p:spTree>
    <p:extLst>
      <p:ext uri="{BB962C8B-B14F-4D97-AF65-F5344CB8AC3E}">
        <p14:creationId xmlns:p14="http://schemas.microsoft.com/office/powerpoint/2010/main" val="1075954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a:t>Persistence Unit</a:t>
            </a:r>
          </a:p>
        </p:txBody>
      </p:sp>
      <p:sp>
        <p:nvSpPr>
          <p:cNvPr id="3" name="Segnaposto contenuto 2"/>
          <p:cNvSpPr>
            <a:spLocks noGrp="1"/>
          </p:cNvSpPr>
          <p:nvPr>
            <p:ph idx="1"/>
          </p:nvPr>
        </p:nvSpPr>
        <p:spPr/>
        <p:txBody>
          <a:bodyPr>
            <a:normAutofit fontScale="92500"/>
          </a:bodyPr>
          <a:lstStyle/>
          <a:p>
            <a:r>
              <a:rPr lang="en-US" dirty="0" err="1"/>
              <a:t>L'EntityManager</a:t>
            </a:r>
            <a:r>
              <a:rPr lang="en-US" dirty="0"/>
              <a:t> </a:t>
            </a:r>
            <a:r>
              <a:rPr lang="en-US" dirty="0" err="1"/>
              <a:t>è</a:t>
            </a:r>
            <a:r>
              <a:rPr lang="en-US" dirty="0"/>
              <a:t> </a:t>
            </a:r>
            <a:r>
              <a:rPr lang="en-US" dirty="0" err="1"/>
              <a:t>creato</a:t>
            </a:r>
            <a:r>
              <a:rPr lang="en-US" dirty="0"/>
              <a:t> per mezzo </a:t>
            </a:r>
            <a:r>
              <a:rPr lang="en-US" dirty="0" err="1"/>
              <a:t>della</a:t>
            </a:r>
            <a:r>
              <a:rPr lang="en-US" dirty="0"/>
              <a:t> factory </a:t>
            </a:r>
            <a:r>
              <a:rPr lang="en-US" dirty="0" err="1"/>
              <a:t>EntityManagerFactory</a:t>
            </a:r>
            <a:endParaRPr lang="en-US" dirty="0"/>
          </a:p>
          <a:p>
            <a:r>
              <a:rPr lang="en-US" dirty="0"/>
              <a:t>Per </a:t>
            </a:r>
            <a:r>
              <a:rPr lang="en-US" dirty="0" err="1"/>
              <a:t>ottenere</a:t>
            </a:r>
            <a:r>
              <a:rPr lang="en-US" dirty="0"/>
              <a:t> la factory </a:t>
            </a:r>
            <a:r>
              <a:rPr lang="en-US" dirty="0" err="1"/>
              <a:t>dobbiamo</a:t>
            </a:r>
            <a:r>
              <a:rPr lang="en-US" dirty="0"/>
              <a:t> </a:t>
            </a:r>
            <a:r>
              <a:rPr lang="en-US" dirty="0" err="1"/>
              <a:t>specificare</a:t>
            </a:r>
            <a:r>
              <a:rPr lang="en-US" dirty="0"/>
              <a:t> </a:t>
            </a:r>
            <a:r>
              <a:rPr lang="en-US" dirty="0" err="1"/>
              <a:t>dettagli</a:t>
            </a:r>
            <a:r>
              <a:rPr lang="en-US" dirty="0"/>
              <a:t> di </a:t>
            </a:r>
            <a:r>
              <a:rPr lang="en-US" dirty="0" err="1"/>
              <a:t>configurazione</a:t>
            </a:r>
            <a:r>
              <a:rPr lang="en-US" dirty="0"/>
              <a:t> (ad </a:t>
            </a:r>
            <a:r>
              <a:rPr lang="en-US" dirty="0" err="1"/>
              <a:t>es</a:t>
            </a:r>
            <a:r>
              <a:rPr lang="en-US" dirty="0"/>
              <a:t>. come </a:t>
            </a:r>
            <a:r>
              <a:rPr lang="en-US" dirty="0" err="1"/>
              <a:t>ottenere</a:t>
            </a:r>
            <a:r>
              <a:rPr lang="en-US" dirty="0"/>
              <a:t> la </a:t>
            </a:r>
            <a:r>
              <a:rPr lang="en-US" dirty="0" err="1"/>
              <a:t>connessione</a:t>
            </a:r>
            <a:r>
              <a:rPr lang="en-US" dirty="0"/>
              <a:t> al database)</a:t>
            </a:r>
          </a:p>
          <a:p>
            <a:r>
              <a:rPr lang="en-US" dirty="0" err="1"/>
              <a:t>Questi</a:t>
            </a:r>
            <a:r>
              <a:rPr lang="en-US" dirty="0"/>
              <a:t> </a:t>
            </a:r>
            <a:r>
              <a:rPr lang="en-US" dirty="0" err="1"/>
              <a:t>dettagli</a:t>
            </a:r>
            <a:r>
              <a:rPr lang="en-US" dirty="0"/>
              <a:t> </a:t>
            </a:r>
            <a:r>
              <a:rPr lang="en-US" dirty="0" err="1"/>
              <a:t>si</a:t>
            </a:r>
            <a:r>
              <a:rPr lang="en-US" dirty="0"/>
              <a:t> </a:t>
            </a:r>
            <a:r>
              <a:rPr lang="en-US" dirty="0" err="1"/>
              <a:t>specificano</a:t>
            </a:r>
            <a:r>
              <a:rPr lang="en-US" dirty="0"/>
              <a:t> </a:t>
            </a:r>
            <a:r>
              <a:rPr lang="en-US" dirty="0" err="1"/>
              <a:t>nell'elemento</a:t>
            </a:r>
            <a:r>
              <a:rPr lang="en-US" dirty="0"/>
              <a:t> </a:t>
            </a:r>
            <a:r>
              <a:rPr lang="en-US" b="1" dirty="0"/>
              <a:t>persistence-unit</a:t>
            </a:r>
            <a:r>
              <a:rPr lang="en-US" dirty="0"/>
              <a:t> di un file di </a:t>
            </a:r>
            <a:r>
              <a:rPr lang="en-US" dirty="0" err="1"/>
              <a:t>configurazione</a:t>
            </a:r>
            <a:r>
              <a:rPr lang="en-US" dirty="0"/>
              <a:t> (</a:t>
            </a:r>
            <a:r>
              <a:rPr lang="en-US" dirty="0" err="1"/>
              <a:t>scritto</a:t>
            </a:r>
            <a:r>
              <a:rPr lang="en-US" dirty="0"/>
              <a:t> in </a:t>
            </a:r>
            <a:r>
              <a:rPr lang="en-US" dirty="0" err="1"/>
              <a:t>formato</a:t>
            </a:r>
            <a:r>
              <a:rPr lang="en-US" dirty="0"/>
              <a:t> XML): </a:t>
            </a:r>
            <a:r>
              <a:rPr lang="en-US" b="1" dirty="0" err="1"/>
              <a:t>persistence.xml</a:t>
            </a:r>
            <a:endParaRPr lang="en-US" b="1" dirty="0"/>
          </a:p>
          <a:p>
            <a:r>
              <a:rPr lang="en-US" dirty="0" err="1"/>
              <a:t>Vedremo</a:t>
            </a:r>
            <a:r>
              <a:rPr lang="en-US" dirty="0"/>
              <a:t> in </a:t>
            </a:r>
            <a:r>
              <a:rPr lang="en-US" dirty="0" err="1"/>
              <a:t>dettaglio</a:t>
            </a:r>
            <a:r>
              <a:rPr lang="en-US" dirty="0"/>
              <a:t> come </a:t>
            </a:r>
            <a:r>
              <a:rPr lang="en-US" dirty="0" err="1"/>
              <a:t>è</a:t>
            </a:r>
            <a:r>
              <a:rPr lang="en-US" dirty="0"/>
              <a:t> </a:t>
            </a:r>
            <a:r>
              <a:rPr lang="en-US" dirty="0" err="1"/>
              <a:t>fatto</a:t>
            </a:r>
            <a:r>
              <a:rPr lang="en-US" dirty="0"/>
              <a:t> e come </a:t>
            </a:r>
            <a:r>
              <a:rPr lang="en-US" dirty="0" err="1"/>
              <a:t>usare</a:t>
            </a:r>
            <a:r>
              <a:rPr lang="en-US" dirty="0"/>
              <a:t> </a:t>
            </a:r>
            <a:r>
              <a:rPr lang="en-US" dirty="0" err="1"/>
              <a:t>questo</a:t>
            </a:r>
            <a:r>
              <a:rPr lang="en-US" dirty="0"/>
              <a:t> file </a:t>
            </a:r>
            <a:r>
              <a:rPr lang="en-US" dirty="0" err="1"/>
              <a:t>tra</a:t>
            </a:r>
            <a:r>
              <a:rPr lang="en-US" dirty="0"/>
              <a:t> breve</a:t>
            </a:r>
          </a:p>
        </p:txBody>
      </p:sp>
    </p:spTree>
    <p:extLst>
      <p:ext uri="{BB962C8B-B14F-4D97-AF65-F5344CB8AC3E}">
        <p14:creationId xmlns:p14="http://schemas.microsoft.com/office/powerpoint/2010/main" val="1377312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0E917C-7929-6543-A206-D99212259353}"/>
              </a:ext>
            </a:extLst>
          </p:cNvPr>
          <p:cNvSpPr>
            <a:spLocks noGrp="1"/>
          </p:cNvSpPr>
          <p:nvPr>
            <p:ph type="title"/>
          </p:nvPr>
        </p:nvSpPr>
        <p:spPr/>
        <p:txBody>
          <a:bodyPr/>
          <a:lstStyle/>
          <a:p>
            <a:r>
              <a:rPr lang="en-US" dirty="0" err="1"/>
              <a:t>Transazione</a:t>
            </a:r>
            <a:endParaRPr lang="en-US" dirty="0"/>
          </a:p>
        </p:txBody>
      </p:sp>
      <p:sp>
        <p:nvSpPr>
          <p:cNvPr id="3" name="Segnaposto contenuto 2">
            <a:extLst>
              <a:ext uri="{FF2B5EF4-FFF2-40B4-BE49-F238E27FC236}">
                <a16:creationId xmlns:a16="http://schemas.microsoft.com/office/drawing/2014/main" id="{F78020DC-E72B-0845-B05A-B5B7E2FB31AC}"/>
              </a:ext>
            </a:extLst>
          </p:cNvPr>
          <p:cNvSpPr>
            <a:spLocks noGrp="1"/>
          </p:cNvSpPr>
          <p:nvPr>
            <p:ph idx="1"/>
          </p:nvPr>
        </p:nvSpPr>
        <p:spPr/>
        <p:txBody>
          <a:bodyPr>
            <a:normAutofit/>
          </a:bodyPr>
          <a:lstStyle/>
          <a:p>
            <a:r>
              <a:rPr lang="en-US" dirty="0" err="1"/>
              <a:t>Ogni</a:t>
            </a:r>
            <a:r>
              <a:rPr lang="en-US" dirty="0"/>
              <a:t> </a:t>
            </a:r>
            <a:r>
              <a:rPr lang="en-US" dirty="0" err="1"/>
              <a:t>operazione</a:t>
            </a:r>
            <a:r>
              <a:rPr lang="en-US" dirty="0"/>
              <a:t> </a:t>
            </a:r>
            <a:r>
              <a:rPr lang="en-US" dirty="0" err="1"/>
              <a:t>che</a:t>
            </a:r>
            <a:r>
              <a:rPr lang="en-US" dirty="0"/>
              <a:t> </a:t>
            </a:r>
            <a:r>
              <a:rPr lang="en-US" dirty="0" err="1"/>
              <a:t>modifica</a:t>
            </a:r>
            <a:r>
              <a:rPr lang="en-US" dirty="0"/>
              <a:t> lo </a:t>
            </a:r>
            <a:r>
              <a:rPr lang="en-US" dirty="0" err="1"/>
              <a:t>stato</a:t>
            </a:r>
            <a:r>
              <a:rPr lang="en-US" dirty="0"/>
              <a:t> del </a:t>
            </a:r>
            <a:r>
              <a:rPr lang="en-US" dirty="0" err="1"/>
              <a:t>db</a:t>
            </a:r>
            <a:r>
              <a:rPr lang="en-US" dirty="0"/>
              <a:t> </a:t>
            </a:r>
            <a:r>
              <a:rPr lang="en-US" dirty="0" err="1"/>
              <a:t>deve</a:t>
            </a:r>
            <a:r>
              <a:rPr lang="en-US" dirty="0"/>
              <a:t> </a:t>
            </a:r>
            <a:r>
              <a:rPr lang="en-US" dirty="0" err="1"/>
              <a:t>essere</a:t>
            </a:r>
            <a:r>
              <a:rPr lang="en-US" dirty="0"/>
              <a:t> </a:t>
            </a:r>
            <a:r>
              <a:rPr lang="en-US" dirty="0" err="1"/>
              <a:t>eseguita</a:t>
            </a:r>
            <a:r>
              <a:rPr lang="en-US" dirty="0"/>
              <a:t> in una </a:t>
            </a:r>
            <a:r>
              <a:rPr lang="en-US" dirty="0" err="1"/>
              <a:t>transazione</a:t>
            </a:r>
            <a:endParaRPr lang="en-US" dirty="0"/>
          </a:p>
          <a:p>
            <a:pPr lvl="1"/>
            <a:r>
              <a:rPr lang="it-IT" dirty="0"/>
              <a:t>insieme di operazioni che devono essere effettuate in modo atomico, come se fossero una sola operazione</a:t>
            </a:r>
          </a:p>
          <a:p>
            <a:r>
              <a:rPr lang="it-IT" dirty="0"/>
              <a:t>In JPA, una transazione:</a:t>
            </a:r>
          </a:p>
          <a:p>
            <a:pPr lvl="1"/>
            <a:r>
              <a:rPr lang="it-IT" dirty="0"/>
              <a:t>viene creata dall'</a:t>
            </a:r>
            <a:r>
              <a:rPr lang="it-IT" dirty="0" err="1"/>
              <a:t>EntityManager</a:t>
            </a:r>
            <a:endParaRPr lang="it-IT" dirty="0"/>
          </a:p>
          <a:p>
            <a:pPr lvl="1"/>
            <a:r>
              <a:rPr lang="it-IT" dirty="0"/>
              <a:t>le istruzioni comprese tra </a:t>
            </a:r>
            <a:r>
              <a:rPr lang="it-IT" dirty="0" err="1"/>
              <a:t>begin</a:t>
            </a:r>
            <a:r>
              <a:rPr lang="it-IT" dirty="0"/>
              <a:t>() e </a:t>
            </a:r>
            <a:r>
              <a:rPr lang="it-IT" dirty="0" err="1"/>
              <a:t>commit</a:t>
            </a:r>
            <a:r>
              <a:rPr lang="it-IT" dirty="0"/>
              <a:t>() vengono eseguite in modo atomico sul </a:t>
            </a:r>
            <a:r>
              <a:rPr lang="it-IT" dirty="0" err="1"/>
              <a:t>dbms</a:t>
            </a:r>
            <a:endParaRPr lang="it-IT" dirty="0"/>
          </a:p>
          <a:p>
            <a:pPr lvl="1"/>
            <a:endParaRPr lang="en-US" dirty="0"/>
          </a:p>
        </p:txBody>
      </p:sp>
    </p:spTree>
    <p:extLst>
      <p:ext uri="{BB962C8B-B14F-4D97-AF65-F5344CB8AC3E}">
        <p14:creationId xmlns:p14="http://schemas.microsoft.com/office/powerpoint/2010/main" val="361874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err="1"/>
              <a:t>persitence.xml</a:t>
            </a:r>
            <a:endParaRPr lang="en-US"/>
          </a:p>
        </p:txBody>
      </p:sp>
      <p:sp>
        <p:nvSpPr>
          <p:cNvPr id="3" name="Segnaposto contenuto 2"/>
          <p:cNvSpPr>
            <a:spLocks noGrp="1"/>
          </p:cNvSpPr>
          <p:nvPr>
            <p:ph idx="1"/>
          </p:nvPr>
        </p:nvSpPr>
        <p:spPr/>
        <p:txBody>
          <a:bodyPr/>
          <a:lstStyle/>
          <a:p>
            <a:r>
              <a:rPr lang="en-US" dirty="0"/>
              <a:t>E' un file XML (una </a:t>
            </a:r>
            <a:r>
              <a:rPr lang="en-US" dirty="0" err="1"/>
              <a:t>sintassi</a:t>
            </a:r>
            <a:r>
              <a:rPr lang="en-US" dirty="0"/>
              <a:t> standard)</a:t>
            </a:r>
          </a:p>
          <a:p>
            <a:r>
              <a:rPr lang="en-US" dirty="0" err="1"/>
              <a:t>deve</a:t>
            </a:r>
            <a:r>
              <a:rPr lang="en-US" dirty="0"/>
              <a:t> </a:t>
            </a:r>
            <a:r>
              <a:rPr lang="en-US" dirty="0" err="1"/>
              <a:t>essere</a:t>
            </a:r>
            <a:r>
              <a:rPr lang="en-US" dirty="0"/>
              <a:t> </a:t>
            </a:r>
            <a:r>
              <a:rPr lang="en-US" dirty="0" err="1"/>
              <a:t>nella</a:t>
            </a:r>
            <a:r>
              <a:rPr lang="en-US" dirty="0"/>
              <a:t> directory del </a:t>
            </a:r>
            <a:r>
              <a:rPr lang="en-US" dirty="0" err="1"/>
              <a:t>progetto</a:t>
            </a:r>
            <a:br>
              <a:rPr lang="en-US" dirty="0"/>
            </a:br>
            <a:r>
              <a:rPr lang="en-US" b="1" dirty="0" err="1"/>
              <a:t>src</a:t>
            </a:r>
            <a:r>
              <a:rPr lang="en-US" b="1" dirty="0"/>
              <a:t>/META-INF</a:t>
            </a:r>
          </a:p>
          <a:p>
            <a:r>
              <a:rPr lang="en-US" dirty="0" err="1"/>
              <a:t>Vediamo</a:t>
            </a:r>
            <a:r>
              <a:rPr lang="en-US" dirty="0"/>
              <a:t> un </a:t>
            </a:r>
            <a:r>
              <a:rPr lang="en-US" dirty="0" err="1"/>
              <a:t>esempio</a:t>
            </a:r>
            <a:r>
              <a:rPr lang="en-US" dirty="0"/>
              <a:t> di un file </a:t>
            </a:r>
            <a:r>
              <a:rPr lang="en-US" dirty="0" err="1"/>
              <a:t>persistence.xml</a:t>
            </a:r>
            <a:endParaRPr lang="en-US" dirty="0"/>
          </a:p>
          <a:p>
            <a:r>
              <a:rPr lang="en-US" dirty="0"/>
              <a:t>La </a:t>
            </a:r>
            <a:r>
              <a:rPr lang="en-US" dirty="0" err="1"/>
              <a:t>sintassi</a:t>
            </a:r>
            <a:r>
              <a:rPr lang="en-US" dirty="0"/>
              <a:t> XML </a:t>
            </a:r>
            <a:r>
              <a:rPr lang="en-US" dirty="0" err="1"/>
              <a:t>è</a:t>
            </a:r>
            <a:r>
              <a:rPr lang="en-US" dirty="0"/>
              <a:t> molto pesante, </a:t>
            </a:r>
            <a:r>
              <a:rPr lang="en-US" dirty="0" err="1"/>
              <a:t>anche</a:t>
            </a:r>
            <a:r>
              <a:rPr lang="en-US" dirty="0"/>
              <a:t> se </a:t>
            </a:r>
            <a:r>
              <a:rPr lang="en-US" dirty="0" err="1"/>
              <a:t>intuitiva</a:t>
            </a:r>
            <a:r>
              <a:rPr lang="en-US" dirty="0"/>
              <a:t> (</a:t>
            </a:r>
            <a:r>
              <a:rPr lang="en-US" dirty="0" err="1"/>
              <a:t>si</a:t>
            </a:r>
            <a:r>
              <a:rPr lang="en-US" dirty="0"/>
              <a:t> </a:t>
            </a:r>
            <a:r>
              <a:rPr lang="en-US" dirty="0" err="1"/>
              <a:t>basa</a:t>
            </a:r>
            <a:r>
              <a:rPr lang="en-US" dirty="0"/>
              <a:t> </a:t>
            </a:r>
            <a:r>
              <a:rPr lang="en-US" dirty="0" err="1"/>
              <a:t>su</a:t>
            </a:r>
            <a:r>
              <a:rPr lang="en-US" dirty="0"/>
              <a:t> </a:t>
            </a:r>
            <a:r>
              <a:rPr lang="en-US" dirty="0" err="1"/>
              <a:t>marcatori</a:t>
            </a:r>
            <a:r>
              <a:rPr lang="en-US" dirty="0"/>
              <a:t>) </a:t>
            </a:r>
          </a:p>
          <a:p>
            <a:pPr lvl="1"/>
            <a:r>
              <a:rPr lang="en-US" dirty="0"/>
              <a:t>ma ci </a:t>
            </a:r>
            <a:r>
              <a:rPr lang="en-US" dirty="0" err="1"/>
              <a:t>soffermeremo</a:t>
            </a:r>
            <a:r>
              <a:rPr lang="en-US" dirty="0"/>
              <a:t> </a:t>
            </a:r>
            <a:r>
              <a:rPr lang="en-US" dirty="0" err="1"/>
              <a:t>sugli</a:t>
            </a:r>
            <a:r>
              <a:rPr lang="en-US" dirty="0"/>
              <a:t> </a:t>
            </a:r>
            <a:r>
              <a:rPr lang="en-US" dirty="0" err="1"/>
              <a:t>elementi</a:t>
            </a:r>
            <a:r>
              <a:rPr lang="en-US" dirty="0"/>
              <a:t> </a:t>
            </a:r>
            <a:r>
              <a:rPr lang="en-US" dirty="0" err="1"/>
              <a:t>essenziali</a:t>
            </a:r>
            <a:r>
              <a:rPr lang="en-US" dirty="0"/>
              <a:t>, </a:t>
            </a:r>
            <a:r>
              <a:rPr lang="en-US" dirty="0" err="1"/>
              <a:t>che</a:t>
            </a:r>
            <a:r>
              <a:rPr lang="en-US" dirty="0"/>
              <a:t> </a:t>
            </a:r>
            <a:r>
              <a:rPr lang="en-US" dirty="0" err="1"/>
              <a:t>sono</a:t>
            </a:r>
            <a:r>
              <a:rPr lang="en-US" dirty="0"/>
              <a:t> </a:t>
            </a:r>
            <a:r>
              <a:rPr lang="en-US" dirty="0" err="1"/>
              <a:t>pochi</a:t>
            </a:r>
            <a:r>
              <a:rPr lang="en-US" dirty="0"/>
              <a:t> e </a:t>
            </a:r>
            <a:r>
              <a:rPr lang="en-US" dirty="0" err="1"/>
              <a:t>semplici</a:t>
            </a:r>
            <a:endParaRPr lang="en-US" dirty="0"/>
          </a:p>
        </p:txBody>
      </p:sp>
    </p:spTree>
    <p:extLst>
      <p:ext uri="{BB962C8B-B14F-4D97-AF65-F5344CB8AC3E}">
        <p14:creationId xmlns:p14="http://schemas.microsoft.com/office/powerpoint/2010/main" val="125819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73E8482-5044-8B4D-9DCB-5289F71B4B2D}"/>
              </a:ext>
            </a:extLst>
          </p:cNvPr>
          <p:cNvSpPr>
            <a:spLocks noGrp="1"/>
          </p:cNvSpPr>
          <p:nvPr>
            <p:ph type="title"/>
          </p:nvPr>
        </p:nvSpPr>
        <p:spPr/>
        <p:txBody>
          <a:bodyPr/>
          <a:lstStyle/>
          <a:p>
            <a:r>
              <a:rPr lang="en-US" dirty="0" err="1"/>
              <a:t>persistence.xml</a:t>
            </a:r>
            <a:endParaRPr lang="en-US" dirty="0"/>
          </a:p>
        </p:txBody>
      </p:sp>
      <p:sp>
        <p:nvSpPr>
          <p:cNvPr id="3" name="Segnaposto contenuto 2">
            <a:extLst>
              <a:ext uri="{FF2B5EF4-FFF2-40B4-BE49-F238E27FC236}">
                <a16:creationId xmlns:a16="http://schemas.microsoft.com/office/drawing/2014/main" id="{484DEB03-3087-9E4B-B124-1A54986C99B7}"/>
              </a:ext>
            </a:extLst>
          </p:cNvPr>
          <p:cNvSpPr>
            <a:spLocks noGrp="1"/>
          </p:cNvSpPr>
          <p:nvPr>
            <p:ph idx="1"/>
          </p:nvPr>
        </p:nvSpPr>
        <p:spPr/>
        <p:txBody>
          <a:bodyPr/>
          <a:lstStyle/>
          <a:p>
            <a:r>
              <a:rPr lang="en-US" dirty="0"/>
              <a:t>Il file </a:t>
            </a:r>
            <a:r>
              <a:rPr lang="en-US" dirty="0" err="1"/>
              <a:t>persistence.xml</a:t>
            </a:r>
            <a:r>
              <a:rPr lang="en-US" dirty="0"/>
              <a:t> </a:t>
            </a:r>
            <a:r>
              <a:rPr lang="en-US" dirty="0" err="1"/>
              <a:t>si</a:t>
            </a:r>
            <a:r>
              <a:rPr lang="en-US" dirty="0"/>
              <a:t> </a:t>
            </a:r>
            <a:r>
              <a:rPr lang="en-US" dirty="0" err="1"/>
              <a:t>compone</a:t>
            </a:r>
            <a:r>
              <a:rPr lang="en-US" dirty="0"/>
              <a:t> di una o </a:t>
            </a:r>
            <a:r>
              <a:rPr lang="en-US" dirty="0" err="1"/>
              <a:t>più</a:t>
            </a:r>
            <a:r>
              <a:rPr lang="en-US" dirty="0"/>
              <a:t> persistence-unit</a:t>
            </a:r>
          </a:p>
          <a:p>
            <a:r>
              <a:rPr lang="en-US" dirty="0" err="1"/>
              <a:t>Ogni</a:t>
            </a:r>
            <a:r>
              <a:rPr lang="en-US" dirty="0"/>
              <a:t> persistence-unit </a:t>
            </a:r>
            <a:r>
              <a:rPr lang="en-US" dirty="0" err="1"/>
              <a:t>inizia</a:t>
            </a:r>
            <a:r>
              <a:rPr lang="en-US" dirty="0"/>
              <a:t> con il </a:t>
            </a:r>
            <a:r>
              <a:rPr lang="en-US" dirty="0" err="1"/>
              <a:t>marcatore</a:t>
            </a:r>
            <a:r>
              <a:rPr lang="en-US" dirty="0"/>
              <a:t> </a:t>
            </a:r>
            <a:br>
              <a:rPr lang="en-US" dirty="0"/>
            </a:br>
            <a:r>
              <a:rPr lang="en-US" dirty="0"/>
              <a:t>			&lt;persistence-unit name="</a:t>
            </a:r>
            <a:r>
              <a:rPr lang="en-US" i="1" dirty="0" err="1"/>
              <a:t>nome</a:t>
            </a:r>
            <a:r>
              <a:rPr lang="en-US" i="1" dirty="0"/>
              <a:t> </a:t>
            </a:r>
            <a:r>
              <a:rPr lang="en-US" i="1" dirty="0" err="1"/>
              <a:t>della</a:t>
            </a:r>
            <a:r>
              <a:rPr lang="en-US" i="1" dirty="0"/>
              <a:t> unit</a:t>
            </a:r>
            <a:r>
              <a:rPr lang="en-US" dirty="0"/>
              <a:t>"&gt; </a:t>
            </a:r>
            <a:br>
              <a:rPr lang="en-US" dirty="0"/>
            </a:br>
            <a:r>
              <a:rPr lang="en-US" dirty="0"/>
              <a:t>e termina con il </a:t>
            </a:r>
            <a:r>
              <a:rPr lang="en-US" dirty="0" err="1"/>
              <a:t>marcatore</a:t>
            </a:r>
            <a:r>
              <a:rPr lang="en-US" dirty="0"/>
              <a:t> </a:t>
            </a:r>
            <a:br>
              <a:rPr lang="en-US" dirty="0"/>
            </a:br>
            <a:r>
              <a:rPr lang="en-US" dirty="0"/>
              <a:t>			&lt;/persistence&gt;</a:t>
            </a:r>
          </a:p>
          <a:p>
            <a:r>
              <a:rPr lang="en-US" dirty="0"/>
              <a:t>Il </a:t>
            </a:r>
            <a:r>
              <a:rPr lang="en-US" dirty="0" err="1"/>
              <a:t>nome</a:t>
            </a:r>
            <a:r>
              <a:rPr lang="en-US" dirty="0"/>
              <a:t> </a:t>
            </a:r>
            <a:r>
              <a:rPr lang="en-US" dirty="0" err="1"/>
              <a:t>della</a:t>
            </a:r>
            <a:r>
              <a:rPr lang="en-US" dirty="0"/>
              <a:t> </a:t>
            </a:r>
            <a:r>
              <a:rPr lang="en-US" dirty="0" err="1"/>
              <a:t>unità</a:t>
            </a:r>
            <a:r>
              <a:rPr lang="en-US" dirty="0"/>
              <a:t> </a:t>
            </a:r>
            <a:r>
              <a:rPr lang="en-US" dirty="0" err="1"/>
              <a:t>è</a:t>
            </a:r>
            <a:r>
              <a:rPr lang="en-US" dirty="0"/>
              <a:t> </a:t>
            </a:r>
            <a:r>
              <a:rPr lang="en-US" dirty="0" err="1"/>
              <a:t>quello</a:t>
            </a:r>
            <a:r>
              <a:rPr lang="en-US" dirty="0"/>
              <a:t> </a:t>
            </a:r>
            <a:r>
              <a:rPr lang="en-US" dirty="0" err="1"/>
              <a:t>che</a:t>
            </a:r>
            <a:r>
              <a:rPr lang="en-US" dirty="0"/>
              <a:t> </a:t>
            </a:r>
            <a:r>
              <a:rPr lang="en-US" dirty="0" err="1"/>
              <a:t>specifichiamo</a:t>
            </a:r>
            <a:r>
              <a:rPr lang="en-US" dirty="0"/>
              <a:t> </a:t>
            </a:r>
            <a:r>
              <a:rPr lang="en-US" dirty="0" err="1"/>
              <a:t>nella</a:t>
            </a:r>
            <a:r>
              <a:rPr lang="en-US" dirty="0"/>
              <a:t> </a:t>
            </a:r>
            <a:r>
              <a:rPr lang="en-US" dirty="0" err="1"/>
              <a:t>creazione</a:t>
            </a:r>
            <a:r>
              <a:rPr lang="en-US" dirty="0"/>
              <a:t> </a:t>
            </a:r>
            <a:r>
              <a:rPr lang="en-US" dirty="0" err="1"/>
              <a:t>dell'EntityManagerFactory</a:t>
            </a:r>
            <a:endParaRPr lang="en-US" dirty="0"/>
          </a:p>
          <a:p>
            <a:endParaRPr lang="en-US" dirty="0"/>
          </a:p>
          <a:p>
            <a:endParaRPr lang="en-US" dirty="0"/>
          </a:p>
        </p:txBody>
      </p:sp>
    </p:spTree>
    <p:extLst>
      <p:ext uri="{BB962C8B-B14F-4D97-AF65-F5344CB8AC3E}">
        <p14:creationId xmlns:p14="http://schemas.microsoft.com/office/powerpoint/2010/main" val="4289950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algn="r"/>
            <a:r>
              <a:rPr lang="en-US" dirty="0" err="1"/>
              <a:t>persistence.xml</a:t>
            </a:r>
            <a:r>
              <a:rPr lang="en-US" dirty="0"/>
              <a:t> (</a:t>
            </a:r>
            <a:r>
              <a:rPr lang="en-US" dirty="0" err="1"/>
              <a:t>esempio</a:t>
            </a:r>
            <a:r>
              <a:rPr lang="en-US" dirty="0"/>
              <a:t>)</a:t>
            </a:r>
          </a:p>
        </p:txBody>
      </p:sp>
      <p:sp>
        <p:nvSpPr>
          <p:cNvPr id="3" name="Segnaposto contenuto 2"/>
          <p:cNvSpPr>
            <a:spLocks noGrp="1"/>
          </p:cNvSpPr>
          <p:nvPr>
            <p:ph idx="1"/>
          </p:nvPr>
        </p:nvSpPr>
        <p:spPr>
          <a:xfrm>
            <a:off x="90969" y="321079"/>
            <a:ext cx="8229600" cy="3730557"/>
          </a:xfrm>
        </p:spPr>
        <p:txBody>
          <a:bodyPr vert="horz" lIns="68580" tIns="34290" rIns="68580" bIns="34290" rtlCol="0" anchor="t">
            <a:noAutofit/>
          </a:bodyPr>
          <a:lstStyle/>
          <a:p>
            <a:pPr marL="0" indent="0">
              <a:buNone/>
            </a:pPr>
            <a:r>
              <a:rPr lang="en-US" sz="1400" dirty="0"/>
              <a:t>&lt;?xml version="1.0" encoding="UTF-8"?&gt;</a:t>
            </a:r>
          </a:p>
          <a:p>
            <a:pPr marL="0" indent="0">
              <a:buNone/>
            </a:pPr>
            <a:r>
              <a:rPr lang="en-US" sz="1400" dirty="0"/>
              <a:t>&lt;persistence version="2.0"</a:t>
            </a:r>
          </a:p>
          <a:p>
            <a:pPr marL="0" indent="0">
              <a:buNone/>
            </a:pPr>
            <a:r>
              <a:rPr lang="en-US" sz="1400" dirty="0"/>
              <a:t>	</a:t>
            </a:r>
            <a:r>
              <a:rPr lang="en-US" sz="1400" dirty="0" err="1"/>
              <a:t>xmlns</a:t>
            </a:r>
            <a:r>
              <a:rPr lang="en-US" sz="1400" dirty="0"/>
              <a:t>="http://</a:t>
            </a:r>
            <a:r>
              <a:rPr lang="en-US" sz="1400" dirty="0" err="1"/>
              <a:t>java.sun.com</a:t>
            </a:r>
            <a:r>
              <a:rPr lang="en-US" sz="1400" dirty="0"/>
              <a:t>/xml/ns/persistence" </a:t>
            </a:r>
            <a:r>
              <a:rPr lang="en-US" sz="1400" dirty="0" err="1"/>
              <a:t>xmlns:xsi</a:t>
            </a:r>
            <a:r>
              <a:rPr lang="en-US" sz="1400" dirty="0"/>
              <a:t>="http://www.w3.org/2001/</a:t>
            </a:r>
            <a:r>
              <a:rPr lang="en-US" sz="1400" dirty="0" err="1"/>
              <a:t>XMLSchema</a:t>
            </a:r>
            <a:r>
              <a:rPr lang="en-US" sz="1400" dirty="0"/>
              <a:t>-instance"</a:t>
            </a:r>
          </a:p>
          <a:p>
            <a:pPr marL="0" indent="0">
              <a:buNone/>
            </a:pPr>
            <a:r>
              <a:rPr lang="en-US" sz="1400" dirty="0"/>
              <a:t>	</a:t>
            </a:r>
            <a:r>
              <a:rPr lang="en-US" sz="1400" dirty="0" err="1"/>
              <a:t>xsi:schemaLocation</a:t>
            </a:r>
            <a:r>
              <a:rPr lang="en-US" sz="1400" dirty="0"/>
              <a:t>="http://</a:t>
            </a:r>
            <a:r>
              <a:rPr lang="en-US" sz="1400" dirty="0" err="1"/>
              <a:t>java.sun.com</a:t>
            </a:r>
            <a:r>
              <a:rPr lang="en-US" sz="1400" dirty="0"/>
              <a:t>/xml/ns/persistence http://</a:t>
            </a:r>
            <a:r>
              <a:rPr lang="en-US" sz="1400" dirty="0" err="1"/>
              <a:t>java.sun.com</a:t>
            </a:r>
            <a:r>
              <a:rPr lang="en-US" sz="1400" dirty="0"/>
              <a:t>/xml/ns/persistence/persistence_2_0.xsd"&gt;</a:t>
            </a:r>
          </a:p>
          <a:p>
            <a:pPr marL="0" indent="0">
              <a:buNone/>
            </a:pPr>
            <a:r>
              <a:rPr lang="en-US" sz="1400" dirty="0"/>
              <a:t>	&lt;persistence-unit name="products-unit"&gt;</a:t>
            </a:r>
          </a:p>
          <a:p>
            <a:pPr marL="0" indent="0">
              <a:buNone/>
            </a:pPr>
            <a:r>
              <a:rPr lang="en-US" sz="1400" dirty="0"/>
              <a:t>		&lt;properties&gt;</a:t>
            </a:r>
          </a:p>
          <a:p>
            <a:pPr marL="0" indent="0">
              <a:buNone/>
            </a:pPr>
            <a:r>
              <a:rPr lang="en-US" sz="1400" dirty="0"/>
              <a:t>			&lt;property name="</a:t>
            </a:r>
            <a:r>
              <a:rPr lang="en-US" sz="1400" dirty="0" err="1"/>
              <a:t>javax.persistence.jdbc.driver</a:t>
            </a:r>
            <a:r>
              <a:rPr lang="en-US" sz="1400" dirty="0"/>
              <a:t>" value="</a:t>
            </a:r>
            <a:r>
              <a:rPr lang="en-US" sz="1400" dirty="0" err="1"/>
              <a:t>org.postgresql.Driver</a:t>
            </a:r>
            <a:r>
              <a:rPr lang="en-US" sz="1400" dirty="0"/>
              <a:t>" /&gt;</a:t>
            </a:r>
          </a:p>
          <a:p>
            <a:pPr marL="0" indent="0">
              <a:buNone/>
            </a:pPr>
            <a:r>
              <a:rPr lang="en-US" sz="1400" dirty="0"/>
              <a:t>			&lt;property name="</a:t>
            </a:r>
            <a:r>
              <a:rPr lang="en-US" sz="1400" dirty="0" err="1"/>
              <a:t>javax.persistence.jdbc.user</a:t>
            </a:r>
            <a:r>
              <a:rPr lang="en-US" sz="1400" dirty="0"/>
              <a:t>" value="</a:t>
            </a:r>
            <a:r>
              <a:rPr lang="en-US" sz="1400" dirty="0" err="1"/>
              <a:t>postgres</a:t>
            </a:r>
            <a:r>
              <a:rPr lang="en-US" sz="1400" dirty="0"/>
              <a:t>" /&gt;</a:t>
            </a:r>
          </a:p>
          <a:p>
            <a:pPr marL="0" indent="0">
              <a:buNone/>
            </a:pPr>
            <a:r>
              <a:rPr lang="en-US" sz="1400" dirty="0"/>
              <a:t>			&lt;property name="</a:t>
            </a:r>
            <a:r>
              <a:rPr lang="en-US" sz="1400" dirty="0" err="1"/>
              <a:t>javax.persistence.jdbc.password</a:t>
            </a:r>
            <a:r>
              <a:rPr lang="en-US" sz="1400" dirty="0"/>
              <a:t>" value="</a:t>
            </a:r>
            <a:r>
              <a:rPr lang="en-US" sz="1400" dirty="0" err="1"/>
              <a:t>postgres</a:t>
            </a:r>
            <a:r>
              <a:rPr lang="en-US" sz="1400" dirty="0"/>
              <a:t>" /&gt;</a:t>
            </a:r>
          </a:p>
          <a:p>
            <a:pPr marL="0" indent="0">
              <a:buNone/>
            </a:pPr>
            <a:r>
              <a:rPr lang="en-US" sz="1400" dirty="0"/>
              <a:t>			&lt;property name="</a:t>
            </a:r>
            <a:r>
              <a:rPr lang="en-US" sz="1400" dirty="0" err="1"/>
              <a:t>javax.persistence.jdbc.url</a:t>
            </a:r>
            <a:r>
              <a:rPr lang="en-US" sz="1400" dirty="0"/>
              <a:t>" value="</a:t>
            </a:r>
            <a:r>
              <a:rPr lang="en-US" sz="1400" dirty="0" err="1"/>
              <a:t>jdbc:postgresql</a:t>
            </a:r>
            <a:r>
              <a:rPr lang="en-US" sz="1400" dirty="0"/>
              <a:t>://localhost/products" /&gt;</a:t>
            </a:r>
          </a:p>
          <a:p>
            <a:pPr marL="0" indent="0">
              <a:buNone/>
            </a:pPr>
            <a:r>
              <a:rPr lang="en-US" sz="1400" dirty="0"/>
              <a:t>			&lt;property name="</a:t>
            </a:r>
            <a:r>
              <a:rPr lang="en-US" sz="1400" dirty="0" err="1"/>
              <a:t>hibernate.show_sql</a:t>
            </a:r>
            <a:r>
              <a:rPr lang="en-US" sz="1400" dirty="0"/>
              <a:t>" value="true" /&gt;</a:t>
            </a:r>
          </a:p>
          <a:p>
            <a:pPr marL="0" indent="0">
              <a:buNone/>
            </a:pPr>
            <a:r>
              <a:rPr lang="en-US" sz="1400" dirty="0"/>
              <a:t>			&lt;property name="</a:t>
            </a:r>
            <a:r>
              <a:rPr lang="en-US" sz="1400" dirty="0" err="1"/>
              <a:t>hibernate.format_sql</a:t>
            </a:r>
            <a:r>
              <a:rPr lang="en-US" sz="1400" dirty="0"/>
              <a:t>" value="true" /&gt;</a:t>
            </a:r>
          </a:p>
          <a:p>
            <a:pPr marL="0" indent="0">
              <a:buNone/>
            </a:pPr>
            <a:r>
              <a:rPr lang="en-US" sz="1400" dirty="0"/>
              <a:t>			&lt;property name="</a:t>
            </a:r>
            <a:r>
              <a:rPr lang="en-US" sz="1400" dirty="0" err="1"/>
              <a:t>hibernate.dialect</a:t>
            </a:r>
            <a:r>
              <a:rPr lang="en-US" sz="1400" dirty="0"/>
              <a:t>" value="</a:t>
            </a:r>
            <a:r>
              <a:rPr lang="en-US" sz="1400" dirty="0" err="1"/>
              <a:t>org.hibernate.dialect.PostgreSQLDialect</a:t>
            </a:r>
            <a:r>
              <a:rPr lang="en-US" sz="1400" dirty="0"/>
              <a:t>" /&gt;</a:t>
            </a:r>
          </a:p>
          <a:p>
            <a:pPr marL="0" indent="0">
              <a:buNone/>
            </a:pPr>
            <a:r>
              <a:rPr lang="en-US" sz="1400" dirty="0"/>
              <a:t>			&lt;property name="hibernate.hbm2ddl.auto" value="create" /&gt;</a:t>
            </a:r>
          </a:p>
          <a:p>
            <a:pPr marL="0" indent="0">
              <a:buNone/>
            </a:pPr>
            <a:r>
              <a:rPr lang="en-US" sz="1400" dirty="0"/>
              <a:t>		&lt;/properties&gt;</a:t>
            </a:r>
          </a:p>
          <a:p>
            <a:pPr marL="0" indent="0">
              <a:buNone/>
            </a:pPr>
            <a:r>
              <a:rPr lang="en-US" sz="1400" dirty="0"/>
              <a:t>	&lt;/persistence-unit&gt;</a:t>
            </a:r>
          </a:p>
          <a:p>
            <a:pPr marL="0" indent="0">
              <a:buNone/>
            </a:pPr>
            <a:r>
              <a:rPr lang="en-US" sz="1400" dirty="0"/>
              <a:t>&lt;/persistence&gt;</a:t>
            </a:r>
          </a:p>
          <a:p>
            <a:pPr marL="0" indent="0">
              <a:buNone/>
            </a:pPr>
            <a:endParaRPr lang="it-IT" sz="3600" dirty="0"/>
          </a:p>
        </p:txBody>
      </p:sp>
      <p:sp>
        <p:nvSpPr>
          <p:cNvPr id="4" name="Freccia giù 3"/>
          <p:cNvSpPr/>
          <p:nvPr/>
        </p:nvSpPr>
        <p:spPr>
          <a:xfrm>
            <a:off x="2559035" y="1464061"/>
            <a:ext cx="510212" cy="369959"/>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r>
              <a:rPr lang="it-IT" sz="2100" dirty="0">
                <a:solidFill>
                  <a:srgbClr val="FF0080"/>
                </a:solidFill>
                <a:latin typeface="Calibri Light" panose="020F0302020204030204" pitchFamily="34" charset="0"/>
              </a:rPr>
              <a:t>*</a:t>
            </a:r>
          </a:p>
        </p:txBody>
      </p:sp>
    </p:spTree>
    <p:extLst>
      <p:ext uri="{BB962C8B-B14F-4D97-AF65-F5344CB8AC3E}">
        <p14:creationId xmlns:p14="http://schemas.microsoft.com/office/powerpoint/2010/main" val="2503027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err="1"/>
              <a:t>persistence.xml</a:t>
            </a:r>
            <a:endParaRPr lang="en-US"/>
          </a:p>
        </p:txBody>
      </p:sp>
      <p:sp>
        <p:nvSpPr>
          <p:cNvPr id="3" name="Segnaposto contenuto 2"/>
          <p:cNvSpPr>
            <a:spLocks noGrp="1"/>
          </p:cNvSpPr>
          <p:nvPr>
            <p:ph idx="1"/>
          </p:nvPr>
        </p:nvSpPr>
        <p:spPr>
          <a:xfrm>
            <a:off x="457200" y="1200151"/>
            <a:ext cx="8686800" cy="3394472"/>
          </a:xfrm>
        </p:spPr>
        <p:txBody>
          <a:bodyPr>
            <a:normAutofit fontScale="92500"/>
          </a:bodyPr>
          <a:lstStyle/>
          <a:p>
            <a:r>
              <a:rPr lang="en-US" dirty="0"/>
              <a:t>Ci </a:t>
            </a:r>
            <a:r>
              <a:rPr lang="en-US" dirty="0" err="1"/>
              <a:t>permette</a:t>
            </a:r>
            <a:r>
              <a:rPr lang="en-US" dirty="0"/>
              <a:t> di </a:t>
            </a:r>
            <a:r>
              <a:rPr lang="en-US" dirty="0" err="1"/>
              <a:t>specificare</a:t>
            </a:r>
            <a:r>
              <a:rPr lang="en-US" dirty="0"/>
              <a:t> le </a:t>
            </a:r>
            <a:r>
              <a:rPr lang="en-US" dirty="0" err="1"/>
              <a:t>proprietà</a:t>
            </a:r>
            <a:r>
              <a:rPr lang="en-US" dirty="0"/>
              <a:t> per la </a:t>
            </a:r>
            <a:r>
              <a:rPr lang="en-US" dirty="0" err="1"/>
              <a:t>connessione</a:t>
            </a:r>
            <a:r>
              <a:rPr lang="en-US" dirty="0"/>
              <a:t> al database:</a:t>
            </a:r>
          </a:p>
          <a:p>
            <a:pPr lvl="1"/>
            <a:r>
              <a:rPr lang="en-US" dirty="0"/>
              <a:t>driver del </a:t>
            </a:r>
            <a:r>
              <a:rPr lang="en-US" dirty="0" err="1"/>
              <a:t>dbms</a:t>
            </a:r>
            <a:endParaRPr lang="en-US" dirty="0"/>
          </a:p>
          <a:p>
            <a:pPr marL="342900" lvl="1" indent="0">
              <a:buNone/>
            </a:pPr>
            <a:r>
              <a:rPr lang="en-US" sz="1800" dirty="0">
                <a:solidFill>
                  <a:srgbClr val="FF0000"/>
                </a:solidFill>
              </a:rPr>
              <a:t>&lt;property name=</a:t>
            </a:r>
            <a:r>
              <a:rPr lang="en-US" sz="1800" i="1" dirty="0">
                <a:solidFill>
                  <a:srgbClr val="FF0000"/>
                </a:solidFill>
              </a:rPr>
              <a:t>"</a:t>
            </a:r>
            <a:r>
              <a:rPr lang="en-US" sz="1800" i="1" dirty="0" err="1">
                <a:solidFill>
                  <a:srgbClr val="FF0000"/>
                </a:solidFill>
              </a:rPr>
              <a:t>javax.persistence.jdbc.driver</a:t>
            </a:r>
            <a:r>
              <a:rPr lang="en-US" sz="1800" i="1" dirty="0">
                <a:solidFill>
                  <a:srgbClr val="FF0000"/>
                </a:solidFill>
              </a:rPr>
              <a:t>" value="</a:t>
            </a:r>
            <a:r>
              <a:rPr lang="en-US" sz="1800" i="1" dirty="0" err="1">
                <a:solidFill>
                  <a:srgbClr val="FF0000"/>
                </a:solidFill>
              </a:rPr>
              <a:t>org.postgresql.Driver</a:t>
            </a:r>
            <a:r>
              <a:rPr lang="en-US" sz="1800" i="1" dirty="0">
                <a:solidFill>
                  <a:srgbClr val="FF0000"/>
                </a:solidFill>
              </a:rPr>
              <a:t>" /&gt;</a:t>
            </a:r>
            <a:endParaRPr lang="en-US" sz="1800" dirty="0"/>
          </a:p>
          <a:p>
            <a:pPr lvl="1"/>
            <a:r>
              <a:rPr lang="en-US" dirty="0"/>
              <a:t>username e password per </a:t>
            </a:r>
            <a:r>
              <a:rPr lang="en-US" dirty="0" err="1"/>
              <a:t>accedere</a:t>
            </a:r>
            <a:r>
              <a:rPr lang="en-US" dirty="0"/>
              <a:t> al </a:t>
            </a:r>
            <a:r>
              <a:rPr lang="en-US" dirty="0" err="1"/>
              <a:t>dbms</a:t>
            </a:r>
            <a:br>
              <a:rPr lang="en-US" dirty="0"/>
            </a:br>
            <a:r>
              <a:rPr lang="en-US" dirty="0"/>
              <a:t>(</a:t>
            </a:r>
            <a:r>
              <a:rPr lang="en-US" dirty="0" err="1"/>
              <a:t>devono</a:t>
            </a:r>
            <a:r>
              <a:rPr lang="en-US" dirty="0"/>
              <a:t> </a:t>
            </a:r>
            <a:r>
              <a:rPr lang="en-US" dirty="0" err="1"/>
              <a:t>essere</a:t>
            </a:r>
            <a:r>
              <a:rPr lang="en-US" dirty="0"/>
              <a:t> </a:t>
            </a:r>
            <a:r>
              <a:rPr lang="en-US" dirty="0" err="1"/>
              <a:t>quelli</a:t>
            </a:r>
            <a:r>
              <a:rPr lang="en-US" dirty="0"/>
              <a:t> del vostro </a:t>
            </a:r>
            <a:r>
              <a:rPr lang="en-US" dirty="0" err="1"/>
              <a:t>dbms</a:t>
            </a:r>
            <a:r>
              <a:rPr lang="en-US" dirty="0"/>
              <a:t>!)</a:t>
            </a:r>
          </a:p>
          <a:p>
            <a:pPr marL="342900" lvl="1" indent="0">
              <a:buNone/>
            </a:pPr>
            <a:r>
              <a:rPr lang="en-US" sz="1800" dirty="0">
                <a:solidFill>
                  <a:srgbClr val="FF0000"/>
                </a:solidFill>
              </a:rPr>
              <a:t>&lt;property name=</a:t>
            </a:r>
            <a:r>
              <a:rPr lang="en-US" sz="1800" i="1" dirty="0">
                <a:solidFill>
                  <a:srgbClr val="FF0000"/>
                </a:solidFill>
              </a:rPr>
              <a:t>"</a:t>
            </a:r>
            <a:r>
              <a:rPr lang="en-US" sz="1800" i="1" dirty="0" err="1">
                <a:solidFill>
                  <a:srgbClr val="FF0000"/>
                </a:solidFill>
              </a:rPr>
              <a:t>javax.persistence.jdbc.user</a:t>
            </a:r>
            <a:r>
              <a:rPr lang="en-US" sz="1800" i="1" dirty="0">
                <a:solidFill>
                  <a:srgbClr val="FF0000"/>
                </a:solidFill>
              </a:rPr>
              <a:t>" value="</a:t>
            </a:r>
            <a:r>
              <a:rPr lang="en-US" sz="1800" i="1" dirty="0" err="1">
                <a:solidFill>
                  <a:srgbClr val="FF0000"/>
                </a:solidFill>
              </a:rPr>
              <a:t>postgres</a:t>
            </a:r>
            <a:r>
              <a:rPr lang="en-US" sz="1800" i="1" dirty="0">
                <a:solidFill>
                  <a:srgbClr val="FF0000"/>
                </a:solidFill>
              </a:rPr>
              <a:t>" /&gt;</a:t>
            </a:r>
            <a:br>
              <a:rPr lang="en-US" sz="1800" i="1" dirty="0">
                <a:solidFill>
                  <a:srgbClr val="FF0000"/>
                </a:solidFill>
              </a:rPr>
            </a:br>
            <a:r>
              <a:rPr lang="en-US" sz="1800" dirty="0">
                <a:solidFill>
                  <a:srgbClr val="FF0000"/>
                </a:solidFill>
              </a:rPr>
              <a:t>&lt;property name=</a:t>
            </a:r>
            <a:r>
              <a:rPr lang="en-US" sz="1800" i="1" dirty="0">
                <a:solidFill>
                  <a:srgbClr val="FF0000"/>
                </a:solidFill>
              </a:rPr>
              <a:t>"</a:t>
            </a:r>
            <a:r>
              <a:rPr lang="en-US" sz="1800" i="1" dirty="0" err="1">
                <a:solidFill>
                  <a:srgbClr val="FF0000"/>
                </a:solidFill>
              </a:rPr>
              <a:t>javax.persistence.jdbc.password</a:t>
            </a:r>
            <a:r>
              <a:rPr lang="en-US" sz="1800" i="1" dirty="0">
                <a:solidFill>
                  <a:srgbClr val="FF0000"/>
                </a:solidFill>
              </a:rPr>
              <a:t>" value="</a:t>
            </a:r>
            <a:r>
              <a:rPr lang="en-US" sz="1800" i="1" dirty="0" err="1">
                <a:solidFill>
                  <a:srgbClr val="FF0000"/>
                </a:solidFill>
              </a:rPr>
              <a:t>postgres</a:t>
            </a:r>
            <a:r>
              <a:rPr lang="en-US" sz="1800" i="1" dirty="0">
                <a:solidFill>
                  <a:srgbClr val="FF0000"/>
                </a:solidFill>
              </a:rPr>
              <a:t>" /&gt;</a:t>
            </a:r>
          </a:p>
          <a:p>
            <a:pPr lvl="1"/>
            <a:r>
              <a:rPr lang="en-US" dirty="0" err="1"/>
              <a:t>url</a:t>
            </a:r>
            <a:r>
              <a:rPr lang="en-US" dirty="0"/>
              <a:t> del database (host, porta, </a:t>
            </a:r>
            <a:r>
              <a:rPr lang="en-US" dirty="0" err="1"/>
              <a:t>nome</a:t>
            </a:r>
            <a:r>
              <a:rPr lang="en-US" dirty="0"/>
              <a:t> del database)</a:t>
            </a:r>
          </a:p>
          <a:p>
            <a:pPr marL="342900" lvl="1" indent="0">
              <a:buNone/>
            </a:pPr>
            <a:r>
              <a:rPr lang="en-US" sz="1800" dirty="0">
                <a:solidFill>
                  <a:srgbClr val="FF0000"/>
                </a:solidFill>
              </a:rPr>
              <a:t>&lt;property name=</a:t>
            </a:r>
            <a:r>
              <a:rPr lang="en-US" sz="1800" i="1" dirty="0">
                <a:solidFill>
                  <a:srgbClr val="FF0000"/>
                </a:solidFill>
              </a:rPr>
              <a:t>"</a:t>
            </a:r>
            <a:r>
              <a:rPr lang="en-US" sz="1800" i="1" dirty="0" err="1">
                <a:solidFill>
                  <a:srgbClr val="FF0000"/>
                </a:solidFill>
              </a:rPr>
              <a:t>javax.persistence.jdbc.url</a:t>
            </a:r>
            <a:r>
              <a:rPr lang="en-US" sz="1800" i="1" dirty="0">
                <a:solidFill>
                  <a:srgbClr val="FF0000"/>
                </a:solidFill>
              </a:rPr>
              <a:t>" value="</a:t>
            </a:r>
            <a:r>
              <a:rPr lang="en-US" sz="1800" i="1" dirty="0" err="1">
                <a:solidFill>
                  <a:srgbClr val="FF0000"/>
                </a:solidFill>
              </a:rPr>
              <a:t>jdbc:postgresql</a:t>
            </a:r>
            <a:r>
              <a:rPr lang="en-US" sz="1800" i="1" dirty="0">
                <a:solidFill>
                  <a:srgbClr val="FF0000"/>
                </a:solidFill>
              </a:rPr>
              <a:t>://localhost/products" /&gt;</a:t>
            </a:r>
            <a:endParaRPr lang="en-US" sz="1400" dirty="0"/>
          </a:p>
        </p:txBody>
      </p:sp>
    </p:spTree>
    <p:extLst>
      <p:ext uri="{BB962C8B-B14F-4D97-AF65-F5344CB8AC3E}">
        <p14:creationId xmlns:p14="http://schemas.microsoft.com/office/powerpoint/2010/main" val="3354868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err="1"/>
              <a:t>Esecuzione</a:t>
            </a:r>
            <a:r>
              <a:rPr lang="en-US"/>
              <a:t> </a:t>
            </a:r>
            <a:r>
              <a:rPr lang="en-US" err="1"/>
              <a:t>NamedQuery</a:t>
            </a:r>
            <a:endParaRPr lang="en-US"/>
          </a:p>
        </p:txBody>
      </p:sp>
      <p:sp>
        <p:nvSpPr>
          <p:cNvPr id="3" name="Segnaposto contenuto 2"/>
          <p:cNvSpPr>
            <a:spLocks noGrp="1"/>
          </p:cNvSpPr>
          <p:nvPr>
            <p:ph idx="1"/>
          </p:nvPr>
        </p:nvSpPr>
        <p:spPr/>
        <p:txBody>
          <a:bodyPr/>
          <a:lstStyle/>
          <a:p>
            <a:r>
              <a:rPr lang="en-US"/>
              <a:t>Il test ci </a:t>
            </a:r>
            <a:r>
              <a:rPr lang="en-US" err="1"/>
              <a:t>offre</a:t>
            </a:r>
            <a:r>
              <a:rPr lang="en-US"/>
              <a:t> </a:t>
            </a:r>
            <a:r>
              <a:rPr lang="en-US" err="1"/>
              <a:t>anche</a:t>
            </a:r>
            <a:r>
              <a:rPr lang="en-US"/>
              <a:t> un </a:t>
            </a:r>
            <a:r>
              <a:rPr lang="en-US" err="1"/>
              <a:t>esempio</a:t>
            </a:r>
            <a:r>
              <a:rPr lang="en-US"/>
              <a:t> di come </a:t>
            </a:r>
            <a:r>
              <a:rPr lang="en-US" err="1"/>
              <a:t>l'EntityManager</a:t>
            </a:r>
            <a:r>
              <a:rPr lang="en-US"/>
              <a:t> </a:t>
            </a:r>
            <a:r>
              <a:rPr lang="en-US" err="1"/>
              <a:t>gestisce</a:t>
            </a:r>
            <a:r>
              <a:rPr lang="en-US"/>
              <a:t> le </a:t>
            </a:r>
            <a:r>
              <a:rPr lang="en-US" err="1"/>
              <a:t>interrogazione</a:t>
            </a:r>
            <a:r>
              <a:rPr lang="en-US"/>
              <a:t> al </a:t>
            </a:r>
            <a:r>
              <a:rPr lang="en-US" err="1"/>
              <a:t>db</a:t>
            </a:r>
            <a:r>
              <a:rPr lang="en-US"/>
              <a:t> (con </a:t>
            </a:r>
            <a:r>
              <a:rPr lang="en-US" err="1"/>
              <a:t>l'esecuzione</a:t>
            </a:r>
            <a:r>
              <a:rPr lang="en-US"/>
              <a:t> di </a:t>
            </a:r>
            <a:r>
              <a:rPr lang="en-US" err="1"/>
              <a:t>una</a:t>
            </a:r>
            <a:r>
              <a:rPr lang="en-US"/>
              <a:t> </a:t>
            </a:r>
            <a:r>
              <a:rPr lang="en-US" err="1"/>
              <a:t>NamedEntity</a:t>
            </a:r>
            <a:r>
              <a:rPr lang="en-US"/>
              <a:t>)</a:t>
            </a:r>
          </a:p>
          <a:p>
            <a:endParaRPr lang="en-US"/>
          </a:p>
          <a:p>
            <a:pPr marL="0" indent="0">
              <a:buNone/>
            </a:pPr>
            <a:r>
              <a:rPr lang="en-US" sz="1800"/>
              <a:t>List&lt;Product&gt; products= </a:t>
            </a:r>
            <a:br>
              <a:rPr lang="en-US" sz="1800"/>
            </a:br>
            <a:r>
              <a:rPr lang="en-US" sz="1800"/>
              <a:t>	</a:t>
            </a:r>
            <a:r>
              <a:rPr lang="en-US" sz="1800" err="1">
                <a:solidFill>
                  <a:srgbClr val="C0504D"/>
                </a:solidFill>
              </a:rPr>
              <a:t>em.createNamedQuery</a:t>
            </a:r>
            <a:r>
              <a:rPr lang="en-US" sz="1800">
                <a:solidFill>
                  <a:srgbClr val="C0504D"/>
                </a:solidFill>
              </a:rPr>
              <a:t>("</a:t>
            </a:r>
            <a:r>
              <a:rPr lang="en-US" sz="1800" err="1">
                <a:solidFill>
                  <a:srgbClr val="C0504D"/>
                </a:solidFill>
              </a:rPr>
              <a:t>findAllProducts</a:t>
            </a:r>
            <a:r>
              <a:rPr lang="en-US" sz="1800">
                <a:solidFill>
                  <a:srgbClr val="C0504D"/>
                </a:solidFill>
              </a:rPr>
              <a:t>”, </a:t>
            </a:r>
          </a:p>
          <a:p>
            <a:pPr marL="0" indent="0">
              <a:buNone/>
            </a:pPr>
            <a:r>
              <a:rPr lang="en-US" sz="1800">
                <a:solidFill>
                  <a:srgbClr val="C0504D"/>
                </a:solidFill>
              </a:rPr>
              <a:t>								</a:t>
            </a:r>
            <a:r>
              <a:rPr lang="en-US" sz="1800" err="1">
                <a:solidFill>
                  <a:srgbClr val="C0504D"/>
                </a:solidFill>
              </a:rPr>
              <a:t>Prodcut.class</a:t>
            </a:r>
            <a:r>
              <a:rPr lang="en-US" sz="1800">
                <a:solidFill>
                  <a:srgbClr val="C0504D"/>
                </a:solidFill>
              </a:rPr>
              <a:t>).</a:t>
            </a:r>
            <a:r>
              <a:rPr lang="en-US" sz="1800" err="1">
                <a:solidFill>
                  <a:srgbClr val="C0504D"/>
                </a:solidFill>
              </a:rPr>
              <a:t>getResultList</a:t>
            </a:r>
            <a:r>
              <a:rPr lang="en-US" sz="1800">
                <a:solidFill>
                  <a:srgbClr val="C0504D"/>
                </a:solidFill>
              </a:rPr>
              <a:t>();</a:t>
            </a:r>
            <a:endParaRPr lang="en-US" sz="2700"/>
          </a:p>
          <a:p>
            <a:endParaRPr lang="en-US"/>
          </a:p>
        </p:txBody>
      </p:sp>
    </p:spTree>
    <p:extLst>
      <p:ext uri="{BB962C8B-B14F-4D97-AF65-F5344CB8AC3E}">
        <p14:creationId xmlns:p14="http://schemas.microsoft.com/office/powerpoint/2010/main" val="1631423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err="1"/>
              <a:t>Operazioni</a:t>
            </a:r>
            <a:r>
              <a:rPr lang="en-US"/>
              <a:t> </a:t>
            </a:r>
            <a:r>
              <a:rPr lang="en-US" err="1"/>
              <a:t>dell'Entity</a:t>
            </a:r>
            <a:r>
              <a:rPr lang="en-US"/>
              <a:t> Manager</a:t>
            </a:r>
          </a:p>
        </p:txBody>
      </p:sp>
      <p:sp>
        <p:nvSpPr>
          <p:cNvPr id="3" name="Segnaposto contenuto 2"/>
          <p:cNvSpPr>
            <a:spLocks noGrp="1"/>
          </p:cNvSpPr>
          <p:nvPr>
            <p:ph idx="1"/>
          </p:nvPr>
        </p:nvSpPr>
        <p:spPr/>
        <p:txBody>
          <a:bodyPr/>
          <a:lstStyle/>
          <a:p>
            <a:r>
              <a:rPr lang="en-US" dirty="0" err="1"/>
              <a:t>Vediamo</a:t>
            </a:r>
            <a:r>
              <a:rPr lang="en-US" dirty="0"/>
              <a:t> </a:t>
            </a:r>
            <a:r>
              <a:rPr lang="en-US" dirty="0" err="1"/>
              <a:t>i</a:t>
            </a:r>
            <a:r>
              <a:rPr lang="en-US" dirty="0"/>
              <a:t> </a:t>
            </a:r>
            <a:r>
              <a:rPr lang="en-US" dirty="0" err="1"/>
              <a:t>metodi</a:t>
            </a:r>
            <a:r>
              <a:rPr lang="en-US" dirty="0"/>
              <a:t> </a:t>
            </a:r>
            <a:r>
              <a:rPr lang="en-US" dirty="0" err="1"/>
              <a:t>principali</a:t>
            </a:r>
            <a:r>
              <a:rPr lang="en-US" dirty="0"/>
              <a:t> </a:t>
            </a:r>
            <a:r>
              <a:rPr lang="en-US" dirty="0" err="1"/>
              <a:t>dell'EM</a:t>
            </a:r>
            <a:endParaRPr lang="en-US" dirty="0"/>
          </a:p>
          <a:p>
            <a:pPr lvl="1"/>
            <a:r>
              <a:rPr lang="en-US" dirty="0"/>
              <a:t>persist(Object entity)</a:t>
            </a:r>
          </a:p>
          <a:p>
            <a:pPr lvl="1"/>
            <a:r>
              <a:rPr lang="en-US" dirty="0"/>
              <a:t>remove(Object entity)</a:t>
            </a:r>
          </a:p>
          <a:p>
            <a:pPr lvl="1"/>
            <a:r>
              <a:rPr lang="en-US" dirty="0"/>
              <a:t>merge(Object entity)</a:t>
            </a:r>
          </a:p>
          <a:p>
            <a:pPr lvl="1"/>
            <a:r>
              <a:rPr lang="en-US" dirty="0"/>
              <a:t>find(Class&lt;T&gt; </a:t>
            </a:r>
            <a:r>
              <a:rPr lang="en-US" dirty="0" err="1"/>
              <a:t>entityClass</a:t>
            </a:r>
            <a:r>
              <a:rPr lang="en-US" dirty="0"/>
              <a:t>, Object </a:t>
            </a:r>
            <a:r>
              <a:rPr lang="en-US" dirty="0" err="1"/>
              <a:t>primaryKey</a:t>
            </a:r>
            <a:r>
              <a:rPr lang="en-US" dirty="0"/>
              <a:t>)</a:t>
            </a:r>
          </a:p>
          <a:p>
            <a:r>
              <a:rPr lang="en-US" dirty="0"/>
              <a:t>Per </a:t>
            </a:r>
            <a:r>
              <a:rPr lang="en-US" dirty="0" err="1"/>
              <a:t>dettagli</a:t>
            </a:r>
            <a:r>
              <a:rPr lang="en-US" dirty="0"/>
              <a:t> </a:t>
            </a:r>
            <a:r>
              <a:rPr lang="en-US" dirty="0" err="1"/>
              <a:t>su</a:t>
            </a:r>
            <a:r>
              <a:rPr lang="en-US" dirty="0"/>
              <a:t> </a:t>
            </a:r>
            <a:r>
              <a:rPr lang="en-US" dirty="0" err="1"/>
              <a:t>tutti</a:t>
            </a:r>
            <a:r>
              <a:rPr lang="en-US" dirty="0"/>
              <a:t> </a:t>
            </a:r>
            <a:r>
              <a:rPr lang="en-US" dirty="0" err="1"/>
              <a:t>gli</a:t>
            </a:r>
            <a:r>
              <a:rPr lang="en-US" dirty="0"/>
              <a:t> </a:t>
            </a:r>
            <a:r>
              <a:rPr lang="en-US" dirty="0" err="1"/>
              <a:t>altri</a:t>
            </a:r>
            <a:r>
              <a:rPr lang="en-US" dirty="0"/>
              <a:t> </a:t>
            </a:r>
            <a:r>
              <a:rPr lang="en-US" dirty="0" err="1"/>
              <a:t>metodi</a:t>
            </a:r>
            <a:r>
              <a:rPr lang="en-US" dirty="0"/>
              <a:t> </a:t>
            </a:r>
            <a:r>
              <a:rPr lang="en-US" dirty="0" err="1"/>
              <a:t>si</a:t>
            </a:r>
            <a:r>
              <a:rPr lang="en-US" dirty="0"/>
              <a:t> </a:t>
            </a:r>
            <a:r>
              <a:rPr lang="en-US" dirty="0" err="1"/>
              <a:t>consulti</a:t>
            </a:r>
            <a:r>
              <a:rPr lang="en-US" dirty="0"/>
              <a:t> la </a:t>
            </a:r>
            <a:r>
              <a:rPr lang="en-US" dirty="0" err="1"/>
              <a:t>documentazione</a:t>
            </a:r>
            <a:r>
              <a:rPr lang="en-US" dirty="0"/>
              <a:t> Javadoc</a:t>
            </a:r>
          </a:p>
        </p:txBody>
      </p:sp>
    </p:spTree>
    <p:extLst>
      <p:ext uri="{BB962C8B-B14F-4D97-AF65-F5344CB8AC3E}">
        <p14:creationId xmlns:p14="http://schemas.microsoft.com/office/powerpoint/2010/main" val="1114494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olo 1"/>
          <p:cNvSpPr>
            <a:spLocks noGrp="1"/>
          </p:cNvSpPr>
          <p:nvPr>
            <p:ph type="title"/>
          </p:nvPr>
        </p:nvSpPr>
        <p:spPr/>
        <p:txBody>
          <a:bodyPr/>
          <a:lstStyle/>
          <a:p>
            <a:r>
              <a:rPr lang="it-IT"/>
              <a:t>EM: </a:t>
            </a:r>
            <a:r>
              <a:rPr lang="it-IT" err="1"/>
              <a:t>persist</a:t>
            </a:r>
            <a:r>
              <a:rPr lang="it-IT"/>
              <a:t>(Object </a:t>
            </a:r>
            <a:r>
              <a:rPr lang="it-IT" err="1"/>
              <a:t>entity</a:t>
            </a:r>
            <a:r>
              <a:rPr lang="it-IT"/>
              <a:t>)</a:t>
            </a:r>
          </a:p>
        </p:txBody>
      </p:sp>
      <p:sp>
        <p:nvSpPr>
          <p:cNvPr id="3" name="Segnaposto contenuto 2"/>
          <p:cNvSpPr>
            <a:spLocks noGrp="1"/>
          </p:cNvSpPr>
          <p:nvPr>
            <p:ph idx="1"/>
          </p:nvPr>
        </p:nvSpPr>
        <p:spPr/>
        <p:txBody>
          <a:bodyPr>
            <a:normAutofit/>
          </a:bodyPr>
          <a:lstStyle/>
          <a:p>
            <a:pPr>
              <a:lnSpc>
                <a:spcPct val="90000"/>
              </a:lnSpc>
            </a:pPr>
            <a:r>
              <a:rPr lang="it-IT" sz="2025" dirty="0">
                <a:cs typeface="Calibri Light" panose="020F0302020204030204" pitchFamily="34" charset="0"/>
              </a:rPr>
              <a:t>public </a:t>
            </a:r>
            <a:r>
              <a:rPr lang="it-IT" sz="2025" dirty="0" err="1">
                <a:cs typeface="Calibri Light" panose="020F0302020204030204" pitchFamily="34" charset="0"/>
              </a:rPr>
              <a:t>void</a:t>
            </a:r>
            <a:r>
              <a:rPr lang="it-IT" sz="2025" dirty="0">
                <a:cs typeface="Calibri Light" panose="020F0302020204030204" pitchFamily="34" charset="0"/>
              </a:rPr>
              <a:t> </a:t>
            </a:r>
            <a:r>
              <a:rPr lang="it-IT" sz="2025" dirty="0" err="1">
                <a:cs typeface="Calibri Light" panose="020F0302020204030204" pitchFamily="34" charset="0"/>
              </a:rPr>
              <a:t>persist</a:t>
            </a:r>
            <a:r>
              <a:rPr lang="it-IT" sz="2025" dirty="0">
                <a:cs typeface="Calibri Light" panose="020F0302020204030204" pitchFamily="34" charset="0"/>
              </a:rPr>
              <a:t>(Object </a:t>
            </a:r>
            <a:r>
              <a:rPr lang="it-IT" sz="2025" dirty="0" err="1">
                <a:cs typeface="Calibri Light" panose="020F0302020204030204" pitchFamily="34" charset="0"/>
              </a:rPr>
              <a:t>entity</a:t>
            </a:r>
            <a:r>
              <a:rPr lang="it-IT" sz="2025" dirty="0">
                <a:cs typeface="Calibri Light" panose="020F0302020204030204" pitchFamily="34" charset="0"/>
              </a:rPr>
              <a:t>);</a:t>
            </a:r>
          </a:p>
          <a:p>
            <a:pPr lvl="1">
              <a:lnSpc>
                <a:spcPct val="90000"/>
              </a:lnSpc>
            </a:pPr>
            <a:r>
              <a:rPr lang="en-US" sz="1800" dirty="0">
                <a:cs typeface="Calibri Light" panose="020F0302020204030204" pitchFamily="34" charset="0"/>
              </a:rPr>
              <a:t>Transitions new instances to managed. On the next commit (or flush), the newly persisted instances will be inserted into the datastore.</a:t>
            </a:r>
          </a:p>
          <a:p>
            <a:pPr lvl="1">
              <a:lnSpc>
                <a:spcPct val="90000"/>
              </a:lnSpc>
            </a:pPr>
            <a:r>
              <a:rPr lang="en-US" sz="1800" dirty="0">
                <a:cs typeface="Calibri Light" panose="020F0302020204030204" pitchFamily="34" charset="0"/>
              </a:rPr>
              <a:t>For a given entity A, the persist method behaves as follows:</a:t>
            </a:r>
          </a:p>
          <a:p>
            <a:pPr lvl="2">
              <a:lnSpc>
                <a:spcPct val="90000"/>
              </a:lnSpc>
            </a:pPr>
            <a:r>
              <a:rPr lang="en-US" sz="1500" dirty="0">
                <a:cs typeface="Calibri Light" panose="020F0302020204030204" pitchFamily="34" charset="0"/>
              </a:rPr>
              <a:t>If A is a new entity, it becomes managed.</a:t>
            </a:r>
          </a:p>
          <a:p>
            <a:pPr lvl="2">
              <a:lnSpc>
                <a:spcPct val="90000"/>
              </a:lnSpc>
            </a:pPr>
            <a:r>
              <a:rPr lang="en-US" sz="1500" dirty="0">
                <a:cs typeface="Calibri Light" panose="020F0302020204030204" pitchFamily="34" charset="0"/>
              </a:rPr>
              <a:t>If A is an existing managed entity, it is ignored. However, the persist operation cascades.</a:t>
            </a:r>
          </a:p>
          <a:p>
            <a:pPr lvl="2">
              <a:lnSpc>
                <a:spcPct val="90000"/>
              </a:lnSpc>
            </a:pPr>
            <a:r>
              <a:rPr lang="en-US" sz="1500" dirty="0">
                <a:cs typeface="Calibri Light" panose="020F0302020204030204" pitchFamily="34" charset="0"/>
              </a:rPr>
              <a:t>If A is a removed entity, it becomes managed.</a:t>
            </a:r>
          </a:p>
          <a:p>
            <a:pPr lvl="2">
              <a:lnSpc>
                <a:spcPct val="90000"/>
              </a:lnSpc>
            </a:pPr>
            <a:r>
              <a:rPr lang="en-US" sz="1500" dirty="0">
                <a:cs typeface="Calibri Light" panose="020F0302020204030204" pitchFamily="34" charset="0"/>
              </a:rPr>
              <a:t>If A is a detached entity, an </a:t>
            </a:r>
            <a:r>
              <a:rPr lang="en-US" sz="1500" dirty="0" err="1">
                <a:cs typeface="Calibri Light" panose="020F0302020204030204" pitchFamily="34" charset="0"/>
              </a:rPr>
              <a:t>IllegalArgumentException</a:t>
            </a:r>
            <a:r>
              <a:rPr lang="en-US" sz="1500" dirty="0">
                <a:cs typeface="Calibri Light" panose="020F0302020204030204" pitchFamily="34" charset="0"/>
              </a:rPr>
              <a:t> is thrown</a:t>
            </a:r>
          </a:p>
          <a:p>
            <a:pPr lvl="2">
              <a:lnSpc>
                <a:spcPct val="90000"/>
              </a:lnSpc>
            </a:pPr>
            <a:r>
              <a:rPr lang="en-US" sz="1500" dirty="0">
                <a:cs typeface="Calibri Light" panose="020F0302020204030204" pitchFamily="34" charset="0"/>
              </a:rPr>
              <a:t>The persist operation recurses on all relation fields of A whose </a:t>
            </a:r>
            <a:r>
              <a:rPr lang="en-US" sz="1500" dirty="0">
                <a:cs typeface="Calibri Light" panose="020F0302020204030204" pitchFamily="34" charset="0"/>
                <a:hlinkClick r:id="rId2" tooltip="2.8.1.  Cascade Type"/>
              </a:rPr>
              <a:t>cascades</a:t>
            </a:r>
            <a:r>
              <a:rPr lang="en-US" sz="1500" dirty="0">
                <a:cs typeface="Calibri Light" panose="020F0302020204030204" pitchFamily="34" charset="0"/>
              </a:rPr>
              <a:t> include </a:t>
            </a:r>
            <a:r>
              <a:rPr lang="en-US" sz="1500" dirty="0" err="1">
                <a:cs typeface="Calibri Light" panose="020F0302020204030204" pitchFamily="34" charset="0"/>
              </a:rPr>
              <a:t>CascadeType.PERSIST</a:t>
            </a:r>
            <a:r>
              <a:rPr lang="en-US" sz="1500" dirty="0">
                <a:cs typeface="Calibri Light" panose="020F0302020204030204" pitchFamily="34" charset="0"/>
              </a:rPr>
              <a:t>.</a:t>
            </a:r>
          </a:p>
          <a:p>
            <a:pPr lvl="1">
              <a:lnSpc>
                <a:spcPct val="90000"/>
              </a:lnSpc>
            </a:pPr>
            <a:r>
              <a:rPr lang="en-US" sz="1800" dirty="0">
                <a:highlight>
                  <a:srgbClr val="FFFF00"/>
                </a:highlight>
                <a:cs typeface="Calibri Light" panose="020F0302020204030204" pitchFamily="34" charset="0"/>
              </a:rPr>
              <a:t>This action can only be used in the context of an active transaction.</a:t>
            </a:r>
            <a:br>
              <a:rPr lang="en-US" sz="1800" dirty="0"/>
            </a:br>
            <a:endParaRPr lang="it-IT" sz="1800" dirty="0"/>
          </a:p>
        </p:txBody>
      </p:sp>
    </p:spTree>
    <p:extLst>
      <p:ext uri="{BB962C8B-B14F-4D97-AF65-F5344CB8AC3E}">
        <p14:creationId xmlns:p14="http://schemas.microsoft.com/office/powerpoint/2010/main" val="2712012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EM: </a:t>
            </a:r>
            <a:r>
              <a:rPr lang="it-IT" err="1"/>
              <a:t>persist</a:t>
            </a:r>
            <a:r>
              <a:rPr lang="it-IT"/>
              <a:t>(Object </a:t>
            </a:r>
            <a:r>
              <a:rPr lang="it-IT" err="1"/>
              <a:t>entity</a:t>
            </a:r>
            <a:r>
              <a:rPr lang="it-IT"/>
              <a:t>)</a:t>
            </a:r>
            <a:endParaRPr lang="en-US"/>
          </a:p>
        </p:txBody>
      </p:sp>
      <p:sp>
        <p:nvSpPr>
          <p:cNvPr id="3" name="Segnaposto contenuto 2"/>
          <p:cNvSpPr>
            <a:spLocks noGrp="1"/>
          </p:cNvSpPr>
          <p:nvPr>
            <p:ph idx="1"/>
          </p:nvPr>
        </p:nvSpPr>
        <p:spPr/>
        <p:txBody>
          <a:bodyPr>
            <a:normAutofit fontScale="92500"/>
          </a:bodyPr>
          <a:lstStyle/>
          <a:p>
            <a:r>
              <a:rPr lang="en-US" dirty="0" err="1"/>
              <a:t>Abbiamo</a:t>
            </a:r>
            <a:r>
              <a:rPr lang="en-US" dirty="0"/>
              <a:t> </a:t>
            </a:r>
            <a:r>
              <a:rPr lang="en-US" dirty="0" err="1"/>
              <a:t>già</a:t>
            </a:r>
            <a:r>
              <a:rPr lang="en-US" dirty="0"/>
              <a:t> visto </a:t>
            </a:r>
            <a:r>
              <a:rPr lang="en-US" dirty="0" err="1"/>
              <a:t>che</a:t>
            </a:r>
            <a:r>
              <a:rPr lang="en-US" dirty="0"/>
              <a:t> </a:t>
            </a:r>
            <a:r>
              <a:rPr lang="en-US" dirty="0" err="1"/>
              <a:t>un'operazione</a:t>
            </a:r>
            <a:r>
              <a:rPr lang="en-US" dirty="0"/>
              <a:t> persist </a:t>
            </a:r>
            <a:r>
              <a:rPr lang="en-US" dirty="0" err="1"/>
              <a:t>deve</a:t>
            </a:r>
            <a:r>
              <a:rPr lang="en-US" dirty="0"/>
              <a:t> </a:t>
            </a:r>
            <a:r>
              <a:rPr lang="en-US" dirty="0" err="1"/>
              <a:t>essere</a:t>
            </a:r>
            <a:r>
              <a:rPr lang="en-US" dirty="0"/>
              <a:t> </a:t>
            </a:r>
            <a:r>
              <a:rPr lang="en-US" dirty="0" err="1"/>
              <a:t>effettuata</a:t>
            </a:r>
            <a:r>
              <a:rPr lang="en-US" dirty="0"/>
              <a:t> </a:t>
            </a:r>
            <a:r>
              <a:rPr lang="en-US" dirty="0" err="1"/>
              <a:t>all'interno</a:t>
            </a:r>
            <a:r>
              <a:rPr lang="en-US" dirty="0"/>
              <a:t> di una "</a:t>
            </a:r>
            <a:r>
              <a:rPr lang="en-US" dirty="0" err="1"/>
              <a:t>transazione</a:t>
            </a:r>
            <a:r>
              <a:rPr lang="en-US" dirty="0"/>
              <a:t>": </a:t>
            </a:r>
            <a:r>
              <a:rPr lang="en-US" dirty="0" err="1"/>
              <a:t>operazione</a:t>
            </a:r>
            <a:r>
              <a:rPr lang="en-US" dirty="0"/>
              <a:t> </a:t>
            </a:r>
            <a:r>
              <a:rPr lang="en-US" dirty="0" err="1"/>
              <a:t>atomica</a:t>
            </a:r>
            <a:r>
              <a:rPr lang="en-US" dirty="0"/>
              <a:t> (</a:t>
            </a:r>
            <a:r>
              <a:rPr lang="en-US" dirty="0" err="1"/>
              <a:t>tutto</a:t>
            </a:r>
            <a:r>
              <a:rPr lang="en-US" dirty="0"/>
              <a:t> o niente) </a:t>
            </a:r>
            <a:r>
              <a:rPr lang="en-US" dirty="0" err="1"/>
              <a:t>effettuata</a:t>
            </a:r>
            <a:r>
              <a:rPr lang="en-US" dirty="0"/>
              <a:t> </a:t>
            </a:r>
            <a:r>
              <a:rPr lang="en-US" dirty="0" err="1"/>
              <a:t>sul</a:t>
            </a:r>
            <a:r>
              <a:rPr lang="en-US" dirty="0"/>
              <a:t> </a:t>
            </a:r>
            <a:r>
              <a:rPr lang="en-US" dirty="0" err="1"/>
              <a:t>db</a:t>
            </a:r>
            <a:endParaRPr lang="en-US" dirty="0"/>
          </a:p>
          <a:p>
            <a:r>
              <a:rPr lang="en-US" dirty="0" err="1"/>
              <a:t>Internamente</a:t>
            </a:r>
            <a:r>
              <a:rPr lang="en-US" dirty="0"/>
              <a:t> ad una </a:t>
            </a:r>
            <a:r>
              <a:rPr lang="en-US" dirty="0" err="1"/>
              <a:t>transazione</a:t>
            </a:r>
            <a:r>
              <a:rPr lang="en-US" dirty="0"/>
              <a:t> </a:t>
            </a:r>
            <a:r>
              <a:rPr lang="en-US" dirty="0" err="1"/>
              <a:t>possono</a:t>
            </a:r>
            <a:r>
              <a:rPr lang="en-US" dirty="0"/>
              <a:t> </a:t>
            </a:r>
            <a:r>
              <a:rPr lang="en-US" dirty="0" err="1"/>
              <a:t>essere</a:t>
            </a:r>
            <a:r>
              <a:rPr lang="en-US" dirty="0"/>
              <a:t> </a:t>
            </a:r>
            <a:r>
              <a:rPr lang="en-US" dirty="0" err="1"/>
              <a:t>effettuate</a:t>
            </a:r>
            <a:r>
              <a:rPr lang="en-US" dirty="0"/>
              <a:t> </a:t>
            </a:r>
            <a:r>
              <a:rPr lang="en-US" dirty="0" err="1"/>
              <a:t>più</a:t>
            </a:r>
            <a:r>
              <a:rPr lang="en-US" dirty="0"/>
              <a:t> </a:t>
            </a:r>
            <a:r>
              <a:rPr lang="en-US" dirty="0" err="1"/>
              <a:t>operazioni</a:t>
            </a:r>
            <a:r>
              <a:rPr lang="en-US" dirty="0"/>
              <a:t>. La </a:t>
            </a:r>
            <a:r>
              <a:rPr lang="en-US" dirty="0" err="1"/>
              <a:t>transazione</a:t>
            </a:r>
            <a:r>
              <a:rPr lang="en-US" dirty="0"/>
              <a:t> </a:t>
            </a:r>
            <a:r>
              <a:rPr lang="en-US" dirty="0" err="1"/>
              <a:t>garantisce</a:t>
            </a:r>
            <a:r>
              <a:rPr lang="en-US" dirty="0"/>
              <a:t> </a:t>
            </a:r>
            <a:r>
              <a:rPr lang="en-US" dirty="0" err="1"/>
              <a:t>che</a:t>
            </a:r>
            <a:r>
              <a:rPr lang="en-US" dirty="0"/>
              <a:t> le sue </a:t>
            </a:r>
            <a:r>
              <a:rPr lang="en-US" dirty="0" err="1"/>
              <a:t>operazioni</a:t>
            </a:r>
            <a:r>
              <a:rPr lang="en-US" dirty="0"/>
              <a:t> </a:t>
            </a:r>
            <a:r>
              <a:rPr lang="en-US" dirty="0" err="1"/>
              <a:t>vengono</a:t>
            </a:r>
            <a:r>
              <a:rPr lang="en-US" dirty="0"/>
              <a:t> </a:t>
            </a:r>
            <a:r>
              <a:rPr lang="en-US" dirty="0" err="1"/>
              <a:t>effettuate</a:t>
            </a:r>
            <a:r>
              <a:rPr lang="en-US" dirty="0"/>
              <a:t> </a:t>
            </a:r>
            <a:r>
              <a:rPr lang="en-US" b="1" dirty="0" err="1"/>
              <a:t>tutte</a:t>
            </a:r>
            <a:r>
              <a:rPr lang="en-US" b="1" dirty="0"/>
              <a:t> o </a:t>
            </a:r>
            <a:r>
              <a:rPr lang="en-US" b="1" dirty="0" err="1"/>
              <a:t>nessuna</a:t>
            </a:r>
            <a:r>
              <a:rPr lang="en-US" b="1" dirty="0"/>
              <a:t> </a:t>
            </a:r>
          </a:p>
          <a:p>
            <a:r>
              <a:rPr lang="en-US" dirty="0" err="1"/>
              <a:t>Questo</a:t>
            </a:r>
            <a:r>
              <a:rPr lang="en-US" dirty="0"/>
              <a:t> </a:t>
            </a:r>
            <a:r>
              <a:rPr lang="en-US" dirty="0" err="1"/>
              <a:t>comportamento</a:t>
            </a:r>
            <a:r>
              <a:rPr lang="en-US" dirty="0"/>
              <a:t> </a:t>
            </a:r>
            <a:r>
              <a:rPr lang="en-US" dirty="0" err="1"/>
              <a:t>è</a:t>
            </a:r>
            <a:r>
              <a:rPr lang="en-US" dirty="0"/>
              <a:t> </a:t>
            </a:r>
            <a:r>
              <a:rPr lang="en-US" dirty="0" err="1"/>
              <a:t>fondamentale</a:t>
            </a:r>
            <a:r>
              <a:rPr lang="en-US" dirty="0"/>
              <a:t> per </a:t>
            </a:r>
            <a:r>
              <a:rPr lang="en-US" dirty="0" err="1"/>
              <a:t>garantire</a:t>
            </a:r>
            <a:r>
              <a:rPr lang="en-US" dirty="0"/>
              <a:t> la </a:t>
            </a:r>
            <a:r>
              <a:rPr lang="en-US" dirty="0" err="1"/>
              <a:t>consistenza</a:t>
            </a:r>
            <a:r>
              <a:rPr lang="en-US" dirty="0"/>
              <a:t> </a:t>
            </a:r>
            <a:r>
              <a:rPr lang="en-US" dirty="0" err="1"/>
              <a:t>dei</a:t>
            </a:r>
            <a:r>
              <a:rPr lang="en-US" dirty="0"/>
              <a:t> </a:t>
            </a:r>
            <a:r>
              <a:rPr lang="en-US" dirty="0" err="1"/>
              <a:t>dati</a:t>
            </a:r>
            <a:r>
              <a:rPr lang="en-US" dirty="0"/>
              <a:t> </a:t>
            </a:r>
            <a:r>
              <a:rPr lang="en-US" dirty="0" err="1"/>
              <a:t>nel</a:t>
            </a:r>
            <a:r>
              <a:rPr lang="en-US" dirty="0"/>
              <a:t> database, </a:t>
            </a:r>
            <a:r>
              <a:rPr lang="en-US" dirty="0" err="1"/>
              <a:t>soprattutto</a:t>
            </a:r>
            <a:r>
              <a:rPr lang="en-US" dirty="0"/>
              <a:t> in un </a:t>
            </a:r>
            <a:r>
              <a:rPr lang="en-US" dirty="0" err="1"/>
              <a:t>ambiente</a:t>
            </a:r>
            <a:r>
              <a:rPr lang="en-US" dirty="0"/>
              <a:t> </a:t>
            </a:r>
            <a:r>
              <a:rPr lang="en-US" dirty="0" err="1"/>
              <a:t>concorrente</a:t>
            </a:r>
            <a:r>
              <a:rPr lang="en-US" dirty="0"/>
              <a:t> (in cui </a:t>
            </a:r>
            <a:r>
              <a:rPr lang="en-US" dirty="0" err="1"/>
              <a:t>cioè</a:t>
            </a:r>
            <a:r>
              <a:rPr lang="en-US" dirty="0"/>
              <a:t> </a:t>
            </a:r>
            <a:r>
              <a:rPr lang="en-US" dirty="0" err="1"/>
              <a:t>possono</a:t>
            </a:r>
            <a:r>
              <a:rPr lang="en-US" dirty="0"/>
              <a:t> </a:t>
            </a:r>
            <a:r>
              <a:rPr lang="en-US" dirty="0" err="1"/>
              <a:t>esserci</a:t>
            </a:r>
            <a:r>
              <a:rPr lang="en-US" dirty="0"/>
              <a:t> </a:t>
            </a:r>
            <a:r>
              <a:rPr lang="en-US" dirty="0" err="1"/>
              <a:t>più</a:t>
            </a:r>
            <a:r>
              <a:rPr lang="en-US" dirty="0"/>
              <a:t> client </a:t>
            </a:r>
            <a:r>
              <a:rPr lang="en-US" dirty="0" err="1"/>
              <a:t>che</a:t>
            </a:r>
            <a:r>
              <a:rPr lang="en-US" dirty="0"/>
              <a:t> </a:t>
            </a:r>
            <a:r>
              <a:rPr lang="en-US" dirty="0" err="1"/>
              <a:t>eseguono</a:t>
            </a:r>
            <a:r>
              <a:rPr lang="en-US" dirty="0"/>
              <a:t> </a:t>
            </a:r>
            <a:r>
              <a:rPr lang="en-US" dirty="0" err="1"/>
              <a:t>transazioni</a:t>
            </a:r>
            <a:r>
              <a:rPr lang="en-US" dirty="0"/>
              <a:t>)</a:t>
            </a:r>
          </a:p>
        </p:txBody>
      </p:sp>
    </p:spTree>
    <p:extLst>
      <p:ext uri="{BB962C8B-B14F-4D97-AF65-F5344CB8AC3E}">
        <p14:creationId xmlns:p14="http://schemas.microsoft.com/office/powerpoint/2010/main" val="3077079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EM: </a:t>
            </a:r>
            <a:r>
              <a:rPr lang="it-IT" dirty="0" err="1"/>
              <a:t>persist</a:t>
            </a:r>
            <a:r>
              <a:rPr lang="it-IT" dirty="0"/>
              <a:t>(Object </a:t>
            </a:r>
            <a:r>
              <a:rPr lang="it-IT" dirty="0" err="1"/>
              <a:t>entity</a:t>
            </a:r>
            <a:r>
              <a:rPr lang="it-IT" dirty="0"/>
              <a:t>)</a:t>
            </a:r>
            <a:endParaRPr lang="en-US" dirty="0"/>
          </a:p>
        </p:txBody>
      </p:sp>
      <p:sp>
        <p:nvSpPr>
          <p:cNvPr id="3" name="Segnaposto contenuto 2"/>
          <p:cNvSpPr>
            <a:spLocks noGrp="1"/>
          </p:cNvSpPr>
          <p:nvPr>
            <p:ph idx="1"/>
          </p:nvPr>
        </p:nvSpPr>
        <p:spPr>
          <a:xfrm>
            <a:off x="457200" y="1200151"/>
            <a:ext cx="3712866" cy="3737370"/>
          </a:xfrm>
        </p:spPr>
        <p:txBody>
          <a:bodyPr>
            <a:normAutofit lnSpcReduction="10000"/>
          </a:bodyPr>
          <a:lstStyle/>
          <a:p>
            <a:r>
              <a:rPr lang="en-US" sz="2000" dirty="0" err="1"/>
              <a:t>Quando</a:t>
            </a:r>
            <a:r>
              <a:rPr lang="en-US" sz="2000" dirty="0"/>
              <a:t> una </a:t>
            </a:r>
            <a:r>
              <a:rPr lang="en-US" sz="2000" dirty="0" err="1"/>
              <a:t>entità</a:t>
            </a:r>
            <a:r>
              <a:rPr lang="en-US" sz="2000" dirty="0"/>
              <a:t> </a:t>
            </a:r>
            <a:r>
              <a:rPr lang="en-US" sz="2000" dirty="0" err="1"/>
              <a:t>è</a:t>
            </a:r>
            <a:r>
              <a:rPr lang="en-US" sz="2000" dirty="0"/>
              <a:t> "managed", </a:t>
            </a:r>
            <a:r>
              <a:rPr lang="en-US" sz="2000" dirty="0" err="1"/>
              <a:t>ogni</a:t>
            </a:r>
            <a:r>
              <a:rPr lang="en-US" sz="2000" dirty="0"/>
              <a:t> </a:t>
            </a:r>
            <a:r>
              <a:rPr lang="en-US" sz="2000" dirty="0" err="1"/>
              <a:t>modifica</a:t>
            </a:r>
            <a:r>
              <a:rPr lang="en-US" sz="2000" dirty="0"/>
              <a:t> ai </a:t>
            </a:r>
            <a:r>
              <a:rPr lang="en-US" sz="2000" dirty="0" err="1"/>
              <a:t>suoi</a:t>
            </a:r>
            <a:r>
              <a:rPr lang="en-US" sz="2000" dirty="0"/>
              <a:t> </a:t>
            </a:r>
            <a:r>
              <a:rPr lang="en-US" sz="2000" dirty="0" err="1"/>
              <a:t>dati</a:t>
            </a:r>
            <a:r>
              <a:rPr lang="en-US" sz="2000" dirty="0"/>
              <a:t> (prima del commit) </a:t>
            </a:r>
            <a:r>
              <a:rPr lang="en-US" sz="2000" dirty="0" err="1"/>
              <a:t>si</a:t>
            </a:r>
            <a:r>
              <a:rPr lang="en-US" sz="2000" dirty="0"/>
              <a:t> </a:t>
            </a:r>
            <a:r>
              <a:rPr lang="en-US" sz="2000" dirty="0" err="1"/>
              <a:t>riflette</a:t>
            </a:r>
            <a:r>
              <a:rPr lang="en-US" sz="2000" dirty="0"/>
              <a:t> </a:t>
            </a:r>
            <a:r>
              <a:rPr lang="en-US" sz="2000" dirty="0" err="1"/>
              <a:t>nel</a:t>
            </a:r>
            <a:r>
              <a:rPr lang="en-US" sz="2000" dirty="0"/>
              <a:t> database</a:t>
            </a:r>
            <a:br>
              <a:rPr lang="en-US" sz="2000" dirty="0"/>
            </a:br>
            <a:endParaRPr lang="en-US" sz="2000" dirty="0"/>
          </a:p>
          <a:p>
            <a:endParaRPr lang="en-US" sz="2000" dirty="0"/>
          </a:p>
          <a:p>
            <a:endParaRPr lang="en-US" sz="2000" dirty="0"/>
          </a:p>
          <a:p>
            <a:endParaRPr lang="en-US" sz="2000" dirty="0"/>
          </a:p>
          <a:p>
            <a:r>
              <a:rPr lang="en-US" sz="2000" dirty="0"/>
              <a:t>Il </a:t>
            </a:r>
            <a:r>
              <a:rPr lang="en-US" sz="2000" dirty="0" err="1"/>
              <a:t>valore</a:t>
            </a:r>
            <a:r>
              <a:rPr lang="en-US" sz="2000" dirty="0"/>
              <a:t> del </a:t>
            </a:r>
            <a:r>
              <a:rPr lang="en-US" sz="2000" dirty="0" err="1"/>
              <a:t>nome</a:t>
            </a:r>
            <a:r>
              <a:rPr lang="en-US" sz="2000" dirty="0"/>
              <a:t> del </a:t>
            </a:r>
            <a:r>
              <a:rPr lang="en-US" sz="2000" dirty="0" err="1"/>
              <a:t>prodotto</a:t>
            </a:r>
            <a:r>
              <a:rPr lang="en-US" sz="2000" dirty="0"/>
              <a:t> </a:t>
            </a:r>
            <a:r>
              <a:rPr lang="en-US" sz="2000" dirty="0" err="1"/>
              <a:t>nel</a:t>
            </a:r>
            <a:r>
              <a:rPr lang="en-US" sz="2000" dirty="0"/>
              <a:t> </a:t>
            </a:r>
            <a:r>
              <a:rPr lang="en-US" sz="2000" dirty="0" err="1"/>
              <a:t>db</a:t>
            </a:r>
            <a:r>
              <a:rPr lang="en-US" sz="2000" dirty="0"/>
              <a:t> </a:t>
            </a:r>
            <a:r>
              <a:rPr lang="en-US" sz="2000" dirty="0" err="1"/>
              <a:t>viene</a:t>
            </a:r>
            <a:r>
              <a:rPr lang="en-US" sz="2000" dirty="0"/>
              <a:t> </a:t>
            </a:r>
            <a:r>
              <a:rPr lang="en-US" sz="2000" dirty="0" err="1"/>
              <a:t>aggiornato</a:t>
            </a:r>
            <a:r>
              <a:rPr lang="en-US" sz="2000" dirty="0"/>
              <a:t> </a:t>
            </a:r>
            <a:r>
              <a:rPr lang="en-US" sz="2000" dirty="0" err="1"/>
              <a:t>automaticametne</a:t>
            </a:r>
            <a:r>
              <a:rPr lang="en-US" sz="2000" dirty="0"/>
              <a:t> al </a:t>
            </a:r>
            <a:r>
              <a:rPr lang="en-US" sz="2000" dirty="0" err="1"/>
              <a:t>valore</a:t>
            </a:r>
            <a:r>
              <a:rPr lang="en-US" sz="2000" dirty="0"/>
              <a:t> "ARSTANG"</a:t>
            </a:r>
          </a:p>
        </p:txBody>
      </p:sp>
      <p:sp>
        <p:nvSpPr>
          <p:cNvPr id="4" name="CasellaDiTesto 3">
            <a:extLst>
              <a:ext uri="{FF2B5EF4-FFF2-40B4-BE49-F238E27FC236}">
                <a16:creationId xmlns:a16="http://schemas.microsoft.com/office/drawing/2014/main" id="{465DCE15-236A-B246-B58E-C838A22F1CC6}"/>
              </a:ext>
            </a:extLst>
          </p:cNvPr>
          <p:cNvSpPr txBox="1"/>
          <p:nvPr/>
        </p:nvSpPr>
        <p:spPr>
          <a:xfrm>
            <a:off x="4030525" y="1328353"/>
            <a:ext cx="4656275" cy="313932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Product product = new Product();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a:t>
            </a:r>
            <a:r>
              <a:rPr kumimoji="0" lang="en-US" sz="1800" u="none" strike="noStrike" kern="1200" cap="none" spc="0" normalizeH="0" baseline="0" noProof="0" dirty="0" err="1">
                <a:ln>
                  <a:noFill/>
                </a:ln>
                <a:solidFill>
                  <a:prstClr val="black"/>
                </a:solidFill>
                <a:effectLst/>
                <a:uLnTx/>
                <a:uFillTx/>
                <a:latin typeface="Calibri Light" panose="020F0302020204030204" pitchFamily="34" charset="0"/>
                <a:ea typeface="+mn-ea"/>
                <a:cs typeface="+mn-cs"/>
              </a:rPr>
              <a:t>product.setName</a:t>
            </a: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("POLLUNG");</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a:t>
            </a:r>
            <a:r>
              <a:rPr kumimoji="0" lang="en-US" sz="1800" u="none" strike="noStrike" kern="1200" cap="none" spc="0" normalizeH="0" baseline="0" noProof="0" dirty="0" err="1">
                <a:ln>
                  <a:noFill/>
                </a:ln>
                <a:solidFill>
                  <a:prstClr val="black"/>
                </a:solidFill>
                <a:effectLst/>
                <a:uLnTx/>
                <a:uFillTx/>
                <a:latin typeface="Calibri Light" panose="020F0302020204030204" pitchFamily="34" charset="0"/>
                <a:ea typeface="+mn-ea"/>
                <a:cs typeface="+mn-cs"/>
              </a:rPr>
              <a:t>EntityTransaction</a:t>
            </a: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a:t>
            </a:r>
            <a:r>
              <a:rPr kumimoji="0" lang="en-US" sz="1800" u="none" strike="noStrike" kern="1200" cap="none" spc="0" normalizeH="0" baseline="0" noProof="0" dirty="0" err="1">
                <a:ln>
                  <a:noFill/>
                </a:ln>
                <a:solidFill>
                  <a:prstClr val="black"/>
                </a:solidFill>
                <a:effectLst/>
                <a:uLnTx/>
                <a:uFillTx/>
                <a:latin typeface="Calibri Light" panose="020F0302020204030204" pitchFamily="34" charset="0"/>
                <a:ea typeface="+mn-ea"/>
                <a:cs typeface="+mn-cs"/>
              </a:rPr>
              <a:t>tx</a:t>
            </a: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 </a:t>
            </a:r>
            <a:r>
              <a:rPr kumimoji="0" lang="en-US" sz="1800" u="none" strike="noStrike" kern="1200" cap="none" spc="0" normalizeH="0" baseline="0" noProof="0" dirty="0" err="1">
                <a:ln>
                  <a:noFill/>
                </a:ln>
                <a:solidFill>
                  <a:prstClr val="black"/>
                </a:solidFill>
                <a:effectLst/>
                <a:uLnTx/>
                <a:uFillTx/>
                <a:latin typeface="Calibri Light" panose="020F0302020204030204" pitchFamily="34" charset="0"/>
                <a:ea typeface="+mn-ea"/>
                <a:cs typeface="+mn-cs"/>
              </a:rPr>
              <a:t>em.getTransaction</a:t>
            </a: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a:t>
            </a:r>
            <a:r>
              <a:rPr kumimoji="0" lang="en-US" sz="1800" u="none" strike="noStrike" kern="1200" cap="none" spc="0" normalizeH="0" baseline="0" noProof="0" dirty="0" err="1">
                <a:ln>
                  <a:noFill/>
                </a:ln>
                <a:solidFill>
                  <a:prstClr val="black"/>
                </a:solidFill>
                <a:effectLst/>
                <a:uLnTx/>
                <a:uFillTx/>
                <a:latin typeface="Calibri Light" panose="020F0302020204030204" pitchFamily="34" charset="0"/>
                <a:ea typeface="+mn-ea"/>
                <a:cs typeface="+mn-cs"/>
              </a:rPr>
              <a:t>tx.begin</a:t>
            </a: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a:t>
            </a:r>
            <a:r>
              <a:rPr kumimoji="0" lang="en-US" sz="1800" u="none" strike="noStrike" kern="1200" cap="none" spc="0" normalizeH="0" baseline="0" noProof="0" dirty="0" err="1">
                <a:ln>
                  <a:noFill/>
                </a:ln>
                <a:solidFill>
                  <a:prstClr val="black"/>
                </a:solidFill>
                <a:effectLst/>
                <a:uLnTx/>
                <a:uFillTx/>
                <a:latin typeface="Calibri Light" panose="020F0302020204030204" pitchFamily="34" charset="0"/>
                <a:ea typeface="+mn-ea"/>
                <a:cs typeface="+mn-cs"/>
              </a:rPr>
              <a:t>em.persist</a:t>
            </a: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(product);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a:t>
            </a:r>
            <a:r>
              <a:rPr kumimoji="0" lang="en-US" sz="1800" u="none" strike="noStrike" kern="1200" cap="none" spc="0" normalizeH="0" baseline="0" noProof="0" dirty="0" err="1">
                <a:ln>
                  <a:noFill/>
                </a:ln>
                <a:solidFill>
                  <a:prstClr val="black"/>
                </a:solidFill>
                <a:effectLst/>
                <a:uLnTx/>
                <a:uFillTx/>
                <a:latin typeface="Calibri Light" panose="020F0302020204030204" pitchFamily="34" charset="0"/>
                <a:ea typeface="+mn-ea"/>
                <a:cs typeface="+mn-cs"/>
              </a:rPr>
              <a:t>product.setName</a:t>
            </a: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("ARSTANG")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a:t>
            </a:r>
            <a:r>
              <a:rPr kumimoji="0" lang="en-US" sz="1800" u="none" strike="noStrike" kern="1200" cap="none" spc="0" normalizeH="0" baseline="0" noProof="0" dirty="0" err="1">
                <a:ln>
                  <a:noFill/>
                </a:ln>
                <a:solidFill>
                  <a:prstClr val="black"/>
                </a:solidFill>
                <a:effectLst/>
                <a:uLnTx/>
                <a:uFillTx/>
                <a:latin typeface="Calibri Light" panose="020F0302020204030204" pitchFamily="34" charset="0"/>
                <a:ea typeface="+mn-ea"/>
                <a:cs typeface="+mn-cs"/>
              </a:rPr>
              <a:t>tx.commit</a:t>
            </a: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endParaRPr>
          </a:p>
        </p:txBody>
      </p:sp>
    </p:spTree>
    <p:extLst>
      <p:ext uri="{BB962C8B-B14F-4D97-AF65-F5344CB8AC3E}">
        <p14:creationId xmlns:p14="http://schemas.microsoft.com/office/powerpoint/2010/main" val="3269112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EM: </a:t>
            </a:r>
            <a:r>
              <a:rPr lang="it-IT" err="1"/>
              <a:t>persist</a:t>
            </a:r>
            <a:r>
              <a:rPr lang="it-IT"/>
              <a:t>(Object </a:t>
            </a:r>
            <a:r>
              <a:rPr lang="it-IT" err="1"/>
              <a:t>entity</a:t>
            </a:r>
            <a:r>
              <a:rPr lang="it-IT"/>
              <a:t>)</a:t>
            </a:r>
            <a:endParaRPr lang="en-US"/>
          </a:p>
        </p:txBody>
      </p:sp>
      <p:sp>
        <p:nvSpPr>
          <p:cNvPr id="3" name="Segnaposto contenuto 2"/>
          <p:cNvSpPr>
            <a:spLocks noGrp="1"/>
          </p:cNvSpPr>
          <p:nvPr>
            <p:ph idx="1"/>
          </p:nvPr>
        </p:nvSpPr>
        <p:spPr>
          <a:xfrm>
            <a:off x="457200" y="1200151"/>
            <a:ext cx="3290835" cy="3394472"/>
          </a:xfrm>
        </p:spPr>
        <p:txBody>
          <a:bodyPr>
            <a:normAutofit fontScale="70000" lnSpcReduction="20000"/>
          </a:bodyPr>
          <a:lstStyle/>
          <a:p>
            <a:r>
              <a:rPr lang="en-US" dirty="0" err="1"/>
              <a:t>Attenzione</a:t>
            </a:r>
            <a:r>
              <a:rPr lang="en-US" dirty="0"/>
              <a:t> </a:t>
            </a:r>
            <a:r>
              <a:rPr lang="en-US" dirty="0" err="1"/>
              <a:t>però</a:t>
            </a:r>
            <a:r>
              <a:rPr lang="en-US" dirty="0"/>
              <a:t> </a:t>
            </a:r>
            <a:r>
              <a:rPr lang="en-US" dirty="0" err="1"/>
              <a:t>che</a:t>
            </a:r>
            <a:r>
              <a:rPr lang="en-US" dirty="0"/>
              <a:t> </a:t>
            </a:r>
            <a:r>
              <a:rPr lang="en-US" dirty="0" err="1"/>
              <a:t>dobbiamo</a:t>
            </a:r>
            <a:r>
              <a:rPr lang="en-US" dirty="0"/>
              <a:t> </a:t>
            </a:r>
            <a:r>
              <a:rPr lang="en-US" dirty="0" err="1"/>
              <a:t>gestire</a:t>
            </a:r>
            <a:r>
              <a:rPr lang="en-US" dirty="0"/>
              <a:t> </a:t>
            </a:r>
            <a:r>
              <a:rPr lang="en-US" dirty="0" err="1"/>
              <a:t>noi</a:t>
            </a:r>
            <a:r>
              <a:rPr lang="en-US" dirty="0"/>
              <a:t> le </a:t>
            </a:r>
            <a:r>
              <a:rPr lang="en-US" dirty="0" err="1"/>
              <a:t>entità</a:t>
            </a:r>
            <a:r>
              <a:rPr lang="en-US" dirty="0"/>
              <a:t> </a:t>
            </a:r>
            <a:r>
              <a:rPr lang="en-US" dirty="0" err="1"/>
              <a:t>collegate</a:t>
            </a:r>
            <a:r>
              <a:rPr lang="en-US" dirty="0"/>
              <a:t> </a:t>
            </a:r>
            <a:br>
              <a:rPr lang="en-US" dirty="0"/>
            </a:br>
            <a:r>
              <a:rPr lang="en-US" dirty="0" err="1"/>
              <a:t>Esempio</a:t>
            </a:r>
            <a:r>
              <a:rPr lang="en-US" dirty="0"/>
              <a:t>:</a:t>
            </a:r>
          </a:p>
          <a:p>
            <a:pPr marL="0" indent="0">
              <a:buNone/>
            </a:pPr>
            <a:r>
              <a:rPr lang="en-US" sz="1725" dirty="0"/>
              <a:t>	</a:t>
            </a:r>
          </a:p>
          <a:p>
            <a:endParaRPr lang="en-US" dirty="0"/>
          </a:p>
          <a:p>
            <a:endParaRPr lang="en-US" dirty="0"/>
          </a:p>
          <a:p>
            <a:endParaRPr lang="en-US" dirty="0"/>
          </a:p>
          <a:p>
            <a:r>
              <a:rPr lang="en-US" dirty="0"/>
              <a:t>Senza </a:t>
            </a:r>
            <a:r>
              <a:rPr lang="en-US" dirty="0" err="1"/>
              <a:t>effettuare</a:t>
            </a:r>
            <a:r>
              <a:rPr lang="en-US" dirty="0"/>
              <a:t> la persist </a:t>
            </a:r>
            <a:r>
              <a:rPr lang="en-US" dirty="0" err="1"/>
              <a:t>dell'istanza</a:t>
            </a:r>
            <a:r>
              <a:rPr lang="en-US" dirty="0"/>
              <a:t> address, </a:t>
            </a:r>
            <a:r>
              <a:rPr lang="en-US" dirty="0" err="1"/>
              <a:t>questa</a:t>
            </a:r>
            <a:r>
              <a:rPr lang="en-US" dirty="0"/>
              <a:t> non </a:t>
            </a:r>
            <a:r>
              <a:rPr lang="en-US" dirty="0" err="1"/>
              <a:t>viene</a:t>
            </a:r>
            <a:r>
              <a:rPr lang="en-US" dirty="0"/>
              <a:t> </a:t>
            </a:r>
            <a:r>
              <a:rPr lang="en-US" dirty="0" err="1"/>
              <a:t>salvata</a:t>
            </a:r>
            <a:r>
              <a:rPr lang="en-US" dirty="0"/>
              <a:t> </a:t>
            </a:r>
            <a:r>
              <a:rPr lang="en-US" dirty="0" err="1"/>
              <a:t>nel</a:t>
            </a:r>
            <a:r>
              <a:rPr lang="en-US" dirty="0"/>
              <a:t> </a:t>
            </a:r>
            <a:r>
              <a:rPr lang="en-US" dirty="0" err="1"/>
              <a:t>db</a:t>
            </a:r>
            <a:r>
              <a:rPr lang="en-US" dirty="0"/>
              <a:t> </a:t>
            </a:r>
          </a:p>
          <a:p>
            <a:r>
              <a:rPr lang="en-US" dirty="0" err="1"/>
              <a:t>Più</a:t>
            </a:r>
            <a:r>
              <a:rPr lang="en-US" dirty="0"/>
              <a:t> </a:t>
            </a:r>
            <a:r>
              <a:rPr lang="en-US" dirty="0" err="1"/>
              <a:t>avanti</a:t>
            </a:r>
            <a:r>
              <a:rPr lang="en-US" dirty="0"/>
              <a:t> (</a:t>
            </a:r>
            <a:r>
              <a:rPr lang="en-US" dirty="0" err="1"/>
              <a:t>vedi</a:t>
            </a:r>
            <a:r>
              <a:rPr lang="en-US" dirty="0"/>
              <a:t> "</a:t>
            </a:r>
            <a:r>
              <a:rPr lang="en-US" dirty="0" err="1"/>
              <a:t>Eventi</a:t>
            </a:r>
            <a:r>
              <a:rPr lang="en-US" dirty="0"/>
              <a:t> in </a:t>
            </a:r>
            <a:r>
              <a:rPr lang="en-US" dirty="0" err="1"/>
              <a:t>Cascata</a:t>
            </a:r>
            <a:r>
              <a:rPr lang="en-US" dirty="0"/>
              <a:t>") </a:t>
            </a:r>
            <a:r>
              <a:rPr lang="en-US" dirty="0" err="1"/>
              <a:t>vedremo</a:t>
            </a:r>
            <a:r>
              <a:rPr lang="en-US" dirty="0"/>
              <a:t> come </a:t>
            </a:r>
            <a:r>
              <a:rPr lang="en-US" dirty="0" err="1"/>
              <a:t>si</a:t>
            </a:r>
            <a:r>
              <a:rPr lang="en-US" dirty="0"/>
              <a:t> </a:t>
            </a:r>
            <a:r>
              <a:rPr lang="en-US" dirty="0" err="1"/>
              <a:t>può</a:t>
            </a:r>
            <a:r>
              <a:rPr lang="en-US" dirty="0"/>
              <a:t> </a:t>
            </a:r>
            <a:r>
              <a:rPr lang="en-US" dirty="0" err="1"/>
              <a:t>semplificare</a:t>
            </a:r>
            <a:r>
              <a:rPr lang="en-US" dirty="0"/>
              <a:t> la </a:t>
            </a:r>
            <a:r>
              <a:rPr lang="en-US" dirty="0" err="1"/>
              <a:t>persistenza</a:t>
            </a:r>
            <a:r>
              <a:rPr lang="en-US" dirty="0"/>
              <a:t> </a:t>
            </a:r>
            <a:r>
              <a:rPr lang="en-US" dirty="0" err="1"/>
              <a:t>delle</a:t>
            </a:r>
            <a:r>
              <a:rPr lang="en-US" dirty="0"/>
              <a:t> </a:t>
            </a:r>
            <a:r>
              <a:rPr lang="en-US" dirty="0" err="1"/>
              <a:t>associazioni</a:t>
            </a:r>
            <a:endParaRPr lang="en-US" dirty="0"/>
          </a:p>
        </p:txBody>
      </p:sp>
      <p:sp>
        <p:nvSpPr>
          <p:cNvPr id="4" name="CasellaDiTesto 3">
            <a:extLst>
              <a:ext uri="{FF2B5EF4-FFF2-40B4-BE49-F238E27FC236}">
                <a16:creationId xmlns:a16="http://schemas.microsoft.com/office/drawing/2014/main" id="{3A2B22DA-6FAE-B547-8CF6-DA5EF690FE43}"/>
              </a:ext>
            </a:extLst>
          </p:cNvPr>
          <p:cNvSpPr txBox="1"/>
          <p:nvPr/>
        </p:nvSpPr>
        <p:spPr>
          <a:xfrm>
            <a:off x="3858567" y="1063229"/>
            <a:ext cx="4656275" cy="34163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Customer customer = new Customer(...);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Address address = new Address(…);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a:t>
            </a:r>
            <a:r>
              <a:rPr kumimoji="0" lang="en-US" sz="1800" u="none" strike="noStrike" kern="1200" cap="none" spc="0" normalizeH="0" baseline="0" noProof="0" dirty="0" err="1">
                <a:ln>
                  <a:noFill/>
                </a:ln>
                <a:solidFill>
                  <a:prstClr val="black"/>
                </a:solidFill>
                <a:effectLst/>
                <a:uLnTx/>
                <a:uFillTx/>
                <a:latin typeface="Calibri Light" panose="020F0302020204030204" pitchFamily="34" charset="0"/>
                <a:ea typeface="+mn-ea"/>
                <a:cs typeface="+mn-cs"/>
              </a:rPr>
              <a:t>customer.setAddress</a:t>
            </a: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(address);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a:t>
            </a:r>
            <a:r>
              <a:rPr kumimoji="0" lang="en-US" sz="1800" u="none" strike="noStrike" kern="1200" cap="none" spc="0" normalizeH="0" baseline="0" noProof="0" dirty="0" err="1">
                <a:ln>
                  <a:noFill/>
                </a:ln>
                <a:solidFill>
                  <a:prstClr val="black"/>
                </a:solidFill>
                <a:effectLst/>
                <a:uLnTx/>
                <a:uFillTx/>
                <a:latin typeface="Calibri Light" panose="020F0302020204030204" pitchFamily="34" charset="0"/>
                <a:ea typeface="+mn-ea"/>
                <a:cs typeface="+mn-cs"/>
              </a:rPr>
              <a:t>EntityTransaction</a:t>
            </a: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a:t>
            </a:r>
            <a:r>
              <a:rPr kumimoji="0" lang="en-US" sz="1800" u="none" strike="noStrike" kern="1200" cap="none" spc="0" normalizeH="0" baseline="0" noProof="0" dirty="0" err="1">
                <a:ln>
                  <a:noFill/>
                </a:ln>
                <a:solidFill>
                  <a:prstClr val="black"/>
                </a:solidFill>
                <a:effectLst/>
                <a:uLnTx/>
                <a:uFillTx/>
                <a:latin typeface="Calibri Light" panose="020F0302020204030204" pitchFamily="34" charset="0"/>
                <a:ea typeface="+mn-ea"/>
                <a:cs typeface="+mn-cs"/>
              </a:rPr>
              <a:t>tx</a:t>
            </a: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 </a:t>
            </a:r>
            <a:r>
              <a:rPr kumimoji="0" lang="en-US" sz="1800" u="none" strike="noStrike" kern="1200" cap="none" spc="0" normalizeH="0" baseline="0" noProof="0" dirty="0" err="1">
                <a:ln>
                  <a:noFill/>
                </a:ln>
                <a:solidFill>
                  <a:prstClr val="black"/>
                </a:solidFill>
                <a:effectLst/>
                <a:uLnTx/>
                <a:uFillTx/>
                <a:latin typeface="Calibri Light" panose="020F0302020204030204" pitchFamily="34" charset="0"/>
                <a:ea typeface="+mn-ea"/>
                <a:cs typeface="+mn-cs"/>
              </a:rPr>
              <a:t>em.getTransaction</a:t>
            </a: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a:t>
            </a:r>
            <a:r>
              <a:rPr kumimoji="0" lang="en-US" sz="1800" u="none" strike="noStrike" kern="1200" cap="none" spc="0" normalizeH="0" baseline="0" noProof="0" dirty="0" err="1">
                <a:ln>
                  <a:noFill/>
                </a:ln>
                <a:solidFill>
                  <a:prstClr val="black"/>
                </a:solidFill>
                <a:effectLst/>
                <a:uLnTx/>
                <a:uFillTx/>
                <a:latin typeface="Calibri Light" panose="020F0302020204030204" pitchFamily="34" charset="0"/>
                <a:ea typeface="+mn-ea"/>
                <a:cs typeface="+mn-cs"/>
              </a:rPr>
              <a:t>tx.begin</a:t>
            </a: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a:t>
            </a:r>
            <a:r>
              <a:rPr kumimoji="0" lang="en-US" sz="1800" u="none" strike="noStrike" kern="1200" cap="none" spc="0" normalizeH="0" baseline="0" noProof="0" dirty="0" err="1">
                <a:ln>
                  <a:noFill/>
                </a:ln>
                <a:solidFill>
                  <a:prstClr val="black"/>
                </a:solidFill>
                <a:effectLst/>
                <a:uLnTx/>
                <a:uFillTx/>
                <a:latin typeface="Calibri Light" panose="020F0302020204030204" pitchFamily="34" charset="0"/>
                <a:ea typeface="+mn-ea"/>
                <a:cs typeface="+mn-cs"/>
              </a:rPr>
              <a:t>em.persist</a:t>
            </a: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(customer);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a:t>
            </a:r>
            <a:r>
              <a:rPr kumimoji="0" lang="en-US" sz="1800" u="none" strike="noStrike" kern="1200" cap="none" spc="0" normalizeH="0" baseline="0" noProof="0" dirty="0" err="1">
                <a:ln>
                  <a:noFill/>
                </a:ln>
                <a:solidFill>
                  <a:srgbClr val="C0504D"/>
                </a:solidFill>
                <a:effectLst/>
                <a:uLnTx/>
                <a:uFillTx/>
                <a:latin typeface="Calibri Light" panose="020F0302020204030204" pitchFamily="34" charset="0"/>
                <a:ea typeface="+mn-ea"/>
                <a:cs typeface="+mn-cs"/>
              </a:rPr>
              <a:t>em.persist</a:t>
            </a:r>
            <a:r>
              <a:rPr kumimoji="0" lang="en-US" sz="1800" u="none" strike="noStrike" kern="1200" cap="none" spc="0" normalizeH="0" baseline="0" noProof="0" dirty="0">
                <a:ln>
                  <a:noFill/>
                </a:ln>
                <a:solidFill>
                  <a:srgbClr val="C0504D"/>
                </a:solidFill>
                <a:effectLst/>
                <a:uLnTx/>
                <a:uFillTx/>
                <a:latin typeface="Calibri Light" panose="020F0302020204030204" pitchFamily="34" charset="0"/>
                <a:ea typeface="+mn-ea"/>
                <a:cs typeface="+mn-cs"/>
              </a:rPr>
              <a:t>(address);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a:t>
            </a:r>
            <a:r>
              <a:rPr kumimoji="0" lang="en-US" sz="1800" u="none" strike="noStrike" kern="1200" cap="none" spc="0" normalizeH="0" baseline="0" noProof="0" dirty="0" err="1">
                <a:ln>
                  <a:noFill/>
                </a:ln>
                <a:solidFill>
                  <a:prstClr val="black"/>
                </a:solidFill>
                <a:effectLst/>
                <a:uLnTx/>
                <a:uFillTx/>
                <a:latin typeface="Calibri Light" panose="020F0302020204030204" pitchFamily="34" charset="0"/>
                <a:ea typeface="+mn-ea"/>
                <a:cs typeface="+mn-cs"/>
              </a:rPr>
              <a:t>tx.commit</a:t>
            </a:r>
            <a:r>
              <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endParaRPr>
          </a:p>
        </p:txBody>
      </p:sp>
    </p:spTree>
    <p:extLst>
      <p:ext uri="{BB962C8B-B14F-4D97-AF65-F5344CB8AC3E}">
        <p14:creationId xmlns:p14="http://schemas.microsoft.com/office/powerpoint/2010/main" val="984164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6A3A4FC-1998-664E-971C-10A4016E5ED1}"/>
              </a:ext>
            </a:extLst>
          </p:cNvPr>
          <p:cNvSpPr>
            <a:spLocks noGrp="1"/>
          </p:cNvSpPr>
          <p:nvPr>
            <p:ph type="title"/>
          </p:nvPr>
        </p:nvSpPr>
        <p:spPr/>
        <p:txBody>
          <a:bodyPr>
            <a:noAutofit/>
          </a:bodyPr>
          <a:lstStyle/>
          <a:p>
            <a:r>
              <a:rPr lang="en-US" sz="2800" dirty="0"/>
              <a:t>Persist con @Id </a:t>
            </a:r>
            <a:br>
              <a:rPr lang="en-US" sz="2800" dirty="0"/>
            </a:br>
            <a:r>
              <a:rPr lang="en-US" sz="2800" dirty="0"/>
              <a:t>@</a:t>
            </a:r>
            <a:r>
              <a:rPr lang="en-US" sz="2800" dirty="0" err="1"/>
              <a:t>GeneratedValue</a:t>
            </a:r>
            <a:r>
              <a:rPr lang="en-US" sz="2800" dirty="0"/>
              <a:t>(strategy=</a:t>
            </a:r>
            <a:r>
              <a:rPr lang="en-US" sz="2800" dirty="0" err="1"/>
              <a:t>GenerationType.AUTO</a:t>
            </a:r>
            <a:endParaRPr lang="en-US" sz="2800" dirty="0"/>
          </a:p>
        </p:txBody>
      </p:sp>
      <p:sp>
        <p:nvSpPr>
          <p:cNvPr id="3" name="Segnaposto contenuto 2">
            <a:extLst>
              <a:ext uri="{FF2B5EF4-FFF2-40B4-BE49-F238E27FC236}">
                <a16:creationId xmlns:a16="http://schemas.microsoft.com/office/drawing/2014/main" id="{071C7B01-D84F-3248-B898-F43BE9DAABD3}"/>
              </a:ext>
            </a:extLst>
          </p:cNvPr>
          <p:cNvSpPr>
            <a:spLocks noGrp="1"/>
          </p:cNvSpPr>
          <p:nvPr>
            <p:ph idx="1"/>
          </p:nvPr>
        </p:nvSpPr>
        <p:spPr/>
        <p:txBody>
          <a:bodyPr>
            <a:normAutofit lnSpcReduction="10000"/>
          </a:bodyPr>
          <a:lstStyle/>
          <a:p>
            <a:r>
              <a:rPr lang="en-US" b="1" dirty="0"/>
              <a:t>@Id</a:t>
            </a:r>
            <a:br>
              <a:rPr lang="en-US" dirty="0"/>
            </a:br>
            <a:r>
              <a:rPr lang="en-US" dirty="0" err="1"/>
              <a:t>specifica</a:t>
            </a:r>
            <a:r>
              <a:rPr lang="en-US" dirty="0"/>
              <a:t> </a:t>
            </a:r>
            <a:r>
              <a:rPr lang="en-US" dirty="0" err="1"/>
              <a:t>che</a:t>
            </a:r>
            <a:r>
              <a:rPr lang="en-US" dirty="0"/>
              <a:t> </a:t>
            </a:r>
            <a:r>
              <a:rPr lang="en-US" dirty="0" err="1"/>
              <a:t>l'attributo</a:t>
            </a:r>
            <a:r>
              <a:rPr lang="en-US" dirty="0"/>
              <a:t> </a:t>
            </a:r>
            <a:r>
              <a:rPr lang="en-US" dirty="0" err="1"/>
              <a:t>è</a:t>
            </a:r>
            <a:r>
              <a:rPr lang="en-US" dirty="0"/>
              <a:t> </a:t>
            </a:r>
            <a:r>
              <a:rPr lang="en-US" dirty="0" err="1"/>
              <a:t>un'identificatore</a:t>
            </a:r>
            <a:endParaRPr lang="en-US" dirty="0"/>
          </a:p>
          <a:p>
            <a:r>
              <a:rPr lang="en-US" b="1" dirty="0"/>
              <a:t>@</a:t>
            </a:r>
            <a:r>
              <a:rPr lang="en-US" b="1" dirty="0" err="1"/>
              <a:t>GeneratedValue</a:t>
            </a:r>
            <a:br>
              <a:rPr lang="en-US" dirty="0"/>
            </a:br>
            <a:r>
              <a:rPr lang="en-US" dirty="0" err="1"/>
              <a:t>specifica</a:t>
            </a:r>
            <a:r>
              <a:rPr lang="en-US" dirty="0"/>
              <a:t> in </a:t>
            </a:r>
            <a:r>
              <a:rPr lang="en-US" dirty="0" err="1"/>
              <a:t>che</a:t>
            </a:r>
            <a:r>
              <a:rPr lang="en-US" dirty="0"/>
              <a:t> modo </a:t>
            </a:r>
            <a:r>
              <a:rPr lang="en-US" dirty="0" err="1"/>
              <a:t>deve</a:t>
            </a:r>
            <a:r>
              <a:rPr lang="en-US" dirty="0"/>
              <a:t> </a:t>
            </a:r>
            <a:r>
              <a:rPr lang="en-US" dirty="0" err="1"/>
              <a:t>essere</a:t>
            </a:r>
            <a:r>
              <a:rPr lang="en-US" dirty="0"/>
              <a:t> </a:t>
            </a:r>
            <a:r>
              <a:rPr lang="en-US" dirty="0" err="1"/>
              <a:t>generato</a:t>
            </a:r>
            <a:r>
              <a:rPr lang="en-US" dirty="0"/>
              <a:t> il </a:t>
            </a:r>
            <a:r>
              <a:rPr lang="en-US" dirty="0" err="1"/>
              <a:t>valore</a:t>
            </a:r>
            <a:r>
              <a:rPr lang="en-US" dirty="0"/>
              <a:t> </a:t>
            </a:r>
            <a:r>
              <a:rPr lang="en-US" dirty="0" err="1"/>
              <a:t>della</a:t>
            </a:r>
            <a:r>
              <a:rPr lang="en-US" dirty="0"/>
              <a:t> </a:t>
            </a:r>
            <a:r>
              <a:rPr lang="en-US" dirty="0" err="1"/>
              <a:t>chiave</a:t>
            </a:r>
            <a:r>
              <a:rPr lang="en-US" dirty="0"/>
              <a:t> </a:t>
            </a:r>
            <a:r>
              <a:rPr lang="en-US" dirty="0" err="1"/>
              <a:t>primaria</a:t>
            </a:r>
            <a:endParaRPr lang="en-US" dirty="0"/>
          </a:p>
          <a:p>
            <a:pPr lvl="1"/>
            <a:r>
              <a:rPr lang="en-US" dirty="0">
                <a:highlight>
                  <a:srgbClr val="FFFF00"/>
                </a:highlight>
              </a:rPr>
              <a:t>strategy=</a:t>
            </a:r>
            <a:r>
              <a:rPr lang="en-US" dirty="0" err="1">
                <a:highlight>
                  <a:srgbClr val="FFFF00"/>
                </a:highlight>
              </a:rPr>
              <a:t>GenerationType.AUTO</a:t>
            </a:r>
            <a:r>
              <a:rPr lang="en-US" dirty="0">
                <a:highlight>
                  <a:srgbClr val="FFFF00"/>
                </a:highlight>
              </a:rPr>
              <a:t> </a:t>
            </a:r>
            <a:r>
              <a:rPr lang="en-US" dirty="0"/>
              <a:t>indica </a:t>
            </a:r>
            <a:r>
              <a:rPr lang="en-US" dirty="0" err="1"/>
              <a:t>che</a:t>
            </a:r>
            <a:r>
              <a:rPr lang="en-US" dirty="0"/>
              <a:t> il </a:t>
            </a:r>
            <a:r>
              <a:rPr lang="en-US" dirty="0" err="1"/>
              <a:t>valore</a:t>
            </a:r>
            <a:r>
              <a:rPr lang="en-US" dirty="0"/>
              <a:t> </a:t>
            </a:r>
            <a:r>
              <a:rPr lang="en-US" dirty="0" err="1"/>
              <a:t>dell'id</a:t>
            </a:r>
            <a:r>
              <a:rPr lang="en-US" dirty="0"/>
              <a:t> </a:t>
            </a:r>
            <a:r>
              <a:rPr lang="en-US" dirty="0" err="1"/>
              <a:t>deve</a:t>
            </a:r>
            <a:r>
              <a:rPr lang="en-US" dirty="0"/>
              <a:t> </a:t>
            </a:r>
            <a:r>
              <a:rPr lang="en-US" dirty="0" err="1"/>
              <a:t>essere</a:t>
            </a:r>
            <a:r>
              <a:rPr lang="en-US" dirty="0"/>
              <a:t> </a:t>
            </a:r>
            <a:r>
              <a:rPr lang="en-US" dirty="0" err="1"/>
              <a:t>generato</a:t>
            </a:r>
            <a:r>
              <a:rPr lang="en-US" dirty="0"/>
              <a:t> </a:t>
            </a:r>
            <a:r>
              <a:rPr lang="en-US" dirty="0" err="1"/>
              <a:t>automaticamente</a:t>
            </a:r>
            <a:r>
              <a:rPr lang="en-US" dirty="0"/>
              <a:t> (un </a:t>
            </a:r>
            <a:r>
              <a:rPr lang="en-US" dirty="0" err="1"/>
              <a:t>valore</a:t>
            </a:r>
            <a:r>
              <a:rPr lang="en-US" dirty="0"/>
              <a:t> </a:t>
            </a:r>
            <a:r>
              <a:rPr lang="en-US" dirty="0" err="1"/>
              <a:t>incrementale</a:t>
            </a:r>
            <a:r>
              <a:rPr lang="en-US" dirty="0"/>
              <a:t> </a:t>
            </a:r>
            <a:r>
              <a:rPr lang="en-US" dirty="0" err="1"/>
              <a:t>assegnato</a:t>
            </a:r>
            <a:r>
              <a:rPr lang="en-US" dirty="0"/>
              <a:t> dal </a:t>
            </a:r>
            <a:r>
              <a:rPr lang="en-US" dirty="0" err="1"/>
              <a:t>dbms</a:t>
            </a:r>
            <a:r>
              <a:rPr lang="en-US" dirty="0"/>
              <a:t>)</a:t>
            </a:r>
          </a:p>
          <a:p>
            <a:pPr lvl="1"/>
            <a:r>
              <a:rPr lang="en-US" dirty="0">
                <a:highlight>
                  <a:srgbClr val="FFFF00"/>
                </a:highlight>
              </a:rPr>
              <a:t>Il </a:t>
            </a:r>
            <a:r>
              <a:rPr lang="en-US" dirty="0" err="1">
                <a:highlight>
                  <a:srgbClr val="FFFF00"/>
                </a:highlight>
              </a:rPr>
              <a:t>valore</a:t>
            </a:r>
            <a:r>
              <a:rPr lang="en-US" dirty="0">
                <a:highlight>
                  <a:srgbClr val="FFFF00"/>
                </a:highlight>
              </a:rPr>
              <a:t> </a:t>
            </a:r>
            <a:r>
              <a:rPr lang="en-US" dirty="0" err="1">
                <a:highlight>
                  <a:srgbClr val="FFFF00"/>
                </a:highlight>
              </a:rPr>
              <a:t>dell'id</a:t>
            </a:r>
            <a:r>
              <a:rPr lang="en-US" dirty="0">
                <a:highlight>
                  <a:srgbClr val="FFFF00"/>
                </a:highlight>
              </a:rPr>
              <a:t> </a:t>
            </a:r>
            <a:r>
              <a:rPr lang="en-US" dirty="0" err="1">
                <a:highlight>
                  <a:srgbClr val="FFFF00"/>
                </a:highlight>
              </a:rPr>
              <a:t>viene</a:t>
            </a:r>
            <a:r>
              <a:rPr lang="en-US" dirty="0">
                <a:highlight>
                  <a:srgbClr val="FFFF00"/>
                </a:highlight>
              </a:rPr>
              <a:t> </a:t>
            </a:r>
            <a:r>
              <a:rPr lang="en-US" dirty="0" err="1">
                <a:highlight>
                  <a:srgbClr val="FFFF00"/>
                </a:highlight>
              </a:rPr>
              <a:t>creato</a:t>
            </a:r>
            <a:r>
              <a:rPr lang="en-US" dirty="0">
                <a:highlight>
                  <a:srgbClr val="FFFF00"/>
                </a:highlight>
              </a:rPr>
              <a:t> (</a:t>
            </a:r>
            <a:r>
              <a:rPr lang="en-US" dirty="0" err="1">
                <a:highlight>
                  <a:srgbClr val="FFFF00"/>
                </a:highlight>
              </a:rPr>
              <a:t>automaticamente</a:t>
            </a:r>
            <a:r>
              <a:rPr lang="en-US" dirty="0">
                <a:highlight>
                  <a:srgbClr val="FFFF00"/>
                </a:highlight>
              </a:rPr>
              <a:t>, dal </a:t>
            </a:r>
            <a:r>
              <a:rPr lang="en-US" dirty="0" err="1">
                <a:highlight>
                  <a:srgbClr val="FFFF00"/>
                </a:highlight>
              </a:rPr>
              <a:t>dbms</a:t>
            </a:r>
            <a:r>
              <a:rPr lang="en-US" dirty="0">
                <a:highlight>
                  <a:srgbClr val="FFFF00"/>
                </a:highlight>
              </a:rPr>
              <a:t>) la prima volta </a:t>
            </a:r>
            <a:r>
              <a:rPr lang="en-US" dirty="0" err="1">
                <a:highlight>
                  <a:srgbClr val="FFFF00"/>
                </a:highlight>
              </a:rPr>
              <a:t>che</a:t>
            </a:r>
            <a:r>
              <a:rPr lang="en-US" dirty="0">
                <a:highlight>
                  <a:srgbClr val="FFFF00"/>
                </a:highlight>
              </a:rPr>
              <a:t> </a:t>
            </a:r>
            <a:r>
              <a:rPr lang="en-US" dirty="0" err="1">
                <a:highlight>
                  <a:srgbClr val="FFFF00"/>
                </a:highlight>
              </a:rPr>
              <a:t>l'oggetto</a:t>
            </a:r>
            <a:r>
              <a:rPr lang="en-US" dirty="0">
                <a:highlight>
                  <a:srgbClr val="FFFF00"/>
                </a:highlight>
              </a:rPr>
              <a:t> </a:t>
            </a:r>
            <a:r>
              <a:rPr lang="en-US" dirty="0" err="1">
                <a:highlight>
                  <a:srgbClr val="FFFF00"/>
                </a:highlight>
              </a:rPr>
              <a:t>viene</a:t>
            </a:r>
            <a:r>
              <a:rPr lang="en-US" dirty="0">
                <a:highlight>
                  <a:srgbClr val="FFFF00"/>
                </a:highlight>
              </a:rPr>
              <a:t> </a:t>
            </a:r>
            <a:r>
              <a:rPr lang="en-US" dirty="0" err="1">
                <a:highlight>
                  <a:srgbClr val="FFFF00"/>
                </a:highlight>
              </a:rPr>
              <a:t>reso</a:t>
            </a:r>
            <a:r>
              <a:rPr lang="en-US" dirty="0">
                <a:highlight>
                  <a:srgbClr val="FFFF00"/>
                </a:highlight>
              </a:rPr>
              <a:t> </a:t>
            </a:r>
            <a:r>
              <a:rPr lang="en-US" dirty="0" err="1">
                <a:highlight>
                  <a:srgbClr val="FFFF00"/>
                </a:highlight>
              </a:rPr>
              <a:t>persistente</a:t>
            </a:r>
            <a:r>
              <a:rPr lang="en-US" dirty="0">
                <a:highlight>
                  <a:srgbClr val="FFFF00"/>
                </a:highlight>
              </a:rPr>
              <a:t> </a:t>
            </a:r>
            <a:r>
              <a:rPr lang="en-US" dirty="0" err="1">
                <a:highlight>
                  <a:srgbClr val="FFFF00"/>
                </a:highlight>
              </a:rPr>
              <a:t>nel</a:t>
            </a:r>
            <a:r>
              <a:rPr lang="en-US" dirty="0">
                <a:highlight>
                  <a:srgbClr val="FFFF00"/>
                </a:highlight>
              </a:rPr>
              <a:t> database (</a:t>
            </a:r>
            <a:r>
              <a:rPr lang="en-US" dirty="0" err="1">
                <a:highlight>
                  <a:srgbClr val="FFFF00"/>
                </a:highlight>
              </a:rPr>
              <a:t>vedi</a:t>
            </a:r>
            <a:r>
              <a:rPr lang="en-US" dirty="0">
                <a:highlight>
                  <a:srgbClr val="FFFF00"/>
                </a:highlight>
              </a:rPr>
              <a:t> il test)</a:t>
            </a:r>
          </a:p>
          <a:p>
            <a:endParaRPr lang="en-US" dirty="0"/>
          </a:p>
        </p:txBody>
      </p:sp>
    </p:spTree>
    <p:extLst>
      <p:ext uri="{BB962C8B-B14F-4D97-AF65-F5344CB8AC3E}">
        <p14:creationId xmlns:p14="http://schemas.microsoft.com/office/powerpoint/2010/main" val="4112214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olo 1"/>
          <p:cNvSpPr>
            <a:spLocks noGrp="1"/>
          </p:cNvSpPr>
          <p:nvPr>
            <p:ph type="title"/>
          </p:nvPr>
        </p:nvSpPr>
        <p:spPr/>
        <p:txBody>
          <a:bodyPr/>
          <a:lstStyle/>
          <a:p>
            <a:r>
              <a:rPr lang="it-IT"/>
              <a:t>EM: </a:t>
            </a:r>
            <a:r>
              <a:rPr lang="it-IT" err="1"/>
              <a:t>remove</a:t>
            </a:r>
            <a:r>
              <a:rPr lang="it-IT"/>
              <a:t>(Object </a:t>
            </a:r>
            <a:r>
              <a:rPr lang="it-IT" err="1"/>
              <a:t>entity</a:t>
            </a:r>
            <a:r>
              <a:rPr lang="it-IT"/>
              <a:t>)</a:t>
            </a:r>
          </a:p>
        </p:txBody>
      </p:sp>
      <p:sp>
        <p:nvSpPr>
          <p:cNvPr id="3" name="Segnaposto contenuto 2"/>
          <p:cNvSpPr>
            <a:spLocks noGrp="1"/>
          </p:cNvSpPr>
          <p:nvPr>
            <p:ph idx="1"/>
          </p:nvPr>
        </p:nvSpPr>
        <p:spPr/>
        <p:txBody>
          <a:bodyPr>
            <a:normAutofit/>
          </a:bodyPr>
          <a:lstStyle/>
          <a:p>
            <a:pPr>
              <a:lnSpc>
                <a:spcPct val="90000"/>
              </a:lnSpc>
            </a:pPr>
            <a:r>
              <a:rPr lang="it-IT" sz="2025" dirty="0">
                <a:cs typeface="Calibri Light" panose="020F0302020204030204" pitchFamily="34" charset="0"/>
              </a:rPr>
              <a:t>public </a:t>
            </a:r>
            <a:r>
              <a:rPr lang="it-IT" sz="2025" dirty="0" err="1">
                <a:cs typeface="Calibri Light" panose="020F0302020204030204" pitchFamily="34" charset="0"/>
              </a:rPr>
              <a:t>void</a:t>
            </a:r>
            <a:r>
              <a:rPr lang="it-IT" sz="2025" dirty="0">
                <a:cs typeface="Calibri Light" panose="020F0302020204030204" pitchFamily="34" charset="0"/>
              </a:rPr>
              <a:t> </a:t>
            </a:r>
            <a:r>
              <a:rPr lang="it-IT" sz="2025" dirty="0" err="1">
                <a:cs typeface="Calibri Light" panose="020F0302020204030204" pitchFamily="34" charset="0"/>
              </a:rPr>
              <a:t>remove</a:t>
            </a:r>
            <a:r>
              <a:rPr lang="it-IT" sz="2025" dirty="0">
                <a:cs typeface="Calibri Light" panose="020F0302020204030204" pitchFamily="34" charset="0"/>
              </a:rPr>
              <a:t>(Object </a:t>
            </a:r>
            <a:r>
              <a:rPr lang="it-IT" sz="2025" dirty="0" err="1">
                <a:cs typeface="Calibri Light" panose="020F0302020204030204" pitchFamily="34" charset="0"/>
              </a:rPr>
              <a:t>entity</a:t>
            </a:r>
            <a:r>
              <a:rPr lang="it-IT" sz="2025" dirty="0">
                <a:cs typeface="Calibri Light" panose="020F0302020204030204" pitchFamily="34" charset="0"/>
              </a:rPr>
              <a:t>);</a:t>
            </a:r>
            <a:endParaRPr lang="en-US" sz="2025" dirty="0">
              <a:cs typeface="Calibri Light" panose="020F0302020204030204" pitchFamily="34" charset="0"/>
            </a:endParaRPr>
          </a:p>
          <a:p>
            <a:pPr lvl="1">
              <a:lnSpc>
                <a:spcPct val="90000"/>
              </a:lnSpc>
            </a:pPr>
            <a:r>
              <a:rPr lang="en-US" sz="1800" dirty="0">
                <a:cs typeface="Calibri Light" panose="020F0302020204030204" pitchFamily="34" charset="0"/>
              </a:rPr>
              <a:t>Transitions managed instances to removed. The instances will be deleted from the datastore on the next commit (or flush). Accessing a removed entity has undefined results.</a:t>
            </a:r>
          </a:p>
          <a:p>
            <a:pPr lvl="1">
              <a:lnSpc>
                <a:spcPct val="90000"/>
              </a:lnSpc>
            </a:pPr>
            <a:r>
              <a:rPr lang="en-US" sz="1800" dirty="0">
                <a:cs typeface="Calibri Light" panose="020F0302020204030204" pitchFamily="34" charset="0"/>
              </a:rPr>
              <a:t>For a given entity A, the remove method behaves as follows:</a:t>
            </a:r>
          </a:p>
          <a:p>
            <a:pPr lvl="2">
              <a:lnSpc>
                <a:spcPct val="90000"/>
              </a:lnSpc>
            </a:pPr>
            <a:r>
              <a:rPr lang="en-US" sz="1500" dirty="0">
                <a:cs typeface="Calibri Light" panose="020F0302020204030204" pitchFamily="34" charset="0"/>
              </a:rPr>
              <a:t>If A is a new entity, it is ignored. However, the remove operation cascades as defined below.</a:t>
            </a:r>
          </a:p>
          <a:p>
            <a:pPr lvl="2">
              <a:lnSpc>
                <a:spcPct val="90000"/>
              </a:lnSpc>
            </a:pPr>
            <a:r>
              <a:rPr lang="en-US" sz="1500" dirty="0">
                <a:cs typeface="Calibri Light" panose="020F0302020204030204" pitchFamily="34" charset="0"/>
              </a:rPr>
              <a:t>If A is an existing managed entity, it becomes removed.</a:t>
            </a:r>
          </a:p>
          <a:p>
            <a:pPr lvl="2">
              <a:lnSpc>
                <a:spcPct val="90000"/>
              </a:lnSpc>
            </a:pPr>
            <a:r>
              <a:rPr lang="en-US" sz="1500" dirty="0">
                <a:cs typeface="Calibri Light" panose="020F0302020204030204" pitchFamily="34" charset="0"/>
              </a:rPr>
              <a:t>If A is a removed entity, it is ignored.</a:t>
            </a:r>
          </a:p>
          <a:p>
            <a:pPr lvl="2">
              <a:lnSpc>
                <a:spcPct val="90000"/>
              </a:lnSpc>
            </a:pPr>
            <a:r>
              <a:rPr lang="en-US" sz="1500" dirty="0">
                <a:cs typeface="Calibri Light" panose="020F0302020204030204" pitchFamily="34" charset="0"/>
              </a:rPr>
              <a:t>If A is a detached entity, an </a:t>
            </a:r>
            <a:r>
              <a:rPr lang="en-US" sz="1500" dirty="0" err="1">
                <a:cs typeface="Calibri Light" panose="020F0302020204030204" pitchFamily="34" charset="0"/>
              </a:rPr>
              <a:t>IllegalArgumentException</a:t>
            </a:r>
            <a:r>
              <a:rPr lang="en-US" sz="1500" dirty="0">
                <a:cs typeface="Calibri Light" panose="020F0302020204030204" pitchFamily="34" charset="0"/>
              </a:rPr>
              <a:t> is thrown.</a:t>
            </a:r>
          </a:p>
          <a:p>
            <a:pPr lvl="2">
              <a:lnSpc>
                <a:spcPct val="90000"/>
              </a:lnSpc>
            </a:pPr>
            <a:r>
              <a:rPr lang="en-US" sz="1500" dirty="0">
                <a:cs typeface="Calibri Light" panose="020F0302020204030204" pitchFamily="34" charset="0"/>
              </a:rPr>
              <a:t>The remove operation recurses on all relation fields of A whose </a:t>
            </a:r>
            <a:r>
              <a:rPr lang="en-US" sz="1500" dirty="0">
                <a:cs typeface="Calibri Light" panose="020F0302020204030204" pitchFamily="34" charset="0"/>
                <a:hlinkClick r:id="rId2" tooltip="2.8.1.  Cascade Type"/>
              </a:rPr>
              <a:t>cascades</a:t>
            </a:r>
            <a:r>
              <a:rPr lang="en-US" sz="1500" dirty="0">
                <a:cs typeface="Calibri Light" panose="020F0302020204030204" pitchFamily="34" charset="0"/>
              </a:rPr>
              <a:t> include </a:t>
            </a:r>
            <a:r>
              <a:rPr lang="en-US" sz="1500" dirty="0" err="1">
                <a:cs typeface="Calibri Light" panose="020F0302020204030204" pitchFamily="34" charset="0"/>
              </a:rPr>
              <a:t>CascadeType.REMOVE</a:t>
            </a:r>
            <a:r>
              <a:rPr lang="en-US" sz="1500" dirty="0">
                <a:cs typeface="Calibri Light" panose="020F0302020204030204" pitchFamily="34" charset="0"/>
              </a:rPr>
              <a:t>.</a:t>
            </a:r>
          </a:p>
          <a:p>
            <a:pPr lvl="1">
              <a:lnSpc>
                <a:spcPct val="90000"/>
              </a:lnSpc>
            </a:pPr>
            <a:r>
              <a:rPr lang="en-US" sz="1800" dirty="0">
                <a:highlight>
                  <a:srgbClr val="FFFF00"/>
                </a:highlight>
                <a:cs typeface="Calibri Light" panose="020F0302020204030204" pitchFamily="34" charset="0"/>
              </a:rPr>
              <a:t>This action can only be used in the context of an active transaction.</a:t>
            </a:r>
          </a:p>
        </p:txBody>
      </p:sp>
    </p:spTree>
    <p:extLst>
      <p:ext uri="{BB962C8B-B14F-4D97-AF65-F5344CB8AC3E}">
        <p14:creationId xmlns:p14="http://schemas.microsoft.com/office/powerpoint/2010/main" val="1708387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olo 1"/>
          <p:cNvSpPr>
            <a:spLocks noGrp="1"/>
          </p:cNvSpPr>
          <p:nvPr>
            <p:ph type="title"/>
          </p:nvPr>
        </p:nvSpPr>
        <p:spPr/>
        <p:txBody>
          <a:bodyPr/>
          <a:lstStyle/>
          <a:p>
            <a:r>
              <a:rPr lang="it-IT"/>
              <a:t>EM: merge(Object </a:t>
            </a:r>
            <a:r>
              <a:rPr lang="it-IT" err="1"/>
              <a:t>entity</a:t>
            </a:r>
            <a:r>
              <a:rPr lang="it-IT"/>
              <a:t>)</a:t>
            </a:r>
          </a:p>
        </p:txBody>
      </p:sp>
      <p:sp>
        <p:nvSpPr>
          <p:cNvPr id="18435" name="Segnaposto contenuto 2"/>
          <p:cNvSpPr>
            <a:spLocks noGrp="1"/>
          </p:cNvSpPr>
          <p:nvPr>
            <p:ph idx="1"/>
          </p:nvPr>
        </p:nvSpPr>
        <p:spPr/>
        <p:txBody>
          <a:bodyPr/>
          <a:lstStyle/>
          <a:p>
            <a:r>
              <a:rPr lang="en-US" dirty="0">
                <a:cs typeface="Calibri Light" panose="020F0302020204030204" pitchFamily="34" charset="0"/>
              </a:rPr>
              <a:t>public Object merge(Object entity); </a:t>
            </a:r>
          </a:p>
          <a:p>
            <a:pPr lvl="1"/>
            <a:r>
              <a:rPr lang="en-US" dirty="0">
                <a:cs typeface="Calibri Light" panose="020F0302020204030204" pitchFamily="34" charset="0"/>
              </a:rPr>
              <a:t>The JPA merge API re-attaches detached entities. It "merges" the state of the given entity into the current persistence context;</a:t>
            </a:r>
          </a:p>
          <a:p>
            <a:pPr lvl="1"/>
            <a:r>
              <a:rPr lang="en-US" dirty="0">
                <a:cs typeface="Calibri Light" panose="020F0302020204030204" pitchFamily="34" charset="0"/>
              </a:rPr>
              <a:t>that is, </a:t>
            </a:r>
            <a:r>
              <a:rPr lang="en-US" dirty="0">
                <a:solidFill>
                  <a:srgbClr val="FF0000"/>
                </a:solidFill>
                <a:cs typeface="Calibri Light" panose="020F0302020204030204" pitchFamily="34" charset="0"/>
              </a:rPr>
              <a:t>it updates the data in the datastore with those from the entity</a:t>
            </a:r>
          </a:p>
          <a:p>
            <a:pPr lvl="1"/>
            <a:r>
              <a:rPr lang="en-US" dirty="0">
                <a:highlight>
                  <a:srgbClr val="FFFF00"/>
                </a:highlight>
                <a:cs typeface="Calibri Light" panose="020F0302020204030204" pitchFamily="34" charset="0"/>
              </a:rPr>
              <a:t>This action can only be used in the context of an active transaction.</a:t>
            </a:r>
            <a:br>
              <a:rPr lang="en-US" dirty="0">
                <a:solidFill>
                  <a:srgbClr val="FF0000"/>
                </a:solidFill>
              </a:rPr>
            </a:br>
            <a:endParaRPr lang="it-IT" dirty="0">
              <a:solidFill>
                <a:srgbClr val="FF0000"/>
              </a:solidFill>
            </a:endParaRPr>
          </a:p>
        </p:txBody>
      </p:sp>
    </p:spTree>
    <p:extLst>
      <p:ext uri="{BB962C8B-B14F-4D97-AF65-F5344CB8AC3E}">
        <p14:creationId xmlns:p14="http://schemas.microsoft.com/office/powerpoint/2010/main" val="370978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olo 1"/>
          <p:cNvSpPr>
            <a:spLocks noGrp="1"/>
          </p:cNvSpPr>
          <p:nvPr>
            <p:ph type="title"/>
          </p:nvPr>
        </p:nvSpPr>
        <p:spPr/>
        <p:txBody>
          <a:bodyPr>
            <a:normAutofit fontScale="90000"/>
          </a:bodyPr>
          <a:lstStyle/>
          <a:p>
            <a:r>
              <a:rPr lang="it-IT" dirty="0"/>
              <a:t>EM: </a:t>
            </a:r>
            <a:r>
              <a:rPr lang="it-IT" dirty="0" err="1"/>
              <a:t>find</a:t>
            </a:r>
            <a:r>
              <a:rPr lang="it-IT" dirty="0"/>
              <a:t>(</a:t>
            </a:r>
            <a:r>
              <a:rPr lang="en-US" dirty="0"/>
              <a:t>Class&lt;T&gt; </a:t>
            </a:r>
            <a:r>
              <a:rPr lang="en-US" dirty="0" err="1"/>
              <a:t>entityClass</a:t>
            </a:r>
            <a:r>
              <a:rPr lang="en-US" dirty="0"/>
              <a:t>, Object </a:t>
            </a:r>
            <a:r>
              <a:rPr lang="en-US" dirty="0" err="1"/>
              <a:t>primaryKey</a:t>
            </a:r>
            <a:r>
              <a:rPr lang="it-IT" dirty="0"/>
              <a:t>)</a:t>
            </a:r>
          </a:p>
        </p:txBody>
      </p:sp>
      <p:sp>
        <p:nvSpPr>
          <p:cNvPr id="19459" name="Segnaposto contenuto 2"/>
          <p:cNvSpPr>
            <a:spLocks noGrp="1"/>
          </p:cNvSpPr>
          <p:nvPr>
            <p:ph idx="1"/>
          </p:nvPr>
        </p:nvSpPr>
        <p:spPr/>
        <p:txBody>
          <a:bodyPr>
            <a:normAutofit/>
          </a:bodyPr>
          <a:lstStyle/>
          <a:p>
            <a:r>
              <a:rPr lang="en-US" dirty="0">
                <a:cs typeface="Calibri Light" panose="020F0302020204030204" pitchFamily="34" charset="0"/>
              </a:rPr>
              <a:t>T </a:t>
            </a:r>
            <a:r>
              <a:rPr lang="en-US" dirty="0">
                <a:cs typeface="Calibri Light" panose="020F0302020204030204" pitchFamily="34" charset="0"/>
                <a:hlinkClick r:id="rId2" tooltip="Method of javax.persistence.EntityManager"/>
              </a:rPr>
              <a:t>find</a:t>
            </a:r>
            <a:r>
              <a:rPr lang="en-US" dirty="0">
                <a:cs typeface="Calibri Light" panose="020F0302020204030204" pitchFamily="34" charset="0"/>
              </a:rPr>
              <a:t>(Class&lt;T&gt; </a:t>
            </a:r>
            <a:r>
              <a:rPr lang="en-US" dirty="0" err="1">
                <a:cs typeface="Calibri Light" panose="020F0302020204030204" pitchFamily="34" charset="0"/>
              </a:rPr>
              <a:t>entityClass</a:t>
            </a:r>
            <a:r>
              <a:rPr lang="en-US" dirty="0">
                <a:cs typeface="Calibri Light" panose="020F0302020204030204" pitchFamily="34" charset="0"/>
              </a:rPr>
              <a:t>, Object </a:t>
            </a:r>
            <a:r>
              <a:rPr lang="en-US" dirty="0" err="1">
                <a:cs typeface="Calibri Light" panose="020F0302020204030204" pitchFamily="34" charset="0"/>
              </a:rPr>
              <a:t>primaryKey</a:t>
            </a:r>
            <a:r>
              <a:rPr lang="en-US" dirty="0">
                <a:cs typeface="Calibri Light" panose="020F0302020204030204" pitchFamily="34" charset="0"/>
              </a:rPr>
              <a:t>)</a:t>
            </a:r>
          </a:p>
          <a:p>
            <a:pPr lvl="1"/>
            <a:r>
              <a:rPr lang="en-US" dirty="0">
                <a:cs typeface="Calibri Light" panose="020F0302020204030204" pitchFamily="34" charset="0"/>
              </a:rPr>
              <a:t>Find by primary key. Search for an entity of the specified class and primary key. If the entity instance is contained in the persistence context, it is returned from there.</a:t>
            </a:r>
          </a:p>
          <a:p>
            <a:pPr lvl="1"/>
            <a:r>
              <a:rPr lang="en-US" dirty="0">
                <a:cs typeface="Calibri Light" panose="020F0302020204030204" pitchFamily="34" charset="0"/>
              </a:rPr>
              <a:t>Parameters: </a:t>
            </a:r>
            <a:r>
              <a:rPr lang="en-US" dirty="0" err="1">
                <a:cs typeface="Calibri Light" panose="020F0302020204030204" pitchFamily="34" charset="0"/>
              </a:rPr>
              <a:t>entityClass</a:t>
            </a:r>
            <a:r>
              <a:rPr lang="en-US" dirty="0">
                <a:cs typeface="Calibri Light" panose="020F0302020204030204" pitchFamily="34" charset="0"/>
              </a:rPr>
              <a:t> - entity class </a:t>
            </a:r>
            <a:r>
              <a:rPr lang="en-US" dirty="0" err="1">
                <a:cs typeface="Calibri Light" panose="020F0302020204030204" pitchFamily="34" charset="0"/>
              </a:rPr>
              <a:t>primaryKey</a:t>
            </a:r>
            <a:r>
              <a:rPr lang="en-US" dirty="0">
                <a:cs typeface="Calibri Light" panose="020F0302020204030204" pitchFamily="34" charset="0"/>
              </a:rPr>
              <a:t> - primary key</a:t>
            </a:r>
          </a:p>
          <a:p>
            <a:pPr lvl="1"/>
            <a:r>
              <a:rPr lang="en-US" dirty="0">
                <a:cs typeface="Calibri Light" panose="020F0302020204030204" pitchFamily="34" charset="0"/>
              </a:rPr>
              <a:t>Returns: the found entity instance or null if the entity does not exist</a:t>
            </a:r>
          </a:p>
          <a:p>
            <a:endParaRPr lang="it-IT" dirty="0"/>
          </a:p>
        </p:txBody>
      </p:sp>
    </p:spTree>
    <p:extLst>
      <p:ext uri="{BB962C8B-B14F-4D97-AF65-F5344CB8AC3E}">
        <p14:creationId xmlns:p14="http://schemas.microsoft.com/office/powerpoint/2010/main" val="1863994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olo 1"/>
          <p:cNvSpPr>
            <a:spLocks noGrp="1"/>
          </p:cNvSpPr>
          <p:nvPr>
            <p:ph type="title"/>
          </p:nvPr>
        </p:nvSpPr>
        <p:spPr>
          <a:xfrm>
            <a:off x="1485900" y="205979"/>
            <a:ext cx="6172200" cy="857250"/>
          </a:xfrm>
        </p:spPr>
        <p:txBody>
          <a:bodyPr/>
          <a:lstStyle/>
          <a:p>
            <a:r>
              <a:rPr lang="it-IT" dirty="0"/>
              <a:t>EM: </a:t>
            </a:r>
            <a:r>
              <a:rPr lang="it-IT" dirty="0" err="1"/>
              <a:t>clear</a:t>
            </a:r>
            <a:r>
              <a:rPr lang="it-IT" dirty="0"/>
              <a:t>()</a:t>
            </a:r>
          </a:p>
        </p:txBody>
      </p:sp>
      <p:sp>
        <p:nvSpPr>
          <p:cNvPr id="3" name="Segnaposto contenuto 2"/>
          <p:cNvSpPr>
            <a:spLocks noGrp="1"/>
          </p:cNvSpPr>
          <p:nvPr>
            <p:ph idx="1"/>
          </p:nvPr>
        </p:nvSpPr>
        <p:spPr/>
        <p:txBody>
          <a:bodyPr>
            <a:normAutofit/>
          </a:bodyPr>
          <a:lstStyle/>
          <a:p>
            <a:pPr>
              <a:lnSpc>
                <a:spcPct val="90000"/>
              </a:lnSpc>
            </a:pPr>
            <a:r>
              <a:rPr lang="en-US" sz="2025" dirty="0">
                <a:cs typeface="Calibri Light" panose="020F0302020204030204" pitchFamily="34" charset="0"/>
              </a:rPr>
              <a:t>public void clear(); </a:t>
            </a:r>
          </a:p>
          <a:p>
            <a:pPr lvl="1">
              <a:lnSpc>
                <a:spcPct val="90000"/>
              </a:lnSpc>
            </a:pPr>
            <a:r>
              <a:rPr lang="it-IT" dirty="0" err="1"/>
              <a:t>All</a:t>
            </a:r>
            <a:r>
              <a:rPr lang="it-IT" dirty="0"/>
              <a:t> </a:t>
            </a:r>
            <a:r>
              <a:rPr lang="it-IT" dirty="0" err="1"/>
              <a:t>entities</a:t>
            </a:r>
            <a:r>
              <a:rPr lang="it-IT" dirty="0"/>
              <a:t> </a:t>
            </a:r>
            <a:r>
              <a:rPr lang="it-IT" dirty="0" err="1"/>
              <a:t>managed</a:t>
            </a:r>
            <a:r>
              <a:rPr lang="it-IT" dirty="0"/>
              <a:t> by the </a:t>
            </a:r>
            <a:r>
              <a:rPr lang="it-IT" sz="1800" dirty="0" err="1"/>
              <a:t>EntityManager</a:t>
            </a:r>
            <a:r>
              <a:rPr lang="it-IT" sz="1800" dirty="0"/>
              <a:t> </a:t>
            </a:r>
            <a:r>
              <a:rPr lang="it-IT" dirty="0" err="1"/>
              <a:t>become</a:t>
            </a:r>
            <a:r>
              <a:rPr lang="it-IT" dirty="0"/>
              <a:t> </a:t>
            </a:r>
            <a:r>
              <a:rPr lang="it-IT" dirty="0" err="1"/>
              <a:t>detached</a:t>
            </a:r>
            <a:r>
              <a:rPr lang="it-IT" dirty="0"/>
              <a:t>.</a:t>
            </a:r>
          </a:p>
          <a:p>
            <a:pPr lvl="1">
              <a:lnSpc>
                <a:spcPct val="90000"/>
              </a:lnSpc>
            </a:pPr>
            <a:endParaRPr lang="it-IT" sz="1800" dirty="0">
              <a:cs typeface="Calibri Light" panose="020F0302020204030204" pitchFamily="34" charset="0"/>
            </a:endParaRPr>
          </a:p>
          <a:p>
            <a:pPr lvl="1">
              <a:lnSpc>
                <a:spcPct val="90000"/>
              </a:lnSpc>
            </a:pPr>
            <a:endParaRPr lang="it-IT" sz="1800" dirty="0">
              <a:cs typeface="Calibri Light" panose="020F0302020204030204" pitchFamily="34" charset="0"/>
            </a:endParaRPr>
          </a:p>
          <a:p>
            <a:pPr lvl="1">
              <a:lnSpc>
                <a:spcPct val="90000"/>
              </a:lnSpc>
            </a:pPr>
            <a:endParaRPr lang="it-IT" sz="1800" dirty="0">
              <a:cs typeface="Calibri Light" panose="020F0302020204030204" pitchFamily="34" charset="0"/>
            </a:endParaRPr>
          </a:p>
          <a:p>
            <a:pPr>
              <a:lnSpc>
                <a:spcPct val="90000"/>
              </a:lnSpc>
            </a:pPr>
            <a:r>
              <a:rPr lang="it-IT" sz="2100" dirty="0">
                <a:cs typeface="Calibri Light" panose="020F0302020204030204" pitchFamily="34" charset="0"/>
              </a:rPr>
              <a:t>Questo metodo è utile per portare tutte le entità nello stato </a:t>
            </a:r>
            <a:r>
              <a:rPr lang="it-IT" sz="2100" dirty="0" err="1">
                <a:cs typeface="Calibri Light" panose="020F0302020204030204" pitchFamily="34" charset="0"/>
              </a:rPr>
              <a:t>detached</a:t>
            </a:r>
            <a:endParaRPr lang="en-US" sz="2100" dirty="0">
              <a:cs typeface="Calibri Light" panose="020F0302020204030204" pitchFamily="34" charset="0"/>
            </a:endParaRPr>
          </a:p>
        </p:txBody>
      </p:sp>
    </p:spTree>
    <p:extLst>
      <p:ext uri="{BB962C8B-B14F-4D97-AF65-F5344CB8AC3E}">
        <p14:creationId xmlns:p14="http://schemas.microsoft.com/office/powerpoint/2010/main" val="1610924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err="1"/>
              <a:t>Riassumendo</a:t>
            </a:r>
            <a:endParaRPr lang="en-US"/>
          </a:p>
        </p:txBody>
      </p:sp>
      <p:sp>
        <p:nvSpPr>
          <p:cNvPr id="3" name="Segnaposto contenuto 2"/>
          <p:cNvSpPr>
            <a:spLocks noGrp="1"/>
          </p:cNvSpPr>
          <p:nvPr>
            <p:ph idx="1"/>
          </p:nvPr>
        </p:nvSpPr>
        <p:spPr/>
        <p:txBody>
          <a:bodyPr>
            <a:normAutofit lnSpcReduction="10000"/>
          </a:bodyPr>
          <a:lstStyle/>
          <a:p>
            <a:r>
              <a:rPr lang="en-US" dirty="0"/>
              <a:t>I </a:t>
            </a:r>
            <a:r>
              <a:rPr lang="en-US" dirty="0" err="1"/>
              <a:t>metodi</a:t>
            </a:r>
            <a:r>
              <a:rPr lang="en-US" dirty="0"/>
              <a:t> </a:t>
            </a:r>
            <a:r>
              <a:rPr lang="en-US" dirty="0" err="1"/>
              <a:t>che</a:t>
            </a:r>
            <a:r>
              <a:rPr lang="en-US" dirty="0"/>
              <a:t> </a:t>
            </a:r>
            <a:r>
              <a:rPr lang="en-US" dirty="0" err="1"/>
              <a:t>abbiamo</a:t>
            </a:r>
            <a:r>
              <a:rPr lang="en-US" dirty="0"/>
              <a:t> visto </a:t>
            </a:r>
            <a:r>
              <a:rPr lang="en-US" dirty="0" err="1"/>
              <a:t>corrispondono</a:t>
            </a:r>
            <a:r>
              <a:rPr lang="en-US" dirty="0"/>
              <a:t> alle </a:t>
            </a:r>
            <a:r>
              <a:rPr lang="en-US" dirty="0" err="1"/>
              <a:t>operazioni</a:t>
            </a:r>
            <a:r>
              <a:rPr lang="en-US" dirty="0"/>
              <a:t> SQL (e CRUD), come segue:</a:t>
            </a:r>
          </a:p>
          <a:p>
            <a:pPr lvl="1"/>
            <a:r>
              <a:rPr lang="en-US" dirty="0">
                <a:highlight>
                  <a:srgbClr val="FFFF00"/>
                </a:highlight>
              </a:rPr>
              <a:t>persist 		</a:t>
            </a:r>
            <a:r>
              <a:rPr lang="en-US" dirty="0">
                <a:highlight>
                  <a:srgbClr val="FFFF00"/>
                </a:highlight>
                <a:sym typeface="Wingdings"/>
              </a:rPr>
              <a:t> </a:t>
            </a:r>
            <a:r>
              <a:rPr lang="en-US" dirty="0">
                <a:highlight>
                  <a:srgbClr val="FFFF00"/>
                </a:highlight>
              </a:rPr>
              <a:t>INSERT   	(Create)</a:t>
            </a:r>
          </a:p>
          <a:p>
            <a:pPr lvl="1"/>
            <a:r>
              <a:rPr lang="en-US" dirty="0"/>
              <a:t>find 		</a:t>
            </a:r>
            <a:r>
              <a:rPr lang="en-US" dirty="0">
                <a:sym typeface="Wingdings"/>
              </a:rPr>
              <a:t> SELECT 	(Retrieve)</a:t>
            </a:r>
            <a:endParaRPr lang="en-US" dirty="0"/>
          </a:p>
          <a:p>
            <a:pPr lvl="1"/>
            <a:r>
              <a:rPr lang="en-US" dirty="0">
                <a:highlight>
                  <a:srgbClr val="FFFF00"/>
                </a:highlight>
              </a:rPr>
              <a:t>merge 		</a:t>
            </a:r>
            <a:r>
              <a:rPr lang="en-US" dirty="0">
                <a:highlight>
                  <a:srgbClr val="FFFF00"/>
                </a:highlight>
                <a:sym typeface="Wingdings"/>
              </a:rPr>
              <a:t> UPDATE 	(Update)</a:t>
            </a:r>
          </a:p>
          <a:p>
            <a:pPr lvl="1"/>
            <a:r>
              <a:rPr lang="en-US" dirty="0">
                <a:highlight>
                  <a:srgbClr val="FFFF00"/>
                </a:highlight>
                <a:sym typeface="Wingdings"/>
              </a:rPr>
              <a:t>remove 	 DELETE 	(Delete)</a:t>
            </a:r>
          </a:p>
          <a:p>
            <a:pPr lvl="1"/>
            <a:endParaRPr lang="en-US" dirty="0">
              <a:sym typeface="Wingdings"/>
            </a:endParaRPr>
          </a:p>
          <a:p>
            <a:r>
              <a:rPr lang="en-US" dirty="0">
                <a:sym typeface="Wingdings"/>
              </a:rPr>
              <a:t>I </a:t>
            </a:r>
            <a:r>
              <a:rPr lang="en-US" dirty="0" err="1">
                <a:sym typeface="Wingdings"/>
              </a:rPr>
              <a:t>metodi</a:t>
            </a:r>
            <a:r>
              <a:rPr lang="en-US" dirty="0">
                <a:sym typeface="Wingdings"/>
              </a:rPr>
              <a:t> </a:t>
            </a:r>
            <a:r>
              <a:rPr lang="en-US" dirty="0" err="1">
                <a:sym typeface="Wingdings"/>
              </a:rPr>
              <a:t>che</a:t>
            </a:r>
            <a:r>
              <a:rPr lang="en-US" dirty="0">
                <a:sym typeface="Wingdings"/>
              </a:rPr>
              <a:t> </a:t>
            </a:r>
            <a:r>
              <a:rPr lang="en-US" dirty="0" err="1">
                <a:sym typeface="Wingdings"/>
              </a:rPr>
              <a:t>modificano</a:t>
            </a:r>
            <a:r>
              <a:rPr lang="en-US" dirty="0">
                <a:sym typeface="Wingdings"/>
              </a:rPr>
              <a:t> </a:t>
            </a:r>
            <a:r>
              <a:rPr lang="en-US" dirty="0" err="1">
                <a:sym typeface="Wingdings"/>
              </a:rPr>
              <a:t>i</a:t>
            </a:r>
            <a:r>
              <a:rPr lang="en-US" dirty="0">
                <a:sym typeface="Wingdings"/>
              </a:rPr>
              <a:t> </a:t>
            </a:r>
            <a:r>
              <a:rPr lang="en-US" dirty="0" err="1">
                <a:sym typeface="Wingdings"/>
              </a:rPr>
              <a:t>dati</a:t>
            </a:r>
            <a:r>
              <a:rPr lang="en-US" dirty="0">
                <a:sym typeface="Wingdings"/>
              </a:rPr>
              <a:t> </a:t>
            </a:r>
            <a:r>
              <a:rPr lang="en-US" dirty="0" err="1">
                <a:sym typeface="Wingdings"/>
              </a:rPr>
              <a:t>devono</a:t>
            </a:r>
            <a:r>
              <a:rPr lang="en-US" dirty="0">
                <a:sym typeface="Wingdings"/>
              </a:rPr>
              <a:t> </a:t>
            </a:r>
            <a:r>
              <a:rPr lang="en-US" dirty="0" err="1">
                <a:sym typeface="Wingdings"/>
              </a:rPr>
              <a:t>essere</a:t>
            </a:r>
            <a:r>
              <a:rPr lang="en-US" dirty="0">
                <a:sym typeface="Wingdings"/>
              </a:rPr>
              <a:t> </a:t>
            </a:r>
            <a:r>
              <a:rPr lang="en-US" dirty="0" err="1">
                <a:sym typeface="Wingdings"/>
              </a:rPr>
              <a:t>invocati</a:t>
            </a:r>
            <a:r>
              <a:rPr lang="en-US" dirty="0">
                <a:sym typeface="Wingdings"/>
              </a:rPr>
              <a:t> </a:t>
            </a:r>
            <a:r>
              <a:rPr lang="en-US" dirty="0" err="1">
                <a:sym typeface="Wingdings"/>
              </a:rPr>
              <a:t>nel</a:t>
            </a:r>
            <a:r>
              <a:rPr lang="en-US" dirty="0">
                <a:sym typeface="Wingdings"/>
              </a:rPr>
              <a:t> </a:t>
            </a:r>
            <a:r>
              <a:rPr lang="en-US" dirty="0" err="1">
                <a:sym typeface="Wingdings"/>
              </a:rPr>
              <a:t>contesto</a:t>
            </a:r>
            <a:r>
              <a:rPr lang="en-US" dirty="0">
                <a:sym typeface="Wingdings"/>
              </a:rPr>
              <a:t> di una </a:t>
            </a:r>
            <a:r>
              <a:rPr lang="en-US" dirty="0" err="1">
                <a:highlight>
                  <a:srgbClr val="FFFF00"/>
                </a:highlight>
                <a:sym typeface="Wingdings"/>
              </a:rPr>
              <a:t>transazione</a:t>
            </a:r>
            <a:endParaRPr lang="en-US" dirty="0">
              <a:highlight>
                <a:srgbClr val="FFFF00"/>
              </a:highlight>
              <a:sym typeface="Wingdings"/>
            </a:endParaRPr>
          </a:p>
        </p:txBody>
      </p:sp>
    </p:spTree>
    <p:extLst>
      <p:ext uri="{BB962C8B-B14F-4D97-AF65-F5344CB8AC3E}">
        <p14:creationId xmlns:p14="http://schemas.microsoft.com/office/powerpoint/2010/main" val="1321485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JPQL: </a:t>
            </a:r>
            <a:r>
              <a:rPr lang="en-US" dirty="0" err="1"/>
              <a:t>Tipologie</a:t>
            </a:r>
            <a:r>
              <a:rPr lang="en-US" dirty="0"/>
              <a:t> di query</a:t>
            </a:r>
          </a:p>
        </p:txBody>
      </p:sp>
      <p:sp>
        <p:nvSpPr>
          <p:cNvPr id="3" name="Segnaposto contenuto 2"/>
          <p:cNvSpPr>
            <a:spLocks noGrp="1"/>
          </p:cNvSpPr>
          <p:nvPr>
            <p:ph idx="1"/>
          </p:nvPr>
        </p:nvSpPr>
        <p:spPr/>
        <p:txBody>
          <a:bodyPr/>
          <a:lstStyle/>
          <a:p>
            <a:r>
              <a:rPr lang="en-US" dirty="0"/>
              <a:t>Dynamic Queries: </a:t>
            </a:r>
            <a:r>
              <a:rPr lang="en-US" dirty="0" err="1"/>
              <a:t>specificate</a:t>
            </a:r>
            <a:r>
              <a:rPr lang="en-US" dirty="0"/>
              <a:t> runtime</a:t>
            </a:r>
          </a:p>
          <a:p>
            <a:r>
              <a:rPr lang="en-US" dirty="0"/>
              <a:t>Named Queries: </a:t>
            </a:r>
            <a:r>
              <a:rPr lang="en-US" dirty="0" err="1"/>
              <a:t>statiche</a:t>
            </a:r>
            <a:r>
              <a:rPr lang="en-US" dirty="0"/>
              <a:t> e </a:t>
            </a:r>
            <a:r>
              <a:rPr lang="en-US" dirty="0" err="1"/>
              <a:t>immutabili</a:t>
            </a:r>
            <a:r>
              <a:rPr lang="en-US" dirty="0"/>
              <a:t>, </a:t>
            </a:r>
            <a:r>
              <a:rPr lang="en-US" dirty="0" err="1"/>
              <a:t>sono</a:t>
            </a:r>
            <a:r>
              <a:rPr lang="en-US" dirty="0"/>
              <a:t> definite </a:t>
            </a:r>
            <a:r>
              <a:rPr lang="en-US" dirty="0" err="1"/>
              <a:t>nella</a:t>
            </a:r>
            <a:r>
              <a:rPr lang="en-US" dirty="0"/>
              <a:t> </a:t>
            </a:r>
            <a:r>
              <a:rPr lang="en-US" dirty="0" err="1"/>
              <a:t>entità</a:t>
            </a:r>
            <a:r>
              <a:rPr lang="en-US" dirty="0"/>
              <a:t> (</a:t>
            </a:r>
            <a:r>
              <a:rPr lang="en-US" dirty="0" err="1"/>
              <a:t>vedi</a:t>
            </a:r>
            <a:r>
              <a:rPr lang="en-US" dirty="0"/>
              <a:t> </a:t>
            </a:r>
            <a:r>
              <a:rPr lang="en-US" dirty="0" err="1"/>
              <a:t>prox</a:t>
            </a:r>
            <a:r>
              <a:rPr lang="en-US" dirty="0"/>
              <a:t> slide)</a:t>
            </a:r>
          </a:p>
          <a:p>
            <a:r>
              <a:rPr lang="en-US" dirty="0"/>
              <a:t>Native Queries: query SQL</a:t>
            </a:r>
          </a:p>
          <a:p>
            <a:endParaRPr lang="en-US" dirty="0"/>
          </a:p>
        </p:txBody>
      </p:sp>
    </p:spTree>
    <p:extLst>
      <p:ext uri="{BB962C8B-B14F-4D97-AF65-F5344CB8AC3E}">
        <p14:creationId xmlns:p14="http://schemas.microsoft.com/office/powerpoint/2010/main" val="3688006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Named Queries</a:t>
            </a:r>
          </a:p>
        </p:txBody>
      </p:sp>
      <p:sp>
        <p:nvSpPr>
          <p:cNvPr id="3" name="Segnaposto contenuto 2"/>
          <p:cNvSpPr>
            <a:spLocks noGrp="1"/>
          </p:cNvSpPr>
          <p:nvPr>
            <p:ph idx="1"/>
          </p:nvPr>
        </p:nvSpPr>
        <p:spPr/>
        <p:txBody>
          <a:bodyPr/>
          <a:lstStyle/>
          <a:p>
            <a:r>
              <a:rPr lang="en-US" dirty="0" err="1"/>
              <a:t>Sono</a:t>
            </a:r>
            <a:r>
              <a:rPr lang="en-US" dirty="0"/>
              <a:t> definite in </a:t>
            </a:r>
            <a:r>
              <a:rPr lang="en-US" dirty="0" err="1"/>
              <a:t>maniera</a:t>
            </a:r>
            <a:r>
              <a:rPr lang="en-US" dirty="0"/>
              <a:t> </a:t>
            </a:r>
            <a:r>
              <a:rPr lang="en-US" dirty="0" err="1"/>
              <a:t>statica</a:t>
            </a:r>
            <a:r>
              <a:rPr lang="en-US" dirty="0"/>
              <a:t> e </a:t>
            </a:r>
            <a:r>
              <a:rPr lang="en-US" dirty="0" err="1"/>
              <a:t>immutabile</a:t>
            </a:r>
            <a:r>
              <a:rPr lang="en-US" dirty="0"/>
              <a:t> </a:t>
            </a:r>
            <a:r>
              <a:rPr lang="en-US" dirty="0" err="1"/>
              <a:t>nella</a:t>
            </a:r>
            <a:r>
              <a:rPr lang="en-US" dirty="0"/>
              <a:t> </a:t>
            </a:r>
            <a:r>
              <a:rPr lang="en-US" dirty="0" err="1"/>
              <a:t>entità</a:t>
            </a:r>
            <a:r>
              <a:rPr lang="en-US" dirty="0"/>
              <a:t> a cui </a:t>
            </a:r>
            <a:r>
              <a:rPr lang="en-US" dirty="0" err="1"/>
              <a:t>fanno</a:t>
            </a:r>
            <a:r>
              <a:rPr lang="en-US" dirty="0"/>
              <a:t> </a:t>
            </a:r>
            <a:r>
              <a:rPr lang="en-US" dirty="0" err="1"/>
              <a:t>riferimento</a:t>
            </a:r>
            <a:endParaRPr lang="en-US" dirty="0"/>
          </a:p>
          <a:p>
            <a:pPr lvl="1"/>
            <a:r>
              <a:rPr lang="en-US" dirty="0"/>
              <a:t>Prima </a:t>
            </a:r>
            <a:r>
              <a:rPr lang="en-US" dirty="0" err="1"/>
              <a:t>della</a:t>
            </a:r>
            <a:r>
              <a:rPr lang="en-US" dirty="0"/>
              <a:t> </a:t>
            </a:r>
            <a:r>
              <a:rPr lang="en-US" dirty="0" err="1"/>
              <a:t>definizione</a:t>
            </a:r>
            <a:r>
              <a:rPr lang="en-US" dirty="0"/>
              <a:t> </a:t>
            </a:r>
            <a:r>
              <a:rPr lang="en-US" dirty="0" err="1"/>
              <a:t>della</a:t>
            </a:r>
            <a:r>
              <a:rPr lang="en-US" dirty="0"/>
              <a:t> </a:t>
            </a:r>
            <a:r>
              <a:rPr lang="en-US" dirty="0" err="1"/>
              <a:t>classe</a:t>
            </a:r>
            <a:endParaRPr lang="en-US" dirty="0"/>
          </a:p>
          <a:p>
            <a:pPr lvl="1"/>
            <a:r>
              <a:rPr lang="en-US" dirty="0" err="1"/>
              <a:t>Tramite</a:t>
            </a:r>
            <a:r>
              <a:rPr lang="en-US" dirty="0"/>
              <a:t> </a:t>
            </a:r>
            <a:r>
              <a:rPr lang="en-US" dirty="0" err="1"/>
              <a:t>l'annotazione</a:t>
            </a:r>
            <a:r>
              <a:rPr lang="en-US" dirty="0"/>
              <a:t> </a:t>
            </a:r>
            <a:br>
              <a:rPr lang="en-US" dirty="0"/>
            </a:br>
            <a:r>
              <a:rPr lang="en-US" dirty="0"/>
              <a:t>@</a:t>
            </a:r>
            <a:r>
              <a:rPr lang="en-US" dirty="0" err="1"/>
              <a:t>NamedQuery</a:t>
            </a:r>
            <a:r>
              <a:rPr lang="en-US" dirty="0"/>
              <a:t>("</a:t>
            </a:r>
            <a:r>
              <a:rPr lang="en-US" i="1" dirty="0" err="1"/>
              <a:t>nome</a:t>
            </a:r>
            <a:r>
              <a:rPr lang="en-US" dirty="0"/>
              <a:t>", query="</a:t>
            </a:r>
            <a:r>
              <a:rPr lang="en-US" i="1" dirty="0" err="1"/>
              <a:t>jpql</a:t>
            </a:r>
            <a:r>
              <a:rPr lang="en-US" i="1" dirty="0"/>
              <a:t> query</a:t>
            </a:r>
            <a:r>
              <a:rPr lang="en-US" dirty="0"/>
              <a:t>")</a:t>
            </a:r>
          </a:p>
          <a:p>
            <a:r>
              <a:rPr lang="en-US" dirty="0" err="1"/>
              <a:t>Possono</a:t>
            </a:r>
            <a:r>
              <a:rPr lang="en-US" dirty="0"/>
              <a:t> </a:t>
            </a:r>
            <a:r>
              <a:rPr lang="en-US" dirty="0" err="1"/>
              <a:t>essere</a:t>
            </a:r>
            <a:r>
              <a:rPr lang="en-US" dirty="0"/>
              <a:t> </a:t>
            </a:r>
            <a:r>
              <a:rPr lang="en-US" dirty="0" err="1"/>
              <a:t>sia</a:t>
            </a:r>
            <a:r>
              <a:rPr lang="en-US" dirty="0"/>
              <a:t> query di </a:t>
            </a:r>
            <a:r>
              <a:rPr lang="en-US" dirty="0" err="1"/>
              <a:t>interrogazione</a:t>
            </a:r>
            <a:r>
              <a:rPr lang="en-US" dirty="0"/>
              <a:t> </a:t>
            </a:r>
            <a:r>
              <a:rPr lang="en-US" dirty="0" err="1"/>
              <a:t>che</a:t>
            </a:r>
            <a:r>
              <a:rPr lang="en-US" dirty="0"/>
              <a:t> query di aggiornamento (update o delete)</a:t>
            </a:r>
          </a:p>
          <a:p>
            <a:r>
              <a:rPr lang="en-US" dirty="0" err="1"/>
              <a:t>Possono</a:t>
            </a:r>
            <a:r>
              <a:rPr lang="en-US" dirty="0"/>
              <a:t> </a:t>
            </a:r>
            <a:r>
              <a:rPr lang="en-US" dirty="0" err="1"/>
              <a:t>essere</a:t>
            </a:r>
            <a:r>
              <a:rPr lang="en-US" dirty="0"/>
              <a:t> </a:t>
            </a:r>
            <a:r>
              <a:rPr lang="en-US" dirty="0" err="1"/>
              <a:t>parametriche</a:t>
            </a:r>
            <a:endParaRPr lang="en-US" dirty="0"/>
          </a:p>
          <a:p>
            <a:endParaRPr lang="en-US" dirty="0"/>
          </a:p>
        </p:txBody>
      </p:sp>
    </p:spTree>
    <p:extLst>
      <p:ext uri="{BB962C8B-B14F-4D97-AF65-F5344CB8AC3E}">
        <p14:creationId xmlns:p14="http://schemas.microsoft.com/office/powerpoint/2010/main" val="3192255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Named Queries: </a:t>
            </a:r>
            <a:r>
              <a:rPr lang="en-US" dirty="0" err="1"/>
              <a:t>esempio</a:t>
            </a:r>
            <a:endParaRPr lang="en-US" dirty="0"/>
          </a:p>
        </p:txBody>
      </p:sp>
      <p:sp>
        <p:nvSpPr>
          <p:cNvPr id="3" name="Segnaposto contenuto 2"/>
          <p:cNvSpPr>
            <a:spLocks noGrp="1"/>
          </p:cNvSpPr>
          <p:nvPr>
            <p:ph idx="1"/>
          </p:nvPr>
        </p:nvSpPr>
        <p:spPr/>
        <p:txBody>
          <a:bodyPr vert="horz" lIns="68580" tIns="34290" rIns="68580" bIns="34290" rtlCol="0" anchor="t">
            <a:noAutofit/>
          </a:bodyPr>
          <a:lstStyle/>
          <a:p>
            <a:pPr marL="0" indent="0">
              <a:buNone/>
            </a:pPr>
            <a:r>
              <a:rPr lang="en-US" sz="1350" dirty="0"/>
              <a:t>package it.uniroma3.siw.model;</a:t>
            </a:r>
          </a:p>
          <a:p>
            <a:pPr marL="0" indent="0">
              <a:buNone/>
            </a:pPr>
            <a:endParaRPr lang="en-US" sz="1350" dirty="0"/>
          </a:p>
          <a:p>
            <a:pPr marL="0" indent="0">
              <a:buNone/>
            </a:pPr>
            <a:r>
              <a:rPr lang="en-US" sz="1350" dirty="0"/>
              <a:t>import </a:t>
            </a:r>
            <a:r>
              <a:rPr lang="en-US" sz="1350" dirty="0" err="1"/>
              <a:t>javax.persistence.Entity</a:t>
            </a:r>
            <a:r>
              <a:rPr lang="en-US" sz="1350" dirty="0"/>
              <a:t>; […]</a:t>
            </a:r>
          </a:p>
          <a:p>
            <a:pPr marL="0" indent="0">
              <a:buNone/>
            </a:pPr>
            <a:endParaRPr lang="en-US" sz="1350" dirty="0"/>
          </a:p>
          <a:p>
            <a:pPr marL="0" indent="0">
              <a:buNone/>
            </a:pPr>
            <a:r>
              <a:rPr lang="en-US" sz="1350" dirty="0"/>
              <a:t>@Entity</a:t>
            </a:r>
          </a:p>
          <a:p>
            <a:pPr marL="0" indent="0">
              <a:buNone/>
            </a:pPr>
            <a:r>
              <a:rPr lang="en-US" sz="1350" dirty="0">
                <a:highlight>
                  <a:srgbClr val="FFFF00"/>
                </a:highlight>
              </a:rPr>
              <a:t>@</a:t>
            </a:r>
            <a:r>
              <a:rPr lang="en-US" sz="1350" dirty="0" err="1">
                <a:highlight>
                  <a:srgbClr val="FFFF00"/>
                </a:highlight>
              </a:rPr>
              <a:t>NamedQuery</a:t>
            </a:r>
            <a:r>
              <a:rPr lang="en-US" sz="1350" dirty="0">
                <a:highlight>
                  <a:srgbClr val="FFFF00"/>
                </a:highlight>
              </a:rPr>
              <a:t>(name = "</a:t>
            </a:r>
            <a:r>
              <a:rPr lang="en-US" sz="1350" dirty="0" err="1">
                <a:highlight>
                  <a:srgbClr val="FFFF00"/>
                </a:highlight>
              </a:rPr>
              <a:t>findAllProducts</a:t>
            </a:r>
            <a:r>
              <a:rPr lang="en-US" sz="1350" dirty="0">
                <a:highlight>
                  <a:srgbClr val="FFFF00"/>
                </a:highlight>
              </a:rPr>
              <a:t>", query = "SELECT p FROM Product p")</a:t>
            </a:r>
          </a:p>
          <a:p>
            <a:pPr marL="0" indent="0">
              <a:buNone/>
            </a:pPr>
            <a:r>
              <a:rPr lang="en-US" sz="1350" dirty="0">
                <a:highlight>
                  <a:srgbClr val="FFFF00"/>
                </a:highlight>
              </a:rPr>
              <a:t>@</a:t>
            </a:r>
            <a:r>
              <a:rPr lang="en-US" sz="1350" dirty="0" err="1">
                <a:highlight>
                  <a:srgbClr val="FFFF00"/>
                </a:highlight>
              </a:rPr>
              <a:t>NamedQuery</a:t>
            </a:r>
            <a:r>
              <a:rPr lang="en-US" sz="1350" dirty="0">
                <a:highlight>
                  <a:srgbClr val="FFFF00"/>
                </a:highlight>
              </a:rPr>
              <a:t>(name = "</a:t>
            </a:r>
            <a:r>
              <a:rPr lang="en-US" sz="1350" dirty="0" err="1">
                <a:highlight>
                  <a:srgbClr val="FFFF00"/>
                </a:highlight>
              </a:rPr>
              <a:t>deleteAllProducts</a:t>
            </a:r>
            <a:r>
              <a:rPr lang="en-US" sz="1350" dirty="0">
                <a:highlight>
                  <a:srgbClr val="FFFF00"/>
                </a:highlight>
              </a:rPr>
              <a:t>", query = "DELETE Product p")</a:t>
            </a:r>
          </a:p>
          <a:p>
            <a:pPr marL="0" indent="0">
              <a:buNone/>
            </a:pPr>
            <a:r>
              <a:rPr lang="en-US" sz="1350" dirty="0"/>
              <a:t>public class Product {</a:t>
            </a:r>
          </a:p>
          <a:p>
            <a:pPr marL="0" indent="0">
              <a:buNone/>
            </a:pPr>
            <a:endParaRPr lang="en-US" sz="1350" dirty="0"/>
          </a:p>
          <a:p>
            <a:pPr marL="0" indent="0">
              <a:buNone/>
            </a:pPr>
            <a:r>
              <a:rPr lang="en-US" sz="1350" dirty="0"/>
              <a:t>    @Id</a:t>
            </a:r>
          </a:p>
          <a:p>
            <a:pPr marL="0" indent="0">
              <a:buNone/>
            </a:pPr>
            <a:r>
              <a:rPr lang="en-US" sz="1350" dirty="0"/>
              <a:t>    @</a:t>
            </a:r>
            <a:r>
              <a:rPr lang="en-US" sz="1350" dirty="0" err="1"/>
              <a:t>GeneratedValue</a:t>
            </a:r>
            <a:r>
              <a:rPr lang="en-US" sz="1350" dirty="0"/>
              <a:t>(strategy = </a:t>
            </a:r>
            <a:r>
              <a:rPr lang="en-US" sz="1350" dirty="0" err="1"/>
              <a:t>GenerationType.AUTO</a:t>
            </a:r>
            <a:r>
              <a:rPr lang="en-US" sz="1350" dirty="0"/>
              <a:t>)</a:t>
            </a:r>
          </a:p>
          <a:p>
            <a:pPr marL="0" indent="0">
              <a:buNone/>
            </a:pPr>
            <a:r>
              <a:rPr lang="en-US" sz="1350" dirty="0"/>
              <a:t>    private Long id;</a:t>
            </a:r>
          </a:p>
          <a:p>
            <a:pPr marL="0" indent="0">
              <a:buNone/>
            </a:pPr>
            <a:endParaRPr lang="en-US" sz="1350" dirty="0"/>
          </a:p>
          <a:p>
            <a:pPr marL="0" indent="0">
              <a:buNone/>
            </a:pPr>
            <a:r>
              <a:rPr lang="en-US" sz="1350" dirty="0"/>
              <a:t>    …. </a:t>
            </a:r>
          </a:p>
        </p:txBody>
      </p:sp>
    </p:spTree>
    <p:extLst>
      <p:ext uri="{BB962C8B-B14F-4D97-AF65-F5344CB8AC3E}">
        <p14:creationId xmlns:p14="http://schemas.microsoft.com/office/powerpoint/2010/main" val="179701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7A1233-3A35-504D-8593-BD0821D5CF78}"/>
              </a:ext>
            </a:extLst>
          </p:cNvPr>
          <p:cNvSpPr>
            <a:spLocks noGrp="1"/>
          </p:cNvSpPr>
          <p:nvPr>
            <p:ph type="title"/>
          </p:nvPr>
        </p:nvSpPr>
        <p:spPr/>
        <p:txBody>
          <a:bodyPr/>
          <a:lstStyle/>
          <a:p>
            <a:r>
              <a:rPr lang="en-US" dirty="0"/>
              <a:t>JPQL: </a:t>
            </a:r>
            <a:r>
              <a:rPr lang="en-US" dirty="0" err="1"/>
              <a:t>gestione</a:t>
            </a:r>
            <a:r>
              <a:rPr lang="en-US" dirty="0"/>
              <a:t> query</a:t>
            </a:r>
          </a:p>
        </p:txBody>
      </p:sp>
      <p:sp>
        <p:nvSpPr>
          <p:cNvPr id="3" name="Segnaposto contenuto 2">
            <a:extLst>
              <a:ext uri="{FF2B5EF4-FFF2-40B4-BE49-F238E27FC236}">
                <a16:creationId xmlns:a16="http://schemas.microsoft.com/office/drawing/2014/main" id="{487DEF55-68B1-6D49-8E7D-6A725A87C534}"/>
              </a:ext>
            </a:extLst>
          </p:cNvPr>
          <p:cNvSpPr>
            <a:spLocks noGrp="1"/>
          </p:cNvSpPr>
          <p:nvPr>
            <p:ph idx="1"/>
          </p:nvPr>
        </p:nvSpPr>
        <p:spPr/>
        <p:txBody>
          <a:bodyPr>
            <a:normAutofit fontScale="92500" lnSpcReduction="20000"/>
          </a:bodyPr>
          <a:lstStyle/>
          <a:p>
            <a:r>
              <a:rPr lang="en-US" dirty="0"/>
              <a:t>In JPQL una query </a:t>
            </a:r>
            <a:r>
              <a:rPr lang="en-US" dirty="0" err="1"/>
              <a:t>deve</a:t>
            </a:r>
            <a:r>
              <a:rPr lang="en-US" dirty="0"/>
              <a:t> </a:t>
            </a:r>
            <a:r>
              <a:rPr lang="en-US" dirty="0" err="1"/>
              <a:t>essere</a:t>
            </a:r>
            <a:r>
              <a:rPr lang="en-US" dirty="0"/>
              <a:t>:</a:t>
            </a:r>
          </a:p>
          <a:p>
            <a:pPr lvl="1"/>
            <a:r>
              <a:rPr lang="en-US" dirty="0" err="1"/>
              <a:t>creata</a:t>
            </a:r>
            <a:r>
              <a:rPr lang="en-US" dirty="0"/>
              <a:t> </a:t>
            </a:r>
            <a:r>
              <a:rPr lang="en-US" dirty="0" err="1"/>
              <a:t>dall'EM</a:t>
            </a:r>
            <a:r>
              <a:rPr lang="en-US" dirty="0"/>
              <a:t> </a:t>
            </a:r>
          </a:p>
          <a:p>
            <a:pPr lvl="1"/>
            <a:r>
              <a:rPr lang="en-US" dirty="0" err="1"/>
              <a:t>eseguita</a:t>
            </a:r>
            <a:endParaRPr lang="en-US" dirty="0"/>
          </a:p>
          <a:p>
            <a:r>
              <a:rPr lang="en-US" dirty="0" err="1"/>
              <a:t>Queste</a:t>
            </a:r>
            <a:r>
              <a:rPr lang="en-US" dirty="0"/>
              <a:t> </a:t>
            </a:r>
            <a:r>
              <a:rPr lang="en-US" dirty="0" err="1"/>
              <a:t>operazioni</a:t>
            </a:r>
            <a:r>
              <a:rPr lang="en-US" dirty="0"/>
              <a:t> </a:t>
            </a:r>
            <a:r>
              <a:rPr lang="en-US" dirty="0" err="1"/>
              <a:t>vanno</a:t>
            </a:r>
            <a:r>
              <a:rPr lang="en-US" dirty="0"/>
              <a:t> </a:t>
            </a:r>
            <a:r>
              <a:rPr lang="en-US" dirty="0" err="1"/>
              <a:t>fatte</a:t>
            </a:r>
            <a:r>
              <a:rPr lang="en-US" dirty="0"/>
              <a:t> in modo </a:t>
            </a:r>
            <a:r>
              <a:rPr lang="en-US" dirty="0" err="1"/>
              <a:t>leggermente</a:t>
            </a:r>
            <a:r>
              <a:rPr lang="en-US" dirty="0"/>
              <a:t> </a:t>
            </a:r>
            <a:r>
              <a:rPr lang="en-US" dirty="0" err="1"/>
              <a:t>diverso</a:t>
            </a:r>
            <a:r>
              <a:rPr lang="en-US" dirty="0"/>
              <a:t> per le query:</a:t>
            </a:r>
          </a:p>
          <a:p>
            <a:pPr lvl="1"/>
            <a:r>
              <a:rPr lang="en-US" dirty="0"/>
              <a:t>SELECT</a:t>
            </a:r>
          </a:p>
          <a:p>
            <a:pPr lvl="2"/>
            <a:r>
              <a:rPr lang="en-US" dirty="0"/>
              <a:t>non </a:t>
            </a:r>
            <a:r>
              <a:rPr lang="en-US" dirty="0" err="1"/>
              <a:t>modificano</a:t>
            </a:r>
            <a:r>
              <a:rPr lang="en-US" dirty="0"/>
              <a:t> lo </a:t>
            </a:r>
            <a:r>
              <a:rPr lang="en-US" dirty="0" err="1"/>
              <a:t>statao</a:t>
            </a:r>
            <a:r>
              <a:rPr lang="en-US" dirty="0"/>
              <a:t> del database</a:t>
            </a:r>
          </a:p>
          <a:p>
            <a:pPr lvl="2"/>
            <a:r>
              <a:rPr lang="en-US" dirty="0" err="1"/>
              <a:t>ritornano</a:t>
            </a:r>
            <a:r>
              <a:rPr lang="en-US" dirty="0"/>
              <a:t> un </a:t>
            </a:r>
            <a:r>
              <a:rPr lang="en-US" dirty="0" err="1"/>
              <a:t>oggetto</a:t>
            </a:r>
            <a:r>
              <a:rPr lang="en-US" dirty="0"/>
              <a:t> o una </a:t>
            </a:r>
            <a:r>
              <a:rPr lang="en-US" dirty="0" err="1"/>
              <a:t>lista</a:t>
            </a:r>
            <a:r>
              <a:rPr lang="en-US" dirty="0"/>
              <a:t> di </a:t>
            </a:r>
            <a:r>
              <a:rPr lang="en-US" dirty="0" err="1"/>
              <a:t>oggetti</a:t>
            </a:r>
            <a:endParaRPr lang="en-US" dirty="0"/>
          </a:p>
          <a:p>
            <a:pPr lvl="1"/>
            <a:r>
              <a:rPr lang="en-US" dirty="0"/>
              <a:t>UPDATE/DELETE</a:t>
            </a:r>
          </a:p>
          <a:p>
            <a:pPr lvl="2"/>
            <a:r>
              <a:rPr lang="en-US" dirty="0" err="1"/>
              <a:t>modificano</a:t>
            </a:r>
            <a:r>
              <a:rPr lang="en-US" dirty="0"/>
              <a:t> lo </a:t>
            </a:r>
            <a:r>
              <a:rPr lang="en-US" dirty="0" err="1"/>
              <a:t>stato</a:t>
            </a:r>
            <a:r>
              <a:rPr lang="en-US" dirty="0"/>
              <a:t> del database</a:t>
            </a:r>
          </a:p>
          <a:p>
            <a:pPr lvl="2"/>
            <a:r>
              <a:rPr lang="en-US" dirty="0" err="1"/>
              <a:t>ritornano</a:t>
            </a:r>
            <a:r>
              <a:rPr lang="en-US" dirty="0"/>
              <a:t> </a:t>
            </a:r>
            <a:r>
              <a:rPr lang="en-US" dirty="0" err="1"/>
              <a:t>il</a:t>
            </a:r>
            <a:r>
              <a:rPr lang="en-US" dirty="0"/>
              <a:t> </a:t>
            </a:r>
            <a:r>
              <a:rPr lang="en-US" dirty="0" err="1"/>
              <a:t>numero</a:t>
            </a:r>
            <a:r>
              <a:rPr lang="en-US" dirty="0"/>
              <a:t> di </a:t>
            </a:r>
            <a:r>
              <a:rPr lang="en-US" dirty="0" err="1"/>
              <a:t>righe</a:t>
            </a:r>
            <a:r>
              <a:rPr lang="en-US" dirty="0"/>
              <a:t> </a:t>
            </a:r>
            <a:r>
              <a:rPr lang="en-US" dirty="0" err="1"/>
              <a:t>modificate</a:t>
            </a:r>
            <a:r>
              <a:rPr lang="en-US" dirty="0"/>
              <a:t>/cancellate</a:t>
            </a:r>
          </a:p>
          <a:p>
            <a:endParaRPr lang="en-US" dirty="0"/>
          </a:p>
        </p:txBody>
      </p:sp>
    </p:spTree>
    <p:extLst>
      <p:ext uri="{BB962C8B-B14F-4D97-AF65-F5344CB8AC3E}">
        <p14:creationId xmlns:p14="http://schemas.microsoft.com/office/powerpoint/2010/main" val="3700344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JPQL: </a:t>
            </a:r>
            <a:r>
              <a:rPr lang="en-US" dirty="0" err="1"/>
              <a:t>Creazione</a:t>
            </a:r>
            <a:r>
              <a:rPr lang="en-US" dirty="0"/>
              <a:t> Query SELECT</a:t>
            </a:r>
          </a:p>
        </p:txBody>
      </p:sp>
      <p:sp>
        <p:nvSpPr>
          <p:cNvPr id="3" name="Segnaposto contenuto 2"/>
          <p:cNvSpPr>
            <a:spLocks noGrp="1"/>
          </p:cNvSpPr>
          <p:nvPr>
            <p:ph idx="1"/>
          </p:nvPr>
        </p:nvSpPr>
        <p:spPr/>
        <p:txBody>
          <a:bodyPr>
            <a:normAutofit fontScale="85000" lnSpcReduction="20000"/>
          </a:bodyPr>
          <a:lstStyle/>
          <a:p>
            <a:r>
              <a:rPr lang="en-US" dirty="0"/>
              <a:t>La </a:t>
            </a:r>
            <a:r>
              <a:rPr lang="en-US" dirty="0" err="1"/>
              <a:t>creazione</a:t>
            </a:r>
            <a:r>
              <a:rPr lang="en-US" dirty="0"/>
              <a:t> di una </a:t>
            </a:r>
            <a:r>
              <a:rPr lang="en-US" b="1" dirty="0"/>
              <a:t>dynamic</a:t>
            </a:r>
            <a:r>
              <a:rPr lang="en-US" dirty="0"/>
              <a:t> query SELECT </a:t>
            </a:r>
            <a:r>
              <a:rPr lang="en-US" dirty="0" err="1"/>
              <a:t>è</a:t>
            </a:r>
            <a:r>
              <a:rPr lang="en-US" dirty="0"/>
              <a:t> </a:t>
            </a:r>
            <a:r>
              <a:rPr lang="en-US" dirty="0" err="1"/>
              <a:t>effettuata</a:t>
            </a:r>
            <a:r>
              <a:rPr lang="en-US" dirty="0"/>
              <a:t> </a:t>
            </a:r>
            <a:r>
              <a:rPr lang="en-US" dirty="0" err="1"/>
              <a:t>invocando</a:t>
            </a:r>
            <a:r>
              <a:rPr lang="en-US" dirty="0"/>
              <a:t> </a:t>
            </a:r>
            <a:r>
              <a:rPr lang="en-US" dirty="0" err="1"/>
              <a:t>sull'entity</a:t>
            </a:r>
            <a:r>
              <a:rPr lang="en-US" dirty="0"/>
              <a:t> manager </a:t>
            </a:r>
            <a:r>
              <a:rPr lang="en-US" dirty="0" err="1"/>
              <a:t>il</a:t>
            </a:r>
            <a:r>
              <a:rPr lang="en-US" dirty="0"/>
              <a:t> </a:t>
            </a:r>
            <a:r>
              <a:rPr lang="en-US" dirty="0" err="1"/>
              <a:t>metodo</a:t>
            </a:r>
            <a:endParaRPr lang="en-US" dirty="0"/>
          </a:p>
          <a:p>
            <a:pPr marL="342900" lvl="1" indent="0">
              <a:buNone/>
            </a:pPr>
            <a:r>
              <a:rPr lang="en-US" b="1" dirty="0" err="1"/>
              <a:t>TypedQuery</a:t>
            </a:r>
            <a:r>
              <a:rPr lang="en-US" b="1" dirty="0"/>
              <a:t>&lt;T&gt;  c</a:t>
            </a:r>
            <a:r>
              <a:rPr lang="it-IT" b="1" dirty="0" err="1"/>
              <a:t>reateQuery</a:t>
            </a:r>
            <a:r>
              <a:rPr lang="it-IT" b="1" dirty="0"/>
              <a:t>(</a:t>
            </a:r>
            <a:r>
              <a:rPr lang="it-IT" b="1" dirty="0" err="1"/>
              <a:t>String</a:t>
            </a:r>
            <a:r>
              <a:rPr lang="it-IT" b="1" dirty="0"/>
              <a:t>, Class) </a:t>
            </a:r>
          </a:p>
          <a:p>
            <a:r>
              <a:rPr lang="en-US" dirty="0"/>
              <a:t>La </a:t>
            </a:r>
            <a:r>
              <a:rPr lang="en-US" dirty="0" err="1"/>
              <a:t>creazione</a:t>
            </a:r>
            <a:r>
              <a:rPr lang="en-US" dirty="0"/>
              <a:t> di una </a:t>
            </a:r>
            <a:r>
              <a:rPr lang="en-US" b="1" dirty="0"/>
              <a:t>named</a:t>
            </a:r>
            <a:r>
              <a:rPr lang="en-US" dirty="0"/>
              <a:t> query SELECT </a:t>
            </a:r>
            <a:r>
              <a:rPr lang="en-US" dirty="0" err="1"/>
              <a:t>è</a:t>
            </a:r>
            <a:r>
              <a:rPr lang="en-US" dirty="0"/>
              <a:t> </a:t>
            </a:r>
            <a:r>
              <a:rPr lang="en-US" dirty="0" err="1"/>
              <a:t>effettuata</a:t>
            </a:r>
            <a:r>
              <a:rPr lang="en-US" dirty="0"/>
              <a:t> </a:t>
            </a:r>
            <a:r>
              <a:rPr lang="en-US" dirty="0" err="1"/>
              <a:t>invocando</a:t>
            </a:r>
            <a:r>
              <a:rPr lang="en-US" dirty="0"/>
              <a:t> </a:t>
            </a:r>
            <a:r>
              <a:rPr lang="en-US" dirty="0" err="1"/>
              <a:t>sull'entity</a:t>
            </a:r>
            <a:r>
              <a:rPr lang="en-US" dirty="0"/>
              <a:t> manager </a:t>
            </a:r>
            <a:r>
              <a:rPr lang="en-US" dirty="0" err="1"/>
              <a:t>il</a:t>
            </a:r>
            <a:r>
              <a:rPr lang="en-US" dirty="0"/>
              <a:t> </a:t>
            </a:r>
            <a:r>
              <a:rPr lang="en-US" dirty="0" err="1"/>
              <a:t>metodo</a:t>
            </a:r>
            <a:r>
              <a:rPr lang="en-US" dirty="0"/>
              <a:t> </a:t>
            </a:r>
          </a:p>
          <a:p>
            <a:pPr marL="342900" lvl="1" indent="0">
              <a:buNone/>
            </a:pPr>
            <a:r>
              <a:rPr lang="en-US" b="1" dirty="0" err="1"/>
              <a:t>TypedQuery</a:t>
            </a:r>
            <a:r>
              <a:rPr lang="en-US" b="1" dirty="0"/>
              <a:t>&lt;T&gt; </a:t>
            </a:r>
            <a:r>
              <a:rPr lang="it-IT" b="1" dirty="0" err="1"/>
              <a:t>createNamedQuery</a:t>
            </a:r>
            <a:r>
              <a:rPr lang="it-IT" b="1" dirty="0"/>
              <a:t>(</a:t>
            </a:r>
            <a:r>
              <a:rPr lang="it-IT" b="1" dirty="0" err="1"/>
              <a:t>String</a:t>
            </a:r>
            <a:r>
              <a:rPr lang="it-IT" b="1" dirty="0"/>
              <a:t>, Class)</a:t>
            </a:r>
            <a:endParaRPr lang="en-US" b="1" dirty="0"/>
          </a:p>
          <a:p>
            <a:r>
              <a:rPr lang="en-US" dirty="0"/>
              <a:t>La </a:t>
            </a:r>
            <a:r>
              <a:rPr lang="en-US" dirty="0" err="1"/>
              <a:t>creazione</a:t>
            </a:r>
            <a:r>
              <a:rPr lang="en-US" dirty="0"/>
              <a:t> di una </a:t>
            </a:r>
            <a:r>
              <a:rPr lang="en-US" b="1" dirty="0"/>
              <a:t>native</a:t>
            </a:r>
            <a:r>
              <a:rPr lang="en-US" dirty="0"/>
              <a:t> query SELECT </a:t>
            </a:r>
            <a:r>
              <a:rPr lang="en-US" dirty="0" err="1"/>
              <a:t>è</a:t>
            </a:r>
            <a:r>
              <a:rPr lang="en-US" dirty="0"/>
              <a:t> </a:t>
            </a:r>
            <a:r>
              <a:rPr lang="en-US" dirty="0" err="1"/>
              <a:t>effettuata</a:t>
            </a:r>
            <a:r>
              <a:rPr lang="en-US" dirty="0"/>
              <a:t> </a:t>
            </a:r>
            <a:r>
              <a:rPr lang="en-US" dirty="0" err="1"/>
              <a:t>invocando</a:t>
            </a:r>
            <a:r>
              <a:rPr lang="en-US" dirty="0"/>
              <a:t> </a:t>
            </a:r>
            <a:r>
              <a:rPr lang="en-US" dirty="0" err="1"/>
              <a:t>sull'entity</a:t>
            </a:r>
            <a:r>
              <a:rPr lang="en-US" dirty="0"/>
              <a:t> manager </a:t>
            </a:r>
            <a:r>
              <a:rPr lang="en-US" dirty="0" err="1"/>
              <a:t>il</a:t>
            </a:r>
            <a:r>
              <a:rPr lang="en-US" dirty="0"/>
              <a:t> </a:t>
            </a:r>
            <a:r>
              <a:rPr lang="en-US" dirty="0" err="1"/>
              <a:t>metodo</a:t>
            </a:r>
            <a:r>
              <a:rPr lang="en-US" dirty="0"/>
              <a:t> </a:t>
            </a:r>
            <a:endParaRPr lang="it-IT" dirty="0"/>
          </a:p>
          <a:p>
            <a:pPr marL="342900" lvl="1" indent="0">
              <a:buNone/>
            </a:pPr>
            <a:r>
              <a:rPr lang="en-US" b="1" dirty="0"/>
              <a:t>Query  c</a:t>
            </a:r>
            <a:r>
              <a:rPr lang="it-IT" b="1" dirty="0" err="1"/>
              <a:t>reateNativeQuery</a:t>
            </a:r>
            <a:r>
              <a:rPr lang="it-IT" b="1" dirty="0"/>
              <a:t>(</a:t>
            </a:r>
            <a:r>
              <a:rPr lang="it-IT" b="1" dirty="0" err="1"/>
              <a:t>String</a:t>
            </a:r>
            <a:r>
              <a:rPr lang="it-IT" b="1" dirty="0"/>
              <a:t>, Class)</a:t>
            </a:r>
            <a:endParaRPr lang="en-US" b="1" dirty="0"/>
          </a:p>
          <a:p>
            <a:r>
              <a:rPr lang="en-US" dirty="0"/>
              <a:t>Per </a:t>
            </a:r>
            <a:r>
              <a:rPr lang="en-US" dirty="0" err="1"/>
              <a:t>tutte</a:t>
            </a:r>
            <a:r>
              <a:rPr lang="en-US" dirty="0"/>
              <a:t> e </a:t>
            </a:r>
            <a:r>
              <a:rPr lang="en-US" dirty="0" err="1"/>
              <a:t>tre</a:t>
            </a:r>
            <a:r>
              <a:rPr lang="en-US" dirty="0"/>
              <a:t>:</a:t>
            </a:r>
          </a:p>
          <a:p>
            <a:pPr lvl="1"/>
            <a:r>
              <a:rPr lang="en-US" dirty="0"/>
              <a:t>Il primo </a:t>
            </a:r>
            <a:r>
              <a:rPr lang="en-US" dirty="0" err="1"/>
              <a:t>parametro</a:t>
            </a:r>
            <a:r>
              <a:rPr lang="en-US" dirty="0"/>
              <a:t> </a:t>
            </a:r>
            <a:r>
              <a:rPr lang="en-US" dirty="0" err="1"/>
              <a:t>è</a:t>
            </a:r>
            <a:r>
              <a:rPr lang="en-US" dirty="0"/>
              <a:t> una </a:t>
            </a:r>
            <a:r>
              <a:rPr lang="en-US" dirty="0" err="1"/>
              <a:t>stringa</a:t>
            </a:r>
            <a:r>
              <a:rPr lang="en-US" dirty="0"/>
              <a:t> con la query (</a:t>
            </a:r>
            <a:r>
              <a:rPr lang="en-US" dirty="0" err="1"/>
              <a:t>jpql</a:t>
            </a:r>
            <a:r>
              <a:rPr lang="en-US" dirty="0"/>
              <a:t>/named/SQL)</a:t>
            </a:r>
          </a:p>
          <a:p>
            <a:pPr lvl="1"/>
            <a:r>
              <a:rPr lang="en-US" dirty="0"/>
              <a:t>Il secondo </a:t>
            </a:r>
            <a:r>
              <a:rPr lang="en-US" dirty="0" err="1"/>
              <a:t>parametro</a:t>
            </a:r>
            <a:r>
              <a:rPr lang="en-US" dirty="0"/>
              <a:t> </a:t>
            </a:r>
            <a:r>
              <a:rPr lang="en-US" dirty="0" err="1"/>
              <a:t>è</a:t>
            </a:r>
            <a:r>
              <a:rPr lang="en-US" dirty="0"/>
              <a:t> la </a:t>
            </a:r>
            <a:r>
              <a:rPr lang="en-US" dirty="0" err="1"/>
              <a:t>classe</a:t>
            </a:r>
            <a:r>
              <a:rPr lang="en-US" dirty="0"/>
              <a:t> </a:t>
            </a:r>
            <a:r>
              <a:rPr lang="en-US" dirty="0" err="1"/>
              <a:t>dell'oggetto</a:t>
            </a:r>
            <a:r>
              <a:rPr lang="en-US" dirty="0"/>
              <a:t> </a:t>
            </a:r>
            <a:r>
              <a:rPr lang="en-US" dirty="0" err="1"/>
              <a:t>ritornato</a:t>
            </a:r>
            <a:r>
              <a:rPr lang="en-US" dirty="0"/>
              <a:t> </a:t>
            </a:r>
            <a:r>
              <a:rPr lang="en-US" dirty="0" err="1"/>
              <a:t>dalla</a:t>
            </a:r>
            <a:r>
              <a:rPr lang="en-US" dirty="0"/>
              <a:t> query</a:t>
            </a:r>
          </a:p>
        </p:txBody>
      </p:sp>
    </p:spTree>
    <p:extLst>
      <p:ext uri="{BB962C8B-B14F-4D97-AF65-F5344CB8AC3E}">
        <p14:creationId xmlns:p14="http://schemas.microsoft.com/office/powerpoint/2010/main" val="3308975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JPQL: </a:t>
            </a:r>
            <a:r>
              <a:rPr lang="en-US" dirty="0" err="1"/>
              <a:t>Creazione</a:t>
            </a:r>
            <a:r>
              <a:rPr lang="en-US" dirty="0"/>
              <a:t> Query SELECT</a:t>
            </a:r>
          </a:p>
        </p:txBody>
      </p:sp>
      <p:sp>
        <p:nvSpPr>
          <p:cNvPr id="3" name="Segnaposto contenuto 2"/>
          <p:cNvSpPr>
            <a:spLocks noGrp="1"/>
          </p:cNvSpPr>
          <p:nvPr>
            <p:ph idx="1"/>
          </p:nvPr>
        </p:nvSpPr>
        <p:spPr/>
        <p:txBody>
          <a:bodyPr>
            <a:normAutofit fontScale="70000" lnSpcReduction="20000"/>
          </a:bodyPr>
          <a:lstStyle/>
          <a:p>
            <a:r>
              <a:rPr lang="en-US" dirty="0" err="1"/>
              <a:t>Creazione</a:t>
            </a:r>
            <a:r>
              <a:rPr lang="en-US" dirty="0"/>
              <a:t> di una </a:t>
            </a:r>
            <a:r>
              <a:rPr lang="en-US" b="1" dirty="0"/>
              <a:t>dynamic query</a:t>
            </a:r>
            <a:r>
              <a:rPr lang="en-US" dirty="0"/>
              <a:t>:</a:t>
            </a:r>
          </a:p>
          <a:p>
            <a:pPr marL="0" indent="0">
              <a:buNone/>
            </a:pPr>
            <a:r>
              <a:rPr lang="it-IT" dirty="0" err="1"/>
              <a:t>TypedQuery</a:t>
            </a:r>
            <a:r>
              <a:rPr lang="it-IT" dirty="0"/>
              <a:t>&lt;Product&gt; </a:t>
            </a:r>
            <a:r>
              <a:rPr lang="it-IT" dirty="0" err="1"/>
              <a:t>selectQuery</a:t>
            </a:r>
            <a:r>
              <a:rPr lang="it-IT" dirty="0"/>
              <a:t> = </a:t>
            </a:r>
          </a:p>
          <a:p>
            <a:pPr marL="0" indent="0">
              <a:buNone/>
            </a:pPr>
            <a:r>
              <a:rPr lang="it-IT" i="1" dirty="0"/>
              <a:t>           </a:t>
            </a:r>
            <a:r>
              <a:rPr lang="it-IT" i="1" dirty="0" err="1"/>
              <a:t>em</a:t>
            </a:r>
            <a:r>
              <a:rPr lang="it-IT" dirty="0" err="1"/>
              <a:t>.createQuery</a:t>
            </a:r>
            <a:r>
              <a:rPr lang="it-IT" dirty="0"/>
              <a:t>("</a:t>
            </a:r>
            <a:r>
              <a:rPr lang="it-IT" dirty="0">
                <a:highlight>
                  <a:srgbClr val="FFFF00"/>
                </a:highlight>
              </a:rPr>
              <a:t>SELECT </a:t>
            </a:r>
            <a:r>
              <a:rPr lang="it-IT" dirty="0" err="1">
                <a:highlight>
                  <a:srgbClr val="FFFF00"/>
                </a:highlight>
              </a:rPr>
              <a:t>p</a:t>
            </a:r>
            <a:r>
              <a:rPr lang="it-IT" dirty="0">
                <a:highlight>
                  <a:srgbClr val="FFFF00"/>
                </a:highlight>
              </a:rPr>
              <a:t> FROM Product </a:t>
            </a:r>
            <a:r>
              <a:rPr lang="it-IT" dirty="0" err="1">
                <a:highlight>
                  <a:srgbClr val="FFFF00"/>
                </a:highlight>
              </a:rPr>
              <a:t>p</a:t>
            </a:r>
            <a:r>
              <a:rPr lang="it-IT" dirty="0"/>
              <a:t>", </a:t>
            </a:r>
            <a:r>
              <a:rPr lang="it-IT" dirty="0" err="1"/>
              <a:t>Product.class</a:t>
            </a:r>
            <a:r>
              <a:rPr lang="it-IT" dirty="0"/>
              <a:t>); </a:t>
            </a:r>
          </a:p>
          <a:p>
            <a:pPr marL="0" indent="0">
              <a:buNone/>
            </a:pPr>
            <a:endParaRPr lang="en-US" dirty="0"/>
          </a:p>
          <a:p>
            <a:pPr marL="0" indent="0">
              <a:buNone/>
            </a:pPr>
            <a:endParaRPr lang="en-US" dirty="0"/>
          </a:p>
          <a:p>
            <a:r>
              <a:rPr lang="en-US" dirty="0" err="1"/>
              <a:t>Creazione</a:t>
            </a:r>
            <a:r>
              <a:rPr lang="en-US" dirty="0"/>
              <a:t> di una </a:t>
            </a:r>
            <a:r>
              <a:rPr lang="en-US" b="1" dirty="0"/>
              <a:t>named query</a:t>
            </a:r>
            <a:r>
              <a:rPr lang="en-US" dirty="0"/>
              <a:t>:</a:t>
            </a:r>
          </a:p>
          <a:p>
            <a:pPr marL="0" indent="0">
              <a:buNone/>
            </a:pPr>
            <a:r>
              <a:rPr lang="it-IT" dirty="0" err="1"/>
              <a:t>TypedQuery</a:t>
            </a:r>
            <a:r>
              <a:rPr lang="it-IT" dirty="0"/>
              <a:t>&lt;Product&gt; </a:t>
            </a:r>
            <a:r>
              <a:rPr lang="it-IT" dirty="0" err="1"/>
              <a:t>selectQuery</a:t>
            </a:r>
            <a:r>
              <a:rPr lang="it-IT" dirty="0"/>
              <a:t> = </a:t>
            </a:r>
            <a:br>
              <a:rPr lang="it-IT" dirty="0"/>
            </a:br>
            <a:r>
              <a:rPr lang="it-IT" dirty="0"/>
              <a:t>          </a:t>
            </a:r>
            <a:r>
              <a:rPr lang="it-IT" i="1" dirty="0" err="1"/>
              <a:t>em</a:t>
            </a:r>
            <a:r>
              <a:rPr lang="it-IT" dirty="0" err="1"/>
              <a:t>.createNamedQuery</a:t>
            </a:r>
            <a:r>
              <a:rPr lang="it-IT" dirty="0"/>
              <a:t>("</a:t>
            </a:r>
            <a:r>
              <a:rPr lang="it-IT" dirty="0" err="1">
                <a:highlight>
                  <a:srgbClr val="FFFF00"/>
                </a:highlight>
              </a:rPr>
              <a:t>findAllProducts</a:t>
            </a:r>
            <a:r>
              <a:rPr lang="it-IT" dirty="0"/>
              <a:t>", </a:t>
            </a:r>
            <a:r>
              <a:rPr lang="it-IT" dirty="0" err="1"/>
              <a:t>Product.class</a:t>
            </a:r>
            <a:r>
              <a:rPr lang="it-IT" dirty="0"/>
              <a:t>);</a:t>
            </a:r>
          </a:p>
          <a:p>
            <a:pPr marL="0" indent="0">
              <a:buNone/>
            </a:pPr>
            <a:endParaRPr lang="it-IT" dirty="0"/>
          </a:p>
          <a:p>
            <a:pPr marL="0" indent="0">
              <a:buNone/>
            </a:pPr>
            <a:endParaRPr lang="it-IT" dirty="0"/>
          </a:p>
          <a:p>
            <a:r>
              <a:rPr lang="en-US" dirty="0" err="1"/>
              <a:t>Creazione</a:t>
            </a:r>
            <a:r>
              <a:rPr lang="en-US" dirty="0"/>
              <a:t> di una </a:t>
            </a:r>
            <a:r>
              <a:rPr lang="en-US" b="1" dirty="0"/>
              <a:t>native query</a:t>
            </a:r>
            <a:r>
              <a:rPr lang="en-US" dirty="0"/>
              <a:t>:</a:t>
            </a:r>
          </a:p>
          <a:p>
            <a:pPr marL="0" indent="0">
              <a:buNone/>
            </a:pPr>
            <a:r>
              <a:rPr lang="it-IT" dirty="0"/>
              <a:t>Query </a:t>
            </a:r>
            <a:r>
              <a:rPr lang="it-IT" dirty="0" err="1"/>
              <a:t>selectQuery</a:t>
            </a:r>
            <a:r>
              <a:rPr lang="it-IT" dirty="0"/>
              <a:t> = </a:t>
            </a:r>
            <a:br>
              <a:rPr lang="it-IT" dirty="0"/>
            </a:br>
            <a:r>
              <a:rPr lang="it-IT" dirty="0"/>
              <a:t>          </a:t>
            </a:r>
            <a:r>
              <a:rPr lang="it-IT" i="1" dirty="0" err="1"/>
              <a:t>em</a:t>
            </a:r>
            <a:r>
              <a:rPr lang="it-IT" dirty="0" err="1"/>
              <a:t>.createNativeQuery</a:t>
            </a:r>
            <a:r>
              <a:rPr lang="it-IT" dirty="0"/>
              <a:t>("</a:t>
            </a:r>
            <a:r>
              <a:rPr lang="it-IT" dirty="0">
                <a:highlight>
                  <a:srgbClr val="FFFF00"/>
                </a:highlight>
              </a:rPr>
              <a:t>SELECT * FROM </a:t>
            </a:r>
            <a:r>
              <a:rPr lang="it-IT" dirty="0" err="1">
                <a:highlight>
                  <a:srgbClr val="FFFF00"/>
                </a:highlight>
              </a:rPr>
              <a:t>product</a:t>
            </a:r>
            <a:r>
              <a:rPr lang="it-IT" dirty="0"/>
              <a:t>", </a:t>
            </a:r>
            <a:r>
              <a:rPr lang="it-IT" dirty="0" err="1"/>
              <a:t>Product.class</a:t>
            </a:r>
            <a:r>
              <a:rPr lang="it-IT" dirty="0"/>
              <a:t>);</a:t>
            </a:r>
          </a:p>
        </p:txBody>
      </p:sp>
      <p:sp>
        <p:nvSpPr>
          <p:cNvPr id="4" name="Fumetto 3 3">
            <a:extLst>
              <a:ext uri="{FF2B5EF4-FFF2-40B4-BE49-F238E27FC236}">
                <a16:creationId xmlns:a16="http://schemas.microsoft.com/office/drawing/2014/main" id="{9E8D3DFB-3B5F-3949-BF2B-6060B6E00FDD}"/>
              </a:ext>
            </a:extLst>
          </p:cNvPr>
          <p:cNvSpPr/>
          <p:nvPr/>
        </p:nvSpPr>
        <p:spPr>
          <a:xfrm>
            <a:off x="4235318" y="2027738"/>
            <a:ext cx="3314700" cy="790065"/>
          </a:xfrm>
          <a:prstGeom prst="wedgeEllipseCallout">
            <a:avLst>
              <a:gd name="adj1" fmla="val -45234"/>
              <a:gd name="adj2" fmla="val 59875"/>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50" dirty="0">
                <a:latin typeface="Calibri Light" panose="020F0302020204030204" pitchFamily="34" charset="0"/>
              </a:rPr>
              <a:t>E' </a:t>
            </a:r>
            <a:r>
              <a:rPr lang="en-US" sz="1350" dirty="0" err="1">
                <a:latin typeface="Calibri Light" panose="020F0302020204030204" pitchFamily="34" charset="0"/>
              </a:rPr>
              <a:t>il</a:t>
            </a:r>
            <a:r>
              <a:rPr lang="en-US" sz="1350" dirty="0">
                <a:latin typeface="Calibri Light" panose="020F0302020204030204" pitchFamily="34" charset="0"/>
              </a:rPr>
              <a:t> </a:t>
            </a:r>
            <a:r>
              <a:rPr lang="en-US" sz="1350" dirty="0" err="1">
                <a:latin typeface="Calibri Light" panose="020F0302020204030204" pitchFamily="34" charset="0"/>
              </a:rPr>
              <a:t>nome</a:t>
            </a:r>
            <a:r>
              <a:rPr lang="en-US" sz="1350" dirty="0">
                <a:latin typeface="Calibri Light" panose="020F0302020204030204" pitchFamily="34" charset="0"/>
              </a:rPr>
              <a:t> di una </a:t>
            </a:r>
            <a:r>
              <a:rPr lang="en-US" sz="1350" dirty="0" err="1">
                <a:latin typeface="Calibri Light" panose="020F0302020204030204" pitchFamily="34" charset="0"/>
              </a:rPr>
              <a:t>NamedQuery</a:t>
            </a:r>
            <a:r>
              <a:rPr lang="en-US" sz="1350" dirty="0">
                <a:latin typeface="Calibri Light" panose="020F0302020204030204" pitchFamily="34" charset="0"/>
              </a:rPr>
              <a:t> </a:t>
            </a:r>
            <a:r>
              <a:rPr lang="en-US" sz="1350" dirty="0" err="1">
                <a:latin typeface="Calibri Light" panose="020F0302020204030204" pitchFamily="34" charset="0"/>
              </a:rPr>
              <a:t>definita</a:t>
            </a:r>
            <a:r>
              <a:rPr lang="en-US" sz="1350" dirty="0">
                <a:latin typeface="Calibri Light" panose="020F0302020204030204" pitchFamily="34" charset="0"/>
              </a:rPr>
              <a:t> </a:t>
            </a:r>
            <a:r>
              <a:rPr lang="en-US" sz="1350" dirty="0" err="1">
                <a:latin typeface="Calibri Light" panose="020F0302020204030204" pitchFamily="34" charset="0"/>
              </a:rPr>
              <a:t>nella</a:t>
            </a:r>
            <a:r>
              <a:rPr lang="en-US" sz="1350" dirty="0">
                <a:latin typeface="Calibri Light" panose="020F0302020204030204" pitchFamily="34" charset="0"/>
              </a:rPr>
              <a:t> entity (</a:t>
            </a:r>
            <a:r>
              <a:rPr lang="en-US" sz="1350" dirty="0" err="1">
                <a:latin typeface="Calibri Light" panose="020F0302020204030204" pitchFamily="34" charset="0"/>
              </a:rPr>
              <a:t>vedi</a:t>
            </a:r>
            <a:r>
              <a:rPr lang="en-US" sz="1350" dirty="0">
                <a:latin typeface="Calibri Light" panose="020F0302020204030204" pitchFamily="34" charset="0"/>
              </a:rPr>
              <a:t> slide </a:t>
            </a:r>
            <a:r>
              <a:rPr lang="en-US" sz="1350" dirty="0" err="1">
                <a:latin typeface="Calibri Light" panose="020F0302020204030204" pitchFamily="34" charset="0"/>
              </a:rPr>
              <a:t>precedente</a:t>
            </a:r>
            <a:r>
              <a:rPr lang="en-US" sz="1350" dirty="0">
                <a:latin typeface="Calibri Light" panose="020F0302020204030204" pitchFamily="34" charset="0"/>
              </a:rPr>
              <a:t>)</a:t>
            </a:r>
          </a:p>
        </p:txBody>
      </p:sp>
      <p:sp>
        <p:nvSpPr>
          <p:cNvPr id="5" name="Fumetto 3 4">
            <a:extLst>
              <a:ext uri="{FF2B5EF4-FFF2-40B4-BE49-F238E27FC236}">
                <a16:creationId xmlns:a16="http://schemas.microsoft.com/office/drawing/2014/main" id="{5854F27E-497E-2847-BE62-47C96CB4F45F}"/>
              </a:ext>
            </a:extLst>
          </p:cNvPr>
          <p:cNvSpPr/>
          <p:nvPr/>
        </p:nvSpPr>
        <p:spPr>
          <a:xfrm>
            <a:off x="5412922" y="3472033"/>
            <a:ext cx="2245178" cy="465364"/>
          </a:xfrm>
          <a:prstGeom prst="wedgeEllipseCallout">
            <a:avLst>
              <a:gd name="adj1" fmla="val -64352"/>
              <a:gd name="adj2" fmla="val 88815"/>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50" dirty="0">
                <a:latin typeface="Calibri Light" panose="020F0302020204030204" pitchFamily="34" charset="0"/>
              </a:rPr>
              <a:t>E' una query SQL</a:t>
            </a:r>
          </a:p>
        </p:txBody>
      </p:sp>
      <p:sp>
        <p:nvSpPr>
          <p:cNvPr id="6" name="Fumetto 3 5">
            <a:extLst>
              <a:ext uri="{FF2B5EF4-FFF2-40B4-BE49-F238E27FC236}">
                <a16:creationId xmlns:a16="http://schemas.microsoft.com/office/drawing/2014/main" id="{6EF42D68-AFD9-4249-8098-BFAB3328D0A5}"/>
              </a:ext>
            </a:extLst>
          </p:cNvPr>
          <p:cNvSpPr/>
          <p:nvPr/>
        </p:nvSpPr>
        <p:spPr>
          <a:xfrm>
            <a:off x="5304840" y="1063229"/>
            <a:ext cx="2245178" cy="465364"/>
          </a:xfrm>
          <a:prstGeom prst="wedgeEllipseCallout">
            <a:avLst>
              <a:gd name="adj1" fmla="val -83988"/>
              <a:gd name="adj2" fmla="val 87061"/>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50" dirty="0">
                <a:latin typeface="Calibri Light" panose="020F0302020204030204" pitchFamily="34" charset="0"/>
              </a:rPr>
              <a:t>E' una query JPQL</a:t>
            </a:r>
          </a:p>
        </p:txBody>
      </p:sp>
    </p:spTree>
    <p:extLst>
      <p:ext uri="{BB962C8B-B14F-4D97-AF65-F5344CB8AC3E}">
        <p14:creationId xmlns:p14="http://schemas.microsoft.com/office/powerpoint/2010/main" val="2559549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JPQL: </a:t>
            </a:r>
            <a:r>
              <a:rPr lang="en-US" dirty="0" err="1"/>
              <a:t>Esecuzione</a:t>
            </a:r>
            <a:r>
              <a:rPr lang="en-US" dirty="0"/>
              <a:t> Query SELECT</a:t>
            </a:r>
          </a:p>
        </p:txBody>
      </p:sp>
      <p:sp>
        <p:nvSpPr>
          <p:cNvPr id="3" name="Segnaposto contenuto 2"/>
          <p:cNvSpPr>
            <a:spLocks noGrp="1"/>
          </p:cNvSpPr>
          <p:nvPr>
            <p:ph idx="1"/>
          </p:nvPr>
        </p:nvSpPr>
        <p:spPr/>
        <p:txBody>
          <a:bodyPr>
            <a:normAutofit fontScale="92500" lnSpcReduction="10000"/>
          </a:bodyPr>
          <a:lstStyle/>
          <a:p>
            <a:r>
              <a:rPr lang="en-US" dirty="0" err="1"/>
              <a:t>L'esecuzione</a:t>
            </a:r>
            <a:r>
              <a:rPr lang="en-US" dirty="0"/>
              <a:t> di una dynamic/named (native) query SELECT </a:t>
            </a:r>
            <a:r>
              <a:rPr lang="en-US" dirty="0" err="1"/>
              <a:t>è</a:t>
            </a:r>
            <a:r>
              <a:rPr lang="en-US" dirty="0"/>
              <a:t> </a:t>
            </a:r>
            <a:r>
              <a:rPr lang="en-US" dirty="0" err="1"/>
              <a:t>effettuata</a:t>
            </a:r>
            <a:r>
              <a:rPr lang="en-US" dirty="0"/>
              <a:t> </a:t>
            </a:r>
            <a:r>
              <a:rPr lang="en-US" dirty="0" err="1"/>
              <a:t>mediante</a:t>
            </a:r>
            <a:r>
              <a:rPr lang="en-US" dirty="0"/>
              <a:t> un </a:t>
            </a:r>
            <a:r>
              <a:rPr lang="en-US" dirty="0" err="1"/>
              <a:t>metodo</a:t>
            </a:r>
            <a:r>
              <a:rPr lang="en-US" dirty="0"/>
              <a:t> </a:t>
            </a:r>
            <a:r>
              <a:rPr lang="en-US" dirty="0" err="1"/>
              <a:t>dell'interface</a:t>
            </a:r>
            <a:r>
              <a:rPr lang="en-US" dirty="0"/>
              <a:t> </a:t>
            </a:r>
            <a:r>
              <a:rPr lang="en-US" dirty="0" err="1"/>
              <a:t>TypedQuery</a:t>
            </a:r>
            <a:r>
              <a:rPr lang="en-US" dirty="0"/>
              <a:t>&lt;T&gt; (Query)</a:t>
            </a:r>
          </a:p>
          <a:p>
            <a:pPr lvl="1"/>
            <a:r>
              <a:rPr lang="en-US" dirty="0"/>
              <a:t>List&lt;T&gt; </a:t>
            </a:r>
            <a:r>
              <a:rPr lang="en-US" dirty="0" err="1"/>
              <a:t>getResultList</a:t>
            </a:r>
            <a:r>
              <a:rPr lang="en-US" dirty="0"/>
              <a:t>()</a:t>
            </a:r>
          </a:p>
          <a:p>
            <a:pPr lvl="1"/>
            <a:r>
              <a:rPr lang="en-US" dirty="0"/>
              <a:t>T </a:t>
            </a:r>
            <a:r>
              <a:rPr lang="en-US" dirty="0" err="1"/>
              <a:t>getSingleResult</a:t>
            </a:r>
            <a:r>
              <a:rPr lang="en-US" dirty="0"/>
              <a:t>()</a:t>
            </a:r>
          </a:p>
          <a:p>
            <a:endParaRPr lang="en-US" dirty="0"/>
          </a:p>
          <a:p>
            <a:r>
              <a:rPr lang="en-US" dirty="0"/>
              <a:t>NB: </a:t>
            </a:r>
            <a:r>
              <a:rPr lang="en-US" dirty="0" err="1"/>
              <a:t>nel</a:t>
            </a:r>
            <a:r>
              <a:rPr lang="en-US" dirty="0"/>
              <a:t> </a:t>
            </a:r>
            <a:r>
              <a:rPr lang="en-US" dirty="0" err="1"/>
              <a:t>caso</a:t>
            </a:r>
            <a:r>
              <a:rPr lang="en-US" dirty="0"/>
              <a:t> di native query, </a:t>
            </a:r>
            <a:r>
              <a:rPr lang="en-US" dirty="0" err="1"/>
              <a:t>viene</a:t>
            </a:r>
            <a:r>
              <a:rPr lang="en-US" dirty="0"/>
              <a:t> </a:t>
            </a:r>
            <a:r>
              <a:rPr lang="en-US" dirty="0" err="1"/>
              <a:t>ritornato</a:t>
            </a:r>
            <a:r>
              <a:rPr lang="en-US" dirty="0"/>
              <a:t> un </a:t>
            </a:r>
            <a:r>
              <a:rPr lang="en-US" dirty="0" err="1"/>
              <a:t>oggetto</a:t>
            </a:r>
            <a:r>
              <a:rPr lang="en-US" dirty="0"/>
              <a:t> List (non un </a:t>
            </a:r>
            <a:r>
              <a:rPr lang="en-US" dirty="0" err="1"/>
              <a:t>oggetto</a:t>
            </a:r>
            <a:r>
              <a:rPr lang="en-US" dirty="0"/>
              <a:t> List&lt;T&gt;): </a:t>
            </a:r>
            <a:r>
              <a:rPr lang="en-US" dirty="0" err="1"/>
              <a:t>il</a:t>
            </a:r>
            <a:r>
              <a:rPr lang="en-US" dirty="0"/>
              <a:t> </a:t>
            </a:r>
            <a:r>
              <a:rPr lang="en-US" dirty="0" err="1"/>
              <a:t>compilatore</a:t>
            </a:r>
            <a:r>
              <a:rPr lang="en-US" dirty="0"/>
              <a:t> (e </a:t>
            </a:r>
            <a:r>
              <a:rPr lang="en-US" dirty="0" err="1"/>
              <a:t>l'IDE</a:t>
            </a:r>
            <a:r>
              <a:rPr lang="en-US" dirty="0"/>
              <a:t>) ci </a:t>
            </a:r>
            <a:r>
              <a:rPr lang="en-US" dirty="0" err="1"/>
              <a:t>segnalano</a:t>
            </a:r>
            <a:r>
              <a:rPr lang="en-US" dirty="0"/>
              <a:t> un warning. Non </a:t>
            </a:r>
            <a:r>
              <a:rPr lang="en-US" dirty="0" err="1"/>
              <a:t>è</a:t>
            </a:r>
            <a:r>
              <a:rPr lang="en-US" dirty="0"/>
              <a:t> un </a:t>
            </a:r>
            <a:r>
              <a:rPr lang="en-US" dirty="0" err="1"/>
              <a:t>problema</a:t>
            </a:r>
            <a:r>
              <a:rPr lang="en-US" dirty="0"/>
              <a:t>, se non </a:t>
            </a:r>
            <a:r>
              <a:rPr lang="en-US" dirty="0" err="1"/>
              <a:t>vogliamo</a:t>
            </a:r>
            <a:r>
              <a:rPr lang="en-US" dirty="0"/>
              <a:t> </a:t>
            </a:r>
            <a:r>
              <a:rPr lang="en-US" dirty="0" err="1"/>
              <a:t>il</a:t>
            </a:r>
            <a:r>
              <a:rPr lang="en-US" dirty="0"/>
              <a:t> warning </a:t>
            </a:r>
            <a:r>
              <a:rPr lang="en-US" dirty="0" err="1"/>
              <a:t>usiamo</a:t>
            </a:r>
            <a:r>
              <a:rPr lang="en-US" dirty="0"/>
              <a:t> </a:t>
            </a:r>
            <a:r>
              <a:rPr lang="en-US" dirty="0" err="1"/>
              <a:t>l'annotazione</a:t>
            </a:r>
            <a:r>
              <a:rPr lang="en-US" dirty="0"/>
              <a:t> </a:t>
            </a:r>
            <a:r>
              <a:rPr lang="it-IT" dirty="0">
                <a:solidFill>
                  <a:schemeClr val="accent2"/>
                </a:solidFill>
              </a:rPr>
              <a:t>@</a:t>
            </a:r>
            <a:r>
              <a:rPr lang="it-IT" dirty="0" err="1">
                <a:solidFill>
                  <a:schemeClr val="accent2"/>
                </a:solidFill>
              </a:rPr>
              <a:t>SuppressWarnings</a:t>
            </a:r>
            <a:r>
              <a:rPr lang="it-IT" dirty="0">
                <a:solidFill>
                  <a:schemeClr val="accent2"/>
                </a:solidFill>
              </a:rPr>
              <a:t>("</a:t>
            </a:r>
            <a:r>
              <a:rPr lang="it-IT" dirty="0" err="1">
                <a:solidFill>
                  <a:schemeClr val="accent2"/>
                </a:solidFill>
              </a:rPr>
              <a:t>unchecked</a:t>
            </a:r>
            <a:r>
              <a:rPr lang="it-IT" dirty="0">
                <a:solidFill>
                  <a:schemeClr val="accent2"/>
                </a:solidFill>
              </a:rPr>
              <a:t>") </a:t>
            </a:r>
            <a:endParaRPr lang="en-US" dirty="0"/>
          </a:p>
        </p:txBody>
      </p:sp>
    </p:spTree>
    <p:extLst>
      <p:ext uri="{BB962C8B-B14F-4D97-AF65-F5344CB8AC3E}">
        <p14:creationId xmlns:p14="http://schemas.microsoft.com/office/powerpoint/2010/main" val="4111765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75E133-3828-B84C-A94A-A8304AAD76EA}"/>
              </a:ext>
            </a:extLst>
          </p:cNvPr>
          <p:cNvSpPr>
            <a:spLocks noGrp="1"/>
          </p:cNvSpPr>
          <p:nvPr>
            <p:ph type="title"/>
          </p:nvPr>
        </p:nvSpPr>
        <p:spPr/>
        <p:txBody>
          <a:bodyPr/>
          <a:lstStyle/>
          <a:p>
            <a:r>
              <a:rPr lang="en-US" dirty="0"/>
              <a:t>JPQL: </a:t>
            </a:r>
            <a:r>
              <a:rPr lang="en-US" dirty="0" err="1"/>
              <a:t>Esecuzione</a:t>
            </a:r>
            <a:r>
              <a:rPr lang="en-US" dirty="0"/>
              <a:t> Query SELECT</a:t>
            </a:r>
          </a:p>
        </p:txBody>
      </p:sp>
      <p:sp>
        <p:nvSpPr>
          <p:cNvPr id="5" name="Segnaposto contenuto 4">
            <a:extLst>
              <a:ext uri="{FF2B5EF4-FFF2-40B4-BE49-F238E27FC236}">
                <a16:creationId xmlns:a16="http://schemas.microsoft.com/office/drawing/2014/main" id="{63AB02DB-19D3-174B-A1B3-D283FA3C4FAF}"/>
              </a:ext>
            </a:extLst>
          </p:cNvPr>
          <p:cNvSpPr>
            <a:spLocks noGrp="1"/>
          </p:cNvSpPr>
          <p:nvPr>
            <p:ph idx="1"/>
          </p:nvPr>
        </p:nvSpPr>
        <p:spPr>
          <a:xfrm>
            <a:off x="234892" y="1200150"/>
            <a:ext cx="8909108" cy="3943349"/>
          </a:xfrm>
        </p:spPr>
        <p:txBody>
          <a:bodyPr>
            <a:normAutofit fontScale="70000" lnSpcReduction="20000"/>
          </a:bodyPr>
          <a:lstStyle/>
          <a:p>
            <a:r>
              <a:rPr lang="en-US" dirty="0" err="1"/>
              <a:t>Creazione</a:t>
            </a:r>
            <a:r>
              <a:rPr lang="en-US" dirty="0"/>
              <a:t> ed </a:t>
            </a:r>
            <a:r>
              <a:rPr lang="en-US" dirty="0" err="1"/>
              <a:t>esecuzione</a:t>
            </a:r>
            <a:r>
              <a:rPr lang="en-US" dirty="0"/>
              <a:t> di una </a:t>
            </a:r>
            <a:r>
              <a:rPr lang="en-US" b="1" dirty="0"/>
              <a:t>dynamic query</a:t>
            </a:r>
            <a:r>
              <a:rPr lang="en-US" dirty="0"/>
              <a:t>:</a:t>
            </a:r>
          </a:p>
          <a:p>
            <a:pPr marL="0" indent="0">
              <a:buNone/>
            </a:pPr>
            <a:r>
              <a:rPr lang="it-IT" dirty="0" err="1"/>
              <a:t>TypedQuery</a:t>
            </a:r>
            <a:r>
              <a:rPr lang="it-IT" dirty="0"/>
              <a:t>&lt;Product&gt; </a:t>
            </a:r>
            <a:r>
              <a:rPr lang="it-IT" dirty="0" err="1"/>
              <a:t>selectQuery</a:t>
            </a:r>
            <a:r>
              <a:rPr lang="it-IT" dirty="0"/>
              <a:t> = </a:t>
            </a:r>
            <a:r>
              <a:rPr lang="it-IT" i="1" dirty="0" err="1"/>
              <a:t>em</a:t>
            </a:r>
            <a:r>
              <a:rPr lang="it-IT" dirty="0" err="1"/>
              <a:t>.createQuery</a:t>
            </a:r>
            <a:r>
              <a:rPr lang="it-IT" dirty="0"/>
              <a:t>("SELECT </a:t>
            </a:r>
            <a:r>
              <a:rPr lang="it-IT" dirty="0" err="1"/>
              <a:t>p</a:t>
            </a:r>
            <a:r>
              <a:rPr lang="it-IT" dirty="0"/>
              <a:t> FROM Product </a:t>
            </a:r>
            <a:r>
              <a:rPr lang="it-IT" dirty="0" err="1"/>
              <a:t>p</a:t>
            </a:r>
            <a:r>
              <a:rPr lang="it-IT" dirty="0"/>
              <a:t>", </a:t>
            </a:r>
            <a:r>
              <a:rPr lang="it-IT" dirty="0" err="1"/>
              <a:t>Product.class</a:t>
            </a:r>
            <a:r>
              <a:rPr lang="it-IT" dirty="0"/>
              <a:t>); </a:t>
            </a:r>
          </a:p>
          <a:p>
            <a:pPr marL="0" indent="0">
              <a:buNone/>
            </a:pPr>
            <a:r>
              <a:rPr lang="it-IT" dirty="0"/>
              <a:t>List&lt;Product&gt; </a:t>
            </a:r>
            <a:r>
              <a:rPr lang="it-IT" dirty="0" err="1"/>
              <a:t>selectQueryResults</a:t>
            </a:r>
            <a:r>
              <a:rPr lang="it-IT" dirty="0"/>
              <a:t> = </a:t>
            </a:r>
            <a:r>
              <a:rPr lang="it-IT" dirty="0" err="1"/>
              <a:t>selectQuery.getResultList</a:t>
            </a:r>
            <a:r>
              <a:rPr lang="it-IT" dirty="0"/>
              <a:t>();</a:t>
            </a:r>
          </a:p>
          <a:p>
            <a:pPr marL="0" indent="0">
              <a:buNone/>
            </a:pPr>
            <a:endParaRPr lang="en-US" dirty="0"/>
          </a:p>
          <a:p>
            <a:r>
              <a:rPr lang="en-US" dirty="0" err="1"/>
              <a:t>Creazione</a:t>
            </a:r>
            <a:r>
              <a:rPr lang="en-US" dirty="0"/>
              <a:t> ed </a:t>
            </a:r>
            <a:r>
              <a:rPr lang="en-US" dirty="0" err="1"/>
              <a:t>esecuzione</a:t>
            </a:r>
            <a:r>
              <a:rPr lang="en-US" dirty="0"/>
              <a:t> di una </a:t>
            </a:r>
            <a:r>
              <a:rPr lang="en-US" b="1" dirty="0"/>
              <a:t>named query</a:t>
            </a:r>
            <a:r>
              <a:rPr lang="en-US" dirty="0"/>
              <a:t>:</a:t>
            </a:r>
          </a:p>
          <a:p>
            <a:pPr marL="0" indent="0">
              <a:buNone/>
            </a:pPr>
            <a:r>
              <a:rPr lang="it-IT" dirty="0" err="1"/>
              <a:t>TypedQuery</a:t>
            </a:r>
            <a:r>
              <a:rPr lang="it-IT" dirty="0"/>
              <a:t>&lt;Product&gt; </a:t>
            </a:r>
            <a:r>
              <a:rPr lang="it-IT" dirty="0" err="1"/>
              <a:t>selectQuery</a:t>
            </a:r>
            <a:r>
              <a:rPr lang="it-IT" dirty="0"/>
              <a:t> = </a:t>
            </a:r>
            <a:r>
              <a:rPr lang="it-IT" i="1" dirty="0" err="1"/>
              <a:t>em</a:t>
            </a:r>
            <a:r>
              <a:rPr lang="it-IT" dirty="0" err="1"/>
              <a:t>.createNamedQuery</a:t>
            </a:r>
            <a:r>
              <a:rPr lang="it-IT" dirty="0"/>
              <a:t>("</a:t>
            </a:r>
            <a:r>
              <a:rPr lang="it-IT" dirty="0" err="1"/>
              <a:t>findAllProducts</a:t>
            </a:r>
            <a:r>
              <a:rPr lang="it-IT" dirty="0"/>
              <a:t>", </a:t>
            </a:r>
            <a:r>
              <a:rPr lang="it-IT" dirty="0" err="1"/>
              <a:t>Product.class</a:t>
            </a:r>
            <a:r>
              <a:rPr lang="it-IT" dirty="0"/>
              <a:t>);</a:t>
            </a:r>
          </a:p>
          <a:p>
            <a:pPr marL="0" indent="0">
              <a:buNone/>
            </a:pPr>
            <a:r>
              <a:rPr lang="it-IT" dirty="0"/>
              <a:t>List&lt;Product&gt; </a:t>
            </a:r>
            <a:r>
              <a:rPr lang="it-IT" dirty="0" err="1"/>
              <a:t>selectQueryResults</a:t>
            </a:r>
            <a:r>
              <a:rPr lang="it-IT" dirty="0"/>
              <a:t> = </a:t>
            </a:r>
            <a:r>
              <a:rPr lang="it-IT" dirty="0" err="1"/>
              <a:t>selectQuery.getResultList</a:t>
            </a:r>
            <a:r>
              <a:rPr lang="it-IT" dirty="0"/>
              <a:t>();</a:t>
            </a:r>
          </a:p>
          <a:p>
            <a:pPr marL="0" indent="0">
              <a:buNone/>
            </a:pPr>
            <a:endParaRPr lang="it-IT" dirty="0"/>
          </a:p>
          <a:p>
            <a:r>
              <a:rPr lang="en-US" dirty="0" err="1"/>
              <a:t>Creazione</a:t>
            </a:r>
            <a:r>
              <a:rPr lang="en-US" dirty="0"/>
              <a:t> ed </a:t>
            </a:r>
            <a:r>
              <a:rPr lang="en-US" dirty="0" err="1"/>
              <a:t>esecuzione</a:t>
            </a:r>
            <a:r>
              <a:rPr lang="en-US" dirty="0"/>
              <a:t> di una </a:t>
            </a:r>
            <a:r>
              <a:rPr lang="en-US" b="1" dirty="0"/>
              <a:t>native query</a:t>
            </a:r>
            <a:r>
              <a:rPr lang="en-US" dirty="0"/>
              <a:t>:</a:t>
            </a:r>
          </a:p>
          <a:p>
            <a:pPr marL="0" indent="0">
              <a:buNone/>
            </a:pPr>
            <a:r>
              <a:rPr lang="it-IT" dirty="0"/>
              <a:t>Query </a:t>
            </a:r>
            <a:r>
              <a:rPr lang="it-IT" dirty="0" err="1"/>
              <a:t>selectQuery</a:t>
            </a:r>
            <a:r>
              <a:rPr lang="it-IT" dirty="0"/>
              <a:t> = </a:t>
            </a:r>
            <a:r>
              <a:rPr lang="it-IT" i="1" dirty="0" err="1"/>
              <a:t>em</a:t>
            </a:r>
            <a:r>
              <a:rPr lang="it-IT" dirty="0" err="1"/>
              <a:t>.createNativeQuery</a:t>
            </a:r>
            <a:r>
              <a:rPr lang="it-IT" dirty="0"/>
              <a:t>("SELECT * FROM </a:t>
            </a:r>
            <a:r>
              <a:rPr lang="it-IT" dirty="0" err="1"/>
              <a:t>product</a:t>
            </a:r>
            <a:r>
              <a:rPr lang="it-IT" dirty="0"/>
              <a:t>", </a:t>
            </a:r>
            <a:r>
              <a:rPr lang="it-IT" dirty="0" err="1"/>
              <a:t>Product.class</a:t>
            </a:r>
            <a:r>
              <a:rPr lang="it-IT" dirty="0"/>
              <a:t>);</a:t>
            </a:r>
          </a:p>
          <a:p>
            <a:pPr marL="0" indent="0">
              <a:buNone/>
            </a:pPr>
            <a:r>
              <a:rPr lang="it-IT" dirty="0"/>
              <a:t>@</a:t>
            </a:r>
            <a:r>
              <a:rPr lang="it-IT" dirty="0" err="1"/>
              <a:t>SuppressWarnings</a:t>
            </a:r>
            <a:r>
              <a:rPr lang="it-IT" dirty="0"/>
              <a:t>("</a:t>
            </a:r>
            <a:r>
              <a:rPr lang="it-IT" dirty="0" err="1"/>
              <a:t>unchecked</a:t>
            </a:r>
            <a:r>
              <a:rPr lang="it-IT" dirty="0"/>
              <a:t>") // necessario per una inconsistenza delle API</a:t>
            </a:r>
          </a:p>
          <a:p>
            <a:pPr marL="0" indent="0">
              <a:buNone/>
            </a:pPr>
            <a:r>
              <a:rPr lang="it-IT" dirty="0"/>
              <a:t>List&lt;Product&gt; </a:t>
            </a:r>
            <a:r>
              <a:rPr lang="it-IT" dirty="0" err="1"/>
              <a:t>selectQueryResults</a:t>
            </a:r>
            <a:r>
              <a:rPr lang="it-IT" dirty="0"/>
              <a:t> = </a:t>
            </a:r>
            <a:r>
              <a:rPr lang="it-IT" dirty="0" err="1"/>
              <a:t>selectQuery.getResultList</a:t>
            </a:r>
            <a:r>
              <a:rPr lang="it-IT" dirty="0"/>
              <a:t>();</a:t>
            </a:r>
          </a:p>
          <a:p>
            <a:pPr marL="0" indent="0">
              <a:buNone/>
            </a:pPr>
            <a:endParaRPr lang="en-US" dirty="0"/>
          </a:p>
        </p:txBody>
      </p:sp>
    </p:spTree>
    <p:extLst>
      <p:ext uri="{BB962C8B-B14F-4D97-AF65-F5344CB8AC3E}">
        <p14:creationId xmlns:p14="http://schemas.microsoft.com/office/powerpoint/2010/main" val="2162800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84C2A-B850-0E45-935E-78D207AECBE2}"/>
              </a:ext>
            </a:extLst>
          </p:cNvPr>
          <p:cNvSpPr>
            <a:spLocks noGrp="1"/>
          </p:cNvSpPr>
          <p:nvPr>
            <p:ph type="title"/>
          </p:nvPr>
        </p:nvSpPr>
        <p:spPr/>
        <p:txBody>
          <a:bodyPr/>
          <a:lstStyle/>
          <a:p>
            <a:r>
              <a:rPr lang="en-US" dirty="0"/>
              <a:t>JPQL: target list query SELECT</a:t>
            </a:r>
          </a:p>
        </p:txBody>
      </p:sp>
      <p:sp>
        <p:nvSpPr>
          <p:cNvPr id="3" name="Segnaposto contenuto 2">
            <a:extLst>
              <a:ext uri="{FF2B5EF4-FFF2-40B4-BE49-F238E27FC236}">
                <a16:creationId xmlns:a16="http://schemas.microsoft.com/office/drawing/2014/main" id="{A556A6D8-D20F-734B-923C-C814BE7D3C3E}"/>
              </a:ext>
            </a:extLst>
          </p:cNvPr>
          <p:cNvSpPr>
            <a:spLocks noGrp="1"/>
          </p:cNvSpPr>
          <p:nvPr>
            <p:ph idx="1"/>
          </p:nvPr>
        </p:nvSpPr>
        <p:spPr/>
        <p:txBody>
          <a:bodyPr>
            <a:normAutofit/>
          </a:bodyPr>
          <a:lstStyle/>
          <a:p>
            <a:r>
              <a:rPr lang="it-IT" dirty="0"/>
              <a:t>Nella target list possiamo specificare anche un sottoinsieme dei campi, sempre usando una </a:t>
            </a:r>
            <a:r>
              <a:rPr lang="it-IT" dirty="0" err="1"/>
              <a:t>path-experession</a:t>
            </a:r>
            <a:r>
              <a:rPr lang="it-IT" dirty="0"/>
              <a:t> </a:t>
            </a:r>
          </a:p>
          <a:p>
            <a:r>
              <a:rPr lang="it-IT" dirty="0"/>
              <a:t>Nel caso in cui abbiamo un solo elemento, la </a:t>
            </a:r>
            <a:r>
              <a:rPr lang="it-IT" dirty="0" err="1"/>
              <a:t>query</a:t>
            </a:r>
            <a:r>
              <a:rPr lang="it-IT" dirty="0"/>
              <a:t> ritorna una lista del tipo corrispondente</a:t>
            </a:r>
          </a:p>
          <a:p>
            <a:pPr marL="0" indent="0">
              <a:buNone/>
            </a:pPr>
            <a:endParaRPr lang="it-IT" sz="1500" dirty="0"/>
          </a:p>
          <a:p>
            <a:pPr marL="0" indent="0">
              <a:buNone/>
            </a:pPr>
            <a:r>
              <a:rPr lang="it-IT" sz="1500" dirty="0" err="1"/>
              <a:t>TypedQuery</a:t>
            </a:r>
            <a:r>
              <a:rPr lang="it-IT" sz="1500" dirty="0"/>
              <a:t>&lt;</a:t>
            </a:r>
            <a:r>
              <a:rPr lang="it-IT" sz="1500" dirty="0" err="1">
                <a:highlight>
                  <a:srgbClr val="FFFF00"/>
                </a:highlight>
              </a:rPr>
              <a:t>String</a:t>
            </a:r>
            <a:r>
              <a:rPr lang="it-IT" sz="1500" dirty="0"/>
              <a:t>&gt; </a:t>
            </a:r>
            <a:r>
              <a:rPr lang="it-IT" sz="1500" dirty="0" err="1"/>
              <a:t>queryNames</a:t>
            </a:r>
            <a:r>
              <a:rPr lang="it-IT" sz="1500" dirty="0"/>
              <a:t> = </a:t>
            </a:r>
            <a:r>
              <a:rPr lang="it-IT" sz="1500" dirty="0" err="1"/>
              <a:t>em.createQuery</a:t>
            </a:r>
            <a:r>
              <a:rPr lang="it-IT" sz="1500" dirty="0"/>
              <a:t>("SELECT </a:t>
            </a:r>
            <a:r>
              <a:rPr lang="it-IT" sz="1500" dirty="0" err="1">
                <a:highlight>
                  <a:srgbClr val="FFFF00"/>
                </a:highlight>
              </a:rPr>
              <a:t>p.name</a:t>
            </a:r>
            <a:r>
              <a:rPr lang="it-IT" sz="1500" dirty="0">
                <a:highlight>
                  <a:srgbClr val="FFFF00"/>
                </a:highlight>
              </a:rPr>
              <a:t> </a:t>
            </a:r>
            <a:r>
              <a:rPr lang="it-IT" sz="1500" dirty="0"/>
              <a:t>FROM Product </a:t>
            </a:r>
            <a:r>
              <a:rPr lang="it-IT" sz="1500" dirty="0" err="1"/>
              <a:t>p</a:t>
            </a:r>
            <a:r>
              <a:rPr lang="it-IT" sz="1500" dirty="0"/>
              <a:t>", </a:t>
            </a:r>
            <a:r>
              <a:rPr lang="it-IT" sz="1500" dirty="0" err="1">
                <a:highlight>
                  <a:srgbClr val="FFFF00"/>
                </a:highlight>
              </a:rPr>
              <a:t>String</a:t>
            </a:r>
            <a:r>
              <a:rPr lang="it-IT" sz="1500" dirty="0" err="1"/>
              <a:t>.</a:t>
            </a:r>
            <a:r>
              <a:rPr lang="it-IT" sz="1500" b="1" dirty="0" err="1"/>
              <a:t>class</a:t>
            </a:r>
            <a:r>
              <a:rPr lang="it-IT" sz="1500" dirty="0"/>
              <a:t>);</a:t>
            </a:r>
          </a:p>
          <a:p>
            <a:pPr marL="0" indent="0">
              <a:buNone/>
            </a:pPr>
            <a:r>
              <a:rPr lang="it-IT" sz="1500" dirty="0"/>
              <a:t>List&lt;</a:t>
            </a:r>
            <a:r>
              <a:rPr lang="it-IT" sz="1500" dirty="0" err="1">
                <a:highlight>
                  <a:srgbClr val="FFFF00"/>
                </a:highlight>
              </a:rPr>
              <a:t>String</a:t>
            </a:r>
            <a:r>
              <a:rPr lang="it-IT" sz="1500" dirty="0"/>
              <a:t>&gt; </a:t>
            </a:r>
            <a:r>
              <a:rPr lang="it-IT" sz="1500" dirty="0" err="1"/>
              <a:t>names</a:t>
            </a:r>
            <a:r>
              <a:rPr lang="it-IT" sz="1500" dirty="0"/>
              <a:t> = </a:t>
            </a:r>
            <a:r>
              <a:rPr lang="it-IT" sz="1500" dirty="0" err="1"/>
              <a:t>queryNames.getResultList</a:t>
            </a:r>
            <a:r>
              <a:rPr lang="it-IT" sz="1500" dirty="0"/>
              <a:t>(); </a:t>
            </a:r>
          </a:p>
          <a:p>
            <a:pPr marL="0" indent="0">
              <a:buNone/>
            </a:pPr>
            <a:endParaRPr lang="it-IT" sz="1500" dirty="0"/>
          </a:p>
          <a:p>
            <a:pPr marL="0" indent="0">
              <a:buNone/>
            </a:pPr>
            <a:r>
              <a:rPr lang="it-IT" sz="1500" dirty="0" err="1"/>
              <a:t>TypedQuery</a:t>
            </a:r>
            <a:r>
              <a:rPr lang="it-IT" sz="1500" dirty="0"/>
              <a:t>&lt;</a:t>
            </a:r>
            <a:r>
              <a:rPr lang="it-IT" sz="1500" dirty="0">
                <a:highlight>
                  <a:srgbClr val="00FF00"/>
                </a:highlight>
              </a:rPr>
              <a:t>Float</a:t>
            </a:r>
            <a:r>
              <a:rPr lang="it-IT" sz="1500" dirty="0"/>
              <a:t>&gt; </a:t>
            </a:r>
            <a:r>
              <a:rPr lang="it-IT" sz="1500" dirty="0" err="1"/>
              <a:t>queryPrices</a:t>
            </a:r>
            <a:r>
              <a:rPr lang="it-IT" sz="1500" dirty="0"/>
              <a:t> =  </a:t>
            </a:r>
            <a:r>
              <a:rPr lang="it-IT" sz="1500" dirty="0" err="1"/>
              <a:t>em.createQuery</a:t>
            </a:r>
            <a:r>
              <a:rPr lang="it-IT" sz="1500" dirty="0"/>
              <a:t>("SELECT </a:t>
            </a:r>
            <a:r>
              <a:rPr lang="it-IT" sz="1500" dirty="0" err="1">
                <a:highlight>
                  <a:srgbClr val="00FF00"/>
                </a:highlight>
              </a:rPr>
              <a:t>p.price</a:t>
            </a:r>
            <a:r>
              <a:rPr lang="it-IT" sz="1500" dirty="0">
                <a:highlight>
                  <a:srgbClr val="00FF00"/>
                </a:highlight>
              </a:rPr>
              <a:t> </a:t>
            </a:r>
            <a:r>
              <a:rPr lang="it-IT" sz="1500" dirty="0"/>
              <a:t>FROM Product </a:t>
            </a:r>
            <a:r>
              <a:rPr lang="it-IT" sz="1500" dirty="0" err="1"/>
              <a:t>p</a:t>
            </a:r>
            <a:r>
              <a:rPr lang="it-IT" sz="1500" dirty="0"/>
              <a:t>", </a:t>
            </a:r>
            <a:r>
              <a:rPr lang="it-IT" sz="1500" dirty="0" err="1">
                <a:highlight>
                  <a:srgbClr val="00FF00"/>
                </a:highlight>
              </a:rPr>
              <a:t>Float</a:t>
            </a:r>
            <a:r>
              <a:rPr lang="it-IT" sz="1500" dirty="0" err="1"/>
              <a:t>.</a:t>
            </a:r>
            <a:r>
              <a:rPr lang="it-IT" sz="1500" b="1" dirty="0" err="1"/>
              <a:t>class</a:t>
            </a:r>
            <a:r>
              <a:rPr lang="it-IT" sz="1500" dirty="0"/>
              <a:t>);</a:t>
            </a:r>
          </a:p>
          <a:p>
            <a:pPr marL="0" indent="0">
              <a:buNone/>
            </a:pPr>
            <a:r>
              <a:rPr lang="it-IT" sz="1500" dirty="0"/>
              <a:t>List&lt;</a:t>
            </a:r>
            <a:r>
              <a:rPr lang="it-IT" sz="1500" dirty="0">
                <a:highlight>
                  <a:srgbClr val="00FF00"/>
                </a:highlight>
              </a:rPr>
              <a:t>Float</a:t>
            </a:r>
            <a:r>
              <a:rPr lang="it-IT" sz="1500" dirty="0"/>
              <a:t>&gt; </a:t>
            </a:r>
            <a:r>
              <a:rPr lang="it-IT" sz="1500" dirty="0" err="1"/>
              <a:t>prices</a:t>
            </a:r>
            <a:r>
              <a:rPr lang="it-IT" sz="1500" dirty="0"/>
              <a:t> = </a:t>
            </a:r>
            <a:r>
              <a:rPr lang="it-IT" sz="1500" dirty="0" err="1"/>
              <a:t>queryPrices.getResultList</a:t>
            </a:r>
            <a:r>
              <a:rPr lang="it-IT" sz="1500" dirty="0"/>
              <a:t>(); </a:t>
            </a:r>
            <a:endParaRPr lang="en-US" sz="1500" dirty="0"/>
          </a:p>
          <a:p>
            <a:pPr marL="0" indent="0">
              <a:buNone/>
            </a:pPr>
            <a:endParaRPr lang="en-US" sz="1500" dirty="0"/>
          </a:p>
        </p:txBody>
      </p:sp>
    </p:spTree>
    <p:extLst>
      <p:ext uri="{BB962C8B-B14F-4D97-AF65-F5344CB8AC3E}">
        <p14:creationId xmlns:p14="http://schemas.microsoft.com/office/powerpoint/2010/main" val="980568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84C2A-B850-0E45-935E-78D207AECBE2}"/>
              </a:ext>
            </a:extLst>
          </p:cNvPr>
          <p:cNvSpPr>
            <a:spLocks noGrp="1"/>
          </p:cNvSpPr>
          <p:nvPr>
            <p:ph type="title"/>
          </p:nvPr>
        </p:nvSpPr>
        <p:spPr/>
        <p:txBody>
          <a:bodyPr/>
          <a:lstStyle/>
          <a:p>
            <a:r>
              <a:rPr lang="en-US" dirty="0"/>
              <a:t>JPQL: target list query SELECT</a:t>
            </a:r>
          </a:p>
        </p:txBody>
      </p:sp>
      <p:sp>
        <p:nvSpPr>
          <p:cNvPr id="3" name="Segnaposto contenuto 2">
            <a:extLst>
              <a:ext uri="{FF2B5EF4-FFF2-40B4-BE49-F238E27FC236}">
                <a16:creationId xmlns:a16="http://schemas.microsoft.com/office/drawing/2014/main" id="{A556A6D8-D20F-734B-923C-C814BE7D3C3E}"/>
              </a:ext>
            </a:extLst>
          </p:cNvPr>
          <p:cNvSpPr>
            <a:spLocks noGrp="1"/>
          </p:cNvSpPr>
          <p:nvPr>
            <p:ph idx="1"/>
          </p:nvPr>
        </p:nvSpPr>
        <p:spPr>
          <a:xfrm>
            <a:off x="457200" y="1200150"/>
            <a:ext cx="8686800" cy="3866799"/>
          </a:xfrm>
        </p:spPr>
        <p:txBody>
          <a:bodyPr>
            <a:normAutofit/>
          </a:bodyPr>
          <a:lstStyle/>
          <a:p>
            <a:r>
              <a:rPr lang="it-IT" dirty="0"/>
              <a:t>Se abbiamo più elementi, la </a:t>
            </a:r>
            <a:r>
              <a:rPr lang="it-IT" dirty="0" err="1"/>
              <a:t>query</a:t>
            </a:r>
            <a:r>
              <a:rPr lang="it-IT" dirty="0"/>
              <a:t> ritorna una lista di Object[]. Ogni elemento della lista corrisponde ad un array che ha tanti elementi quante le </a:t>
            </a:r>
            <a:r>
              <a:rPr lang="it-IT" dirty="0" err="1"/>
              <a:t>path-expression</a:t>
            </a:r>
            <a:r>
              <a:rPr lang="it-IT" dirty="0"/>
              <a:t> nella target, e in ogni array mantengono la stessa posizione data dalla target list</a:t>
            </a:r>
          </a:p>
          <a:p>
            <a:pPr marL="0" indent="0">
              <a:buNone/>
            </a:pPr>
            <a:endParaRPr lang="it-IT" sz="1500" dirty="0"/>
          </a:p>
          <a:p>
            <a:pPr marL="0" indent="0">
              <a:buNone/>
            </a:pPr>
            <a:r>
              <a:rPr lang="it-IT" sz="1500" dirty="0" err="1"/>
              <a:t>TypedQuery</a:t>
            </a:r>
            <a:r>
              <a:rPr lang="it-IT" sz="1500" dirty="0"/>
              <a:t>&lt;</a:t>
            </a:r>
            <a:r>
              <a:rPr lang="it-IT" sz="1500" dirty="0">
                <a:highlight>
                  <a:srgbClr val="FFFF00"/>
                </a:highlight>
              </a:rPr>
              <a:t>Object[]</a:t>
            </a:r>
            <a:r>
              <a:rPr lang="it-IT" sz="1500" dirty="0"/>
              <a:t>&gt; </a:t>
            </a:r>
            <a:r>
              <a:rPr lang="it-IT" sz="1500" dirty="0" err="1"/>
              <a:t>query</a:t>
            </a:r>
            <a:r>
              <a:rPr lang="it-IT" sz="1500" dirty="0"/>
              <a:t> = </a:t>
            </a:r>
            <a:r>
              <a:rPr lang="it-IT" sz="1500" dirty="0" err="1"/>
              <a:t>em.createQuery</a:t>
            </a:r>
            <a:r>
              <a:rPr lang="it-IT" sz="1500" dirty="0"/>
              <a:t>("SELECT </a:t>
            </a:r>
            <a:r>
              <a:rPr lang="it-IT" sz="1500" dirty="0" err="1">
                <a:highlight>
                  <a:srgbClr val="FFFF00"/>
                </a:highlight>
              </a:rPr>
              <a:t>p.name</a:t>
            </a:r>
            <a:r>
              <a:rPr lang="it-IT" sz="1500" dirty="0">
                <a:highlight>
                  <a:srgbClr val="FFFF00"/>
                </a:highlight>
              </a:rPr>
              <a:t>, </a:t>
            </a:r>
            <a:r>
              <a:rPr lang="it-IT" sz="1500" dirty="0" err="1">
                <a:highlight>
                  <a:srgbClr val="FFFF00"/>
                </a:highlight>
              </a:rPr>
              <a:t>p.price</a:t>
            </a:r>
            <a:r>
              <a:rPr lang="it-IT" sz="1500" dirty="0">
                <a:highlight>
                  <a:srgbClr val="FFFF00"/>
                </a:highlight>
              </a:rPr>
              <a:t> </a:t>
            </a:r>
            <a:r>
              <a:rPr lang="it-IT" sz="1500" dirty="0"/>
              <a:t>FROM Product </a:t>
            </a:r>
            <a:r>
              <a:rPr lang="it-IT" sz="1500" dirty="0" err="1"/>
              <a:t>p</a:t>
            </a:r>
            <a:r>
              <a:rPr lang="it-IT" sz="1500" dirty="0"/>
              <a:t>", </a:t>
            </a:r>
            <a:r>
              <a:rPr lang="it-IT" sz="1500" dirty="0">
                <a:highlight>
                  <a:srgbClr val="FFFF00"/>
                </a:highlight>
              </a:rPr>
              <a:t>Object[]</a:t>
            </a:r>
            <a:r>
              <a:rPr lang="it-IT" sz="1500" dirty="0"/>
              <a:t>.</a:t>
            </a:r>
            <a:r>
              <a:rPr lang="it-IT" sz="1500" b="1" dirty="0" err="1"/>
              <a:t>class</a:t>
            </a:r>
            <a:r>
              <a:rPr lang="it-IT" sz="1500" dirty="0"/>
              <a:t>);</a:t>
            </a:r>
          </a:p>
          <a:p>
            <a:pPr marL="0" indent="0">
              <a:buNone/>
            </a:pPr>
            <a:r>
              <a:rPr lang="it-IT" sz="1500" dirty="0"/>
              <a:t>List&lt;</a:t>
            </a:r>
            <a:r>
              <a:rPr lang="it-IT" sz="1500" dirty="0">
                <a:highlight>
                  <a:srgbClr val="FFFF00"/>
                </a:highlight>
              </a:rPr>
              <a:t>Object[]</a:t>
            </a:r>
            <a:r>
              <a:rPr lang="it-IT" sz="1500" dirty="0"/>
              <a:t>&gt; </a:t>
            </a:r>
            <a:r>
              <a:rPr lang="it-IT" sz="1500" dirty="0" err="1"/>
              <a:t>namesAndPrices</a:t>
            </a:r>
            <a:r>
              <a:rPr lang="it-IT" sz="1500" dirty="0"/>
              <a:t> = </a:t>
            </a:r>
            <a:r>
              <a:rPr lang="it-IT" sz="1500" dirty="0" err="1"/>
              <a:t>query.getResultList</a:t>
            </a:r>
            <a:r>
              <a:rPr lang="it-IT" sz="1500" dirty="0"/>
              <a:t>(); </a:t>
            </a:r>
          </a:p>
          <a:p>
            <a:pPr marL="0" indent="0">
              <a:buNone/>
            </a:pPr>
            <a:endParaRPr lang="it-IT" sz="1500" dirty="0"/>
          </a:p>
          <a:p>
            <a:pPr marL="0" indent="0">
              <a:buNone/>
            </a:pPr>
            <a:r>
              <a:rPr lang="it-IT" sz="1500" dirty="0"/>
              <a:t>for (</a:t>
            </a:r>
            <a:r>
              <a:rPr lang="it-IT" sz="1500" dirty="0">
                <a:highlight>
                  <a:srgbClr val="FFFF00"/>
                </a:highlight>
              </a:rPr>
              <a:t>Object[] </a:t>
            </a:r>
            <a:r>
              <a:rPr lang="it-IT" sz="1500" dirty="0" err="1"/>
              <a:t>nAp</a:t>
            </a:r>
            <a:r>
              <a:rPr lang="it-IT" sz="1500" dirty="0"/>
              <a:t>: </a:t>
            </a:r>
            <a:r>
              <a:rPr lang="it-IT" sz="1500" dirty="0" err="1"/>
              <a:t>namesAndPrices</a:t>
            </a:r>
            <a:r>
              <a:rPr lang="it-IT" sz="1500" dirty="0"/>
              <a:t>) {</a:t>
            </a:r>
          </a:p>
          <a:p>
            <a:pPr marL="0" indent="0">
              <a:buNone/>
            </a:pPr>
            <a:r>
              <a:rPr lang="it-IT" sz="1500" dirty="0"/>
              <a:t>	</a:t>
            </a:r>
            <a:r>
              <a:rPr lang="it-IT" sz="1500" dirty="0" err="1"/>
              <a:t>System.out.println</a:t>
            </a:r>
            <a:r>
              <a:rPr lang="it-IT" sz="1500" dirty="0"/>
              <a:t>(</a:t>
            </a:r>
            <a:r>
              <a:rPr lang="it-IT" sz="1500" dirty="0" err="1"/>
              <a:t>nAp</a:t>
            </a:r>
            <a:r>
              <a:rPr lang="it-IT" sz="1500" dirty="0">
                <a:highlight>
                  <a:srgbClr val="FFFF00"/>
                </a:highlight>
              </a:rPr>
              <a:t>[0]</a:t>
            </a:r>
            <a:r>
              <a:rPr lang="it-IT" sz="1500" dirty="0"/>
              <a:t> + " " + </a:t>
            </a:r>
            <a:r>
              <a:rPr lang="it-IT" sz="1500" dirty="0" err="1"/>
              <a:t>nAp</a:t>
            </a:r>
            <a:r>
              <a:rPr lang="it-IT" sz="1500" dirty="0">
                <a:highlight>
                  <a:srgbClr val="FFFF00"/>
                </a:highlight>
              </a:rPr>
              <a:t>[1]</a:t>
            </a:r>
            <a:r>
              <a:rPr lang="it-IT" sz="1500" dirty="0"/>
              <a:t>);</a:t>
            </a:r>
          </a:p>
          <a:p>
            <a:pPr marL="0" indent="0">
              <a:buNone/>
            </a:pPr>
            <a:r>
              <a:rPr lang="it-IT" sz="1500" dirty="0"/>
              <a:t>}</a:t>
            </a:r>
          </a:p>
        </p:txBody>
      </p:sp>
    </p:spTree>
    <p:extLst>
      <p:ext uri="{BB962C8B-B14F-4D97-AF65-F5344CB8AC3E}">
        <p14:creationId xmlns:p14="http://schemas.microsoft.com/office/powerpoint/2010/main" val="1409359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75E133-3828-B84C-A94A-A8304AAD76EA}"/>
              </a:ext>
            </a:extLst>
          </p:cNvPr>
          <p:cNvSpPr>
            <a:spLocks noGrp="1"/>
          </p:cNvSpPr>
          <p:nvPr>
            <p:ph type="title"/>
          </p:nvPr>
        </p:nvSpPr>
        <p:spPr/>
        <p:txBody>
          <a:bodyPr/>
          <a:lstStyle/>
          <a:p>
            <a:r>
              <a:rPr lang="en-US" dirty="0"/>
              <a:t>JPQL: Query DELETE/UPDATE</a:t>
            </a:r>
          </a:p>
        </p:txBody>
      </p:sp>
      <p:sp>
        <p:nvSpPr>
          <p:cNvPr id="5" name="Segnaposto contenuto 4">
            <a:extLst>
              <a:ext uri="{FF2B5EF4-FFF2-40B4-BE49-F238E27FC236}">
                <a16:creationId xmlns:a16="http://schemas.microsoft.com/office/drawing/2014/main" id="{63AB02DB-19D3-174B-A1B3-D283FA3C4FAF}"/>
              </a:ext>
            </a:extLst>
          </p:cNvPr>
          <p:cNvSpPr>
            <a:spLocks noGrp="1"/>
          </p:cNvSpPr>
          <p:nvPr>
            <p:ph idx="1"/>
          </p:nvPr>
        </p:nvSpPr>
        <p:spPr/>
        <p:txBody>
          <a:bodyPr>
            <a:normAutofit/>
          </a:bodyPr>
          <a:lstStyle/>
          <a:p>
            <a:r>
              <a:rPr lang="it-IT" dirty="0"/>
              <a:t>La creazione e l'esecuzione di una </a:t>
            </a:r>
            <a:r>
              <a:rPr lang="it-IT" dirty="0" err="1"/>
              <a:t>query</a:t>
            </a:r>
            <a:r>
              <a:rPr lang="it-IT" dirty="0"/>
              <a:t> UPDATE o DELETE vengono fatte in maniera simile</a:t>
            </a:r>
          </a:p>
          <a:p>
            <a:r>
              <a:rPr lang="it-IT" dirty="0"/>
              <a:t>Tuttavia, </a:t>
            </a:r>
            <a:r>
              <a:rPr lang="en-US" dirty="0" err="1"/>
              <a:t>l'esecuzione</a:t>
            </a:r>
            <a:r>
              <a:rPr lang="en-US" dirty="0"/>
              <a:t> di una query UPDATE/DELETE </a:t>
            </a:r>
            <a:r>
              <a:rPr lang="en-US" dirty="0" err="1"/>
              <a:t>deve</a:t>
            </a:r>
            <a:r>
              <a:rPr lang="en-US" dirty="0"/>
              <a:t> </a:t>
            </a:r>
            <a:r>
              <a:rPr lang="en-US" dirty="0" err="1"/>
              <a:t>essere</a:t>
            </a:r>
            <a:r>
              <a:rPr lang="en-US" dirty="0"/>
              <a:t> </a:t>
            </a:r>
            <a:r>
              <a:rPr lang="en-US" dirty="0" err="1"/>
              <a:t>effettuata</a:t>
            </a:r>
            <a:r>
              <a:rPr lang="en-US" dirty="0"/>
              <a:t> in una </a:t>
            </a:r>
            <a:r>
              <a:rPr lang="en-US" dirty="0" err="1"/>
              <a:t>transazione</a:t>
            </a:r>
            <a:r>
              <a:rPr lang="en-US" dirty="0"/>
              <a:t> (</a:t>
            </a:r>
            <a:r>
              <a:rPr lang="en-US" dirty="0" err="1"/>
              <a:t>perchè</a:t>
            </a:r>
            <a:r>
              <a:rPr lang="en-US" dirty="0"/>
              <a:t> </a:t>
            </a:r>
            <a:r>
              <a:rPr lang="en-US" dirty="0" err="1"/>
              <a:t>modifica</a:t>
            </a:r>
            <a:r>
              <a:rPr lang="en-US" dirty="0"/>
              <a:t> </a:t>
            </a:r>
            <a:r>
              <a:rPr lang="en-US" dirty="0" err="1"/>
              <a:t>il</a:t>
            </a:r>
            <a:r>
              <a:rPr lang="en-US" dirty="0"/>
              <a:t> database)</a:t>
            </a:r>
          </a:p>
          <a:p>
            <a:endParaRPr lang="it-IT" dirty="0"/>
          </a:p>
        </p:txBody>
      </p:sp>
    </p:spTree>
    <p:extLst>
      <p:ext uri="{BB962C8B-B14F-4D97-AF65-F5344CB8AC3E}">
        <p14:creationId xmlns:p14="http://schemas.microsoft.com/office/powerpoint/2010/main" val="1317840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JPQL: </a:t>
            </a:r>
            <a:r>
              <a:rPr lang="en-US" dirty="0" err="1"/>
              <a:t>Creazione</a:t>
            </a:r>
            <a:r>
              <a:rPr lang="en-US" dirty="0"/>
              <a:t> Query UPDATE/DELETE</a:t>
            </a:r>
          </a:p>
        </p:txBody>
      </p:sp>
      <p:sp>
        <p:nvSpPr>
          <p:cNvPr id="3" name="Segnaposto contenuto 2"/>
          <p:cNvSpPr>
            <a:spLocks noGrp="1"/>
          </p:cNvSpPr>
          <p:nvPr>
            <p:ph idx="1"/>
          </p:nvPr>
        </p:nvSpPr>
        <p:spPr/>
        <p:txBody>
          <a:bodyPr>
            <a:normAutofit fontScale="85000" lnSpcReduction="20000"/>
          </a:bodyPr>
          <a:lstStyle/>
          <a:p>
            <a:r>
              <a:rPr lang="en-US" dirty="0"/>
              <a:t>La </a:t>
            </a:r>
            <a:r>
              <a:rPr lang="en-US" dirty="0" err="1"/>
              <a:t>creazione</a:t>
            </a:r>
            <a:r>
              <a:rPr lang="en-US" dirty="0"/>
              <a:t> di una </a:t>
            </a:r>
            <a:r>
              <a:rPr lang="en-US" b="1" dirty="0"/>
              <a:t>dynamic</a:t>
            </a:r>
            <a:r>
              <a:rPr lang="en-US" dirty="0"/>
              <a:t> query UPDATE/DELETE </a:t>
            </a:r>
            <a:r>
              <a:rPr lang="en-US" dirty="0" err="1"/>
              <a:t>è</a:t>
            </a:r>
            <a:r>
              <a:rPr lang="en-US" dirty="0"/>
              <a:t> </a:t>
            </a:r>
            <a:r>
              <a:rPr lang="en-US" dirty="0" err="1"/>
              <a:t>effettuata</a:t>
            </a:r>
            <a:r>
              <a:rPr lang="en-US" dirty="0"/>
              <a:t> </a:t>
            </a:r>
            <a:r>
              <a:rPr lang="en-US" dirty="0" err="1"/>
              <a:t>invocando</a:t>
            </a:r>
            <a:r>
              <a:rPr lang="en-US" dirty="0"/>
              <a:t> </a:t>
            </a:r>
            <a:r>
              <a:rPr lang="en-US" dirty="0" err="1"/>
              <a:t>sull'entity</a:t>
            </a:r>
            <a:r>
              <a:rPr lang="en-US" dirty="0"/>
              <a:t> manager </a:t>
            </a:r>
            <a:r>
              <a:rPr lang="en-US" dirty="0" err="1"/>
              <a:t>il</a:t>
            </a:r>
            <a:r>
              <a:rPr lang="en-US" dirty="0"/>
              <a:t> </a:t>
            </a:r>
            <a:r>
              <a:rPr lang="en-US" dirty="0" err="1"/>
              <a:t>metodo</a:t>
            </a:r>
            <a:endParaRPr lang="en-US" dirty="0"/>
          </a:p>
          <a:p>
            <a:pPr marL="342900" lvl="1" indent="0">
              <a:buNone/>
            </a:pPr>
            <a:r>
              <a:rPr lang="en-US" b="1" dirty="0"/>
              <a:t>Query  c</a:t>
            </a:r>
            <a:r>
              <a:rPr lang="it-IT" b="1" dirty="0" err="1"/>
              <a:t>reateQuery</a:t>
            </a:r>
            <a:r>
              <a:rPr lang="it-IT" b="1" dirty="0"/>
              <a:t>(</a:t>
            </a:r>
            <a:r>
              <a:rPr lang="it-IT" b="1" dirty="0" err="1"/>
              <a:t>String</a:t>
            </a:r>
            <a:r>
              <a:rPr lang="it-IT" b="1" dirty="0"/>
              <a:t>) </a:t>
            </a:r>
          </a:p>
          <a:p>
            <a:r>
              <a:rPr lang="en-US" dirty="0"/>
              <a:t>La </a:t>
            </a:r>
            <a:r>
              <a:rPr lang="en-US" dirty="0" err="1"/>
              <a:t>creazione</a:t>
            </a:r>
            <a:r>
              <a:rPr lang="en-US" dirty="0"/>
              <a:t> di una </a:t>
            </a:r>
            <a:r>
              <a:rPr lang="en-US" b="1" dirty="0"/>
              <a:t>named</a:t>
            </a:r>
            <a:r>
              <a:rPr lang="en-US" dirty="0"/>
              <a:t> query UPDATE/DELETE </a:t>
            </a:r>
            <a:r>
              <a:rPr lang="en-US" dirty="0" err="1"/>
              <a:t>è</a:t>
            </a:r>
            <a:r>
              <a:rPr lang="en-US" dirty="0"/>
              <a:t> </a:t>
            </a:r>
            <a:r>
              <a:rPr lang="en-US" dirty="0" err="1"/>
              <a:t>effettuata</a:t>
            </a:r>
            <a:r>
              <a:rPr lang="en-US" dirty="0"/>
              <a:t> </a:t>
            </a:r>
            <a:r>
              <a:rPr lang="en-US" dirty="0" err="1"/>
              <a:t>invocando</a:t>
            </a:r>
            <a:r>
              <a:rPr lang="en-US" dirty="0"/>
              <a:t> </a:t>
            </a:r>
            <a:r>
              <a:rPr lang="en-US" dirty="0" err="1"/>
              <a:t>sull'entity</a:t>
            </a:r>
            <a:r>
              <a:rPr lang="en-US" dirty="0"/>
              <a:t> manager </a:t>
            </a:r>
            <a:r>
              <a:rPr lang="en-US" dirty="0" err="1"/>
              <a:t>il</a:t>
            </a:r>
            <a:r>
              <a:rPr lang="en-US" dirty="0"/>
              <a:t> </a:t>
            </a:r>
            <a:r>
              <a:rPr lang="en-US" dirty="0" err="1"/>
              <a:t>metodo</a:t>
            </a:r>
            <a:r>
              <a:rPr lang="en-US" dirty="0"/>
              <a:t> </a:t>
            </a:r>
          </a:p>
          <a:p>
            <a:pPr marL="342900" lvl="1" indent="0">
              <a:buNone/>
            </a:pPr>
            <a:r>
              <a:rPr lang="en-US" b="1" dirty="0"/>
              <a:t>Query </a:t>
            </a:r>
            <a:r>
              <a:rPr lang="it-IT" b="1" dirty="0" err="1"/>
              <a:t>createNamedQuery</a:t>
            </a:r>
            <a:r>
              <a:rPr lang="it-IT" b="1" dirty="0"/>
              <a:t>(</a:t>
            </a:r>
            <a:r>
              <a:rPr lang="it-IT" b="1" dirty="0" err="1"/>
              <a:t>String</a:t>
            </a:r>
            <a:r>
              <a:rPr lang="it-IT" b="1" dirty="0"/>
              <a:t>)</a:t>
            </a:r>
            <a:endParaRPr lang="en-US" b="1" dirty="0"/>
          </a:p>
          <a:p>
            <a:r>
              <a:rPr lang="en-US" dirty="0"/>
              <a:t>La </a:t>
            </a:r>
            <a:r>
              <a:rPr lang="en-US" dirty="0" err="1"/>
              <a:t>creazione</a:t>
            </a:r>
            <a:r>
              <a:rPr lang="en-US" dirty="0"/>
              <a:t> di una </a:t>
            </a:r>
            <a:r>
              <a:rPr lang="en-US" b="1" dirty="0"/>
              <a:t>native</a:t>
            </a:r>
            <a:r>
              <a:rPr lang="en-US" dirty="0"/>
              <a:t> query UPDATE/DELETE </a:t>
            </a:r>
            <a:r>
              <a:rPr lang="en-US" dirty="0" err="1"/>
              <a:t>è</a:t>
            </a:r>
            <a:r>
              <a:rPr lang="en-US" dirty="0"/>
              <a:t> </a:t>
            </a:r>
            <a:r>
              <a:rPr lang="en-US" dirty="0" err="1"/>
              <a:t>effettuata</a:t>
            </a:r>
            <a:r>
              <a:rPr lang="en-US" dirty="0"/>
              <a:t> </a:t>
            </a:r>
            <a:r>
              <a:rPr lang="en-US" dirty="0" err="1"/>
              <a:t>invocando</a:t>
            </a:r>
            <a:r>
              <a:rPr lang="en-US" dirty="0"/>
              <a:t> </a:t>
            </a:r>
            <a:r>
              <a:rPr lang="en-US" dirty="0" err="1"/>
              <a:t>sull'entity</a:t>
            </a:r>
            <a:r>
              <a:rPr lang="en-US" dirty="0"/>
              <a:t> manager </a:t>
            </a:r>
            <a:r>
              <a:rPr lang="en-US" dirty="0" err="1"/>
              <a:t>il</a:t>
            </a:r>
            <a:r>
              <a:rPr lang="en-US" dirty="0"/>
              <a:t> </a:t>
            </a:r>
            <a:r>
              <a:rPr lang="en-US" dirty="0" err="1"/>
              <a:t>metodo</a:t>
            </a:r>
            <a:r>
              <a:rPr lang="en-US" dirty="0"/>
              <a:t> </a:t>
            </a:r>
            <a:endParaRPr lang="it-IT" dirty="0"/>
          </a:p>
          <a:p>
            <a:pPr marL="342900" lvl="1" indent="0">
              <a:buNone/>
            </a:pPr>
            <a:r>
              <a:rPr lang="en-US" b="1" dirty="0"/>
              <a:t>Query  </a:t>
            </a:r>
            <a:r>
              <a:rPr lang="it-IT" b="1" dirty="0" err="1"/>
              <a:t>createNativeQuery</a:t>
            </a:r>
            <a:r>
              <a:rPr lang="it-IT" b="1" dirty="0"/>
              <a:t>(</a:t>
            </a:r>
            <a:r>
              <a:rPr lang="it-IT" b="1" dirty="0" err="1"/>
              <a:t>String</a:t>
            </a:r>
            <a:r>
              <a:rPr lang="it-IT" b="1" dirty="0"/>
              <a:t>)</a:t>
            </a:r>
            <a:endParaRPr lang="en-US" b="1" dirty="0"/>
          </a:p>
          <a:p>
            <a:r>
              <a:rPr lang="en-US" dirty="0"/>
              <a:t>Per </a:t>
            </a:r>
            <a:r>
              <a:rPr lang="en-US" dirty="0" err="1"/>
              <a:t>tutte</a:t>
            </a:r>
            <a:r>
              <a:rPr lang="en-US" dirty="0"/>
              <a:t> e </a:t>
            </a:r>
            <a:r>
              <a:rPr lang="en-US" dirty="0" err="1"/>
              <a:t>tre</a:t>
            </a:r>
            <a:r>
              <a:rPr lang="en-US" dirty="0"/>
              <a:t>:</a:t>
            </a:r>
          </a:p>
          <a:p>
            <a:pPr lvl="1"/>
            <a:r>
              <a:rPr lang="en-US" dirty="0"/>
              <a:t>Il </a:t>
            </a:r>
            <a:r>
              <a:rPr lang="en-US" dirty="0" err="1"/>
              <a:t>parametro</a:t>
            </a:r>
            <a:r>
              <a:rPr lang="en-US" dirty="0"/>
              <a:t> </a:t>
            </a:r>
            <a:r>
              <a:rPr lang="en-US" dirty="0" err="1"/>
              <a:t>è</a:t>
            </a:r>
            <a:r>
              <a:rPr lang="en-US" dirty="0"/>
              <a:t> una </a:t>
            </a:r>
            <a:r>
              <a:rPr lang="en-US" dirty="0" err="1"/>
              <a:t>stringa</a:t>
            </a:r>
            <a:r>
              <a:rPr lang="en-US" dirty="0"/>
              <a:t> con la query </a:t>
            </a:r>
            <a:r>
              <a:rPr lang="en-US" dirty="0" err="1"/>
              <a:t>jpql</a:t>
            </a:r>
            <a:r>
              <a:rPr lang="en-US" dirty="0"/>
              <a:t>/named/SQL</a:t>
            </a:r>
          </a:p>
        </p:txBody>
      </p:sp>
    </p:spTree>
    <p:extLst>
      <p:ext uri="{BB962C8B-B14F-4D97-AF65-F5344CB8AC3E}">
        <p14:creationId xmlns:p14="http://schemas.microsoft.com/office/powerpoint/2010/main" val="1814475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JPQL: </a:t>
            </a:r>
            <a:r>
              <a:rPr lang="en-US" dirty="0" err="1"/>
              <a:t>Creazione</a:t>
            </a:r>
            <a:r>
              <a:rPr lang="en-US" dirty="0"/>
              <a:t> Query UPDATE/DELETE</a:t>
            </a:r>
          </a:p>
        </p:txBody>
      </p:sp>
      <p:sp>
        <p:nvSpPr>
          <p:cNvPr id="3" name="Segnaposto contenuto 2"/>
          <p:cNvSpPr>
            <a:spLocks noGrp="1"/>
          </p:cNvSpPr>
          <p:nvPr>
            <p:ph idx="1"/>
          </p:nvPr>
        </p:nvSpPr>
        <p:spPr/>
        <p:txBody>
          <a:bodyPr>
            <a:normAutofit fontScale="92500"/>
          </a:bodyPr>
          <a:lstStyle/>
          <a:p>
            <a:r>
              <a:rPr lang="en-US" dirty="0" err="1"/>
              <a:t>Creazione</a:t>
            </a:r>
            <a:r>
              <a:rPr lang="en-US" dirty="0"/>
              <a:t> di una </a:t>
            </a:r>
            <a:r>
              <a:rPr lang="en-US" b="1" dirty="0"/>
              <a:t>dynamic query DELETE</a:t>
            </a:r>
            <a:r>
              <a:rPr lang="en-US" dirty="0"/>
              <a:t>:</a:t>
            </a:r>
          </a:p>
          <a:p>
            <a:pPr marL="0" indent="0">
              <a:buNone/>
            </a:pPr>
            <a:r>
              <a:rPr lang="it-IT" dirty="0"/>
              <a:t>Query </a:t>
            </a:r>
            <a:r>
              <a:rPr lang="it-IT" dirty="0" err="1"/>
              <a:t>deleteQuery</a:t>
            </a:r>
            <a:r>
              <a:rPr lang="it-IT" dirty="0"/>
              <a:t> = </a:t>
            </a:r>
            <a:r>
              <a:rPr lang="it-IT" i="1" dirty="0" err="1"/>
              <a:t>em</a:t>
            </a:r>
            <a:r>
              <a:rPr lang="it-IT" dirty="0" err="1"/>
              <a:t>.createQuery</a:t>
            </a:r>
            <a:r>
              <a:rPr lang="it-IT" dirty="0"/>
              <a:t>("</a:t>
            </a:r>
            <a:r>
              <a:rPr lang="it-IT" dirty="0">
                <a:highlight>
                  <a:srgbClr val="FFFF00"/>
                </a:highlight>
              </a:rPr>
              <a:t>DELETE FROM Product </a:t>
            </a:r>
            <a:r>
              <a:rPr lang="it-IT" dirty="0" err="1">
                <a:highlight>
                  <a:srgbClr val="FFFF00"/>
                </a:highlight>
              </a:rPr>
              <a:t>p</a:t>
            </a:r>
            <a:r>
              <a:rPr lang="it-IT" dirty="0"/>
              <a:t>"); </a:t>
            </a:r>
          </a:p>
          <a:p>
            <a:pPr marL="0" indent="0">
              <a:buNone/>
            </a:pPr>
            <a:endParaRPr lang="en-US" dirty="0"/>
          </a:p>
          <a:p>
            <a:r>
              <a:rPr lang="en-US" dirty="0" err="1"/>
              <a:t>Creazione</a:t>
            </a:r>
            <a:r>
              <a:rPr lang="en-US" dirty="0"/>
              <a:t> di una </a:t>
            </a:r>
            <a:r>
              <a:rPr lang="en-US" b="1" dirty="0"/>
              <a:t>named query DELETE</a:t>
            </a:r>
            <a:r>
              <a:rPr lang="en-US" dirty="0"/>
              <a:t>:</a:t>
            </a:r>
          </a:p>
          <a:p>
            <a:pPr marL="0" indent="0">
              <a:buNone/>
            </a:pPr>
            <a:r>
              <a:rPr lang="it-IT" dirty="0"/>
              <a:t>Query </a:t>
            </a:r>
            <a:r>
              <a:rPr lang="it-IT" dirty="0" err="1"/>
              <a:t>deleteQuery</a:t>
            </a:r>
            <a:r>
              <a:rPr lang="it-IT" dirty="0"/>
              <a:t> = </a:t>
            </a:r>
            <a:r>
              <a:rPr lang="it-IT" i="1" dirty="0" err="1"/>
              <a:t>em</a:t>
            </a:r>
            <a:r>
              <a:rPr lang="it-IT" dirty="0" err="1"/>
              <a:t>.createNamedQuery</a:t>
            </a:r>
            <a:r>
              <a:rPr lang="it-IT" dirty="0"/>
              <a:t>("</a:t>
            </a:r>
            <a:r>
              <a:rPr lang="it-IT" dirty="0" err="1">
                <a:highlight>
                  <a:srgbClr val="FFFF00"/>
                </a:highlight>
              </a:rPr>
              <a:t>deleteAllProducts</a:t>
            </a:r>
            <a:r>
              <a:rPr lang="it-IT" dirty="0"/>
              <a:t>");</a:t>
            </a:r>
          </a:p>
          <a:p>
            <a:pPr marL="0" indent="0">
              <a:buNone/>
            </a:pPr>
            <a:endParaRPr lang="it-IT" dirty="0"/>
          </a:p>
          <a:p>
            <a:r>
              <a:rPr lang="en-US" dirty="0" err="1"/>
              <a:t>Creazione</a:t>
            </a:r>
            <a:r>
              <a:rPr lang="en-US" dirty="0"/>
              <a:t> di una </a:t>
            </a:r>
            <a:r>
              <a:rPr lang="en-US" b="1" dirty="0"/>
              <a:t>native query DELETE</a:t>
            </a:r>
            <a:r>
              <a:rPr lang="en-US" dirty="0"/>
              <a:t>:</a:t>
            </a:r>
          </a:p>
          <a:p>
            <a:pPr marL="0" indent="0">
              <a:buNone/>
            </a:pPr>
            <a:r>
              <a:rPr lang="it-IT" dirty="0"/>
              <a:t>Query </a:t>
            </a:r>
            <a:r>
              <a:rPr lang="it-IT" dirty="0" err="1"/>
              <a:t>deleteQuery</a:t>
            </a:r>
            <a:r>
              <a:rPr lang="it-IT" dirty="0"/>
              <a:t> = </a:t>
            </a:r>
            <a:r>
              <a:rPr lang="it-IT" i="1" dirty="0" err="1"/>
              <a:t>em</a:t>
            </a:r>
            <a:r>
              <a:rPr lang="it-IT" dirty="0" err="1"/>
              <a:t>.createNativeQuery</a:t>
            </a:r>
            <a:r>
              <a:rPr lang="it-IT" dirty="0"/>
              <a:t>("</a:t>
            </a:r>
            <a:r>
              <a:rPr lang="it-IT" dirty="0">
                <a:highlight>
                  <a:srgbClr val="FFFF00"/>
                </a:highlight>
              </a:rPr>
              <a:t>DELETE FROM </a:t>
            </a:r>
            <a:r>
              <a:rPr lang="it-IT" dirty="0" err="1">
                <a:highlight>
                  <a:srgbClr val="FFFF00"/>
                </a:highlight>
              </a:rPr>
              <a:t>product</a:t>
            </a:r>
            <a:r>
              <a:rPr lang="it-IT" dirty="0"/>
              <a:t>");</a:t>
            </a:r>
          </a:p>
        </p:txBody>
      </p:sp>
      <p:sp>
        <p:nvSpPr>
          <p:cNvPr id="4" name="Fumetto 3 3">
            <a:extLst>
              <a:ext uri="{FF2B5EF4-FFF2-40B4-BE49-F238E27FC236}">
                <a16:creationId xmlns:a16="http://schemas.microsoft.com/office/drawing/2014/main" id="{9E8D3DFB-3B5F-3949-BF2B-6060B6E00FDD}"/>
              </a:ext>
            </a:extLst>
          </p:cNvPr>
          <p:cNvSpPr/>
          <p:nvPr/>
        </p:nvSpPr>
        <p:spPr>
          <a:xfrm>
            <a:off x="6261185" y="1947032"/>
            <a:ext cx="3314700" cy="790065"/>
          </a:xfrm>
          <a:prstGeom prst="wedgeEllipseCallout">
            <a:avLst>
              <a:gd name="adj1" fmla="val -45234"/>
              <a:gd name="adj2" fmla="val 59875"/>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50" dirty="0">
                <a:latin typeface="Calibri Light" panose="020F0302020204030204" pitchFamily="34" charset="0"/>
              </a:rPr>
              <a:t>E' </a:t>
            </a:r>
            <a:r>
              <a:rPr lang="en-US" sz="1350" dirty="0" err="1">
                <a:latin typeface="Calibri Light" panose="020F0302020204030204" pitchFamily="34" charset="0"/>
              </a:rPr>
              <a:t>il</a:t>
            </a:r>
            <a:r>
              <a:rPr lang="en-US" sz="1350" dirty="0">
                <a:latin typeface="Calibri Light" panose="020F0302020204030204" pitchFamily="34" charset="0"/>
              </a:rPr>
              <a:t> </a:t>
            </a:r>
            <a:r>
              <a:rPr lang="en-US" sz="1350" dirty="0" err="1">
                <a:latin typeface="Calibri Light" panose="020F0302020204030204" pitchFamily="34" charset="0"/>
              </a:rPr>
              <a:t>nome</a:t>
            </a:r>
            <a:r>
              <a:rPr lang="en-US" sz="1350" dirty="0">
                <a:latin typeface="Calibri Light" panose="020F0302020204030204" pitchFamily="34" charset="0"/>
              </a:rPr>
              <a:t> di una </a:t>
            </a:r>
            <a:r>
              <a:rPr lang="en-US" sz="1350" dirty="0" err="1">
                <a:latin typeface="Calibri Light" panose="020F0302020204030204" pitchFamily="34" charset="0"/>
              </a:rPr>
              <a:t>NamedQuery</a:t>
            </a:r>
            <a:r>
              <a:rPr lang="en-US" sz="1350" dirty="0">
                <a:latin typeface="Calibri Light" panose="020F0302020204030204" pitchFamily="34" charset="0"/>
              </a:rPr>
              <a:t> </a:t>
            </a:r>
            <a:r>
              <a:rPr lang="en-US" sz="1350" dirty="0" err="1">
                <a:latin typeface="Calibri Light" panose="020F0302020204030204" pitchFamily="34" charset="0"/>
              </a:rPr>
              <a:t>definita</a:t>
            </a:r>
            <a:r>
              <a:rPr lang="en-US" sz="1350" dirty="0">
                <a:latin typeface="Calibri Light" panose="020F0302020204030204" pitchFamily="34" charset="0"/>
              </a:rPr>
              <a:t> </a:t>
            </a:r>
            <a:r>
              <a:rPr lang="en-US" sz="1350" dirty="0" err="1">
                <a:latin typeface="Calibri Light" panose="020F0302020204030204" pitchFamily="34" charset="0"/>
              </a:rPr>
              <a:t>nella</a:t>
            </a:r>
            <a:r>
              <a:rPr lang="en-US" sz="1350" dirty="0">
                <a:latin typeface="Calibri Light" panose="020F0302020204030204" pitchFamily="34" charset="0"/>
              </a:rPr>
              <a:t> entity (</a:t>
            </a:r>
            <a:r>
              <a:rPr lang="en-US" sz="1350" dirty="0" err="1">
                <a:latin typeface="Calibri Light" panose="020F0302020204030204" pitchFamily="34" charset="0"/>
              </a:rPr>
              <a:t>vedi</a:t>
            </a:r>
            <a:r>
              <a:rPr lang="en-US" sz="1350" dirty="0">
                <a:latin typeface="Calibri Light" panose="020F0302020204030204" pitchFamily="34" charset="0"/>
              </a:rPr>
              <a:t> slide </a:t>
            </a:r>
            <a:r>
              <a:rPr lang="en-US" sz="1350" dirty="0" err="1">
                <a:latin typeface="Calibri Light" panose="020F0302020204030204" pitchFamily="34" charset="0"/>
              </a:rPr>
              <a:t>precedente</a:t>
            </a:r>
            <a:r>
              <a:rPr lang="en-US" sz="1350" dirty="0">
                <a:latin typeface="Calibri Light" panose="020F0302020204030204" pitchFamily="34" charset="0"/>
              </a:rPr>
              <a:t>)</a:t>
            </a:r>
          </a:p>
        </p:txBody>
      </p:sp>
      <p:sp>
        <p:nvSpPr>
          <p:cNvPr id="5" name="Fumetto 3 4">
            <a:extLst>
              <a:ext uri="{FF2B5EF4-FFF2-40B4-BE49-F238E27FC236}">
                <a16:creationId xmlns:a16="http://schemas.microsoft.com/office/drawing/2014/main" id="{5854F27E-497E-2847-BE62-47C96CB4F45F}"/>
              </a:ext>
            </a:extLst>
          </p:cNvPr>
          <p:cNvSpPr/>
          <p:nvPr/>
        </p:nvSpPr>
        <p:spPr>
          <a:xfrm>
            <a:off x="6562214" y="3477985"/>
            <a:ext cx="2245178" cy="465364"/>
          </a:xfrm>
          <a:prstGeom prst="wedgeEllipseCallout">
            <a:avLst>
              <a:gd name="adj1" fmla="val -64352"/>
              <a:gd name="adj2" fmla="val 88815"/>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50" dirty="0">
                <a:latin typeface="Calibri Light" panose="020F0302020204030204" pitchFamily="34" charset="0"/>
              </a:rPr>
              <a:t>E' una query SQL</a:t>
            </a:r>
          </a:p>
        </p:txBody>
      </p:sp>
      <p:sp>
        <p:nvSpPr>
          <p:cNvPr id="6" name="Fumetto 3 5">
            <a:extLst>
              <a:ext uri="{FF2B5EF4-FFF2-40B4-BE49-F238E27FC236}">
                <a16:creationId xmlns:a16="http://schemas.microsoft.com/office/drawing/2014/main" id="{6EF42D68-AFD9-4249-8098-BFAB3328D0A5}"/>
              </a:ext>
            </a:extLst>
          </p:cNvPr>
          <p:cNvSpPr/>
          <p:nvPr/>
        </p:nvSpPr>
        <p:spPr>
          <a:xfrm>
            <a:off x="6562214" y="967469"/>
            <a:ext cx="2245178" cy="465364"/>
          </a:xfrm>
          <a:prstGeom prst="wedgeEllipseCallout">
            <a:avLst>
              <a:gd name="adj1" fmla="val -83988"/>
              <a:gd name="adj2" fmla="val 87061"/>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50" dirty="0">
                <a:latin typeface="Calibri Light" panose="020F0302020204030204" pitchFamily="34" charset="0"/>
              </a:rPr>
              <a:t>E' una query JPQL</a:t>
            </a:r>
          </a:p>
        </p:txBody>
      </p:sp>
    </p:spTree>
    <p:extLst>
      <p:ext uri="{BB962C8B-B14F-4D97-AF65-F5344CB8AC3E}">
        <p14:creationId xmlns:p14="http://schemas.microsoft.com/office/powerpoint/2010/main" val="1491626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JPQL: </a:t>
            </a:r>
            <a:r>
              <a:rPr lang="en-US" dirty="0" err="1"/>
              <a:t>Esecuzione</a:t>
            </a:r>
            <a:r>
              <a:rPr lang="en-US" dirty="0"/>
              <a:t> Query UPDATE/DELETE</a:t>
            </a:r>
          </a:p>
        </p:txBody>
      </p:sp>
      <p:sp>
        <p:nvSpPr>
          <p:cNvPr id="3" name="Segnaposto contenuto 2"/>
          <p:cNvSpPr>
            <a:spLocks noGrp="1"/>
          </p:cNvSpPr>
          <p:nvPr>
            <p:ph idx="1"/>
          </p:nvPr>
        </p:nvSpPr>
        <p:spPr/>
        <p:txBody>
          <a:bodyPr>
            <a:normAutofit/>
          </a:bodyPr>
          <a:lstStyle/>
          <a:p>
            <a:r>
              <a:rPr lang="en-US" dirty="0" err="1"/>
              <a:t>L'esecuzione</a:t>
            </a:r>
            <a:r>
              <a:rPr lang="en-US" dirty="0"/>
              <a:t> di una dynamic/named/native query UPDATE/DELETE </a:t>
            </a:r>
            <a:r>
              <a:rPr lang="en-US" dirty="0" err="1"/>
              <a:t>mediante</a:t>
            </a:r>
            <a:r>
              <a:rPr lang="en-US" dirty="0"/>
              <a:t> </a:t>
            </a:r>
            <a:r>
              <a:rPr lang="en-US" dirty="0" err="1"/>
              <a:t>il</a:t>
            </a:r>
            <a:r>
              <a:rPr lang="en-US" dirty="0"/>
              <a:t> </a:t>
            </a:r>
            <a:r>
              <a:rPr lang="en-US" dirty="0" err="1"/>
              <a:t>metodo</a:t>
            </a:r>
            <a:r>
              <a:rPr lang="en-US" dirty="0"/>
              <a:t> </a:t>
            </a:r>
            <a:r>
              <a:rPr lang="en-US" dirty="0" err="1"/>
              <a:t>dell'interface</a:t>
            </a:r>
            <a:r>
              <a:rPr lang="en-US" dirty="0"/>
              <a:t> Query</a:t>
            </a:r>
          </a:p>
          <a:p>
            <a:pPr lvl="1"/>
            <a:r>
              <a:rPr lang="en-US" dirty="0"/>
              <a:t>int </a:t>
            </a:r>
            <a:r>
              <a:rPr lang="en-US" dirty="0" err="1"/>
              <a:t>executeUpdate</a:t>
            </a:r>
            <a:r>
              <a:rPr lang="en-US" dirty="0"/>
              <a:t>()</a:t>
            </a:r>
          </a:p>
          <a:p>
            <a:r>
              <a:rPr lang="en-US" dirty="0"/>
              <a:t>Il </a:t>
            </a:r>
            <a:r>
              <a:rPr lang="en-US" dirty="0" err="1"/>
              <a:t>metodo</a:t>
            </a:r>
            <a:r>
              <a:rPr lang="en-US" dirty="0"/>
              <a:t> </a:t>
            </a:r>
            <a:r>
              <a:rPr lang="en-US" dirty="0" err="1"/>
              <a:t>ritorna</a:t>
            </a:r>
            <a:r>
              <a:rPr lang="en-US" dirty="0"/>
              <a:t> </a:t>
            </a:r>
            <a:r>
              <a:rPr lang="en-US" dirty="0" err="1"/>
              <a:t>il</a:t>
            </a:r>
            <a:r>
              <a:rPr lang="en-US" dirty="0"/>
              <a:t> </a:t>
            </a:r>
            <a:r>
              <a:rPr lang="en-US" dirty="0" err="1"/>
              <a:t>numero</a:t>
            </a:r>
            <a:r>
              <a:rPr lang="en-US" dirty="0"/>
              <a:t> di </a:t>
            </a:r>
            <a:r>
              <a:rPr lang="en-US" dirty="0" err="1"/>
              <a:t>righe</a:t>
            </a:r>
            <a:r>
              <a:rPr lang="en-US" dirty="0"/>
              <a:t> </a:t>
            </a:r>
            <a:r>
              <a:rPr lang="en-US" dirty="0" err="1"/>
              <a:t>che</a:t>
            </a:r>
            <a:r>
              <a:rPr lang="en-US" dirty="0"/>
              <a:t> </a:t>
            </a:r>
            <a:r>
              <a:rPr lang="en-US" dirty="0" err="1"/>
              <a:t>sono</a:t>
            </a:r>
            <a:r>
              <a:rPr lang="en-US" dirty="0"/>
              <a:t> state </a:t>
            </a:r>
            <a:r>
              <a:rPr lang="en-US" dirty="0" err="1"/>
              <a:t>aggiornate</a:t>
            </a:r>
            <a:r>
              <a:rPr lang="en-US" dirty="0"/>
              <a:t>/cancellate </a:t>
            </a:r>
            <a:r>
              <a:rPr lang="it-IT" dirty="0"/>
              <a:t>nel database</a:t>
            </a:r>
          </a:p>
          <a:p>
            <a:r>
              <a:rPr lang="en-US" dirty="0" err="1">
                <a:highlight>
                  <a:srgbClr val="FFFF00"/>
                </a:highlight>
              </a:rPr>
              <a:t>L'esecuzione</a:t>
            </a:r>
            <a:r>
              <a:rPr lang="en-US" dirty="0">
                <a:highlight>
                  <a:srgbClr val="FFFF00"/>
                </a:highlight>
              </a:rPr>
              <a:t> di una query UPDATE/DELETE </a:t>
            </a:r>
            <a:r>
              <a:rPr lang="en-US" dirty="0" err="1">
                <a:highlight>
                  <a:srgbClr val="FFFF00"/>
                </a:highlight>
              </a:rPr>
              <a:t>deve</a:t>
            </a:r>
            <a:r>
              <a:rPr lang="en-US" dirty="0">
                <a:highlight>
                  <a:srgbClr val="FFFF00"/>
                </a:highlight>
              </a:rPr>
              <a:t> </a:t>
            </a:r>
            <a:r>
              <a:rPr lang="en-US" dirty="0" err="1">
                <a:highlight>
                  <a:srgbClr val="FFFF00"/>
                </a:highlight>
              </a:rPr>
              <a:t>essere</a:t>
            </a:r>
            <a:r>
              <a:rPr lang="en-US" dirty="0">
                <a:highlight>
                  <a:srgbClr val="FFFF00"/>
                </a:highlight>
              </a:rPr>
              <a:t> </a:t>
            </a:r>
            <a:r>
              <a:rPr lang="en-US" dirty="0" err="1">
                <a:highlight>
                  <a:srgbClr val="FFFF00"/>
                </a:highlight>
              </a:rPr>
              <a:t>effettuata</a:t>
            </a:r>
            <a:r>
              <a:rPr lang="en-US" dirty="0">
                <a:highlight>
                  <a:srgbClr val="FFFF00"/>
                </a:highlight>
              </a:rPr>
              <a:t> in una </a:t>
            </a:r>
            <a:r>
              <a:rPr lang="en-US" dirty="0" err="1">
                <a:highlight>
                  <a:srgbClr val="FFFF00"/>
                </a:highlight>
              </a:rPr>
              <a:t>transazione</a:t>
            </a:r>
            <a:r>
              <a:rPr lang="en-US" dirty="0">
                <a:highlight>
                  <a:srgbClr val="FFFF00"/>
                </a:highlight>
              </a:rPr>
              <a:t> (</a:t>
            </a:r>
            <a:r>
              <a:rPr lang="en-US" dirty="0" err="1">
                <a:highlight>
                  <a:srgbClr val="FFFF00"/>
                </a:highlight>
              </a:rPr>
              <a:t>perchè</a:t>
            </a:r>
            <a:r>
              <a:rPr lang="en-US" dirty="0">
                <a:highlight>
                  <a:srgbClr val="FFFF00"/>
                </a:highlight>
              </a:rPr>
              <a:t> </a:t>
            </a:r>
            <a:r>
              <a:rPr lang="en-US" dirty="0" err="1">
                <a:highlight>
                  <a:srgbClr val="FFFF00"/>
                </a:highlight>
              </a:rPr>
              <a:t>modifica</a:t>
            </a:r>
            <a:r>
              <a:rPr lang="en-US" dirty="0">
                <a:highlight>
                  <a:srgbClr val="FFFF00"/>
                </a:highlight>
              </a:rPr>
              <a:t> </a:t>
            </a:r>
            <a:r>
              <a:rPr lang="en-US" dirty="0" err="1">
                <a:highlight>
                  <a:srgbClr val="FFFF00"/>
                </a:highlight>
              </a:rPr>
              <a:t>il</a:t>
            </a:r>
            <a:r>
              <a:rPr lang="en-US" dirty="0">
                <a:highlight>
                  <a:srgbClr val="FFFF00"/>
                </a:highlight>
              </a:rPr>
              <a:t> database)</a:t>
            </a:r>
          </a:p>
        </p:txBody>
      </p:sp>
    </p:spTree>
    <p:extLst>
      <p:ext uri="{BB962C8B-B14F-4D97-AF65-F5344CB8AC3E}">
        <p14:creationId xmlns:p14="http://schemas.microsoft.com/office/powerpoint/2010/main" val="1336078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75E133-3828-B84C-A94A-A8304AAD76EA}"/>
              </a:ext>
            </a:extLst>
          </p:cNvPr>
          <p:cNvSpPr>
            <a:spLocks noGrp="1"/>
          </p:cNvSpPr>
          <p:nvPr>
            <p:ph type="title"/>
          </p:nvPr>
        </p:nvSpPr>
        <p:spPr/>
        <p:txBody>
          <a:bodyPr>
            <a:normAutofit/>
          </a:bodyPr>
          <a:lstStyle/>
          <a:p>
            <a:r>
              <a:rPr lang="en-US" dirty="0"/>
              <a:t>JPQL: </a:t>
            </a:r>
            <a:r>
              <a:rPr lang="en-US" dirty="0" err="1"/>
              <a:t>Esecuzione</a:t>
            </a:r>
            <a:r>
              <a:rPr lang="en-US" dirty="0"/>
              <a:t> Query UPDATE/DELETE</a:t>
            </a:r>
          </a:p>
        </p:txBody>
      </p:sp>
      <p:sp>
        <p:nvSpPr>
          <p:cNvPr id="5" name="Segnaposto contenuto 4">
            <a:extLst>
              <a:ext uri="{FF2B5EF4-FFF2-40B4-BE49-F238E27FC236}">
                <a16:creationId xmlns:a16="http://schemas.microsoft.com/office/drawing/2014/main" id="{63AB02DB-19D3-174B-A1B3-D283FA3C4FAF}"/>
              </a:ext>
            </a:extLst>
          </p:cNvPr>
          <p:cNvSpPr>
            <a:spLocks noGrp="1"/>
          </p:cNvSpPr>
          <p:nvPr>
            <p:ph idx="1"/>
          </p:nvPr>
        </p:nvSpPr>
        <p:spPr/>
        <p:txBody>
          <a:bodyPr>
            <a:normAutofit/>
          </a:bodyPr>
          <a:lstStyle/>
          <a:p>
            <a:pPr marL="0" indent="0">
              <a:buNone/>
            </a:pPr>
            <a:r>
              <a:rPr lang="en-US" dirty="0" err="1"/>
              <a:t>Esecuzione</a:t>
            </a:r>
            <a:r>
              <a:rPr lang="en-US" dirty="0"/>
              <a:t> di una </a:t>
            </a:r>
            <a:r>
              <a:rPr lang="en-US" b="1" dirty="0"/>
              <a:t>dynamic/named/native</a:t>
            </a:r>
            <a:r>
              <a:rPr lang="en-US" dirty="0"/>
              <a:t> query UPDATE/DELETE:</a:t>
            </a:r>
          </a:p>
          <a:p>
            <a:pPr marL="0" indent="0">
              <a:buNone/>
            </a:pPr>
            <a:endParaRPr lang="it-IT" i="1" dirty="0"/>
          </a:p>
          <a:p>
            <a:pPr marL="0" indent="0">
              <a:buNone/>
            </a:pPr>
            <a:r>
              <a:rPr lang="it-IT" i="1" dirty="0" err="1"/>
              <a:t>tx</a:t>
            </a:r>
            <a:r>
              <a:rPr lang="it-IT" dirty="0" err="1"/>
              <a:t>.begin</a:t>
            </a:r>
            <a:r>
              <a:rPr lang="it-IT" dirty="0"/>
              <a:t>();</a:t>
            </a:r>
          </a:p>
          <a:p>
            <a:pPr marL="0" indent="0">
              <a:buNone/>
            </a:pPr>
            <a:r>
              <a:rPr lang="it-IT" b="1" dirty="0" err="1"/>
              <a:t>int</a:t>
            </a:r>
            <a:r>
              <a:rPr lang="it-IT" dirty="0"/>
              <a:t> </a:t>
            </a:r>
            <a:r>
              <a:rPr lang="it-IT" dirty="0" err="1"/>
              <a:t>deletedRows</a:t>
            </a:r>
            <a:r>
              <a:rPr lang="it-IT" dirty="0"/>
              <a:t> = </a:t>
            </a:r>
            <a:r>
              <a:rPr lang="it-IT" dirty="0" err="1"/>
              <a:t>deleteQuery.executeUpdate</a:t>
            </a:r>
            <a:r>
              <a:rPr lang="it-IT" dirty="0"/>
              <a:t>();</a:t>
            </a:r>
          </a:p>
          <a:p>
            <a:pPr marL="0" indent="0">
              <a:buNone/>
            </a:pPr>
            <a:r>
              <a:rPr lang="it-IT" i="1" dirty="0" err="1"/>
              <a:t>tx</a:t>
            </a:r>
            <a:r>
              <a:rPr lang="it-IT" dirty="0" err="1"/>
              <a:t>.commit</a:t>
            </a:r>
            <a:r>
              <a:rPr lang="it-IT" dirty="0"/>
              <a:t>();</a:t>
            </a:r>
          </a:p>
          <a:p>
            <a:pPr marL="0" indent="0">
              <a:buNone/>
            </a:pPr>
            <a:endParaRPr lang="en-US" dirty="0"/>
          </a:p>
        </p:txBody>
      </p:sp>
    </p:spTree>
    <p:extLst>
      <p:ext uri="{BB962C8B-B14F-4D97-AF65-F5344CB8AC3E}">
        <p14:creationId xmlns:p14="http://schemas.microsoft.com/office/powerpoint/2010/main" val="3484348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5514F1F-FEE3-8DCB-1E73-19C9A1DCFCE2}"/>
              </a:ext>
            </a:extLst>
          </p:cNvPr>
          <p:cNvSpPr>
            <a:spLocks noGrp="1"/>
          </p:cNvSpPr>
          <p:nvPr>
            <p:ph type="title"/>
          </p:nvPr>
        </p:nvSpPr>
        <p:spPr/>
        <p:txBody>
          <a:bodyPr/>
          <a:lstStyle/>
          <a:p>
            <a:endParaRPr lang="en-US"/>
          </a:p>
        </p:txBody>
      </p:sp>
      <p:sp>
        <p:nvSpPr>
          <p:cNvPr id="3" name="Segnaposto contenuto 2">
            <a:extLst>
              <a:ext uri="{FF2B5EF4-FFF2-40B4-BE49-F238E27FC236}">
                <a16:creationId xmlns:a16="http://schemas.microsoft.com/office/drawing/2014/main" id="{B349AA0B-73EE-D0A6-E162-094CED6E09FB}"/>
              </a:ext>
            </a:extLst>
          </p:cNvPr>
          <p:cNvSpPr>
            <a:spLocks noGrp="1"/>
          </p:cNvSpPr>
          <p:nvPr>
            <p:ph idx="1"/>
          </p:nvPr>
        </p:nvSpPr>
        <p:spPr/>
        <p:txBody>
          <a:bodyPr/>
          <a:lstStyle/>
          <a:p>
            <a:endParaRPr lang="en-US"/>
          </a:p>
        </p:txBody>
      </p:sp>
      <p:pic>
        <p:nvPicPr>
          <p:cNvPr id="3074" name="Picture 2" descr="Jet Privati | Guida di velivoli | Air Partner">
            <a:extLst>
              <a:ext uri="{FF2B5EF4-FFF2-40B4-BE49-F238E27FC236}">
                <a16:creationId xmlns:a16="http://schemas.microsoft.com/office/drawing/2014/main" id="{4106A54E-1E61-A818-39B6-D1381A6D60A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235" b="2521"/>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3263AD29-1BDA-C107-4DA9-3CB120D09F9B}"/>
              </a:ext>
            </a:extLst>
          </p:cNvPr>
          <p:cNvSpPr txBox="1"/>
          <p:nvPr/>
        </p:nvSpPr>
        <p:spPr>
          <a:xfrm>
            <a:off x="295835" y="430710"/>
            <a:ext cx="2709331" cy="769441"/>
          </a:xfrm>
          <a:prstGeom prst="rect">
            <a:avLst/>
          </a:prstGeom>
          <a:noFill/>
        </p:spPr>
        <p:txBody>
          <a:bodyPr wrap="none" rtlCol="0">
            <a:spAutoFit/>
          </a:bodyPr>
          <a:lstStyle/>
          <a:p>
            <a:r>
              <a:rPr lang="en-US" sz="4400" b="1" dirty="0">
                <a:solidFill>
                  <a:srgbClr val="FF0000"/>
                </a:solidFill>
              </a:rPr>
              <a:t>Repository</a:t>
            </a:r>
          </a:p>
        </p:txBody>
      </p:sp>
    </p:spTree>
    <p:extLst>
      <p:ext uri="{BB962C8B-B14F-4D97-AF65-F5344CB8AC3E}">
        <p14:creationId xmlns:p14="http://schemas.microsoft.com/office/powerpoint/2010/main" val="390267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Repository</a:t>
            </a:r>
          </a:p>
        </p:txBody>
      </p:sp>
      <p:sp>
        <p:nvSpPr>
          <p:cNvPr id="3" name="Segnaposto contenuto 2"/>
          <p:cNvSpPr>
            <a:spLocks noGrp="1"/>
          </p:cNvSpPr>
          <p:nvPr>
            <p:ph idx="1"/>
          </p:nvPr>
        </p:nvSpPr>
        <p:spPr/>
        <p:txBody>
          <a:bodyPr>
            <a:normAutofit/>
          </a:bodyPr>
          <a:lstStyle/>
          <a:p>
            <a:r>
              <a:rPr lang="it-IT" dirty="0"/>
              <a:t>Il pattern </a:t>
            </a:r>
            <a:r>
              <a:rPr lang="it-IT" dirty="0" err="1"/>
              <a:t>Repository</a:t>
            </a:r>
            <a:r>
              <a:rPr lang="it-IT" dirty="0"/>
              <a:t> viene usato negli approcci Domain </a:t>
            </a:r>
            <a:r>
              <a:rPr lang="it-IT" dirty="0" err="1"/>
              <a:t>Driven</a:t>
            </a:r>
            <a:r>
              <a:rPr lang="it-IT" dirty="0"/>
              <a:t> Design (DDD)</a:t>
            </a:r>
          </a:p>
          <a:p>
            <a:r>
              <a:rPr lang="it-IT" dirty="0"/>
              <a:t>I </a:t>
            </a:r>
            <a:r>
              <a:rPr lang="it-IT" dirty="0" err="1"/>
              <a:t>repository</a:t>
            </a:r>
            <a:r>
              <a:rPr lang="it-IT" dirty="0"/>
              <a:t> sono oggetti che incapsulano la logica necessaria per l'accesso al database</a:t>
            </a:r>
          </a:p>
          <a:p>
            <a:r>
              <a:rPr lang="it-IT" dirty="0"/>
              <a:t>Favoriscono la manutenibilità del codice disaccoppiando la tecnologia utilizzata per accedere al database dal modello di dominio </a:t>
            </a:r>
          </a:p>
        </p:txBody>
      </p:sp>
    </p:spTree>
    <p:extLst>
      <p:ext uri="{BB962C8B-B14F-4D97-AF65-F5344CB8AC3E}">
        <p14:creationId xmlns:p14="http://schemas.microsoft.com/office/powerpoint/2010/main" val="268765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06DBB2C-6A89-D348-A520-DD58D15CD121}"/>
              </a:ext>
            </a:extLst>
          </p:cNvPr>
          <p:cNvSpPr>
            <a:spLocks noGrp="1"/>
          </p:cNvSpPr>
          <p:nvPr>
            <p:ph type="title"/>
          </p:nvPr>
        </p:nvSpPr>
        <p:spPr/>
        <p:txBody>
          <a:bodyPr/>
          <a:lstStyle/>
          <a:p>
            <a:r>
              <a:rPr lang="en-US" dirty="0"/>
              <a:t>Il pattern Repository</a:t>
            </a:r>
          </a:p>
        </p:txBody>
      </p:sp>
      <p:sp>
        <p:nvSpPr>
          <p:cNvPr id="3" name="Segnaposto contenuto 2">
            <a:extLst>
              <a:ext uri="{FF2B5EF4-FFF2-40B4-BE49-F238E27FC236}">
                <a16:creationId xmlns:a16="http://schemas.microsoft.com/office/drawing/2014/main" id="{EC4F99F7-96A7-9146-8B41-438C52E51A2B}"/>
              </a:ext>
            </a:extLst>
          </p:cNvPr>
          <p:cNvSpPr>
            <a:spLocks noGrp="1"/>
          </p:cNvSpPr>
          <p:nvPr>
            <p:ph idx="1"/>
          </p:nvPr>
        </p:nvSpPr>
        <p:spPr/>
        <p:txBody>
          <a:bodyPr>
            <a:normAutofit lnSpcReduction="10000"/>
          </a:bodyPr>
          <a:lstStyle/>
          <a:p>
            <a:r>
              <a:rPr lang="en-US" dirty="0"/>
              <a:t>Martin Fowler </a:t>
            </a:r>
            <a:r>
              <a:rPr lang="en-US" dirty="0" err="1"/>
              <a:t>descrive</a:t>
            </a:r>
            <a:r>
              <a:rPr lang="en-US" dirty="0"/>
              <a:t> </a:t>
            </a:r>
            <a:r>
              <a:rPr lang="en-US" dirty="0" err="1"/>
              <a:t>il</a:t>
            </a:r>
            <a:r>
              <a:rPr lang="en-US" dirty="0"/>
              <a:t> pattern repository </a:t>
            </a:r>
            <a:r>
              <a:rPr lang="en-US" dirty="0" err="1"/>
              <a:t>così</a:t>
            </a:r>
            <a:r>
              <a:rPr lang="en-US" dirty="0"/>
              <a:t>:</a:t>
            </a:r>
          </a:p>
          <a:p>
            <a:pPr lvl="1"/>
            <a:r>
              <a:rPr lang="it-IT" i="1" dirty="0"/>
              <a:t>A </a:t>
            </a:r>
            <a:r>
              <a:rPr lang="it-IT" i="1" dirty="0" err="1"/>
              <a:t>repository</a:t>
            </a:r>
            <a:r>
              <a:rPr lang="it-IT" i="1" dirty="0"/>
              <a:t> </a:t>
            </a:r>
            <a:r>
              <a:rPr lang="it-IT" i="1" dirty="0" err="1"/>
              <a:t>performs</a:t>
            </a:r>
            <a:r>
              <a:rPr lang="it-IT" i="1" dirty="0"/>
              <a:t> the </a:t>
            </a:r>
            <a:r>
              <a:rPr lang="it-IT" i="1" dirty="0" err="1"/>
              <a:t>tasks</a:t>
            </a:r>
            <a:r>
              <a:rPr lang="it-IT" i="1" dirty="0"/>
              <a:t> of an </a:t>
            </a:r>
            <a:r>
              <a:rPr lang="it-IT" b="1" i="1" dirty="0" err="1"/>
              <a:t>intermediary</a:t>
            </a:r>
            <a:r>
              <a:rPr lang="it-IT" b="1" i="1" dirty="0"/>
              <a:t> </a:t>
            </a:r>
            <a:r>
              <a:rPr lang="it-IT" b="1" i="1" dirty="0" err="1"/>
              <a:t>between</a:t>
            </a:r>
            <a:r>
              <a:rPr lang="it-IT" b="1" i="1" dirty="0"/>
              <a:t> the domain model </a:t>
            </a:r>
            <a:r>
              <a:rPr lang="it-IT" b="1" i="1" dirty="0" err="1"/>
              <a:t>layers</a:t>
            </a:r>
            <a:r>
              <a:rPr lang="it-IT" b="1" i="1" dirty="0"/>
              <a:t> and data </a:t>
            </a:r>
            <a:r>
              <a:rPr lang="it-IT" b="1" i="1" dirty="0" err="1"/>
              <a:t>mapping</a:t>
            </a:r>
            <a:r>
              <a:rPr lang="it-IT" i="1" dirty="0"/>
              <a:t>, </a:t>
            </a:r>
            <a:r>
              <a:rPr lang="it-IT" i="1" dirty="0" err="1"/>
              <a:t>acting</a:t>
            </a:r>
            <a:r>
              <a:rPr lang="it-IT" i="1" dirty="0"/>
              <a:t> in a </a:t>
            </a:r>
            <a:r>
              <a:rPr lang="it-IT" i="1" dirty="0" err="1"/>
              <a:t>similar</a:t>
            </a:r>
            <a:r>
              <a:rPr lang="it-IT" i="1" dirty="0"/>
              <a:t> way to </a:t>
            </a:r>
            <a:r>
              <a:rPr lang="it-IT" b="1" i="1" dirty="0"/>
              <a:t>a set of domain </a:t>
            </a:r>
            <a:r>
              <a:rPr lang="it-IT" b="1" i="1" dirty="0" err="1"/>
              <a:t>objects</a:t>
            </a:r>
            <a:r>
              <a:rPr lang="it-IT" b="1" i="1" dirty="0"/>
              <a:t> in </a:t>
            </a:r>
            <a:r>
              <a:rPr lang="it-IT" b="1" i="1" dirty="0" err="1"/>
              <a:t>memory</a:t>
            </a:r>
            <a:endParaRPr lang="it-IT" b="1" i="1" dirty="0"/>
          </a:p>
          <a:p>
            <a:pPr lvl="1"/>
            <a:r>
              <a:rPr lang="it-IT" i="1" dirty="0" err="1"/>
              <a:t>Conceptually</a:t>
            </a:r>
            <a:r>
              <a:rPr lang="it-IT" i="1" dirty="0"/>
              <a:t>, a </a:t>
            </a:r>
            <a:r>
              <a:rPr lang="it-IT" i="1" dirty="0" err="1"/>
              <a:t>repository</a:t>
            </a:r>
            <a:r>
              <a:rPr lang="it-IT" i="1" dirty="0"/>
              <a:t> </a:t>
            </a:r>
            <a:r>
              <a:rPr lang="it-IT" i="1" dirty="0" err="1"/>
              <a:t>encapsulates</a:t>
            </a:r>
            <a:r>
              <a:rPr lang="it-IT" i="1" dirty="0"/>
              <a:t> a set of </a:t>
            </a:r>
            <a:r>
              <a:rPr lang="it-IT" i="1" dirty="0" err="1"/>
              <a:t>objects</a:t>
            </a:r>
            <a:r>
              <a:rPr lang="it-IT" i="1" dirty="0"/>
              <a:t> </a:t>
            </a:r>
            <a:r>
              <a:rPr lang="it-IT" i="1" dirty="0" err="1"/>
              <a:t>stored</a:t>
            </a:r>
            <a:r>
              <a:rPr lang="it-IT" i="1" dirty="0"/>
              <a:t> in the database and </a:t>
            </a:r>
            <a:r>
              <a:rPr lang="it-IT" i="1" dirty="0" err="1"/>
              <a:t>operations</a:t>
            </a:r>
            <a:r>
              <a:rPr lang="it-IT" i="1" dirty="0"/>
              <a:t> </a:t>
            </a:r>
            <a:r>
              <a:rPr lang="it-IT" i="1" dirty="0" err="1"/>
              <a:t>that</a:t>
            </a:r>
            <a:r>
              <a:rPr lang="it-IT" i="1" dirty="0"/>
              <a:t> can be </a:t>
            </a:r>
            <a:r>
              <a:rPr lang="it-IT" i="1" dirty="0" err="1"/>
              <a:t>performed</a:t>
            </a:r>
            <a:r>
              <a:rPr lang="it-IT" i="1" dirty="0"/>
              <a:t> on </a:t>
            </a:r>
            <a:r>
              <a:rPr lang="it-IT" i="1" dirty="0" err="1"/>
              <a:t>them</a:t>
            </a:r>
            <a:r>
              <a:rPr lang="it-IT" i="1" dirty="0"/>
              <a:t>, </a:t>
            </a:r>
            <a:r>
              <a:rPr lang="it-IT" i="1" dirty="0" err="1"/>
              <a:t>providing</a:t>
            </a:r>
            <a:r>
              <a:rPr lang="it-IT" i="1" dirty="0"/>
              <a:t> a way </a:t>
            </a:r>
            <a:r>
              <a:rPr lang="it-IT" i="1" dirty="0" err="1"/>
              <a:t>that</a:t>
            </a:r>
            <a:r>
              <a:rPr lang="it-IT" i="1" dirty="0"/>
              <a:t> </a:t>
            </a:r>
            <a:r>
              <a:rPr lang="it-IT" i="1" dirty="0" err="1"/>
              <a:t>is</a:t>
            </a:r>
            <a:r>
              <a:rPr lang="it-IT" i="1" dirty="0"/>
              <a:t> </a:t>
            </a:r>
            <a:r>
              <a:rPr lang="it-IT" i="1" dirty="0" err="1"/>
              <a:t>closer</a:t>
            </a:r>
            <a:r>
              <a:rPr lang="it-IT" i="1" dirty="0"/>
              <a:t> to the </a:t>
            </a:r>
            <a:r>
              <a:rPr lang="it-IT" i="1" dirty="0" err="1"/>
              <a:t>persistence</a:t>
            </a:r>
            <a:r>
              <a:rPr lang="it-IT" i="1" dirty="0"/>
              <a:t> </a:t>
            </a:r>
            <a:r>
              <a:rPr lang="it-IT" i="1" dirty="0" err="1"/>
              <a:t>layer</a:t>
            </a:r>
            <a:endParaRPr lang="it-IT" i="1" dirty="0"/>
          </a:p>
          <a:p>
            <a:pPr lvl="1"/>
            <a:r>
              <a:rPr lang="it-IT" i="1" dirty="0" err="1"/>
              <a:t>Repositories</a:t>
            </a:r>
            <a:r>
              <a:rPr lang="it-IT" i="1" dirty="0"/>
              <a:t>, </a:t>
            </a:r>
            <a:r>
              <a:rPr lang="it-IT" i="1" dirty="0" err="1"/>
              <a:t>also</a:t>
            </a:r>
            <a:r>
              <a:rPr lang="it-IT" i="1" dirty="0"/>
              <a:t>, </a:t>
            </a:r>
            <a:r>
              <a:rPr lang="it-IT" i="1" dirty="0" err="1"/>
              <a:t>support</a:t>
            </a:r>
            <a:r>
              <a:rPr lang="it-IT" i="1" dirty="0"/>
              <a:t> the </a:t>
            </a:r>
            <a:r>
              <a:rPr lang="it-IT" i="1" dirty="0" err="1"/>
              <a:t>purpose</a:t>
            </a:r>
            <a:r>
              <a:rPr lang="it-IT" i="1" dirty="0"/>
              <a:t> of </a:t>
            </a:r>
            <a:r>
              <a:rPr lang="it-IT" i="1" dirty="0" err="1"/>
              <a:t>separating</a:t>
            </a:r>
            <a:r>
              <a:rPr lang="it-IT" i="1" dirty="0"/>
              <a:t>, </a:t>
            </a:r>
            <a:r>
              <a:rPr lang="it-IT" i="1" dirty="0" err="1"/>
              <a:t>clearly</a:t>
            </a:r>
            <a:r>
              <a:rPr lang="it-IT" i="1" dirty="0"/>
              <a:t> and in </a:t>
            </a:r>
            <a:r>
              <a:rPr lang="it-IT" i="1" dirty="0" err="1"/>
              <a:t>one</a:t>
            </a:r>
            <a:r>
              <a:rPr lang="it-IT" i="1" dirty="0"/>
              <a:t> </a:t>
            </a:r>
            <a:r>
              <a:rPr lang="it-IT" i="1" dirty="0" err="1"/>
              <a:t>direction</a:t>
            </a:r>
            <a:r>
              <a:rPr lang="it-IT" i="1" dirty="0"/>
              <a:t>, the </a:t>
            </a:r>
            <a:r>
              <a:rPr lang="it-IT" i="1" dirty="0" err="1"/>
              <a:t>dependency</a:t>
            </a:r>
            <a:r>
              <a:rPr lang="it-IT" i="1" dirty="0"/>
              <a:t> </a:t>
            </a:r>
            <a:r>
              <a:rPr lang="it-IT" i="1" dirty="0" err="1"/>
              <a:t>between</a:t>
            </a:r>
            <a:r>
              <a:rPr lang="it-IT" i="1" dirty="0"/>
              <a:t> the work domain and the data </a:t>
            </a:r>
            <a:r>
              <a:rPr lang="it-IT" i="1" dirty="0" err="1"/>
              <a:t>allocation</a:t>
            </a:r>
            <a:r>
              <a:rPr lang="it-IT" i="1" dirty="0"/>
              <a:t> or </a:t>
            </a:r>
            <a:r>
              <a:rPr lang="it-IT" i="1" dirty="0" err="1"/>
              <a:t>mapping</a:t>
            </a:r>
            <a:endParaRPr lang="en-US" i="1" dirty="0"/>
          </a:p>
        </p:txBody>
      </p:sp>
      <p:sp>
        <p:nvSpPr>
          <p:cNvPr id="4" name="CasellaDiTesto 3">
            <a:extLst>
              <a:ext uri="{FF2B5EF4-FFF2-40B4-BE49-F238E27FC236}">
                <a16:creationId xmlns:a16="http://schemas.microsoft.com/office/drawing/2014/main" id="{AB19A0AA-5D03-7444-B725-79474DFC3C39}"/>
              </a:ext>
            </a:extLst>
          </p:cNvPr>
          <p:cNvSpPr txBox="1"/>
          <p:nvPr/>
        </p:nvSpPr>
        <p:spPr>
          <a:xfrm>
            <a:off x="4572000" y="4629744"/>
            <a:ext cx="4112472" cy="307777"/>
          </a:xfrm>
          <a:prstGeom prst="rect">
            <a:avLst/>
          </a:prstGeom>
          <a:noFill/>
        </p:spPr>
        <p:txBody>
          <a:bodyPr wrap="none" rtlCol="0">
            <a:spAutoFit/>
          </a:bodyPr>
          <a:lstStyle/>
          <a:p>
            <a:r>
              <a:rPr lang="en-US" sz="1400" dirty="0">
                <a:latin typeface="Calibri Light" panose="020F0302020204030204" pitchFamily="34" charset="0"/>
                <a:hlinkClick r:id="rId2"/>
              </a:rPr>
              <a:t>https://martinfowler.com/eaaCatalog/repository.html</a:t>
            </a:r>
            <a:endParaRPr lang="en-US" sz="1400" dirty="0">
              <a:latin typeface="Calibri Light" panose="020F0302020204030204" pitchFamily="34" charset="0"/>
            </a:endParaRPr>
          </a:p>
        </p:txBody>
      </p:sp>
    </p:spTree>
    <p:extLst>
      <p:ext uri="{BB962C8B-B14F-4D97-AF65-F5344CB8AC3E}">
        <p14:creationId xmlns:p14="http://schemas.microsoft.com/office/powerpoint/2010/main" val="1366452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00BB1E9-827F-5543-AD1E-413610E91997}"/>
              </a:ext>
            </a:extLst>
          </p:cNvPr>
          <p:cNvSpPr>
            <a:spLocks noGrp="1"/>
          </p:cNvSpPr>
          <p:nvPr>
            <p:ph type="title"/>
          </p:nvPr>
        </p:nvSpPr>
        <p:spPr/>
        <p:txBody>
          <a:bodyPr/>
          <a:lstStyle/>
          <a:p>
            <a:r>
              <a:rPr lang="en-US" dirty="0"/>
              <a:t>Il pattern Repository</a:t>
            </a:r>
          </a:p>
        </p:txBody>
      </p:sp>
      <p:sp>
        <p:nvSpPr>
          <p:cNvPr id="3" name="Segnaposto contenuto 2">
            <a:extLst>
              <a:ext uri="{FF2B5EF4-FFF2-40B4-BE49-F238E27FC236}">
                <a16:creationId xmlns:a16="http://schemas.microsoft.com/office/drawing/2014/main" id="{4CDBE6FA-5F9A-2648-B6A6-FC0BE41C6BE7}"/>
              </a:ext>
            </a:extLst>
          </p:cNvPr>
          <p:cNvSpPr>
            <a:spLocks noGrp="1"/>
          </p:cNvSpPr>
          <p:nvPr>
            <p:ph idx="1"/>
          </p:nvPr>
        </p:nvSpPr>
        <p:spPr/>
        <p:txBody>
          <a:bodyPr>
            <a:normAutofit fontScale="92500"/>
          </a:bodyPr>
          <a:lstStyle/>
          <a:p>
            <a:r>
              <a:rPr lang="en-US" dirty="0" err="1"/>
              <a:t>Possiamo</a:t>
            </a:r>
            <a:r>
              <a:rPr lang="en-US" dirty="0"/>
              <a:t> </a:t>
            </a:r>
            <a:r>
              <a:rPr lang="en-US" dirty="0" err="1"/>
              <a:t>pensare</a:t>
            </a:r>
            <a:r>
              <a:rPr lang="en-US" dirty="0"/>
              <a:t> un repository come ad una </a:t>
            </a:r>
            <a:r>
              <a:rPr lang="en-US" dirty="0" err="1"/>
              <a:t>collezione</a:t>
            </a:r>
            <a:r>
              <a:rPr lang="en-US" dirty="0"/>
              <a:t> </a:t>
            </a:r>
            <a:r>
              <a:rPr lang="en-US" dirty="0" err="1"/>
              <a:t>persistente</a:t>
            </a:r>
            <a:endParaRPr lang="en-US" dirty="0"/>
          </a:p>
          <a:p>
            <a:pPr lvl="1"/>
            <a:r>
              <a:rPr lang="en-US" dirty="0"/>
              <a:t>Il </a:t>
            </a:r>
            <a:r>
              <a:rPr lang="en-US" dirty="0" err="1"/>
              <a:t>programmatore</a:t>
            </a:r>
            <a:r>
              <a:rPr lang="en-US" dirty="0"/>
              <a:t>/</a:t>
            </a:r>
            <a:r>
              <a:rPr lang="en-US" dirty="0" err="1"/>
              <a:t>utilizzatore</a:t>
            </a:r>
            <a:r>
              <a:rPr lang="en-US" dirty="0"/>
              <a:t> </a:t>
            </a:r>
            <a:r>
              <a:rPr lang="en-US" dirty="0" err="1"/>
              <a:t>usa</a:t>
            </a:r>
            <a:r>
              <a:rPr lang="en-US" dirty="0"/>
              <a:t> </a:t>
            </a:r>
            <a:r>
              <a:rPr lang="en-US" dirty="0" err="1"/>
              <a:t>i</a:t>
            </a:r>
            <a:r>
              <a:rPr lang="en-US" dirty="0"/>
              <a:t> repository senza </a:t>
            </a:r>
            <a:r>
              <a:rPr lang="en-US" dirty="0" err="1"/>
              <a:t>che</a:t>
            </a:r>
            <a:r>
              <a:rPr lang="en-US" dirty="0"/>
              <a:t> </a:t>
            </a:r>
            <a:r>
              <a:rPr lang="en-US" dirty="0" err="1"/>
              <a:t>gli</a:t>
            </a:r>
            <a:r>
              <a:rPr lang="en-US" dirty="0"/>
              <a:t> </a:t>
            </a:r>
            <a:r>
              <a:rPr lang="en-US" dirty="0" err="1"/>
              <a:t>sia</a:t>
            </a:r>
            <a:r>
              <a:rPr lang="en-US" dirty="0"/>
              <a:t> </a:t>
            </a:r>
            <a:r>
              <a:rPr lang="en-US" dirty="0" err="1"/>
              <a:t>richiesto</a:t>
            </a:r>
            <a:r>
              <a:rPr lang="en-US" dirty="0"/>
              <a:t> di </a:t>
            </a:r>
            <a:r>
              <a:rPr lang="en-US" dirty="0" err="1"/>
              <a:t>conoscere</a:t>
            </a:r>
            <a:r>
              <a:rPr lang="en-US" dirty="0"/>
              <a:t> </a:t>
            </a:r>
            <a:r>
              <a:rPr lang="en-US" dirty="0" err="1"/>
              <a:t>i</a:t>
            </a:r>
            <a:r>
              <a:rPr lang="en-US" dirty="0"/>
              <a:t> </a:t>
            </a:r>
            <a:r>
              <a:rPr lang="en-US" dirty="0" err="1"/>
              <a:t>dettagli</a:t>
            </a:r>
            <a:r>
              <a:rPr lang="en-US" dirty="0"/>
              <a:t> di come </a:t>
            </a:r>
            <a:r>
              <a:rPr lang="en-US" dirty="0" err="1"/>
              <a:t>internamente</a:t>
            </a:r>
            <a:r>
              <a:rPr lang="en-US" dirty="0"/>
              <a:t> </a:t>
            </a:r>
            <a:r>
              <a:rPr lang="en-US" dirty="0" err="1"/>
              <a:t>viene</a:t>
            </a:r>
            <a:r>
              <a:rPr lang="en-US" dirty="0"/>
              <a:t> </a:t>
            </a:r>
            <a:r>
              <a:rPr lang="en-US" dirty="0" err="1"/>
              <a:t>gestita</a:t>
            </a:r>
            <a:r>
              <a:rPr lang="en-US" dirty="0"/>
              <a:t> la </a:t>
            </a:r>
            <a:r>
              <a:rPr lang="en-US" dirty="0" err="1"/>
              <a:t>persistenza</a:t>
            </a:r>
            <a:endParaRPr lang="en-US" dirty="0"/>
          </a:p>
          <a:p>
            <a:r>
              <a:rPr lang="en-US" dirty="0" err="1"/>
              <a:t>Definiamo</a:t>
            </a:r>
            <a:r>
              <a:rPr lang="en-US" dirty="0"/>
              <a:t> una </a:t>
            </a:r>
            <a:r>
              <a:rPr lang="en-US" dirty="0" err="1"/>
              <a:t>classe</a:t>
            </a:r>
            <a:r>
              <a:rPr lang="en-US" dirty="0"/>
              <a:t> Repository per (la </a:t>
            </a:r>
            <a:r>
              <a:rPr lang="en-US" dirty="0" err="1"/>
              <a:t>radice</a:t>
            </a:r>
            <a:r>
              <a:rPr lang="en-US" dirty="0"/>
              <a:t> di) </a:t>
            </a:r>
            <a:r>
              <a:rPr lang="en-US" dirty="0" err="1"/>
              <a:t>ogni</a:t>
            </a:r>
            <a:r>
              <a:rPr lang="en-US" dirty="0"/>
              <a:t> </a:t>
            </a:r>
            <a:r>
              <a:rPr lang="en-US" dirty="0" err="1"/>
              <a:t>aggregato</a:t>
            </a:r>
            <a:r>
              <a:rPr lang="en-US" dirty="0"/>
              <a:t> del </a:t>
            </a:r>
            <a:r>
              <a:rPr lang="en-US" dirty="0" err="1"/>
              <a:t>modello</a:t>
            </a:r>
            <a:r>
              <a:rPr lang="en-US" dirty="0"/>
              <a:t> di </a:t>
            </a:r>
            <a:r>
              <a:rPr lang="en-US" dirty="0" err="1"/>
              <a:t>dominio</a:t>
            </a:r>
            <a:endParaRPr lang="en-US" dirty="0"/>
          </a:p>
          <a:p>
            <a:r>
              <a:rPr lang="en-US" dirty="0"/>
              <a:t>Il repository </a:t>
            </a:r>
            <a:r>
              <a:rPr lang="en-US" dirty="0" err="1"/>
              <a:t>offre</a:t>
            </a:r>
            <a:r>
              <a:rPr lang="en-US" dirty="0"/>
              <a:t> </a:t>
            </a:r>
            <a:r>
              <a:rPr lang="en-US" dirty="0" err="1"/>
              <a:t>metodi</a:t>
            </a:r>
            <a:r>
              <a:rPr lang="en-US" dirty="0"/>
              <a:t> per </a:t>
            </a:r>
            <a:r>
              <a:rPr lang="en-US" dirty="0" err="1"/>
              <a:t>salvare</a:t>
            </a:r>
            <a:r>
              <a:rPr lang="en-US" dirty="0"/>
              <a:t>, </a:t>
            </a:r>
            <a:r>
              <a:rPr lang="en-US" dirty="0" err="1"/>
              <a:t>recuperare</a:t>
            </a:r>
            <a:r>
              <a:rPr lang="en-US" dirty="0"/>
              <a:t>, </a:t>
            </a:r>
            <a:r>
              <a:rPr lang="en-US" dirty="0" err="1"/>
              <a:t>cancellare</a:t>
            </a:r>
            <a:r>
              <a:rPr lang="en-US" dirty="0"/>
              <a:t> </a:t>
            </a:r>
            <a:r>
              <a:rPr lang="en-US" dirty="0" err="1"/>
              <a:t>oggetti</a:t>
            </a:r>
            <a:r>
              <a:rPr lang="en-US" dirty="0"/>
              <a:t> </a:t>
            </a:r>
            <a:r>
              <a:rPr lang="en-US" dirty="0" err="1"/>
              <a:t>dalla</a:t>
            </a:r>
            <a:r>
              <a:rPr lang="en-US" dirty="0"/>
              <a:t> </a:t>
            </a:r>
            <a:r>
              <a:rPr lang="en-US" dirty="0" err="1"/>
              <a:t>collezione</a:t>
            </a:r>
            <a:r>
              <a:rPr lang="en-US" dirty="0"/>
              <a:t>, </a:t>
            </a:r>
            <a:r>
              <a:rPr lang="en-US" dirty="0" err="1"/>
              <a:t>più</a:t>
            </a:r>
            <a:r>
              <a:rPr lang="en-US" dirty="0"/>
              <a:t> </a:t>
            </a:r>
            <a:r>
              <a:rPr lang="en-US" dirty="0" err="1"/>
              <a:t>altre</a:t>
            </a:r>
            <a:r>
              <a:rPr lang="en-US" dirty="0"/>
              <a:t> </a:t>
            </a:r>
            <a:r>
              <a:rPr lang="en-US" dirty="0" err="1"/>
              <a:t>funzioni</a:t>
            </a:r>
            <a:r>
              <a:rPr lang="en-US" dirty="0"/>
              <a:t> di </a:t>
            </a:r>
            <a:r>
              <a:rPr lang="en-US" dirty="0" err="1"/>
              <a:t>utilità</a:t>
            </a:r>
            <a:r>
              <a:rPr lang="en-US" dirty="0"/>
              <a:t> (ad es., </a:t>
            </a:r>
            <a:r>
              <a:rPr lang="en-US" dirty="0" err="1"/>
              <a:t>conteggio</a:t>
            </a:r>
            <a:r>
              <a:rPr lang="en-US" dirty="0"/>
              <a:t>, </a:t>
            </a:r>
            <a:r>
              <a:rPr lang="en-US" dirty="0" err="1"/>
              <a:t>verifica</a:t>
            </a:r>
            <a:r>
              <a:rPr lang="en-US" dirty="0"/>
              <a:t> di </a:t>
            </a:r>
            <a:r>
              <a:rPr lang="en-US" dirty="0" err="1"/>
              <a:t>esistenza</a:t>
            </a:r>
            <a:r>
              <a:rPr lang="en-US" dirty="0"/>
              <a:t>)</a:t>
            </a:r>
          </a:p>
        </p:txBody>
      </p:sp>
    </p:spTree>
    <p:extLst>
      <p:ext uri="{BB962C8B-B14F-4D97-AF65-F5344CB8AC3E}">
        <p14:creationId xmlns:p14="http://schemas.microsoft.com/office/powerpoint/2010/main" val="1827759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A41DAC2-EBD7-CB40-85BB-D155782F9834}"/>
              </a:ext>
            </a:extLst>
          </p:cNvPr>
          <p:cNvSpPr>
            <a:spLocks noGrp="1"/>
          </p:cNvSpPr>
          <p:nvPr>
            <p:ph type="title"/>
          </p:nvPr>
        </p:nvSpPr>
        <p:spPr/>
        <p:txBody>
          <a:bodyPr/>
          <a:lstStyle/>
          <a:p>
            <a:r>
              <a:rPr lang="it-IT" dirty="0"/>
              <a:t>Il pattern </a:t>
            </a:r>
            <a:r>
              <a:rPr lang="it-IT" dirty="0" err="1"/>
              <a:t>Repository</a:t>
            </a:r>
            <a:endParaRPr lang="it-IT" dirty="0"/>
          </a:p>
        </p:txBody>
      </p:sp>
      <p:sp>
        <p:nvSpPr>
          <p:cNvPr id="3" name="Segnaposto contenuto 2">
            <a:extLst>
              <a:ext uri="{FF2B5EF4-FFF2-40B4-BE49-F238E27FC236}">
                <a16:creationId xmlns:a16="http://schemas.microsoft.com/office/drawing/2014/main" id="{5DB407CC-69F4-B340-B538-44F67DDBE08D}"/>
              </a:ext>
            </a:extLst>
          </p:cNvPr>
          <p:cNvSpPr>
            <a:spLocks noGrp="1"/>
          </p:cNvSpPr>
          <p:nvPr>
            <p:ph idx="1"/>
          </p:nvPr>
        </p:nvSpPr>
        <p:spPr/>
        <p:txBody>
          <a:bodyPr>
            <a:normAutofit/>
          </a:bodyPr>
          <a:lstStyle/>
          <a:p>
            <a:r>
              <a:rPr lang="it-IT" dirty="0"/>
              <a:t>I metodi delle classi </a:t>
            </a:r>
            <a:r>
              <a:rPr lang="it-IT" dirty="0" err="1"/>
              <a:t>repository</a:t>
            </a:r>
            <a:r>
              <a:rPr lang="it-IT" dirty="0"/>
              <a:t> non devono essere transazionali, la transazione deve essere aperta (e chiusa) dall’oggetto che invoca il metodo del </a:t>
            </a:r>
            <a:r>
              <a:rPr lang="it-IT" dirty="0" err="1"/>
              <a:t>repository</a:t>
            </a:r>
            <a:endParaRPr lang="it-IT" dirty="0"/>
          </a:p>
          <a:p>
            <a:r>
              <a:rPr lang="it-IT" dirty="0"/>
              <a:t>Infatti, le operazioni offerte dal sistema (che usano i metodi dei </a:t>
            </a:r>
            <a:r>
              <a:rPr lang="it-IT" dirty="0" err="1"/>
              <a:t>repository</a:t>
            </a:r>
            <a:r>
              <a:rPr lang="it-IT" dirty="0"/>
              <a:t>) possono essere composte da più operazioni fornite da </a:t>
            </a:r>
            <a:r>
              <a:rPr lang="it-IT" dirty="0" err="1"/>
              <a:t>repository</a:t>
            </a:r>
            <a:r>
              <a:rPr lang="it-IT" dirty="0"/>
              <a:t> diversi: la transazione deve poter essere aperta e chiusa da chi usa i </a:t>
            </a:r>
            <a:r>
              <a:rPr lang="it-IT" dirty="0" err="1"/>
              <a:t>repository</a:t>
            </a:r>
            <a:endParaRPr lang="it-IT" dirty="0"/>
          </a:p>
          <a:p>
            <a:endParaRPr lang="it-IT" dirty="0"/>
          </a:p>
        </p:txBody>
      </p:sp>
    </p:spTree>
    <p:extLst>
      <p:ext uri="{BB962C8B-B14F-4D97-AF65-F5344CB8AC3E}">
        <p14:creationId xmlns:p14="http://schemas.microsoft.com/office/powerpoint/2010/main" val="355833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9812FB3-17A2-0443-AB32-747A7A489BE3}"/>
              </a:ext>
            </a:extLst>
          </p:cNvPr>
          <p:cNvSpPr>
            <a:spLocks noGrp="1"/>
          </p:cNvSpPr>
          <p:nvPr>
            <p:ph type="title"/>
          </p:nvPr>
        </p:nvSpPr>
        <p:spPr/>
        <p:txBody>
          <a:bodyPr/>
          <a:lstStyle/>
          <a:p>
            <a:r>
              <a:rPr lang="en-US" dirty="0" err="1"/>
              <a:t>Esempio</a:t>
            </a:r>
            <a:r>
              <a:rPr lang="en-US" dirty="0"/>
              <a:t> (</a:t>
            </a:r>
            <a:r>
              <a:rPr lang="en-US" dirty="0" err="1"/>
              <a:t>didattico</a:t>
            </a:r>
            <a:r>
              <a:rPr lang="en-US" dirty="0"/>
              <a:t>) di </a:t>
            </a:r>
            <a:r>
              <a:rPr lang="en-US" dirty="0" err="1"/>
              <a:t>implementazione</a:t>
            </a:r>
            <a:r>
              <a:rPr lang="en-US" dirty="0"/>
              <a:t> </a:t>
            </a:r>
          </a:p>
        </p:txBody>
      </p:sp>
      <p:sp>
        <p:nvSpPr>
          <p:cNvPr id="3" name="Segnaposto contenuto 2">
            <a:extLst>
              <a:ext uri="{FF2B5EF4-FFF2-40B4-BE49-F238E27FC236}">
                <a16:creationId xmlns:a16="http://schemas.microsoft.com/office/drawing/2014/main" id="{5B723513-D567-D54F-A98D-B274380C71E5}"/>
              </a:ext>
            </a:extLst>
          </p:cNvPr>
          <p:cNvSpPr>
            <a:spLocks noGrp="1"/>
          </p:cNvSpPr>
          <p:nvPr>
            <p:ph idx="1"/>
          </p:nvPr>
        </p:nvSpPr>
        <p:spPr/>
        <p:txBody>
          <a:bodyPr>
            <a:normAutofit fontScale="92500"/>
          </a:bodyPr>
          <a:lstStyle/>
          <a:p>
            <a:r>
              <a:rPr lang="en-US" dirty="0" err="1"/>
              <a:t>Vediamo</a:t>
            </a:r>
            <a:r>
              <a:rPr lang="en-US" dirty="0"/>
              <a:t> come </a:t>
            </a:r>
            <a:r>
              <a:rPr lang="en-US" dirty="0" err="1"/>
              <a:t>potremmo</a:t>
            </a:r>
            <a:r>
              <a:rPr lang="en-US" dirty="0"/>
              <a:t> </a:t>
            </a:r>
            <a:r>
              <a:rPr lang="en-US" dirty="0" err="1"/>
              <a:t>implementare</a:t>
            </a:r>
            <a:r>
              <a:rPr lang="en-US" dirty="0"/>
              <a:t> il pattern </a:t>
            </a:r>
            <a:r>
              <a:rPr lang="en-US" dirty="0" err="1"/>
              <a:t>prendendo</a:t>
            </a:r>
            <a:r>
              <a:rPr lang="en-US" dirty="0"/>
              <a:t> </a:t>
            </a:r>
            <a:r>
              <a:rPr lang="en-US" dirty="0" err="1"/>
              <a:t>spunto</a:t>
            </a:r>
            <a:r>
              <a:rPr lang="en-US" dirty="0"/>
              <a:t> </a:t>
            </a:r>
            <a:r>
              <a:rPr lang="en-US" dirty="0" err="1"/>
              <a:t>dalle</a:t>
            </a:r>
            <a:r>
              <a:rPr lang="en-US" dirty="0"/>
              <a:t> </a:t>
            </a:r>
            <a:r>
              <a:rPr lang="en-US" dirty="0" err="1"/>
              <a:t>entità</a:t>
            </a:r>
            <a:r>
              <a:rPr lang="en-US" dirty="0"/>
              <a:t> </a:t>
            </a:r>
            <a:r>
              <a:rPr lang="en-US" dirty="0" err="1"/>
              <a:t>che</a:t>
            </a:r>
            <a:r>
              <a:rPr lang="en-US" dirty="0"/>
              <a:t> </a:t>
            </a:r>
            <a:r>
              <a:rPr lang="en-US" dirty="0" err="1"/>
              <a:t>abbiamo</a:t>
            </a:r>
            <a:r>
              <a:rPr lang="en-US" dirty="0"/>
              <a:t> </a:t>
            </a:r>
            <a:r>
              <a:rPr lang="en-US" dirty="0" err="1"/>
              <a:t>già</a:t>
            </a:r>
            <a:r>
              <a:rPr lang="en-US" dirty="0"/>
              <a:t> </a:t>
            </a:r>
            <a:r>
              <a:rPr lang="en-US" dirty="0" err="1"/>
              <a:t>utilizzato</a:t>
            </a:r>
            <a:r>
              <a:rPr lang="en-US" dirty="0"/>
              <a:t> </a:t>
            </a:r>
            <a:r>
              <a:rPr lang="en-US" dirty="0" err="1"/>
              <a:t>nelle</a:t>
            </a:r>
            <a:r>
              <a:rPr lang="en-US" dirty="0"/>
              <a:t> </a:t>
            </a:r>
            <a:r>
              <a:rPr lang="en-US" dirty="0" err="1"/>
              <a:t>lezioni</a:t>
            </a:r>
            <a:r>
              <a:rPr lang="en-US" dirty="0"/>
              <a:t> </a:t>
            </a:r>
            <a:r>
              <a:rPr lang="en-US" dirty="0" err="1"/>
              <a:t>precedenti</a:t>
            </a:r>
            <a:endParaRPr lang="en-US" dirty="0"/>
          </a:p>
          <a:p>
            <a:r>
              <a:rPr lang="en-US" dirty="0"/>
              <a:t>Da un punto di vista </a:t>
            </a:r>
            <a:r>
              <a:rPr lang="en-US" dirty="0" err="1"/>
              <a:t>della</a:t>
            </a:r>
            <a:r>
              <a:rPr lang="en-US" dirty="0"/>
              <a:t> </a:t>
            </a:r>
            <a:r>
              <a:rPr lang="en-US" dirty="0" err="1"/>
              <a:t>organizzazione</a:t>
            </a:r>
            <a:r>
              <a:rPr lang="en-US" dirty="0"/>
              <a:t> </a:t>
            </a:r>
            <a:r>
              <a:rPr lang="en-US" dirty="0" err="1"/>
              <a:t>dei</a:t>
            </a:r>
            <a:r>
              <a:rPr lang="en-US" dirty="0"/>
              <a:t> package, </a:t>
            </a:r>
            <a:r>
              <a:rPr lang="en-US" dirty="0" err="1"/>
              <a:t>mettiamo</a:t>
            </a:r>
            <a:r>
              <a:rPr lang="en-US" dirty="0"/>
              <a:t> le </a:t>
            </a:r>
            <a:r>
              <a:rPr lang="en-US" dirty="0" err="1"/>
              <a:t>classi</a:t>
            </a:r>
            <a:r>
              <a:rPr lang="en-US" dirty="0"/>
              <a:t> repository in un </a:t>
            </a:r>
            <a:r>
              <a:rPr lang="en-US" dirty="0" err="1"/>
              <a:t>apposito</a:t>
            </a:r>
            <a:r>
              <a:rPr lang="en-US" dirty="0"/>
              <a:t> package (repository)</a:t>
            </a:r>
          </a:p>
          <a:p>
            <a:r>
              <a:rPr lang="en-US" dirty="0" err="1"/>
              <a:t>Scriviamo</a:t>
            </a:r>
            <a:r>
              <a:rPr lang="en-US" dirty="0"/>
              <a:t> la </a:t>
            </a:r>
            <a:r>
              <a:rPr lang="en-US" dirty="0" err="1"/>
              <a:t>classe</a:t>
            </a:r>
            <a:r>
              <a:rPr lang="en-US" dirty="0"/>
              <a:t> </a:t>
            </a:r>
            <a:r>
              <a:rPr lang="en-US" dirty="0" err="1"/>
              <a:t>ProductRepository</a:t>
            </a:r>
            <a:r>
              <a:rPr lang="en-US" dirty="0"/>
              <a:t>, in modo </a:t>
            </a:r>
            <a:r>
              <a:rPr lang="en-US" dirty="0" err="1"/>
              <a:t>che</a:t>
            </a:r>
            <a:r>
              <a:rPr lang="en-US" dirty="0"/>
              <a:t> </a:t>
            </a:r>
            <a:r>
              <a:rPr lang="en-US" dirty="0" err="1"/>
              <a:t>offra</a:t>
            </a:r>
            <a:r>
              <a:rPr lang="en-US" dirty="0"/>
              <a:t> </a:t>
            </a:r>
            <a:r>
              <a:rPr lang="en-US" dirty="0" err="1"/>
              <a:t>metodi</a:t>
            </a:r>
            <a:r>
              <a:rPr lang="en-US" dirty="0"/>
              <a:t> per </a:t>
            </a:r>
          </a:p>
          <a:p>
            <a:pPr lvl="1"/>
            <a:r>
              <a:rPr lang="en-US" dirty="0" err="1"/>
              <a:t>salvare</a:t>
            </a:r>
            <a:r>
              <a:rPr lang="en-US" dirty="0"/>
              <a:t> (o </a:t>
            </a:r>
            <a:r>
              <a:rPr lang="en-US" dirty="0" err="1"/>
              <a:t>modificare</a:t>
            </a:r>
            <a:r>
              <a:rPr lang="en-US" dirty="0"/>
              <a:t>) </a:t>
            </a:r>
            <a:r>
              <a:rPr lang="en-US" dirty="0" err="1"/>
              <a:t>entità</a:t>
            </a:r>
            <a:r>
              <a:rPr lang="en-US" dirty="0"/>
              <a:t> Product </a:t>
            </a:r>
            <a:r>
              <a:rPr lang="en-US" dirty="0" err="1"/>
              <a:t>nel</a:t>
            </a:r>
            <a:r>
              <a:rPr lang="en-US" dirty="0"/>
              <a:t> repository</a:t>
            </a:r>
          </a:p>
          <a:p>
            <a:pPr lvl="1"/>
            <a:r>
              <a:rPr lang="en-US" dirty="0" err="1"/>
              <a:t>recuperare</a:t>
            </a:r>
            <a:r>
              <a:rPr lang="en-US" dirty="0"/>
              <a:t> </a:t>
            </a:r>
            <a:r>
              <a:rPr lang="en-US" dirty="0" err="1"/>
              <a:t>entità</a:t>
            </a:r>
            <a:r>
              <a:rPr lang="en-US" dirty="0"/>
              <a:t> Product dal repository</a:t>
            </a:r>
          </a:p>
          <a:p>
            <a:pPr lvl="1"/>
            <a:r>
              <a:rPr lang="en-US" dirty="0" err="1"/>
              <a:t>rimuovere</a:t>
            </a:r>
            <a:r>
              <a:rPr lang="en-US" dirty="0"/>
              <a:t> </a:t>
            </a:r>
            <a:r>
              <a:rPr lang="en-US" dirty="0" err="1"/>
              <a:t>entità</a:t>
            </a:r>
            <a:r>
              <a:rPr lang="en-US" dirty="0"/>
              <a:t> Product dal repository</a:t>
            </a:r>
          </a:p>
          <a:p>
            <a:pPr lvl="1"/>
            <a:r>
              <a:rPr lang="en-US" dirty="0" err="1"/>
              <a:t>contare</a:t>
            </a:r>
            <a:r>
              <a:rPr lang="en-US" dirty="0"/>
              <a:t> il </a:t>
            </a:r>
            <a:r>
              <a:rPr lang="en-US" dirty="0" err="1"/>
              <a:t>numero</a:t>
            </a:r>
            <a:r>
              <a:rPr lang="en-US" dirty="0"/>
              <a:t> di </a:t>
            </a:r>
            <a:r>
              <a:rPr lang="en-US" dirty="0" err="1"/>
              <a:t>entità</a:t>
            </a:r>
            <a:r>
              <a:rPr lang="en-US" dirty="0"/>
              <a:t> Product </a:t>
            </a:r>
            <a:r>
              <a:rPr lang="en-US" dirty="0" err="1"/>
              <a:t>presenti</a:t>
            </a:r>
            <a:r>
              <a:rPr lang="en-US" dirty="0"/>
              <a:t> </a:t>
            </a:r>
            <a:r>
              <a:rPr lang="en-US" dirty="0" err="1"/>
              <a:t>nel</a:t>
            </a:r>
            <a:r>
              <a:rPr lang="en-US" dirty="0"/>
              <a:t> repository</a:t>
            </a:r>
          </a:p>
        </p:txBody>
      </p:sp>
    </p:spTree>
    <p:extLst>
      <p:ext uri="{BB962C8B-B14F-4D97-AF65-F5344CB8AC3E}">
        <p14:creationId xmlns:p14="http://schemas.microsoft.com/office/powerpoint/2010/main" val="2700024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89DD14C-86F4-B94C-8A35-C8B1EFB1A186}"/>
              </a:ext>
            </a:extLst>
          </p:cNvPr>
          <p:cNvSpPr>
            <a:spLocks noGrp="1"/>
          </p:cNvSpPr>
          <p:nvPr>
            <p:ph type="title"/>
          </p:nvPr>
        </p:nvSpPr>
        <p:spPr/>
        <p:txBody>
          <a:bodyPr/>
          <a:lstStyle/>
          <a:p>
            <a:r>
              <a:rPr lang="it-IT" dirty="0"/>
              <a:t>Esempio</a:t>
            </a:r>
          </a:p>
        </p:txBody>
      </p:sp>
      <p:sp>
        <p:nvSpPr>
          <p:cNvPr id="3" name="Segnaposto contenuto 2">
            <a:extLst>
              <a:ext uri="{FF2B5EF4-FFF2-40B4-BE49-F238E27FC236}">
                <a16:creationId xmlns:a16="http://schemas.microsoft.com/office/drawing/2014/main" id="{22475DBD-C059-564D-B56E-5D100088FD3B}"/>
              </a:ext>
            </a:extLst>
          </p:cNvPr>
          <p:cNvSpPr>
            <a:spLocks noGrp="1"/>
          </p:cNvSpPr>
          <p:nvPr>
            <p:ph idx="1"/>
          </p:nvPr>
        </p:nvSpPr>
        <p:spPr>
          <a:xfrm>
            <a:off x="349624" y="134471"/>
            <a:ext cx="7569733" cy="4886565"/>
          </a:xfrm>
        </p:spPr>
        <p:txBody>
          <a:bodyPr>
            <a:noAutofit/>
          </a:bodyPr>
          <a:lstStyle/>
          <a:p>
            <a:pPr marL="0" indent="0">
              <a:buNone/>
            </a:pPr>
            <a:r>
              <a:rPr lang="it-IT" sz="1200" b="1" dirty="0"/>
              <a:t>package</a:t>
            </a:r>
            <a:r>
              <a:rPr lang="it-IT" sz="1200" dirty="0"/>
              <a:t> it.uniroma3.siw.repository;</a:t>
            </a:r>
            <a:br>
              <a:rPr lang="it-IT" sz="1200" dirty="0"/>
            </a:br>
            <a:endParaRPr lang="it-IT" sz="1200" dirty="0"/>
          </a:p>
          <a:p>
            <a:pPr marL="0" indent="0">
              <a:buNone/>
            </a:pPr>
            <a:r>
              <a:rPr lang="it-IT" sz="1200" b="1" dirty="0"/>
              <a:t>import</a:t>
            </a:r>
            <a:r>
              <a:rPr lang="it-IT" sz="1200" dirty="0"/>
              <a:t> </a:t>
            </a:r>
            <a:r>
              <a:rPr lang="it-IT" sz="1200" dirty="0" err="1"/>
              <a:t>java.util.List</a:t>
            </a:r>
            <a:r>
              <a:rPr lang="it-IT" sz="1200" dirty="0"/>
              <a:t>;</a:t>
            </a:r>
          </a:p>
          <a:p>
            <a:pPr marL="0" indent="0">
              <a:buNone/>
            </a:pPr>
            <a:r>
              <a:rPr lang="it-IT" sz="1200" b="1" dirty="0"/>
              <a:t>import</a:t>
            </a:r>
            <a:r>
              <a:rPr lang="it-IT" sz="1200" dirty="0"/>
              <a:t> </a:t>
            </a:r>
            <a:r>
              <a:rPr lang="it-IT" sz="1200" dirty="0" err="1"/>
              <a:t>javax.persistence.EntityManager</a:t>
            </a:r>
            <a:r>
              <a:rPr lang="it-IT" sz="1200" dirty="0"/>
              <a:t>;</a:t>
            </a:r>
          </a:p>
          <a:p>
            <a:pPr marL="0" indent="0">
              <a:buNone/>
            </a:pPr>
            <a:r>
              <a:rPr lang="it-IT" sz="1200" b="1" dirty="0"/>
              <a:t>import</a:t>
            </a:r>
            <a:r>
              <a:rPr lang="it-IT" sz="1200" dirty="0"/>
              <a:t> it.uniroma3.siw.model.Product;</a:t>
            </a:r>
          </a:p>
          <a:p>
            <a:pPr marL="0" indent="0">
              <a:buNone/>
            </a:pPr>
            <a:endParaRPr lang="it-IT" sz="1200" dirty="0"/>
          </a:p>
          <a:p>
            <a:pPr marL="0" indent="0">
              <a:buNone/>
            </a:pPr>
            <a:r>
              <a:rPr lang="it-IT" sz="1200" b="1" dirty="0"/>
              <a:t>public</a:t>
            </a:r>
            <a:r>
              <a:rPr lang="it-IT" sz="1200" dirty="0"/>
              <a:t> </a:t>
            </a:r>
            <a:r>
              <a:rPr lang="it-IT" sz="1200" b="1" dirty="0" err="1"/>
              <a:t>class</a:t>
            </a:r>
            <a:r>
              <a:rPr lang="it-IT" sz="1200" dirty="0"/>
              <a:t> </a:t>
            </a:r>
            <a:r>
              <a:rPr lang="it-IT" sz="1200" dirty="0" err="1"/>
              <a:t>ProductRepository</a:t>
            </a:r>
            <a:r>
              <a:rPr lang="it-IT" sz="1200" dirty="0"/>
              <a:t> {</a:t>
            </a:r>
          </a:p>
          <a:p>
            <a:pPr marL="0" indent="0">
              <a:buNone/>
            </a:pPr>
            <a:r>
              <a:rPr lang="it-IT" sz="1200" b="1" dirty="0"/>
              <a:t>	private</a:t>
            </a:r>
            <a:r>
              <a:rPr lang="it-IT" sz="1200" dirty="0"/>
              <a:t> </a:t>
            </a:r>
            <a:r>
              <a:rPr lang="it-IT" sz="1200" dirty="0" err="1"/>
              <a:t>EntityManager</a:t>
            </a:r>
            <a:r>
              <a:rPr lang="it-IT" sz="1200" dirty="0"/>
              <a:t> </a:t>
            </a:r>
            <a:r>
              <a:rPr lang="it-IT" sz="1200" dirty="0" err="1"/>
              <a:t>em</a:t>
            </a:r>
            <a:r>
              <a:rPr lang="it-IT" sz="1200" dirty="0"/>
              <a:t>;</a:t>
            </a:r>
            <a:br>
              <a:rPr lang="it-IT" sz="1200" dirty="0"/>
            </a:br>
            <a:endParaRPr lang="it-IT" sz="1200" dirty="0"/>
          </a:p>
          <a:p>
            <a:pPr marL="0" indent="0">
              <a:buNone/>
            </a:pPr>
            <a:r>
              <a:rPr lang="it-IT" sz="1200" b="1" dirty="0"/>
              <a:t>	public</a:t>
            </a:r>
            <a:r>
              <a:rPr lang="it-IT" sz="1200" dirty="0"/>
              <a:t> Product </a:t>
            </a:r>
            <a:r>
              <a:rPr lang="it-IT" sz="1200" dirty="0" err="1"/>
              <a:t>save</a:t>
            </a:r>
            <a:r>
              <a:rPr lang="it-IT" sz="1200" dirty="0"/>
              <a:t>(Product </a:t>
            </a:r>
            <a:r>
              <a:rPr lang="it-IT" sz="1200" dirty="0" err="1"/>
              <a:t>product</a:t>
            </a:r>
            <a:r>
              <a:rPr lang="it-IT" sz="1200" dirty="0"/>
              <a:t>) {</a:t>
            </a:r>
          </a:p>
          <a:p>
            <a:pPr marL="0" indent="0">
              <a:buNone/>
            </a:pPr>
            <a:r>
              <a:rPr lang="it-IT" sz="1200" b="1" dirty="0"/>
              <a:t>		</a:t>
            </a:r>
            <a:r>
              <a:rPr lang="it-IT" sz="1200" b="1" dirty="0" err="1"/>
              <a:t>if</a:t>
            </a:r>
            <a:r>
              <a:rPr lang="it-IT" sz="1200" dirty="0"/>
              <a:t> (</a:t>
            </a:r>
            <a:r>
              <a:rPr lang="it-IT" sz="1200" dirty="0" err="1"/>
              <a:t>product.getId</a:t>
            </a:r>
            <a:r>
              <a:rPr lang="it-IT" sz="1200" dirty="0"/>
              <a:t>()!=</a:t>
            </a:r>
            <a:r>
              <a:rPr lang="it-IT" sz="1200" b="1" dirty="0" err="1"/>
              <a:t>null</a:t>
            </a:r>
            <a:r>
              <a:rPr lang="it-IT" sz="1200" dirty="0"/>
              <a:t>) {</a:t>
            </a:r>
          </a:p>
          <a:p>
            <a:pPr marL="0" indent="0">
              <a:buNone/>
            </a:pPr>
            <a:r>
              <a:rPr lang="it-IT" sz="1200" dirty="0"/>
              <a:t>			</a:t>
            </a:r>
            <a:r>
              <a:rPr lang="it-IT" sz="1200" dirty="0" err="1"/>
              <a:t>em.merge</a:t>
            </a:r>
            <a:r>
              <a:rPr lang="it-IT" sz="1200" dirty="0"/>
              <a:t>(</a:t>
            </a:r>
            <a:r>
              <a:rPr lang="it-IT" sz="1200" dirty="0" err="1"/>
              <a:t>product</a:t>
            </a:r>
            <a:r>
              <a:rPr lang="it-IT" sz="1200" dirty="0"/>
              <a:t>);</a:t>
            </a:r>
          </a:p>
          <a:p>
            <a:pPr marL="0" indent="0">
              <a:buNone/>
            </a:pPr>
            <a:r>
              <a:rPr lang="it-IT" sz="1200" dirty="0"/>
              <a:t>		} </a:t>
            </a:r>
          </a:p>
          <a:p>
            <a:pPr marL="0" indent="0">
              <a:buNone/>
            </a:pPr>
            <a:r>
              <a:rPr lang="it-IT" sz="1200" b="1" dirty="0"/>
              <a:t>		else</a:t>
            </a:r>
            <a:r>
              <a:rPr lang="it-IT" sz="1200" dirty="0"/>
              <a:t> {</a:t>
            </a:r>
          </a:p>
          <a:p>
            <a:pPr marL="0" indent="0">
              <a:buNone/>
            </a:pPr>
            <a:r>
              <a:rPr lang="it-IT" sz="1200" dirty="0"/>
              <a:t>			</a:t>
            </a:r>
            <a:r>
              <a:rPr lang="it-IT" sz="1200" dirty="0" err="1"/>
              <a:t>em.persist</a:t>
            </a:r>
            <a:r>
              <a:rPr lang="it-IT" sz="1200" dirty="0"/>
              <a:t>(</a:t>
            </a:r>
            <a:r>
              <a:rPr lang="it-IT" sz="1200" dirty="0" err="1"/>
              <a:t>product</a:t>
            </a:r>
            <a:r>
              <a:rPr lang="it-IT" sz="1200" dirty="0"/>
              <a:t>);</a:t>
            </a:r>
          </a:p>
          <a:p>
            <a:pPr marL="0" indent="0">
              <a:buNone/>
            </a:pPr>
            <a:r>
              <a:rPr lang="it-IT" sz="1200" dirty="0"/>
              <a:t>		}</a:t>
            </a:r>
          </a:p>
          <a:p>
            <a:pPr marL="0" indent="0">
              <a:buNone/>
            </a:pPr>
            <a:r>
              <a:rPr lang="it-IT" sz="1200" b="1" dirty="0"/>
              <a:t>		</a:t>
            </a:r>
            <a:r>
              <a:rPr lang="it-IT" sz="1200" b="1" dirty="0" err="1"/>
              <a:t>return</a:t>
            </a:r>
            <a:r>
              <a:rPr lang="it-IT" sz="1200" dirty="0"/>
              <a:t> </a:t>
            </a:r>
            <a:r>
              <a:rPr lang="it-IT" sz="1200" dirty="0" err="1"/>
              <a:t>product</a:t>
            </a:r>
            <a:r>
              <a:rPr lang="it-IT" sz="1200" dirty="0"/>
              <a:t>;</a:t>
            </a:r>
          </a:p>
          <a:p>
            <a:pPr marL="0" indent="0">
              <a:buNone/>
            </a:pPr>
            <a:r>
              <a:rPr lang="it-IT" sz="1200" dirty="0"/>
              <a:t>	}</a:t>
            </a:r>
          </a:p>
          <a:p>
            <a:pPr marL="0" indent="0">
              <a:buNone/>
            </a:pPr>
            <a:endParaRPr lang="it-IT" sz="1200" b="1" dirty="0"/>
          </a:p>
          <a:p>
            <a:pPr marL="0" indent="0">
              <a:buNone/>
            </a:pPr>
            <a:r>
              <a:rPr lang="it-IT" sz="1200" b="1" dirty="0"/>
              <a:t>	public</a:t>
            </a:r>
            <a:r>
              <a:rPr lang="it-IT" sz="1200" dirty="0"/>
              <a:t> Product </a:t>
            </a:r>
            <a:r>
              <a:rPr lang="it-IT" sz="1200" dirty="0" err="1"/>
              <a:t>findById</a:t>
            </a:r>
            <a:r>
              <a:rPr lang="it-IT" sz="1200" dirty="0"/>
              <a:t>(Long id) {</a:t>
            </a:r>
          </a:p>
          <a:p>
            <a:pPr marL="0" indent="0">
              <a:buNone/>
            </a:pPr>
            <a:r>
              <a:rPr lang="it-IT" sz="1200" b="1" dirty="0"/>
              <a:t>		</a:t>
            </a:r>
            <a:r>
              <a:rPr lang="it-IT" sz="1200" b="1" dirty="0" err="1"/>
              <a:t>return</a:t>
            </a:r>
            <a:r>
              <a:rPr lang="it-IT" sz="1200" dirty="0"/>
              <a:t> </a:t>
            </a:r>
            <a:r>
              <a:rPr lang="it-IT" sz="1200" dirty="0" err="1"/>
              <a:t>em.find</a:t>
            </a:r>
            <a:r>
              <a:rPr lang="it-IT" sz="1200" dirty="0"/>
              <a:t>(</a:t>
            </a:r>
            <a:r>
              <a:rPr lang="it-IT" sz="1200" dirty="0" err="1"/>
              <a:t>Product.</a:t>
            </a:r>
            <a:r>
              <a:rPr lang="it-IT" sz="1200" b="1" dirty="0" err="1"/>
              <a:t>class</a:t>
            </a:r>
            <a:r>
              <a:rPr lang="it-IT" sz="1200" dirty="0"/>
              <a:t>, id);</a:t>
            </a:r>
          </a:p>
          <a:p>
            <a:pPr marL="0" indent="0">
              <a:buNone/>
            </a:pPr>
            <a:r>
              <a:rPr lang="it-IT" sz="1200" dirty="0"/>
              <a:t>	}</a:t>
            </a:r>
          </a:p>
        </p:txBody>
      </p:sp>
    </p:spTree>
    <p:extLst>
      <p:ext uri="{BB962C8B-B14F-4D97-AF65-F5344CB8AC3E}">
        <p14:creationId xmlns:p14="http://schemas.microsoft.com/office/powerpoint/2010/main" val="3202585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89DD14C-86F4-B94C-8A35-C8B1EFB1A186}"/>
              </a:ext>
            </a:extLst>
          </p:cNvPr>
          <p:cNvSpPr>
            <a:spLocks noGrp="1"/>
          </p:cNvSpPr>
          <p:nvPr>
            <p:ph type="title"/>
          </p:nvPr>
        </p:nvSpPr>
        <p:spPr/>
        <p:txBody>
          <a:bodyPr/>
          <a:lstStyle/>
          <a:p>
            <a:pPr algn="r"/>
            <a:r>
              <a:rPr lang="it-IT" dirty="0"/>
              <a:t>Esempio</a:t>
            </a:r>
          </a:p>
        </p:txBody>
      </p:sp>
      <p:sp>
        <p:nvSpPr>
          <p:cNvPr id="3" name="Segnaposto contenuto 2">
            <a:extLst>
              <a:ext uri="{FF2B5EF4-FFF2-40B4-BE49-F238E27FC236}">
                <a16:creationId xmlns:a16="http://schemas.microsoft.com/office/drawing/2014/main" id="{22475DBD-C059-564D-B56E-5D100088FD3B}"/>
              </a:ext>
            </a:extLst>
          </p:cNvPr>
          <p:cNvSpPr>
            <a:spLocks noGrp="1"/>
          </p:cNvSpPr>
          <p:nvPr>
            <p:ph idx="1"/>
          </p:nvPr>
        </p:nvSpPr>
        <p:spPr>
          <a:xfrm>
            <a:off x="0" y="107576"/>
            <a:ext cx="7664824" cy="5143500"/>
          </a:xfrm>
        </p:spPr>
        <p:txBody>
          <a:bodyPr>
            <a:noAutofit/>
          </a:bodyPr>
          <a:lstStyle/>
          <a:p>
            <a:pPr marL="0" indent="0">
              <a:buNone/>
            </a:pPr>
            <a:r>
              <a:rPr lang="it-IT" sz="1100" b="1" dirty="0"/>
              <a:t>	public</a:t>
            </a:r>
            <a:r>
              <a:rPr lang="it-IT" sz="1100" dirty="0"/>
              <a:t> List&lt;Product&gt; </a:t>
            </a:r>
            <a:r>
              <a:rPr lang="it-IT" sz="1100" dirty="0" err="1"/>
              <a:t>findAll</a:t>
            </a:r>
            <a:r>
              <a:rPr lang="it-IT" sz="1100" dirty="0"/>
              <a:t>() {</a:t>
            </a:r>
          </a:p>
          <a:p>
            <a:pPr marL="0" indent="0">
              <a:buNone/>
            </a:pPr>
            <a:r>
              <a:rPr lang="it-IT" sz="1100" b="1" dirty="0"/>
              <a:t>		</a:t>
            </a:r>
            <a:r>
              <a:rPr lang="it-IT" sz="1100" b="1" dirty="0" err="1"/>
              <a:t>return</a:t>
            </a:r>
            <a:r>
              <a:rPr lang="it-IT" sz="1100" dirty="0"/>
              <a:t> </a:t>
            </a:r>
            <a:r>
              <a:rPr lang="it-IT" sz="1100" dirty="0" err="1"/>
              <a:t>em.createQuery</a:t>
            </a:r>
            <a:r>
              <a:rPr lang="it-IT" sz="1100" dirty="0"/>
              <a:t>("</a:t>
            </a:r>
            <a:r>
              <a:rPr lang="it-IT" sz="1100" dirty="0" err="1"/>
              <a:t>select</a:t>
            </a:r>
            <a:r>
              <a:rPr lang="it-IT" sz="1100" dirty="0"/>
              <a:t> </a:t>
            </a:r>
            <a:r>
              <a:rPr lang="it-IT" sz="1100" dirty="0" err="1"/>
              <a:t>p</a:t>
            </a:r>
            <a:r>
              <a:rPr lang="it-IT" sz="1100" dirty="0"/>
              <a:t> from Product </a:t>
            </a:r>
            <a:r>
              <a:rPr lang="it-IT" sz="1100" dirty="0" err="1"/>
              <a:t>p</a:t>
            </a:r>
            <a:r>
              <a:rPr lang="it-IT" sz="1100" dirty="0"/>
              <a:t>", </a:t>
            </a:r>
            <a:r>
              <a:rPr lang="it-IT" sz="1100" dirty="0" err="1"/>
              <a:t>Product.</a:t>
            </a:r>
            <a:r>
              <a:rPr lang="it-IT" sz="1100" b="1" dirty="0" err="1"/>
              <a:t>class</a:t>
            </a:r>
            <a:r>
              <a:rPr lang="it-IT" sz="1100" dirty="0"/>
              <a:t>).</a:t>
            </a:r>
            <a:r>
              <a:rPr lang="it-IT" sz="1100" dirty="0" err="1"/>
              <a:t>getResultList</a:t>
            </a:r>
            <a:r>
              <a:rPr lang="it-IT" sz="1100" dirty="0"/>
              <a:t>();</a:t>
            </a:r>
          </a:p>
          <a:p>
            <a:pPr marL="0" indent="0">
              <a:buNone/>
            </a:pPr>
            <a:r>
              <a:rPr lang="it-IT" sz="1100" dirty="0"/>
              <a:t>	}</a:t>
            </a:r>
          </a:p>
          <a:p>
            <a:pPr marL="0" indent="0">
              <a:buNone/>
            </a:pPr>
            <a:endParaRPr lang="it-IT" sz="1100" dirty="0"/>
          </a:p>
          <a:p>
            <a:pPr marL="0" indent="0">
              <a:buNone/>
            </a:pPr>
            <a:r>
              <a:rPr lang="it-IT" sz="1100" b="1" dirty="0"/>
              <a:t>	public</a:t>
            </a:r>
            <a:r>
              <a:rPr lang="it-IT" sz="1100" dirty="0"/>
              <a:t> </a:t>
            </a:r>
            <a:r>
              <a:rPr lang="it-IT" sz="1100" b="1" dirty="0" err="1"/>
              <a:t>void</a:t>
            </a:r>
            <a:r>
              <a:rPr lang="it-IT" sz="1100" dirty="0"/>
              <a:t> delete(Product </a:t>
            </a:r>
            <a:r>
              <a:rPr lang="it-IT" sz="1100" dirty="0" err="1"/>
              <a:t>product</a:t>
            </a:r>
            <a:r>
              <a:rPr lang="it-IT" sz="1100" dirty="0"/>
              <a:t>) {</a:t>
            </a:r>
          </a:p>
          <a:p>
            <a:pPr marL="0" indent="0">
              <a:buNone/>
            </a:pPr>
            <a:r>
              <a:rPr lang="it-IT" sz="1100" dirty="0"/>
              <a:t>		</a:t>
            </a:r>
            <a:r>
              <a:rPr lang="it-IT" sz="1100" dirty="0" err="1"/>
              <a:t>em.remove</a:t>
            </a:r>
            <a:r>
              <a:rPr lang="it-IT" sz="1100" dirty="0"/>
              <a:t>(</a:t>
            </a:r>
            <a:r>
              <a:rPr lang="it-IT" sz="1100" dirty="0" err="1"/>
              <a:t>product</a:t>
            </a:r>
            <a:r>
              <a:rPr lang="it-IT" sz="1100" dirty="0"/>
              <a:t>);</a:t>
            </a:r>
          </a:p>
          <a:p>
            <a:pPr marL="0" indent="0">
              <a:buNone/>
            </a:pPr>
            <a:r>
              <a:rPr lang="it-IT" sz="1100" dirty="0"/>
              <a:t>	}</a:t>
            </a:r>
          </a:p>
          <a:p>
            <a:pPr marL="0" indent="0">
              <a:buNone/>
            </a:pPr>
            <a:endParaRPr lang="it-IT" sz="1100" b="1" dirty="0"/>
          </a:p>
          <a:p>
            <a:pPr marL="0" indent="0">
              <a:buNone/>
            </a:pPr>
            <a:r>
              <a:rPr lang="it-IT" sz="1100" b="1" dirty="0"/>
              <a:t>	public</a:t>
            </a:r>
            <a:r>
              <a:rPr lang="it-IT" sz="1100" dirty="0"/>
              <a:t> </a:t>
            </a:r>
            <a:r>
              <a:rPr lang="it-IT" sz="1100" b="1" dirty="0" err="1"/>
              <a:t>void</a:t>
            </a:r>
            <a:r>
              <a:rPr lang="it-IT" sz="1100" dirty="0"/>
              <a:t> </a:t>
            </a:r>
            <a:r>
              <a:rPr lang="it-IT" sz="1100" dirty="0" err="1"/>
              <a:t>deleteAll</a:t>
            </a:r>
            <a:r>
              <a:rPr lang="it-IT" sz="1100" dirty="0"/>
              <a:t>(){</a:t>
            </a:r>
          </a:p>
          <a:p>
            <a:pPr marL="0" indent="0">
              <a:buNone/>
            </a:pPr>
            <a:r>
              <a:rPr lang="it-IT" sz="1100" b="1" dirty="0"/>
              <a:t>		</a:t>
            </a:r>
            <a:r>
              <a:rPr lang="it-IT" sz="1100" b="1" dirty="0" err="1"/>
              <a:t>this</a:t>
            </a:r>
            <a:r>
              <a:rPr lang="it-IT" sz="1100" dirty="0" err="1"/>
              <a:t>.em.createQuery</a:t>
            </a:r>
            <a:r>
              <a:rPr lang="it-IT" sz="1100" dirty="0"/>
              <a:t>("delete from Product").</a:t>
            </a:r>
            <a:r>
              <a:rPr lang="it-IT" sz="1100" dirty="0" err="1"/>
              <a:t>executeUpdate</a:t>
            </a:r>
            <a:r>
              <a:rPr lang="it-IT" sz="1100" dirty="0"/>
              <a:t>();</a:t>
            </a:r>
          </a:p>
          <a:p>
            <a:pPr marL="0" indent="0">
              <a:buNone/>
            </a:pPr>
            <a:r>
              <a:rPr lang="it-IT" sz="1100" dirty="0"/>
              <a:t>	}</a:t>
            </a:r>
          </a:p>
          <a:p>
            <a:pPr marL="0" indent="0">
              <a:buNone/>
            </a:pPr>
            <a:endParaRPr lang="it-IT" sz="1100" dirty="0"/>
          </a:p>
          <a:p>
            <a:pPr marL="0" indent="0">
              <a:buNone/>
            </a:pPr>
            <a:r>
              <a:rPr lang="it-IT" sz="1100" b="1" dirty="0"/>
              <a:t>	public</a:t>
            </a:r>
            <a:r>
              <a:rPr lang="it-IT" sz="1100" dirty="0"/>
              <a:t> </a:t>
            </a:r>
            <a:r>
              <a:rPr lang="it-IT" sz="1100" b="1" dirty="0"/>
              <a:t>long</a:t>
            </a:r>
            <a:r>
              <a:rPr lang="it-IT" sz="1100" dirty="0"/>
              <a:t> </a:t>
            </a:r>
            <a:r>
              <a:rPr lang="it-IT" sz="1100" dirty="0" err="1"/>
              <a:t>count</a:t>
            </a:r>
            <a:r>
              <a:rPr lang="it-IT" sz="1100" dirty="0"/>
              <a:t>() {</a:t>
            </a:r>
          </a:p>
          <a:p>
            <a:pPr marL="0" indent="0">
              <a:buNone/>
            </a:pPr>
            <a:r>
              <a:rPr lang="it-IT" sz="1100" b="1" dirty="0"/>
              <a:t>		</a:t>
            </a:r>
            <a:r>
              <a:rPr lang="it-IT" sz="1100" b="1" dirty="0" err="1"/>
              <a:t>return</a:t>
            </a:r>
            <a:r>
              <a:rPr lang="it-IT" sz="1100" dirty="0"/>
              <a:t> (Long)</a:t>
            </a:r>
            <a:r>
              <a:rPr lang="it-IT" sz="1100" b="1" dirty="0" err="1"/>
              <a:t>this</a:t>
            </a:r>
            <a:r>
              <a:rPr lang="it-IT" sz="1100" dirty="0" err="1"/>
              <a:t>.em.createQuery</a:t>
            </a:r>
            <a:r>
              <a:rPr lang="it-IT" sz="1100" dirty="0"/>
              <a:t>("</a:t>
            </a:r>
            <a:r>
              <a:rPr lang="it-IT" sz="1100" dirty="0" err="1"/>
              <a:t>select</a:t>
            </a:r>
            <a:r>
              <a:rPr lang="it-IT" sz="1100" dirty="0"/>
              <a:t> </a:t>
            </a:r>
            <a:r>
              <a:rPr lang="it-IT" sz="1100" dirty="0" err="1"/>
              <a:t>count</a:t>
            </a:r>
            <a:r>
              <a:rPr lang="it-IT" sz="1100" dirty="0"/>
              <a:t>(id) from Product").</a:t>
            </a:r>
            <a:r>
              <a:rPr lang="it-IT" sz="1100" dirty="0" err="1"/>
              <a:t>getSingleResult</a:t>
            </a:r>
            <a:r>
              <a:rPr lang="it-IT" sz="1100" dirty="0"/>
              <a:t>();</a:t>
            </a:r>
          </a:p>
          <a:p>
            <a:pPr marL="0" indent="0">
              <a:buNone/>
            </a:pPr>
            <a:r>
              <a:rPr lang="it-IT" sz="1100" dirty="0"/>
              <a:t>	}</a:t>
            </a:r>
          </a:p>
          <a:p>
            <a:pPr marL="0" indent="0">
              <a:buNone/>
            </a:pPr>
            <a:endParaRPr lang="it-IT" sz="1100" dirty="0"/>
          </a:p>
          <a:p>
            <a:pPr marL="0" indent="0">
              <a:buNone/>
            </a:pPr>
            <a:r>
              <a:rPr lang="it-IT" sz="1100" b="1" dirty="0"/>
              <a:t>	public</a:t>
            </a:r>
            <a:r>
              <a:rPr lang="it-IT" sz="1100" dirty="0"/>
              <a:t> </a:t>
            </a:r>
            <a:r>
              <a:rPr lang="it-IT" sz="1100" b="1" dirty="0" err="1"/>
              <a:t>boolean</a:t>
            </a:r>
            <a:r>
              <a:rPr lang="it-IT" sz="1100" dirty="0"/>
              <a:t> </a:t>
            </a:r>
            <a:r>
              <a:rPr lang="it-IT" sz="1100" dirty="0" err="1"/>
              <a:t>existsById</a:t>
            </a:r>
            <a:r>
              <a:rPr lang="it-IT" sz="1100" dirty="0"/>
              <a:t>(Long id) {</a:t>
            </a:r>
          </a:p>
          <a:p>
            <a:pPr marL="0" indent="0">
              <a:buNone/>
            </a:pPr>
            <a:r>
              <a:rPr lang="it-IT" sz="1100" b="1" dirty="0"/>
              <a:t>		</a:t>
            </a:r>
            <a:r>
              <a:rPr lang="it-IT" sz="1100" b="1" dirty="0" err="1"/>
              <a:t>return</a:t>
            </a:r>
            <a:r>
              <a:rPr lang="it-IT" sz="1100" dirty="0"/>
              <a:t> (</a:t>
            </a:r>
            <a:r>
              <a:rPr lang="it-IT" sz="1100" b="1" dirty="0" err="1"/>
              <a:t>this</a:t>
            </a:r>
            <a:r>
              <a:rPr lang="it-IT" sz="1100" dirty="0" err="1"/>
              <a:t>.findById</a:t>
            </a:r>
            <a:r>
              <a:rPr lang="it-IT" sz="1100" dirty="0"/>
              <a:t>(id)!=</a:t>
            </a:r>
            <a:r>
              <a:rPr lang="it-IT" sz="1100" b="1" dirty="0" err="1"/>
              <a:t>null</a:t>
            </a:r>
            <a:r>
              <a:rPr lang="it-IT" sz="1100" dirty="0"/>
              <a:t>);</a:t>
            </a:r>
          </a:p>
          <a:p>
            <a:pPr marL="0" indent="0">
              <a:buNone/>
            </a:pPr>
            <a:r>
              <a:rPr lang="it-IT" sz="1100" dirty="0"/>
              <a:t>	}</a:t>
            </a:r>
          </a:p>
          <a:p>
            <a:pPr marL="0" indent="0">
              <a:buNone/>
            </a:pPr>
            <a:endParaRPr lang="it-IT" sz="1100" dirty="0"/>
          </a:p>
          <a:p>
            <a:pPr marL="0" indent="0">
              <a:buNone/>
            </a:pPr>
            <a:r>
              <a:rPr lang="it-IT" sz="1100" b="1" dirty="0"/>
              <a:t>	public</a:t>
            </a:r>
            <a:r>
              <a:rPr lang="it-IT" sz="1100" dirty="0"/>
              <a:t> </a:t>
            </a:r>
            <a:r>
              <a:rPr lang="it-IT" sz="1100" b="1" dirty="0" err="1"/>
              <a:t>void</a:t>
            </a:r>
            <a:r>
              <a:rPr lang="it-IT" sz="1100" dirty="0"/>
              <a:t> </a:t>
            </a:r>
            <a:r>
              <a:rPr lang="it-IT" sz="1100" dirty="0" err="1"/>
              <a:t>setEntityManager</a:t>
            </a:r>
            <a:r>
              <a:rPr lang="it-IT" sz="1100" dirty="0"/>
              <a:t>(</a:t>
            </a:r>
            <a:r>
              <a:rPr lang="it-IT" sz="1100" dirty="0" err="1"/>
              <a:t>EntityManager</a:t>
            </a:r>
            <a:r>
              <a:rPr lang="it-IT" sz="1100" dirty="0"/>
              <a:t> </a:t>
            </a:r>
            <a:r>
              <a:rPr lang="it-IT" sz="1100" dirty="0" err="1"/>
              <a:t>em</a:t>
            </a:r>
            <a:r>
              <a:rPr lang="it-IT" sz="1100" dirty="0"/>
              <a:t>) {</a:t>
            </a:r>
          </a:p>
          <a:p>
            <a:pPr marL="0" indent="0">
              <a:buNone/>
            </a:pPr>
            <a:r>
              <a:rPr lang="it-IT" sz="1100" b="1" dirty="0"/>
              <a:t>		</a:t>
            </a:r>
            <a:r>
              <a:rPr lang="it-IT" sz="1100" b="1" dirty="0" err="1"/>
              <a:t>this</a:t>
            </a:r>
            <a:r>
              <a:rPr lang="it-IT" sz="1100" dirty="0" err="1"/>
              <a:t>.em</a:t>
            </a:r>
            <a:r>
              <a:rPr lang="it-IT" sz="1100" dirty="0"/>
              <a:t> = </a:t>
            </a:r>
            <a:r>
              <a:rPr lang="it-IT" sz="1100" dirty="0" err="1"/>
              <a:t>em</a:t>
            </a:r>
            <a:r>
              <a:rPr lang="it-IT" sz="1100" dirty="0"/>
              <a:t>; </a:t>
            </a:r>
          </a:p>
          <a:p>
            <a:pPr marL="0" indent="0">
              <a:buNone/>
            </a:pPr>
            <a:r>
              <a:rPr lang="it-IT" sz="1100" dirty="0"/>
              <a:t>	}</a:t>
            </a:r>
          </a:p>
          <a:p>
            <a:pPr marL="0" indent="0">
              <a:buNone/>
            </a:pPr>
            <a:r>
              <a:rPr lang="it-IT" sz="1100" dirty="0"/>
              <a:t>}</a:t>
            </a:r>
          </a:p>
        </p:txBody>
      </p:sp>
    </p:spTree>
    <p:extLst>
      <p:ext uri="{BB962C8B-B14F-4D97-AF65-F5344CB8AC3E}">
        <p14:creationId xmlns:p14="http://schemas.microsoft.com/office/powerpoint/2010/main" val="1193566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452A0CB-A2C3-6F46-8A97-9357B6E13A1F}"/>
              </a:ext>
            </a:extLst>
          </p:cNvPr>
          <p:cNvSpPr>
            <a:spLocks noGrp="1"/>
          </p:cNvSpPr>
          <p:nvPr>
            <p:ph type="title"/>
          </p:nvPr>
        </p:nvSpPr>
        <p:spPr/>
        <p:txBody>
          <a:bodyPr/>
          <a:lstStyle/>
          <a:p>
            <a:r>
              <a:rPr lang="it-IT" dirty="0" err="1"/>
              <a:t>Repository</a:t>
            </a:r>
            <a:endParaRPr lang="it-IT" dirty="0"/>
          </a:p>
        </p:txBody>
      </p:sp>
      <p:sp>
        <p:nvSpPr>
          <p:cNvPr id="3" name="Segnaposto contenuto 2">
            <a:extLst>
              <a:ext uri="{FF2B5EF4-FFF2-40B4-BE49-F238E27FC236}">
                <a16:creationId xmlns:a16="http://schemas.microsoft.com/office/drawing/2014/main" id="{21DCA4A1-9BD4-FA49-8A95-B8B180D62309}"/>
              </a:ext>
            </a:extLst>
          </p:cNvPr>
          <p:cNvSpPr>
            <a:spLocks noGrp="1"/>
          </p:cNvSpPr>
          <p:nvPr>
            <p:ph idx="1"/>
          </p:nvPr>
        </p:nvSpPr>
        <p:spPr/>
        <p:txBody>
          <a:bodyPr>
            <a:normAutofit fontScale="85000" lnSpcReduction="10000"/>
          </a:bodyPr>
          <a:lstStyle/>
          <a:p>
            <a:r>
              <a:rPr lang="it-IT" dirty="0"/>
              <a:t>Alla struttura di base, che offre operazioni generiche valide per ogni classe del modello, si possono aggiungere operazioni specifiche, (interrogazioni e/o aggiornamenti) basate su criteri che emergono dall'analisi dei requisiti </a:t>
            </a:r>
          </a:p>
          <a:p>
            <a:r>
              <a:rPr lang="it-IT" dirty="0"/>
              <a:t>Ad esempio:</a:t>
            </a:r>
          </a:p>
          <a:p>
            <a:pPr lvl="1"/>
            <a:r>
              <a:rPr lang="it-IT" dirty="0"/>
              <a:t>Interrogazioni con selezioni su valori specifici</a:t>
            </a:r>
          </a:p>
          <a:p>
            <a:pPr lvl="1"/>
            <a:r>
              <a:rPr lang="it-IT" dirty="0"/>
              <a:t>Interrogazioni con aggregazioni</a:t>
            </a:r>
          </a:p>
          <a:p>
            <a:pPr lvl="1"/>
            <a:r>
              <a:rPr lang="it-IT" dirty="0" err="1"/>
              <a:t>etc</a:t>
            </a:r>
            <a:r>
              <a:rPr lang="it-IT" dirty="0"/>
              <a:t> </a:t>
            </a:r>
          </a:p>
          <a:p>
            <a:r>
              <a:rPr lang="it-IT" dirty="0">
                <a:solidFill>
                  <a:srgbClr val="FF0000"/>
                </a:solidFill>
              </a:rPr>
              <a:t>NB: </a:t>
            </a:r>
            <a:r>
              <a:rPr lang="it-IT" b="1" dirty="0">
                <a:solidFill>
                  <a:srgbClr val="FF0000"/>
                </a:solidFill>
              </a:rPr>
              <a:t>non è efficiente </a:t>
            </a:r>
            <a:r>
              <a:rPr lang="it-IT" dirty="0">
                <a:solidFill>
                  <a:srgbClr val="FF0000"/>
                </a:solidFill>
              </a:rPr>
              <a:t>(in molti casi potrebbe essere impraticabile) caricare tutti i dati tramite una </a:t>
            </a:r>
            <a:r>
              <a:rPr lang="it-IT" dirty="0" err="1">
                <a:solidFill>
                  <a:srgbClr val="FF0000"/>
                </a:solidFill>
              </a:rPr>
              <a:t>findAll</a:t>
            </a:r>
            <a:r>
              <a:rPr lang="it-IT" dirty="0">
                <a:solidFill>
                  <a:srgbClr val="FF0000"/>
                </a:solidFill>
              </a:rPr>
              <a:t>() e poi filtrare i dati in memoria (il volume dei dati potrebbe essere addirittura superiore alla capacità della memoria centrale). Questa operazione la deve fare il DBMS!</a:t>
            </a:r>
          </a:p>
          <a:p>
            <a:pPr marL="0" indent="0">
              <a:buNone/>
            </a:pPr>
            <a:endParaRPr lang="it-IT" dirty="0"/>
          </a:p>
        </p:txBody>
      </p:sp>
    </p:spTree>
    <p:extLst>
      <p:ext uri="{BB962C8B-B14F-4D97-AF65-F5344CB8AC3E}">
        <p14:creationId xmlns:p14="http://schemas.microsoft.com/office/powerpoint/2010/main" val="3555912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89DD14C-86F4-B94C-8A35-C8B1EFB1A186}"/>
              </a:ext>
            </a:extLst>
          </p:cNvPr>
          <p:cNvSpPr>
            <a:spLocks noGrp="1"/>
          </p:cNvSpPr>
          <p:nvPr>
            <p:ph type="title"/>
          </p:nvPr>
        </p:nvSpPr>
        <p:spPr/>
        <p:txBody>
          <a:bodyPr/>
          <a:lstStyle/>
          <a:p>
            <a:r>
              <a:rPr lang="it-IT" dirty="0"/>
              <a:t>Esempio</a:t>
            </a:r>
          </a:p>
        </p:txBody>
      </p:sp>
      <p:sp>
        <p:nvSpPr>
          <p:cNvPr id="3" name="Segnaposto contenuto 2">
            <a:extLst>
              <a:ext uri="{FF2B5EF4-FFF2-40B4-BE49-F238E27FC236}">
                <a16:creationId xmlns:a16="http://schemas.microsoft.com/office/drawing/2014/main" id="{22475DBD-C059-564D-B56E-5D100088FD3B}"/>
              </a:ext>
            </a:extLst>
          </p:cNvPr>
          <p:cNvSpPr>
            <a:spLocks noGrp="1"/>
          </p:cNvSpPr>
          <p:nvPr>
            <p:ph idx="1"/>
          </p:nvPr>
        </p:nvSpPr>
        <p:spPr>
          <a:xfrm>
            <a:off x="457199" y="1063229"/>
            <a:ext cx="7709647" cy="3874292"/>
          </a:xfrm>
        </p:spPr>
        <p:txBody>
          <a:bodyPr>
            <a:normAutofit/>
          </a:bodyPr>
          <a:lstStyle/>
          <a:p>
            <a:pPr marL="0" indent="0">
              <a:buNone/>
            </a:pPr>
            <a:r>
              <a:rPr lang="it-IT" sz="1600" dirty="0">
                <a:latin typeface="Courier New" panose="02070309020205020404" pitchFamily="49" charset="0"/>
                <a:cs typeface="Courier New" panose="02070309020205020404" pitchFamily="49" charset="0"/>
              </a:rPr>
              <a:t>package it.uniroma3.siw.repository;</a:t>
            </a:r>
          </a:p>
          <a:p>
            <a:endParaRPr lang="it-IT" sz="1600" dirty="0">
              <a:latin typeface="Courier New" panose="02070309020205020404" pitchFamily="49" charset="0"/>
              <a:cs typeface="Courier New" panose="02070309020205020404" pitchFamily="49" charset="0"/>
            </a:endParaRPr>
          </a:p>
          <a:p>
            <a:pPr marL="0" indent="0">
              <a:buNone/>
            </a:pPr>
            <a:r>
              <a:rPr lang="it-IT" sz="1600" dirty="0">
                <a:latin typeface="Courier New" panose="02070309020205020404" pitchFamily="49" charset="0"/>
                <a:cs typeface="Courier New" panose="02070309020205020404" pitchFamily="49" charset="0"/>
              </a:rPr>
              <a:t>import […];</a:t>
            </a:r>
          </a:p>
          <a:p>
            <a:pPr marL="0" indent="0">
              <a:buNone/>
            </a:pPr>
            <a:endParaRPr lang="it-IT" sz="1600" dirty="0">
              <a:latin typeface="Courier New" panose="02070309020205020404" pitchFamily="49" charset="0"/>
              <a:cs typeface="Courier New" panose="02070309020205020404" pitchFamily="49" charset="0"/>
            </a:endParaRPr>
          </a:p>
          <a:p>
            <a:pPr marL="0" indent="0">
              <a:buNone/>
            </a:pPr>
            <a:r>
              <a:rPr lang="it-IT" sz="1600" dirty="0">
                <a:latin typeface="Courier New" panose="02070309020205020404" pitchFamily="49" charset="0"/>
                <a:cs typeface="Courier New" panose="02070309020205020404" pitchFamily="49" charset="0"/>
              </a:rPr>
              <a:t>public </a:t>
            </a:r>
            <a:r>
              <a:rPr lang="it-IT" sz="1600" dirty="0" err="1">
                <a:latin typeface="Courier New" panose="02070309020205020404" pitchFamily="49" charset="0"/>
                <a:cs typeface="Courier New" panose="02070309020205020404" pitchFamily="49" charset="0"/>
              </a:rPr>
              <a:t>class</a:t>
            </a:r>
            <a:r>
              <a:rPr lang="it-IT" sz="1600" dirty="0">
                <a:latin typeface="Courier New" panose="02070309020205020404" pitchFamily="49" charset="0"/>
                <a:cs typeface="Courier New" panose="02070309020205020404" pitchFamily="49" charset="0"/>
              </a:rPr>
              <a:t> </a:t>
            </a:r>
            <a:r>
              <a:rPr lang="it-IT" sz="1600" dirty="0" err="1">
                <a:latin typeface="Courier New" panose="02070309020205020404" pitchFamily="49" charset="0"/>
                <a:cs typeface="Courier New" panose="02070309020205020404" pitchFamily="49" charset="0"/>
              </a:rPr>
              <a:t>ProductRepository</a:t>
            </a:r>
            <a:r>
              <a:rPr lang="it-IT" sz="1600" dirty="0">
                <a:latin typeface="Courier New" panose="02070309020205020404" pitchFamily="49" charset="0"/>
                <a:cs typeface="Courier New" panose="02070309020205020404" pitchFamily="49" charset="0"/>
              </a:rPr>
              <a:t> {</a:t>
            </a:r>
          </a:p>
          <a:p>
            <a:pPr marL="0" indent="0">
              <a:buNone/>
            </a:pPr>
            <a:r>
              <a:rPr lang="it-IT" sz="1600" dirty="0">
                <a:latin typeface="Courier New" panose="02070309020205020404" pitchFamily="49" charset="0"/>
                <a:cs typeface="Courier New" panose="02070309020205020404" pitchFamily="49" charset="0"/>
              </a:rPr>
              <a:t>	…</a:t>
            </a:r>
          </a:p>
          <a:p>
            <a:pPr marL="0" indent="0">
              <a:buNone/>
            </a:pPr>
            <a:r>
              <a:rPr lang="it-IT" sz="1600" dirty="0">
                <a:latin typeface="Courier New" panose="02070309020205020404" pitchFamily="49" charset="0"/>
                <a:cs typeface="Courier New" panose="02070309020205020404" pitchFamily="49" charset="0"/>
              </a:rPr>
              <a:t>	public List&lt;Product&gt; </a:t>
            </a:r>
            <a:r>
              <a:rPr lang="it-IT" sz="1600" b="1" dirty="0" err="1">
                <a:latin typeface="Courier New" panose="02070309020205020404" pitchFamily="49" charset="0"/>
                <a:cs typeface="Courier New" panose="02070309020205020404" pitchFamily="49" charset="0"/>
              </a:rPr>
              <a:t>findByName</a:t>
            </a:r>
            <a:r>
              <a:rPr lang="it-IT" sz="1600" dirty="0">
                <a:latin typeface="Courier New" panose="02070309020205020404" pitchFamily="49" charset="0"/>
                <a:cs typeface="Courier New" panose="02070309020205020404" pitchFamily="49" charset="0"/>
              </a:rPr>
              <a:t>(</a:t>
            </a:r>
            <a:r>
              <a:rPr lang="it-IT" sz="1600" dirty="0" err="1">
                <a:latin typeface="Courier New" panose="02070309020205020404" pitchFamily="49" charset="0"/>
                <a:cs typeface="Courier New" panose="02070309020205020404" pitchFamily="49" charset="0"/>
              </a:rPr>
              <a:t>String</a:t>
            </a:r>
            <a:r>
              <a:rPr lang="it-IT" sz="1600" dirty="0">
                <a:latin typeface="Courier New" panose="02070309020205020404" pitchFamily="49" charset="0"/>
                <a:cs typeface="Courier New" panose="02070309020205020404" pitchFamily="49" charset="0"/>
              </a:rPr>
              <a:t> </a:t>
            </a:r>
            <a:r>
              <a:rPr lang="it-IT" sz="1600" dirty="0" err="1">
                <a:latin typeface="Courier New" panose="02070309020205020404" pitchFamily="49" charset="0"/>
                <a:cs typeface="Courier New" panose="02070309020205020404" pitchFamily="49" charset="0"/>
              </a:rPr>
              <a:t>name</a:t>
            </a:r>
            <a:r>
              <a:rPr lang="it-IT" sz="1600" dirty="0">
                <a:latin typeface="Courier New" panose="02070309020205020404" pitchFamily="49" charset="0"/>
                <a:cs typeface="Courier New" panose="02070309020205020404" pitchFamily="49" charset="0"/>
              </a:rPr>
              <a:t>) {…}       </a:t>
            </a:r>
          </a:p>
          <a:p>
            <a:pPr marL="0" indent="0">
              <a:buNone/>
            </a:pPr>
            <a:r>
              <a:rPr lang="it-IT" sz="1600" dirty="0">
                <a:latin typeface="Courier New" panose="02070309020205020404" pitchFamily="49" charset="0"/>
                <a:cs typeface="Courier New" panose="02070309020205020404" pitchFamily="49" charset="0"/>
              </a:rPr>
              <a:t>	public List&lt;Product&gt; </a:t>
            </a:r>
            <a:r>
              <a:rPr lang="it-IT" sz="1600" b="1" dirty="0" err="1">
                <a:latin typeface="Courier New" panose="02070309020205020404" pitchFamily="49" charset="0"/>
                <a:cs typeface="Courier New" panose="02070309020205020404" pitchFamily="49" charset="0"/>
              </a:rPr>
              <a:t>findByNameAndPrice</a:t>
            </a:r>
            <a:r>
              <a:rPr lang="it-IT" sz="1600" dirty="0">
                <a:latin typeface="Courier New" panose="02070309020205020404" pitchFamily="49" charset="0"/>
                <a:cs typeface="Courier New" panose="02070309020205020404" pitchFamily="49" charset="0"/>
              </a:rPr>
              <a:t>(</a:t>
            </a:r>
            <a:r>
              <a:rPr lang="it-IT" sz="1600" dirty="0" err="1">
                <a:latin typeface="Courier New" panose="02070309020205020404" pitchFamily="49" charset="0"/>
                <a:cs typeface="Courier New" panose="02070309020205020404" pitchFamily="49" charset="0"/>
              </a:rPr>
              <a:t>String</a:t>
            </a:r>
            <a:r>
              <a:rPr lang="it-IT" sz="1600" dirty="0">
                <a:latin typeface="Courier New" panose="02070309020205020404" pitchFamily="49" charset="0"/>
                <a:cs typeface="Courier New" panose="02070309020205020404" pitchFamily="49" charset="0"/>
              </a:rPr>
              <a:t> </a:t>
            </a:r>
            <a:r>
              <a:rPr lang="it-IT" sz="1600" dirty="0" err="1">
                <a:latin typeface="Courier New" panose="02070309020205020404" pitchFamily="49" charset="0"/>
                <a:cs typeface="Courier New" panose="02070309020205020404" pitchFamily="49" charset="0"/>
              </a:rPr>
              <a:t>name</a:t>
            </a:r>
            <a:r>
              <a:rPr lang="it-IT" sz="1600" dirty="0">
                <a:latin typeface="Courier New" panose="02070309020205020404" pitchFamily="49" charset="0"/>
                <a:cs typeface="Courier New" panose="02070309020205020404" pitchFamily="49" charset="0"/>
              </a:rPr>
              <a:t>, </a:t>
            </a:r>
          </a:p>
          <a:p>
            <a:pPr marL="0" indent="0">
              <a:buNone/>
            </a:pPr>
            <a:r>
              <a:rPr lang="it-IT" sz="1600" dirty="0">
                <a:latin typeface="Courier New" panose="02070309020205020404" pitchFamily="49" charset="0"/>
                <a:cs typeface="Courier New" panose="02070309020205020404" pitchFamily="49" charset="0"/>
              </a:rPr>
              <a:t>													float </a:t>
            </a:r>
            <a:r>
              <a:rPr lang="it-IT" sz="1600" dirty="0" err="1">
                <a:latin typeface="Courier New" panose="02070309020205020404" pitchFamily="49" charset="0"/>
                <a:cs typeface="Courier New" panose="02070309020205020404" pitchFamily="49" charset="0"/>
              </a:rPr>
              <a:t>price</a:t>
            </a:r>
            <a:r>
              <a:rPr lang="it-IT" sz="1600" dirty="0">
                <a:latin typeface="Courier New" panose="02070309020205020404" pitchFamily="49" charset="0"/>
                <a:cs typeface="Courier New" panose="02070309020205020404" pitchFamily="49" charset="0"/>
              </a:rPr>
              <a:t>) {…}</a:t>
            </a:r>
          </a:p>
          <a:p>
            <a:pPr marL="0" indent="0">
              <a:buNone/>
            </a:pPr>
            <a:r>
              <a:rPr lang="it-IT" sz="1600" dirty="0">
                <a:latin typeface="Courier New" panose="02070309020205020404" pitchFamily="49" charset="0"/>
                <a:cs typeface="Courier New" panose="02070309020205020404" pitchFamily="49" charset="0"/>
              </a:rPr>
              <a:t>	public List&lt;Product&gt; </a:t>
            </a:r>
            <a:r>
              <a:rPr lang="it-IT" sz="1600" b="1" dirty="0" err="1">
                <a:latin typeface="Courier New" panose="02070309020205020404" pitchFamily="49" charset="0"/>
                <a:cs typeface="Courier New" panose="02070309020205020404" pitchFamily="49" charset="0"/>
              </a:rPr>
              <a:t>findByProvider</a:t>
            </a:r>
            <a:r>
              <a:rPr lang="it-IT" sz="1600" dirty="0">
                <a:latin typeface="Courier New" panose="02070309020205020404" pitchFamily="49" charset="0"/>
                <a:cs typeface="Courier New" panose="02070309020205020404" pitchFamily="49" charset="0"/>
              </a:rPr>
              <a:t>(Provider provider) {…}</a:t>
            </a:r>
          </a:p>
          <a:p>
            <a:pPr marL="0" indent="0">
              <a:buNone/>
            </a:pPr>
            <a:r>
              <a:rPr lang="it-IT" sz="1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198770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6D7D5B1-2711-494D-B24C-E6E2C5190B9C}"/>
              </a:ext>
            </a:extLst>
          </p:cNvPr>
          <p:cNvSpPr>
            <a:spLocks noGrp="1"/>
          </p:cNvSpPr>
          <p:nvPr>
            <p:ph type="title"/>
          </p:nvPr>
        </p:nvSpPr>
        <p:spPr/>
        <p:txBody>
          <a:bodyPr/>
          <a:lstStyle/>
          <a:p>
            <a:r>
              <a:rPr lang="en-US" dirty="0" err="1"/>
              <a:t>Miglioriamo</a:t>
            </a:r>
            <a:r>
              <a:rPr lang="en-US" dirty="0"/>
              <a:t> la </a:t>
            </a:r>
            <a:r>
              <a:rPr lang="en-US" dirty="0" err="1"/>
              <a:t>soluzione</a:t>
            </a:r>
            <a:endParaRPr lang="en-US" dirty="0"/>
          </a:p>
        </p:txBody>
      </p:sp>
      <p:sp>
        <p:nvSpPr>
          <p:cNvPr id="3" name="Segnaposto contenuto 2">
            <a:extLst>
              <a:ext uri="{FF2B5EF4-FFF2-40B4-BE49-F238E27FC236}">
                <a16:creationId xmlns:a16="http://schemas.microsoft.com/office/drawing/2014/main" id="{0E2B33B7-36C8-9446-A925-72FDFB913F96}"/>
              </a:ext>
            </a:extLst>
          </p:cNvPr>
          <p:cNvSpPr>
            <a:spLocks noGrp="1"/>
          </p:cNvSpPr>
          <p:nvPr>
            <p:ph idx="1"/>
          </p:nvPr>
        </p:nvSpPr>
        <p:spPr/>
        <p:txBody>
          <a:bodyPr>
            <a:normAutofit fontScale="92500"/>
          </a:bodyPr>
          <a:lstStyle/>
          <a:p>
            <a:r>
              <a:rPr lang="en-US" dirty="0" err="1"/>
              <a:t>Abbiamo</a:t>
            </a:r>
            <a:r>
              <a:rPr lang="en-US" dirty="0"/>
              <a:t> </a:t>
            </a:r>
            <a:r>
              <a:rPr lang="en-US" dirty="0" err="1"/>
              <a:t>tante</a:t>
            </a:r>
            <a:r>
              <a:rPr lang="en-US" dirty="0"/>
              <a:t> </a:t>
            </a:r>
            <a:r>
              <a:rPr lang="en-US" dirty="0" err="1"/>
              <a:t>classi</a:t>
            </a:r>
            <a:r>
              <a:rPr lang="en-US" dirty="0"/>
              <a:t> con </a:t>
            </a:r>
            <a:r>
              <a:rPr lang="en-US" dirty="0" err="1"/>
              <a:t>codice</a:t>
            </a:r>
            <a:r>
              <a:rPr lang="en-US" dirty="0"/>
              <a:t> </a:t>
            </a:r>
            <a:r>
              <a:rPr lang="en-US" dirty="0" err="1"/>
              <a:t>estremamente</a:t>
            </a:r>
            <a:r>
              <a:rPr lang="en-US" dirty="0"/>
              <a:t> simile: cambia solo </a:t>
            </a:r>
            <a:r>
              <a:rPr lang="en-US" dirty="0" err="1"/>
              <a:t>il</a:t>
            </a:r>
            <a:r>
              <a:rPr lang="en-US" dirty="0"/>
              <a:t> </a:t>
            </a:r>
            <a:r>
              <a:rPr lang="en-US" dirty="0" err="1"/>
              <a:t>tipo</a:t>
            </a:r>
            <a:r>
              <a:rPr lang="en-US" dirty="0"/>
              <a:t>!</a:t>
            </a:r>
          </a:p>
          <a:p>
            <a:r>
              <a:rPr lang="en-US" dirty="0" err="1"/>
              <a:t>Possiamo</a:t>
            </a:r>
            <a:r>
              <a:rPr lang="en-US" dirty="0"/>
              <a:t> </a:t>
            </a:r>
            <a:r>
              <a:rPr lang="en-US" dirty="0" err="1"/>
              <a:t>definire</a:t>
            </a:r>
            <a:r>
              <a:rPr lang="en-US" dirty="0"/>
              <a:t> una Java interface </a:t>
            </a:r>
            <a:r>
              <a:rPr lang="en-US" dirty="0" err="1"/>
              <a:t>generica</a:t>
            </a:r>
            <a:r>
              <a:rPr lang="en-US" dirty="0"/>
              <a:t> ed una </a:t>
            </a:r>
            <a:r>
              <a:rPr lang="en-US" dirty="0" err="1"/>
              <a:t>sua</a:t>
            </a:r>
            <a:r>
              <a:rPr lang="en-US" dirty="0"/>
              <a:t> </a:t>
            </a:r>
            <a:r>
              <a:rPr lang="en-US" dirty="0" err="1"/>
              <a:t>implementazione</a:t>
            </a:r>
            <a:r>
              <a:rPr lang="en-US" dirty="0"/>
              <a:t> </a:t>
            </a:r>
            <a:r>
              <a:rPr lang="en-US" dirty="0" err="1"/>
              <a:t>generica</a:t>
            </a:r>
            <a:endParaRPr lang="en-US" dirty="0"/>
          </a:p>
          <a:p>
            <a:r>
              <a:rPr lang="en-US" dirty="0" err="1"/>
              <a:t>Ogni</a:t>
            </a:r>
            <a:r>
              <a:rPr lang="en-US" dirty="0"/>
              <a:t> repository </a:t>
            </a:r>
            <a:r>
              <a:rPr lang="en-US" dirty="0" err="1"/>
              <a:t>può</a:t>
            </a:r>
            <a:r>
              <a:rPr lang="en-US" dirty="0"/>
              <a:t> </a:t>
            </a:r>
            <a:r>
              <a:rPr lang="en-US" dirty="0" err="1"/>
              <a:t>essere</a:t>
            </a:r>
            <a:r>
              <a:rPr lang="en-US" dirty="0"/>
              <a:t> </a:t>
            </a:r>
            <a:r>
              <a:rPr lang="en-US" dirty="0" err="1"/>
              <a:t>definito</a:t>
            </a:r>
            <a:r>
              <a:rPr lang="en-US" dirty="0"/>
              <a:t> come una </a:t>
            </a:r>
            <a:r>
              <a:rPr lang="en-US" dirty="0" err="1"/>
              <a:t>classe</a:t>
            </a:r>
            <a:r>
              <a:rPr lang="en-US" dirty="0"/>
              <a:t> </a:t>
            </a:r>
            <a:r>
              <a:rPr lang="en-US" dirty="0" err="1"/>
              <a:t>che</a:t>
            </a:r>
            <a:r>
              <a:rPr lang="en-US" dirty="0"/>
              <a:t> </a:t>
            </a:r>
            <a:r>
              <a:rPr lang="en-US" dirty="0" err="1"/>
              <a:t>estende</a:t>
            </a:r>
            <a:r>
              <a:rPr lang="en-US" dirty="0"/>
              <a:t> </a:t>
            </a:r>
            <a:r>
              <a:rPr lang="en-US" dirty="0" err="1"/>
              <a:t>l'implementazione</a:t>
            </a:r>
            <a:r>
              <a:rPr lang="en-US" dirty="0"/>
              <a:t> </a:t>
            </a:r>
            <a:r>
              <a:rPr lang="en-US" dirty="0" err="1"/>
              <a:t>della</a:t>
            </a:r>
            <a:r>
              <a:rPr lang="en-US" dirty="0"/>
              <a:t> interface </a:t>
            </a:r>
            <a:r>
              <a:rPr lang="en-US" dirty="0" err="1"/>
              <a:t>generica</a:t>
            </a:r>
            <a:r>
              <a:rPr lang="en-US" dirty="0"/>
              <a:t> (se </a:t>
            </a:r>
            <a:r>
              <a:rPr lang="en-US" dirty="0" err="1"/>
              <a:t>necessario</a:t>
            </a:r>
            <a:r>
              <a:rPr lang="en-US" dirty="0"/>
              <a:t>, </a:t>
            </a:r>
            <a:r>
              <a:rPr lang="en-US" dirty="0" err="1"/>
              <a:t>introducendo</a:t>
            </a:r>
            <a:r>
              <a:rPr lang="en-US" dirty="0"/>
              <a:t> </a:t>
            </a:r>
            <a:r>
              <a:rPr lang="en-US" dirty="0" err="1"/>
              <a:t>nuovi</a:t>
            </a:r>
            <a:r>
              <a:rPr lang="en-US" dirty="0"/>
              <a:t> </a:t>
            </a:r>
            <a:r>
              <a:rPr lang="en-US" dirty="0" err="1"/>
              <a:t>metodi</a:t>
            </a:r>
            <a:r>
              <a:rPr lang="en-US" dirty="0"/>
              <a:t>)</a:t>
            </a:r>
          </a:p>
          <a:p>
            <a:r>
              <a:rPr lang="en-US" dirty="0"/>
              <a:t>Per </a:t>
            </a:r>
            <a:r>
              <a:rPr lang="en-US" dirty="0" err="1"/>
              <a:t>semplicità</a:t>
            </a:r>
            <a:r>
              <a:rPr lang="en-US" dirty="0"/>
              <a:t>, </a:t>
            </a:r>
            <a:r>
              <a:rPr lang="en-US" dirty="0" err="1"/>
              <a:t>ipotizziamo</a:t>
            </a:r>
            <a:r>
              <a:rPr lang="en-US" dirty="0"/>
              <a:t> </a:t>
            </a:r>
            <a:r>
              <a:rPr lang="en-US" dirty="0" err="1"/>
              <a:t>che</a:t>
            </a:r>
            <a:r>
              <a:rPr lang="en-US" dirty="0"/>
              <a:t> le </a:t>
            </a:r>
            <a:r>
              <a:rPr lang="en-US" dirty="0" err="1"/>
              <a:t>classi</a:t>
            </a:r>
            <a:r>
              <a:rPr lang="en-US" dirty="0"/>
              <a:t> del </a:t>
            </a:r>
            <a:r>
              <a:rPr lang="en-US" dirty="0" err="1"/>
              <a:t>modello</a:t>
            </a:r>
            <a:r>
              <a:rPr lang="en-US" dirty="0"/>
              <a:t> </a:t>
            </a:r>
            <a:r>
              <a:rPr lang="en-US" dirty="0" err="1"/>
              <a:t>abbiano</a:t>
            </a:r>
            <a:r>
              <a:rPr lang="en-US" dirty="0"/>
              <a:t> sempre un id (</a:t>
            </a:r>
            <a:r>
              <a:rPr lang="en-US" dirty="0" err="1"/>
              <a:t>potrebbero</a:t>
            </a:r>
            <a:r>
              <a:rPr lang="en-US" dirty="0"/>
              <a:t> </a:t>
            </a:r>
            <a:r>
              <a:rPr lang="en-US" dirty="0" err="1"/>
              <a:t>implementare</a:t>
            </a:r>
            <a:r>
              <a:rPr lang="en-US" dirty="0"/>
              <a:t> </a:t>
            </a:r>
            <a:r>
              <a:rPr lang="en-US" dirty="0" err="1"/>
              <a:t>un'opportuna</a:t>
            </a:r>
            <a:r>
              <a:rPr lang="en-US" dirty="0"/>
              <a:t> </a:t>
            </a:r>
            <a:r>
              <a:rPr lang="en-US" dirty="0" err="1"/>
              <a:t>interfaccia</a:t>
            </a:r>
            <a:r>
              <a:rPr lang="en-US" dirty="0"/>
              <a:t>)</a:t>
            </a:r>
          </a:p>
        </p:txBody>
      </p:sp>
    </p:spTree>
    <p:extLst>
      <p:ext uri="{BB962C8B-B14F-4D97-AF65-F5344CB8AC3E}">
        <p14:creationId xmlns:p14="http://schemas.microsoft.com/office/powerpoint/2010/main" val="406388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9F1E03D-7806-1345-BE61-DC14B1EC02C0}"/>
              </a:ext>
            </a:extLst>
          </p:cNvPr>
          <p:cNvSpPr>
            <a:spLocks noGrp="1"/>
          </p:cNvSpPr>
          <p:nvPr>
            <p:ph type="title"/>
          </p:nvPr>
        </p:nvSpPr>
        <p:spPr/>
        <p:txBody>
          <a:bodyPr/>
          <a:lstStyle/>
          <a:p>
            <a:pPr algn="r"/>
            <a:r>
              <a:rPr lang="en-US" dirty="0" err="1"/>
              <a:t>SimpleRepository</a:t>
            </a:r>
            <a:r>
              <a:rPr lang="en-US" dirty="0"/>
              <a:t>&lt;T&gt;</a:t>
            </a:r>
          </a:p>
        </p:txBody>
      </p:sp>
      <p:sp>
        <p:nvSpPr>
          <p:cNvPr id="3" name="Segnaposto contenuto 2">
            <a:extLst>
              <a:ext uri="{FF2B5EF4-FFF2-40B4-BE49-F238E27FC236}">
                <a16:creationId xmlns:a16="http://schemas.microsoft.com/office/drawing/2014/main" id="{1266C6F4-B1B3-1744-998D-84B0143CC169}"/>
              </a:ext>
            </a:extLst>
          </p:cNvPr>
          <p:cNvSpPr>
            <a:spLocks noGrp="1"/>
          </p:cNvSpPr>
          <p:nvPr>
            <p:ph idx="1"/>
          </p:nvPr>
        </p:nvSpPr>
        <p:spPr>
          <a:xfrm>
            <a:off x="228600" y="342898"/>
            <a:ext cx="8686800" cy="4594623"/>
          </a:xfrm>
        </p:spPr>
        <p:txBody>
          <a:bodyPr>
            <a:normAutofit fontScale="62500" lnSpcReduction="20000"/>
          </a:bodyPr>
          <a:lstStyle/>
          <a:p>
            <a:pPr marL="0" indent="0">
              <a:buNone/>
            </a:pPr>
            <a:r>
              <a:rPr lang="it-IT" dirty="0">
                <a:solidFill>
                  <a:srgbClr val="7F0055"/>
                </a:solidFill>
                <a:latin typeface="Calibri Light" panose="020F0302020204030204" pitchFamily="34" charset="0"/>
              </a:rPr>
              <a:t>public</a:t>
            </a:r>
            <a:r>
              <a:rPr lang="it-IT" dirty="0">
                <a:latin typeface="Calibri Light" panose="020F0302020204030204" pitchFamily="34" charset="0"/>
              </a:rPr>
              <a:t> </a:t>
            </a:r>
            <a:r>
              <a:rPr lang="it-IT" dirty="0" err="1">
                <a:solidFill>
                  <a:srgbClr val="7F0055"/>
                </a:solidFill>
                <a:latin typeface="Calibri Light" panose="020F0302020204030204" pitchFamily="34" charset="0"/>
              </a:rPr>
              <a:t>interface</a:t>
            </a:r>
            <a:r>
              <a:rPr lang="it-IT" dirty="0">
                <a:latin typeface="Calibri Light" panose="020F0302020204030204" pitchFamily="34" charset="0"/>
              </a:rPr>
              <a:t> </a:t>
            </a:r>
            <a:r>
              <a:rPr lang="it-IT" dirty="0" err="1">
                <a:latin typeface="Calibri Light" panose="020F0302020204030204" pitchFamily="34" charset="0"/>
              </a:rPr>
              <a:t>SimpleRepository</a:t>
            </a:r>
            <a:r>
              <a:rPr lang="it-IT" dirty="0">
                <a:latin typeface="Calibri Light" panose="020F0302020204030204" pitchFamily="34" charset="0"/>
              </a:rPr>
              <a:t>&lt;T&gt;  {</a:t>
            </a:r>
          </a:p>
          <a:p>
            <a:pPr marL="0" indent="0">
              <a:buNone/>
            </a:pPr>
            <a:br>
              <a:rPr lang="it-IT" dirty="0">
                <a:latin typeface="Calibri Light" panose="020F0302020204030204" pitchFamily="34" charset="0"/>
              </a:rPr>
            </a:br>
            <a:r>
              <a:rPr lang="it-IT" dirty="0">
                <a:latin typeface="Calibri Light" panose="020F0302020204030204" pitchFamily="34" charset="0"/>
              </a:rPr>
              <a:t>	</a:t>
            </a:r>
            <a:r>
              <a:rPr lang="it-IT" dirty="0">
                <a:solidFill>
                  <a:srgbClr val="7F0055"/>
                </a:solidFill>
                <a:latin typeface="Calibri Light" panose="020F0302020204030204" pitchFamily="34" charset="0"/>
              </a:rPr>
              <a:t>public</a:t>
            </a:r>
            <a:r>
              <a:rPr lang="it-IT" dirty="0">
                <a:latin typeface="Calibri Light" panose="020F0302020204030204" pitchFamily="34" charset="0"/>
              </a:rPr>
              <a:t> </a:t>
            </a:r>
            <a:r>
              <a:rPr lang="it-IT" dirty="0" err="1">
                <a:latin typeface="Calibri Light" panose="020F0302020204030204" pitchFamily="34" charset="0"/>
              </a:rPr>
              <a:t>EntityManager</a:t>
            </a:r>
            <a:r>
              <a:rPr lang="it-IT" dirty="0">
                <a:latin typeface="Calibri Light" panose="020F0302020204030204" pitchFamily="34" charset="0"/>
              </a:rPr>
              <a:t> </a:t>
            </a:r>
            <a:r>
              <a:rPr lang="it-IT" dirty="0" err="1">
                <a:latin typeface="Calibri Light" panose="020F0302020204030204" pitchFamily="34" charset="0"/>
              </a:rPr>
              <a:t>getEntityManager</a:t>
            </a:r>
            <a:r>
              <a:rPr lang="it-IT" dirty="0">
                <a:latin typeface="Calibri Light" panose="020F0302020204030204" pitchFamily="34" charset="0"/>
              </a:rPr>
              <a:t>();</a:t>
            </a:r>
          </a:p>
          <a:p>
            <a:pPr marL="0" indent="0">
              <a:buNone/>
            </a:pPr>
            <a:endParaRPr lang="it-IT" dirty="0">
              <a:latin typeface="Calibri Light" panose="020F0302020204030204" pitchFamily="34" charset="0"/>
            </a:endParaRPr>
          </a:p>
          <a:p>
            <a:pPr marL="0" indent="0">
              <a:buNone/>
            </a:pPr>
            <a:r>
              <a:rPr lang="it-IT" dirty="0">
                <a:solidFill>
                  <a:srgbClr val="7F0055"/>
                </a:solidFill>
                <a:latin typeface="Calibri Light" panose="020F0302020204030204" pitchFamily="34" charset="0"/>
              </a:rPr>
              <a:t>	public</a:t>
            </a:r>
            <a:r>
              <a:rPr lang="it-IT" dirty="0">
                <a:latin typeface="Calibri Light" panose="020F0302020204030204" pitchFamily="34" charset="0"/>
              </a:rPr>
              <a:t> </a:t>
            </a:r>
            <a:r>
              <a:rPr lang="it-IT" dirty="0" err="1">
                <a:solidFill>
                  <a:srgbClr val="7F0055"/>
                </a:solidFill>
                <a:latin typeface="Calibri Light" panose="020F0302020204030204" pitchFamily="34" charset="0"/>
              </a:rPr>
              <a:t>void</a:t>
            </a:r>
            <a:r>
              <a:rPr lang="it-IT" dirty="0">
                <a:latin typeface="Calibri Light" panose="020F0302020204030204" pitchFamily="34" charset="0"/>
              </a:rPr>
              <a:t> </a:t>
            </a:r>
            <a:r>
              <a:rPr lang="it-IT" dirty="0" err="1">
                <a:latin typeface="Calibri Light" panose="020F0302020204030204" pitchFamily="34" charset="0"/>
              </a:rPr>
              <a:t>setEntityManager</a:t>
            </a:r>
            <a:r>
              <a:rPr lang="it-IT" dirty="0">
                <a:latin typeface="Calibri Light" panose="020F0302020204030204" pitchFamily="34" charset="0"/>
              </a:rPr>
              <a:t>(</a:t>
            </a:r>
            <a:r>
              <a:rPr lang="it-IT" dirty="0" err="1">
                <a:latin typeface="Calibri Light" panose="020F0302020204030204" pitchFamily="34" charset="0"/>
              </a:rPr>
              <a:t>EntityManager</a:t>
            </a:r>
            <a:r>
              <a:rPr lang="it-IT" dirty="0">
                <a:latin typeface="Calibri Light" panose="020F0302020204030204" pitchFamily="34" charset="0"/>
              </a:rPr>
              <a:t> </a:t>
            </a:r>
            <a:r>
              <a:rPr lang="it-IT" dirty="0" err="1">
                <a:solidFill>
                  <a:srgbClr val="6A3E3E"/>
                </a:solidFill>
                <a:latin typeface="Calibri Light" panose="020F0302020204030204" pitchFamily="34" charset="0"/>
              </a:rPr>
              <a:t>em</a:t>
            </a:r>
            <a:r>
              <a:rPr lang="it-IT" dirty="0">
                <a:latin typeface="Calibri Light" panose="020F0302020204030204" pitchFamily="34" charset="0"/>
              </a:rPr>
              <a:t>);</a:t>
            </a:r>
          </a:p>
          <a:p>
            <a:pPr marL="0" indent="0">
              <a:buNone/>
            </a:pPr>
            <a:endParaRPr lang="it-IT" dirty="0">
              <a:latin typeface="Calibri Light" panose="020F0302020204030204" pitchFamily="34" charset="0"/>
            </a:endParaRPr>
          </a:p>
          <a:p>
            <a:pPr marL="0" indent="0">
              <a:buNone/>
            </a:pPr>
            <a:r>
              <a:rPr lang="it-IT" dirty="0">
                <a:solidFill>
                  <a:srgbClr val="7F0055"/>
                </a:solidFill>
                <a:latin typeface="Calibri Light" panose="020F0302020204030204" pitchFamily="34" charset="0"/>
              </a:rPr>
              <a:t>	public</a:t>
            </a:r>
            <a:r>
              <a:rPr lang="it-IT" dirty="0">
                <a:latin typeface="Calibri Light" panose="020F0302020204030204" pitchFamily="34" charset="0"/>
              </a:rPr>
              <a:t> T </a:t>
            </a:r>
            <a:r>
              <a:rPr lang="it-IT" dirty="0" err="1">
                <a:latin typeface="Calibri Light" panose="020F0302020204030204" pitchFamily="34" charset="0"/>
              </a:rPr>
              <a:t>save</a:t>
            </a:r>
            <a:r>
              <a:rPr lang="it-IT" dirty="0">
                <a:latin typeface="Calibri Light" panose="020F0302020204030204" pitchFamily="34" charset="0"/>
              </a:rPr>
              <a:t>(T </a:t>
            </a:r>
            <a:r>
              <a:rPr lang="it-IT" dirty="0" err="1">
                <a:solidFill>
                  <a:srgbClr val="6A3E3E"/>
                </a:solidFill>
                <a:latin typeface="Calibri Light" panose="020F0302020204030204" pitchFamily="34" charset="0"/>
              </a:rPr>
              <a:t>entity</a:t>
            </a:r>
            <a:r>
              <a:rPr lang="it-IT" dirty="0">
                <a:latin typeface="Calibri Light" panose="020F0302020204030204" pitchFamily="34" charset="0"/>
              </a:rPr>
              <a:t>);</a:t>
            </a:r>
          </a:p>
          <a:p>
            <a:pPr marL="0" indent="0">
              <a:buNone/>
            </a:pPr>
            <a:endParaRPr lang="it-IT" dirty="0">
              <a:solidFill>
                <a:srgbClr val="7F0055"/>
              </a:solidFill>
              <a:latin typeface="Calibri Light" panose="020F0302020204030204" pitchFamily="34" charset="0"/>
            </a:endParaRPr>
          </a:p>
          <a:p>
            <a:pPr marL="0" indent="0">
              <a:buNone/>
            </a:pPr>
            <a:r>
              <a:rPr lang="it-IT" dirty="0">
                <a:solidFill>
                  <a:srgbClr val="7F0055"/>
                </a:solidFill>
                <a:latin typeface="Calibri Light" panose="020F0302020204030204" pitchFamily="34" charset="0"/>
              </a:rPr>
              <a:t>	public</a:t>
            </a:r>
            <a:r>
              <a:rPr lang="it-IT" dirty="0">
                <a:latin typeface="Calibri Light" panose="020F0302020204030204" pitchFamily="34" charset="0"/>
              </a:rPr>
              <a:t> List&lt;T&gt; </a:t>
            </a:r>
            <a:r>
              <a:rPr lang="it-IT" dirty="0" err="1">
                <a:latin typeface="Calibri Light" panose="020F0302020204030204" pitchFamily="34" charset="0"/>
              </a:rPr>
              <a:t>findAll</a:t>
            </a:r>
            <a:r>
              <a:rPr lang="it-IT" dirty="0">
                <a:latin typeface="Calibri Light" panose="020F0302020204030204" pitchFamily="34" charset="0"/>
              </a:rPr>
              <a:t>();</a:t>
            </a:r>
          </a:p>
          <a:p>
            <a:pPr marL="0" indent="0">
              <a:buNone/>
            </a:pPr>
            <a:endParaRPr lang="it-IT" dirty="0">
              <a:latin typeface="Calibri Light" panose="020F0302020204030204" pitchFamily="34" charset="0"/>
            </a:endParaRPr>
          </a:p>
          <a:p>
            <a:pPr marL="0" indent="0">
              <a:buNone/>
            </a:pPr>
            <a:r>
              <a:rPr lang="it-IT" dirty="0">
                <a:solidFill>
                  <a:srgbClr val="7F0055"/>
                </a:solidFill>
                <a:latin typeface="Calibri Light" panose="020F0302020204030204" pitchFamily="34" charset="0"/>
              </a:rPr>
              <a:t>	public</a:t>
            </a:r>
            <a:r>
              <a:rPr lang="it-IT" dirty="0">
                <a:latin typeface="Calibri Light" panose="020F0302020204030204" pitchFamily="34" charset="0"/>
              </a:rPr>
              <a:t> T </a:t>
            </a:r>
            <a:r>
              <a:rPr lang="it-IT" dirty="0" err="1">
                <a:latin typeface="Calibri Light" panose="020F0302020204030204" pitchFamily="34" charset="0"/>
              </a:rPr>
              <a:t>findById</a:t>
            </a:r>
            <a:r>
              <a:rPr lang="it-IT" dirty="0">
                <a:latin typeface="Calibri Light" panose="020F0302020204030204" pitchFamily="34" charset="0"/>
              </a:rPr>
              <a:t>(Long </a:t>
            </a:r>
            <a:r>
              <a:rPr lang="it-IT" dirty="0">
                <a:solidFill>
                  <a:srgbClr val="6A3E3E"/>
                </a:solidFill>
                <a:latin typeface="Calibri Light" panose="020F0302020204030204" pitchFamily="34" charset="0"/>
              </a:rPr>
              <a:t>id</a:t>
            </a:r>
            <a:r>
              <a:rPr lang="it-IT" dirty="0">
                <a:latin typeface="Calibri Light" panose="020F0302020204030204" pitchFamily="34" charset="0"/>
              </a:rPr>
              <a:t>);</a:t>
            </a:r>
          </a:p>
          <a:p>
            <a:pPr marL="0" indent="0">
              <a:buNone/>
            </a:pPr>
            <a:endParaRPr lang="it-IT" dirty="0">
              <a:latin typeface="Calibri Light" panose="020F0302020204030204" pitchFamily="34" charset="0"/>
            </a:endParaRPr>
          </a:p>
          <a:p>
            <a:pPr marL="0" indent="0">
              <a:buNone/>
            </a:pPr>
            <a:r>
              <a:rPr lang="it-IT" dirty="0">
                <a:solidFill>
                  <a:srgbClr val="7F0055"/>
                </a:solidFill>
                <a:latin typeface="Calibri Light" panose="020F0302020204030204" pitchFamily="34" charset="0"/>
              </a:rPr>
              <a:t>	public</a:t>
            </a:r>
            <a:r>
              <a:rPr lang="it-IT" dirty="0">
                <a:latin typeface="Calibri Light" panose="020F0302020204030204" pitchFamily="34" charset="0"/>
              </a:rPr>
              <a:t> </a:t>
            </a:r>
            <a:r>
              <a:rPr lang="it-IT" dirty="0" err="1">
                <a:solidFill>
                  <a:srgbClr val="7F0055"/>
                </a:solidFill>
                <a:latin typeface="Calibri Light" panose="020F0302020204030204" pitchFamily="34" charset="0"/>
              </a:rPr>
              <a:t>void</a:t>
            </a:r>
            <a:r>
              <a:rPr lang="it-IT" dirty="0">
                <a:latin typeface="Calibri Light" panose="020F0302020204030204" pitchFamily="34" charset="0"/>
              </a:rPr>
              <a:t> delete(T </a:t>
            </a:r>
            <a:r>
              <a:rPr lang="it-IT" dirty="0">
                <a:solidFill>
                  <a:srgbClr val="6A3E3E"/>
                </a:solidFill>
                <a:latin typeface="Calibri Light" panose="020F0302020204030204" pitchFamily="34" charset="0"/>
              </a:rPr>
              <a:t>t</a:t>
            </a:r>
            <a:r>
              <a:rPr lang="it-IT" dirty="0">
                <a:latin typeface="Calibri Light" panose="020F0302020204030204" pitchFamily="34" charset="0"/>
              </a:rPr>
              <a:t>);</a:t>
            </a:r>
          </a:p>
          <a:p>
            <a:pPr marL="0" indent="0">
              <a:buNone/>
            </a:pPr>
            <a:endParaRPr lang="it-IT" dirty="0">
              <a:latin typeface="Calibri Light" panose="020F0302020204030204" pitchFamily="34" charset="0"/>
            </a:endParaRPr>
          </a:p>
          <a:p>
            <a:pPr marL="0" indent="0">
              <a:buNone/>
            </a:pPr>
            <a:r>
              <a:rPr lang="it-IT" dirty="0">
                <a:solidFill>
                  <a:srgbClr val="7F0055"/>
                </a:solidFill>
                <a:latin typeface="Calibri Light" panose="020F0302020204030204" pitchFamily="34" charset="0"/>
              </a:rPr>
              <a:t>	public</a:t>
            </a:r>
            <a:r>
              <a:rPr lang="it-IT" dirty="0">
                <a:latin typeface="Calibri Light" panose="020F0302020204030204" pitchFamily="34" charset="0"/>
              </a:rPr>
              <a:t> </a:t>
            </a:r>
            <a:r>
              <a:rPr lang="it-IT" dirty="0" err="1">
                <a:solidFill>
                  <a:srgbClr val="7F0055"/>
                </a:solidFill>
                <a:latin typeface="Calibri Light" panose="020F0302020204030204" pitchFamily="34" charset="0"/>
              </a:rPr>
              <a:t>void</a:t>
            </a:r>
            <a:r>
              <a:rPr lang="it-IT" dirty="0">
                <a:latin typeface="Calibri Light" panose="020F0302020204030204" pitchFamily="34" charset="0"/>
              </a:rPr>
              <a:t> </a:t>
            </a:r>
            <a:r>
              <a:rPr lang="it-IT" dirty="0" err="1">
                <a:latin typeface="Calibri Light" panose="020F0302020204030204" pitchFamily="34" charset="0"/>
              </a:rPr>
              <a:t>deleteAll</a:t>
            </a:r>
            <a:r>
              <a:rPr lang="it-IT" dirty="0">
                <a:latin typeface="Calibri Light" panose="020F0302020204030204" pitchFamily="34" charset="0"/>
              </a:rPr>
              <a:t>();</a:t>
            </a:r>
          </a:p>
          <a:p>
            <a:pPr marL="0" indent="0">
              <a:buNone/>
            </a:pPr>
            <a:endParaRPr lang="it-IT" dirty="0">
              <a:solidFill>
                <a:srgbClr val="7F0055"/>
              </a:solidFill>
              <a:latin typeface="Calibri Light" panose="020F0302020204030204" pitchFamily="34" charset="0"/>
            </a:endParaRPr>
          </a:p>
          <a:p>
            <a:pPr marL="0" indent="0">
              <a:buNone/>
            </a:pPr>
            <a:r>
              <a:rPr lang="it-IT" dirty="0">
                <a:solidFill>
                  <a:srgbClr val="7F0055"/>
                </a:solidFill>
                <a:latin typeface="Calibri Light" panose="020F0302020204030204" pitchFamily="34" charset="0"/>
              </a:rPr>
              <a:t>	public</a:t>
            </a:r>
            <a:r>
              <a:rPr lang="it-IT" dirty="0">
                <a:latin typeface="Calibri Light" panose="020F0302020204030204" pitchFamily="34" charset="0"/>
              </a:rPr>
              <a:t> </a:t>
            </a:r>
            <a:r>
              <a:rPr lang="it-IT" dirty="0">
                <a:solidFill>
                  <a:srgbClr val="7F0055"/>
                </a:solidFill>
                <a:latin typeface="Calibri Light" panose="020F0302020204030204" pitchFamily="34" charset="0"/>
              </a:rPr>
              <a:t>long</a:t>
            </a:r>
            <a:r>
              <a:rPr lang="it-IT" dirty="0">
                <a:latin typeface="Calibri Light" panose="020F0302020204030204" pitchFamily="34" charset="0"/>
              </a:rPr>
              <a:t> </a:t>
            </a:r>
            <a:r>
              <a:rPr lang="it-IT" dirty="0" err="1">
                <a:latin typeface="Calibri Light" panose="020F0302020204030204" pitchFamily="34" charset="0"/>
              </a:rPr>
              <a:t>count</a:t>
            </a:r>
            <a:r>
              <a:rPr lang="it-IT" dirty="0">
                <a:latin typeface="Calibri Light" panose="020F0302020204030204" pitchFamily="34" charset="0"/>
              </a:rPr>
              <a:t>();</a:t>
            </a:r>
          </a:p>
          <a:p>
            <a:pPr marL="0" indent="0">
              <a:buNone/>
            </a:pPr>
            <a:endParaRPr lang="it-IT" dirty="0">
              <a:latin typeface="Calibri Light" panose="020F0302020204030204" pitchFamily="34" charset="0"/>
            </a:endParaRPr>
          </a:p>
          <a:p>
            <a:pPr marL="0" indent="0">
              <a:buNone/>
            </a:pPr>
            <a:r>
              <a:rPr lang="it-IT" dirty="0">
                <a:solidFill>
                  <a:srgbClr val="7F0055"/>
                </a:solidFill>
                <a:latin typeface="Calibri Light" panose="020F0302020204030204" pitchFamily="34" charset="0"/>
              </a:rPr>
              <a:t>	public</a:t>
            </a:r>
            <a:r>
              <a:rPr lang="it-IT" dirty="0">
                <a:latin typeface="Calibri Light" panose="020F0302020204030204" pitchFamily="34" charset="0"/>
              </a:rPr>
              <a:t> </a:t>
            </a:r>
            <a:r>
              <a:rPr lang="it-IT" dirty="0" err="1">
                <a:solidFill>
                  <a:srgbClr val="7F0055"/>
                </a:solidFill>
                <a:latin typeface="Calibri Light" panose="020F0302020204030204" pitchFamily="34" charset="0"/>
              </a:rPr>
              <a:t>boolean</a:t>
            </a:r>
            <a:r>
              <a:rPr lang="it-IT" dirty="0">
                <a:latin typeface="Calibri Light" panose="020F0302020204030204" pitchFamily="34" charset="0"/>
              </a:rPr>
              <a:t> </a:t>
            </a:r>
            <a:r>
              <a:rPr lang="it-IT" dirty="0" err="1">
                <a:latin typeface="Calibri Light" panose="020F0302020204030204" pitchFamily="34" charset="0"/>
              </a:rPr>
              <a:t>existsById</a:t>
            </a:r>
            <a:r>
              <a:rPr lang="it-IT" dirty="0">
                <a:latin typeface="Calibri Light" panose="020F0302020204030204" pitchFamily="34" charset="0"/>
              </a:rPr>
              <a:t>(Long </a:t>
            </a:r>
            <a:r>
              <a:rPr lang="it-IT" dirty="0">
                <a:solidFill>
                  <a:srgbClr val="6A3E3E"/>
                </a:solidFill>
                <a:latin typeface="Calibri Light" panose="020F0302020204030204" pitchFamily="34" charset="0"/>
              </a:rPr>
              <a:t>id</a:t>
            </a:r>
            <a:r>
              <a:rPr lang="it-IT" dirty="0">
                <a:latin typeface="Calibri Light" panose="020F0302020204030204" pitchFamily="34" charset="0"/>
              </a:rPr>
              <a:t>);</a:t>
            </a:r>
          </a:p>
          <a:p>
            <a:pPr marL="0" indent="0">
              <a:buNone/>
            </a:pPr>
            <a:r>
              <a:rPr lang="it-IT" dirty="0">
                <a:latin typeface="Calibri Light" panose="020F0302020204030204" pitchFamily="34" charset="0"/>
              </a:rPr>
              <a:t>}</a:t>
            </a:r>
          </a:p>
          <a:p>
            <a:endParaRPr lang="en-US" dirty="0"/>
          </a:p>
        </p:txBody>
      </p:sp>
    </p:spTree>
    <p:extLst>
      <p:ext uri="{BB962C8B-B14F-4D97-AF65-F5344CB8AC3E}">
        <p14:creationId xmlns:p14="http://schemas.microsoft.com/office/powerpoint/2010/main" val="311497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F442936-2740-CD43-B432-680959CF02B7}"/>
              </a:ext>
            </a:extLst>
          </p:cNvPr>
          <p:cNvSpPr>
            <a:spLocks noGrp="1"/>
          </p:cNvSpPr>
          <p:nvPr>
            <p:ph type="title"/>
          </p:nvPr>
        </p:nvSpPr>
        <p:spPr>
          <a:xfrm>
            <a:off x="4285128" y="923155"/>
            <a:ext cx="4625789" cy="857250"/>
          </a:xfrm>
        </p:spPr>
        <p:txBody>
          <a:bodyPr/>
          <a:lstStyle/>
          <a:p>
            <a:pPr algn="r"/>
            <a:r>
              <a:rPr lang="en-US" dirty="0" err="1"/>
              <a:t>SimpleRepositoryImpl</a:t>
            </a:r>
            <a:r>
              <a:rPr lang="en-US" dirty="0"/>
              <a:t>&lt;T&gt;</a:t>
            </a:r>
          </a:p>
        </p:txBody>
      </p:sp>
      <p:sp>
        <p:nvSpPr>
          <p:cNvPr id="3" name="Segnaposto contenuto 2">
            <a:extLst>
              <a:ext uri="{FF2B5EF4-FFF2-40B4-BE49-F238E27FC236}">
                <a16:creationId xmlns:a16="http://schemas.microsoft.com/office/drawing/2014/main" id="{E233FF08-54ED-834A-909A-61EC924E180C}"/>
              </a:ext>
            </a:extLst>
          </p:cNvPr>
          <p:cNvSpPr>
            <a:spLocks noGrp="1"/>
          </p:cNvSpPr>
          <p:nvPr>
            <p:ph idx="1"/>
          </p:nvPr>
        </p:nvSpPr>
        <p:spPr>
          <a:xfrm>
            <a:off x="0" y="268941"/>
            <a:ext cx="9144001" cy="5143500"/>
          </a:xfrm>
        </p:spPr>
        <p:txBody>
          <a:bodyPr>
            <a:normAutofit fontScale="92500" lnSpcReduction="20000"/>
          </a:bodyPr>
          <a:lstStyle/>
          <a:p>
            <a:pPr marL="0" indent="0">
              <a:buNone/>
            </a:pPr>
            <a:r>
              <a:rPr lang="it-IT" sz="1400" dirty="0">
                <a:solidFill>
                  <a:srgbClr val="7F0055"/>
                </a:solidFill>
                <a:latin typeface="Calibri Light" panose="020F0302020204030204" pitchFamily="34" charset="0"/>
              </a:rPr>
              <a:t>public</a:t>
            </a:r>
            <a:r>
              <a:rPr lang="it-IT" sz="1400" dirty="0">
                <a:latin typeface="Calibri Light" panose="020F0302020204030204" pitchFamily="34" charset="0"/>
              </a:rPr>
              <a:t> </a:t>
            </a:r>
            <a:r>
              <a:rPr lang="it-IT" sz="1400" dirty="0" err="1">
                <a:solidFill>
                  <a:srgbClr val="7F0055"/>
                </a:solidFill>
                <a:latin typeface="Calibri Light" panose="020F0302020204030204" pitchFamily="34" charset="0"/>
              </a:rPr>
              <a:t>class</a:t>
            </a:r>
            <a:r>
              <a:rPr lang="it-IT" sz="1400" dirty="0">
                <a:latin typeface="Calibri Light" panose="020F0302020204030204" pitchFamily="34" charset="0"/>
              </a:rPr>
              <a:t> </a:t>
            </a:r>
            <a:r>
              <a:rPr lang="it-IT" sz="1400" dirty="0" err="1">
                <a:latin typeface="Calibri Light" panose="020F0302020204030204" pitchFamily="34" charset="0"/>
              </a:rPr>
              <a:t>SimpleRepositoryImpl</a:t>
            </a:r>
            <a:r>
              <a:rPr lang="it-IT" sz="1400" dirty="0">
                <a:latin typeface="Calibri Light" panose="020F0302020204030204" pitchFamily="34" charset="0"/>
              </a:rPr>
              <a:t>&lt;T&gt; </a:t>
            </a:r>
            <a:r>
              <a:rPr lang="it-IT" sz="1400" dirty="0" err="1">
                <a:solidFill>
                  <a:srgbClr val="7F0055"/>
                </a:solidFill>
                <a:latin typeface="Calibri Light" panose="020F0302020204030204" pitchFamily="34" charset="0"/>
              </a:rPr>
              <a:t>implements</a:t>
            </a:r>
            <a:r>
              <a:rPr lang="it-IT" sz="1400" dirty="0">
                <a:latin typeface="Calibri Light" panose="020F0302020204030204" pitchFamily="34" charset="0"/>
              </a:rPr>
              <a:t> </a:t>
            </a:r>
            <a:r>
              <a:rPr lang="it-IT" sz="1400" dirty="0" err="1">
                <a:latin typeface="Calibri Light" panose="020F0302020204030204" pitchFamily="34" charset="0"/>
              </a:rPr>
              <a:t>SimpleRepository</a:t>
            </a:r>
            <a:r>
              <a:rPr lang="it-IT" sz="1400" dirty="0">
                <a:latin typeface="Calibri Light" panose="020F0302020204030204" pitchFamily="34" charset="0"/>
              </a:rPr>
              <a:t>&lt;T&gt; {</a:t>
            </a:r>
          </a:p>
          <a:p>
            <a:pPr marL="0" indent="0">
              <a:buNone/>
            </a:pPr>
            <a:endParaRPr lang="it-IT" sz="1400" dirty="0">
              <a:solidFill>
                <a:srgbClr val="7F0055"/>
              </a:solidFill>
              <a:latin typeface="Calibri Light" panose="020F0302020204030204" pitchFamily="34" charset="0"/>
            </a:endParaRPr>
          </a:p>
          <a:p>
            <a:pPr marL="0" indent="0">
              <a:buNone/>
            </a:pPr>
            <a:r>
              <a:rPr lang="it-IT" sz="1400" dirty="0">
                <a:solidFill>
                  <a:srgbClr val="7F0055"/>
                </a:solidFill>
                <a:latin typeface="Calibri Light" panose="020F0302020204030204" pitchFamily="34" charset="0"/>
              </a:rPr>
              <a:t>	private</a:t>
            </a:r>
            <a:r>
              <a:rPr lang="it-IT" sz="1400" dirty="0">
                <a:latin typeface="Calibri Light" panose="020F0302020204030204" pitchFamily="34" charset="0"/>
              </a:rPr>
              <a:t> </a:t>
            </a:r>
            <a:r>
              <a:rPr lang="it-IT" sz="1400" dirty="0" err="1">
                <a:latin typeface="Calibri Light" panose="020F0302020204030204" pitchFamily="34" charset="0"/>
              </a:rPr>
              <a:t>EntityManager</a:t>
            </a:r>
            <a:r>
              <a:rPr lang="it-IT" sz="1400" dirty="0">
                <a:latin typeface="Calibri Light" panose="020F0302020204030204" pitchFamily="34" charset="0"/>
              </a:rPr>
              <a:t> </a:t>
            </a:r>
            <a:r>
              <a:rPr lang="it-IT" sz="1400" dirty="0" err="1">
                <a:solidFill>
                  <a:srgbClr val="0000C0"/>
                </a:solidFill>
                <a:latin typeface="Calibri Light" panose="020F0302020204030204" pitchFamily="34" charset="0"/>
              </a:rPr>
              <a:t>em</a:t>
            </a:r>
            <a:r>
              <a:rPr lang="it-IT" sz="1400" dirty="0">
                <a:latin typeface="Calibri Light" panose="020F0302020204030204" pitchFamily="34" charset="0"/>
              </a:rPr>
              <a:t>;</a:t>
            </a:r>
          </a:p>
          <a:p>
            <a:pPr marL="0" indent="0">
              <a:buNone/>
            </a:pPr>
            <a:r>
              <a:rPr lang="it-IT" sz="1400" dirty="0">
                <a:solidFill>
                  <a:srgbClr val="7F0055"/>
                </a:solidFill>
                <a:latin typeface="Calibri Light" panose="020F0302020204030204" pitchFamily="34" charset="0"/>
              </a:rPr>
              <a:t>	private</a:t>
            </a:r>
            <a:r>
              <a:rPr lang="it-IT" sz="1400" dirty="0">
                <a:latin typeface="Calibri Light" panose="020F0302020204030204" pitchFamily="34" charset="0"/>
              </a:rPr>
              <a:t> Class&lt;T&gt; </a:t>
            </a:r>
            <a:r>
              <a:rPr lang="it-IT" sz="1400" dirty="0" err="1">
                <a:solidFill>
                  <a:srgbClr val="0000C0"/>
                </a:solidFill>
                <a:latin typeface="Calibri Light" panose="020F0302020204030204" pitchFamily="34" charset="0"/>
              </a:rPr>
              <a:t>domainClass</a:t>
            </a:r>
            <a:r>
              <a:rPr lang="it-IT" sz="1400" dirty="0">
                <a:latin typeface="Calibri Light" panose="020F0302020204030204" pitchFamily="34" charset="0"/>
              </a:rPr>
              <a:t>;</a:t>
            </a:r>
          </a:p>
          <a:p>
            <a:pPr marL="0" indent="0">
              <a:buNone/>
            </a:pPr>
            <a:endParaRPr lang="it-IT" sz="1400" dirty="0">
              <a:solidFill>
                <a:srgbClr val="7F0055"/>
              </a:solidFill>
              <a:latin typeface="Calibri Light" panose="020F0302020204030204" pitchFamily="34" charset="0"/>
            </a:endParaRPr>
          </a:p>
          <a:p>
            <a:pPr marL="0" indent="0">
              <a:buNone/>
            </a:pPr>
            <a:r>
              <a:rPr lang="it-IT" sz="1400" dirty="0">
                <a:solidFill>
                  <a:srgbClr val="7F0055"/>
                </a:solidFill>
                <a:latin typeface="Calibri Light" panose="020F0302020204030204" pitchFamily="34" charset="0"/>
              </a:rPr>
              <a:t>	public</a:t>
            </a:r>
            <a:r>
              <a:rPr lang="it-IT" sz="1400" dirty="0">
                <a:latin typeface="Calibri Light" panose="020F0302020204030204" pitchFamily="34" charset="0"/>
              </a:rPr>
              <a:t> </a:t>
            </a:r>
            <a:r>
              <a:rPr lang="it-IT" sz="1400" dirty="0" err="1">
                <a:latin typeface="Calibri Light" panose="020F0302020204030204" pitchFamily="34" charset="0"/>
              </a:rPr>
              <a:t>SimpleRepositoryImpl</a:t>
            </a:r>
            <a:r>
              <a:rPr lang="it-IT" sz="1400" dirty="0">
                <a:latin typeface="Calibri Light" panose="020F0302020204030204" pitchFamily="34" charset="0"/>
              </a:rPr>
              <a:t>(Class&lt;T&gt; </a:t>
            </a:r>
            <a:r>
              <a:rPr lang="it-IT" sz="1400" dirty="0" err="1">
                <a:solidFill>
                  <a:srgbClr val="6A3E3E"/>
                </a:solidFill>
                <a:latin typeface="Calibri Light" panose="020F0302020204030204" pitchFamily="34" charset="0"/>
              </a:rPr>
              <a:t>domainClass</a:t>
            </a:r>
            <a:r>
              <a:rPr lang="it-IT" sz="1400" dirty="0">
                <a:latin typeface="Calibri Light" panose="020F0302020204030204" pitchFamily="34" charset="0"/>
              </a:rPr>
              <a:t>) {</a:t>
            </a:r>
          </a:p>
          <a:p>
            <a:pPr marL="0" indent="0">
              <a:buNone/>
            </a:pPr>
            <a:r>
              <a:rPr lang="it-IT" sz="1400" dirty="0">
                <a:solidFill>
                  <a:srgbClr val="7F0055"/>
                </a:solidFill>
                <a:latin typeface="Calibri Light" panose="020F0302020204030204" pitchFamily="34" charset="0"/>
              </a:rPr>
              <a:t>		</a:t>
            </a:r>
            <a:r>
              <a:rPr lang="it-IT" sz="1400" dirty="0" err="1">
                <a:solidFill>
                  <a:srgbClr val="7F0055"/>
                </a:solidFill>
                <a:latin typeface="Calibri Light" panose="020F0302020204030204" pitchFamily="34" charset="0"/>
              </a:rPr>
              <a:t>this</a:t>
            </a:r>
            <a:r>
              <a:rPr lang="it-IT" sz="1400" dirty="0" err="1">
                <a:solidFill>
                  <a:srgbClr val="000000"/>
                </a:solidFill>
                <a:latin typeface="Calibri Light" panose="020F0302020204030204" pitchFamily="34" charset="0"/>
              </a:rPr>
              <a:t>.</a:t>
            </a:r>
            <a:r>
              <a:rPr lang="it-IT" sz="1400" dirty="0" err="1">
                <a:solidFill>
                  <a:srgbClr val="0000C0"/>
                </a:solidFill>
                <a:latin typeface="Calibri Light" panose="020F0302020204030204" pitchFamily="34" charset="0"/>
              </a:rPr>
              <a:t>domainClass</a:t>
            </a:r>
            <a:r>
              <a:rPr lang="it-IT" sz="1400" dirty="0">
                <a:solidFill>
                  <a:srgbClr val="000000"/>
                </a:solidFill>
                <a:latin typeface="Calibri Light" panose="020F0302020204030204" pitchFamily="34" charset="0"/>
              </a:rPr>
              <a:t> = </a:t>
            </a:r>
            <a:r>
              <a:rPr lang="it-IT" sz="1400" dirty="0" err="1">
                <a:solidFill>
                  <a:srgbClr val="6A3E3E"/>
                </a:solidFill>
                <a:latin typeface="Calibri Light" panose="020F0302020204030204" pitchFamily="34" charset="0"/>
              </a:rPr>
              <a:t>domainClass</a:t>
            </a:r>
            <a:r>
              <a:rPr lang="it-IT" sz="1400" dirty="0">
                <a:solidFill>
                  <a:srgbClr val="000000"/>
                </a:solidFill>
                <a:latin typeface="Calibri Light" panose="020F0302020204030204" pitchFamily="34" charset="0"/>
              </a:rPr>
              <a:t>;</a:t>
            </a:r>
            <a:endParaRPr lang="it-IT" sz="1400" dirty="0">
              <a:solidFill>
                <a:srgbClr val="0000C0"/>
              </a:solidFill>
              <a:latin typeface="Calibri Light" panose="020F0302020204030204" pitchFamily="34" charset="0"/>
            </a:endParaRPr>
          </a:p>
          <a:p>
            <a:pPr marL="0" indent="0">
              <a:buNone/>
            </a:pPr>
            <a:r>
              <a:rPr lang="it-IT" sz="1400" dirty="0">
                <a:latin typeface="Calibri Light" panose="020F0302020204030204" pitchFamily="34" charset="0"/>
              </a:rPr>
              <a:t>	}</a:t>
            </a:r>
          </a:p>
          <a:p>
            <a:pPr marL="0" indent="0">
              <a:buNone/>
            </a:pPr>
            <a:endParaRPr lang="it-IT" sz="1400" dirty="0">
              <a:latin typeface="Calibri Light" panose="020F0302020204030204" pitchFamily="34" charset="0"/>
            </a:endParaRPr>
          </a:p>
          <a:p>
            <a:pPr marL="0" indent="0">
              <a:buNone/>
            </a:pPr>
            <a:r>
              <a:rPr lang="it-IT" sz="1400" dirty="0">
                <a:solidFill>
                  <a:srgbClr val="7F0055"/>
                </a:solidFill>
                <a:latin typeface="Calibri Light" panose="020F0302020204030204" pitchFamily="34" charset="0"/>
              </a:rPr>
              <a:t>	public</a:t>
            </a:r>
            <a:r>
              <a:rPr lang="it-IT" sz="1400" dirty="0">
                <a:latin typeface="Calibri Light" panose="020F0302020204030204" pitchFamily="34" charset="0"/>
              </a:rPr>
              <a:t> T </a:t>
            </a:r>
            <a:r>
              <a:rPr lang="it-IT" sz="1400" dirty="0" err="1">
                <a:latin typeface="Calibri Light" panose="020F0302020204030204" pitchFamily="34" charset="0"/>
              </a:rPr>
              <a:t>save</a:t>
            </a:r>
            <a:r>
              <a:rPr lang="it-IT" sz="1400" dirty="0">
                <a:latin typeface="Calibri Light" panose="020F0302020204030204" pitchFamily="34" charset="0"/>
              </a:rPr>
              <a:t>(T </a:t>
            </a:r>
            <a:r>
              <a:rPr lang="it-IT" sz="1400" dirty="0" err="1">
                <a:solidFill>
                  <a:srgbClr val="6A3E3E"/>
                </a:solidFill>
                <a:latin typeface="Calibri Light" panose="020F0302020204030204" pitchFamily="34" charset="0"/>
              </a:rPr>
              <a:t>entity</a:t>
            </a:r>
            <a:r>
              <a:rPr lang="it-IT" sz="1400" dirty="0">
                <a:latin typeface="Calibri Light" panose="020F0302020204030204" pitchFamily="34" charset="0"/>
              </a:rPr>
              <a:t>) {</a:t>
            </a:r>
          </a:p>
          <a:p>
            <a:pPr marL="0" indent="0">
              <a:buNone/>
            </a:pPr>
            <a:r>
              <a:rPr lang="it-IT" sz="1400" dirty="0">
                <a:solidFill>
                  <a:srgbClr val="000000"/>
                </a:solidFill>
                <a:latin typeface="Calibri Light" panose="020F0302020204030204" pitchFamily="34" charset="0"/>
              </a:rPr>
              <a:t>		T </a:t>
            </a:r>
            <a:r>
              <a:rPr lang="it-IT" sz="1400" dirty="0" err="1">
                <a:solidFill>
                  <a:srgbClr val="6A3E3E"/>
                </a:solidFill>
                <a:latin typeface="Calibri Light" panose="020F0302020204030204" pitchFamily="34" charset="0"/>
              </a:rPr>
              <a:t>persistentEntity</a:t>
            </a:r>
            <a:r>
              <a:rPr lang="it-IT" sz="1400" dirty="0">
                <a:solidFill>
                  <a:srgbClr val="000000"/>
                </a:solidFill>
                <a:latin typeface="Calibri Light" panose="020F0302020204030204" pitchFamily="34" charset="0"/>
              </a:rPr>
              <a:t> = </a:t>
            </a:r>
            <a:r>
              <a:rPr lang="it-IT" sz="1400" dirty="0" err="1">
                <a:solidFill>
                  <a:srgbClr val="7F0055"/>
                </a:solidFill>
                <a:latin typeface="Calibri Light" panose="020F0302020204030204" pitchFamily="34" charset="0"/>
              </a:rPr>
              <a:t>null</a:t>
            </a:r>
            <a:r>
              <a:rPr lang="it-IT" sz="1400" dirty="0">
                <a:solidFill>
                  <a:srgbClr val="000000"/>
                </a:solidFill>
                <a:latin typeface="Calibri Light" panose="020F0302020204030204" pitchFamily="34" charset="0"/>
              </a:rPr>
              <a:t>;</a:t>
            </a:r>
            <a:endParaRPr lang="it-IT" sz="1400" dirty="0">
              <a:solidFill>
                <a:srgbClr val="6A3E3E"/>
              </a:solidFill>
              <a:latin typeface="Calibri Light" panose="020F0302020204030204" pitchFamily="34" charset="0"/>
            </a:endParaRPr>
          </a:p>
          <a:p>
            <a:pPr marL="0" indent="0">
              <a:buNone/>
            </a:pPr>
            <a:r>
              <a:rPr lang="it-IT" sz="1400" dirty="0">
                <a:latin typeface="Calibri Light" panose="020F0302020204030204" pitchFamily="34" charset="0"/>
              </a:rPr>
              <a:t>		//TODO (esercizio)                </a:t>
            </a:r>
            <a:r>
              <a:rPr lang="it-IT" sz="1400" dirty="0">
                <a:highlight>
                  <a:srgbClr val="FFFF00"/>
                </a:highlight>
                <a:latin typeface="Calibri Light" panose="020F0302020204030204" pitchFamily="34" charset="0"/>
              </a:rPr>
              <a:t>// vedi slide 22 e 23</a:t>
            </a:r>
          </a:p>
          <a:p>
            <a:pPr marL="0" indent="0">
              <a:buNone/>
            </a:pPr>
            <a:r>
              <a:rPr lang="it-IT" sz="1400" dirty="0">
                <a:latin typeface="Calibri Light" panose="020F0302020204030204" pitchFamily="34" charset="0"/>
              </a:rPr>
              <a:t>		</a:t>
            </a:r>
            <a:r>
              <a:rPr lang="it-IT" sz="1400" dirty="0">
                <a:solidFill>
                  <a:srgbClr val="7F0055"/>
                </a:solidFill>
                <a:latin typeface="Calibri Light" panose="020F0302020204030204" pitchFamily="34" charset="0"/>
              </a:rPr>
              <a:t> </a:t>
            </a:r>
            <a:r>
              <a:rPr lang="it-IT" sz="1400" dirty="0" err="1">
                <a:solidFill>
                  <a:srgbClr val="7F0055"/>
                </a:solidFill>
                <a:latin typeface="Calibri Light" panose="020F0302020204030204" pitchFamily="34" charset="0"/>
              </a:rPr>
              <a:t>return</a:t>
            </a:r>
            <a:r>
              <a:rPr lang="it-IT" sz="1400" dirty="0">
                <a:latin typeface="Calibri Light" panose="020F0302020204030204" pitchFamily="34" charset="0"/>
              </a:rPr>
              <a:t> </a:t>
            </a:r>
            <a:r>
              <a:rPr lang="it-IT" sz="1400" dirty="0" err="1">
                <a:solidFill>
                  <a:srgbClr val="6A3E3E"/>
                </a:solidFill>
                <a:latin typeface="Calibri Light" panose="020F0302020204030204" pitchFamily="34" charset="0"/>
              </a:rPr>
              <a:t>persistentEntity</a:t>
            </a:r>
            <a:r>
              <a:rPr lang="it-IT" sz="1400" dirty="0">
                <a:solidFill>
                  <a:srgbClr val="6A3E3E"/>
                </a:solidFill>
                <a:latin typeface="Calibri Light" panose="020F0302020204030204" pitchFamily="34" charset="0"/>
              </a:rPr>
              <a:t>;</a:t>
            </a:r>
          </a:p>
          <a:p>
            <a:pPr marL="0" indent="0">
              <a:buNone/>
            </a:pPr>
            <a:r>
              <a:rPr lang="it-IT" sz="1400" dirty="0">
                <a:solidFill>
                  <a:srgbClr val="6A3E3E"/>
                </a:solidFill>
                <a:latin typeface="Calibri Light" panose="020F0302020204030204" pitchFamily="34" charset="0"/>
              </a:rPr>
              <a:t>	}</a:t>
            </a:r>
          </a:p>
          <a:p>
            <a:pPr marL="0" indent="0">
              <a:buNone/>
            </a:pPr>
            <a:endParaRPr lang="it-IT" sz="1400" dirty="0">
              <a:latin typeface="Calibri Light" panose="020F0302020204030204" pitchFamily="34" charset="0"/>
            </a:endParaRPr>
          </a:p>
          <a:p>
            <a:pPr marL="0" indent="0">
              <a:buNone/>
            </a:pPr>
            <a:r>
              <a:rPr lang="it-IT" sz="1400" dirty="0">
                <a:solidFill>
                  <a:srgbClr val="7F0055"/>
                </a:solidFill>
                <a:latin typeface="Calibri Light" panose="020F0302020204030204" pitchFamily="34" charset="0"/>
              </a:rPr>
              <a:t>	public</a:t>
            </a:r>
            <a:r>
              <a:rPr lang="it-IT" sz="1400" dirty="0">
                <a:latin typeface="Calibri Light" panose="020F0302020204030204" pitchFamily="34" charset="0"/>
              </a:rPr>
              <a:t> List&lt;T&gt; </a:t>
            </a:r>
            <a:r>
              <a:rPr lang="it-IT" sz="1400" dirty="0" err="1">
                <a:latin typeface="Calibri Light" panose="020F0302020204030204" pitchFamily="34" charset="0"/>
              </a:rPr>
              <a:t>findAll</a:t>
            </a:r>
            <a:r>
              <a:rPr lang="it-IT" sz="1400" dirty="0">
                <a:latin typeface="Calibri Light" panose="020F0302020204030204" pitchFamily="34" charset="0"/>
              </a:rPr>
              <a:t>() { </a:t>
            </a:r>
          </a:p>
          <a:p>
            <a:pPr marL="0" indent="0">
              <a:buNone/>
            </a:pPr>
            <a:r>
              <a:rPr lang="it-IT" sz="1400" dirty="0">
                <a:solidFill>
                  <a:srgbClr val="7F0055"/>
                </a:solidFill>
                <a:latin typeface="Calibri Light" panose="020F0302020204030204" pitchFamily="34" charset="0"/>
              </a:rPr>
              <a:t>		</a:t>
            </a:r>
            <a:r>
              <a:rPr lang="it-IT" sz="1400" dirty="0" err="1">
                <a:solidFill>
                  <a:srgbClr val="7F0055"/>
                </a:solidFill>
                <a:latin typeface="Calibri Light" panose="020F0302020204030204" pitchFamily="34" charset="0"/>
              </a:rPr>
              <a:t>return</a:t>
            </a:r>
            <a:r>
              <a:rPr lang="it-IT" sz="1400" dirty="0">
                <a:latin typeface="Calibri Light" panose="020F0302020204030204" pitchFamily="34" charset="0"/>
              </a:rPr>
              <a:t> </a:t>
            </a:r>
            <a:r>
              <a:rPr lang="it-IT" sz="1400" dirty="0" err="1">
                <a:solidFill>
                  <a:srgbClr val="0000C0"/>
                </a:solidFill>
                <a:latin typeface="Calibri Light" panose="020F0302020204030204" pitchFamily="34" charset="0"/>
              </a:rPr>
              <a:t>em</a:t>
            </a:r>
            <a:r>
              <a:rPr lang="it-IT" sz="1400" dirty="0" err="1">
                <a:latin typeface="Calibri Light" panose="020F0302020204030204" pitchFamily="34" charset="0"/>
              </a:rPr>
              <a:t>.createQuery</a:t>
            </a:r>
            <a:r>
              <a:rPr lang="it-IT" sz="1400" dirty="0">
                <a:latin typeface="Calibri Light" panose="020F0302020204030204" pitchFamily="34" charset="0"/>
              </a:rPr>
              <a:t>(</a:t>
            </a:r>
            <a:r>
              <a:rPr lang="it-IT" sz="1400" dirty="0">
                <a:solidFill>
                  <a:srgbClr val="2A00FF"/>
                </a:solidFill>
                <a:latin typeface="Calibri Light" panose="020F0302020204030204" pitchFamily="34" charset="0"/>
              </a:rPr>
              <a:t>"</a:t>
            </a:r>
            <a:r>
              <a:rPr lang="it-IT" sz="1400" dirty="0" err="1">
                <a:solidFill>
                  <a:srgbClr val="2A00FF"/>
                </a:solidFill>
                <a:latin typeface="Calibri Light" panose="020F0302020204030204" pitchFamily="34" charset="0"/>
              </a:rPr>
              <a:t>select</a:t>
            </a:r>
            <a:r>
              <a:rPr lang="it-IT" sz="1400" dirty="0">
                <a:solidFill>
                  <a:srgbClr val="2A00FF"/>
                </a:solidFill>
                <a:latin typeface="Calibri Light" panose="020F0302020204030204" pitchFamily="34" charset="0"/>
              </a:rPr>
              <a:t> o from "</a:t>
            </a:r>
            <a:r>
              <a:rPr lang="it-IT" sz="1400" dirty="0">
                <a:latin typeface="Calibri Light" panose="020F0302020204030204" pitchFamily="34" charset="0"/>
              </a:rPr>
              <a:t> + </a:t>
            </a:r>
            <a:r>
              <a:rPr lang="it-IT" sz="1400" dirty="0" err="1">
                <a:solidFill>
                  <a:srgbClr val="7F0055"/>
                </a:solidFill>
                <a:latin typeface="Calibri Light" panose="020F0302020204030204" pitchFamily="34" charset="0"/>
              </a:rPr>
              <a:t>this</a:t>
            </a:r>
            <a:r>
              <a:rPr lang="it-IT" sz="1400" dirty="0" err="1">
                <a:latin typeface="Calibri Light" panose="020F0302020204030204" pitchFamily="34" charset="0"/>
              </a:rPr>
              <a:t>.</a:t>
            </a:r>
            <a:r>
              <a:rPr lang="it-IT" sz="1400" dirty="0" err="1">
                <a:solidFill>
                  <a:srgbClr val="0000C0"/>
                </a:solidFill>
                <a:latin typeface="Calibri Light" panose="020F0302020204030204" pitchFamily="34" charset="0"/>
              </a:rPr>
              <a:t>domainClass</a:t>
            </a:r>
            <a:r>
              <a:rPr lang="it-IT" sz="1400" dirty="0" err="1">
                <a:latin typeface="Calibri Light" panose="020F0302020204030204" pitchFamily="34" charset="0"/>
              </a:rPr>
              <a:t>.getName</a:t>
            </a:r>
            <a:r>
              <a:rPr lang="it-IT" sz="1400" dirty="0">
                <a:latin typeface="Calibri Light" panose="020F0302020204030204" pitchFamily="34" charset="0"/>
              </a:rPr>
              <a:t>() + </a:t>
            </a:r>
            <a:r>
              <a:rPr lang="it-IT" sz="1400" dirty="0">
                <a:solidFill>
                  <a:srgbClr val="2A00FF"/>
                </a:solidFill>
                <a:latin typeface="Calibri Light" panose="020F0302020204030204" pitchFamily="34" charset="0"/>
              </a:rPr>
              <a:t>" o"</a:t>
            </a:r>
            <a:r>
              <a:rPr lang="it-IT" sz="1400" dirty="0">
                <a:latin typeface="Calibri Light" panose="020F0302020204030204" pitchFamily="34" charset="0"/>
              </a:rPr>
              <a:t>, </a:t>
            </a:r>
            <a:r>
              <a:rPr lang="it-IT" sz="1400" dirty="0" err="1">
                <a:solidFill>
                  <a:srgbClr val="7F0055"/>
                </a:solidFill>
                <a:latin typeface="Calibri Light" panose="020F0302020204030204" pitchFamily="34" charset="0"/>
              </a:rPr>
              <a:t>this</a:t>
            </a:r>
            <a:r>
              <a:rPr lang="it-IT" sz="1400" dirty="0" err="1">
                <a:latin typeface="Calibri Light" panose="020F0302020204030204" pitchFamily="34" charset="0"/>
              </a:rPr>
              <a:t>.</a:t>
            </a:r>
            <a:r>
              <a:rPr lang="it-IT" sz="1400" dirty="0" err="1">
                <a:solidFill>
                  <a:srgbClr val="0000C0"/>
                </a:solidFill>
                <a:latin typeface="Calibri Light" panose="020F0302020204030204" pitchFamily="34" charset="0"/>
              </a:rPr>
              <a:t>domainClass</a:t>
            </a:r>
            <a:r>
              <a:rPr lang="it-IT" sz="1400" dirty="0">
                <a:latin typeface="Calibri Light" panose="020F0302020204030204" pitchFamily="34" charset="0"/>
              </a:rPr>
              <a:t>).</a:t>
            </a:r>
            <a:r>
              <a:rPr lang="it-IT" sz="1400" dirty="0" err="1">
                <a:latin typeface="Calibri Light" panose="020F0302020204030204" pitchFamily="34" charset="0"/>
              </a:rPr>
              <a:t>getResultList</a:t>
            </a:r>
            <a:r>
              <a:rPr lang="it-IT" sz="1400" dirty="0">
                <a:latin typeface="Calibri Light" panose="020F0302020204030204" pitchFamily="34" charset="0"/>
              </a:rPr>
              <a:t>();</a:t>
            </a:r>
          </a:p>
          <a:p>
            <a:pPr marL="0" indent="0">
              <a:buNone/>
            </a:pPr>
            <a:r>
              <a:rPr lang="it-IT" sz="1400" dirty="0">
                <a:latin typeface="Calibri Light" panose="020F0302020204030204" pitchFamily="34" charset="0"/>
              </a:rPr>
              <a:t>	}	</a:t>
            </a:r>
          </a:p>
          <a:p>
            <a:pPr marL="0" indent="0">
              <a:buNone/>
            </a:pPr>
            <a:endParaRPr lang="it-IT" sz="1400" dirty="0">
              <a:latin typeface="Calibri Light" panose="020F0302020204030204" pitchFamily="34" charset="0"/>
            </a:endParaRPr>
          </a:p>
          <a:p>
            <a:pPr marL="0" indent="0">
              <a:buNone/>
            </a:pPr>
            <a:r>
              <a:rPr lang="it-IT" sz="1400" dirty="0">
                <a:solidFill>
                  <a:srgbClr val="7F0055"/>
                </a:solidFill>
                <a:latin typeface="Calibri Light" panose="020F0302020204030204" pitchFamily="34" charset="0"/>
              </a:rPr>
              <a:t>	public</a:t>
            </a:r>
            <a:r>
              <a:rPr lang="it-IT" sz="1400" dirty="0">
                <a:latin typeface="Calibri Light" panose="020F0302020204030204" pitchFamily="34" charset="0"/>
              </a:rPr>
              <a:t> T </a:t>
            </a:r>
            <a:r>
              <a:rPr lang="it-IT" sz="1400" dirty="0" err="1">
                <a:latin typeface="Calibri Light" panose="020F0302020204030204" pitchFamily="34" charset="0"/>
              </a:rPr>
              <a:t>findById</a:t>
            </a:r>
            <a:r>
              <a:rPr lang="it-IT" sz="1400" dirty="0">
                <a:latin typeface="Calibri Light" panose="020F0302020204030204" pitchFamily="34" charset="0"/>
              </a:rPr>
              <a:t>(Long </a:t>
            </a:r>
            <a:r>
              <a:rPr lang="it-IT" sz="1400" dirty="0">
                <a:solidFill>
                  <a:srgbClr val="6A3E3E"/>
                </a:solidFill>
                <a:latin typeface="Calibri Light" panose="020F0302020204030204" pitchFamily="34" charset="0"/>
              </a:rPr>
              <a:t>id</a:t>
            </a:r>
            <a:r>
              <a:rPr lang="it-IT" sz="1400" dirty="0">
                <a:latin typeface="Calibri Light" panose="020F0302020204030204" pitchFamily="34" charset="0"/>
              </a:rPr>
              <a:t>){</a:t>
            </a:r>
          </a:p>
          <a:p>
            <a:pPr marL="0" indent="0">
              <a:buNone/>
            </a:pPr>
            <a:r>
              <a:rPr lang="it-IT" sz="1400" dirty="0">
                <a:solidFill>
                  <a:srgbClr val="7F0055"/>
                </a:solidFill>
                <a:latin typeface="Calibri Light" panose="020F0302020204030204" pitchFamily="34" charset="0"/>
              </a:rPr>
              <a:t>		</a:t>
            </a:r>
            <a:r>
              <a:rPr lang="it-IT" sz="1400" dirty="0" err="1">
                <a:solidFill>
                  <a:srgbClr val="7F0055"/>
                </a:solidFill>
                <a:latin typeface="Calibri Light" panose="020F0302020204030204" pitchFamily="34" charset="0"/>
              </a:rPr>
              <a:t>return</a:t>
            </a:r>
            <a:r>
              <a:rPr lang="it-IT" sz="1400" dirty="0">
                <a:latin typeface="Calibri Light" panose="020F0302020204030204" pitchFamily="34" charset="0"/>
              </a:rPr>
              <a:t> </a:t>
            </a:r>
            <a:r>
              <a:rPr lang="it-IT" sz="1400" dirty="0" err="1">
                <a:solidFill>
                  <a:srgbClr val="0000C0"/>
                </a:solidFill>
                <a:latin typeface="Calibri Light" panose="020F0302020204030204" pitchFamily="34" charset="0"/>
              </a:rPr>
              <a:t>em</a:t>
            </a:r>
            <a:r>
              <a:rPr lang="it-IT" sz="1400" dirty="0" err="1">
                <a:latin typeface="Calibri Light" panose="020F0302020204030204" pitchFamily="34" charset="0"/>
              </a:rPr>
              <a:t>.find</a:t>
            </a:r>
            <a:r>
              <a:rPr lang="it-IT" sz="1400" dirty="0">
                <a:latin typeface="Calibri Light" panose="020F0302020204030204" pitchFamily="34" charset="0"/>
              </a:rPr>
              <a:t>(</a:t>
            </a:r>
            <a:r>
              <a:rPr lang="it-IT" sz="1400" dirty="0" err="1">
                <a:solidFill>
                  <a:srgbClr val="7F0055"/>
                </a:solidFill>
                <a:latin typeface="Calibri Light" panose="020F0302020204030204" pitchFamily="34" charset="0"/>
              </a:rPr>
              <a:t>this</a:t>
            </a:r>
            <a:r>
              <a:rPr lang="it-IT" sz="1400" dirty="0" err="1">
                <a:latin typeface="Calibri Light" panose="020F0302020204030204" pitchFamily="34" charset="0"/>
              </a:rPr>
              <a:t>.</a:t>
            </a:r>
            <a:r>
              <a:rPr lang="it-IT" sz="1400" dirty="0" err="1">
                <a:solidFill>
                  <a:srgbClr val="0000C0"/>
                </a:solidFill>
                <a:latin typeface="Calibri Light" panose="020F0302020204030204" pitchFamily="34" charset="0"/>
              </a:rPr>
              <a:t>domainClass</a:t>
            </a:r>
            <a:r>
              <a:rPr lang="it-IT" sz="1400" dirty="0">
                <a:latin typeface="Calibri Light" panose="020F0302020204030204" pitchFamily="34" charset="0"/>
              </a:rPr>
              <a:t>, </a:t>
            </a:r>
            <a:r>
              <a:rPr lang="it-IT" sz="1400" dirty="0">
                <a:solidFill>
                  <a:srgbClr val="6A3E3E"/>
                </a:solidFill>
                <a:latin typeface="Calibri Light" panose="020F0302020204030204" pitchFamily="34" charset="0"/>
              </a:rPr>
              <a:t>id</a:t>
            </a:r>
            <a:r>
              <a:rPr lang="it-IT" sz="1400" dirty="0">
                <a:latin typeface="Calibri Light" panose="020F0302020204030204" pitchFamily="34" charset="0"/>
              </a:rPr>
              <a:t>); </a:t>
            </a:r>
          </a:p>
          <a:p>
            <a:pPr marL="0" indent="0">
              <a:buNone/>
            </a:pPr>
            <a:r>
              <a:rPr lang="it-IT" sz="1400" dirty="0">
                <a:latin typeface="Calibri Light" panose="020F0302020204030204" pitchFamily="34" charset="0"/>
              </a:rPr>
              <a:t>	}</a:t>
            </a:r>
          </a:p>
          <a:p>
            <a:pPr marL="0" indent="0">
              <a:buNone/>
            </a:pPr>
            <a:endParaRPr lang="it-IT" sz="1400" dirty="0">
              <a:latin typeface="Calibri Light" panose="020F0302020204030204" pitchFamily="34" charset="0"/>
            </a:endParaRPr>
          </a:p>
          <a:p>
            <a:pPr marL="0" indent="0">
              <a:buNone/>
            </a:pPr>
            <a:r>
              <a:rPr lang="it-IT" sz="1400" dirty="0">
                <a:latin typeface="Calibri Light" panose="020F0302020204030204" pitchFamily="34" charset="0"/>
              </a:rPr>
              <a:t>	// continua nella pagina successiva</a:t>
            </a:r>
          </a:p>
        </p:txBody>
      </p:sp>
    </p:spTree>
    <p:extLst>
      <p:ext uri="{BB962C8B-B14F-4D97-AF65-F5344CB8AC3E}">
        <p14:creationId xmlns:p14="http://schemas.microsoft.com/office/powerpoint/2010/main" val="996443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F442936-2740-CD43-B432-680959CF02B7}"/>
              </a:ext>
            </a:extLst>
          </p:cNvPr>
          <p:cNvSpPr>
            <a:spLocks noGrp="1"/>
          </p:cNvSpPr>
          <p:nvPr>
            <p:ph type="title"/>
          </p:nvPr>
        </p:nvSpPr>
        <p:spPr/>
        <p:txBody>
          <a:bodyPr/>
          <a:lstStyle/>
          <a:p>
            <a:pPr algn="r"/>
            <a:r>
              <a:rPr lang="en-US" dirty="0" err="1"/>
              <a:t>SimpleRepositoryImpl</a:t>
            </a:r>
            <a:r>
              <a:rPr lang="en-US" dirty="0"/>
              <a:t>&lt;T&gt;</a:t>
            </a:r>
          </a:p>
        </p:txBody>
      </p:sp>
      <p:sp>
        <p:nvSpPr>
          <p:cNvPr id="3" name="Segnaposto contenuto 2">
            <a:extLst>
              <a:ext uri="{FF2B5EF4-FFF2-40B4-BE49-F238E27FC236}">
                <a16:creationId xmlns:a16="http://schemas.microsoft.com/office/drawing/2014/main" id="{E233FF08-54ED-834A-909A-61EC924E180C}"/>
              </a:ext>
            </a:extLst>
          </p:cNvPr>
          <p:cNvSpPr>
            <a:spLocks noGrp="1"/>
          </p:cNvSpPr>
          <p:nvPr>
            <p:ph idx="1"/>
          </p:nvPr>
        </p:nvSpPr>
        <p:spPr>
          <a:xfrm>
            <a:off x="-1" y="0"/>
            <a:ext cx="9753601" cy="5143500"/>
          </a:xfrm>
        </p:spPr>
        <p:txBody>
          <a:bodyPr>
            <a:normAutofit lnSpcReduction="10000"/>
          </a:bodyPr>
          <a:lstStyle/>
          <a:p>
            <a:pPr marL="0" indent="0">
              <a:buNone/>
            </a:pPr>
            <a:r>
              <a:rPr lang="it-IT" sz="1400" dirty="0">
                <a:solidFill>
                  <a:srgbClr val="7F0055"/>
                </a:solidFill>
                <a:latin typeface="Calibri Light" panose="020F0302020204030204" pitchFamily="34" charset="0"/>
              </a:rPr>
              <a:t>	</a:t>
            </a:r>
          </a:p>
          <a:p>
            <a:pPr marL="0" indent="0">
              <a:buNone/>
            </a:pPr>
            <a:r>
              <a:rPr lang="it-IT" sz="1400" dirty="0">
                <a:solidFill>
                  <a:srgbClr val="7F0055"/>
                </a:solidFill>
                <a:latin typeface="Calibri Light" panose="020F0302020204030204" pitchFamily="34" charset="0"/>
              </a:rPr>
              <a:t>	public</a:t>
            </a:r>
            <a:r>
              <a:rPr lang="it-IT" sz="1400" dirty="0">
                <a:latin typeface="Calibri Light" panose="020F0302020204030204" pitchFamily="34" charset="0"/>
              </a:rPr>
              <a:t> T </a:t>
            </a:r>
            <a:r>
              <a:rPr lang="it-IT" sz="1400" dirty="0" err="1">
                <a:latin typeface="Calibri Light" panose="020F0302020204030204" pitchFamily="34" charset="0"/>
              </a:rPr>
              <a:t>findById</a:t>
            </a:r>
            <a:r>
              <a:rPr lang="it-IT" sz="1400" dirty="0">
                <a:latin typeface="Calibri Light" panose="020F0302020204030204" pitchFamily="34" charset="0"/>
              </a:rPr>
              <a:t>(Long </a:t>
            </a:r>
            <a:r>
              <a:rPr lang="it-IT" sz="1400" dirty="0">
                <a:solidFill>
                  <a:srgbClr val="6A3E3E"/>
                </a:solidFill>
                <a:latin typeface="Calibri Light" panose="020F0302020204030204" pitchFamily="34" charset="0"/>
              </a:rPr>
              <a:t>id</a:t>
            </a:r>
            <a:r>
              <a:rPr lang="it-IT" sz="1400" dirty="0">
                <a:latin typeface="Calibri Light" panose="020F0302020204030204" pitchFamily="34" charset="0"/>
              </a:rPr>
              <a:t>){</a:t>
            </a:r>
          </a:p>
          <a:p>
            <a:pPr marL="0" indent="0">
              <a:buNone/>
            </a:pPr>
            <a:r>
              <a:rPr lang="it-IT" sz="1400" dirty="0">
                <a:solidFill>
                  <a:srgbClr val="7F0055"/>
                </a:solidFill>
                <a:latin typeface="Calibri Light" panose="020F0302020204030204" pitchFamily="34" charset="0"/>
              </a:rPr>
              <a:t>		</a:t>
            </a:r>
            <a:r>
              <a:rPr lang="it-IT" sz="1400" dirty="0" err="1">
                <a:solidFill>
                  <a:srgbClr val="7F0055"/>
                </a:solidFill>
                <a:latin typeface="Calibri Light" panose="020F0302020204030204" pitchFamily="34" charset="0"/>
              </a:rPr>
              <a:t>return</a:t>
            </a:r>
            <a:r>
              <a:rPr lang="it-IT" sz="1400" dirty="0">
                <a:latin typeface="Calibri Light" panose="020F0302020204030204" pitchFamily="34" charset="0"/>
              </a:rPr>
              <a:t> </a:t>
            </a:r>
            <a:r>
              <a:rPr lang="it-IT" sz="1400" dirty="0" err="1">
                <a:solidFill>
                  <a:srgbClr val="0000C0"/>
                </a:solidFill>
                <a:latin typeface="Calibri Light" panose="020F0302020204030204" pitchFamily="34" charset="0"/>
              </a:rPr>
              <a:t>em</a:t>
            </a:r>
            <a:r>
              <a:rPr lang="it-IT" sz="1400" dirty="0" err="1">
                <a:latin typeface="Calibri Light" panose="020F0302020204030204" pitchFamily="34" charset="0"/>
              </a:rPr>
              <a:t>.find</a:t>
            </a:r>
            <a:r>
              <a:rPr lang="it-IT" sz="1400" dirty="0">
                <a:latin typeface="Calibri Light" panose="020F0302020204030204" pitchFamily="34" charset="0"/>
              </a:rPr>
              <a:t>(</a:t>
            </a:r>
            <a:r>
              <a:rPr lang="it-IT" sz="1400" dirty="0" err="1">
                <a:solidFill>
                  <a:srgbClr val="7F0055"/>
                </a:solidFill>
                <a:latin typeface="Calibri Light" panose="020F0302020204030204" pitchFamily="34" charset="0"/>
              </a:rPr>
              <a:t>this</a:t>
            </a:r>
            <a:r>
              <a:rPr lang="it-IT" sz="1400" dirty="0" err="1">
                <a:latin typeface="Calibri Light" panose="020F0302020204030204" pitchFamily="34" charset="0"/>
              </a:rPr>
              <a:t>.</a:t>
            </a:r>
            <a:r>
              <a:rPr lang="it-IT" sz="1400" dirty="0" err="1">
                <a:solidFill>
                  <a:srgbClr val="0000C0"/>
                </a:solidFill>
                <a:latin typeface="Calibri Light" panose="020F0302020204030204" pitchFamily="34" charset="0"/>
              </a:rPr>
              <a:t>domainClass</a:t>
            </a:r>
            <a:r>
              <a:rPr lang="it-IT" sz="1400" dirty="0">
                <a:latin typeface="Calibri Light" panose="020F0302020204030204" pitchFamily="34" charset="0"/>
              </a:rPr>
              <a:t>, </a:t>
            </a:r>
            <a:r>
              <a:rPr lang="it-IT" sz="1400" dirty="0">
                <a:solidFill>
                  <a:srgbClr val="6A3E3E"/>
                </a:solidFill>
                <a:latin typeface="Calibri Light" panose="020F0302020204030204" pitchFamily="34" charset="0"/>
              </a:rPr>
              <a:t>id</a:t>
            </a:r>
            <a:r>
              <a:rPr lang="it-IT" sz="1400" dirty="0">
                <a:latin typeface="Calibri Light" panose="020F0302020204030204" pitchFamily="34" charset="0"/>
              </a:rPr>
              <a:t>); </a:t>
            </a:r>
          </a:p>
          <a:p>
            <a:pPr marL="0" indent="0">
              <a:buNone/>
            </a:pPr>
            <a:r>
              <a:rPr lang="it-IT" sz="1400" dirty="0">
                <a:latin typeface="Calibri Light" panose="020F0302020204030204" pitchFamily="34" charset="0"/>
              </a:rPr>
              <a:t>	}</a:t>
            </a:r>
          </a:p>
          <a:p>
            <a:pPr marL="0" indent="0">
              <a:buNone/>
            </a:pPr>
            <a:endParaRPr lang="it-IT" sz="1400" dirty="0">
              <a:latin typeface="Calibri Light" panose="020F0302020204030204" pitchFamily="34" charset="0"/>
            </a:endParaRPr>
          </a:p>
          <a:p>
            <a:pPr marL="0" indent="0">
              <a:buNone/>
            </a:pPr>
            <a:r>
              <a:rPr lang="it-IT" sz="1400" dirty="0">
                <a:solidFill>
                  <a:srgbClr val="7F0055"/>
                </a:solidFill>
                <a:latin typeface="Calibri Light" panose="020F0302020204030204" pitchFamily="34" charset="0"/>
              </a:rPr>
              <a:t>	public</a:t>
            </a:r>
            <a:r>
              <a:rPr lang="it-IT" sz="1400" dirty="0">
                <a:latin typeface="Calibri Light" panose="020F0302020204030204" pitchFamily="34" charset="0"/>
              </a:rPr>
              <a:t> </a:t>
            </a:r>
            <a:r>
              <a:rPr lang="it-IT" sz="1400" dirty="0" err="1">
                <a:solidFill>
                  <a:srgbClr val="7F0055"/>
                </a:solidFill>
                <a:latin typeface="Calibri Light" panose="020F0302020204030204" pitchFamily="34" charset="0"/>
              </a:rPr>
              <a:t>void</a:t>
            </a:r>
            <a:r>
              <a:rPr lang="it-IT" sz="1400" dirty="0">
                <a:latin typeface="Calibri Light" panose="020F0302020204030204" pitchFamily="34" charset="0"/>
              </a:rPr>
              <a:t> delete(T </a:t>
            </a:r>
            <a:r>
              <a:rPr lang="it-IT" sz="1400" dirty="0">
                <a:solidFill>
                  <a:srgbClr val="6A3E3E"/>
                </a:solidFill>
                <a:latin typeface="Calibri Light" panose="020F0302020204030204" pitchFamily="34" charset="0"/>
              </a:rPr>
              <a:t>t</a:t>
            </a:r>
            <a:r>
              <a:rPr lang="it-IT" sz="1400" dirty="0">
                <a:latin typeface="Calibri Light" panose="020F0302020204030204" pitchFamily="34" charset="0"/>
              </a:rPr>
              <a:t>){</a:t>
            </a:r>
          </a:p>
          <a:p>
            <a:pPr marL="0" indent="0">
              <a:buNone/>
            </a:pPr>
            <a:r>
              <a:rPr lang="it-IT" sz="1400" dirty="0">
                <a:solidFill>
                  <a:srgbClr val="7F0055"/>
                </a:solidFill>
                <a:latin typeface="Calibri Light" panose="020F0302020204030204" pitchFamily="34" charset="0"/>
              </a:rPr>
              <a:t>		</a:t>
            </a:r>
            <a:r>
              <a:rPr lang="it-IT" sz="1400" dirty="0" err="1">
                <a:solidFill>
                  <a:srgbClr val="7F0055"/>
                </a:solidFill>
                <a:latin typeface="Calibri Light" panose="020F0302020204030204" pitchFamily="34" charset="0"/>
              </a:rPr>
              <a:t>this</a:t>
            </a:r>
            <a:r>
              <a:rPr lang="it-IT" sz="1400" dirty="0" err="1">
                <a:latin typeface="Calibri Light" panose="020F0302020204030204" pitchFamily="34" charset="0"/>
              </a:rPr>
              <a:t>.</a:t>
            </a:r>
            <a:r>
              <a:rPr lang="it-IT" sz="1400" dirty="0" err="1">
                <a:solidFill>
                  <a:srgbClr val="0000C0"/>
                </a:solidFill>
                <a:latin typeface="Calibri Light" panose="020F0302020204030204" pitchFamily="34" charset="0"/>
              </a:rPr>
              <a:t>em</a:t>
            </a:r>
            <a:r>
              <a:rPr lang="it-IT" sz="1400" dirty="0" err="1">
                <a:latin typeface="Calibri Light" panose="020F0302020204030204" pitchFamily="34" charset="0"/>
              </a:rPr>
              <a:t>.remove</a:t>
            </a:r>
            <a:r>
              <a:rPr lang="it-IT" sz="1400" dirty="0">
                <a:latin typeface="Calibri Light" panose="020F0302020204030204" pitchFamily="34" charset="0"/>
              </a:rPr>
              <a:t>(</a:t>
            </a:r>
            <a:r>
              <a:rPr lang="it-IT" sz="1400" dirty="0">
                <a:solidFill>
                  <a:srgbClr val="6A3E3E"/>
                </a:solidFill>
                <a:latin typeface="Calibri Light" panose="020F0302020204030204" pitchFamily="34" charset="0"/>
              </a:rPr>
              <a:t>t</a:t>
            </a:r>
            <a:r>
              <a:rPr lang="it-IT" sz="1400" dirty="0">
                <a:latin typeface="Calibri Light" panose="020F0302020204030204" pitchFamily="34" charset="0"/>
              </a:rPr>
              <a:t>);</a:t>
            </a:r>
          </a:p>
          <a:p>
            <a:pPr marL="0" indent="0">
              <a:buNone/>
            </a:pPr>
            <a:r>
              <a:rPr lang="it-IT" sz="1400" dirty="0">
                <a:latin typeface="Calibri Light" panose="020F0302020204030204" pitchFamily="34" charset="0"/>
              </a:rPr>
              <a:t>	}</a:t>
            </a:r>
          </a:p>
          <a:p>
            <a:pPr marL="0" indent="0">
              <a:buNone/>
            </a:pPr>
            <a:endParaRPr lang="it-IT" sz="1400" dirty="0">
              <a:latin typeface="Calibri Light" panose="020F0302020204030204" pitchFamily="34" charset="0"/>
            </a:endParaRPr>
          </a:p>
          <a:p>
            <a:pPr marL="0" indent="0">
              <a:buNone/>
            </a:pPr>
            <a:r>
              <a:rPr lang="it-IT" sz="1400" dirty="0">
                <a:solidFill>
                  <a:srgbClr val="7F0055"/>
                </a:solidFill>
                <a:latin typeface="Calibri Light" panose="020F0302020204030204" pitchFamily="34" charset="0"/>
              </a:rPr>
              <a:t>	public</a:t>
            </a:r>
            <a:r>
              <a:rPr lang="it-IT" sz="1400" dirty="0">
                <a:latin typeface="Calibri Light" panose="020F0302020204030204" pitchFamily="34" charset="0"/>
              </a:rPr>
              <a:t> </a:t>
            </a:r>
            <a:r>
              <a:rPr lang="it-IT" sz="1400" dirty="0" err="1">
                <a:solidFill>
                  <a:srgbClr val="7F0055"/>
                </a:solidFill>
                <a:latin typeface="Calibri Light" panose="020F0302020204030204" pitchFamily="34" charset="0"/>
              </a:rPr>
              <a:t>void</a:t>
            </a:r>
            <a:r>
              <a:rPr lang="it-IT" sz="1400" dirty="0">
                <a:latin typeface="Calibri Light" panose="020F0302020204030204" pitchFamily="34" charset="0"/>
              </a:rPr>
              <a:t> </a:t>
            </a:r>
            <a:r>
              <a:rPr lang="it-IT" sz="1400" dirty="0" err="1">
                <a:latin typeface="Calibri Light" panose="020F0302020204030204" pitchFamily="34" charset="0"/>
              </a:rPr>
              <a:t>deleteAll</a:t>
            </a:r>
            <a:r>
              <a:rPr lang="it-IT" sz="1400" dirty="0">
                <a:latin typeface="Calibri Light" panose="020F0302020204030204" pitchFamily="34" charset="0"/>
              </a:rPr>
              <a:t>(){</a:t>
            </a:r>
          </a:p>
          <a:p>
            <a:pPr marL="0" indent="0">
              <a:buNone/>
            </a:pPr>
            <a:r>
              <a:rPr lang="it-IT" sz="1400" dirty="0">
                <a:solidFill>
                  <a:srgbClr val="7F0055"/>
                </a:solidFill>
                <a:latin typeface="Calibri Light" panose="020F0302020204030204" pitchFamily="34" charset="0"/>
              </a:rPr>
              <a:t>		</a:t>
            </a:r>
            <a:r>
              <a:rPr lang="it-IT" sz="1400" dirty="0" err="1">
                <a:solidFill>
                  <a:srgbClr val="7F0055"/>
                </a:solidFill>
                <a:latin typeface="Calibri Light" panose="020F0302020204030204" pitchFamily="34" charset="0"/>
              </a:rPr>
              <a:t>this</a:t>
            </a:r>
            <a:r>
              <a:rPr lang="it-IT" sz="1400" dirty="0" err="1">
                <a:latin typeface="Calibri Light" panose="020F0302020204030204" pitchFamily="34" charset="0"/>
              </a:rPr>
              <a:t>.</a:t>
            </a:r>
            <a:r>
              <a:rPr lang="it-IT" sz="1400" dirty="0" err="1">
                <a:solidFill>
                  <a:srgbClr val="0000C0"/>
                </a:solidFill>
                <a:latin typeface="Calibri Light" panose="020F0302020204030204" pitchFamily="34" charset="0"/>
              </a:rPr>
              <a:t>em</a:t>
            </a:r>
            <a:r>
              <a:rPr lang="it-IT" sz="1400" dirty="0" err="1">
                <a:latin typeface="Calibri Light" panose="020F0302020204030204" pitchFamily="34" charset="0"/>
              </a:rPr>
              <a:t>.createQuery</a:t>
            </a:r>
            <a:r>
              <a:rPr lang="it-IT" sz="1400" dirty="0">
                <a:latin typeface="Calibri Light" panose="020F0302020204030204" pitchFamily="34" charset="0"/>
              </a:rPr>
              <a:t>(</a:t>
            </a:r>
            <a:r>
              <a:rPr lang="it-IT" sz="1400" dirty="0">
                <a:solidFill>
                  <a:srgbClr val="2A00FF"/>
                </a:solidFill>
                <a:latin typeface="Calibri Light" panose="020F0302020204030204" pitchFamily="34" charset="0"/>
              </a:rPr>
              <a:t>"DELETE FROM "</a:t>
            </a:r>
            <a:r>
              <a:rPr lang="it-IT" sz="1400" dirty="0">
                <a:latin typeface="Calibri Light" panose="020F0302020204030204" pitchFamily="34" charset="0"/>
              </a:rPr>
              <a:t>+</a:t>
            </a:r>
            <a:r>
              <a:rPr lang="it-IT" sz="1400" dirty="0" err="1">
                <a:solidFill>
                  <a:srgbClr val="7F0055"/>
                </a:solidFill>
                <a:latin typeface="Calibri Light" panose="020F0302020204030204" pitchFamily="34" charset="0"/>
              </a:rPr>
              <a:t>this</a:t>
            </a:r>
            <a:r>
              <a:rPr lang="it-IT" sz="1400" dirty="0" err="1">
                <a:latin typeface="Calibri Light" panose="020F0302020204030204" pitchFamily="34" charset="0"/>
              </a:rPr>
              <a:t>.</a:t>
            </a:r>
            <a:r>
              <a:rPr lang="it-IT" sz="1400" dirty="0" err="1">
                <a:solidFill>
                  <a:srgbClr val="0000C0"/>
                </a:solidFill>
                <a:latin typeface="Calibri Light" panose="020F0302020204030204" pitchFamily="34" charset="0"/>
              </a:rPr>
              <a:t>domainClass</a:t>
            </a:r>
            <a:r>
              <a:rPr lang="it-IT" sz="1400" dirty="0" err="1">
                <a:latin typeface="Calibri Light" panose="020F0302020204030204" pitchFamily="34" charset="0"/>
              </a:rPr>
              <a:t>.getName</a:t>
            </a:r>
            <a:r>
              <a:rPr lang="it-IT" sz="1400" dirty="0">
                <a:latin typeface="Calibri Light" panose="020F0302020204030204" pitchFamily="34" charset="0"/>
              </a:rPr>
              <a:t>()).</a:t>
            </a:r>
            <a:r>
              <a:rPr lang="it-IT" sz="1400" dirty="0" err="1">
                <a:latin typeface="Calibri Light" panose="020F0302020204030204" pitchFamily="34" charset="0"/>
              </a:rPr>
              <a:t>executeUpdate</a:t>
            </a:r>
            <a:r>
              <a:rPr lang="it-IT" sz="1400" dirty="0">
                <a:latin typeface="Calibri Light" panose="020F0302020204030204" pitchFamily="34" charset="0"/>
              </a:rPr>
              <a:t>();</a:t>
            </a:r>
          </a:p>
          <a:p>
            <a:pPr marL="0" indent="0">
              <a:buNone/>
            </a:pPr>
            <a:r>
              <a:rPr lang="it-IT" sz="1400" dirty="0">
                <a:latin typeface="Calibri Light" panose="020F0302020204030204" pitchFamily="34" charset="0"/>
              </a:rPr>
              <a:t>	}</a:t>
            </a:r>
          </a:p>
          <a:p>
            <a:pPr marL="0" indent="0">
              <a:buNone/>
            </a:pPr>
            <a:endParaRPr lang="it-IT" sz="1400" dirty="0">
              <a:latin typeface="Calibri Light" panose="020F0302020204030204" pitchFamily="34" charset="0"/>
            </a:endParaRPr>
          </a:p>
          <a:p>
            <a:pPr marL="0" indent="0">
              <a:buNone/>
            </a:pPr>
            <a:r>
              <a:rPr lang="it-IT" sz="1400" dirty="0">
                <a:solidFill>
                  <a:srgbClr val="7F0055"/>
                </a:solidFill>
                <a:latin typeface="Calibri Light" panose="020F0302020204030204" pitchFamily="34" charset="0"/>
              </a:rPr>
              <a:t>	public</a:t>
            </a:r>
            <a:r>
              <a:rPr lang="it-IT" sz="1400" dirty="0">
                <a:latin typeface="Calibri Light" panose="020F0302020204030204" pitchFamily="34" charset="0"/>
              </a:rPr>
              <a:t> </a:t>
            </a:r>
            <a:r>
              <a:rPr lang="it-IT" sz="1400" dirty="0">
                <a:solidFill>
                  <a:srgbClr val="7F0055"/>
                </a:solidFill>
                <a:latin typeface="Calibri Light" panose="020F0302020204030204" pitchFamily="34" charset="0"/>
              </a:rPr>
              <a:t>long</a:t>
            </a:r>
            <a:r>
              <a:rPr lang="it-IT" sz="1400" dirty="0">
                <a:latin typeface="Calibri Light" panose="020F0302020204030204" pitchFamily="34" charset="0"/>
              </a:rPr>
              <a:t> </a:t>
            </a:r>
            <a:r>
              <a:rPr lang="it-IT" sz="1400" dirty="0" err="1">
                <a:latin typeface="Calibri Light" panose="020F0302020204030204" pitchFamily="34" charset="0"/>
              </a:rPr>
              <a:t>count</a:t>
            </a:r>
            <a:r>
              <a:rPr lang="it-IT" sz="1400" dirty="0">
                <a:latin typeface="Calibri Light" panose="020F0302020204030204" pitchFamily="34" charset="0"/>
              </a:rPr>
              <a:t>() {</a:t>
            </a:r>
          </a:p>
          <a:p>
            <a:pPr marL="0" indent="0">
              <a:buNone/>
            </a:pPr>
            <a:r>
              <a:rPr lang="it-IT" sz="1400" dirty="0">
                <a:solidFill>
                  <a:srgbClr val="7F0055"/>
                </a:solidFill>
                <a:latin typeface="Calibri Light" panose="020F0302020204030204" pitchFamily="34" charset="0"/>
              </a:rPr>
              <a:t>		</a:t>
            </a:r>
            <a:r>
              <a:rPr lang="it-IT" sz="1400" dirty="0" err="1">
                <a:solidFill>
                  <a:srgbClr val="7F0055"/>
                </a:solidFill>
                <a:latin typeface="Calibri Light" panose="020F0302020204030204" pitchFamily="34" charset="0"/>
              </a:rPr>
              <a:t>return</a:t>
            </a:r>
            <a:r>
              <a:rPr lang="it-IT" sz="1400" dirty="0">
                <a:latin typeface="Calibri Light" panose="020F0302020204030204" pitchFamily="34" charset="0"/>
              </a:rPr>
              <a:t> (</a:t>
            </a:r>
            <a:r>
              <a:rPr lang="it-IT" sz="1400" dirty="0">
                <a:solidFill>
                  <a:srgbClr val="7F0055"/>
                </a:solidFill>
                <a:latin typeface="Calibri Light" panose="020F0302020204030204" pitchFamily="34" charset="0"/>
              </a:rPr>
              <a:t>long</a:t>
            </a:r>
            <a:r>
              <a:rPr lang="it-IT" sz="1400" dirty="0">
                <a:latin typeface="Calibri Light" panose="020F0302020204030204" pitchFamily="34" charset="0"/>
              </a:rPr>
              <a:t>)</a:t>
            </a:r>
            <a:r>
              <a:rPr lang="it-IT" sz="1400" dirty="0" err="1">
                <a:solidFill>
                  <a:srgbClr val="7F0055"/>
                </a:solidFill>
                <a:latin typeface="Calibri Light" panose="020F0302020204030204" pitchFamily="34" charset="0"/>
              </a:rPr>
              <a:t>this</a:t>
            </a:r>
            <a:r>
              <a:rPr lang="it-IT" sz="1400" dirty="0" err="1">
                <a:latin typeface="Calibri Light" panose="020F0302020204030204" pitchFamily="34" charset="0"/>
              </a:rPr>
              <a:t>.</a:t>
            </a:r>
            <a:r>
              <a:rPr lang="it-IT" sz="1400" dirty="0" err="1">
                <a:solidFill>
                  <a:srgbClr val="0000C0"/>
                </a:solidFill>
                <a:latin typeface="Calibri Light" panose="020F0302020204030204" pitchFamily="34" charset="0"/>
              </a:rPr>
              <a:t>em</a:t>
            </a:r>
            <a:r>
              <a:rPr lang="it-IT" sz="1400" dirty="0" err="1">
                <a:latin typeface="Calibri Light" panose="020F0302020204030204" pitchFamily="34" charset="0"/>
              </a:rPr>
              <a:t>.createQuery</a:t>
            </a:r>
            <a:r>
              <a:rPr lang="it-IT" sz="1400" dirty="0">
                <a:latin typeface="Calibri Light" panose="020F0302020204030204" pitchFamily="34" charset="0"/>
              </a:rPr>
              <a:t>(</a:t>
            </a:r>
            <a:r>
              <a:rPr lang="it-IT" sz="1400" dirty="0">
                <a:solidFill>
                  <a:srgbClr val="2A00FF"/>
                </a:solidFill>
                <a:latin typeface="Calibri Light" panose="020F0302020204030204" pitchFamily="34" charset="0"/>
              </a:rPr>
              <a:t>"SELECT COUNT(id) FROM "</a:t>
            </a:r>
            <a:r>
              <a:rPr lang="it-IT" sz="1400" dirty="0">
                <a:latin typeface="Calibri Light" panose="020F0302020204030204" pitchFamily="34" charset="0"/>
              </a:rPr>
              <a:t>+</a:t>
            </a:r>
            <a:r>
              <a:rPr lang="it-IT" sz="1400" dirty="0" err="1">
                <a:solidFill>
                  <a:srgbClr val="7F0055"/>
                </a:solidFill>
                <a:latin typeface="Calibri Light" panose="020F0302020204030204" pitchFamily="34" charset="0"/>
              </a:rPr>
              <a:t>this</a:t>
            </a:r>
            <a:r>
              <a:rPr lang="it-IT" sz="1400" dirty="0" err="1">
                <a:latin typeface="Calibri Light" panose="020F0302020204030204" pitchFamily="34" charset="0"/>
              </a:rPr>
              <a:t>.</a:t>
            </a:r>
            <a:r>
              <a:rPr lang="it-IT" sz="1400" dirty="0" err="1">
                <a:solidFill>
                  <a:srgbClr val="0000C0"/>
                </a:solidFill>
                <a:latin typeface="Calibri Light" panose="020F0302020204030204" pitchFamily="34" charset="0"/>
              </a:rPr>
              <a:t>domainClass</a:t>
            </a:r>
            <a:r>
              <a:rPr lang="it-IT" sz="1400" dirty="0" err="1">
                <a:latin typeface="Calibri Light" panose="020F0302020204030204" pitchFamily="34" charset="0"/>
              </a:rPr>
              <a:t>.getName</a:t>
            </a:r>
            <a:r>
              <a:rPr lang="it-IT" sz="1400" dirty="0">
                <a:latin typeface="Calibri Light" panose="020F0302020204030204" pitchFamily="34" charset="0"/>
              </a:rPr>
              <a:t>()).</a:t>
            </a:r>
            <a:r>
              <a:rPr lang="it-IT" sz="1400" dirty="0" err="1">
                <a:latin typeface="Calibri Light" panose="020F0302020204030204" pitchFamily="34" charset="0"/>
              </a:rPr>
              <a:t>getSingleResult</a:t>
            </a:r>
            <a:r>
              <a:rPr lang="it-IT" sz="1400" dirty="0">
                <a:latin typeface="Calibri Light" panose="020F0302020204030204" pitchFamily="34" charset="0"/>
              </a:rPr>
              <a:t>();</a:t>
            </a:r>
          </a:p>
          <a:p>
            <a:pPr marL="0" indent="0">
              <a:buNone/>
            </a:pPr>
            <a:r>
              <a:rPr lang="it-IT" sz="1400" dirty="0">
                <a:latin typeface="Calibri Light" panose="020F0302020204030204" pitchFamily="34" charset="0"/>
              </a:rPr>
              <a:t>	}</a:t>
            </a:r>
          </a:p>
          <a:p>
            <a:pPr marL="0" indent="0">
              <a:buNone/>
            </a:pPr>
            <a:endParaRPr lang="it-IT" sz="1400" dirty="0">
              <a:latin typeface="Calibri Light" panose="020F0302020204030204" pitchFamily="34" charset="0"/>
            </a:endParaRPr>
          </a:p>
          <a:p>
            <a:pPr marL="0" indent="0">
              <a:buNone/>
            </a:pPr>
            <a:r>
              <a:rPr lang="it-IT" sz="1400" dirty="0">
                <a:solidFill>
                  <a:srgbClr val="7F0055"/>
                </a:solidFill>
                <a:latin typeface="Calibri Light" panose="020F0302020204030204" pitchFamily="34" charset="0"/>
              </a:rPr>
              <a:t>	public</a:t>
            </a:r>
            <a:r>
              <a:rPr lang="it-IT" sz="1400" dirty="0">
                <a:latin typeface="Calibri Light" panose="020F0302020204030204" pitchFamily="34" charset="0"/>
              </a:rPr>
              <a:t> </a:t>
            </a:r>
            <a:r>
              <a:rPr lang="it-IT" sz="1400" dirty="0" err="1">
                <a:solidFill>
                  <a:srgbClr val="7F0055"/>
                </a:solidFill>
                <a:latin typeface="Calibri Light" panose="020F0302020204030204" pitchFamily="34" charset="0"/>
              </a:rPr>
              <a:t>boolean</a:t>
            </a:r>
            <a:r>
              <a:rPr lang="it-IT" sz="1400" dirty="0">
                <a:latin typeface="Calibri Light" panose="020F0302020204030204" pitchFamily="34" charset="0"/>
              </a:rPr>
              <a:t> </a:t>
            </a:r>
            <a:r>
              <a:rPr lang="it-IT" sz="1400" dirty="0" err="1">
                <a:latin typeface="Calibri Light" panose="020F0302020204030204" pitchFamily="34" charset="0"/>
              </a:rPr>
              <a:t>existsById</a:t>
            </a:r>
            <a:r>
              <a:rPr lang="it-IT" sz="1400" dirty="0">
                <a:latin typeface="Calibri Light" panose="020F0302020204030204" pitchFamily="34" charset="0"/>
              </a:rPr>
              <a:t>(Long </a:t>
            </a:r>
            <a:r>
              <a:rPr lang="it-IT" sz="1400" dirty="0">
                <a:solidFill>
                  <a:srgbClr val="6A3E3E"/>
                </a:solidFill>
                <a:latin typeface="Calibri Light" panose="020F0302020204030204" pitchFamily="34" charset="0"/>
              </a:rPr>
              <a:t>id</a:t>
            </a:r>
            <a:r>
              <a:rPr lang="it-IT" sz="1400" dirty="0">
                <a:latin typeface="Calibri Light" panose="020F0302020204030204" pitchFamily="34" charset="0"/>
              </a:rPr>
              <a:t>) {</a:t>
            </a:r>
          </a:p>
          <a:p>
            <a:pPr marL="0" indent="0">
              <a:buNone/>
            </a:pPr>
            <a:r>
              <a:rPr lang="it-IT" sz="1400" dirty="0">
                <a:solidFill>
                  <a:srgbClr val="7F0055"/>
                </a:solidFill>
                <a:latin typeface="Calibri Light" panose="020F0302020204030204" pitchFamily="34" charset="0"/>
              </a:rPr>
              <a:t>		</a:t>
            </a:r>
            <a:r>
              <a:rPr lang="it-IT" sz="1400" dirty="0" err="1">
                <a:solidFill>
                  <a:srgbClr val="7F0055"/>
                </a:solidFill>
                <a:latin typeface="Calibri Light" panose="020F0302020204030204" pitchFamily="34" charset="0"/>
              </a:rPr>
              <a:t>return</a:t>
            </a:r>
            <a:r>
              <a:rPr lang="it-IT" sz="1400" dirty="0">
                <a:latin typeface="Calibri Light" panose="020F0302020204030204" pitchFamily="34" charset="0"/>
              </a:rPr>
              <a:t> (</a:t>
            </a:r>
            <a:r>
              <a:rPr lang="it-IT" sz="1400" dirty="0" err="1">
                <a:solidFill>
                  <a:srgbClr val="7F0055"/>
                </a:solidFill>
                <a:latin typeface="Calibri Light" panose="020F0302020204030204" pitchFamily="34" charset="0"/>
              </a:rPr>
              <a:t>this</a:t>
            </a:r>
            <a:r>
              <a:rPr lang="it-IT" sz="1400" dirty="0" err="1">
                <a:latin typeface="Calibri Light" panose="020F0302020204030204" pitchFamily="34" charset="0"/>
              </a:rPr>
              <a:t>.findById</a:t>
            </a:r>
            <a:r>
              <a:rPr lang="it-IT" sz="1400" dirty="0">
                <a:latin typeface="Calibri Light" panose="020F0302020204030204" pitchFamily="34" charset="0"/>
              </a:rPr>
              <a:t>(</a:t>
            </a:r>
            <a:r>
              <a:rPr lang="it-IT" sz="1400" dirty="0">
                <a:solidFill>
                  <a:srgbClr val="6A3E3E"/>
                </a:solidFill>
                <a:latin typeface="Calibri Light" panose="020F0302020204030204" pitchFamily="34" charset="0"/>
              </a:rPr>
              <a:t>id</a:t>
            </a:r>
            <a:r>
              <a:rPr lang="it-IT" sz="1400" dirty="0">
                <a:latin typeface="Calibri Light" panose="020F0302020204030204" pitchFamily="34" charset="0"/>
              </a:rPr>
              <a:t>)!=</a:t>
            </a:r>
            <a:r>
              <a:rPr lang="it-IT" sz="1400" dirty="0" err="1">
                <a:solidFill>
                  <a:srgbClr val="7F0055"/>
                </a:solidFill>
                <a:latin typeface="Calibri Light" panose="020F0302020204030204" pitchFamily="34" charset="0"/>
              </a:rPr>
              <a:t>null</a:t>
            </a:r>
            <a:r>
              <a:rPr lang="it-IT" sz="1400" dirty="0">
                <a:latin typeface="Calibri Light" panose="020F0302020204030204" pitchFamily="34" charset="0"/>
              </a:rPr>
              <a:t>);</a:t>
            </a:r>
          </a:p>
          <a:p>
            <a:pPr marL="0" indent="0">
              <a:buNone/>
            </a:pPr>
            <a:r>
              <a:rPr lang="it-IT" sz="1400" dirty="0">
                <a:latin typeface="Calibri Light" panose="020F0302020204030204" pitchFamily="34" charset="0"/>
              </a:rPr>
              <a:t>	}</a:t>
            </a:r>
          </a:p>
          <a:p>
            <a:pPr marL="0" indent="0">
              <a:buNone/>
            </a:pPr>
            <a:r>
              <a:rPr lang="it-IT" sz="1400" dirty="0">
                <a:latin typeface="Calibri Light" panose="020F0302020204030204" pitchFamily="34" charset="0"/>
              </a:rPr>
              <a:t>}</a:t>
            </a:r>
          </a:p>
          <a:p>
            <a:pPr marL="0" indent="0">
              <a:buNone/>
            </a:pPr>
            <a:endParaRPr lang="it-IT" sz="1400" dirty="0">
              <a:latin typeface="Calibri Light" panose="020F0302020204030204" pitchFamily="34" charset="0"/>
            </a:endParaRPr>
          </a:p>
          <a:p>
            <a:endParaRPr lang="en-US" sz="1400" dirty="0"/>
          </a:p>
        </p:txBody>
      </p:sp>
    </p:spTree>
    <p:extLst>
      <p:ext uri="{BB962C8B-B14F-4D97-AF65-F5344CB8AC3E}">
        <p14:creationId xmlns:p14="http://schemas.microsoft.com/office/powerpoint/2010/main" val="2952115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C4D4FE04-B4E9-EE4E-ACD1-E3D887471D96}"/>
              </a:ext>
            </a:extLst>
          </p:cNvPr>
          <p:cNvSpPr>
            <a:spLocks noGrp="1"/>
          </p:cNvSpPr>
          <p:nvPr>
            <p:ph idx="1"/>
          </p:nvPr>
        </p:nvSpPr>
        <p:spPr>
          <a:xfrm>
            <a:off x="502024" y="717176"/>
            <a:ext cx="8184776" cy="4222377"/>
          </a:xfrm>
        </p:spPr>
        <p:txBody>
          <a:bodyPr>
            <a:normAutofit fontScale="55000" lnSpcReduction="20000"/>
          </a:bodyPr>
          <a:lstStyle/>
          <a:p>
            <a:pPr marL="0" indent="0">
              <a:buNone/>
            </a:pPr>
            <a:r>
              <a:rPr lang="en-US" dirty="0"/>
              <a:t>	public T save(T entity) {</a:t>
            </a:r>
          </a:p>
          <a:p>
            <a:pPr marL="0" indent="0">
              <a:buNone/>
            </a:pPr>
            <a:r>
              <a:rPr lang="en-US" dirty="0"/>
              <a:t>		Method </a:t>
            </a:r>
            <a:r>
              <a:rPr lang="en-US" dirty="0" err="1"/>
              <a:t>getId</a:t>
            </a:r>
            <a:r>
              <a:rPr lang="en-US" dirty="0"/>
              <a:t> = null;</a:t>
            </a:r>
          </a:p>
          <a:p>
            <a:pPr marL="0" indent="0">
              <a:buNone/>
            </a:pPr>
            <a:r>
              <a:rPr lang="en-US" dirty="0"/>
              <a:t>		T </a:t>
            </a:r>
            <a:r>
              <a:rPr lang="en-US" dirty="0" err="1"/>
              <a:t>persistentEntity</a:t>
            </a:r>
            <a:r>
              <a:rPr lang="en-US" dirty="0"/>
              <a:t> = null;</a:t>
            </a:r>
          </a:p>
          <a:p>
            <a:pPr marL="0" indent="0">
              <a:buNone/>
            </a:pPr>
            <a:r>
              <a:rPr lang="en-US" dirty="0"/>
              <a:t>		try {</a:t>
            </a:r>
          </a:p>
          <a:p>
            <a:pPr marL="0" indent="0">
              <a:buNone/>
            </a:pPr>
            <a:r>
              <a:rPr lang="en-US" dirty="0"/>
              <a:t>			</a:t>
            </a:r>
            <a:r>
              <a:rPr lang="en-US" dirty="0" err="1"/>
              <a:t>getId</a:t>
            </a:r>
            <a:r>
              <a:rPr lang="en-US" dirty="0"/>
              <a:t> = </a:t>
            </a:r>
            <a:r>
              <a:rPr lang="en-US" dirty="0" err="1"/>
              <a:t>this.domainClass.getMethod</a:t>
            </a:r>
            <a:r>
              <a:rPr lang="en-US" dirty="0"/>
              <a:t>("</a:t>
            </a:r>
            <a:r>
              <a:rPr lang="en-US" dirty="0" err="1">
                <a:highlight>
                  <a:srgbClr val="FFFF00"/>
                </a:highlight>
              </a:rPr>
              <a:t>getId</a:t>
            </a:r>
            <a:r>
              <a:rPr lang="en-US" dirty="0"/>
              <a:t>");</a:t>
            </a:r>
          </a:p>
          <a:p>
            <a:pPr marL="0" indent="0">
              <a:buNone/>
            </a:pPr>
            <a:r>
              <a:rPr lang="en-US" dirty="0"/>
              <a:t>		} catch (</a:t>
            </a:r>
            <a:r>
              <a:rPr lang="en-US" dirty="0" err="1"/>
              <a:t>NoSuchMethodException</a:t>
            </a:r>
            <a:r>
              <a:rPr lang="en-US" dirty="0"/>
              <a:t> | </a:t>
            </a:r>
            <a:r>
              <a:rPr lang="en-US" dirty="0" err="1"/>
              <a:t>SecurityException</a:t>
            </a:r>
            <a:r>
              <a:rPr lang="en-US" dirty="0"/>
              <a:t> e) {</a:t>
            </a:r>
          </a:p>
          <a:p>
            <a:pPr marL="0" indent="0">
              <a:buNone/>
            </a:pPr>
            <a:r>
              <a:rPr lang="en-US" dirty="0"/>
              <a:t>			</a:t>
            </a:r>
            <a:r>
              <a:rPr lang="en-US" dirty="0" err="1"/>
              <a:t>e.printStackTrace</a:t>
            </a:r>
            <a:r>
              <a:rPr lang="en-US" dirty="0"/>
              <a:t>();</a:t>
            </a:r>
          </a:p>
          <a:p>
            <a:pPr marL="0" indent="0">
              <a:buNone/>
            </a:pPr>
            <a:r>
              <a:rPr lang="en-US" dirty="0"/>
              <a:t>		}</a:t>
            </a:r>
          </a:p>
          <a:p>
            <a:pPr marL="0" indent="0">
              <a:buNone/>
            </a:pPr>
            <a:r>
              <a:rPr lang="en-US" dirty="0"/>
              <a:t>		try {</a:t>
            </a:r>
          </a:p>
          <a:p>
            <a:pPr marL="0" indent="0">
              <a:buNone/>
            </a:pPr>
            <a:r>
              <a:rPr lang="en-US" dirty="0"/>
              <a:t>			if (</a:t>
            </a:r>
            <a:r>
              <a:rPr lang="en-US" dirty="0" err="1"/>
              <a:t>getId.invoke</a:t>
            </a:r>
            <a:r>
              <a:rPr lang="en-US" dirty="0"/>
              <a:t>(entity) == null) {  // (</a:t>
            </a:r>
            <a:r>
              <a:rPr lang="en-US" dirty="0" err="1"/>
              <a:t>entity.getId</a:t>
            </a:r>
            <a:r>
              <a:rPr lang="en-US" dirty="0"/>
              <a:t>() == null)</a:t>
            </a:r>
          </a:p>
          <a:p>
            <a:pPr marL="0" indent="0">
              <a:buNone/>
            </a:pPr>
            <a:r>
              <a:rPr lang="en-US" dirty="0"/>
              <a:t>				</a:t>
            </a:r>
            <a:r>
              <a:rPr lang="en-US" dirty="0" err="1"/>
              <a:t>this.em.persist</a:t>
            </a:r>
            <a:r>
              <a:rPr lang="en-US" dirty="0"/>
              <a:t>(entity);</a:t>
            </a:r>
          </a:p>
          <a:p>
            <a:pPr marL="0" indent="0">
              <a:buNone/>
            </a:pPr>
            <a:r>
              <a:rPr lang="en-US" dirty="0"/>
              <a:t>				</a:t>
            </a:r>
            <a:r>
              <a:rPr lang="en-US" dirty="0" err="1"/>
              <a:t>persistentEntity</a:t>
            </a:r>
            <a:r>
              <a:rPr lang="en-US" dirty="0"/>
              <a:t> = entity;</a:t>
            </a:r>
          </a:p>
          <a:p>
            <a:pPr marL="0" indent="0">
              <a:buNone/>
            </a:pPr>
            <a:r>
              <a:rPr lang="en-US" dirty="0"/>
              <a:t>			} else {</a:t>
            </a:r>
          </a:p>
          <a:p>
            <a:pPr marL="0" indent="0">
              <a:buNone/>
            </a:pPr>
            <a:r>
              <a:rPr lang="en-US" dirty="0"/>
              <a:t>				</a:t>
            </a:r>
            <a:r>
              <a:rPr lang="en-US" dirty="0" err="1"/>
              <a:t>persistentEntity</a:t>
            </a:r>
            <a:r>
              <a:rPr lang="en-US" dirty="0"/>
              <a:t> = </a:t>
            </a:r>
            <a:r>
              <a:rPr lang="en-US" dirty="0" err="1"/>
              <a:t>em.merge</a:t>
            </a:r>
            <a:r>
              <a:rPr lang="en-US" dirty="0"/>
              <a:t>(entity);</a:t>
            </a:r>
          </a:p>
          <a:p>
            <a:pPr marL="0" indent="0">
              <a:buNone/>
            </a:pPr>
            <a:r>
              <a:rPr lang="en-US" dirty="0"/>
              <a:t>			}</a:t>
            </a:r>
          </a:p>
          <a:p>
            <a:pPr marL="0" indent="0">
              <a:buNone/>
            </a:pPr>
            <a:r>
              <a:rPr lang="en-US" dirty="0"/>
              <a:t>		} catch (</a:t>
            </a:r>
            <a:r>
              <a:rPr lang="en-US" dirty="0" err="1"/>
              <a:t>IllegalAccessException</a:t>
            </a:r>
            <a:r>
              <a:rPr lang="en-US" dirty="0"/>
              <a:t> | </a:t>
            </a:r>
            <a:r>
              <a:rPr lang="en-US" dirty="0" err="1"/>
              <a:t>IllegalArgumentException</a:t>
            </a:r>
            <a:r>
              <a:rPr lang="en-US" dirty="0"/>
              <a:t> | </a:t>
            </a:r>
            <a:r>
              <a:rPr lang="en-US" dirty="0" err="1"/>
              <a:t>InvocationTargetException</a:t>
            </a:r>
            <a:r>
              <a:rPr lang="en-US" dirty="0"/>
              <a:t> e) {</a:t>
            </a:r>
          </a:p>
          <a:p>
            <a:pPr marL="0" indent="0">
              <a:buNone/>
            </a:pPr>
            <a:r>
              <a:rPr lang="en-US" dirty="0"/>
              <a:t>			</a:t>
            </a:r>
            <a:r>
              <a:rPr lang="en-US" dirty="0" err="1"/>
              <a:t>e.printStackTrace</a:t>
            </a:r>
            <a:r>
              <a:rPr lang="en-US" dirty="0"/>
              <a:t>();</a:t>
            </a:r>
          </a:p>
          <a:p>
            <a:pPr marL="0" indent="0">
              <a:buNone/>
            </a:pPr>
            <a:r>
              <a:rPr lang="en-US" dirty="0"/>
              <a:t>		}</a:t>
            </a:r>
          </a:p>
          <a:p>
            <a:pPr marL="0" indent="0">
              <a:buNone/>
            </a:pPr>
            <a:r>
              <a:rPr lang="en-US" dirty="0"/>
              <a:t>		return </a:t>
            </a:r>
            <a:r>
              <a:rPr lang="en-US" dirty="0" err="1"/>
              <a:t>persistentEntity</a:t>
            </a:r>
            <a:r>
              <a:rPr lang="en-US" dirty="0"/>
              <a:t>;</a:t>
            </a:r>
          </a:p>
          <a:p>
            <a:pPr marL="0" indent="0">
              <a:buNone/>
            </a:pPr>
            <a:r>
              <a:rPr lang="en-US" dirty="0"/>
              <a:t>	}</a:t>
            </a:r>
          </a:p>
        </p:txBody>
      </p:sp>
      <p:sp>
        <p:nvSpPr>
          <p:cNvPr id="4" name="CasellaDiTesto 3">
            <a:extLst>
              <a:ext uri="{FF2B5EF4-FFF2-40B4-BE49-F238E27FC236}">
                <a16:creationId xmlns:a16="http://schemas.microsoft.com/office/drawing/2014/main" id="{E1E4012B-2231-EC42-B2A9-CDEC444BBF44}"/>
              </a:ext>
            </a:extLst>
          </p:cNvPr>
          <p:cNvSpPr txBox="1"/>
          <p:nvPr/>
        </p:nvSpPr>
        <p:spPr>
          <a:xfrm>
            <a:off x="3523129" y="277906"/>
            <a:ext cx="4523931" cy="923330"/>
          </a:xfrm>
          <a:prstGeom prst="rect">
            <a:avLst/>
          </a:prstGeom>
          <a:noFill/>
        </p:spPr>
        <p:txBody>
          <a:bodyPr wrap="none" rtlCol="0">
            <a:spAutoFit/>
          </a:bodyPr>
          <a:lstStyle/>
          <a:p>
            <a:r>
              <a:rPr lang="en-US" dirty="0">
                <a:latin typeface="Calibri Light" panose="020F0302020204030204" pitchFamily="34" charset="0"/>
              </a:rPr>
              <a:t>Semplice </a:t>
            </a:r>
            <a:r>
              <a:rPr lang="en-US" dirty="0" err="1">
                <a:latin typeface="Calibri Light" panose="020F0302020204030204" pitchFamily="34" charset="0"/>
              </a:rPr>
              <a:t>implementazione</a:t>
            </a:r>
            <a:r>
              <a:rPr lang="en-US" dirty="0">
                <a:latin typeface="Calibri Light" panose="020F0302020204030204" pitchFamily="34" charset="0"/>
              </a:rPr>
              <a:t> del </a:t>
            </a:r>
            <a:r>
              <a:rPr lang="en-US" dirty="0" err="1">
                <a:latin typeface="Calibri Light" panose="020F0302020204030204" pitchFamily="34" charset="0"/>
              </a:rPr>
              <a:t>metodo</a:t>
            </a:r>
            <a:r>
              <a:rPr lang="en-US" dirty="0">
                <a:latin typeface="Calibri Light" panose="020F0302020204030204" pitchFamily="34" charset="0"/>
              </a:rPr>
              <a:t> save():</a:t>
            </a:r>
            <a:br>
              <a:rPr lang="en-US" dirty="0">
                <a:latin typeface="Calibri Light" panose="020F0302020204030204" pitchFamily="34" charset="0"/>
              </a:rPr>
            </a:br>
            <a:r>
              <a:rPr lang="en-US" dirty="0">
                <a:latin typeface="Calibri Light" panose="020F0302020204030204" pitchFamily="34" charset="0"/>
              </a:rPr>
              <a:t>assume </a:t>
            </a:r>
            <a:r>
              <a:rPr lang="en-US" dirty="0" err="1">
                <a:latin typeface="Calibri Light" panose="020F0302020204030204" pitchFamily="34" charset="0"/>
              </a:rPr>
              <a:t>che</a:t>
            </a:r>
            <a:r>
              <a:rPr lang="en-US" dirty="0">
                <a:latin typeface="Calibri Light" panose="020F0302020204030204" pitchFamily="34" charset="0"/>
              </a:rPr>
              <a:t> </a:t>
            </a:r>
            <a:r>
              <a:rPr lang="en-US" dirty="0" err="1">
                <a:latin typeface="Calibri Light" panose="020F0302020204030204" pitchFamily="34" charset="0"/>
              </a:rPr>
              <a:t>nella</a:t>
            </a:r>
            <a:r>
              <a:rPr lang="en-US" dirty="0">
                <a:latin typeface="Calibri Light" panose="020F0302020204030204" pitchFamily="34" charset="0"/>
              </a:rPr>
              <a:t> </a:t>
            </a:r>
            <a:r>
              <a:rPr lang="en-US" dirty="0" err="1">
                <a:latin typeface="Calibri Light" panose="020F0302020204030204" pitchFamily="34" charset="0"/>
              </a:rPr>
              <a:t>classe</a:t>
            </a:r>
            <a:r>
              <a:rPr lang="en-US" dirty="0">
                <a:latin typeface="Calibri Light" panose="020F0302020204030204" pitchFamily="34" charset="0"/>
              </a:rPr>
              <a:t> </a:t>
            </a:r>
            <a:r>
              <a:rPr lang="en-US" dirty="0" err="1">
                <a:latin typeface="Calibri Light" panose="020F0302020204030204" pitchFamily="34" charset="0"/>
              </a:rPr>
              <a:t>dell'entità</a:t>
            </a:r>
            <a:r>
              <a:rPr lang="en-US" dirty="0">
                <a:latin typeface="Calibri Light" panose="020F0302020204030204" pitchFamily="34" charset="0"/>
              </a:rPr>
              <a:t> </a:t>
            </a:r>
            <a:br>
              <a:rPr lang="en-US" dirty="0">
                <a:latin typeface="Calibri Light" panose="020F0302020204030204" pitchFamily="34" charset="0"/>
              </a:rPr>
            </a:br>
            <a:r>
              <a:rPr lang="en-US" dirty="0" err="1">
                <a:latin typeface="Calibri Light" panose="020F0302020204030204" pitchFamily="34" charset="0"/>
              </a:rPr>
              <a:t>esista</a:t>
            </a:r>
            <a:r>
              <a:rPr lang="en-US" dirty="0">
                <a:latin typeface="Calibri Light" panose="020F0302020204030204" pitchFamily="34" charset="0"/>
              </a:rPr>
              <a:t> un </a:t>
            </a:r>
            <a:r>
              <a:rPr lang="en-US" dirty="0" err="1">
                <a:latin typeface="Calibri Light" panose="020F0302020204030204" pitchFamily="34" charset="0"/>
              </a:rPr>
              <a:t>metodo</a:t>
            </a:r>
            <a:r>
              <a:rPr lang="en-US" dirty="0">
                <a:latin typeface="Calibri Light" panose="020F0302020204030204" pitchFamily="34" charset="0"/>
              </a:rPr>
              <a:t> </a:t>
            </a:r>
            <a:r>
              <a:rPr lang="en-US" dirty="0" err="1">
                <a:latin typeface="Calibri Light" panose="020F0302020204030204" pitchFamily="34" charset="0"/>
              </a:rPr>
              <a:t>che</a:t>
            </a:r>
            <a:r>
              <a:rPr lang="en-US" dirty="0">
                <a:latin typeface="Calibri Light" panose="020F0302020204030204" pitchFamily="34" charset="0"/>
              </a:rPr>
              <a:t> </a:t>
            </a:r>
            <a:r>
              <a:rPr lang="en-US" dirty="0" err="1">
                <a:latin typeface="Calibri Light" panose="020F0302020204030204" pitchFamily="34" charset="0"/>
              </a:rPr>
              <a:t>si</a:t>
            </a:r>
            <a:r>
              <a:rPr lang="en-US" dirty="0">
                <a:latin typeface="Calibri Light" panose="020F0302020204030204" pitchFamily="34" charset="0"/>
              </a:rPr>
              <a:t> </a:t>
            </a:r>
            <a:r>
              <a:rPr lang="en-US" dirty="0" err="1">
                <a:latin typeface="Calibri Light" panose="020F0302020204030204" pitchFamily="34" charset="0"/>
              </a:rPr>
              <a:t>chiama</a:t>
            </a:r>
            <a:r>
              <a:rPr lang="en-US" dirty="0">
                <a:latin typeface="Calibri Light" panose="020F0302020204030204" pitchFamily="34" charset="0"/>
              </a:rPr>
              <a:t> </a:t>
            </a:r>
            <a:r>
              <a:rPr lang="en-US" dirty="0" err="1">
                <a:latin typeface="Calibri Light" panose="020F0302020204030204" pitchFamily="34" charset="0"/>
              </a:rPr>
              <a:t>getId</a:t>
            </a:r>
            <a:r>
              <a:rPr lang="en-US" dirty="0">
                <a:latin typeface="Calibri Light" panose="020F0302020204030204" pitchFamily="34" charset="0"/>
              </a:rPr>
              <a:t>()</a:t>
            </a:r>
          </a:p>
        </p:txBody>
      </p:sp>
    </p:spTree>
    <p:extLst>
      <p:ext uri="{BB962C8B-B14F-4D97-AF65-F5344CB8AC3E}">
        <p14:creationId xmlns:p14="http://schemas.microsoft.com/office/powerpoint/2010/main" val="1576801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C4D4FE04-B4E9-EE4E-ACD1-E3D887471D96}"/>
              </a:ext>
            </a:extLst>
          </p:cNvPr>
          <p:cNvSpPr>
            <a:spLocks noGrp="1"/>
          </p:cNvSpPr>
          <p:nvPr>
            <p:ph idx="1"/>
          </p:nvPr>
        </p:nvSpPr>
        <p:spPr>
          <a:xfrm>
            <a:off x="502024" y="80682"/>
            <a:ext cx="8184776" cy="5062818"/>
          </a:xfrm>
        </p:spPr>
        <p:txBody>
          <a:bodyPr>
            <a:normAutofit fontScale="92500" lnSpcReduction="20000"/>
          </a:bodyPr>
          <a:lstStyle/>
          <a:p>
            <a:pPr marL="0" indent="0">
              <a:buNone/>
            </a:pPr>
            <a:r>
              <a:rPr lang="it-IT" sz="1100" dirty="0">
                <a:solidFill>
                  <a:srgbClr val="7F0055"/>
                </a:solidFill>
                <a:highlight>
                  <a:srgbClr val="FFFF00"/>
                </a:highlight>
              </a:rPr>
              <a:t>private</a:t>
            </a:r>
            <a:r>
              <a:rPr lang="it-IT" sz="1100" dirty="0">
                <a:highlight>
                  <a:srgbClr val="FFFF00"/>
                </a:highlight>
              </a:rPr>
              <a:t> </a:t>
            </a:r>
            <a:r>
              <a:rPr lang="it-IT" sz="1100" dirty="0" err="1">
                <a:highlight>
                  <a:srgbClr val="FFFF00"/>
                </a:highlight>
              </a:rPr>
              <a:t>String</a:t>
            </a:r>
            <a:r>
              <a:rPr lang="it-IT" sz="1100" dirty="0">
                <a:highlight>
                  <a:srgbClr val="FFFF00"/>
                </a:highlight>
              </a:rPr>
              <a:t> </a:t>
            </a:r>
            <a:r>
              <a:rPr lang="it-IT" sz="1100" dirty="0" err="1">
                <a:highlight>
                  <a:srgbClr val="FFFF00"/>
                </a:highlight>
              </a:rPr>
              <a:t>getNameOfidentifier</a:t>
            </a:r>
            <a:r>
              <a:rPr lang="it-IT" sz="1100" dirty="0">
                <a:highlight>
                  <a:srgbClr val="FFFF00"/>
                </a:highlight>
              </a:rPr>
              <a:t>() {</a:t>
            </a:r>
          </a:p>
          <a:p>
            <a:pPr marL="0" indent="0">
              <a:buNone/>
            </a:pPr>
            <a:r>
              <a:rPr lang="it-IT" sz="1100" dirty="0">
                <a:highlight>
                  <a:srgbClr val="FFFF00"/>
                </a:highlight>
              </a:rPr>
              <a:t>    </a:t>
            </a:r>
            <a:r>
              <a:rPr lang="it-IT" sz="1100" dirty="0" err="1">
                <a:highlight>
                  <a:srgbClr val="FFFF00"/>
                </a:highlight>
              </a:rPr>
              <a:t>String</a:t>
            </a:r>
            <a:r>
              <a:rPr lang="it-IT" sz="1100" dirty="0">
                <a:highlight>
                  <a:srgbClr val="FFFF00"/>
                </a:highlight>
              </a:rPr>
              <a:t> </a:t>
            </a:r>
            <a:r>
              <a:rPr lang="it-IT" sz="1100" dirty="0" err="1">
                <a:solidFill>
                  <a:srgbClr val="6A3E3E"/>
                </a:solidFill>
                <a:highlight>
                  <a:srgbClr val="FFFF00"/>
                </a:highlight>
              </a:rPr>
              <a:t>fieldName</a:t>
            </a:r>
            <a:r>
              <a:rPr lang="it-IT" sz="1100" dirty="0">
                <a:highlight>
                  <a:srgbClr val="FFFF00"/>
                </a:highlight>
              </a:rPr>
              <a:t> = </a:t>
            </a:r>
            <a:r>
              <a:rPr lang="it-IT" sz="1100" dirty="0" err="1">
                <a:solidFill>
                  <a:srgbClr val="7F0055"/>
                </a:solidFill>
                <a:highlight>
                  <a:srgbClr val="FFFF00"/>
                </a:highlight>
              </a:rPr>
              <a:t>null</a:t>
            </a:r>
            <a:r>
              <a:rPr lang="it-IT" sz="1100" dirty="0">
                <a:highlight>
                  <a:srgbClr val="FFFF00"/>
                </a:highlight>
              </a:rPr>
              <a:t>; </a:t>
            </a:r>
          </a:p>
          <a:p>
            <a:pPr marL="0" indent="0">
              <a:buNone/>
            </a:pPr>
            <a:r>
              <a:rPr lang="it-IT" sz="1100" dirty="0">
                <a:solidFill>
                  <a:srgbClr val="7F0055"/>
                </a:solidFill>
                <a:highlight>
                  <a:srgbClr val="FFFF00"/>
                </a:highlight>
              </a:rPr>
              <a:t>    for</a:t>
            </a:r>
            <a:r>
              <a:rPr lang="it-IT" sz="1100" dirty="0">
                <a:highlight>
                  <a:srgbClr val="FFFF00"/>
                </a:highlight>
              </a:rPr>
              <a:t> (Field </a:t>
            </a:r>
            <a:r>
              <a:rPr lang="it-IT" sz="1100" dirty="0" err="1">
                <a:solidFill>
                  <a:srgbClr val="6A3E3E"/>
                </a:solidFill>
                <a:highlight>
                  <a:srgbClr val="FFFF00"/>
                </a:highlight>
              </a:rPr>
              <a:t>f</a:t>
            </a:r>
            <a:r>
              <a:rPr lang="it-IT" sz="1100" dirty="0">
                <a:highlight>
                  <a:srgbClr val="FFFF00"/>
                </a:highlight>
              </a:rPr>
              <a:t> : </a:t>
            </a:r>
            <a:r>
              <a:rPr lang="it-IT" sz="1100" dirty="0" err="1">
                <a:solidFill>
                  <a:srgbClr val="0000C0"/>
                </a:solidFill>
                <a:highlight>
                  <a:srgbClr val="FFFF00"/>
                </a:highlight>
              </a:rPr>
              <a:t>domainClass</a:t>
            </a:r>
            <a:r>
              <a:rPr lang="it-IT" sz="1100" dirty="0" err="1">
                <a:highlight>
                  <a:srgbClr val="FFFF00"/>
                </a:highlight>
              </a:rPr>
              <a:t>.getDeclaredFields</a:t>
            </a:r>
            <a:r>
              <a:rPr lang="it-IT" sz="1100" dirty="0">
                <a:highlight>
                  <a:srgbClr val="FFFF00"/>
                </a:highlight>
              </a:rPr>
              <a:t>()) {</a:t>
            </a:r>
          </a:p>
          <a:p>
            <a:pPr marL="0" indent="0">
              <a:buNone/>
            </a:pPr>
            <a:r>
              <a:rPr lang="it-IT" sz="1100" dirty="0">
                <a:solidFill>
                  <a:srgbClr val="6A3E3E"/>
                </a:solidFill>
                <a:highlight>
                  <a:srgbClr val="FFFF00"/>
                </a:highlight>
              </a:rPr>
              <a:t>        </a:t>
            </a:r>
            <a:r>
              <a:rPr lang="it-IT" sz="1100" dirty="0" err="1">
                <a:solidFill>
                  <a:srgbClr val="6A3E3E"/>
                </a:solidFill>
                <a:highlight>
                  <a:srgbClr val="FFFF00"/>
                </a:highlight>
              </a:rPr>
              <a:t>fieldName</a:t>
            </a:r>
            <a:r>
              <a:rPr lang="it-IT" sz="1100" dirty="0">
                <a:highlight>
                  <a:srgbClr val="FFFF00"/>
                </a:highlight>
              </a:rPr>
              <a:t> = </a:t>
            </a:r>
            <a:r>
              <a:rPr lang="it-IT" sz="1100" dirty="0" err="1">
                <a:solidFill>
                  <a:srgbClr val="6A3E3E"/>
                </a:solidFill>
                <a:highlight>
                  <a:srgbClr val="FFFF00"/>
                </a:highlight>
              </a:rPr>
              <a:t>f</a:t>
            </a:r>
            <a:r>
              <a:rPr lang="it-IT" sz="1100" dirty="0" err="1">
                <a:highlight>
                  <a:srgbClr val="FFFF00"/>
                </a:highlight>
              </a:rPr>
              <a:t>.getName</a:t>
            </a:r>
            <a:r>
              <a:rPr lang="it-IT" sz="1100" dirty="0">
                <a:highlight>
                  <a:srgbClr val="FFFF00"/>
                </a:highlight>
              </a:rPr>
              <a:t>();</a:t>
            </a:r>
          </a:p>
          <a:p>
            <a:pPr marL="0" indent="0">
              <a:buNone/>
            </a:pPr>
            <a:r>
              <a:rPr lang="it-IT" sz="1100" dirty="0">
                <a:solidFill>
                  <a:srgbClr val="7F0055"/>
                </a:solidFill>
                <a:highlight>
                  <a:srgbClr val="FFFF00"/>
                </a:highlight>
              </a:rPr>
              <a:t>    </a:t>
            </a:r>
            <a:r>
              <a:rPr lang="it-IT" sz="1100" dirty="0" err="1">
                <a:solidFill>
                  <a:srgbClr val="7F0055"/>
                </a:solidFill>
                <a:highlight>
                  <a:srgbClr val="FFFF00"/>
                </a:highlight>
              </a:rPr>
              <a:t>if</a:t>
            </a:r>
            <a:r>
              <a:rPr lang="it-IT" sz="1100" dirty="0">
                <a:highlight>
                  <a:srgbClr val="FFFF00"/>
                </a:highlight>
              </a:rPr>
              <a:t> (</a:t>
            </a:r>
            <a:r>
              <a:rPr lang="it-IT" sz="1100" dirty="0" err="1">
                <a:solidFill>
                  <a:srgbClr val="6A3E3E"/>
                </a:solidFill>
                <a:highlight>
                  <a:srgbClr val="FFFF00"/>
                </a:highlight>
              </a:rPr>
              <a:t>f</a:t>
            </a:r>
            <a:r>
              <a:rPr lang="it-IT" sz="1100" dirty="0" err="1">
                <a:highlight>
                  <a:srgbClr val="FFFF00"/>
                </a:highlight>
              </a:rPr>
              <a:t>.isAnnotationPresent</a:t>
            </a:r>
            <a:r>
              <a:rPr lang="it-IT" sz="1100" dirty="0">
                <a:highlight>
                  <a:srgbClr val="FFFF00"/>
                </a:highlight>
              </a:rPr>
              <a:t>(</a:t>
            </a:r>
            <a:r>
              <a:rPr lang="it-IT" sz="1100" dirty="0" err="1">
                <a:solidFill>
                  <a:srgbClr val="646464"/>
                </a:solidFill>
                <a:highlight>
                  <a:srgbClr val="FFFF00"/>
                </a:highlight>
              </a:rPr>
              <a:t>Id</a:t>
            </a:r>
            <a:r>
              <a:rPr lang="it-IT" sz="1100" dirty="0" err="1">
                <a:highlight>
                  <a:srgbClr val="FFFF00"/>
                </a:highlight>
              </a:rPr>
              <a:t>.</a:t>
            </a:r>
            <a:r>
              <a:rPr lang="it-IT" sz="1100" dirty="0" err="1">
                <a:solidFill>
                  <a:srgbClr val="7F0055"/>
                </a:solidFill>
                <a:highlight>
                  <a:srgbClr val="FFFF00"/>
                </a:highlight>
              </a:rPr>
              <a:t>class</a:t>
            </a:r>
            <a:r>
              <a:rPr lang="it-IT" sz="1100" dirty="0">
                <a:highlight>
                  <a:srgbClr val="FFFF00"/>
                </a:highlight>
              </a:rPr>
              <a:t>))</a:t>
            </a:r>
          </a:p>
          <a:p>
            <a:pPr marL="0" indent="0">
              <a:buNone/>
            </a:pPr>
            <a:r>
              <a:rPr lang="it-IT" sz="1100" dirty="0">
                <a:solidFill>
                  <a:srgbClr val="7F0055"/>
                </a:solidFill>
                <a:highlight>
                  <a:srgbClr val="FFFF00"/>
                </a:highlight>
              </a:rPr>
              <a:t>        </a:t>
            </a:r>
            <a:r>
              <a:rPr lang="it-IT" sz="1100" dirty="0" err="1">
                <a:solidFill>
                  <a:srgbClr val="7F0055"/>
                </a:solidFill>
                <a:highlight>
                  <a:srgbClr val="FFFF00"/>
                </a:highlight>
              </a:rPr>
              <a:t>return</a:t>
            </a:r>
            <a:r>
              <a:rPr lang="it-IT" sz="1100" dirty="0">
                <a:highlight>
                  <a:srgbClr val="FFFF00"/>
                </a:highlight>
              </a:rPr>
              <a:t> </a:t>
            </a:r>
            <a:r>
              <a:rPr lang="it-IT" sz="1100" dirty="0">
                <a:solidFill>
                  <a:srgbClr val="2A00FF"/>
                </a:solidFill>
                <a:highlight>
                  <a:srgbClr val="FFFF00"/>
                </a:highlight>
              </a:rPr>
              <a:t>"</a:t>
            </a:r>
            <a:r>
              <a:rPr lang="it-IT" sz="1100" dirty="0" err="1">
                <a:solidFill>
                  <a:srgbClr val="2A00FF"/>
                </a:solidFill>
                <a:highlight>
                  <a:srgbClr val="FFFF00"/>
                </a:highlight>
              </a:rPr>
              <a:t>get</a:t>
            </a:r>
            <a:r>
              <a:rPr lang="it-IT" sz="1100" dirty="0">
                <a:solidFill>
                  <a:srgbClr val="2A00FF"/>
                </a:solidFill>
                <a:highlight>
                  <a:srgbClr val="FFFF00"/>
                </a:highlight>
              </a:rPr>
              <a:t>"</a:t>
            </a:r>
            <a:r>
              <a:rPr lang="it-IT" sz="1100" dirty="0">
                <a:highlight>
                  <a:srgbClr val="FFFF00"/>
                </a:highlight>
              </a:rPr>
              <a:t> + </a:t>
            </a:r>
            <a:r>
              <a:rPr lang="it-IT" sz="1100" dirty="0" err="1">
                <a:highlight>
                  <a:srgbClr val="FFFF00"/>
                </a:highlight>
              </a:rPr>
              <a:t>Character.toUpperCase</a:t>
            </a:r>
            <a:r>
              <a:rPr lang="it-IT" sz="1100" dirty="0">
                <a:highlight>
                  <a:srgbClr val="FFFF00"/>
                </a:highlight>
              </a:rPr>
              <a:t>(</a:t>
            </a:r>
            <a:r>
              <a:rPr lang="it-IT" sz="1100" dirty="0" err="1">
                <a:solidFill>
                  <a:srgbClr val="6A3E3E"/>
                </a:solidFill>
                <a:highlight>
                  <a:srgbClr val="FFFF00"/>
                </a:highlight>
              </a:rPr>
              <a:t>fieldName</a:t>
            </a:r>
            <a:r>
              <a:rPr lang="it-IT" sz="1100" dirty="0" err="1">
                <a:highlight>
                  <a:srgbClr val="FFFF00"/>
                </a:highlight>
              </a:rPr>
              <a:t>.charAt</a:t>
            </a:r>
            <a:r>
              <a:rPr lang="it-IT" sz="1100" dirty="0">
                <a:highlight>
                  <a:srgbClr val="FFFF00"/>
                </a:highlight>
              </a:rPr>
              <a:t>(0)) + </a:t>
            </a:r>
            <a:r>
              <a:rPr lang="it-IT" sz="1100" dirty="0" err="1">
                <a:solidFill>
                  <a:srgbClr val="6A3E3E"/>
                </a:solidFill>
                <a:highlight>
                  <a:srgbClr val="FFFF00"/>
                </a:highlight>
              </a:rPr>
              <a:t>fieldName</a:t>
            </a:r>
            <a:r>
              <a:rPr lang="it-IT" sz="1100" dirty="0" err="1">
                <a:highlight>
                  <a:srgbClr val="FFFF00"/>
                </a:highlight>
              </a:rPr>
              <a:t>.substring</a:t>
            </a:r>
            <a:r>
              <a:rPr lang="it-IT" sz="1100" dirty="0">
                <a:highlight>
                  <a:srgbClr val="FFFF00"/>
                </a:highlight>
              </a:rPr>
              <a:t>(1);</a:t>
            </a:r>
          </a:p>
          <a:p>
            <a:pPr marL="0" indent="0">
              <a:buNone/>
            </a:pPr>
            <a:r>
              <a:rPr lang="it-IT" sz="1100" dirty="0">
                <a:highlight>
                  <a:srgbClr val="FFFF00"/>
                </a:highlight>
              </a:rPr>
              <a:t>    }</a:t>
            </a:r>
          </a:p>
          <a:p>
            <a:pPr marL="0" indent="0">
              <a:buNone/>
            </a:pPr>
            <a:r>
              <a:rPr lang="it-IT" sz="1100" dirty="0">
                <a:solidFill>
                  <a:srgbClr val="7F0055"/>
                </a:solidFill>
                <a:highlight>
                  <a:srgbClr val="FFFF00"/>
                </a:highlight>
              </a:rPr>
              <a:t>    </a:t>
            </a:r>
            <a:r>
              <a:rPr lang="it-IT" sz="1100" dirty="0" err="1">
                <a:solidFill>
                  <a:srgbClr val="7F0055"/>
                </a:solidFill>
                <a:highlight>
                  <a:srgbClr val="FFFF00"/>
                </a:highlight>
              </a:rPr>
              <a:t>return</a:t>
            </a:r>
            <a:r>
              <a:rPr lang="it-IT" sz="1100" dirty="0">
                <a:solidFill>
                  <a:srgbClr val="000000"/>
                </a:solidFill>
                <a:highlight>
                  <a:srgbClr val="FFFF00"/>
                </a:highlight>
              </a:rPr>
              <a:t> </a:t>
            </a:r>
            <a:r>
              <a:rPr lang="it-IT" sz="1100" dirty="0" err="1">
                <a:solidFill>
                  <a:srgbClr val="7F0055"/>
                </a:solidFill>
                <a:highlight>
                  <a:srgbClr val="FFFF00"/>
                </a:highlight>
              </a:rPr>
              <a:t>null</a:t>
            </a:r>
            <a:r>
              <a:rPr lang="it-IT" sz="1100" dirty="0">
                <a:solidFill>
                  <a:srgbClr val="000000"/>
                </a:solidFill>
                <a:highlight>
                  <a:srgbClr val="FFFF00"/>
                </a:highlight>
              </a:rPr>
              <a:t>;</a:t>
            </a:r>
            <a:endParaRPr lang="it-IT" sz="1100" dirty="0">
              <a:solidFill>
                <a:srgbClr val="7F0055"/>
              </a:solidFill>
              <a:highlight>
                <a:srgbClr val="FFFF00"/>
              </a:highlight>
            </a:endParaRPr>
          </a:p>
          <a:p>
            <a:pPr marL="0" indent="0">
              <a:buNone/>
            </a:pPr>
            <a:r>
              <a:rPr lang="it-IT" sz="1100" dirty="0">
                <a:highlight>
                  <a:srgbClr val="FFFF00"/>
                </a:highlight>
              </a:rPr>
              <a:t>}</a:t>
            </a:r>
          </a:p>
          <a:p>
            <a:pPr marL="0" indent="0">
              <a:buNone/>
            </a:pPr>
            <a:endParaRPr lang="it-IT" sz="1100" dirty="0"/>
          </a:p>
          <a:p>
            <a:pPr marL="0" indent="0">
              <a:buNone/>
            </a:pPr>
            <a:r>
              <a:rPr lang="it-IT" sz="1100" dirty="0">
                <a:solidFill>
                  <a:srgbClr val="7F0055"/>
                </a:solidFill>
              </a:rPr>
              <a:t>public</a:t>
            </a:r>
            <a:r>
              <a:rPr lang="it-IT" sz="1100" dirty="0"/>
              <a:t> T </a:t>
            </a:r>
            <a:r>
              <a:rPr lang="it-IT" sz="1100" dirty="0" err="1"/>
              <a:t>save</a:t>
            </a:r>
            <a:r>
              <a:rPr lang="it-IT" sz="1100" dirty="0"/>
              <a:t>(T </a:t>
            </a:r>
            <a:r>
              <a:rPr lang="it-IT" sz="1100" dirty="0" err="1">
                <a:solidFill>
                  <a:srgbClr val="6A3E3E"/>
                </a:solidFill>
              </a:rPr>
              <a:t>entity</a:t>
            </a:r>
            <a:r>
              <a:rPr lang="it-IT" sz="1100" dirty="0"/>
              <a:t>) {</a:t>
            </a:r>
          </a:p>
          <a:p>
            <a:pPr marL="0" indent="0">
              <a:buNone/>
            </a:pPr>
            <a:r>
              <a:rPr lang="it-IT" sz="1100" dirty="0"/>
              <a:t>    Method </a:t>
            </a:r>
            <a:r>
              <a:rPr lang="it-IT" sz="1100" dirty="0" err="1">
                <a:solidFill>
                  <a:srgbClr val="6A3E3E"/>
                </a:solidFill>
              </a:rPr>
              <a:t>getId</a:t>
            </a:r>
            <a:r>
              <a:rPr lang="it-IT" sz="1100" dirty="0"/>
              <a:t> = </a:t>
            </a:r>
            <a:r>
              <a:rPr lang="it-IT" sz="1100" dirty="0" err="1">
                <a:solidFill>
                  <a:srgbClr val="7F0055"/>
                </a:solidFill>
              </a:rPr>
              <a:t>null</a:t>
            </a:r>
            <a:r>
              <a:rPr lang="it-IT" sz="1100" dirty="0"/>
              <a:t>;</a:t>
            </a:r>
          </a:p>
          <a:p>
            <a:pPr marL="0" indent="0">
              <a:buNone/>
            </a:pPr>
            <a:r>
              <a:rPr lang="it-IT" sz="1100" dirty="0">
                <a:solidFill>
                  <a:srgbClr val="000000"/>
                </a:solidFill>
              </a:rPr>
              <a:t>    T </a:t>
            </a:r>
            <a:r>
              <a:rPr lang="it-IT" sz="1100" dirty="0" err="1">
                <a:solidFill>
                  <a:srgbClr val="6A3E3E"/>
                </a:solidFill>
              </a:rPr>
              <a:t>persistentEntity</a:t>
            </a:r>
            <a:r>
              <a:rPr lang="it-IT" sz="1100" dirty="0">
                <a:solidFill>
                  <a:srgbClr val="000000"/>
                </a:solidFill>
              </a:rPr>
              <a:t> = </a:t>
            </a:r>
            <a:r>
              <a:rPr lang="it-IT" sz="1100" dirty="0" err="1">
                <a:solidFill>
                  <a:srgbClr val="7F0055"/>
                </a:solidFill>
              </a:rPr>
              <a:t>null</a:t>
            </a:r>
            <a:r>
              <a:rPr lang="it-IT" sz="1100" dirty="0">
                <a:solidFill>
                  <a:srgbClr val="000000"/>
                </a:solidFill>
              </a:rPr>
              <a:t>;</a:t>
            </a:r>
            <a:endParaRPr lang="it-IT" sz="1100" dirty="0">
              <a:solidFill>
                <a:srgbClr val="6A3E3E"/>
              </a:solidFill>
            </a:endParaRPr>
          </a:p>
          <a:p>
            <a:pPr marL="0" indent="0">
              <a:buNone/>
            </a:pPr>
            <a:r>
              <a:rPr lang="it-IT" sz="1100" dirty="0">
                <a:solidFill>
                  <a:srgbClr val="7F0055"/>
                </a:solidFill>
              </a:rPr>
              <a:t>    </a:t>
            </a:r>
            <a:r>
              <a:rPr lang="it-IT" sz="1100" dirty="0" err="1">
                <a:solidFill>
                  <a:srgbClr val="7F0055"/>
                </a:solidFill>
              </a:rPr>
              <a:t>try</a:t>
            </a:r>
            <a:r>
              <a:rPr lang="it-IT" sz="1100" dirty="0"/>
              <a:t> {</a:t>
            </a:r>
          </a:p>
          <a:p>
            <a:pPr marL="0" indent="0">
              <a:buNone/>
            </a:pPr>
            <a:r>
              <a:rPr lang="it-IT" sz="1100" dirty="0">
                <a:solidFill>
                  <a:srgbClr val="6A3E3E"/>
                </a:solidFill>
              </a:rPr>
              <a:t>        </a:t>
            </a:r>
            <a:r>
              <a:rPr lang="it-IT" sz="1100" dirty="0" err="1">
                <a:solidFill>
                  <a:srgbClr val="6A3E3E"/>
                </a:solidFill>
              </a:rPr>
              <a:t>getId</a:t>
            </a:r>
            <a:r>
              <a:rPr lang="it-IT" sz="1100" dirty="0"/>
              <a:t> = </a:t>
            </a:r>
            <a:r>
              <a:rPr lang="it-IT" sz="1100" dirty="0" err="1">
                <a:solidFill>
                  <a:srgbClr val="7F0055"/>
                </a:solidFill>
              </a:rPr>
              <a:t>this</a:t>
            </a:r>
            <a:r>
              <a:rPr lang="it-IT" sz="1100" dirty="0" err="1"/>
              <a:t>.</a:t>
            </a:r>
            <a:r>
              <a:rPr lang="it-IT" sz="1100" dirty="0" err="1">
                <a:solidFill>
                  <a:srgbClr val="0000C0"/>
                </a:solidFill>
              </a:rPr>
              <a:t>domainClass</a:t>
            </a:r>
            <a:r>
              <a:rPr lang="it-IT" sz="1100" dirty="0" err="1"/>
              <a:t>.getMethod</a:t>
            </a:r>
            <a:r>
              <a:rPr lang="it-IT" sz="1100" dirty="0"/>
              <a:t>(</a:t>
            </a:r>
            <a:r>
              <a:rPr lang="it-IT" sz="1100" dirty="0" err="1">
                <a:highlight>
                  <a:srgbClr val="FFFF00"/>
                </a:highlight>
              </a:rPr>
              <a:t>getNameOfidentifier</a:t>
            </a:r>
            <a:r>
              <a:rPr lang="it-IT" sz="1100" dirty="0">
                <a:highlight>
                  <a:srgbClr val="FFFF00"/>
                </a:highlight>
              </a:rPr>
              <a:t>()</a:t>
            </a:r>
            <a:r>
              <a:rPr lang="it-IT" sz="1100" dirty="0"/>
              <a:t>);</a:t>
            </a:r>
          </a:p>
          <a:p>
            <a:pPr marL="0" indent="0">
              <a:buNone/>
            </a:pPr>
            <a:r>
              <a:rPr lang="it-IT" sz="1100" dirty="0"/>
              <a:t>    } </a:t>
            </a:r>
            <a:r>
              <a:rPr lang="it-IT" sz="1100" dirty="0">
                <a:solidFill>
                  <a:srgbClr val="7F0055"/>
                </a:solidFill>
              </a:rPr>
              <a:t>catch</a:t>
            </a:r>
            <a:r>
              <a:rPr lang="it-IT" sz="1100" dirty="0"/>
              <a:t> (</a:t>
            </a:r>
            <a:r>
              <a:rPr lang="it-IT" sz="1100" dirty="0" err="1"/>
              <a:t>NoSuchMethodException</a:t>
            </a:r>
            <a:r>
              <a:rPr lang="it-IT" sz="1100" dirty="0"/>
              <a:t> | </a:t>
            </a:r>
            <a:r>
              <a:rPr lang="it-IT" sz="1100" dirty="0" err="1"/>
              <a:t>SecurityException</a:t>
            </a:r>
            <a:r>
              <a:rPr lang="it-IT" sz="1100" dirty="0"/>
              <a:t> </a:t>
            </a:r>
            <a:r>
              <a:rPr lang="it-IT" sz="1100" dirty="0">
                <a:solidFill>
                  <a:srgbClr val="6A3E3E"/>
                </a:solidFill>
              </a:rPr>
              <a:t>e</a:t>
            </a:r>
            <a:r>
              <a:rPr lang="it-IT" sz="1100" dirty="0"/>
              <a:t>) {</a:t>
            </a:r>
          </a:p>
          <a:p>
            <a:pPr marL="0" indent="0">
              <a:buNone/>
            </a:pPr>
            <a:r>
              <a:rPr lang="it-IT" sz="1100" dirty="0">
                <a:solidFill>
                  <a:srgbClr val="6A3E3E"/>
                </a:solidFill>
              </a:rPr>
              <a:t>        </a:t>
            </a:r>
            <a:r>
              <a:rPr lang="it-IT" sz="1100" dirty="0" err="1">
                <a:solidFill>
                  <a:srgbClr val="6A3E3E"/>
                </a:solidFill>
              </a:rPr>
              <a:t>e</a:t>
            </a:r>
            <a:r>
              <a:rPr lang="it-IT" sz="1100" dirty="0" err="1"/>
              <a:t>.printStackTrace</a:t>
            </a:r>
            <a:r>
              <a:rPr lang="it-IT" sz="1100" dirty="0"/>
              <a:t>();</a:t>
            </a:r>
          </a:p>
          <a:p>
            <a:pPr marL="0" indent="0">
              <a:buNone/>
            </a:pPr>
            <a:r>
              <a:rPr lang="it-IT" sz="1100" dirty="0"/>
              <a:t>    }</a:t>
            </a:r>
          </a:p>
          <a:p>
            <a:pPr marL="0" indent="0">
              <a:buNone/>
            </a:pPr>
            <a:r>
              <a:rPr lang="it-IT" sz="1100" dirty="0">
                <a:solidFill>
                  <a:srgbClr val="7F0055"/>
                </a:solidFill>
              </a:rPr>
              <a:t>    </a:t>
            </a:r>
            <a:r>
              <a:rPr lang="it-IT" sz="1100" dirty="0" err="1">
                <a:solidFill>
                  <a:srgbClr val="7F0055"/>
                </a:solidFill>
              </a:rPr>
              <a:t>try</a:t>
            </a:r>
            <a:r>
              <a:rPr lang="it-IT" sz="1100" dirty="0"/>
              <a:t> {</a:t>
            </a:r>
          </a:p>
          <a:p>
            <a:pPr marL="0" indent="0">
              <a:buNone/>
            </a:pPr>
            <a:r>
              <a:rPr lang="it-IT" sz="1100" dirty="0">
                <a:solidFill>
                  <a:srgbClr val="7F0055"/>
                </a:solidFill>
              </a:rPr>
              <a:t>        </a:t>
            </a:r>
            <a:r>
              <a:rPr lang="it-IT" sz="1100" dirty="0" err="1">
                <a:solidFill>
                  <a:srgbClr val="7F0055"/>
                </a:solidFill>
              </a:rPr>
              <a:t>if</a:t>
            </a:r>
            <a:r>
              <a:rPr lang="it-IT" sz="1100" dirty="0">
                <a:solidFill>
                  <a:srgbClr val="000000"/>
                </a:solidFill>
              </a:rPr>
              <a:t> (</a:t>
            </a:r>
            <a:r>
              <a:rPr lang="it-IT" sz="1100" dirty="0" err="1">
                <a:solidFill>
                  <a:srgbClr val="6A3E3E"/>
                </a:solidFill>
              </a:rPr>
              <a:t>getId</a:t>
            </a:r>
            <a:r>
              <a:rPr lang="it-IT" sz="1100" dirty="0" err="1">
                <a:solidFill>
                  <a:srgbClr val="000000"/>
                </a:solidFill>
              </a:rPr>
              <a:t>.invoke</a:t>
            </a:r>
            <a:r>
              <a:rPr lang="it-IT" sz="1100" dirty="0">
                <a:solidFill>
                  <a:srgbClr val="000000"/>
                </a:solidFill>
              </a:rPr>
              <a:t>(</a:t>
            </a:r>
            <a:r>
              <a:rPr lang="it-IT" sz="1100" dirty="0" err="1">
                <a:solidFill>
                  <a:srgbClr val="6A3E3E"/>
                </a:solidFill>
              </a:rPr>
              <a:t>entity</a:t>
            </a:r>
            <a:r>
              <a:rPr lang="it-IT" sz="1100" dirty="0">
                <a:solidFill>
                  <a:srgbClr val="000000"/>
                </a:solidFill>
              </a:rPr>
              <a:t>) == </a:t>
            </a:r>
            <a:r>
              <a:rPr lang="it-IT" sz="1100" dirty="0" err="1">
                <a:solidFill>
                  <a:srgbClr val="7F0055"/>
                </a:solidFill>
              </a:rPr>
              <a:t>null</a:t>
            </a:r>
            <a:r>
              <a:rPr lang="it-IT" sz="1100" dirty="0">
                <a:solidFill>
                  <a:srgbClr val="000000"/>
                </a:solidFill>
              </a:rPr>
              <a:t>) {  </a:t>
            </a:r>
            <a:r>
              <a:rPr lang="it-IT" sz="1100" dirty="0">
                <a:solidFill>
                  <a:srgbClr val="3F7F5F"/>
                </a:solidFill>
              </a:rPr>
              <a:t>// (</a:t>
            </a:r>
            <a:r>
              <a:rPr lang="it-IT" sz="1100" dirty="0" err="1">
                <a:solidFill>
                  <a:srgbClr val="3F7F5F"/>
                </a:solidFill>
              </a:rPr>
              <a:t>entity.getId</a:t>
            </a:r>
            <a:r>
              <a:rPr lang="it-IT" sz="1100" dirty="0">
                <a:solidFill>
                  <a:srgbClr val="3F7F5F"/>
                </a:solidFill>
              </a:rPr>
              <a:t>() == </a:t>
            </a:r>
            <a:r>
              <a:rPr lang="it-IT" sz="1100" dirty="0" err="1">
                <a:solidFill>
                  <a:srgbClr val="3F7F5F"/>
                </a:solidFill>
              </a:rPr>
              <a:t>null</a:t>
            </a:r>
            <a:r>
              <a:rPr lang="it-IT" sz="1100" dirty="0">
                <a:solidFill>
                  <a:srgbClr val="3F7F5F"/>
                </a:solidFill>
              </a:rPr>
              <a:t>)</a:t>
            </a:r>
          </a:p>
          <a:p>
            <a:pPr marL="0" indent="0">
              <a:buNone/>
            </a:pPr>
            <a:r>
              <a:rPr lang="it-IT" sz="1100" dirty="0">
                <a:solidFill>
                  <a:srgbClr val="7F0055"/>
                </a:solidFill>
              </a:rPr>
              <a:t>            </a:t>
            </a:r>
            <a:r>
              <a:rPr lang="it-IT" sz="1100" dirty="0" err="1">
                <a:solidFill>
                  <a:srgbClr val="7F0055"/>
                </a:solidFill>
              </a:rPr>
              <a:t>this</a:t>
            </a:r>
            <a:r>
              <a:rPr lang="it-IT" sz="1100" dirty="0" err="1"/>
              <a:t>.</a:t>
            </a:r>
            <a:r>
              <a:rPr lang="it-IT" sz="1100" dirty="0" err="1">
                <a:solidFill>
                  <a:srgbClr val="0000C0"/>
                </a:solidFill>
              </a:rPr>
              <a:t>em</a:t>
            </a:r>
            <a:r>
              <a:rPr lang="it-IT" sz="1100" dirty="0" err="1"/>
              <a:t>.persist</a:t>
            </a:r>
            <a:r>
              <a:rPr lang="it-IT" sz="1100" dirty="0"/>
              <a:t>(</a:t>
            </a:r>
            <a:r>
              <a:rPr lang="it-IT" sz="1100" dirty="0" err="1">
                <a:solidFill>
                  <a:srgbClr val="6A3E3E"/>
                </a:solidFill>
              </a:rPr>
              <a:t>entity</a:t>
            </a:r>
            <a:r>
              <a:rPr lang="it-IT" sz="1100" dirty="0"/>
              <a:t>);</a:t>
            </a:r>
          </a:p>
          <a:p>
            <a:pPr marL="0" indent="0">
              <a:buNone/>
            </a:pPr>
            <a:r>
              <a:rPr lang="it-IT" sz="1100" dirty="0">
                <a:solidFill>
                  <a:srgbClr val="6A3E3E"/>
                </a:solidFill>
              </a:rPr>
              <a:t>            </a:t>
            </a:r>
            <a:r>
              <a:rPr lang="it-IT" sz="1100" dirty="0" err="1">
                <a:solidFill>
                  <a:srgbClr val="6A3E3E"/>
                </a:solidFill>
              </a:rPr>
              <a:t>persistentEntity</a:t>
            </a:r>
            <a:r>
              <a:rPr lang="it-IT" sz="1100" dirty="0">
                <a:solidFill>
                  <a:srgbClr val="000000"/>
                </a:solidFill>
              </a:rPr>
              <a:t> = </a:t>
            </a:r>
            <a:r>
              <a:rPr lang="it-IT" sz="1100" dirty="0" err="1">
                <a:solidFill>
                  <a:srgbClr val="6A3E3E"/>
                </a:solidFill>
              </a:rPr>
              <a:t>entity</a:t>
            </a:r>
            <a:r>
              <a:rPr lang="it-IT" sz="1100" dirty="0">
                <a:solidFill>
                  <a:srgbClr val="000000"/>
                </a:solidFill>
              </a:rPr>
              <a:t>;</a:t>
            </a:r>
            <a:endParaRPr lang="it-IT" sz="1100" dirty="0">
              <a:solidFill>
                <a:srgbClr val="6A3E3E"/>
              </a:solidFill>
            </a:endParaRPr>
          </a:p>
          <a:p>
            <a:pPr marL="0" indent="0">
              <a:buNone/>
            </a:pPr>
            <a:r>
              <a:rPr lang="it-IT" sz="1100" dirty="0"/>
              <a:t>        } </a:t>
            </a:r>
            <a:r>
              <a:rPr lang="it-IT" sz="1100" dirty="0">
                <a:solidFill>
                  <a:srgbClr val="7F0055"/>
                </a:solidFill>
              </a:rPr>
              <a:t>else</a:t>
            </a:r>
            <a:r>
              <a:rPr lang="it-IT" sz="1100" dirty="0"/>
              <a:t> {</a:t>
            </a:r>
          </a:p>
          <a:p>
            <a:pPr marL="0" indent="0">
              <a:buNone/>
            </a:pPr>
            <a:r>
              <a:rPr lang="it-IT" sz="1100" dirty="0">
                <a:solidFill>
                  <a:srgbClr val="6A3E3E"/>
                </a:solidFill>
              </a:rPr>
              <a:t>            </a:t>
            </a:r>
            <a:r>
              <a:rPr lang="it-IT" sz="1100" dirty="0" err="1">
                <a:solidFill>
                  <a:srgbClr val="6A3E3E"/>
                </a:solidFill>
              </a:rPr>
              <a:t>persistentEntity</a:t>
            </a:r>
            <a:r>
              <a:rPr lang="it-IT" sz="1100" dirty="0">
                <a:solidFill>
                  <a:srgbClr val="000000"/>
                </a:solidFill>
              </a:rPr>
              <a:t> = </a:t>
            </a:r>
            <a:r>
              <a:rPr lang="it-IT" sz="1100" dirty="0" err="1">
                <a:solidFill>
                  <a:srgbClr val="0000C0"/>
                </a:solidFill>
              </a:rPr>
              <a:t>em</a:t>
            </a:r>
            <a:r>
              <a:rPr lang="it-IT" sz="1100" dirty="0" err="1">
                <a:solidFill>
                  <a:srgbClr val="000000"/>
                </a:solidFill>
              </a:rPr>
              <a:t>.merge</a:t>
            </a:r>
            <a:r>
              <a:rPr lang="it-IT" sz="1100" dirty="0">
                <a:solidFill>
                  <a:srgbClr val="000000"/>
                </a:solidFill>
              </a:rPr>
              <a:t>(</a:t>
            </a:r>
            <a:r>
              <a:rPr lang="it-IT" sz="1100" dirty="0" err="1">
                <a:solidFill>
                  <a:srgbClr val="6A3E3E"/>
                </a:solidFill>
              </a:rPr>
              <a:t>entity</a:t>
            </a:r>
            <a:r>
              <a:rPr lang="it-IT" sz="1100" dirty="0">
                <a:solidFill>
                  <a:srgbClr val="000000"/>
                </a:solidFill>
              </a:rPr>
              <a:t>);</a:t>
            </a:r>
            <a:endParaRPr lang="it-IT" sz="1100" dirty="0">
              <a:solidFill>
                <a:srgbClr val="6A3E3E"/>
              </a:solidFill>
            </a:endParaRPr>
          </a:p>
          <a:p>
            <a:pPr marL="0" indent="0">
              <a:buNone/>
            </a:pPr>
            <a:r>
              <a:rPr lang="it-IT" sz="1100" dirty="0"/>
              <a:t>        }</a:t>
            </a:r>
          </a:p>
          <a:p>
            <a:pPr marL="0" indent="0">
              <a:buNone/>
            </a:pPr>
            <a:r>
              <a:rPr lang="it-IT" sz="1100" dirty="0"/>
              <a:t>    } </a:t>
            </a:r>
            <a:r>
              <a:rPr lang="it-IT" sz="1100" dirty="0">
                <a:solidFill>
                  <a:srgbClr val="7F0055"/>
                </a:solidFill>
              </a:rPr>
              <a:t>catch</a:t>
            </a:r>
            <a:r>
              <a:rPr lang="it-IT" sz="1100" dirty="0"/>
              <a:t> (</a:t>
            </a:r>
            <a:r>
              <a:rPr lang="it-IT" sz="1100" dirty="0" err="1"/>
              <a:t>IllegalAccessException</a:t>
            </a:r>
            <a:r>
              <a:rPr lang="it-IT" sz="1100" dirty="0"/>
              <a:t> | </a:t>
            </a:r>
            <a:r>
              <a:rPr lang="it-IT" sz="1100" dirty="0" err="1"/>
              <a:t>IllegalArgumentException</a:t>
            </a:r>
            <a:r>
              <a:rPr lang="it-IT" sz="1100" dirty="0"/>
              <a:t> | </a:t>
            </a:r>
            <a:r>
              <a:rPr lang="it-IT" sz="1100" dirty="0" err="1"/>
              <a:t>InvocationTargetException</a:t>
            </a:r>
            <a:r>
              <a:rPr lang="it-IT" sz="1100" dirty="0"/>
              <a:t> </a:t>
            </a:r>
            <a:r>
              <a:rPr lang="it-IT" sz="1100" dirty="0">
                <a:solidFill>
                  <a:srgbClr val="6A3E3E"/>
                </a:solidFill>
              </a:rPr>
              <a:t>e</a:t>
            </a:r>
            <a:r>
              <a:rPr lang="it-IT" sz="1100" dirty="0"/>
              <a:t>) {</a:t>
            </a:r>
          </a:p>
          <a:p>
            <a:pPr marL="0" indent="0">
              <a:buNone/>
            </a:pPr>
            <a:r>
              <a:rPr lang="it-IT" sz="1100" dirty="0">
                <a:solidFill>
                  <a:srgbClr val="6A3E3E"/>
                </a:solidFill>
              </a:rPr>
              <a:t>        </a:t>
            </a:r>
            <a:r>
              <a:rPr lang="it-IT" sz="1100" dirty="0" err="1">
                <a:solidFill>
                  <a:srgbClr val="6A3E3E"/>
                </a:solidFill>
              </a:rPr>
              <a:t>e</a:t>
            </a:r>
            <a:r>
              <a:rPr lang="it-IT" sz="1100" dirty="0" err="1"/>
              <a:t>.printStackTrace</a:t>
            </a:r>
            <a:r>
              <a:rPr lang="it-IT" sz="1100" dirty="0"/>
              <a:t>();</a:t>
            </a:r>
          </a:p>
          <a:p>
            <a:pPr marL="0" indent="0">
              <a:buNone/>
            </a:pPr>
            <a:r>
              <a:rPr lang="it-IT" sz="1100" dirty="0"/>
              <a:t>    } </a:t>
            </a:r>
          </a:p>
          <a:p>
            <a:pPr marL="0" indent="0">
              <a:buNone/>
            </a:pPr>
            <a:r>
              <a:rPr lang="it-IT" sz="1100" dirty="0">
                <a:solidFill>
                  <a:srgbClr val="7F0055"/>
                </a:solidFill>
              </a:rPr>
              <a:t>    </a:t>
            </a:r>
            <a:r>
              <a:rPr lang="it-IT" sz="1100" dirty="0" err="1">
                <a:solidFill>
                  <a:srgbClr val="7F0055"/>
                </a:solidFill>
              </a:rPr>
              <a:t>return</a:t>
            </a:r>
            <a:r>
              <a:rPr lang="it-IT" sz="1100" dirty="0">
                <a:solidFill>
                  <a:srgbClr val="000000"/>
                </a:solidFill>
              </a:rPr>
              <a:t> </a:t>
            </a:r>
            <a:r>
              <a:rPr lang="it-IT" sz="1100" dirty="0" err="1">
                <a:solidFill>
                  <a:srgbClr val="6A3E3E"/>
                </a:solidFill>
              </a:rPr>
              <a:t>persistentEntity</a:t>
            </a:r>
            <a:r>
              <a:rPr lang="it-IT" sz="1100" dirty="0">
                <a:solidFill>
                  <a:srgbClr val="000000"/>
                </a:solidFill>
              </a:rPr>
              <a:t>;</a:t>
            </a:r>
            <a:endParaRPr lang="it-IT" sz="1100" dirty="0">
              <a:solidFill>
                <a:srgbClr val="6A3E3E"/>
              </a:solidFill>
            </a:endParaRPr>
          </a:p>
          <a:p>
            <a:pPr marL="0" indent="0">
              <a:buNone/>
            </a:pPr>
            <a:r>
              <a:rPr lang="it-IT" sz="1100" dirty="0"/>
              <a:t>}</a:t>
            </a:r>
          </a:p>
        </p:txBody>
      </p:sp>
      <p:sp>
        <p:nvSpPr>
          <p:cNvPr id="4" name="CasellaDiTesto 3">
            <a:extLst>
              <a:ext uri="{FF2B5EF4-FFF2-40B4-BE49-F238E27FC236}">
                <a16:creationId xmlns:a16="http://schemas.microsoft.com/office/drawing/2014/main" id="{89D57966-E230-944A-9287-A87F5B1678F7}"/>
              </a:ext>
            </a:extLst>
          </p:cNvPr>
          <p:cNvSpPr txBox="1"/>
          <p:nvPr/>
        </p:nvSpPr>
        <p:spPr>
          <a:xfrm>
            <a:off x="4025152" y="1210236"/>
            <a:ext cx="5017271" cy="923330"/>
          </a:xfrm>
          <a:prstGeom prst="rect">
            <a:avLst/>
          </a:prstGeom>
          <a:noFill/>
        </p:spPr>
        <p:txBody>
          <a:bodyPr wrap="none" rtlCol="0">
            <a:spAutoFit/>
          </a:bodyPr>
          <a:lstStyle/>
          <a:p>
            <a:r>
              <a:rPr lang="en-US" dirty="0" err="1">
                <a:latin typeface="Calibri Light" panose="020F0302020204030204" pitchFamily="34" charset="0"/>
              </a:rPr>
              <a:t>Implementazione</a:t>
            </a:r>
            <a:r>
              <a:rPr lang="en-US" dirty="0">
                <a:latin typeface="Calibri Light" panose="020F0302020204030204" pitchFamily="34" charset="0"/>
              </a:rPr>
              <a:t> </a:t>
            </a:r>
            <a:r>
              <a:rPr lang="en-US" dirty="0" err="1">
                <a:latin typeface="Calibri Light" panose="020F0302020204030204" pitchFamily="34" charset="0"/>
              </a:rPr>
              <a:t>più</a:t>
            </a:r>
            <a:r>
              <a:rPr lang="en-US" dirty="0">
                <a:latin typeface="Calibri Light" panose="020F0302020204030204" pitchFamily="34" charset="0"/>
              </a:rPr>
              <a:t> </a:t>
            </a:r>
            <a:r>
              <a:rPr lang="en-US" dirty="0" err="1">
                <a:latin typeface="Calibri Light" panose="020F0302020204030204" pitchFamily="34" charset="0"/>
              </a:rPr>
              <a:t>avanzata</a:t>
            </a:r>
            <a:r>
              <a:rPr lang="en-US" dirty="0">
                <a:latin typeface="Calibri Light" panose="020F0302020204030204" pitchFamily="34" charset="0"/>
              </a:rPr>
              <a:t> del </a:t>
            </a:r>
            <a:r>
              <a:rPr lang="en-US" dirty="0" err="1">
                <a:latin typeface="Calibri Light" panose="020F0302020204030204" pitchFamily="34" charset="0"/>
              </a:rPr>
              <a:t>metodo</a:t>
            </a:r>
            <a:r>
              <a:rPr lang="en-US" dirty="0">
                <a:latin typeface="Calibri Light" panose="020F0302020204030204" pitchFamily="34" charset="0"/>
              </a:rPr>
              <a:t> save():</a:t>
            </a:r>
            <a:br>
              <a:rPr lang="en-US" dirty="0">
                <a:latin typeface="Calibri Light" panose="020F0302020204030204" pitchFamily="34" charset="0"/>
              </a:rPr>
            </a:br>
            <a:r>
              <a:rPr lang="en-US" dirty="0" err="1">
                <a:latin typeface="Calibri Light" panose="020F0302020204030204" pitchFamily="34" charset="0"/>
              </a:rPr>
              <a:t>usa</a:t>
            </a:r>
            <a:r>
              <a:rPr lang="en-US" dirty="0">
                <a:latin typeface="Calibri Light" panose="020F0302020204030204" pitchFamily="34" charset="0"/>
              </a:rPr>
              <a:t> la </a:t>
            </a:r>
            <a:r>
              <a:rPr lang="en-US" dirty="0" err="1">
                <a:latin typeface="Calibri Light" panose="020F0302020204030204" pitchFamily="34" charset="0"/>
              </a:rPr>
              <a:t>riflessione</a:t>
            </a:r>
            <a:r>
              <a:rPr lang="en-US" dirty="0">
                <a:latin typeface="Calibri Light" panose="020F0302020204030204" pitchFamily="34" charset="0"/>
              </a:rPr>
              <a:t> per </a:t>
            </a:r>
            <a:r>
              <a:rPr lang="en-US" dirty="0" err="1">
                <a:latin typeface="Calibri Light" panose="020F0302020204030204" pitchFamily="34" charset="0"/>
              </a:rPr>
              <a:t>cercare</a:t>
            </a:r>
            <a:r>
              <a:rPr lang="en-US" dirty="0">
                <a:latin typeface="Calibri Light" panose="020F0302020204030204" pitchFamily="34" charset="0"/>
              </a:rPr>
              <a:t> </a:t>
            </a:r>
            <a:r>
              <a:rPr lang="en-US" dirty="0" err="1">
                <a:latin typeface="Calibri Light" panose="020F0302020204030204" pitchFamily="34" charset="0"/>
              </a:rPr>
              <a:t>nella</a:t>
            </a:r>
            <a:r>
              <a:rPr lang="en-US" dirty="0">
                <a:latin typeface="Calibri Light" panose="020F0302020204030204" pitchFamily="34" charset="0"/>
              </a:rPr>
              <a:t> </a:t>
            </a:r>
            <a:r>
              <a:rPr lang="en-US" dirty="0" err="1">
                <a:latin typeface="Calibri Light" panose="020F0302020204030204" pitchFamily="34" charset="0"/>
              </a:rPr>
              <a:t>classe</a:t>
            </a:r>
            <a:r>
              <a:rPr lang="en-US" dirty="0">
                <a:latin typeface="Calibri Light" panose="020F0302020204030204" pitchFamily="34" charset="0"/>
              </a:rPr>
              <a:t> </a:t>
            </a:r>
            <a:r>
              <a:rPr lang="en-US" dirty="0" err="1">
                <a:latin typeface="Calibri Light" panose="020F0302020204030204" pitchFamily="34" charset="0"/>
              </a:rPr>
              <a:t>dell'entità</a:t>
            </a:r>
            <a:r>
              <a:rPr lang="en-US" dirty="0">
                <a:latin typeface="Calibri Light" panose="020F0302020204030204" pitchFamily="34" charset="0"/>
              </a:rPr>
              <a:t> </a:t>
            </a:r>
            <a:br>
              <a:rPr lang="en-US" dirty="0">
                <a:latin typeface="Calibri Light" panose="020F0302020204030204" pitchFamily="34" charset="0"/>
              </a:rPr>
            </a:br>
            <a:r>
              <a:rPr lang="en-US" dirty="0">
                <a:latin typeface="Calibri Light" panose="020F0302020204030204" pitchFamily="34" charset="0"/>
              </a:rPr>
              <a:t>la </a:t>
            </a:r>
            <a:r>
              <a:rPr lang="en-US" dirty="0" err="1">
                <a:latin typeface="Calibri Light" panose="020F0302020204030204" pitchFamily="34" charset="0"/>
              </a:rPr>
              <a:t>variabile</a:t>
            </a:r>
            <a:r>
              <a:rPr lang="en-US" dirty="0">
                <a:latin typeface="Calibri Light" panose="020F0302020204030204" pitchFamily="34" charset="0"/>
              </a:rPr>
              <a:t> </a:t>
            </a:r>
            <a:r>
              <a:rPr lang="en-US" dirty="0" err="1">
                <a:latin typeface="Calibri Light" panose="020F0302020204030204" pitchFamily="34" charset="0"/>
              </a:rPr>
              <a:t>annotata</a:t>
            </a:r>
            <a:r>
              <a:rPr lang="en-US" dirty="0">
                <a:latin typeface="Calibri Light" panose="020F0302020204030204" pitchFamily="34" charset="0"/>
              </a:rPr>
              <a:t> @Id</a:t>
            </a:r>
          </a:p>
        </p:txBody>
      </p:sp>
    </p:spTree>
    <p:extLst>
      <p:ext uri="{BB962C8B-B14F-4D97-AF65-F5344CB8AC3E}">
        <p14:creationId xmlns:p14="http://schemas.microsoft.com/office/powerpoint/2010/main" val="336809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27246E2-D7DC-C44C-9DA3-44D706DF1847}"/>
              </a:ext>
            </a:extLst>
          </p:cNvPr>
          <p:cNvSpPr>
            <a:spLocks noGrp="1"/>
          </p:cNvSpPr>
          <p:nvPr>
            <p:ph type="title"/>
          </p:nvPr>
        </p:nvSpPr>
        <p:spPr/>
        <p:txBody>
          <a:bodyPr/>
          <a:lstStyle/>
          <a:p>
            <a:pPr algn="r"/>
            <a:r>
              <a:rPr lang="en-US" dirty="0" err="1"/>
              <a:t>CustomerRepository</a:t>
            </a:r>
            <a:endParaRPr lang="en-US" dirty="0"/>
          </a:p>
        </p:txBody>
      </p:sp>
      <p:sp>
        <p:nvSpPr>
          <p:cNvPr id="3" name="Segnaposto contenuto 2">
            <a:extLst>
              <a:ext uri="{FF2B5EF4-FFF2-40B4-BE49-F238E27FC236}">
                <a16:creationId xmlns:a16="http://schemas.microsoft.com/office/drawing/2014/main" id="{00D2B6D6-A620-5446-B856-AE1EF0B84ED7}"/>
              </a:ext>
            </a:extLst>
          </p:cNvPr>
          <p:cNvSpPr>
            <a:spLocks noGrp="1"/>
          </p:cNvSpPr>
          <p:nvPr>
            <p:ph idx="1"/>
          </p:nvPr>
        </p:nvSpPr>
        <p:spPr>
          <a:xfrm>
            <a:off x="0" y="0"/>
            <a:ext cx="8686800" cy="4594623"/>
          </a:xfrm>
        </p:spPr>
        <p:txBody>
          <a:bodyPr>
            <a:noAutofit/>
          </a:bodyPr>
          <a:lstStyle/>
          <a:p>
            <a:pPr marL="0" indent="0">
              <a:buNone/>
            </a:pPr>
            <a:endParaRPr lang="it-IT" sz="1300" dirty="0">
              <a:solidFill>
                <a:srgbClr val="7F0055"/>
              </a:solidFill>
              <a:latin typeface="Calibri Light" panose="020F0302020204030204" pitchFamily="34" charset="0"/>
            </a:endParaRPr>
          </a:p>
          <a:p>
            <a:pPr marL="0" indent="0">
              <a:buNone/>
            </a:pPr>
            <a:endParaRPr lang="it-IT" sz="1300" dirty="0">
              <a:solidFill>
                <a:srgbClr val="7F0055"/>
              </a:solidFill>
              <a:latin typeface="Calibri Light" panose="020F0302020204030204" pitchFamily="34" charset="0"/>
            </a:endParaRPr>
          </a:p>
          <a:p>
            <a:pPr marL="0" indent="0">
              <a:buNone/>
            </a:pPr>
            <a:endParaRPr lang="it-IT" sz="1300" dirty="0">
              <a:solidFill>
                <a:srgbClr val="7F0055"/>
              </a:solidFill>
              <a:latin typeface="Calibri Light" panose="020F0302020204030204" pitchFamily="34" charset="0"/>
            </a:endParaRPr>
          </a:p>
          <a:p>
            <a:pPr marL="0" indent="0">
              <a:buNone/>
            </a:pPr>
            <a:endParaRPr lang="it-IT" sz="1300" dirty="0">
              <a:solidFill>
                <a:srgbClr val="7F0055"/>
              </a:solidFill>
              <a:latin typeface="Calibri Light" panose="020F0302020204030204" pitchFamily="34" charset="0"/>
            </a:endParaRPr>
          </a:p>
          <a:p>
            <a:pPr marL="0" indent="0">
              <a:buNone/>
            </a:pPr>
            <a:endParaRPr lang="it-IT" sz="1300" dirty="0">
              <a:solidFill>
                <a:srgbClr val="7F0055"/>
              </a:solidFill>
              <a:latin typeface="Calibri Light" panose="020F0302020204030204" pitchFamily="34" charset="0"/>
            </a:endParaRPr>
          </a:p>
          <a:p>
            <a:pPr marL="0" indent="0">
              <a:buNone/>
            </a:pPr>
            <a:r>
              <a:rPr lang="it-IT" sz="1300" dirty="0">
                <a:solidFill>
                  <a:srgbClr val="7F0055"/>
                </a:solidFill>
                <a:latin typeface="Calibri Light" panose="020F0302020204030204" pitchFamily="34" charset="0"/>
              </a:rPr>
              <a:t>public</a:t>
            </a:r>
            <a:r>
              <a:rPr lang="it-IT" sz="1300" dirty="0">
                <a:latin typeface="Calibri Light" panose="020F0302020204030204" pitchFamily="34" charset="0"/>
              </a:rPr>
              <a:t> </a:t>
            </a:r>
            <a:r>
              <a:rPr lang="it-IT" sz="1300" dirty="0" err="1">
                <a:solidFill>
                  <a:srgbClr val="7F0055"/>
                </a:solidFill>
                <a:latin typeface="Calibri Light" panose="020F0302020204030204" pitchFamily="34" charset="0"/>
              </a:rPr>
              <a:t>class</a:t>
            </a:r>
            <a:r>
              <a:rPr lang="it-IT" sz="1300" dirty="0">
                <a:latin typeface="Calibri Light" panose="020F0302020204030204" pitchFamily="34" charset="0"/>
              </a:rPr>
              <a:t> </a:t>
            </a:r>
            <a:r>
              <a:rPr lang="it-IT" sz="1300" dirty="0" err="1">
                <a:latin typeface="Calibri Light" panose="020F0302020204030204" pitchFamily="34" charset="0"/>
              </a:rPr>
              <a:t>CustomerRepository</a:t>
            </a:r>
            <a:r>
              <a:rPr lang="it-IT" sz="1300" dirty="0">
                <a:latin typeface="Calibri Light" panose="020F0302020204030204" pitchFamily="34" charset="0"/>
              </a:rPr>
              <a:t> </a:t>
            </a:r>
            <a:r>
              <a:rPr lang="it-IT" sz="1300" dirty="0" err="1">
                <a:solidFill>
                  <a:srgbClr val="7F0055"/>
                </a:solidFill>
                <a:latin typeface="Calibri Light" panose="020F0302020204030204" pitchFamily="34" charset="0"/>
              </a:rPr>
              <a:t>extends</a:t>
            </a:r>
            <a:r>
              <a:rPr lang="it-IT" sz="1300" dirty="0">
                <a:latin typeface="Calibri Light" panose="020F0302020204030204" pitchFamily="34" charset="0"/>
              </a:rPr>
              <a:t> </a:t>
            </a:r>
            <a:r>
              <a:rPr lang="it-IT" sz="1300" dirty="0" err="1">
                <a:latin typeface="Calibri Light" panose="020F0302020204030204" pitchFamily="34" charset="0"/>
              </a:rPr>
              <a:t>SimpleRepositoryImpl</a:t>
            </a:r>
            <a:r>
              <a:rPr lang="it-IT" sz="1300" dirty="0">
                <a:latin typeface="Calibri Light" panose="020F0302020204030204" pitchFamily="34" charset="0"/>
              </a:rPr>
              <a:t>&lt;</a:t>
            </a:r>
            <a:r>
              <a:rPr lang="it-IT" sz="1300" dirty="0" err="1">
                <a:latin typeface="Calibri Light" panose="020F0302020204030204" pitchFamily="34" charset="0"/>
              </a:rPr>
              <a:t>Customer</a:t>
            </a:r>
            <a:r>
              <a:rPr lang="it-IT" sz="1300" dirty="0">
                <a:latin typeface="Calibri Light" panose="020F0302020204030204" pitchFamily="34" charset="0"/>
              </a:rPr>
              <a:t>&gt; {</a:t>
            </a:r>
          </a:p>
          <a:p>
            <a:pPr marL="0" indent="0">
              <a:buNone/>
            </a:pPr>
            <a:endParaRPr lang="it-IT" sz="1300" dirty="0">
              <a:latin typeface="Calibri Light" panose="020F0302020204030204" pitchFamily="34" charset="0"/>
            </a:endParaRPr>
          </a:p>
          <a:p>
            <a:pPr marL="0" indent="0">
              <a:buNone/>
            </a:pPr>
            <a:r>
              <a:rPr lang="it-IT" sz="1300" dirty="0">
                <a:solidFill>
                  <a:srgbClr val="7F0055"/>
                </a:solidFill>
                <a:latin typeface="Calibri Light" panose="020F0302020204030204" pitchFamily="34" charset="0"/>
              </a:rPr>
              <a:t>	private</a:t>
            </a:r>
            <a:r>
              <a:rPr lang="it-IT" sz="1300" dirty="0">
                <a:solidFill>
                  <a:srgbClr val="000000"/>
                </a:solidFill>
                <a:latin typeface="Calibri Light" panose="020F0302020204030204" pitchFamily="34" charset="0"/>
              </a:rPr>
              <a:t> </a:t>
            </a:r>
            <a:r>
              <a:rPr lang="it-IT" sz="1300" dirty="0" err="1">
                <a:solidFill>
                  <a:srgbClr val="7F0055"/>
                </a:solidFill>
                <a:latin typeface="Calibri Light" panose="020F0302020204030204" pitchFamily="34" charset="0"/>
              </a:rPr>
              <a:t>static</a:t>
            </a:r>
            <a:r>
              <a:rPr lang="it-IT" sz="1300" dirty="0">
                <a:solidFill>
                  <a:srgbClr val="000000"/>
                </a:solidFill>
                <a:latin typeface="Calibri Light" panose="020F0302020204030204" pitchFamily="34" charset="0"/>
              </a:rPr>
              <a:t> </a:t>
            </a:r>
            <a:r>
              <a:rPr lang="it-IT" sz="1300" dirty="0" err="1">
                <a:solidFill>
                  <a:srgbClr val="7F0055"/>
                </a:solidFill>
                <a:latin typeface="Calibri Light" panose="020F0302020204030204" pitchFamily="34" charset="0"/>
              </a:rPr>
              <a:t>final</a:t>
            </a:r>
            <a:r>
              <a:rPr lang="it-IT" sz="1300" dirty="0">
                <a:solidFill>
                  <a:srgbClr val="000000"/>
                </a:solidFill>
                <a:latin typeface="Calibri Light" panose="020F0302020204030204" pitchFamily="34" charset="0"/>
              </a:rPr>
              <a:t> </a:t>
            </a:r>
            <a:r>
              <a:rPr lang="it-IT" sz="1300" dirty="0" err="1">
                <a:solidFill>
                  <a:srgbClr val="000000"/>
                </a:solidFill>
                <a:latin typeface="Calibri Light" panose="020F0302020204030204" pitchFamily="34" charset="0"/>
              </a:rPr>
              <a:t>String</a:t>
            </a:r>
            <a:r>
              <a:rPr lang="it-IT" sz="1300" dirty="0">
                <a:solidFill>
                  <a:srgbClr val="000000"/>
                </a:solidFill>
                <a:latin typeface="Calibri Light" panose="020F0302020204030204" pitchFamily="34" charset="0"/>
              </a:rPr>
              <a:t> </a:t>
            </a:r>
            <a:r>
              <a:rPr lang="it-IT" sz="1300" dirty="0">
                <a:solidFill>
                  <a:srgbClr val="0000C0"/>
                </a:solidFill>
                <a:latin typeface="Calibri Light" panose="020F0302020204030204" pitchFamily="34" charset="0"/>
              </a:rPr>
              <a:t>SELECT_BY_NAME</a:t>
            </a:r>
            <a:r>
              <a:rPr lang="it-IT" sz="1300" dirty="0">
                <a:solidFill>
                  <a:srgbClr val="000000"/>
                </a:solidFill>
                <a:latin typeface="Calibri Light" panose="020F0302020204030204" pitchFamily="34" charset="0"/>
              </a:rPr>
              <a:t> = </a:t>
            </a:r>
            <a:r>
              <a:rPr lang="it-IT" sz="1300" dirty="0">
                <a:solidFill>
                  <a:srgbClr val="0000C0"/>
                </a:solidFill>
                <a:latin typeface="Calibri Light" panose="020F0302020204030204" pitchFamily="34" charset="0"/>
              </a:rPr>
              <a:t>"</a:t>
            </a:r>
            <a:r>
              <a:rPr lang="it-IT" sz="1300" dirty="0" err="1">
                <a:solidFill>
                  <a:srgbClr val="0000C0"/>
                </a:solidFill>
                <a:latin typeface="Calibri Light" panose="020F0302020204030204" pitchFamily="34" charset="0"/>
              </a:rPr>
              <a:t>select</a:t>
            </a:r>
            <a:r>
              <a:rPr lang="it-IT" sz="1300" dirty="0">
                <a:solidFill>
                  <a:srgbClr val="0000C0"/>
                </a:solidFill>
                <a:latin typeface="Calibri Light" panose="020F0302020204030204" pitchFamily="34" charset="0"/>
              </a:rPr>
              <a:t> c from </a:t>
            </a:r>
            <a:r>
              <a:rPr lang="it-IT" sz="1300" dirty="0" err="1">
                <a:solidFill>
                  <a:srgbClr val="0000C0"/>
                </a:solidFill>
                <a:latin typeface="Calibri Light" panose="020F0302020204030204" pitchFamily="34" charset="0"/>
              </a:rPr>
              <a:t>Customer</a:t>
            </a:r>
            <a:r>
              <a:rPr lang="it-IT" sz="1300" dirty="0">
                <a:solidFill>
                  <a:srgbClr val="0000C0"/>
                </a:solidFill>
                <a:latin typeface="Calibri Light" panose="020F0302020204030204" pitchFamily="34" charset="0"/>
              </a:rPr>
              <a:t> c </a:t>
            </a:r>
            <a:r>
              <a:rPr lang="it-IT" sz="1300" dirty="0" err="1">
                <a:solidFill>
                  <a:srgbClr val="0000C0"/>
                </a:solidFill>
                <a:latin typeface="Calibri Light" panose="020F0302020204030204" pitchFamily="34" charset="0"/>
              </a:rPr>
              <a:t>where</a:t>
            </a:r>
            <a:r>
              <a:rPr lang="it-IT" sz="1300" dirty="0">
                <a:solidFill>
                  <a:srgbClr val="0000C0"/>
                </a:solidFill>
                <a:latin typeface="Calibri Light" panose="020F0302020204030204" pitchFamily="34" charset="0"/>
              </a:rPr>
              <a:t> </a:t>
            </a:r>
            <a:r>
              <a:rPr lang="it-IT" sz="1300" dirty="0" err="1">
                <a:solidFill>
                  <a:srgbClr val="0000C0"/>
                </a:solidFill>
                <a:latin typeface="Calibri Light" panose="020F0302020204030204" pitchFamily="34" charset="0"/>
              </a:rPr>
              <a:t>name</a:t>
            </a:r>
            <a:r>
              <a:rPr lang="it-IT" sz="1300" dirty="0">
                <a:solidFill>
                  <a:srgbClr val="0000C0"/>
                </a:solidFill>
                <a:latin typeface="Calibri Light" panose="020F0302020204030204" pitchFamily="34" charset="0"/>
              </a:rPr>
              <a:t> = :</a:t>
            </a:r>
            <a:r>
              <a:rPr lang="it-IT" sz="1300" dirty="0" err="1">
                <a:solidFill>
                  <a:srgbClr val="0000C0"/>
                </a:solidFill>
                <a:latin typeface="Calibri Light" panose="020F0302020204030204" pitchFamily="34" charset="0"/>
              </a:rPr>
              <a:t>name</a:t>
            </a:r>
            <a:r>
              <a:rPr lang="it-IT" sz="1300" dirty="0">
                <a:solidFill>
                  <a:srgbClr val="0000C0"/>
                </a:solidFill>
                <a:latin typeface="Calibri Light" panose="020F0302020204030204" pitchFamily="34" charset="0"/>
              </a:rPr>
              <a:t>"</a:t>
            </a:r>
            <a:r>
              <a:rPr lang="it-IT" sz="1300" dirty="0">
                <a:solidFill>
                  <a:srgbClr val="000000"/>
                </a:solidFill>
                <a:latin typeface="Calibri Light" panose="020F0302020204030204" pitchFamily="34" charset="0"/>
              </a:rPr>
              <a:t>;</a:t>
            </a:r>
          </a:p>
          <a:p>
            <a:pPr marL="0" indent="0">
              <a:buNone/>
            </a:pPr>
            <a:br>
              <a:rPr lang="it-IT" sz="1300" dirty="0">
                <a:latin typeface="Calibri Light" panose="020F0302020204030204" pitchFamily="34" charset="0"/>
              </a:rPr>
            </a:br>
            <a:r>
              <a:rPr lang="it-IT" sz="1300" dirty="0">
                <a:latin typeface="Calibri Light" panose="020F0302020204030204" pitchFamily="34" charset="0"/>
              </a:rPr>
              <a:t>	</a:t>
            </a:r>
            <a:r>
              <a:rPr lang="it-IT" sz="1300" dirty="0">
                <a:solidFill>
                  <a:srgbClr val="7F0055"/>
                </a:solidFill>
                <a:latin typeface="Calibri Light" panose="020F0302020204030204" pitchFamily="34" charset="0"/>
              </a:rPr>
              <a:t>public</a:t>
            </a:r>
            <a:r>
              <a:rPr lang="it-IT" sz="1300" dirty="0">
                <a:latin typeface="Calibri Light" panose="020F0302020204030204" pitchFamily="34" charset="0"/>
              </a:rPr>
              <a:t> </a:t>
            </a:r>
            <a:r>
              <a:rPr lang="it-IT" sz="1300" dirty="0" err="1">
                <a:latin typeface="Calibri Light" panose="020F0302020204030204" pitchFamily="34" charset="0"/>
              </a:rPr>
              <a:t>CustomerRepository</a:t>
            </a:r>
            <a:r>
              <a:rPr lang="it-IT" sz="1300" dirty="0">
                <a:latin typeface="Calibri Light" panose="020F0302020204030204" pitchFamily="34" charset="0"/>
              </a:rPr>
              <a:t>() {</a:t>
            </a:r>
          </a:p>
          <a:p>
            <a:pPr marL="0" indent="0">
              <a:buNone/>
            </a:pPr>
            <a:r>
              <a:rPr lang="it-IT" sz="1300" dirty="0">
                <a:solidFill>
                  <a:srgbClr val="7F0055"/>
                </a:solidFill>
                <a:latin typeface="Calibri Light" panose="020F0302020204030204" pitchFamily="34" charset="0"/>
              </a:rPr>
              <a:t>		super</a:t>
            </a:r>
            <a:r>
              <a:rPr lang="it-IT" sz="1300" dirty="0">
                <a:latin typeface="Calibri Light" panose="020F0302020204030204" pitchFamily="34" charset="0"/>
              </a:rPr>
              <a:t>(</a:t>
            </a:r>
            <a:r>
              <a:rPr lang="it-IT" sz="1300" dirty="0" err="1">
                <a:latin typeface="Calibri Light" panose="020F0302020204030204" pitchFamily="34" charset="0"/>
              </a:rPr>
              <a:t>Customer.</a:t>
            </a:r>
            <a:r>
              <a:rPr lang="it-IT" sz="1300" dirty="0" err="1">
                <a:solidFill>
                  <a:srgbClr val="7F0055"/>
                </a:solidFill>
                <a:latin typeface="Calibri Light" panose="020F0302020204030204" pitchFamily="34" charset="0"/>
              </a:rPr>
              <a:t>class</a:t>
            </a:r>
            <a:r>
              <a:rPr lang="it-IT" sz="1300" dirty="0">
                <a:latin typeface="Calibri Light" panose="020F0302020204030204" pitchFamily="34" charset="0"/>
              </a:rPr>
              <a:t>);</a:t>
            </a:r>
          </a:p>
          <a:p>
            <a:pPr marL="0" indent="0">
              <a:buNone/>
            </a:pPr>
            <a:r>
              <a:rPr lang="it-IT" sz="1300" dirty="0">
                <a:latin typeface="Calibri Light" panose="020F0302020204030204" pitchFamily="34" charset="0"/>
              </a:rPr>
              <a:t>	}</a:t>
            </a:r>
          </a:p>
          <a:p>
            <a:pPr marL="0" indent="0">
              <a:buNone/>
            </a:pPr>
            <a:endParaRPr lang="it-IT" sz="1300" dirty="0">
              <a:latin typeface="Calibri Light" panose="020F0302020204030204" pitchFamily="34" charset="0"/>
            </a:endParaRPr>
          </a:p>
          <a:p>
            <a:pPr marL="0" indent="0">
              <a:buNone/>
            </a:pPr>
            <a:r>
              <a:rPr lang="it-IT" sz="1300" dirty="0">
                <a:solidFill>
                  <a:srgbClr val="7F0055"/>
                </a:solidFill>
                <a:latin typeface="Calibri Light" panose="020F0302020204030204" pitchFamily="34" charset="0"/>
              </a:rPr>
              <a:t>	public</a:t>
            </a:r>
            <a:r>
              <a:rPr lang="it-IT" sz="1300" dirty="0">
                <a:latin typeface="Calibri Light" panose="020F0302020204030204" pitchFamily="34" charset="0"/>
              </a:rPr>
              <a:t> List&lt;</a:t>
            </a:r>
            <a:r>
              <a:rPr lang="it-IT" sz="1300" dirty="0" err="1">
                <a:latin typeface="Calibri Light" panose="020F0302020204030204" pitchFamily="34" charset="0"/>
              </a:rPr>
              <a:t>Customer</a:t>
            </a:r>
            <a:r>
              <a:rPr lang="it-IT" sz="1300" dirty="0">
                <a:latin typeface="Calibri Light" panose="020F0302020204030204" pitchFamily="34" charset="0"/>
              </a:rPr>
              <a:t>&gt; </a:t>
            </a:r>
            <a:r>
              <a:rPr lang="it-IT" sz="1300" dirty="0" err="1">
                <a:latin typeface="Calibri Light" panose="020F0302020204030204" pitchFamily="34" charset="0"/>
              </a:rPr>
              <a:t>findByName</a:t>
            </a:r>
            <a:r>
              <a:rPr lang="it-IT" sz="1300" dirty="0">
                <a:latin typeface="Calibri Light" panose="020F0302020204030204" pitchFamily="34" charset="0"/>
              </a:rPr>
              <a:t>(</a:t>
            </a:r>
            <a:r>
              <a:rPr lang="it-IT" sz="1300" dirty="0" err="1">
                <a:latin typeface="Calibri Light" panose="020F0302020204030204" pitchFamily="34" charset="0"/>
              </a:rPr>
              <a:t>String</a:t>
            </a:r>
            <a:r>
              <a:rPr lang="it-IT" sz="1300" dirty="0">
                <a:latin typeface="Calibri Light" panose="020F0302020204030204" pitchFamily="34" charset="0"/>
              </a:rPr>
              <a:t> </a:t>
            </a:r>
            <a:r>
              <a:rPr lang="it-IT" sz="1300" dirty="0" err="1">
                <a:solidFill>
                  <a:srgbClr val="6A3E3E"/>
                </a:solidFill>
                <a:latin typeface="Calibri Light" panose="020F0302020204030204" pitchFamily="34" charset="0"/>
              </a:rPr>
              <a:t>name</a:t>
            </a:r>
            <a:r>
              <a:rPr lang="it-IT" sz="1300" dirty="0">
                <a:latin typeface="Calibri Light" panose="020F0302020204030204" pitchFamily="34" charset="0"/>
              </a:rPr>
              <a:t>) {</a:t>
            </a:r>
          </a:p>
          <a:p>
            <a:pPr marL="0" indent="0">
              <a:buNone/>
            </a:pPr>
            <a:r>
              <a:rPr lang="it-IT" sz="1300" dirty="0">
                <a:latin typeface="Calibri Light" panose="020F0302020204030204" pitchFamily="34" charset="0"/>
              </a:rPr>
              <a:t>		</a:t>
            </a:r>
            <a:r>
              <a:rPr lang="it-IT" sz="1300" dirty="0" err="1">
                <a:latin typeface="Calibri Light" panose="020F0302020204030204" pitchFamily="34" charset="0"/>
              </a:rPr>
              <a:t>TypedQuery</a:t>
            </a:r>
            <a:r>
              <a:rPr lang="it-IT" sz="1300" dirty="0">
                <a:latin typeface="Calibri Light" panose="020F0302020204030204" pitchFamily="34" charset="0"/>
              </a:rPr>
              <a:t>&lt;</a:t>
            </a:r>
            <a:r>
              <a:rPr lang="it-IT" sz="1300" dirty="0" err="1">
                <a:latin typeface="Calibri Light" panose="020F0302020204030204" pitchFamily="34" charset="0"/>
              </a:rPr>
              <a:t>Customer</a:t>
            </a:r>
            <a:r>
              <a:rPr lang="it-IT" sz="1300" dirty="0">
                <a:latin typeface="Calibri Light" panose="020F0302020204030204" pitchFamily="34" charset="0"/>
              </a:rPr>
              <a:t>&gt; </a:t>
            </a:r>
            <a:r>
              <a:rPr lang="it-IT" sz="1300" dirty="0" err="1">
                <a:solidFill>
                  <a:srgbClr val="6A3E3E"/>
                </a:solidFill>
                <a:latin typeface="Calibri Light" panose="020F0302020204030204" pitchFamily="34" charset="0"/>
              </a:rPr>
              <a:t>query</a:t>
            </a:r>
            <a:r>
              <a:rPr lang="it-IT" sz="1300" dirty="0">
                <a:latin typeface="Calibri Light" panose="020F0302020204030204" pitchFamily="34" charset="0"/>
              </a:rPr>
              <a:t> = </a:t>
            </a:r>
            <a:r>
              <a:rPr lang="it-IT" sz="1300" dirty="0" err="1">
                <a:solidFill>
                  <a:srgbClr val="7F0055"/>
                </a:solidFill>
                <a:latin typeface="Calibri Light" panose="020F0302020204030204" pitchFamily="34" charset="0"/>
              </a:rPr>
              <a:t>null</a:t>
            </a:r>
            <a:r>
              <a:rPr lang="it-IT" sz="1300" dirty="0">
                <a:latin typeface="Calibri Light" panose="020F0302020204030204" pitchFamily="34" charset="0"/>
              </a:rPr>
              <a:t>;</a:t>
            </a:r>
          </a:p>
          <a:p>
            <a:pPr marL="0" indent="0">
              <a:buNone/>
            </a:pPr>
            <a:r>
              <a:rPr lang="it-IT" sz="1300" dirty="0">
                <a:solidFill>
                  <a:srgbClr val="6A3E3E"/>
                </a:solidFill>
                <a:latin typeface="Calibri Light" panose="020F0302020204030204" pitchFamily="34" charset="0"/>
              </a:rPr>
              <a:t>		</a:t>
            </a:r>
            <a:r>
              <a:rPr lang="it-IT" sz="1300" dirty="0" err="1">
                <a:solidFill>
                  <a:srgbClr val="6A3E3E"/>
                </a:solidFill>
                <a:latin typeface="Calibri Light" panose="020F0302020204030204" pitchFamily="34" charset="0"/>
              </a:rPr>
              <a:t>query</a:t>
            </a:r>
            <a:r>
              <a:rPr lang="it-IT" sz="1300" dirty="0">
                <a:latin typeface="Calibri Light" panose="020F0302020204030204" pitchFamily="34" charset="0"/>
              </a:rPr>
              <a:t> = </a:t>
            </a:r>
            <a:r>
              <a:rPr lang="it-IT" sz="1300" dirty="0" err="1">
                <a:solidFill>
                  <a:srgbClr val="7F0055"/>
                </a:solidFill>
                <a:latin typeface="Calibri Light" panose="020F0302020204030204" pitchFamily="34" charset="0"/>
              </a:rPr>
              <a:t>this</a:t>
            </a:r>
            <a:r>
              <a:rPr lang="it-IT" sz="1300" dirty="0" err="1">
                <a:latin typeface="Calibri Light" panose="020F0302020204030204" pitchFamily="34" charset="0"/>
              </a:rPr>
              <a:t>.getEntityManager</a:t>
            </a:r>
            <a:r>
              <a:rPr lang="it-IT" sz="1300" dirty="0">
                <a:latin typeface="Calibri Light" panose="020F0302020204030204" pitchFamily="34" charset="0"/>
              </a:rPr>
              <a:t>().</a:t>
            </a:r>
            <a:r>
              <a:rPr lang="it-IT" sz="1300" dirty="0" err="1">
                <a:latin typeface="Calibri Light" panose="020F0302020204030204" pitchFamily="34" charset="0"/>
              </a:rPr>
              <a:t>createQuery</a:t>
            </a:r>
            <a:r>
              <a:rPr lang="it-IT" sz="1300" dirty="0">
                <a:latin typeface="Calibri Light" panose="020F0302020204030204" pitchFamily="34" charset="0"/>
              </a:rPr>
              <a:t>(</a:t>
            </a:r>
            <a:r>
              <a:rPr lang="it-IT" sz="1300" dirty="0">
                <a:solidFill>
                  <a:srgbClr val="0000C0"/>
                </a:solidFill>
                <a:latin typeface="Calibri Light" panose="020F0302020204030204" pitchFamily="34" charset="0"/>
              </a:rPr>
              <a:t>SELECT_BY_NAME</a:t>
            </a:r>
            <a:r>
              <a:rPr lang="it-IT" sz="1300" dirty="0">
                <a:solidFill>
                  <a:srgbClr val="000000"/>
                </a:solidFill>
                <a:latin typeface="Calibri Light" panose="020F0302020204030204" pitchFamily="34" charset="0"/>
              </a:rPr>
              <a:t> , </a:t>
            </a:r>
            <a:r>
              <a:rPr lang="it-IT" sz="1300" dirty="0" err="1">
                <a:latin typeface="Calibri Light" panose="020F0302020204030204" pitchFamily="34" charset="0"/>
              </a:rPr>
              <a:t>Customer.</a:t>
            </a:r>
            <a:r>
              <a:rPr lang="it-IT" sz="1300" dirty="0" err="1">
                <a:solidFill>
                  <a:srgbClr val="7F0055"/>
                </a:solidFill>
                <a:latin typeface="Calibri Light" panose="020F0302020204030204" pitchFamily="34" charset="0"/>
              </a:rPr>
              <a:t>class</a:t>
            </a:r>
            <a:r>
              <a:rPr lang="it-IT" sz="1300" dirty="0">
                <a:latin typeface="Calibri Light" panose="020F0302020204030204" pitchFamily="34" charset="0"/>
              </a:rPr>
              <a:t>);</a:t>
            </a:r>
          </a:p>
          <a:p>
            <a:pPr marL="0" indent="0">
              <a:buNone/>
            </a:pPr>
            <a:r>
              <a:rPr lang="it-IT" sz="1300" dirty="0">
                <a:solidFill>
                  <a:srgbClr val="6A3E3E"/>
                </a:solidFill>
                <a:latin typeface="Calibri Light" panose="020F0302020204030204" pitchFamily="34" charset="0"/>
              </a:rPr>
              <a:t>		</a:t>
            </a:r>
            <a:r>
              <a:rPr lang="it-IT" sz="1300" dirty="0" err="1">
                <a:solidFill>
                  <a:srgbClr val="6A3E3E"/>
                </a:solidFill>
                <a:latin typeface="Calibri Light" panose="020F0302020204030204" pitchFamily="34" charset="0"/>
              </a:rPr>
              <a:t>query</a:t>
            </a:r>
            <a:r>
              <a:rPr lang="it-IT" sz="1300" dirty="0" err="1">
                <a:latin typeface="Calibri Light" panose="020F0302020204030204" pitchFamily="34" charset="0"/>
              </a:rPr>
              <a:t>.setParameter</a:t>
            </a:r>
            <a:r>
              <a:rPr lang="it-IT" sz="1300" dirty="0">
                <a:latin typeface="Calibri Light" panose="020F0302020204030204" pitchFamily="34" charset="0"/>
              </a:rPr>
              <a:t>(</a:t>
            </a:r>
            <a:r>
              <a:rPr lang="it-IT" sz="1300" dirty="0">
                <a:solidFill>
                  <a:srgbClr val="2A00FF"/>
                </a:solidFill>
                <a:latin typeface="Calibri Light" panose="020F0302020204030204" pitchFamily="34" charset="0"/>
              </a:rPr>
              <a:t>"</a:t>
            </a:r>
            <a:r>
              <a:rPr lang="it-IT" sz="1300" dirty="0" err="1">
                <a:solidFill>
                  <a:srgbClr val="2A00FF"/>
                </a:solidFill>
                <a:latin typeface="Calibri Light" panose="020F0302020204030204" pitchFamily="34" charset="0"/>
              </a:rPr>
              <a:t>name</a:t>
            </a:r>
            <a:r>
              <a:rPr lang="it-IT" sz="1300" dirty="0">
                <a:solidFill>
                  <a:srgbClr val="2A00FF"/>
                </a:solidFill>
                <a:latin typeface="Calibri Light" panose="020F0302020204030204" pitchFamily="34" charset="0"/>
              </a:rPr>
              <a:t>"</a:t>
            </a:r>
            <a:r>
              <a:rPr lang="it-IT" sz="1300" dirty="0">
                <a:latin typeface="Calibri Light" panose="020F0302020204030204" pitchFamily="34" charset="0"/>
              </a:rPr>
              <a:t>, </a:t>
            </a:r>
            <a:r>
              <a:rPr lang="it-IT" sz="1300" dirty="0" err="1">
                <a:solidFill>
                  <a:srgbClr val="6A3E3E"/>
                </a:solidFill>
                <a:latin typeface="Calibri Light" panose="020F0302020204030204" pitchFamily="34" charset="0"/>
              </a:rPr>
              <a:t>name</a:t>
            </a:r>
            <a:r>
              <a:rPr lang="it-IT" sz="1300" dirty="0">
                <a:latin typeface="Calibri Light" panose="020F0302020204030204" pitchFamily="34" charset="0"/>
              </a:rPr>
              <a:t>);</a:t>
            </a:r>
          </a:p>
          <a:p>
            <a:pPr marL="0" indent="0">
              <a:buNone/>
            </a:pPr>
            <a:r>
              <a:rPr lang="it-IT" sz="1300" dirty="0">
                <a:solidFill>
                  <a:srgbClr val="7F0055"/>
                </a:solidFill>
                <a:latin typeface="Calibri Light" panose="020F0302020204030204" pitchFamily="34" charset="0"/>
              </a:rPr>
              <a:t>		</a:t>
            </a:r>
            <a:r>
              <a:rPr lang="it-IT" sz="1300" dirty="0" err="1">
                <a:solidFill>
                  <a:srgbClr val="7F0055"/>
                </a:solidFill>
                <a:latin typeface="Calibri Light" panose="020F0302020204030204" pitchFamily="34" charset="0"/>
              </a:rPr>
              <a:t>return</a:t>
            </a:r>
            <a:r>
              <a:rPr lang="it-IT" sz="1300" dirty="0">
                <a:latin typeface="Calibri Light" panose="020F0302020204030204" pitchFamily="34" charset="0"/>
              </a:rPr>
              <a:t> </a:t>
            </a:r>
            <a:r>
              <a:rPr lang="it-IT" sz="1300" dirty="0" err="1">
                <a:solidFill>
                  <a:srgbClr val="6A3E3E"/>
                </a:solidFill>
                <a:latin typeface="Calibri Light" panose="020F0302020204030204" pitchFamily="34" charset="0"/>
              </a:rPr>
              <a:t>query</a:t>
            </a:r>
            <a:r>
              <a:rPr lang="it-IT" sz="1300" dirty="0" err="1">
                <a:latin typeface="Calibri Light" panose="020F0302020204030204" pitchFamily="34" charset="0"/>
              </a:rPr>
              <a:t>.getResultList</a:t>
            </a:r>
            <a:r>
              <a:rPr lang="it-IT" sz="1300" dirty="0">
                <a:latin typeface="Calibri Light" panose="020F0302020204030204" pitchFamily="34" charset="0"/>
              </a:rPr>
              <a:t>();</a:t>
            </a:r>
          </a:p>
          <a:p>
            <a:pPr marL="0" indent="0">
              <a:buNone/>
            </a:pPr>
            <a:r>
              <a:rPr lang="it-IT" sz="1300" dirty="0">
                <a:latin typeface="Calibri Light" panose="020F0302020204030204" pitchFamily="34" charset="0"/>
              </a:rPr>
              <a:t>	}</a:t>
            </a:r>
          </a:p>
          <a:p>
            <a:pPr marL="0" indent="0">
              <a:buNone/>
            </a:pPr>
            <a:r>
              <a:rPr lang="it-IT" sz="1300" dirty="0">
                <a:latin typeface="Calibri Light" panose="020F0302020204030204" pitchFamily="34" charset="0"/>
              </a:rPr>
              <a:t>}</a:t>
            </a:r>
          </a:p>
          <a:p>
            <a:pPr marL="0" indent="0">
              <a:buNone/>
            </a:pPr>
            <a:endParaRPr lang="en-US" sz="1300" dirty="0"/>
          </a:p>
        </p:txBody>
      </p:sp>
    </p:spTree>
    <p:extLst>
      <p:ext uri="{BB962C8B-B14F-4D97-AF65-F5344CB8AC3E}">
        <p14:creationId xmlns:p14="http://schemas.microsoft.com/office/powerpoint/2010/main" val="3779596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CC9EB8-2946-02C7-538D-E3D607B31141}"/>
              </a:ext>
            </a:extLst>
          </p:cNvPr>
          <p:cNvSpPr>
            <a:spLocks noGrp="1"/>
          </p:cNvSpPr>
          <p:nvPr>
            <p:ph type="title"/>
          </p:nvPr>
        </p:nvSpPr>
        <p:spPr/>
        <p:txBody>
          <a:bodyPr/>
          <a:lstStyle/>
          <a:p>
            <a:endParaRPr lang="en-US"/>
          </a:p>
        </p:txBody>
      </p:sp>
      <p:sp>
        <p:nvSpPr>
          <p:cNvPr id="3" name="Segnaposto contenuto 2">
            <a:extLst>
              <a:ext uri="{FF2B5EF4-FFF2-40B4-BE49-F238E27FC236}">
                <a16:creationId xmlns:a16="http://schemas.microsoft.com/office/drawing/2014/main" id="{E000C6AE-4A66-FA2D-9260-56561150058E}"/>
              </a:ext>
            </a:extLst>
          </p:cNvPr>
          <p:cNvSpPr>
            <a:spLocks noGrp="1"/>
          </p:cNvSpPr>
          <p:nvPr>
            <p:ph idx="1"/>
          </p:nvPr>
        </p:nvSpPr>
        <p:spPr/>
        <p:txBody>
          <a:bodyPr/>
          <a:lstStyle/>
          <a:p>
            <a:endParaRPr lang="en-US"/>
          </a:p>
        </p:txBody>
      </p:sp>
      <p:pic>
        <p:nvPicPr>
          <p:cNvPr id="4098" name="Picture 2" descr="L'aereo supersonico che non fa bang - Focus.it">
            <a:extLst>
              <a:ext uri="{FF2B5EF4-FFF2-40B4-BE49-F238E27FC236}">
                <a16:creationId xmlns:a16="http://schemas.microsoft.com/office/drawing/2014/main" id="{B5267711-6084-9ACA-0DE0-5245E945A1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742" b="7761"/>
          <a:stretch/>
        </p:blipFill>
        <p:spPr bwMode="auto">
          <a:xfrm>
            <a:off x="0" y="0"/>
            <a:ext cx="9143999" cy="5143500"/>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79FCD954-A271-2A8D-5DC3-75A2D8BB76F5}"/>
              </a:ext>
            </a:extLst>
          </p:cNvPr>
          <p:cNvSpPr txBox="1"/>
          <p:nvPr/>
        </p:nvSpPr>
        <p:spPr>
          <a:xfrm>
            <a:off x="4419599" y="2897387"/>
            <a:ext cx="4643194" cy="923330"/>
          </a:xfrm>
          <a:prstGeom prst="rect">
            <a:avLst/>
          </a:prstGeom>
          <a:noFill/>
        </p:spPr>
        <p:txBody>
          <a:bodyPr wrap="none" rtlCol="0">
            <a:spAutoFit/>
          </a:bodyPr>
          <a:lstStyle/>
          <a:p>
            <a:r>
              <a:rPr lang="en-US" sz="5400" b="1" dirty="0" err="1">
                <a:solidFill>
                  <a:schemeClr val="bg1"/>
                </a:solidFill>
              </a:rPr>
              <a:t>CrudRepository</a:t>
            </a:r>
            <a:endParaRPr lang="en-US" sz="2800" b="1" dirty="0">
              <a:solidFill>
                <a:schemeClr val="bg1"/>
              </a:solidFill>
            </a:endParaRPr>
          </a:p>
        </p:txBody>
      </p:sp>
    </p:spTree>
    <p:extLst>
      <p:ext uri="{BB962C8B-B14F-4D97-AF65-F5344CB8AC3E}">
        <p14:creationId xmlns:p14="http://schemas.microsoft.com/office/powerpoint/2010/main" val="1838412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26258</TotalTime>
  <Words>10875</Words>
  <Application>Microsoft Macintosh PowerPoint</Application>
  <PresentationFormat>Presentazione su schermo (16:9)</PresentationFormat>
  <Paragraphs>1497</Paragraphs>
  <Slides>129</Slides>
  <Notes>48</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129</vt:i4>
      </vt:variant>
    </vt:vector>
  </HeadingPairs>
  <TitlesOfParts>
    <vt:vector size="134" baseType="lpstr">
      <vt:lpstr>Arial</vt:lpstr>
      <vt:lpstr>Calibri Light</vt:lpstr>
      <vt:lpstr>Courier New</vt:lpstr>
      <vt:lpstr>Wingdings</vt:lpstr>
      <vt:lpstr>Tema di Office</vt:lpstr>
      <vt:lpstr>Sistemi informativi su Web Persistenza: da JDBC a CrudRepository aa 2024-2025 </vt:lpstr>
      <vt:lpstr>Presentazione standard di PowerPoint</vt:lpstr>
      <vt:lpstr>JDBC: Concetti Fondamentali</vt:lpstr>
      <vt:lpstr>Introduzione</vt:lpstr>
      <vt:lpstr>Introduzione</vt:lpstr>
      <vt:lpstr>Introduzione</vt:lpstr>
      <vt:lpstr>Architettura</vt:lpstr>
      <vt:lpstr>Esempio</vt:lpstr>
      <vt:lpstr>Esempio</vt:lpstr>
      <vt:lpstr>Esempio</vt:lpstr>
      <vt:lpstr>Le classi fondamentali di JDBC</vt:lpstr>
      <vt:lpstr>Un Esempio</vt:lpstr>
      <vt:lpstr>Operazione n.1 Caricare il Driver</vt:lpstr>
      <vt:lpstr>Operazione n.1 Caricare il Driver</vt:lpstr>
      <vt:lpstr>Operazione n.2 Ottenere una Connessione</vt:lpstr>
      <vt:lpstr>Operazione n.2 Ottenere una Connessione</vt:lpstr>
      <vt:lpstr>Operazione n.2 Ottenere una Connessione</vt:lpstr>
      <vt:lpstr>Nell'esempio</vt:lpstr>
      <vt:lpstr>La classe DataSource</vt:lpstr>
      <vt:lpstr>Operazione n.3 Istruzione SQL</vt:lpstr>
      <vt:lpstr>Operazione n.3 Istruzione SQL</vt:lpstr>
      <vt:lpstr>Operazione n.3 Istruzione SQL</vt:lpstr>
      <vt:lpstr>Operazione n.3 Istruzione SQL</vt:lpstr>
      <vt:lpstr>Operazione n.3 Istruzione SQL</vt:lpstr>
      <vt:lpstr>Operazione n.3 Istruzione SQL</vt:lpstr>
      <vt:lpstr>Operazione n.3 Istruzione SQL</vt:lpstr>
      <vt:lpstr>Operazione n.4 Gestire il risultato di una query</vt:lpstr>
      <vt:lpstr>Operazione n.4 Gestire il risultato di una query</vt:lpstr>
      <vt:lpstr>Operazione n.4 Gestire il risultato di una query</vt:lpstr>
      <vt:lpstr>Operazione n.4 Gestire il risultato di una query</vt:lpstr>
      <vt:lpstr>Operazione n.5 Gestire le eccezioni</vt:lpstr>
      <vt:lpstr>Aspetti Metodologici</vt:lpstr>
      <vt:lpstr>Rappresentazioni Grafiche</vt:lpstr>
      <vt:lpstr>Esempio di riferimento</vt:lpstr>
      <vt:lpstr>Esempio di riferimento</vt:lpstr>
      <vt:lpstr>Esempio di riferimento</vt:lpstr>
      <vt:lpstr>Esempio di riferimento</vt:lpstr>
      <vt:lpstr>Ricostruzione degli oggetti dal db</vt:lpstr>
      <vt:lpstr>Ricostruzione degli oggetti dal db</vt:lpstr>
      <vt:lpstr>Esempio</vt:lpstr>
      <vt:lpstr>Esempio con Join</vt:lpstr>
      <vt:lpstr>Esempio con Join (cont.)</vt:lpstr>
      <vt:lpstr>Esempio con Join: note</vt:lpstr>
      <vt:lpstr>Problemi soluzione Join</vt:lpstr>
      <vt:lpstr>Ricostruzione degli oggetti dal db</vt:lpstr>
      <vt:lpstr>Ricostruzione degli oggetti dal db</vt:lpstr>
      <vt:lpstr>Ricostruzione degli oggetti dal db</vt:lpstr>
      <vt:lpstr>Lazy Load (caricamento pigro)</vt:lpstr>
      <vt:lpstr>Lazy Load (caricamento pigro)</vt:lpstr>
      <vt:lpstr>Il pattern proxy: structure</vt:lpstr>
      <vt:lpstr>Pattern Proxy:  Participants and Responsibilities</vt:lpstr>
      <vt:lpstr>Lazy Load e classi proxy</vt:lpstr>
      <vt:lpstr>Lazy Load: dettagli</vt:lpstr>
      <vt:lpstr>Lazy Load</vt:lpstr>
      <vt:lpstr>Lazy Load: implementazione Proxy</vt:lpstr>
      <vt:lpstr>Presentazione standard di PowerPoint</vt:lpstr>
      <vt:lpstr>JPA</vt:lpstr>
      <vt:lpstr>Entity</vt:lpstr>
      <vt:lpstr>Entity</vt:lpstr>
      <vt:lpstr>Object-Relational-Mapping</vt:lpstr>
      <vt:lpstr>Object-Relational-Mapping</vt:lpstr>
      <vt:lpstr>Esempio (1/3)</vt:lpstr>
      <vt:lpstr>Esempio (2/3)</vt:lpstr>
      <vt:lpstr>Esempio (3/3)</vt:lpstr>
      <vt:lpstr>Esempio (dettagli)</vt:lpstr>
      <vt:lpstr>Esempio</vt:lpstr>
      <vt:lpstr>Interrogare le entità</vt:lpstr>
      <vt:lpstr>EntityManager: introduzione</vt:lpstr>
      <vt:lpstr>EntityManager: introduzione</vt:lpstr>
      <vt:lpstr>EntityManager: introduzione</vt:lpstr>
      <vt:lpstr>Ciclo di vita delle entità</vt:lpstr>
      <vt:lpstr>Ciclo di vita delle entità</vt:lpstr>
      <vt:lpstr>Ciclo di vita delle entità</vt:lpstr>
      <vt:lpstr>Ciclo di vita delle entità</vt:lpstr>
      <vt:lpstr>Ciclo di vita delle entità</vt:lpstr>
      <vt:lpstr>EntityManager: introduzione</vt:lpstr>
      <vt:lpstr>Esempio</vt:lpstr>
      <vt:lpstr>Esempio (cont.)</vt:lpstr>
      <vt:lpstr>Persistence Unit</vt:lpstr>
      <vt:lpstr>Transazione</vt:lpstr>
      <vt:lpstr>persitence.xml</vt:lpstr>
      <vt:lpstr>persistence.xml</vt:lpstr>
      <vt:lpstr>persistence.xml (esempio)</vt:lpstr>
      <vt:lpstr>persistence.xml</vt:lpstr>
      <vt:lpstr>Esecuzione NamedQuery</vt:lpstr>
      <vt:lpstr>Operazioni dell'Entity Manager</vt:lpstr>
      <vt:lpstr>EM: persist(Object entity)</vt:lpstr>
      <vt:lpstr>EM: persist(Object entity)</vt:lpstr>
      <vt:lpstr>EM: persist(Object entity)</vt:lpstr>
      <vt:lpstr>EM: persist(Object entity)</vt:lpstr>
      <vt:lpstr>Persist con @Id  @GeneratedValue(strategy=GenerationType.AUTO</vt:lpstr>
      <vt:lpstr>EM: remove(Object entity)</vt:lpstr>
      <vt:lpstr>EM: merge(Object entity)</vt:lpstr>
      <vt:lpstr>EM: find(Class&lt;T&gt; entityClass, Object primaryKey)</vt:lpstr>
      <vt:lpstr>EM: clear()</vt:lpstr>
      <vt:lpstr>Riassumendo</vt:lpstr>
      <vt:lpstr>JPQL: Tipologie di query</vt:lpstr>
      <vt:lpstr>Named Queries</vt:lpstr>
      <vt:lpstr>Named Queries: esempio</vt:lpstr>
      <vt:lpstr>JPQL: gestione query</vt:lpstr>
      <vt:lpstr>JPQL: Creazione Query SELECT</vt:lpstr>
      <vt:lpstr>JPQL: Creazione Query SELECT</vt:lpstr>
      <vt:lpstr>JPQL: Esecuzione Query SELECT</vt:lpstr>
      <vt:lpstr>JPQL: Esecuzione Query SELECT</vt:lpstr>
      <vt:lpstr>JPQL: target list query SELECT</vt:lpstr>
      <vt:lpstr>JPQL: target list query SELECT</vt:lpstr>
      <vt:lpstr>JPQL: Query DELETE/UPDATE</vt:lpstr>
      <vt:lpstr>JPQL: Creazione Query UPDATE/DELETE</vt:lpstr>
      <vt:lpstr>JPQL: Creazione Query UPDATE/DELETE</vt:lpstr>
      <vt:lpstr>JPQL: Esecuzione Query UPDATE/DELETE</vt:lpstr>
      <vt:lpstr>JPQL: Esecuzione Query UPDATE/DELETE</vt:lpstr>
      <vt:lpstr>Presentazione standard di PowerPoint</vt:lpstr>
      <vt:lpstr>Repository</vt:lpstr>
      <vt:lpstr>Il pattern Repository</vt:lpstr>
      <vt:lpstr>Il pattern Repository</vt:lpstr>
      <vt:lpstr>Il pattern Repository</vt:lpstr>
      <vt:lpstr>Esempio (didattico) di implementazione </vt:lpstr>
      <vt:lpstr>Esempio</vt:lpstr>
      <vt:lpstr>Esempio</vt:lpstr>
      <vt:lpstr>Repository</vt:lpstr>
      <vt:lpstr>Esempio</vt:lpstr>
      <vt:lpstr>Miglioriamo la soluzione</vt:lpstr>
      <vt:lpstr>SimpleRepository&lt;T&gt;</vt:lpstr>
      <vt:lpstr>SimpleRepositoryImpl&lt;T&gt;</vt:lpstr>
      <vt:lpstr>SimpleRepositoryImpl&lt;T&gt;</vt:lpstr>
      <vt:lpstr>Presentazione standard di PowerPoint</vt:lpstr>
      <vt:lpstr>Presentazione standard di PowerPoint</vt:lpstr>
      <vt:lpstr>CustomerRepository</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Sistemi informativi su Web Architettura applicazioni Web aa 2018-2019 </dc:title>
  <dc:creator>Paolo Merialdo</dc:creator>
  <cp:lastModifiedBy>Paolo Merialdo</cp:lastModifiedBy>
  <cp:revision>77</cp:revision>
  <dcterms:created xsi:type="dcterms:W3CDTF">2019-06-02T17:53:07Z</dcterms:created>
  <dcterms:modified xsi:type="dcterms:W3CDTF">2025-04-10T16:05:20Z</dcterms:modified>
</cp:coreProperties>
</file>