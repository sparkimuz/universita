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427" r:id="rId2"/>
    <p:sldId id="461" r:id="rId3"/>
    <p:sldId id="631" r:id="rId4"/>
    <p:sldId id="633" r:id="rId5"/>
    <p:sldId id="640" r:id="rId6"/>
    <p:sldId id="632" r:id="rId7"/>
    <p:sldId id="641" r:id="rId8"/>
    <p:sldId id="634" r:id="rId9"/>
    <p:sldId id="636" r:id="rId10"/>
    <p:sldId id="642" r:id="rId11"/>
    <p:sldId id="637" r:id="rId12"/>
    <p:sldId id="643" r:id="rId13"/>
    <p:sldId id="638" r:id="rId14"/>
    <p:sldId id="644" r:id="rId15"/>
    <p:sldId id="648" r:id="rId16"/>
    <p:sldId id="645" r:id="rId17"/>
    <p:sldId id="647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6DF0E-93A5-3D4B-A28F-AD4E80BB2C62}" v="4" dt="2025-03-31T16:59:15.9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E6EAC-CBB9-BD42-88AD-E8F9FE6D97A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8535E-12EC-9C48-8F0B-EF35AC1532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8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EB111A-9E8D-AE42-AF40-7D7AD69A6457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6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8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9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1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8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1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0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0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6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31/03/25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5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stile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7B0733A9-B2C3-AE47-8657-BBD3860B180D}" type="datetimeFigureOut">
              <a:rPr lang="it-IT" smtClean="0"/>
              <a:pPr/>
              <a:t>31/03/25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9996DE83-5E11-5147-A804-09247BE1F2B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54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21175" y="1454889"/>
            <a:ext cx="9237048" cy="1468967"/>
          </a:xfrm>
          <a:extLst>
            <a:ext uri="{91240B29-F687-4f45-9708-019B960494DF}">
              <a14:hiddenLine xmlns=""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it-IT" sz="2000" dirty="0">
                <a:cs typeface="Calibri Light" panose="020F0302020204030204" pitchFamily="34" charset="0"/>
              </a:rPr>
              <a:t>Sistemi informativi su Web</a:t>
            </a:r>
            <a:br>
              <a:rPr lang="it-IT" sz="2000" dirty="0"/>
            </a:br>
            <a:r>
              <a:rPr lang="it-IT" dirty="0" err="1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Esercizione</a:t>
            </a:r>
            <a: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Persistenza</a:t>
            </a:r>
            <a:b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sz="3200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aa 2024-2024</a:t>
            </a:r>
            <a:br>
              <a:rPr lang="it-IT" dirty="0">
                <a:latin typeface="Calibri Light" panose="020F0302020204030204" pitchFamily="34" charset="0"/>
              </a:rPr>
            </a:br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2895600" y="6324601"/>
            <a:ext cx="66963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09585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This work is licensed under a Creative Commons Attribution-Noncommercial-Share Alike 3.0 United States</a:t>
            </a:r>
            <a:b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</a:b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See http://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creativecommons.org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/licenses/by-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nc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-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sa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/3.0/us/ for details</a:t>
            </a:r>
          </a:p>
        </p:txBody>
      </p:sp>
      <p:pic>
        <p:nvPicPr>
          <p:cNvPr id="5" name="Picture 13" descr="creative-common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5600" y="6324601"/>
            <a:ext cx="11176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086" y="4001343"/>
            <a:ext cx="941271" cy="511424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5399865" y="3908734"/>
            <a:ext cx="3059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/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Paolo Merialdo</a:t>
            </a:r>
          </a:p>
          <a:p>
            <a:pPr defTabSz="609585"/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Università degli Studi Roma Tre</a:t>
            </a:r>
          </a:p>
        </p:txBody>
      </p:sp>
    </p:spTree>
    <p:extLst>
      <p:ext uri="{BB962C8B-B14F-4D97-AF65-F5344CB8AC3E}">
        <p14:creationId xmlns:p14="http://schemas.microsoft.com/office/powerpoint/2010/main" val="421165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endParaRPr lang="en-US" dirty="0"/>
          </a:p>
        </p:txBody>
      </p:sp>
      <p:graphicFrame>
        <p:nvGraphicFramePr>
          <p:cNvPr id="5" name="Segnaposto contenuto 5"/>
          <p:cNvGraphicFramePr>
            <a:graphicFrameLocks/>
          </p:cNvGraphicFramePr>
          <p:nvPr/>
        </p:nvGraphicFramePr>
        <p:xfrm>
          <a:off x="5270500" y="1533150"/>
          <a:ext cx="1553291" cy="1222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>
                          <a:latin typeface="Calibri Light" panose="020F0302020204030204" pitchFamily="34" charset="0"/>
                        </a:rPr>
                        <a:t>Product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-name:</a:t>
                      </a:r>
                      <a:r>
                        <a:rPr lang="it-IT" sz="1100" baseline="0" dirty="0"/>
                        <a:t>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description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-price: Float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Segnaposto contenuto 5"/>
          <p:cNvGraphicFramePr>
            <a:graphicFrameLocks/>
          </p:cNvGraphicFramePr>
          <p:nvPr/>
        </p:nvGraphicFramePr>
        <p:xfrm>
          <a:off x="8357871" y="1444250"/>
          <a:ext cx="2015719" cy="1389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>
                          <a:latin typeface="Calibri Light" panose="020F0302020204030204" pitchFamily="34" charset="0"/>
                        </a:rPr>
                        <a:t>Provider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-name: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phoneNumber</a:t>
                      </a:r>
                      <a:r>
                        <a:rPr lang="it-IT" sz="1100" dirty="0"/>
                        <a:t>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r>
                        <a:rPr lang="it-IT" sz="1100" dirty="0"/>
                        <a:t>-email: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vatin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Connettore 2 6"/>
          <p:cNvCxnSpPr>
            <a:stCxn id="5" idx="3"/>
            <a:endCxn id="6" idx="1"/>
          </p:cNvCxnSpPr>
          <p:nvPr/>
        </p:nvCxnSpPr>
        <p:spPr>
          <a:xfrm flipV="1">
            <a:off x="6823791" y="2139170"/>
            <a:ext cx="1534080" cy="508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7795490" y="168442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1..*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6887059" y="1680625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0..*</a:t>
            </a:r>
          </a:p>
        </p:txBody>
      </p:sp>
      <p:graphicFrame>
        <p:nvGraphicFramePr>
          <p:cNvPr id="10" name="Segnaposto contenuto 5"/>
          <p:cNvGraphicFramePr>
            <a:graphicFrameLocks/>
          </p:cNvGraphicFramePr>
          <p:nvPr/>
        </p:nvGraphicFramePr>
        <p:xfrm>
          <a:off x="2006369" y="3293460"/>
          <a:ext cx="1553291" cy="88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>
                          <a:latin typeface="Calibri Light" panose="020F0302020204030204" pitchFamily="34" charset="0"/>
                        </a:rPr>
                        <a:t>Order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creationTime</a:t>
                      </a:r>
                      <a:r>
                        <a:rPr lang="it-IT" sz="1100" dirty="0"/>
                        <a:t>:</a:t>
                      </a:r>
                      <a:r>
                        <a:rPr lang="it-IT" sz="1100" baseline="0" dirty="0"/>
                        <a:t> Date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Segnaposto contenuto 5"/>
          <p:cNvGraphicFramePr>
            <a:graphicFrameLocks/>
          </p:cNvGraphicFramePr>
          <p:nvPr/>
        </p:nvGraphicFramePr>
        <p:xfrm>
          <a:off x="5042941" y="3217260"/>
          <a:ext cx="2015719" cy="1054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 err="1">
                          <a:latin typeface="Calibri Light" panose="020F0302020204030204" pitchFamily="34" charset="0"/>
                        </a:rPr>
                        <a:t>OrderLine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unitPrice</a:t>
                      </a:r>
                      <a:r>
                        <a:rPr lang="it-IT" sz="1100" dirty="0"/>
                        <a:t>: Float</a:t>
                      </a:r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quantity</a:t>
                      </a:r>
                      <a:r>
                        <a:rPr lang="it-IT" sz="1100" dirty="0"/>
                        <a:t>: </a:t>
                      </a:r>
                      <a:r>
                        <a:rPr lang="it-IT" sz="1100" dirty="0" err="1"/>
                        <a:t>Integer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Connettore 2 11"/>
          <p:cNvCxnSpPr>
            <a:stCxn id="10" idx="3"/>
            <a:endCxn id="11" idx="1"/>
          </p:cNvCxnSpPr>
          <p:nvPr/>
        </p:nvCxnSpPr>
        <p:spPr>
          <a:xfrm>
            <a:off x="3559660" y="3736920"/>
            <a:ext cx="1483281" cy="762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467859" y="340663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14" name="Connettore 2 13"/>
          <p:cNvCxnSpPr>
            <a:stCxn id="11" idx="0"/>
            <a:endCxn id="5" idx="2"/>
          </p:cNvCxnSpPr>
          <p:nvPr/>
        </p:nvCxnSpPr>
        <p:spPr>
          <a:xfrm flipH="1" flipV="1">
            <a:off x="6047145" y="2755351"/>
            <a:ext cx="3655" cy="461909"/>
          </a:xfrm>
          <a:prstGeom prst="straightConnector1">
            <a:avLst/>
          </a:prstGeom>
          <a:ln w="3175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Segnaposto contenuto 5"/>
          <p:cNvGraphicFramePr>
            <a:graphicFrameLocks/>
          </p:cNvGraphicFramePr>
          <p:nvPr/>
        </p:nvGraphicFramePr>
        <p:xfrm>
          <a:off x="2006369" y="4998261"/>
          <a:ext cx="1553291" cy="1725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>
                          <a:latin typeface="Calibri Light" panose="020F0302020204030204" pitchFamily="34" charset="0"/>
                        </a:rPr>
                        <a:t>Customer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36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</a:t>
                      </a:r>
                      <a:r>
                        <a:rPr lang="it-IT" sz="1100" dirty="0" err="1"/>
                        <a:t>firstName</a:t>
                      </a:r>
                      <a:r>
                        <a:rPr lang="it-IT" sz="1100" dirty="0"/>
                        <a:t>:</a:t>
                      </a:r>
                      <a:r>
                        <a:rPr lang="it-IT" sz="1100" baseline="0" dirty="0"/>
                        <a:t>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lastName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-email: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phoneNumber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dateOfBirth</a:t>
                      </a:r>
                      <a:r>
                        <a:rPr lang="it-IT" sz="1100" baseline="0" dirty="0"/>
                        <a:t>: Date</a:t>
                      </a:r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registrationDate</a:t>
                      </a:r>
                      <a:r>
                        <a:rPr lang="it-IT" sz="1100" baseline="0" dirty="0"/>
                        <a:t>: Date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Segnaposto contenuto 5"/>
          <p:cNvGraphicFramePr>
            <a:graphicFrameLocks/>
          </p:cNvGraphicFramePr>
          <p:nvPr/>
        </p:nvGraphicFramePr>
        <p:xfrm>
          <a:off x="8360182" y="5079540"/>
          <a:ext cx="2015719" cy="1557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0201">
                <a:tc>
                  <a:txBody>
                    <a:bodyPr/>
                    <a:lstStyle/>
                    <a:p>
                      <a:pPr algn="ctr"/>
                      <a:r>
                        <a:rPr lang="it-IT" sz="1900" b="0" i="0" dirty="0" err="1">
                          <a:latin typeface="Calibri Light" panose="020F0302020204030204" pitchFamily="34" charset="0"/>
                        </a:rPr>
                        <a:t>Address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it-IT" sz="1100" b="0" i="0" dirty="0">
                          <a:latin typeface="Calibri Light" panose="020F0302020204030204" pitchFamily="34" charset="0"/>
                        </a:rPr>
                        <a:t>-id: Long</a:t>
                      </a:r>
                    </a:p>
                    <a:p>
                      <a:r>
                        <a:rPr lang="it-IT" sz="1100" dirty="0"/>
                        <a:t>-street: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r>
                        <a:rPr lang="it-IT" sz="1100" dirty="0"/>
                        <a:t>-city: </a:t>
                      </a:r>
                      <a:r>
                        <a:rPr lang="it-IT" sz="1100" dirty="0" err="1"/>
                        <a:t>String</a:t>
                      </a:r>
                      <a:endParaRPr lang="it-IT" sz="1100" dirty="0"/>
                    </a:p>
                    <a:p>
                      <a:r>
                        <a:rPr lang="it-IT" sz="1100" dirty="0"/>
                        <a:t>-state:</a:t>
                      </a:r>
                      <a:r>
                        <a:rPr lang="it-IT" sz="1100" baseline="0" dirty="0"/>
                        <a:t>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</a:t>
                      </a:r>
                      <a:r>
                        <a:rPr lang="it-IT" sz="1100" baseline="0" dirty="0" err="1"/>
                        <a:t>zipcode</a:t>
                      </a:r>
                      <a:r>
                        <a:rPr lang="it-IT" sz="1100" baseline="0" dirty="0"/>
                        <a:t>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baseline="0" dirty="0"/>
                    </a:p>
                    <a:p>
                      <a:r>
                        <a:rPr lang="it-IT" sz="1100" baseline="0" dirty="0"/>
                        <a:t>-country: </a:t>
                      </a:r>
                      <a:r>
                        <a:rPr lang="it-IT" sz="1100" baseline="0" dirty="0" err="1"/>
                        <a:t>String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Connettore 2 18"/>
          <p:cNvCxnSpPr>
            <a:stCxn id="17" idx="3"/>
            <a:endCxn id="18" idx="1"/>
          </p:cNvCxnSpPr>
          <p:nvPr/>
        </p:nvCxnSpPr>
        <p:spPr>
          <a:xfrm flipV="1">
            <a:off x="3559660" y="5858280"/>
            <a:ext cx="4800522" cy="2541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/>
          <p:cNvCxnSpPr>
            <a:stCxn id="17" idx="0"/>
            <a:endCxn id="10" idx="2"/>
          </p:cNvCxnSpPr>
          <p:nvPr/>
        </p:nvCxnSpPr>
        <p:spPr>
          <a:xfrm flipV="1">
            <a:off x="2783014" y="4180381"/>
            <a:ext cx="0" cy="81788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2783015" y="426469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0..*</a:t>
            </a:r>
          </a:p>
        </p:txBody>
      </p:sp>
      <p:cxnSp>
        <p:nvCxnSpPr>
          <p:cNvPr id="25" name="Connettore 2 24"/>
          <p:cNvCxnSpPr>
            <a:stCxn id="6" idx="2"/>
            <a:endCxn id="18" idx="0"/>
          </p:cNvCxnSpPr>
          <p:nvPr/>
        </p:nvCxnSpPr>
        <p:spPr>
          <a:xfrm>
            <a:off x="9365730" y="2834091"/>
            <a:ext cx="2311" cy="2245449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/>
          <p:cNvSpPr txBox="1"/>
          <p:nvPr/>
        </p:nvSpPr>
        <p:spPr>
          <a:xfrm>
            <a:off x="6050799" y="289546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>
              <a:defRPr/>
            </a:pPr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</a:rPr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2090876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A647A5-3409-FF77-76B0-02DEC166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Operazioni</a:t>
            </a:r>
            <a:r>
              <a:rPr lang="en-US" dirty="0"/>
              <a:t> 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E9A5FF-44FB-3292-5AA9-707BCDAF0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Creiamo</a:t>
            </a:r>
            <a:r>
              <a:rPr lang="en-US" dirty="0"/>
              <a:t> un </a:t>
            </a:r>
            <a:r>
              <a:rPr lang="en-US" dirty="0" err="1"/>
              <a:t>progetto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siw-jpa-02</a:t>
            </a:r>
            <a:r>
              <a:rPr lang="en-US" dirty="0"/>
              <a:t> con le </a:t>
            </a:r>
            <a:r>
              <a:rPr lang="en-US" dirty="0" err="1"/>
              <a:t>stesse</a:t>
            </a:r>
            <a:r>
              <a:rPr lang="en-US" dirty="0"/>
              <a:t> </a:t>
            </a:r>
            <a:r>
              <a:rPr lang="en-US" dirty="0" err="1"/>
              <a:t>caratteristiche</a:t>
            </a:r>
            <a:r>
              <a:rPr lang="en-US" dirty="0"/>
              <a:t> di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siw-jpa-01</a:t>
            </a:r>
          </a:p>
          <a:p>
            <a:r>
              <a:rPr lang="en-US" dirty="0" err="1"/>
              <a:t>Modifichiamo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SiwJpa02Application</a:t>
            </a:r>
            <a:r>
              <a:rPr lang="it-IT" dirty="0"/>
              <a:t> specificando che deve implementare l'</a:t>
            </a:r>
            <a:r>
              <a:rPr lang="it-IT" dirty="0" err="1"/>
              <a:t>interfcaccia</a:t>
            </a:r>
            <a:r>
              <a:rPr lang="it-IT" dirty="0"/>
              <a:t> </a:t>
            </a:r>
            <a:r>
              <a:rPr lang="it-IT" dirty="0" err="1">
                <a:latin typeface="Consolas" panose="020B0609020204030204" pitchFamily="49" charset="0"/>
                <a:cs typeface="Consolas" panose="020B0609020204030204" pitchFamily="49" charset="0"/>
              </a:rPr>
              <a:t>CommandLineRunner</a:t>
            </a:r>
            <a:endParaRPr lang="it-IT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it-IT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it-IT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SiwJpa01Application </a:t>
            </a:r>
            <a:r>
              <a:rPr lang="it-IT" sz="28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implements</a:t>
            </a:r>
            <a:r>
              <a:rPr lang="it-IT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CommandLineRunner</a:t>
            </a:r>
            <a:br>
              <a:rPr lang="it-IT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2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800" dirty="0" err="1"/>
              <a:t>Annotare</a:t>
            </a:r>
            <a:r>
              <a:rPr lang="en-US" sz="2800" dirty="0"/>
              <a:t> il </a:t>
            </a:r>
            <a:r>
              <a:rPr lang="en-US" sz="2800" dirty="0" err="1"/>
              <a:t>metodo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run()</a:t>
            </a:r>
            <a:r>
              <a:rPr lang="en-US" sz="2800" dirty="0"/>
              <a:t> </a:t>
            </a:r>
            <a:r>
              <a:rPr lang="en-US" sz="2800" dirty="0" err="1"/>
              <a:t>della</a:t>
            </a:r>
            <a:r>
              <a:rPr lang="en-US" sz="2800" dirty="0"/>
              <a:t> </a:t>
            </a:r>
            <a:r>
              <a:rPr lang="en-US" sz="2800" dirty="0" err="1"/>
              <a:t>classe</a:t>
            </a:r>
            <a:r>
              <a:rPr lang="en-US" sz="2800" dirty="0"/>
              <a:t> </a:t>
            </a:r>
            <a:r>
              <a:rPr lang="it-IT" sz="2800" dirty="0">
                <a:latin typeface="Consolas" panose="020B0609020204030204" pitchFamily="49" charset="0"/>
                <a:cs typeface="Consolas" panose="020B0609020204030204" pitchFamily="49" charset="0"/>
              </a:rPr>
              <a:t>SiwJpa02Application </a:t>
            </a:r>
            <a:r>
              <a:rPr lang="it-IT" sz="2800" dirty="0"/>
              <a:t>con l'annotazione </a:t>
            </a:r>
            <a:r>
              <a:rPr lang="en-US" sz="2800" dirty="0"/>
              <a:t> </a:t>
            </a:r>
            <a:r>
              <a:rPr lang="it-IT" sz="2800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it-IT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Transactional</a:t>
            </a:r>
            <a:endParaRPr lang="it-IT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>
              <a:buNone/>
            </a:pPr>
            <a:endParaRPr lang="it-IT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endParaRPr lang="it-IT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53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0F6EE-CF5F-B8F0-E160-77B824A40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B7F1D6-3B0D-BB8F-D347-EB53B5A4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Operazioni</a:t>
            </a:r>
            <a:r>
              <a:rPr lang="en-US" dirty="0"/>
              <a:t> 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D033D1-AF96-B5C4-0B07-2B2E31043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Aggiungiamo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tutte le </a:t>
            </a:r>
            <a:r>
              <a:rPr lang="en-US" dirty="0" err="1"/>
              <a:t>classi</a:t>
            </a:r>
            <a:r>
              <a:rPr lang="en-US" dirty="0"/>
              <a:t> del nostro </a:t>
            </a:r>
            <a:r>
              <a:rPr lang="en-US" dirty="0" err="1"/>
              <a:t>caso</a:t>
            </a:r>
            <a:r>
              <a:rPr lang="en-US" dirty="0"/>
              <a:t> di studio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Order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OrderLine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Provider</a:t>
            </a:r>
            <a:r>
              <a:rPr lang="en-US" dirty="0"/>
              <a:t>)</a:t>
            </a:r>
          </a:p>
          <a:p>
            <a:r>
              <a:rPr lang="en-US" dirty="0" err="1"/>
              <a:t>Creare</a:t>
            </a:r>
            <a:r>
              <a:rPr lang="en-US" dirty="0"/>
              <a:t> il package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repository</a:t>
            </a:r>
          </a:p>
          <a:p>
            <a:r>
              <a:rPr lang="en-US" dirty="0"/>
              <a:t>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del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creare</a:t>
            </a:r>
            <a:r>
              <a:rPr lang="en-US" dirty="0"/>
              <a:t> la </a:t>
            </a:r>
            <a:r>
              <a:rPr lang="en-US" dirty="0" err="1"/>
              <a:t>corrispondente</a:t>
            </a:r>
            <a:r>
              <a:rPr lang="en-US" dirty="0"/>
              <a:t> </a:t>
            </a:r>
            <a:r>
              <a:rPr lang="en-US" dirty="0" err="1"/>
              <a:t>interfaccia</a:t>
            </a:r>
            <a:r>
              <a:rPr lang="en-US" dirty="0"/>
              <a:t> repository</a:t>
            </a:r>
          </a:p>
          <a:p>
            <a:r>
              <a:rPr lang="en-US" sz="3200" dirty="0"/>
              <a:t>Nella </a:t>
            </a:r>
            <a:r>
              <a:rPr lang="en-US" sz="3200" dirty="0" err="1"/>
              <a:t>classe</a:t>
            </a:r>
            <a:r>
              <a:rPr lang="en-US" sz="3200" dirty="0"/>
              <a:t> </a:t>
            </a:r>
            <a:r>
              <a:rPr lang="it-IT" sz="3200" dirty="0">
                <a:latin typeface="Consolas" panose="020B0609020204030204" pitchFamily="49" charset="0"/>
                <a:cs typeface="Consolas" panose="020B0609020204030204" pitchFamily="49" charset="0"/>
              </a:rPr>
              <a:t>SiwJpa02Application</a:t>
            </a:r>
            <a:r>
              <a:rPr lang="en-US" sz="3200" dirty="0"/>
              <a:t> </a:t>
            </a:r>
            <a:r>
              <a:rPr lang="en-US" sz="3200" dirty="0" err="1"/>
              <a:t>definiamo</a:t>
            </a:r>
            <a:r>
              <a:rPr lang="en-US" sz="3200" dirty="0"/>
              <a:t> le </a:t>
            </a:r>
            <a:r>
              <a:rPr lang="en-US" sz="3200" dirty="0" err="1"/>
              <a:t>variabili</a:t>
            </a:r>
            <a:r>
              <a:rPr lang="en-US" sz="3200" dirty="0"/>
              <a:t>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CustomerRepository</a:t>
            </a:r>
            <a:r>
              <a:rPr lang="en-US" sz="3200" dirty="0"/>
              <a:t> e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AddressRepository</a:t>
            </a:r>
            <a:r>
              <a:rPr lang="en-US" sz="3200" dirty="0"/>
              <a:t>, e </a:t>
            </a:r>
            <a:r>
              <a:rPr lang="en-US" sz="3200" dirty="0" err="1"/>
              <a:t>annotiamole</a:t>
            </a:r>
            <a:r>
              <a:rPr lang="en-US" sz="3200" dirty="0"/>
              <a:t> come 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Autowired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45A611-3EEA-D7AC-1EDD-8AB22DD8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78C8A8-73B8-2CA8-59E9-E375D6FF0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capire</a:t>
            </a:r>
            <a:r>
              <a:rPr lang="en-US" dirty="0"/>
              <a:t> il </a:t>
            </a:r>
            <a:r>
              <a:rPr lang="en-US" dirty="0" err="1"/>
              <a:t>funzionamento</a:t>
            </a:r>
            <a:r>
              <a:rPr lang="en-US" dirty="0"/>
              <a:t> del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save()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repository e la </a:t>
            </a:r>
            <a:r>
              <a:rPr lang="en-US" dirty="0" err="1"/>
              <a:t>creazione</a:t>
            </a:r>
            <a:r>
              <a:rPr lang="en-US" dirty="0"/>
              <a:t> e </a:t>
            </a:r>
            <a:r>
              <a:rPr lang="en-US" dirty="0" err="1"/>
              <a:t>l'assegnazione</a:t>
            </a:r>
            <a:r>
              <a:rPr lang="en-US" dirty="0"/>
              <a:t> </a:t>
            </a:r>
            <a:r>
              <a:rPr lang="en-US" dirty="0" err="1"/>
              <a:t>dell'id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43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6C372C-90E8-9CCA-44AA-ABFD1808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CB7D96-57E2-13FD-6C65-8E5C2D392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Nel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run()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SiwJpa02Application </a:t>
            </a:r>
            <a:r>
              <a:rPr lang="en-US" dirty="0" err="1"/>
              <a:t>scrivere</a:t>
            </a:r>
            <a:r>
              <a:rPr lang="en-US" dirty="0"/>
              <a:t> il </a:t>
            </a:r>
            <a:r>
              <a:rPr lang="en-US" dirty="0" err="1"/>
              <a:t>codice</a:t>
            </a:r>
            <a:r>
              <a:rPr lang="en-US" dirty="0"/>
              <a:t> per:</a:t>
            </a:r>
          </a:p>
          <a:p>
            <a:pPr lvl="1"/>
            <a:r>
              <a:rPr lang="en-US" dirty="0" err="1"/>
              <a:t>Creare</a:t>
            </a:r>
            <a:r>
              <a:rPr lang="en-US" dirty="0"/>
              <a:t> un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(con </a:t>
            </a:r>
            <a:r>
              <a:rPr lang="en-US" dirty="0" err="1"/>
              <a:t>l'operatore</a:t>
            </a:r>
            <a:r>
              <a:rPr lang="en-US" dirty="0"/>
              <a:t> java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Stampare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dell'oggetto</a:t>
            </a:r>
            <a:r>
              <a:rPr lang="en-US" dirty="0"/>
              <a:t> (con il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</a:t>
            </a:r>
            <a:r>
              <a:rPr lang="en-US" dirty="0" err="1"/>
              <a:t>opportunamente</a:t>
            </a:r>
            <a:r>
              <a:rPr lang="en-US" dirty="0"/>
              <a:t> </a:t>
            </a:r>
            <a:r>
              <a:rPr lang="en-US" dirty="0" err="1"/>
              <a:t>definito</a:t>
            </a:r>
            <a:r>
              <a:rPr lang="en-US" dirty="0"/>
              <a:t> </a:t>
            </a:r>
            <a:r>
              <a:rPr lang="en-US" dirty="0" err="1"/>
              <a:t>affinchè</a:t>
            </a:r>
            <a:r>
              <a:rPr lang="en-US" dirty="0"/>
              <a:t> </a:t>
            </a:r>
            <a:r>
              <a:rPr lang="en-US" dirty="0" err="1"/>
              <a:t>stampi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di tutte le </a:t>
            </a:r>
            <a:r>
              <a:rPr lang="en-US" dirty="0" err="1"/>
              <a:t>variabili</a:t>
            </a:r>
            <a:r>
              <a:rPr lang="en-US" dirty="0"/>
              <a:t> di </a:t>
            </a:r>
            <a:r>
              <a:rPr lang="en-US" dirty="0" err="1"/>
              <a:t>istanza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Salvare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il repository </a:t>
            </a:r>
            <a:r>
              <a:rPr lang="en-US" dirty="0" err="1"/>
              <a:t>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database</a:t>
            </a:r>
          </a:p>
          <a:p>
            <a:pPr lvl="1"/>
            <a:r>
              <a:rPr lang="en-US" dirty="0" err="1"/>
              <a:t>Stampare</a:t>
            </a:r>
            <a:r>
              <a:rPr lang="en-US" dirty="0"/>
              <a:t> </a:t>
            </a:r>
            <a:r>
              <a:rPr lang="en-US" dirty="0" err="1"/>
              <a:t>nuovamente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dell'oggetto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</a:t>
            </a:r>
          </a:p>
          <a:p>
            <a:r>
              <a:rPr lang="en-US" dirty="0"/>
              <a:t>Che </a:t>
            </a:r>
            <a:r>
              <a:rPr lang="en-US" dirty="0" err="1"/>
              <a:t>differenza</a:t>
            </a:r>
            <a:r>
              <a:rPr lang="en-US" dirty="0"/>
              <a:t> </a:t>
            </a:r>
            <a:r>
              <a:rPr lang="en-US" dirty="0" err="1"/>
              <a:t>c'è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la prima e la </a:t>
            </a:r>
            <a:r>
              <a:rPr lang="en-US" dirty="0" err="1"/>
              <a:t>seconda</a:t>
            </a:r>
            <a:r>
              <a:rPr lang="en-US" dirty="0"/>
              <a:t> </a:t>
            </a:r>
            <a:r>
              <a:rPr lang="en-US" dirty="0" err="1"/>
              <a:t>stampa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3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72C0C3-775A-CE3F-E5FF-97ACB389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2D3269-AA1C-28E7-D03E-F1E1076DA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capire</a:t>
            </a:r>
            <a:r>
              <a:rPr lang="en-US" dirty="0"/>
              <a:t> il </a:t>
            </a:r>
            <a:r>
              <a:rPr lang="en-US" dirty="0" err="1"/>
              <a:t>funzionamento</a:t>
            </a:r>
            <a:r>
              <a:rPr lang="en-US" dirty="0"/>
              <a:t> di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save()</a:t>
            </a:r>
            <a:r>
              <a:rPr lang="en-US" dirty="0"/>
              <a:t> con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riferimenti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implementano</a:t>
            </a:r>
            <a:r>
              <a:rPr lang="en-US" dirty="0"/>
              <a:t> le </a:t>
            </a:r>
            <a:r>
              <a:rPr lang="en-US" dirty="0" err="1"/>
              <a:t>associazioni</a:t>
            </a:r>
            <a:r>
              <a:rPr lang="en-US" dirty="0"/>
              <a:t> e la </a:t>
            </a:r>
            <a:r>
              <a:rPr lang="en-US" dirty="0" err="1"/>
              <a:t>gestione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cascade</a:t>
            </a:r>
          </a:p>
        </p:txBody>
      </p:sp>
    </p:spTree>
    <p:extLst>
      <p:ext uri="{BB962C8B-B14F-4D97-AF65-F5344CB8AC3E}">
        <p14:creationId xmlns:p14="http://schemas.microsoft.com/office/powerpoint/2010/main" val="103671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6153F6-5176-A493-2801-618A2A47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1E1CDD-FAF5-0BF3-3CF3-4848333DB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Modificare</a:t>
            </a:r>
            <a:r>
              <a:rPr lang="en-US" dirty="0"/>
              <a:t> il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run()</a:t>
            </a:r>
            <a:r>
              <a:rPr lang="en-US" dirty="0"/>
              <a:t> come segue:</a:t>
            </a:r>
          </a:p>
          <a:p>
            <a:pPr lvl="1"/>
            <a:r>
              <a:rPr lang="en-US" dirty="0"/>
              <a:t>Dopo aver </a:t>
            </a:r>
            <a:r>
              <a:rPr lang="en-US" dirty="0" err="1"/>
              <a:t>creato</a:t>
            </a:r>
            <a:r>
              <a:rPr lang="en-US" dirty="0"/>
              <a:t> un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, </a:t>
            </a:r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un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en-US" dirty="0"/>
              <a:t> ed </a:t>
            </a:r>
            <a:r>
              <a:rPr lang="en-US" dirty="0" err="1"/>
              <a:t>assegnarlo</a:t>
            </a:r>
            <a:r>
              <a:rPr lang="en-US" dirty="0"/>
              <a:t> </a:t>
            </a:r>
            <a:r>
              <a:rPr lang="en-US" dirty="0" err="1"/>
              <a:t>all'oggetto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</a:p>
          <a:p>
            <a:pPr lvl="1"/>
            <a:r>
              <a:rPr lang="en-US" dirty="0" err="1"/>
              <a:t>Provare</a:t>
            </a:r>
            <a:r>
              <a:rPr lang="en-US" dirty="0"/>
              <a:t> ad </a:t>
            </a:r>
            <a:r>
              <a:rPr lang="en-US" dirty="0" err="1"/>
              <a:t>eseguire</a:t>
            </a:r>
            <a:r>
              <a:rPr lang="en-US" dirty="0"/>
              <a:t> il </a:t>
            </a:r>
            <a:r>
              <a:rPr lang="en-US" dirty="0" err="1"/>
              <a:t>codice</a:t>
            </a:r>
            <a:endParaRPr lang="en-US" dirty="0"/>
          </a:p>
          <a:p>
            <a:pPr lvl="1"/>
            <a:r>
              <a:rPr lang="en-US" dirty="0" err="1"/>
              <a:t>C'è</a:t>
            </a:r>
            <a:r>
              <a:rPr lang="en-US" dirty="0"/>
              <a:t> un </a:t>
            </a:r>
            <a:r>
              <a:rPr lang="en-US" dirty="0" err="1"/>
              <a:t>problema</a:t>
            </a:r>
            <a:r>
              <a:rPr lang="en-US" dirty="0"/>
              <a:t>: </a:t>
            </a:r>
            <a:r>
              <a:rPr lang="en-US" dirty="0" err="1"/>
              <a:t>capirlo</a:t>
            </a:r>
            <a:r>
              <a:rPr lang="en-US" dirty="0"/>
              <a:t> e </a:t>
            </a:r>
            <a:r>
              <a:rPr lang="en-US" dirty="0" err="1"/>
              <a:t>risolverlo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un LLM)</a:t>
            </a:r>
          </a:p>
        </p:txBody>
      </p:sp>
    </p:spTree>
    <p:extLst>
      <p:ext uri="{BB962C8B-B14F-4D97-AF65-F5344CB8AC3E}">
        <p14:creationId xmlns:p14="http://schemas.microsoft.com/office/powerpoint/2010/main" val="1821872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FD45-2998-9681-6D8E-C27D8803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7F6A6D-6FC4-2251-473C-6C443F71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 (cont.)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EF743F-1CC6-5BAC-667E-374FC0640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</a:t>
            </a:r>
            <a:r>
              <a:rPr lang="en-US" dirty="0" err="1"/>
              <a:t>abilitando</a:t>
            </a:r>
            <a:r>
              <a:rPr lang="en-US" dirty="0"/>
              <a:t> il cascade </a:t>
            </a:r>
            <a:r>
              <a:rPr lang="en-US" dirty="0" err="1"/>
              <a:t>dell'operazione</a:t>
            </a:r>
            <a:r>
              <a:rPr lang="en-US" dirty="0"/>
              <a:t> di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persist</a:t>
            </a:r>
            <a:r>
              <a:rPr lang="en-US" dirty="0"/>
              <a:t>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r>
              <a:rPr lang="en-US" dirty="0"/>
              <a:t> </a:t>
            </a:r>
            <a:r>
              <a:rPr lang="en-US" dirty="0" err="1"/>
              <a:t>OneToOne</a:t>
            </a:r>
            <a:r>
              <a:rPr lang="en-US" dirty="0"/>
              <a:t> con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</a:p>
          <a:p>
            <a:r>
              <a:rPr lang="en-US" dirty="0" err="1"/>
              <a:t>Modificare</a:t>
            </a:r>
            <a:r>
              <a:rPr lang="en-US" dirty="0"/>
              <a:t> il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run()</a:t>
            </a:r>
            <a:r>
              <a:rPr lang="en-US" dirty="0"/>
              <a:t> come segue:</a:t>
            </a:r>
          </a:p>
          <a:p>
            <a:pPr lvl="1"/>
            <a:r>
              <a:rPr lang="en-US" dirty="0"/>
              <a:t>Dopo aver </a:t>
            </a:r>
            <a:r>
              <a:rPr lang="en-US" dirty="0" err="1"/>
              <a:t>creato</a:t>
            </a:r>
            <a:r>
              <a:rPr lang="en-US" dirty="0"/>
              <a:t> </a:t>
            </a:r>
            <a:r>
              <a:rPr lang="en-US" dirty="0" err="1"/>
              <a:t>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, </a:t>
            </a:r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un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r>
              <a:rPr lang="en-US" dirty="0"/>
              <a:t> ed </a:t>
            </a:r>
            <a:r>
              <a:rPr lang="en-US" dirty="0" err="1"/>
              <a:t>assegnarlo</a:t>
            </a:r>
            <a:r>
              <a:rPr lang="en-US" dirty="0"/>
              <a:t> </a:t>
            </a:r>
            <a:r>
              <a:rPr lang="en-US" dirty="0" err="1"/>
              <a:t>all'oggetto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</a:p>
          <a:p>
            <a:pPr lvl="1"/>
            <a:r>
              <a:rPr lang="en-US" dirty="0" err="1"/>
              <a:t>Attraverso</a:t>
            </a:r>
            <a:r>
              <a:rPr lang="en-US" dirty="0"/>
              <a:t> il repository, </a:t>
            </a:r>
            <a:r>
              <a:rPr lang="en-US" dirty="0" err="1"/>
              <a:t>salvare</a:t>
            </a:r>
            <a:r>
              <a:rPr lang="en-US" dirty="0"/>
              <a:t> </a:t>
            </a:r>
            <a:r>
              <a:rPr lang="en-US" dirty="0" err="1"/>
              <a:t>l'oggetto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Provare</a:t>
            </a:r>
            <a:r>
              <a:rPr lang="en-US" dirty="0"/>
              <a:t> ad </a:t>
            </a:r>
            <a:r>
              <a:rPr lang="en-US" dirty="0" err="1"/>
              <a:t>eseguire</a:t>
            </a:r>
            <a:r>
              <a:rPr lang="en-US" dirty="0"/>
              <a:t> il </a:t>
            </a:r>
            <a:r>
              <a:rPr lang="en-US" dirty="0" err="1"/>
              <a:t>codice</a:t>
            </a:r>
            <a:endParaRPr lang="en-US" dirty="0"/>
          </a:p>
          <a:p>
            <a:r>
              <a:rPr lang="en-US" dirty="0" err="1"/>
              <a:t>Analizzare</a:t>
            </a:r>
            <a:r>
              <a:rPr lang="en-US" dirty="0"/>
              <a:t> (</a:t>
            </a:r>
            <a:r>
              <a:rPr lang="en-US" dirty="0" err="1"/>
              <a:t>nella</a:t>
            </a:r>
            <a:r>
              <a:rPr lang="en-US" dirty="0"/>
              <a:t> console) tutte le </a:t>
            </a:r>
            <a:r>
              <a:rPr lang="en-US" dirty="0" err="1"/>
              <a:t>istruzioni</a:t>
            </a:r>
            <a:r>
              <a:rPr lang="en-US" dirty="0"/>
              <a:t> SQL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state </a:t>
            </a:r>
            <a:r>
              <a:rPr lang="en-US" dirty="0" err="1"/>
              <a:t>inviate</a:t>
            </a:r>
            <a:r>
              <a:rPr lang="en-US" dirty="0"/>
              <a:t> al database</a:t>
            </a:r>
          </a:p>
        </p:txBody>
      </p:sp>
    </p:spTree>
    <p:extLst>
      <p:ext uri="{BB962C8B-B14F-4D97-AF65-F5344CB8AC3E}">
        <p14:creationId xmlns:p14="http://schemas.microsoft.com/office/powerpoint/2010/main" val="2385017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C0E8B7-E0F1-6DF2-F176-5A18FA1C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7AA9EA-9B43-5D4A-F2BD-8DDF8EEAC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capire</a:t>
            </a:r>
            <a:r>
              <a:rPr lang="en-US" dirty="0"/>
              <a:t> le </a:t>
            </a:r>
            <a:r>
              <a:rPr lang="en-US" dirty="0" err="1"/>
              <a:t>strategie</a:t>
            </a:r>
            <a:r>
              <a:rPr lang="en-US" dirty="0"/>
              <a:t> di Fetch</a:t>
            </a:r>
          </a:p>
        </p:txBody>
      </p:sp>
    </p:spTree>
    <p:extLst>
      <p:ext uri="{BB962C8B-B14F-4D97-AF65-F5344CB8AC3E}">
        <p14:creationId xmlns:p14="http://schemas.microsoft.com/office/powerpoint/2010/main" val="2586776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8ADAB4-CDE5-55FC-71FE-6016A077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3: </a:t>
            </a:r>
            <a:r>
              <a:rPr lang="en-US" dirty="0" err="1"/>
              <a:t>preparazione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426851-8E28-DE43-11C0-12C34F5AA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Modifichiamo</a:t>
            </a:r>
            <a:r>
              <a:rPr lang="en-US" dirty="0"/>
              <a:t> il file </a:t>
            </a:r>
            <a:r>
              <a:rPr lang="en-US" dirty="0" err="1"/>
              <a:t>application.properties</a:t>
            </a:r>
            <a:r>
              <a:rPr lang="en-US" dirty="0"/>
              <a:t> </a:t>
            </a:r>
            <a:r>
              <a:rPr lang="en-US" dirty="0" err="1"/>
              <a:t>affinchè</a:t>
            </a:r>
            <a:r>
              <a:rPr lang="en-US" dirty="0"/>
              <a:t> non </a:t>
            </a:r>
            <a:r>
              <a:rPr lang="en-US" dirty="0" err="1"/>
              <a:t>vengano</a:t>
            </a:r>
            <a:r>
              <a:rPr lang="en-US" dirty="0"/>
              <a:t> </a:t>
            </a:r>
            <a:r>
              <a:rPr lang="en-US" dirty="0" err="1"/>
              <a:t>cancellati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database </a:t>
            </a:r>
            <a:r>
              <a:rPr lang="en-US" dirty="0" err="1"/>
              <a:t>ogni</a:t>
            </a:r>
            <a:r>
              <a:rPr lang="en-US" dirty="0"/>
              <a:t> volta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eseguiamo</a:t>
            </a:r>
            <a:r>
              <a:rPr lang="en-US" dirty="0"/>
              <a:t> il </a:t>
            </a:r>
            <a:r>
              <a:rPr lang="en-US" dirty="0" err="1"/>
              <a:t>programma</a:t>
            </a:r>
            <a:r>
              <a:rPr lang="en-US" dirty="0"/>
              <a:t>. </a:t>
            </a:r>
            <a:r>
              <a:rPr lang="en-US" dirty="0" err="1"/>
              <a:t>Impostiamo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			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spring.jpa.hibernate.ddl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-auto=</a:t>
            </a:r>
            <a:r>
              <a:rPr lang="it-IT" dirty="0">
                <a:solidFill>
                  <a:srgbClr val="2AA198"/>
                </a:solidFill>
                <a:effectLst/>
                <a:latin typeface="Menlo" panose="020B0609030804020204" pitchFamily="49" charset="0"/>
              </a:rPr>
              <a:t>none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56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349F-DD33-9D34-14E0-A697AAC9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0B49B1-5ECD-0B8F-EEBE-6EFEEB64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 (</a:t>
            </a:r>
            <a:r>
              <a:rPr lang="en-US" dirty="0" err="1"/>
              <a:t>parte</a:t>
            </a:r>
            <a:r>
              <a:rPr lang="en-US" dirty="0"/>
              <a:t> 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20958C-0A68-9A83-A3F8-DB01D14D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Scriviamo</a:t>
            </a:r>
            <a:r>
              <a:rPr lang="en-US" dirty="0"/>
              <a:t> il </a:t>
            </a:r>
            <a:r>
              <a:rPr lang="en-US" dirty="0" err="1"/>
              <a:t>corpo</a:t>
            </a:r>
            <a:r>
              <a:rPr lang="en-US" dirty="0"/>
              <a:t> del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run()</a:t>
            </a:r>
            <a:r>
              <a:rPr lang="en-US" dirty="0"/>
              <a:t> come segue:</a:t>
            </a:r>
          </a:p>
          <a:p>
            <a:pPr lvl="1"/>
            <a:r>
              <a:rPr lang="en-US" dirty="0" err="1"/>
              <a:t>Invochiamo</a:t>
            </a:r>
            <a:r>
              <a:rPr lang="en-US" dirty="0"/>
              <a:t> il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findAll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del repository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CustomerRepository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per </a:t>
            </a:r>
            <a:r>
              <a:rPr lang="en-US" dirty="0" err="1"/>
              <a:t>recuperare</a:t>
            </a:r>
            <a:r>
              <a:rPr lang="en-US" dirty="0"/>
              <a:t> dal database tutti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endParaRPr lang="en-US" dirty="0"/>
          </a:p>
          <a:p>
            <a:pPr lvl="1"/>
            <a:r>
              <a:rPr lang="en-US" dirty="0" err="1"/>
              <a:t>Iteriamo</a:t>
            </a:r>
            <a:r>
              <a:rPr lang="en-US" dirty="0"/>
              <a:t>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collezione</a:t>
            </a:r>
            <a:r>
              <a:rPr lang="en-US" dirty="0"/>
              <a:t> </a:t>
            </a:r>
            <a:r>
              <a:rPr lang="en-US" dirty="0" err="1"/>
              <a:t>recuperata</a:t>
            </a:r>
            <a:r>
              <a:rPr lang="en-US" dirty="0"/>
              <a:t> dal database </a:t>
            </a:r>
            <a:r>
              <a:rPr lang="en-US" dirty="0" err="1"/>
              <a:t>stampando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dettagli</a:t>
            </a:r>
            <a:r>
              <a:rPr lang="en-US" dirty="0"/>
              <a:t> (senza </a:t>
            </a:r>
            <a:r>
              <a:rPr lang="en-US" dirty="0" err="1"/>
              <a:t>indirizzo</a:t>
            </a:r>
            <a:r>
              <a:rPr lang="en-US" dirty="0"/>
              <a:t>) di </a:t>
            </a:r>
            <a:r>
              <a:rPr lang="en-US" dirty="0" err="1"/>
              <a:t>ogni</a:t>
            </a:r>
            <a:r>
              <a:rPr lang="en-US" dirty="0"/>
              <a:t> customer</a:t>
            </a:r>
          </a:p>
          <a:p>
            <a:pPr lvl="1"/>
            <a:r>
              <a:rPr lang="en-US" dirty="0" err="1"/>
              <a:t>Analizzare</a:t>
            </a:r>
            <a:r>
              <a:rPr lang="en-US" dirty="0"/>
              <a:t> (</a:t>
            </a:r>
            <a:r>
              <a:rPr lang="en-US" dirty="0" err="1"/>
              <a:t>nella</a:t>
            </a:r>
            <a:r>
              <a:rPr lang="en-US" dirty="0"/>
              <a:t> console) le </a:t>
            </a:r>
            <a:r>
              <a:rPr lang="en-US" dirty="0" err="1"/>
              <a:t>istruzioni</a:t>
            </a:r>
            <a:r>
              <a:rPr lang="en-US" dirty="0"/>
              <a:t> SQL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state </a:t>
            </a:r>
            <a:r>
              <a:rPr lang="en-US" dirty="0" err="1"/>
              <a:t>inviate</a:t>
            </a:r>
            <a:r>
              <a:rPr lang="en-US" dirty="0"/>
              <a:t> al database. In </a:t>
            </a:r>
            <a:r>
              <a:rPr lang="en-US" dirty="0" err="1"/>
              <a:t>particolare</a:t>
            </a:r>
            <a:r>
              <a:rPr lang="en-US" dirty="0"/>
              <a:t>, </a:t>
            </a:r>
            <a:r>
              <a:rPr lang="en-US" dirty="0" err="1"/>
              <a:t>quante</a:t>
            </a:r>
            <a:r>
              <a:rPr lang="en-US" dirty="0"/>
              <a:t> </a:t>
            </a:r>
            <a:r>
              <a:rPr lang="en-US" dirty="0" err="1"/>
              <a:t>istruzioni</a:t>
            </a:r>
            <a:r>
              <a:rPr lang="en-US" dirty="0"/>
              <a:t> SELECT?</a:t>
            </a:r>
          </a:p>
        </p:txBody>
      </p:sp>
    </p:spTree>
    <p:extLst>
      <p:ext uri="{BB962C8B-B14F-4D97-AF65-F5344CB8AC3E}">
        <p14:creationId xmlns:p14="http://schemas.microsoft.com/office/powerpoint/2010/main" val="3722341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E77B-CE07-DEF3-FF99-13598C16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B88DB3-0F39-19EA-5843-18AE013B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 (</a:t>
            </a:r>
            <a:r>
              <a:rPr lang="en-US" dirty="0" err="1"/>
              <a:t>parte</a:t>
            </a:r>
            <a:r>
              <a:rPr lang="en-US" dirty="0"/>
              <a:t> 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1DB3B5-30C9-DA42-591B-A8C503146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</a:t>
            </a:r>
            <a:r>
              <a:rPr lang="en-US" dirty="0" err="1"/>
              <a:t>impostando</a:t>
            </a:r>
            <a:r>
              <a:rPr lang="en-US" dirty="0"/>
              <a:t>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LAZY</a:t>
            </a:r>
            <a:r>
              <a:rPr lang="en-US" dirty="0"/>
              <a:t> la </a:t>
            </a:r>
            <a:r>
              <a:rPr lang="en-US" dirty="0" err="1"/>
              <a:t>strategia</a:t>
            </a:r>
            <a:r>
              <a:rPr lang="en-US" dirty="0"/>
              <a:t> di fetch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r>
              <a:rPr lang="en-US" dirty="0"/>
              <a:t> </a:t>
            </a:r>
            <a:r>
              <a:rPr lang="en-US" dirty="0" err="1"/>
              <a:t>OneToOne</a:t>
            </a:r>
            <a:r>
              <a:rPr lang="en-US" dirty="0"/>
              <a:t> con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endParaRPr lang="en-US" dirty="0">
              <a:cs typeface="Calibri Light" panose="020F0302020204030204" pitchFamily="34" charset="0"/>
            </a:endParaRPr>
          </a:p>
          <a:p>
            <a:r>
              <a:rPr lang="en-US" dirty="0" err="1"/>
              <a:t>Eseguire</a:t>
            </a:r>
            <a:r>
              <a:rPr lang="en-US" dirty="0"/>
              <a:t> il </a:t>
            </a:r>
            <a:r>
              <a:rPr lang="en-US" dirty="0" err="1"/>
              <a:t>programma</a:t>
            </a:r>
            <a:r>
              <a:rPr lang="en-US" dirty="0"/>
              <a:t> </a:t>
            </a:r>
            <a:r>
              <a:rPr lang="en-US" dirty="0" err="1"/>
              <a:t>precedente</a:t>
            </a:r>
            <a:endParaRPr lang="en-US" dirty="0"/>
          </a:p>
          <a:p>
            <a:r>
              <a:rPr lang="en-US" dirty="0" err="1"/>
              <a:t>Analizzare</a:t>
            </a:r>
            <a:r>
              <a:rPr lang="en-US" dirty="0"/>
              <a:t> (</a:t>
            </a:r>
            <a:r>
              <a:rPr lang="en-US" dirty="0" err="1"/>
              <a:t>nella</a:t>
            </a:r>
            <a:r>
              <a:rPr lang="en-US" dirty="0"/>
              <a:t> console) le </a:t>
            </a:r>
            <a:r>
              <a:rPr lang="en-US" dirty="0" err="1"/>
              <a:t>istruzioni</a:t>
            </a:r>
            <a:r>
              <a:rPr lang="en-US" dirty="0"/>
              <a:t> SQL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state </a:t>
            </a:r>
            <a:r>
              <a:rPr lang="en-US" dirty="0" err="1"/>
              <a:t>inviate</a:t>
            </a:r>
            <a:r>
              <a:rPr lang="en-US" dirty="0"/>
              <a:t> al database. In </a:t>
            </a:r>
            <a:r>
              <a:rPr lang="en-US" dirty="0" err="1"/>
              <a:t>particolare</a:t>
            </a:r>
            <a:r>
              <a:rPr lang="en-US" dirty="0"/>
              <a:t>, </a:t>
            </a:r>
            <a:r>
              <a:rPr lang="en-US" dirty="0" err="1"/>
              <a:t>quante</a:t>
            </a:r>
            <a:r>
              <a:rPr lang="en-US" dirty="0"/>
              <a:t> </a:t>
            </a:r>
            <a:r>
              <a:rPr lang="en-US" dirty="0" err="1"/>
              <a:t>istruzioni</a:t>
            </a:r>
            <a:r>
              <a:rPr lang="en-US" dirty="0"/>
              <a:t> SELECT? Ci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differenze</a:t>
            </a:r>
            <a:r>
              <a:rPr lang="en-US" dirty="0"/>
              <a:t> rispetto al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precedente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28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D5A9-14BC-424E-033A-B1CC6987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E7CEDB-9EC5-933D-0801-CF82F615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 (</a:t>
            </a:r>
            <a:r>
              <a:rPr lang="en-US" dirty="0" err="1"/>
              <a:t>parte</a:t>
            </a:r>
            <a:r>
              <a:rPr lang="en-US" dirty="0"/>
              <a:t> 3)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D2D483-CF18-DBA7-17D0-FE18B1D94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 </a:t>
            </a:r>
            <a:r>
              <a:rPr lang="en-US" dirty="0" err="1"/>
              <a:t>impostando</a:t>
            </a:r>
            <a:r>
              <a:rPr lang="en-US" dirty="0"/>
              <a:t>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LAZY</a:t>
            </a:r>
            <a:r>
              <a:rPr lang="en-US" dirty="0"/>
              <a:t> la </a:t>
            </a:r>
            <a:r>
              <a:rPr lang="en-US" dirty="0" err="1"/>
              <a:t>strategia</a:t>
            </a:r>
            <a:r>
              <a:rPr lang="en-US" dirty="0"/>
              <a:t> di fetch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associazione</a:t>
            </a:r>
            <a:r>
              <a:rPr lang="en-US" dirty="0"/>
              <a:t> </a:t>
            </a:r>
            <a:r>
              <a:rPr lang="en-US" dirty="0" err="1"/>
              <a:t>OneToOne</a:t>
            </a:r>
            <a:r>
              <a:rPr lang="en-US" dirty="0"/>
              <a:t> con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Address</a:t>
            </a:r>
            <a:endParaRPr lang="en-US" dirty="0">
              <a:cs typeface="Calibri Light" panose="020F0302020204030204" pitchFamily="34" charset="0"/>
            </a:endParaRPr>
          </a:p>
          <a:p>
            <a:r>
              <a:rPr lang="en-US" dirty="0"/>
              <a:t>Nella </a:t>
            </a:r>
            <a:r>
              <a:rPr lang="en-US" dirty="0" err="1"/>
              <a:t>iterazione</a:t>
            </a:r>
            <a:r>
              <a:rPr lang="en-US" dirty="0"/>
              <a:t>, far </a:t>
            </a:r>
            <a:r>
              <a:rPr lang="en-US" dirty="0" err="1"/>
              <a:t>stampare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i </a:t>
            </a:r>
            <a:r>
              <a:rPr lang="en-US" dirty="0" err="1"/>
              <a:t>dettagli</a:t>
            </a:r>
            <a:r>
              <a:rPr lang="en-US" dirty="0"/>
              <a:t> </a:t>
            </a:r>
            <a:r>
              <a:rPr lang="en-US" dirty="0" err="1"/>
              <a:t>sull'indirizzo</a:t>
            </a:r>
            <a:r>
              <a:rPr lang="en-US" dirty="0"/>
              <a:t> di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oggetto</a:t>
            </a:r>
            <a:endParaRPr lang="en-US" dirty="0"/>
          </a:p>
          <a:p>
            <a:r>
              <a:rPr lang="en-US" dirty="0" err="1"/>
              <a:t>Analizzare</a:t>
            </a:r>
            <a:r>
              <a:rPr lang="en-US" dirty="0"/>
              <a:t> (</a:t>
            </a:r>
            <a:r>
              <a:rPr lang="en-US" dirty="0" err="1"/>
              <a:t>nella</a:t>
            </a:r>
            <a:r>
              <a:rPr lang="en-US" dirty="0"/>
              <a:t> console) le </a:t>
            </a:r>
            <a:r>
              <a:rPr lang="en-US" dirty="0" err="1"/>
              <a:t>istruzioni</a:t>
            </a:r>
            <a:r>
              <a:rPr lang="en-US" dirty="0"/>
              <a:t> SQL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state </a:t>
            </a:r>
            <a:r>
              <a:rPr lang="en-US" dirty="0" err="1"/>
              <a:t>inviate</a:t>
            </a:r>
            <a:r>
              <a:rPr lang="en-US" dirty="0"/>
              <a:t> al database. In </a:t>
            </a:r>
            <a:r>
              <a:rPr lang="en-US" dirty="0" err="1"/>
              <a:t>particolare</a:t>
            </a:r>
            <a:r>
              <a:rPr lang="en-US" dirty="0"/>
              <a:t>, </a:t>
            </a:r>
            <a:r>
              <a:rPr lang="en-US" dirty="0" err="1"/>
              <a:t>quante</a:t>
            </a:r>
            <a:r>
              <a:rPr lang="en-US" dirty="0"/>
              <a:t> </a:t>
            </a:r>
            <a:r>
              <a:rPr lang="en-US" dirty="0" err="1"/>
              <a:t>istruzioni</a:t>
            </a:r>
            <a:r>
              <a:rPr lang="en-US" dirty="0"/>
              <a:t> SELECT? Ci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differenze</a:t>
            </a:r>
            <a:r>
              <a:rPr lang="en-US" dirty="0"/>
              <a:t> rispetto al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precedente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1897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CE837F-0AEC-ED53-1988-0EFCF5E9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DAB3C0-7020-E711-A015-62C1FFEE8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del repository con la con </a:t>
            </a:r>
            <a:r>
              <a:rPr lang="en-US" dirty="0" err="1"/>
              <a:t>convenzione</a:t>
            </a:r>
            <a:r>
              <a:rPr lang="en-US" dirty="0"/>
              <a:t> sui </a:t>
            </a:r>
            <a:r>
              <a:rPr lang="en-US" dirty="0" err="1"/>
              <a:t>nomi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615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50161A-3A49-A808-D1A1-B60828E2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3B4F47-B799-9CEC-0529-69CF4C34F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332037"/>
            <a:ext cx="6525491" cy="4525963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con un </a:t>
            </a:r>
            <a:r>
              <a:rPr lang="en-US" dirty="0" err="1"/>
              <a:t>determinato</a:t>
            </a:r>
            <a:r>
              <a:rPr lang="en-US" dirty="0"/>
              <a:t> </a:t>
            </a:r>
            <a:r>
              <a:rPr lang="en-US" dirty="0" err="1"/>
              <a:t>nome</a:t>
            </a:r>
            <a:endParaRPr lang="en-US" dirty="0"/>
          </a:p>
          <a:p>
            <a:pPr lvl="1"/>
            <a:r>
              <a:rPr lang="en-US" dirty="0"/>
              <a:t>// 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con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cognome</a:t>
            </a:r>
            <a:endParaRPr lang="en-US" dirty="0"/>
          </a:p>
          <a:p>
            <a:pPr lvl="1"/>
            <a:r>
              <a:rPr lang="en-US" dirty="0"/>
              <a:t>// Trova un </a:t>
            </a:r>
            <a:r>
              <a:rPr lang="en-US" dirty="0" err="1"/>
              <a:t>cliente</a:t>
            </a:r>
            <a:r>
              <a:rPr lang="en-US" dirty="0"/>
              <a:t> con </a:t>
            </a:r>
            <a:r>
              <a:rPr lang="en-US" dirty="0" err="1"/>
              <a:t>nome</a:t>
            </a:r>
            <a:r>
              <a:rPr lang="en-US" dirty="0"/>
              <a:t> e </a:t>
            </a:r>
            <a:r>
              <a:rPr lang="en-US" dirty="0" err="1"/>
              <a:t>cognome</a:t>
            </a:r>
            <a:r>
              <a:rPr lang="en-US" dirty="0"/>
              <a:t> </a:t>
            </a:r>
            <a:r>
              <a:rPr lang="en-US" dirty="0" err="1"/>
              <a:t>specifici</a:t>
            </a:r>
            <a:endParaRPr lang="en-US" dirty="0"/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nati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nati</a:t>
            </a:r>
            <a:r>
              <a:rPr lang="en-US" dirty="0"/>
              <a:t> prima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nati</a:t>
            </a:r>
            <a:r>
              <a:rPr lang="en-US" dirty="0"/>
              <a:t> dopo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il cui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inizia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</a:t>
            </a:r>
            <a:r>
              <a:rPr lang="en-US" dirty="0" err="1"/>
              <a:t>stringa</a:t>
            </a:r>
            <a:endParaRPr lang="en-US" dirty="0"/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il cui </a:t>
            </a:r>
            <a:r>
              <a:rPr lang="en-US" dirty="0" err="1"/>
              <a:t>cognome</a:t>
            </a:r>
            <a:r>
              <a:rPr lang="en-US" dirty="0"/>
              <a:t> termina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</a:t>
            </a:r>
            <a:r>
              <a:rPr lang="en-US" dirty="0" err="1"/>
              <a:t>stringa</a:t>
            </a:r>
            <a:endParaRPr lang="en-US" dirty="0"/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il cui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contiene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</a:t>
            </a:r>
            <a:r>
              <a:rPr lang="en-US" dirty="0" err="1"/>
              <a:t>stringa</a:t>
            </a:r>
            <a:endParaRPr lang="en-US" dirty="0"/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con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diverso</a:t>
            </a:r>
            <a:r>
              <a:rPr lang="en-US" dirty="0"/>
              <a:t> da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valore</a:t>
            </a:r>
            <a:endParaRPr lang="en-US" dirty="0"/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con </a:t>
            </a:r>
            <a:r>
              <a:rPr lang="en-US" dirty="0" err="1"/>
              <a:t>nome</a:t>
            </a:r>
            <a:r>
              <a:rPr lang="en-US" dirty="0"/>
              <a:t> o </a:t>
            </a:r>
            <a:r>
              <a:rPr lang="en-US" dirty="0" err="1"/>
              <a:t>cognome</a:t>
            </a:r>
            <a:r>
              <a:rPr lang="en-US" dirty="0"/>
              <a:t> </a:t>
            </a:r>
            <a:r>
              <a:rPr lang="en-US" dirty="0" err="1"/>
              <a:t>uguale</a:t>
            </a:r>
            <a:r>
              <a:rPr lang="en-US" dirty="0"/>
              <a:t> a un </a:t>
            </a:r>
            <a:r>
              <a:rPr lang="en-US" dirty="0" err="1"/>
              <a:t>valore</a:t>
            </a:r>
            <a:endParaRPr lang="en-US" dirty="0"/>
          </a:p>
          <a:p>
            <a:pPr lvl="1"/>
            <a:r>
              <a:rPr lang="en-US" dirty="0"/>
              <a:t>// Trova tutti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ordinati</a:t>
            </a:r>
            <a:r>
              <a:rPr lang="en-US" dirty="0"/>
              <a:t> per </a:t>
            </a:r>
            <a:r>
              <a:rPr lang="en-US" dirty="0" err="1"/>
              <a:t>cognome</a:t>
            </a:r>
            <a:endParaRPr lang="en-US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1B6183F-0833-ECFB-D9CB-A1B13634E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2" y="2332037"/>
            <a:ext cx="5994398" cy="4525963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US" dirty="0"/>
              <a:t>// Conta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nome</a:t>
            </a:r>
            <a:endParaRPr lang="en-US" dirty="0"/>
          </a:p>
          <a:p>
            <a:pPr lvl="1"/>
            <a:r>
              <a:rPr lang="en-US" dirty="0"/>
              <a:t>// Conta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cognome</a:t>
            </a:r>
            <a:endParaRPr lang="en-US" dirty="0"/>
          </a:p>
          <a:p>
            <a:pPr lvl="1"/>
            <a:r>
              <a:rPr lang="en-US" dirty="0"/>
              <a:t>// Conta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 e </a:t>
            </a:r>
            <a:r>
              <a:rPr lang="en-US" dirty="0" err="1"/>
              <a:t>cognome</a:t>
            </a:r>
            <a:endParaRPr lang="en-US" dirty="0"/>
          </a:p>
          <a:p>
            <a:pPr lvl="1"/>
            <a:r>
              <a:rPr lang="en-US" dirty="0"/>
              <a:t>// Conta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nati</a:t>
            </a:r>
            <a:r>
              <a:rPr lang="en-US" dirty="0"/>
              <a:t> prima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// Conta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un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inizia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</a:t>
            </a:r>
            <a:r>
              <a:rPr lang="en-US" dirty="0" err="1"/>
              <a:t>stringa</a:t>
            </a:r>
            <a:endParaRPr lang="en-US" dirty="0"/>
          </a:p>
          <a:p>
            <a:pPr lvl="1"/>
            <a:r>
              <a:rPr lang="en-US" dirty="0"/>
              <a:t>// Conta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un </a:t>
            </a:r>
            <a:r>
              <a:rPr lang="en-US" dirty="0" err="1"/>
              <a:t>cognome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termina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certa</a:t>
            </a:r>
            <a:r>
              <a:rPr lang="en-US" dirty="0"/>
              <a:t> </a:t>
            </a:r>
            <a:r>
              <a:rPr lang="en-US" dirty="0" err="1"/>
              <a:t>stringa</a:t>
            </a:r>
            <a:endParaRPr lang="en-US" dirty="0"/>
          </a:p>
          <a:p>
            <a:pPr lvl="1"/>
            <a:r>
              <a:rPr lang="en-US" dirty="0"/>
              <a:t>// Conta </a:t>
            </a:r>
            <a:r>
              <a:rPr lang="en-US" dirty="0" err="1"/>
              <a:t>quanti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un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diverso</a:t>
            </a:r>
            <a:r>
              <a:rPr lang="en-US" dirty="0"/>
              <a:t> da un </a:t>
            </a:r>
            <a:r>
              <a:rPr lang="en-US" dirty="0" err="1"/>
              <a:t>certo</a:t>
            </a:r>
            <a:r>
              <a:rPr lang="en-US" dirty="0"/>
              <a:t> </a:t>
            </a:r>
            <a:r>
              <a:rPr lang="en-US" dirty="0" err="1"/>
              <a:t>valore</a:t>
            </a: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D999D8-5A88-414E-A51F-4DCBACCB0F84}"/>
              </a:ext>
            </a:extLst>
          </p:cNvPr>
          <p:cNvSpPr txBox="1"/>
          <p:nvPr/>
        </p:nvSpPr>
        <p:spPr>
          <a:xfrm>
            <a:off x="1080655" y="1417639"/>
            <a:ext cx="8662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Scrivere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interface </a:t>
            </a:r>
            <a:r>
              <a:rPr lang="en-US" dirty="0" err="1"/>
              <a:t>CustomerRepository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implementano</a:t>
            </a:r>
            <a:r>
              <a:rPr lang="en-US" dirty="0"/>
              <a:t> </a:t>
            </a:r>
            <a:r>
              <a:rPr lang="en-US" dirty="0" err="1"/>
              <a:t>queste</a:t>
            </a:r>
            <a:r>
              <a:rPr lang="en-US" dirty="0"/>
              <a:t> </a:t>
            </a:r>
            <a:r>
              <a:rPr lang="en-US" dirty="0" err="1"/>
              <a:t>operazioni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501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78D002-8DD6-E674-0C56-4080A3744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11B905-7EAF-4347-0828-81D07BEB8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Popolare</a:t>
            </a:r>
            <a:r>
              <a:rPr lang="en-US" dirty="0"/>
              <a:t> il database e </a:t>
            </a:r>
            <a:r>
              <a:rPr lang="en-US" dirty="0" err="1"/>
              <a:t>verificare</a:t>
            </a:r>
            <a:r>
              <a:rPr lang="en-US" dirty="0"/>
              <a:t> il </a:t>
            </a:r>
            <a:r>
              <a:rPr lang="en-US" dirty="0" err="1"/>
              <a:t>funzionamento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metodi</a:t>
            </a:r>
            <a:r>
              <a:rPr lang="en-US" dirty="0"/>
              <a:t> del repository</a:t>
            </a:r>
          </a:p>
        </p:txBody>
      </p:sp>
    </p:spTree>
    <p:extLst>
      <p:ext uri="{BB962C8B-B14F-4D97-AF65-F5344CB8AC3E}">
        <p14:creationId xmlns:p14="http://schemas.microsoft.com/office/powerpoint/2010/main" val="229116867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5988</TotalTime>
  <Words>980</Words>
  <Application>Microsoft Macintosh PowerPoint</Application>
  <PresentationFormat>Widescreen</PresentationFormat>
  <Paragraphs>120</Paragraphs>
  <Slides>17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 Light</vt:lpstr>
      <vt:lpstr>Consolas</vt:lpstr>
      <vt:lpstr>Menlo</vt:lpstr>
      <vt:lpstr>1_Tema di Office</vt:lpstr>
      <vt:lpstr>Sistemi informativi su Web Esercizione Persistenza aa 2024-2024 </vt:lpstr>
      <vt:lpstr>Esempio</vt:lpstr>
      <vt:lpstr>Operazioni Base</vt:lpstr>
      <vt:lpstr>Operazioni Base</vt:lpstr>
      <vt:lpstr>Esercizio 1</vt:lpstr>
      <vt:lpstr>Esercizio 1</vt:lpstr>
      <vt:lpstr>Esercizio 2</vt:lpstr>
      <vt:lpstr>Esercizio 2</vt:lpstr>
      <vt:lpstr>Esercizio 2 (cont.)</vt:lpstr>
      <vt:lpstr>Esercizio 3</vt:lpstr>
      <vt:lpstr>Esercizio 3: preparazione</vt:lpstr>
      <vt:lpstr>Esercizio 3 (parte 1)</vt:lpstr>
      <vt:lpstr>Esercizio 3 (parte 2)</vt:lpstr>
      <vt:lpstr>Esercizio 3 (parte 3)</vt:lpstr>
      <vt:lpstr>Esercizio 4</vt:lpstr>
      <vt:lpstr>Esercizio 4</vt:lpstr>
      <vt:lpstr>Esercizio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informativi su Web Gestione Persistenza:  Spring Repository, JPQL aa 2023-2024 </dc:title>
  <dc:creator>Paolo Merialdo</dc:creator>
  <cp:lastModifiedBy>Paolo Merialdo</cp:lastModifiedBy>
  <cp:revision>8</cp:revision>
  <dcterms:created xsi:type="dcterms:W3CDTF">2024-03-13T16:58:36Z</dcterms:created>
  <dcterms:modified xsi:type="dcterms:W3CDTF">2025-04-01T06:26:17Z</dcterms:modified>
</cp:coreProperties>
</file>