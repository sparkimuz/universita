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427" r:id="rId2"/>
    <p:sldId id="626" r:id="rId3"/>
    <p:sldId id="517" r:id="rId4"/>
    <p:sldId id="566" r:id="rId5"/>
    <p:sldId id="567" r:id="rId6"/>
    <p:sldId id="521" r:id="rId7"/>
    <p:sldId id="564" r:id="rId8"/>
    <p:sldId id="597" r:id="rId9"/>
    <p:sldId id="598" r:id="rId10"/>
    <p:sldId id="623" r:id="rId11"/>
    <p:sldId id="624" r:id="rId12"/>
    <p:sldId id="599" r:id="rId13"/>
    <p:sldId id="600" r:id="rId14"/>
    <p:sldId id="604" r:id="rId15"/>
    <p:sldId id="605" r:id="rId16"/>
    <p:sldId id="622" r:id="rId17"/>
    <p:sldId id="630" r:id="rId18"/>
    <p:sldId id="627" r:id="rId19"/>
    <p:sldId id="401" r:id="rId20"/>
    <p:sldId id="625" r:id="rId21"/>
    <p:sldId id="628" r:id="rId22"/>
    <p:sldId id="402" r:id="rId23"/>
    <p:sldId id="403" r:id="rId24"/>
    <p:sldId id="404" r:id="rId25"/>
    <p:sldId id="435" r:id="rId26"/>
    <p:sldId id="405" r:id="rId27"/>
    <p:sldId id="440" r:id="rId28"/>
    <p:sldId id="460" r:id="rId29"/>
    <p:sldId id="461" r:id="rId30"/>
    <p:sldId id="417" r:id="rId31"/>
    <p:sldId id="419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FA0ED-4DC8-D547-AC28-85133D357AA9}" v="2" dt="2025-03-27T09:33:57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02" d="100"/>
          <a:sy n="102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E6EAC-CBB9-BD42-88AD-E8F9FE6D97A9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8535E-12EC-9C48-8F0B-EF35AC1532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EB111A-9E8D-AE42-AF40-7D7AD69A6457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6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8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9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1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8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1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0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0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6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5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stile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7B0733A9-B2C3-AE47-8657-BBD3860B180D}" type="datetimeFigureOut">
              <a:rPr lang="it-IT" smtClean="0"/>
              <a:pPr/>
              <a:t>27/03/25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9996DE83-5E11-5147-A804-09247BE1F2B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54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eaaCatalog/repository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data/commons/docs/current/api/org/springframework/data/repository/CrudRepository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pring.io/spring-data/commons/docs/current/api/org/springframework/data/repository/CrudRepository.html#deleteAllById-java.lang.Iterable-" TargetMode="External"/><Relationship Id="rId13" Type="http://schemas.openxmlformats.org/officeDocument/2006/relationships/hyperlink" Target="https://docs.oracle.com/javase/8/docs/api/java/util/Optional.html?is-external=true" TargetMode="External"/><Relationship Id="rId3" Type="http://schemas.openxmlformats.org/officeDocument/2006/relationships/hyperlink" Target="https://docs.spring.io/spring-data/commons/docs/current/api/org/springframework/data/repository/CrudRepository.html#delete-T-" TargetMode="External"/><Relationship Id="rId7" Type="http://schemas.openxmlformats.org/officeDocument/2006/relationships/hyperlink" Target="https://docs.oracle.com/javase/8/docs/api/java/lang/Iterable.html?is-external=true" TargetMode="External"/><Relationship Id="rId12" Type="http://schemas.openxmlformats.org/officeDocument/2006/relationships/hyperlink" Target="https://docs.spring.io/spring-data/commons/docs/current/api/org/springframework/data/repository/CrudRepository.html#findAllById-java.lang.Iterable-" TargetMode="External"/><Relationship Id="rId2" Type="http://schemas.openxmlformats.org/officeDocument/2006/relationships/hyperlink" Target="https://docs.spring.io/spring-data/commons/docs/current/api/org/springframework/data/repository/CrudRepository.html#count--" TargetMode="External"/><Relationship Id="rId16" Type="http://schemas.openxmlformats.org/officeDocument/2006/relationships/hyperlink" Target="https://docs.spring.io/spring-data/commons/docs/current/api/org/springframework/data/repository/CrudRepository.html#saveAll-java.lang.Iterable-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pring.io/spring-data/commons/docs/current/api/org/springframework/data/repository/CrudRepository.html#deleteAll-java.lang.Iterable-" TargetMode="External"/><Relationship Id="rId11" Type="http://schemas.openxmlformats.org/officeDocument/2006/relationships/hyperlink" Target="https://docs.spring.io/spring-data/commons/docs/current/api/org/springframework/data/repository/CrudRepository.html#findAll--" TargetMode="External"/><Relationship Id="rId5" Type="http://schemas.openxmlformats.org/officeDocument/2006/relationships/hyperlink" Target="https://docs.spring.io/spring-data/commons/docs/current/api/org/springframework/data/repository/CrudRepository.html#deleteAll--" TargetMode="External"/><Relationship Id="rId15" Type="http://schemas.openxmlformats.org/officeDocument/2006/relationships/hyperlink" Target="https://docs.spring.io/spring-data/commons/docs/current/api/org/springframework/data/repository/CrudRepository.html#save-S-" TargetMode="External"/><Relationship Id="rId10" Type="http://schemas.openxmlformats.org/officeDocument/2006/relationships/hyperlink" Target="https://docs.spring.io/spring-data/commons/docs/current/api/org/springframework/data/repository/CrudRepository.html#existsById-ID-" TargetMode="External"/><Relationship Id="rId4" Type="http://schemas.openxmlformats.org/officeDocument/2006/relationships/hyperlink" Target="https://docs.spring.io/spring-data/commons/docs/current/api/org/springframework/data/repository/CrudRepository.html" TargetMode="External"/><Relationship Id="rId9" Type="http://schemas.openxmlformats.org/officeDocument/2006/relationships/hyperlink" Target="https://docs.spring.io/spring-data/commons/docs/current/api/org/springframework/data/repository/CrudRepository.html#deleteById-ID-" TargetMode="External"/><Relationship Id="rId14" Type="http://schemas.openxmlformats.org/officeDocument/2006/relationships/hyperlink" Target="https://docs.spring.io/spring-data/commons/docs/current/api/org/springframework/data/repository/CrudRepository.html#findById-ID-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data/commons/docs/current/api/org/springframework/data/repository/CrudRepository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data/jpa/reference/repositories/query-keywords-reference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1175" y="1454889"/>
            <a:ext cx="9237048" cy="1468967"/>
          </a:xfrm>
          <a:extLst>
            <a:ext uri="{91240B29-F687-4f45-9708-019B960494DF}">
              <a14:hiddenLine xmlns=""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it-IT" sz="2000" dirty="0">
                <a:cs typeface="Calibri Light" panose="020F0302020204030204" pitchFamily="34" charset="0"/>
              </a:rPr>
              <a:t>Sistemi informativi su Web</a:t>
            </a:r>
            <a:br>
              <a:rPr lang="it-IT" sz="2000" dirty="0"/>
            </a:b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Gestione Persistenza: Spring Repository</a:t>
            </a:r>
            <a:b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3200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aa 2024-2025</a:t>
            </a:r>
            <a:br>
              <a:rPr lang="it-IT" dirty="0">
                <a:latin typeface="Calibri Light" panose="020F0302020204030204" pitchFamily="34" charset="0"/>
              </a:rPr>
            </a:br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895600" y="6324601"/>
            <a:ext cx="66963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09585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This work is licensed under a Creative Commons Attribution-Noncommercial-Share Alike 3.0 United States</a:t>
            </a:r>
            <a:b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</a:b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See http://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creativecommons.org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/licenses/by-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nc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-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sa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/3.0/us/ for details</a:t>
            </a:r>
          </a:p>
        </p:txBody>
      </p:sp>
      <p:pic>
        <p:nvPicPr>
          <p:cNvPr id="5" name="Picture 13" descr="creative-commo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5600" y="6324601"/>
            <a:ext cx="11176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086" y="4001343"/>
            <a:ext cx="941271" cy="511424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5399865" y="3908734"/>
            <a:ext cx="3059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/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Paolo Merialdo</a:t>
            </a:r>
          </a:p>
          <a:p>
            <a:pPr defTabSz="609585"/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Università degli Studi Roma Tre</a:t>
            </a:r>
          </a:p>
        </p:txBody>
      </p:sp>
    </p:spTree>
    <p:extLst>
      <p:ext uri="{BB962C8B-B14F-4D97-AF65-F5344CB8AC3E}">
        <p14:creationId xmlns:p14="http://schemas.microsoft.com/office/powerpoint/2010/main" val="421165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D63FD9-EE63-5A16-131C-EF818D2B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Sommario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73261A-3149-9B08-7E27-7CC54F44A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  <a:p>
            <a:r>
              <a:rPr lang="en-US" dirty="0"/>
              <a:t>JPA </a:t>
            </a:r>
            <a:r>
              <a:rPr lang="en-US" dirty="0" err="1"/>
              <a:t>CrudRepository</a:t>
            </a:r>
            <a:endParaRPr lang="en-US" dirty="0"/>
          </a:p>
          <a:p>
            <a:pPr lvl="1"/>
            <a:r>
              <a:rPr lang="en-US" dirty="0"/>
              <a:t>Il </a:t>
            </a:r>
            <a:r>
              <a:rPr lang="en-US" dirty="0" err="1"/>
              <a:t>metodo</a:t>
            </a:r>
            <a:r>
              <a:rPr lang="en-US" dirty="0"/>
              <a:t> save()</a:t>
            </a:r>
          </a:p>
          <a:p>
            <a:pPr lvl="1"/>
            <a:r>
              <a:rPr lang="en-US" dirty="0" err="1"/>
              <a:t>Costruzione</a:t>
            </a:r>
            <a:r>
              <a:rPr lang="en-US" dirty="0"/>
              <a:t> di query</a:t>
            </a:r>
          </a:p>
          <a:p>
            <a:pPr lvl="1"/>
            <a:r>
              <a:rPr lang="en-US" dirty="0"/>
              <a:t>Custom query</a:t>
            </a:r>
          </a:p>
          <a:p>
            <a:r>
              <a:rPr lang="en-US" dirty="0" err="1"/>
              <a:t>Eventi</a:t>
            </a:r>
            <a:r>
              <a:rPr lang="en-US" dirty="0"/>
              <a:t> in </a:t>
            </a:r>
            <a:r>
              <a:rPr lang="en-US" dirty="0" err="1"/>
              <a:t>cascata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82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pattern </a:t>
            </a:r>
            <a:r>
              <a:rPr lang="it-IT" dirty="0" err="1"/>
              <a:t>Repository</a:t>
            </a:r>
            <a:r>
              <a:rPr lang="it-IT" dirty="0"/>
              <a:t> viene usato negli approcci Domain </a:t>
            </a:r>
            <a:r>
              <a:rPr lang="it-IT" dirty="0" err="1"/>
              <a:t>Driven</a:t>
            </a:r>
            <a:r>
              <a:rPr lang="it-IT" dirty="0"/>
              <a:t> Design (DDD)</a:t>
            </a:r>
          </a:p>
          <a:p>
            <a:r>
              <a:rPr lang="it-IT" dirty="0"/>
              <a:t>I </a:t>
            </a:r>
            <a:r>
              <a:rPr lang="it-IT" dirty="0" err="1"/>
              <a:t>repository</a:t>
            </a:r>
            <a:r>
              <a:rPr lang="it-IT" dirty="0"/>
              <a:t> sono oggetti che incapsulano la logica necessaria per l'accesso al database</a:t>
            </a:r>
          </a:p>
          <a:p>
            <a:r>
              <a:rPr lang="it-IT" dirty="0"/>
              <a:t>Favoriscono la manutenibilità del codice disaccoppiando la tecnologia utilizzata per accedere al database dal modello di dominio </a:t>
            </a:r>
          </a:p>
        </p:txBody>
      </p:sp>
    </p:spTree>
    <p:extLst>
      <p:ext uri="{BB962C8B-B14F-4D97-AF65-F5344CB8AC3E}">
        <p14:creationId xmlns:p14="http://schemas.microsoft.com/office/powerpoint/2010/main" val="26876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6DBB2C-6A89-D348-A520-DD58D15C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 pattern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4F99F7-96A7-9146-8B41-438C52E51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Martin Fowler </a:t>
            </a:r>
            <a:r>
              <a:rPr lang="en-US" dirty="0" err="1"/>
              <a:t>descrive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pattern repository </a:t>
            </a:r>
            <a:r>
              <a:rPr lang="en-US" dirty="0" err="1"/>
              <a:t>così</a:t>
            </a:r>
            <a:r>
              <a:rPr lang="en-US" dirty="0"/>
              <a:t>:</a:t>
            </a:r>
          </a:p>
          <a:p>
            <a:pPr lvl="1"/>
            <a:r>
              <a:rPr lang="it-IT" i="1" dirty="0"/>
              <a:t>A </a:t>
            </a:r>
            <a:r>
              <a:rPr lang="it-IT" i="1" dirty="0" err="1"/>
              <a:t>repository</a:t>
            </a:r>
            <a:r>
              <a:rPr lang="it-IT" i="1" dirty="0"/>
              <a:t> </a:t>
            </a:r>
            <a:r>
              <a:rPr lang="it-IT" i="1" dirty="0" err="1"/>
              <a:t>performs</a:t>
            </a:r>
            <a:r>
              <a:rPr lang="it-IT" i="1" dirty="0"/>
              <a:t> the </a:t>
            </a:r>
            <a:r>
              <a:rPr lang="it-IT" i="1" dirty="0" err="1"/>
              <a:t>tasks</a:t>
            </a:r>
            <a:r>
              <a:rPr lang="it-IT" i="1" dirty="0"/>
              <a:t> of an </a:t>
            </a:r>
            <a:r>
              <a:rPr lang="it-IT" b="1" i="1" dirty="0" err="1"/>
              <a:t>intermediary</a:t>
            </a:r>
            <a:r>
              <a:rPr lang="it-IT" b="1" i="1" dirty="0"/>
              <a:t> </a:t>
            </a:r>
            <a:r>
              <a:rPr lang="it-IT" b="1" i="1" dirty="0" err="1"/>
              <a:t>between</a:t>
            </a:r>
            <a:r>
              <a:rPr lang="it-IT" b="1" i="1" dirty="0"/>
              <a:t> the domain model </a:t>
            </a:r>
            <a:r>
              <a:rPr lang="it-IT" b="1" i="1" dirty="0" err="1"/>
              <a:t>layers</a:t>
            </a:r>
            <a:r>
              <a:rPr lang="it-IT" b="1" i="1" dirty="0"/>
              <a:t> and data </a:t>
            </a:r>
            <a:r>
              <a:rPr lang="it-IT" b="1" i="1" dirty="0" err="1"/>
              <a:t>mapping</a:t>
            </a:r>
            <a:r>
              <a:rPr lang="it-IT" i="1" dirty="0"/>
              <a:t>, </a:t>
            </a:r>
            <a:r>
              <a:rPr lang="it-IT" i="1" dirty="0" err="1"/>
              <a:t>acting</a:t>
            </a:r>
            <a:r>
              <a:rPr lang="it-IT" i="1" dirty="0"/>
              <a:t> in a </a:t>
            </a:r>
            <a:r>
              <a:rPr lang="it-IT" i="1" dirty="0" err="1"/>
              <a:t>similar</a:t>
            </a:r>
            <a:r>
              <a:rPr lang="it-IT" i="1" dirty="0"/>
              <a:t> way to </a:t>
            </a:r>
            <a:r>
              <a:rPr lang="it-IT" b="1" i="1" dirty="0"/>
              <a:t>a set of domain </a:t>
            </a:r>
            <a:r>
              <a:rPr lang="it-IT" b="1" i="1" dirty="0" err="1"/>
              <a:t>objects</a:t>
            </a:r>
            <a:r>
              <a:rPr lang="it-IT" b="1" i="1" dirty="0"/>
              <a:t> in </a:t>
            </a:r>
            <a:r>
              <a:rPr lang="it-IT" b="1" i="1" dirty="0" err="1"/>
              <a:t>memory</a:t>
            </a:r>
            <a:endParaRPr lang="it-IT" b="1" i="1" dirty="0"/>
          </a:p>
          <a:p>
            <a:pPr lvl="1"/>
            <a:r>
              <a:rPr lang="it-IT" i="1" dirty="0" err="1"/>
              <a:t>Conceptually</a:t>
            </a:r>
            <a:r>
              <a:rPr lang="it-IT" i="1" dirty="0"/>
              <a:t>, a </a:t>
            </a:r>
            <a:r>
              <a:rPr lang="it-IT" i="1" dirty="0" err="1"/>
              <a:t>repository</a:t>
            </a:r>
            <a:r>
              <a:rPr lang="it-IT" i="1" dirty="0"/>
              <a:t> </a:t>
            </a:r>
            <a:r>
              <a:rPr lang="it-IT" i="1" dirty="0" err="1"/>
              <a:t>encapsulates</a:t>
            </a:r>
            <a:r>
              <a:rPr lang="it-IT" i="1" dirty="0"/>
              <a:t> a set of </a:t>
            </a:r>
            <a:r>
              <a:rPr lang="it-IT" i="1" dirty="0" err="1"/>
              <a:t>objects</a:t>
            </a:r>
            <a:r>
              <a:rPr lang="it-IT" i="1" dirty="0"/>
              <a:t> </a:t>
            </a:r>
            <a:r>
              <a:rPr lang="it-IT" i="1" dirty="0" err="1"/>
              <a:t>stored</a:t>
            </a:r>
            <a:r>
              <a:rPr lang="it-IT" i="1" dirty="0"/>
              <a:t> in the database and </a:t>
            </a:r>
            <a:r>
              <a:rPr lang="it-IT" i="1" dirty="0" err="1"/>
              <a:t>operations</a:t>
            </a:r>
            <a:r>
              <a:rPr lang="it-IT" i="1" dirty="0"/>
              <a:t> </a:t>
            </a:r>
            <a:r>
              <a:rPr lang="it-IT" i="1" dirty="0" err="1"/>
              <a:t>that</a:t>
            </a:r>
            <a:r>
              <a:rPr lang="it-IT" i="1" dirty="0"/>
              <a:t> can be </a:t>
            </a:r>
            <a:r>
              <a:rPr lang="it-IT" i="1" dirty="0" err="1"/>
              <a:t>performed</a:t>
            </a:r>
            <a:r>
              <a:rPr lang="it-IT" i="1" dirty="0"/>
              <a:t> on </a:t>
            </a:r>
            <a:r>
              <a:rPr lang="it-IT" i="1" dirty="0" err="1"/>
              <a:t>them</a:t>
            </a:r>
            <a:r>
              <a:rPr lang="it-IT" i="1" dirty="0"/>
              <a:t>, </a:t>
            </a:r>
            <a:r>
              <a:rPr lang="it-IT" i="1" dirty="0" err="1"/>
              <a:t>providing</a:t>
            </a:r>
            <a:r>
              <a:rPr lang="it-IT" i="1" dirty="0"/>
              <a:t> a way </a:t>
            </a:r>
            <a:r>
              <a:rPr lang="it-IT" i="1" dirty="0" err="1"/>
              <a:t>that</a:t>
            </a:r>
            <a:r>
              <a:rPr lang="it-IT" i="1" dirty="0"/>
              <a:t> </a:t>
            </a:r>
            <a:r>
              <a:rPr lang="it-IT" i="1" dirty="0" err="1"/>
              <a:t>is</a:t>
            </a:r>
            <a:r>
              <a:rPr lang="it-IT" i="1" dirty="0"/>
              <a:t> </a:t>
            </a:r>
            <a:r>
              <a:rPr lang="it-IT" i="1" dirty="0" err="1"/>
              <a:t>closer</a:t>
            </a:r>
            <a:r>
              <a:rPr lang="it-IT" i="1" dirty="0"/>
              <a:t> to the </a:t>
            </a:r>
            <a:r>
              <a:rPr lang="it-IT" i="1" dirty="0" err="1"/>
              <a:t>persistence</a:t>
            </a:r>
            <a:r>
              <a:rPr lang="it-IT" i="1" dirty="0"/>
              <a:t> </a:t>
            </a:r>
            <a:r>
              <a:rPr lang="it-IT" i="1" dirty="0" err="1"/>
              <a:t>layer</a:t>
            </a:r>
            <a:endParaRPr lang="it-IT" i="1" dirty="0"/>
          </a:p>
          <a:p>
            <a:pPr lvl="1"/>
            <a:r>
              <a:rPr lang="it-IT" i="1" dirty="0" err="1"/>
              <a:t>Repositories</a:t>
            </a:r>
            <a:r>
              <a:rPr lang="it-IT" i="1" dirty="0"/>
              <a:t>, </a:t>
            </a:r>
            <a:r>
              <a:rPr lang="it-IT" i="1" dirty="0" err="1"/>
              <a:t>also</a:t>
            </a:r>
            <a:r>
              <a:rPr lang="it-IT" i="1" dirty="0"/>
              <a:t>, </a:t>
            </a:r>
            <a:r>
              <a:rPr lang="it-IT" i="1" dirty="0" err="1"/>
              <a:t>support</a:t>
            </a:r>
            <a:r>
              <a:rPr lang="it-IT" i="1" dirty="0"/>
              <a:t> the </a:t>
            </a:r>
            <a:r>
              <a:rPr lang="it-IT" i="1" dirty="0" err="1"/>
              <a:t>purpose</a:t>
            </a:r>
            <a:r>
              <a:rPr lang="it-IT" i="1" dirty="0"/>
              <a:t> of </a:t>
            </a:r>
            <a:r>
              <a:rPr lang="it-IT" i="1" dirty="0" err="1"/>
              <a:t>separating</a:t>
            </a:r>
            <a:r>
              <a:rPr lang="it-IT" i="1" dirty="0"/>
              <a:t>, </a:t>
            </a:r>
            <a:r>
              <a:rPr lang="it-IT" i="1" dirty="0" err="1"/>
              <a:t>clearly</a:t>
            </a:r>
            <a:r>
              <a:rPr lang="it-IT" i="1" dirty="0"/>
              <a:t> and in </a:t>
            </a:r>
            <a:r>
              <a:rPr lang="it-IT" i="1" dirty="0" err="1"/>
              <a:t>one</a:t>
            </a:r>
            <a:r>
              <a:rPr lang="it-IT" i="1" dirty="0"/>
              <a:t> </a:t>
            </a:r>
            <a:r>
              <a:rPr lang="it-IT" i="1" dirty="0" err="1"/>
              <a:t>direction</a:t>
            </a:r>
            <a:r>
              <a:rPr lang="it-IT" i="1" dirty="0"/>
              <a:t>, the </a:t>
            </a:r>
            <a:r>
              <a:rPr lang="it-IT" i="1" dirty="0" err="1"/>
              <a:t>dependency</a:t>
            </a:r>
            <a:r>
              <a:rPr lang="it-IT" i="1" dirty="0"/>
              <a:t> </a:t>
            </a:r>
            <a:r>
              <a:rPr lang="it-IT" i="1" dirty="0" err="1"/>
              <a:t>between</a:t>
            </a:r>
            <a:r>
              <a:rPr lang="it-IT" i="1" dirty="0"/>
              <a:t> the work domain and the data </a:t>
            </a:r>
            <a:r>
              <a:rPr lang="it-IT" i="1" dirty="0" err="1"/>
              <a:t>allocation</a:t>
            </a:r>
            <a:r>
              <a:rPr lang="it-IT" i="1" dirty="0"/>
              <a:t> or </a:t>
            </a:r>
            <a:r>
              <a:rPr lang="it-IT" i="1" dirty="0" err="1"/>
              <a:t>mapping</a:t>
            </a:r>
            <a:endParaRPr lang="en-US" i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B19A0AA-5D03-7444-B725-79474DFC3C39}"/>
              </a:ext>
            </a:extLst>
          </p:cNvPr>
          <p:cNvSpPr txBox="1"/>
          <p:nvPr/>
        </p:nvSpPr>
        <p:spPr>
          <a:xfrm>
            <a:off x="6096000" y="6172992"/>
            <a:ext cx="531671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latin typeface="Calibri Light" panose="020F0302020204030204" pitchFamily="34" charset="0"/>
                <a:hlinkClick r:id="rId2"/>
              </a:rPr>
              <a:t>https://martinfowler.com/eaaCatalog/repository.html</a:t>
            </a:r>
            <a:endParaRPr lang="en-US" sz="1867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45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0BB1E9-827F-5543-AD1E-413610E9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 pattern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DBE6FA-5F9A-2648-B6A6-FC0BE41C6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Possiamo</a:t>
            </a:r>
            <a:r>
              <a:rPr lang="en-US" dirty="0"/>
              <a:t> </a:t>
            </a:r>
            <a:r>
              <a:rPr lang="en-US" dirty="0" err="1"/>
              <a:t>pensare</a:t>
            </a:r>
            <a:r>
              <a:rPr lang="en-US" dirty="0"/>
              <a:t> un repository come ad una </a:t>
            </a:r>
            <a:r>
              <a:rPr lang="en-US" dirty="0" err="1"/>
              <a:t>collezione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endParaRPr lang="en-US" dirty="0"/>
          </a:p>
          <a:p>
            <a:pPr lvl="1"/>
            <a:r>
              <a:rPr lang="en-US" dirty="0"/>
              <a:t>Il </a:t>
            </a:r>
            <a:r>
              <a:rPr lang="en-US" dirty="0" err="1"/>
              <a:t>programmatore</a:t>
            </a:r>
            <a:r>
              <a:rPr lang="en-US" dirty="0"/>
              <a:t>/</a:t>
            </a:r>
            <a:r>
              <a:rPr lang="en-US" dirty="0" err="1"/>
              <a:t>utilizzatore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repository senza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richiesto</a:t>
            </a:r>
            <a:r>
              <a:rPr lang="en-US" dirty="0"/>
              <a:t> di </a:t>
            </a:r>
            <a:r>
              <a:rPr lang="en-US" dirty="0" err="1"/>
              <a:t>conoscere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dettagli</a:t>
            </a:r>
            <a:r>
              <a:rPr lang="en-US" dirty="0"/>
              <a:t> di come </a:t>
            </a:r>
            <a:r>
              <a:rPr lang="en-US" dirty="0" err="1"/>
              <a:t>internamente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gestita</a:t>
            </a:r>
            <a:r>
              <a:rPr lang="en-US" dirty="0"/>
              <a:t> la </a:t>
            </a:r>
            <a:r>
              <a:rPr lang="en-US" dirty="0" err="1"/>
              <a:t>persistenza</a:t>
            </a:r>
            <a:endParaRPr lang="en-US" dirty="0"/>
          </a:p>
          <a:p>
            <a:r>
              <a:rPr lang="en-US" dirty="0" err="1"/>
              <a:t>Definiamo</a:t>
            </a:r>
            <a:r>
              <a:rPr lang="en-US" dirty="0"/>
              <a:t> una </a:t>
            </a:r>
            <a:r>
              <a:rPr lang="en-US" dirty="0" err="1"/>
              <a:t>classe</a:t>
            </a:r>
            <a:r>
              <a:rPr lang="en-US" dirty="0"/>
              <a:t> Repository per (la </a:t>
            </a:r>
            <a:r>
              <a:rPr lang="en-US" dirty="0" err="1"/>
              <a:t>radice</a:t>
            </a:r>
            <a:r>
              <a:rPr lang="en-US" dirty="0"/>
              <a:t> di)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aggregato</a:t>
            </a:r>
            <a:r>
              <a:rPr lang="en-US" dirty="0"/>
              <a:t> del </a:t>
            </a:r>
            <a:r>
              <a:rPr lang="en-US" dirty="0" err="1"/>
              <a:t>modello</a:t>
            </a:r>
            <a:r>
              <a:rPr lang="en-US" dirty="0"/>
              <a:t> di </a:t>
            </a:r>
            <a:r>
              <a:rPr lang="en-US" dirty="0" err="1"/>
              <a:t>dominio</a:t>
            </a:r>
            <a:endParaRPr lang="en-US" dirty="0"/>
          </a:p>
          <a:p>
            <a:r>
              <a:rPr lang="en-US" dirty="0"/>
              <a:t>Il repository </a:t>
            </a:r>
            <a:r>
              <a:rPr lang="en-US" dirty="0" err="1"/>
              <a:t>offre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per </a:t>
            </a:r>
            <a:r>
              <a:rPr lang="en-US" dirty="0" err="1"/>
              <a:t>salvare</a:t>
            </a:r>
            <a:r>
              <a:rPr lang="en-US" dirty="0"/>
              <a:t>, </a:t>
            </a:r>
            <a:r>
              <a:rPr lang="en-US" dirty="0" err="1"/>
              <a:t>recuperare</a:t>
            </a:r>
            <a:r>
              <a:rPr lang="en-US" dirty="0"/>
              <a:t>, </a:t>
            </a:r>
            <a:r>
              <a:rPr lang="en-US" dirty="0" err="1"/>
              <a:t>cancellare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collezione</a:t>
            </a:r>
            <a:r>
              <a:rPr lang="en-US" dirty="0"/>
              <a:t>,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altre</a:t>
            </a:r>
            <a:r>
              <a:rPr lang="en-US" dirty="0"/>
              <a:t> </a:t>
            </a:r>
            <a:r>
              <a:rPr lang="en-US" dirty="0" err="1"/>
              <a:t>funzioni</a:t>
            </a:r>
            <a:r>
              <a:rPr lang="en-US" dirty="0"/>
              <a:t> di </a:t>
            </a:r>
            <a:r>
              <a:rPr lang="en-US" dirty="0" err="1"/>
              <a:t>utilità</a:t>
            </a:r>
            <a:r>
              <a:rPr lang="en-US" dirty="0"/>
              <a:t> (ad es., </a:t>
            </a:r>
            <a:r>
              <a:rPr lang="en-US" dirty="0" err="1"/>
              <a:t>conteggio</a:t>
            </a:r>
            <a:r>
              <a:rPr lang="en-US" dirty="0"/>
              <a:t>, </a:t>
            </a:r>
            <a:r>
              <a:rPr lang="en-US" dirty="0" err="1"/>
              <a:t>verifica</a:t>
            </a:r>
            <a:r>
              <a:rPr lang="en-US" dirty="0"/>
              <a:t> di </a:t>
            </a:r>
            <a:r>
              <a:rPr lang="en-US" dirty="0" err="1"/>
              <a:t>esistenza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775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41DAC2-EBD7-CB40-85BB-D155782F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pattern </a:t>
            </a:r>
            <a:r>
              <a:rPr lang="it-IT" dirty="0" err="1"/>
              <a:t>Repository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407CC-69F4-B340-B538-44F67DDBE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 metodi delle classi </a:t>
            </a:r>
            <a:r>
              <a:rPr lang="it-IT" dirty="0" err="1"/>
              <a:t>repository</a:t>
            </a:r>
            <a:r>
              <a:rPr lang="it-IT" dirty="0"/>
              <a:t> non devono essere transazionali, la transazione deve essere aperta (e chiusa) dall’oggetto che invoca il metodo del </a:t>
            </a:r>
            <a:r>
              <a:rPr lang="it-IT" dirty="0" err="1"/>
              <a:t>repository</a:t>
            </a:r>
            <a:endParaRPr lang="it-IT" dirty="0"/>
          </a:p>
          <a:p>
            <a:r>
              <a:rPr lang="it-IT" dirty="0"/>
              <a:t>Infatti, le operazioni offerte dal sistema (che usano i metodi dei </a:t>
            </a:r>
            <a:r>
              <a:rPr lang="it-IT" dirty="0" err="1"/>
              <a:t>repository</a:t>
            </a:r>
            <a:r>
              <a:rPr lang="it-IT" dirty="0"/>
              <a:t>) possono essere composte da più operazioni fornite da </a:t>
            </a:r>
            <a:r>
              <a:rPr lang="it-IT" dirty="0" err="1"/>
              <a:t>repository</a:t>
            </a:r>
            <a:r>
              <a:rPr lang="it-IT" dirty="0"/>
              <a:t> diversi: la transazione deve poter essere aperta e chiusa da chi usa i </a:t>
            </a:r>
            <a:r>
              <a:rPr lang="it-IT" dirty="0" err="1"/>
              <a:t>repository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8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A72789-38A7-3245-A3F1-2679C702C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Spring Boot: Persistenza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0533EB-932A-C84F-B5D9-CA9418437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framework offre un sistema di librerie per la definizione dei Repository</a:t>
            </a:r>
          </a:p>
          <a:p>
            <a:r>
              <a:rPr lang="it-IT" dirty="0"/>
              <a:t>Per scrivere una classe </a:t>
            </a:r>
            <a:r>
              <a:rPr lang="it-IT" dirty="0" err="1"/>
              <a:t>Repository</a:t>
            </a:r>
            <a:r>
              <a:rPr lang="it-IT" dirty="0"/>
              <a:t> è sufficiente definire una Java </a:t>
            </a:r>
            <a:r>
              <a:rPr lang="it-IT" dirty="0" err="1"/>
              <a:t>interface</a:t>
            </a:r>
            <a:r>
              <a:rPr lang="it-IT" dirty="0"/>
              <a:t> che estende </a:t>
            </a:r>
            <a:r>
              <a:rPr lang="it-IT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org.springframework.data.repository.CrudRepository</a:t>
            </a:r>
            <a:endParaRPr lang="it-IT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t-IT" dirty="0"/>
              <a:t>Automaticamente avremo a disposizione i metodi </a:t>
            </a:r>
            <a:r>
              <a:rPr lang="it-IT" dirty="0" err="1"/>
              <a:t>crud</a:t>
            </a:r>
            <a:r>
              <a:rPr lang="it-IT" dirty="0"/>
              <a:t> per la nostra classe. Vedi: </a:t>
            </a:r>
            <a:br>
              <a:rPr lang="it-IT" dirty="0"/>
            </a:br>
            <a:r>
              <a:rPr lang="it-IT" sz="1600" dirty="0">
                <a:hlinkClick r:id="rId2"/>
              </a:rPr>
              <a:t>https://docs.spring.io/spring-data/commons/docs/current/api/org/springframework/data/repository/CrudRepository.html</a:t>
            </a:r>
            <a:endParaRPr lang="it-IT" sz="16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2049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0BAAC0-A67B-194F-8E19-21262539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CrudRepository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E16CD30D-3A5B-3540-A436-EC13D7D8FA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372178"/>
          <a:ext cx="10972800" cy="5284050"/>
        </p:xfrm>
        <a:graphic>
          <a:graphicData uri="http://schemas.openxmlformats.org/drawingml/2006/table">
            <a:tbl>
              <a:tblPr/>
              <a:tblGrid>
                <a:gridCol w="1763486">
                  <a:extLst>
                    <a:ext uri="{9D8B030D-6E8A-4147-A177-3AD203B41FA5}">
                      <a16:colId xmlns:a16="http://schemas.microsoft.com/office/drawing/2014/main" val="1763715494"/>
                    </a:ext>
                  </a:extLst>
                </a:gridCol>
                <a:gridCol w="9209314">
                  <a:extLst>
                    <a:ext uri="{9D8B030D-6E8A-4147-A177-3AD203B41FA5}">
                      <a16:colId xmlns:a16="http://schemas.microsoft.com/office/drawing/2014/main" val="1489846507"/>
                    </a:ext>
                  </a:extLst>
                </a:gridCol>
              </a:tblGrid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>
                          <a:effectLst/>
                          <a:latin typeface="Calibri Light" panose="020F0302020204030204" pitchFamily="34" charset="0"/>
                        </a:rPr>
                        <a:t>long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2"/>
                        </a:rPr>
                        <a:t>count</a:t>
                      </a:r>
                      <a:r>
                        <a:rPr lang="it-IT" sz="2000" dirty="0">
                          <a:effectLst/>
                        </a:rPr>
                        <a:t>()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number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of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entities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available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845657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 err="1">
                          <a:effectLst/>
                          <a:latin typeface="Calibri Light" panose="020F0302020204030204" pitchFamily="34" charset="0"/>
                        </a:rPr>
                        <a:t>void</a:t>
                      </a:r>
                      <a:endParaRPr lang="it-IT" sz="2000" b="0" i="0" dirty="0"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3"/>
                        </a:rPr>
                        <a:t>delete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T</a:t>
                      </a:r>
                      <a:r>
                        <a:rPr lang="it-IT" sz="2000" dirty="0">
                          <a:effectLst/>
                        </a:rPr>
                        <a:t> </a:t>
                      </a:r>
                      <a:r>
                        <a:rPr lang="it-IT" sz="2000" dirty="0" err="1">
                          <a:effectLst/>
                        </a:rPr>
                        <a:t>entity</a:t>
                      </a:r>
                      <a:r>
                        <a:rPr lang="it-IT" sz="2000" dirty="0">
                          <a:effectLst/>
                        </a:rPr>
                        <a:t>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Deletes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a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entity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3065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 err="1">
                          <a:effectLst/>
                          <a:latin typeface="Calibri Light" panose="020F0302020204030204" pitchFamily="34" charset="0"/>
                        </a:rPr>
                        <a:t>void</a:t>
                      </a:r>
                      <a:endParaRPr lang="it-IT" sz="2000" b="0" i="0" dirty="0"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5"/>
                        </a:rPr>
                        <a:t>deleteAll</a:t>
                      </a:r>
                      <a:r>
                        <a:rPr lang="it-IT" sz="2000" dirty="0">
                          <a:effectLst/>
                        </a:rPr>
                        <a:t>()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Deletes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all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entities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managed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by the repository.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47553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 err="1">
                          <a:effectLst/>
                          <a:latin typeface="Calibri Light" panose="020F0302020204030204" pitchFamily="34" charset="0"/>
                        </a:rPr>
                        <a:t>void</a:t>
                      </a:r>
                      <a:endParaRPr lang="it-IT" sz="2000" dirty="0">
                        <a:effectLst/>
                      </a:endParaRP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6"/>
                        </a:rPr>
                        <a:t>deleteAll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7" tooltip="class or interface in java.lang"/>
                        </a:rPr>
                        <a:t>Iterable</a:t>
                      </a:r>
                      <a:r>
                        <a:rPr lang="it-IT" sz="2000" dirty="0">
                          <a:effectLst/>
                        </a:rPr>
                        <a:t>&lt;? </a:t>
                      </a:r>
                      <a:r>
                        <a:rPr lang="it-IT" sz="2000" dirty="0" err="1">
                          <a:effectLst/>
                        </a:rPr>
                        <a:t>extends</a:t>
                      </a:r>
                      <a:r>
                        <a:rPr lang="it-IT" sz="2000" dirty="0">
                          <a:effectLst/>
                        </a:rPr>
                        <a:t> 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T</a:t>
                      </a:r>
                      <a:r>
                        <a:rPr lang="it-IT" sz="2000" dirty="0">
                          <a:effectLst/>
                        </a:rPr>
                        <a:t>&gt; </a:t>
                      </a:r>
                      <a:r>
                        <a:rPr lang="it-IT" sz="2000" dirty="0" err="1">
                          <a:effectLst/>
                        </a:rPr>
                        <a:t>entities</a:t>
                      </a:r>
                      <a:r>
                        <a:rPr lang="it-IT" sz="2000" dirty="0">
                          <a:effectLst/>
                        </a:rPr>
                        <a:t>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Deletes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entities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889941"/>
                  </a:ext>
                </a:extLst>
              </a:tr>
              <a:tr h="375985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 err="1">
                          <a:effectLst/>
                          <a:latin typeface="Calibri Light" panose="020F0302020204030204" pitchFamily="34" charset="0"/>
                        </a:rPr>
                        <a:t>void</a:t>
                      </a:r>
                      <a:endParaRPr lang="it-IT" sz="2000" b="0" i="0" dirty="0"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8"/>
                        </a:rPr>
                        <a:t>deleteAllById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7" tooltip="class or interface in java.lang"/>
                        </a:rPr>
                        <a:t>Iterable</a:t>
                      </a:r>
                      <a:r>
                        <a:rPr lang="it-IT" sz="2000" dirty="0">
                          <a:effectLst/>
                        </a:rPr>
                        <a:t>&lt;? </a:t>
                      </a:r>
                      <a:r>
                        <a:rPr lang="it-IT" sz="2000" dirty="0" err="1">
                          <a:effectLst/>
                        </a:rPr>
                        <a:t>extends</a:t>
                      </a:r>
                      <a:r>
                        <a:rPr lang="it-IT" sz="2000" dirty="0">
                          <a:effectLst/>
                        </a:rPr>
                        <a:t> 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ID</a:t>
                      </a:r>
                      <a:r>
                        <a:rPr lang="it-IT" sz="2000" dirty="0">
                          <a:effectLst/>
                        </a:rPr>
                        <a:t>&gt; </a:t>
                      </a:r>
                      <a:r>
                        <a:rPr lang="it-IT" sz="2000" dirty="0" err="1">
                          <a:effectLst/>
                        </a:rPr>
                        <a:t>ids</a:t>
                      </a:r>
                      <a:r>
                        <a:rPr lang="it-IT" sz="2000" dirty="0">
                          <a:effectLst/>
                        </a:rPr>
                        <a:t>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Deletes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all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instances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of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type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 T with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IDs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162402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 err="1">
                          <a:effectLst/>
                          <a:latin typeface="Calibri Light" panose="020F0302020204030204" pitchFamily="34" charset="0"/>
                        </a:rPr>
                        <a:t>void</a:t>
                      </a:r>
                      <a:endParaRPr lang="it-IT" sz="2000" b="0" i="0" dirty="0"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9"/>
                        </a:rPr>
                        <a:t>deleteById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ID</a:t>
                      </a:r>
                      <a:r>
                        <a:rPr lang="it-IT" sz="2000" dirty="0">
                          <a:effectLst/>
                        </a:rPr>
                        <a:t> id)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Deletes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entity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with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id.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109372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 err="1">
                          <a:effectLst/>
                          <a:latin typeface="Calibri Light" panose="020F0302020204030204" pitchFamily="34" charset="0"/>
                        </a:rPr>
                        <a:t>boolean</a:t>
                      </a:r>
                      <a:endParaRPr lang="it-IT" sz="2000" b="0" i="0" dirty="0"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10"/>
                        </a:rPr>
                        <a:t>existsById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ID</a:t>
                      </a:r>
                      <a:r>
                        <a:rPr lang="it-IT" sz="2000" dirty="0">
                          <a:effectLst/>
                        </a:rPr>
                        <a:t> id)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whether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an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entity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with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id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exists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583131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7" tooltip="class or interface in java.lang"/>
                        </a:rPr>
                        <a:t>Iterable</a:t>
                      </a:r>
                      <a:r>
                        <a:rPr lang="it-IT" sz="2000" dirty="0">
                          <a:effectLst/>
                        </a:rPr>
                        <a:t>&lt;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T</a:t>
                      </a:r>
                      <a:r>
                        <a:rPr lang="it-IT" sz="2000" dirty="0">
                          <a:effectLst/>
                        </a:rPr>
                        <a:t>&gt;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11"/>
                        </a:rPr>
                        <a:t>findAll</a:t>
                      </a:r>
                      <a:r>
                        <a:rPr lang="it-IT" sz="2000" dirty="0">
                          <a:effectLst/>
                        </a:rPr>
                        <a:t>()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all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instances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of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type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627998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7" tooltip="class or interface in java.lang"/>
                        </a:rPr>
                        <a:t>Iterable</a:t>
                      </a:r>
                      <a:r>
                        <a:rPr lang="it-IT" sz="2000" dirty="0">
                          <a:effectLst/>
                        </a:rPr>
                        <a:t>&lt;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T</a:t>
                      </a:r>
                      <a:r>
                        <a:rPr lang="it-IT" sz="2000" dirty="0">
                          <a:effectLst/>
                        </a:rPr>
                        <a:t>&gt;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12"/>
                        </a:rPr>
                        <a:t>findAllById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7" tooltip="class or interface in java.lang"/>
                        </a:rPr>
                        <a:t>Iterable</a:t>
                      </a:r>
                      <a:r>
                        <a:rPr lang="it-IT" sz="2000" dirty="0">
                          <a:effectLst/>
                        </a:rPr>
                        <a:t>&lt;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ID</a:t>
                      </a:r>
                      <a:r>
                        <a:rPr lang="it-IT" sz="2000" dirty="0">
                          <a:effectLst/>
                        </a:rPr>
                        <a:t>&gt; </a:t>
                      </a:r>
                      <a:r>
                        <a:rPr lang="it-IT" sz="2000" dirty="0" err="1">
                          <a:effectLst/>
                        </a:rPr>
                        <a:t>ids</a:t>
                      </a:r>
                      <a:r>
                        <a:rPr lang="it-IT" sz="2000" dirty="0">
                          <a:effectLst/>
                        </a:rPr>
                        <a:t>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all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instances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of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type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 T with the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IDs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560712"/>
                  </a:ext>
                </a:extLst>
              </a:tr>
              <a:tr h="350629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13" tooltip="class or interface in java.util"/>
                        </a:rPr>
                        <a:t>Optional</a:t>
                      </a:r>
                      <a:r>
                        <a:rPr lang="it-IT" sz="2000" dirty="0">
                          <a:effectLst/>
                        </a:rPr>
                        <a:t>&lt;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T</a:t>
                      </a:r>
                      <a:r>
                        <a:rPr lang="it-IT" sz="2000" dirty="0">
                          <a:effectLst/>
                        </a:rPr>
                        <a:t>&gt;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14"/>
                        </a:rPr>
                        <a:t>findById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ID</a:t>
                      </a:r>
                      <a:r>
                        <a:rPr lang="it-IT" sz="2000" dirty="0">
                          <a:effectLst/>
                        </a:rPr>
                        <a:t> id)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Retrieves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an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entity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by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its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id.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834975"/>
                  </a:ext>
                </a:extLst>
              </a:tr>
              <a:tr h="435325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>
                          <a:effectLst/>
                          <a:latin typeface="Calibri Light" panose="020F0302020204030204" pitchFamily="34" charset="0"/>
                        </a:rPr>
                        <a:t>&lt;</a:t>
                      </a:r>
                      <a:r>
                        <a:rPr lang="it-IT" sz="2000" dirty="0" err="1">
                          <a:effectLst/>
                        </a:rPr>
                        <a:t>S</a:t>
                      </a:r>
                      <a:r>
                        <a:rPr lang="it-IT" sz="2000" dirty="0">
                          <a:effectLst/>
                        </a:rPr>
                        <a:t> </a:t>
                      </a:r>
                      <a:r>
                        <a:rPr lang="it-IT" sz="2000" dirty="0" err="1">
                          <a:effectLst/>
                        </a:rPr>
                        <a:t>extends</a:t>
                      </a:r>
                      <a:r>
                        <a:rPr lang="it-IT" sz="2000" dirty="0">
                          <a:effectLst/>
                        </a:rPr>
                        <a:t> 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T</a:t>
                      </a:r>
                      <a:r>
                        <a:rPr lang="it-IT" sz="2000" dirty="0">
                          <a:effectLst/>
                        </a:rPr>
                        <a:t>&gt; </a:t>
                      </a:r>
                      <a:r>
                        <a:rPr lang="it-IT" sz="2000" dirty="0" err="1">
                          <a:effectLst/>
                        </a:rPr>
                        <a:t>S</a:t>
                      </a:r>
                      <a:endParaRPr lang="it-IT" sz="2000" dirty="0">
                        <a:effectLst/>
                      </a:endParaRP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15"/>
                        </a:rPr>
                        <a:t>save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dirty="0" err="1">
                          <a:effectLst/>
                        </a:rPr>
                        <a:t>S</a:t>
                      </a:r>
                      <a:r>
                        <a:rPr lang="it-IT" sz="2000" dirty="0">
                          <a:effectLst/>
                        </a:rPr>
                        <a:t> </a:t>
                      </a:r>
                      <a:r>
                        <a:rPr lang="it-IT" sz="2000" dirty="0" err="1">
                          <a:effectLst/>
                        </a:rPr>
                        <a:t>entity</a:t>
                      </a:r>
                      <a:r>
                        <a:rPr lang="it-IT" sz="2000" dirty="0">
                          <a:effectLst/>
                        </a:rPr>
                        <a:t>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Saves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a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entity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805837"/>
                  </a:ext>
                </a:extLst>
              </a:tr>
              <a:tr h="627948"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dirty="0">
                          <a:effectLst/>
                          <a:latin typeface="Calibri Light" panose="020F0302020204030204" pitchFamily="34" charset="0"/>
                        </a:rPr>
                        <a:t>&lt;</a:t>
                      </a:r>
                      <a:r>
                        <a:rPr lang="it-IT" sz="2000" dirty="0" err="1">
                          <a:effectLst/>
                        </a:rPr>
                        <a:t>S</a:t>
                      </a:r>
                      <a:r>
                        <a:rPr lang="it-IT" sz="2000" dirty="0">
                          <a:effectLst/>
                        </a:rPr>
                        <a:t> </a:t>
                      </a:r>
                      <a:r>
                        <a:rPr lang="it-IT" sz="2000" dirty="0" err="1">
                          <a:effectLst/>
                        </a:rPr>
                        <a:t>extends</a:t>
                      </a:r>
                      <a:r>
                        <a:rPr lang="it-IT" sz="2000" dirty="0">
                          <a:effectLst/>
                        </a:rPr>
                        <a:t> 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4" tooltip="type parameter in CrudRepository"/>
                        </a:rPr>
                        <a:t>T</a:t>
                      </a:r>
                      <a:r>
                        <a:rPr lang="it-IT" sz="2000" dirty="0">
                          <a:effectLst/>
                        </a:rPr>
                        <a:t>&gt;</a:t>
                      </a:r>
                      <a:br>
                        <a:rPr lang="it-IT" sz="2000" dirty="0">
                          <a:effectLst/>
                        </a:rPr>
                      </a:b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7" tooltip="class or interface in java.lang"/>
                        </a:rPr>
                        <a:t>Iterable</a:t>
                      </a:r>
                      <a:r>
                        <a:rPr lang="it-IT" sz="2000" dirty="0">
                          <a:effectLst/>
                        </a:rPr>
                        <a:t>&lt;</a:t>
                      </a:r>
                      <a:r>
                        <a:rPr lang="it-IT" sz="2000" dirty="0" err="1">
                          <a:effectLst/>
                        </a:rPr>
                        <a:t>S</a:t>
                      </a:r>
                      <a:r>
                        <a:rPr lang="it-IT" sz="2000" dirty="0">
                          <a:effectLst/>
                        </a:rPr>
                        <a:t>&gt;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2000" b="0" i="0" u="none" strike="noStrike" dirty="0">
                          <a:solidFill>
                            <a:srgbClr val="4A6782"/>
                          </a:solidFill>
                          <a:effectLst/>
                          <a:latin typeface="Calibri Light" panose="020F0302020204030204" pitchFamily="34" charset="0"/>
                          <a:hlinkClick r:id="rId16"/>
                        </a:rPr>
                        <a:t>saveAll</a:t>
                      </a:r>
                      <a:r>
                        <a:rPr lang="it-IT" sz="2000" dirty="0">
                          <a:effectLst/>
                        </a:rPr>
                        <a:t>(</a:t>
                      </a:r>
                      <a:r>
                        <a:rPr lang="it-IT" sz="2000" b="1" u="none" strike="noStrike" dirty="0">
                          <a:solidFill>
                            <a:srgbClr val="4A6782"/>
                          </a:solidFill>
                          <a:effectLst/>
                          <a:hlinkClick r:id="rId7" tooltip="class or interface in java.lang"/>
                        </a:rPr>
                        <a:t>Iterable</a:t>
                      </a:r>
                      <a:r>
                        <a:rPr lang="it-IT" sz="2000" dirty="0">
                          <a:effectLst/>
                        </a:rPr>
                        <a:t>&lt;</a:t>
                      </a:r>
                      <a:r>
                        <a:rPr lang="it-IT" sz="2000" dirty="0" err="1">
                          <a:effectLst/>
                        </a:rPr>
                        <a:t>S</a:t>
                      </a:r>
                      <a:r>
                        <a:rPr lang="it-IT" sz="2000" dirty="0">
                          <a:effectLst/>
                        </a:rPr>
                        <a:t>&gt; </a:t>
                      </a:r>
                      <a:r>
                        <a:rPr lang="it-IT" sz="2000" dirty="0" err="1">
                          <a:effectLst/>
                        </a:rPr>
                        <a:t>entities</a:t>
                      </a:r>
                      <a:r>
                        <a:rPr lang="it-IT" sz="2000" dirty="0">
                          <a:effectLst/>
                        </a:rPr>
                        <a:t>)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Saves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all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given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it-IT" sz="20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entities</a:t>
                      </a:r>
                      <a:r>
                        <a:rPr lang="it-IT" sz="20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.</a:t>
                      </a:r>
                    </a:p>
                  </a:txBody>
                  <a:tcPr marL="73250" marR="21975" marT="58600" marB="21975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36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6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660996-E581-0A4D-A637-C8D254FD0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CrudRepository: 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CD639F-DEA1-2148-B921-C94370D52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17"/>
            <a:ext cx="1046117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package</a:t>
            </a:r>
            <a:r>
              <a:rPr lang="it-IT" sz="2400" dirty="0"/>
              <a:t> it.uniroma3.siw.spring.repository;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b="1" dirty="0"/>
              <a:t>import</a:t>
            </a:r>
            <a:r>
              <a:rPr lang="it-IT" sz="2400" dirty="0"/>
              <a:t> </a:t>
            </a:r>
            <a:r>
              <a:rPr lang="it-IT" sz="2400" dirty="0" err="1"/>
              <a:t>java.util.List</a:t>
            </a:r>
            <a:r>
              <a:rPr lang="it-IT" sz="2400" dirty="0"/>
              <a:t>;</a:t>
            </a:r>
          </a:p>
          <a:p>
            <a:pPr marL="0" indent="0">
              <a:buNone/>
            </a:pPr>
            <a:r>
              <a:rPr lang="it-IT" sz="2400" b="1" dirty="0"/>
              <a:t>import</a:t>
            </a:r>
            <a:r>
              <a:rPr lang="it-IT" sz="2400" dirty="0"/>
              <a:t> </a:t>
            </a:r>
            <a:r>
              <a:rPr lang="it-IT" sz="2400" dirty="0" err="1"/>
              <a:t>org.springframework.data.repository.CrudRepository</a:t>
            </a:r>
            <a:r>
              <a:rPr lang="it-IT" sz="2400" dirty="0"/>
              <a:t>;</a:t>
            </a:r>
            <a:br>
              <a:rPr lang="it-IT" sz="2400" dirty="0"/>
            </a:br>
            <a:endParaRPr lang="it-IT" sz="2400" dirty="0"/>
          </a:p>
          <a:p>
            <a:pPr marL="0" indent="0">
              <a:buNone/>
            </a:pPr>
            <a:r>
              <a:rPr lang="it-IT" sz="2400" b="1" dirty="0"/>
              <a:t>import</a:t>
            </a:r>
            <a:r>
              <a:rPr lang="it-IT" sz="2400" dirty="0"/>
              <a:t> it.uniroma3.siw.spring.model.Movie;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b="1" dirty="0"/>
              <a:t>public</a:t>
            </a:r>
            <a:r>
              <a:rPr lang="it-IT" sz="2400" dirty="0"/>
              <a:t> </a:t>
            </a:r>
            <a:r>
              <a:rPr lang="it-IT" sz="2400" b="1" dirty="0" err="1"/>
              <a:t>interface</a:t>
            </a:r>
            <a:r>
              <a:rPr lang="it-IT" sz="2400" dirty="0"/>
              <a:t> </a:t>
            </a:r>
            <a:r>
              <a:rPr lang="it-IT" sz="2400" dirty="0" err="1"/>
              <a:t>MovieRepository</a:t>
            </a:r>
            <a:r>
              <a:rPr lang="it-IT" sz="2400" dirty="0"/>
              <a:t>  </a:t>
            </a:r>
            <a:r>
              <a:rPr lang="it-IT" sz="2400" b="1" dirty="0" err="1"/>
              <a:t>extends</a:t>
            </a:r>
            <a:r>
              <a:rPr lang="it-IT" sz="2400" dirty="0"/>
              <a:t> </a:t>
            </a:r>
            <a:r>
              <a:rPr lang="it-IT" sz="2400" dirty="0" err="1"/>
              <a:t>CrudRepository</a:t>
            </a:r>
            <a:r>
              <a:rPr lang="it-IT" sz="2400" dirty="0"/>
              <a:t>&lt;Movie, Long&gt; {</a:t>
            </a:r>
          </a:p>
          <a:p>
            <a:pPr marL="0" indent="0">
              <a:buNone/>
            </a:pPr>
            <a:r>
              <a:rPr lang="it-IT" sz="2400" dirty="0"/>
              <a:t>}</a:t>
            </a:r>
          </a:p>
          <a:p>
            <a:pPr marL="0" indent="0">
              <a:buNone/>
            </a:pPr>
            <a:endParaRPr lang="it-IT" sz="36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640AF3-9A5C-8F41-845A-B374787D0A27}"/>
              </a:ext>
            </a:extLst>
          </p:cNvPr>
          <p:cNvSpPr txBox="1"/>
          <p:nvPr/>
        </p:nvSpPr>
        <p:spPr>
          <a:xfrm>
            <a:off x="6788370" y="5827582"/>
            <a:ext cx="1933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</a:rPr>
              <a:t>Classe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dell'entità</a:t>
            </a:r>
            <a:r>
              <a:rPr lang="en-US" dirty="0">
                <a:latin typeface="Calibri Light" panose="020F0302020204030204" pitchFamily="34" charset="0"/>
              </a:rPr>
              <a:t>         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AC3B32E-1C3C-3B4B-A1B9-156053CBE2D2}"/>
              </a:ext>
            </a:extLst>
          </p:cNvPr>
          <p:cNvSpPr txBox="1"/>
          <p:nvPr/>
        </p:nvSpPr>
        <p:spPr>
          <a:xfrm>
            <a:off x="9050813" y="5817071"/>
            <a:ext cx="141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 Light" panose="020F0302020204030204" pitchFamily="34" charset="0"/>
              </a:rPr>
              <a:t>Classe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dell'id</a:t>
            </a:r>
            <a:r>
              <a:rPr lang="en-US" dirty="0">
                <a:latin typeface="Calibri Light" panose="020F0302020204030204" pitchFamily="34" charset="0"/>
              </a:rPr>
              <a:t>          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95311FD2-5CA3-C44D-A4AD-D2453887E890}"/>
              </a:ext>
            </a:extLst>
          </p:cNvPr>
          <p:cNvCxnSpPr>
            <a:cxnSpLocks/>
          </p:cNvCxnSpPr>
          <p:nvPr/>
        </p:nvCxnSpPr>
        <p:spPr>
          <a:xfrm flipV="1">
            <a:off x="7755322" y="4982233"/>
            <a:ext cx="798786" cy="845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2CF716A-0648-704B-BA97-859ADCC6ABA5}"/>
              </a:ext>
            </a:extLst>
          </p:cNvPr>
          <p:cNvCxnSpPr>
            <a:cxnSpLocks/>
          </p:cNvCxnSpPr>
          <p:nvPr/>
        </p:nvCxnSpPr>
        <p:spPr>
          <a:xfrm flipV="1">
            <a:off x="9744968" y="4982233"/>
            <a:ext cx="0" cy="83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34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563A94-98DC-2A9F-D253-2A90FE46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metodo</a:t>
            </a:r>
            <a:r>
              <a:rPr lang="en-US" dirty="0"/>
              <a:t> save(S entity)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6D9D6C-E15C-74F0-66B6-471C26D39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it-IT" b="0" i="0" dirty="0" err="1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b="0" i="0" dirty="0" err="1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it-IT" b="0" i="0" u="none" strike="noStrike" dirty="0">
                <a:solidFill>
                  <a:srgbClr val="4A6782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  <a:hlinkClick r:id="rId2" tooltip="type parameter in CrudRepository"/>
              </a:rPr>
              <a:t>T</a:t>
            </a: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 </a:t>
            </a:r>
            <a:r>
              <a:rPr lang="it-IT" b="0" i="0" dirty="0" err="1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it-IT" b="0" i="0" dirty="0" err="1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save</a:t>
            </a: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b="0" i="0" dirty="0" err="1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it-IT" b="0" i="0" dirty="0" err="1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entity</a:t>
            </a:r>
            <a:r>
              <a:rPr lang="it-IT" b="0" i="0" dirty="0">
                <a:solidFill>
                  <a:srgbClr val="353833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353833"/>
              </a:solidFill>
              <a:highlight>
                <a:srgbClr val="FFFFFF"/>
              </a:highlight>
              <a:latin typeface="dejavu sans mono"/>
            </a:endParaRPr>
          </a:p>
          <a:p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Se il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valore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della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variabile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annotata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@Id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è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nullo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,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viene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salvata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nel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database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una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ennupla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, con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creazione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della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chiave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.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L'oggetto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passato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come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parametro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viene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restituito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con il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valore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dell'id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assegnato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dal database</a:t>
            </a:r>
          </a:p>
          <a:p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Se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l'entità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esiste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nel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database (il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valore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della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variabile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annotata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@Id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è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diverso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da null), la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ennupla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corrispondente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viene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aggiornata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US" dirty="0" err="1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nel</a:t>
            </a:r>
            <a:r>
              <a:rPr lang="en-US" dirty="0">
                <a:solidFill>
                  <a:srgbClr val="353833"/>
                </a:solidFill>
                <a:highlight>
                  <a:srgbClr val="FFFFFF"/>
                </a:highlight>
                <a:latin typeface="+mj-lt"/>
              </a:rPr>
              <a:t> database</a:t>
            </a:r>
          </a:p>
          <a:p>
            <a:pPr marL="0" indent="0">
              <a:buNone/>
            </a:pPr>
            <a:endParaRPr lang="it-IT" dirty="0">
              <a:solidFill>
                <a:srgbClr val="353833"/>
              </a:solidFill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6234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F7F09C-8BED-01DA-7653-1A68277E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C7B86-C664-5E4C-6AFD-15032667E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SpringBootApplication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public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class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SiwJpa01Application 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implements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CommandLineRunner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646464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Autowired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private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ProductRepository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productRepository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800" b="1" dirty="0">
              <a:solidFill>
                <a:srgbClr val="7F0055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public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static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void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main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String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[] 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args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SpringApplication.</a:t>
            </a:r>
            <a:r>
              <a:rPr lang="it-IT" sz="1800" i="1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run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(SiwJpa01Application.</a:t>
            </a: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class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args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@</a:t>
            </a:r>
            <a:r>
              <a:rPr lang="it-IT" sz="18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Override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public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void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run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String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... 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args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</a:t>
            </a:r>
            <a:r>
              <a:rPr lang="it-IT" sz="18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throws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Exception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Product 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it-IT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new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Product();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.setCode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"abc"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.setName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"penna"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.setPrice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(2.1f);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System.</a:t>
            </a:r>
            <a:r>
              <a:rPr lang="it-IT" sz="1800" b="1" i="1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out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.println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"prima di 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save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 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productRepository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.save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System.</a:t>
            </a:r>
            <a:r>
              <a:rPr lang="it-IT" sz="1800" b="1" i="1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out</a:t>
            </a:r>
            <a:r>
              <a:rPr lang="it-IT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.println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"dopo </a:t>
            </a:r>
            <a:r>
              <a:rPr lang="it-IT" sz="18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save</a:t>
            </a:r>
            <a:r>
              <a:rPr lang="it-IT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: "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 </a:t>
            </a:r>
            <a:r>
              <a:rPr lang="it-IT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product</a:t>
            </a: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allout 13 3">
            <a:extLst>
              <a:ext uri="{FF2B5EF4-FFF2-40B4-BE49-F238E27FC236}">
                <a16:creationId xmlns:a16="http://schemas.microsoft.com/office/drawing/2014/main" id="{47C66642-9156-99CD-7202-49F8F1D4B29E}"/>
              </a:ext>
            </a:extLst>
          </p:cNvPr>
          <p:cNvSpPr/>
          <p:nvPr/>
        </p:nvSpPr>
        <p:spPr>
          <a:xfrm>
            <a:off x="8846050" y="821933"/>
            <a:ext cx="1462872" cy="947536"/>
          </a:xfrm>
          <a:prstGeom prst="accentBorderCallout1">
            <a:avLst>
              <a:gd name="adj1" fmla="val 18750"/>
              <a:gd name="adj2" fmla="val -8333"/>
              <a:gd name="adj3" fmla="val 95309"/>
              <a:gd name="adj4" fmla="val -181846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3F1D2D5-C748-7B88-0567-7F025E39D1DA}"/>
              </a:ext>
            </a:extLst>
          </p:cNvPr>
          <p:cNvSpPr txBox="1"/>
          <p:nvPr/>
        </p:nvSpPr>
        <p:spPr>
          <a:xfrm>
            <a:off x="8846048" y="846139"/>
            <a:ext cx="19513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 </a:t>
            </a:r>
            <a:r>
              <a:rPr lang="en-US" dirty="0" err="1"/>
              <a:t>permette</a:t>
            </a:r>
            <a:r>
              <a:rPr lang="en-US" dirty="0"/>
              <a:t> </a:t>
            </a:r>
          </a:p>
          <a:p>
            <a:r>
              <a:rPr lang="en-US" dirty="0"/>
              <a:t>di </a:t>
            </a:r>
            <a:r>
              <a:rPr lang="en-US" dirty="0" err="1"/>
              <a:t>eseguire</a:t>
            </a:r>
            <a:r>
              <a:rPr lang="en-US" dirty="0"/>
              <a:t> </a:t>
            </a:r>
          </a:p>
          <a:p>
            <a:r>
              <a:rPr lang="en-US" dirty="0" err="1"/>
              <a:t>l'app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5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77549-8E5B-5748-A568-4F087C2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CrudRepository: costruzione di query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520366-D3D8-F944-AD49-5B2CC6E35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All'interfaccia è </a:t>
            </a:r>
            <a:r>
              <a:rPr lang="it-IT" dirty="0" err="1"/>
              <a:t>possible</a:t>
            </a:r>
            <a:r>
              <a:rPr lang="it-IT" dirty="0"/>
              <a:t> aggiungere metodi </a:t>
            </a:r>
            <a:r>
              <a:rPr lang="it-IT" b="1" i="1" dirty="0" err="1"/>
              <a:t>find</a:t>
            </a:r>
            <a:r>
              <a:rPr lang="it-IT" b="1" i="1" dirty="0"/>
              <a:t>, delete, </a:t>
            </a:r>
            <a:r>
              <a:rPr lang="it-IT" b="1" i="1" dirty="0" err="1"/>
              <a:t>count</a:t>
            </a:r>
            <a:r>
              <a:rPr lang="it-IT" b="1" i="1" dirty="0"/>
              <a:t>, </a:t>
            </a:r>
            <a:r>
              <a:rPr lang="it-IT" b="1" i="1" dirty="0" err="1"/>
              <a:t>exists</a:t>
            </a:r>
            <a:r>
              <a:rPr lang="it-IT" dirty="0"/>
              <a:t> specifici con una soluzione efficace basata su una semplice convenzione: </a:t>
            </a:r>
          </a:p>
          <a:p>
            <a:pPr lvl="1"/>
            <a:r>
              <a:rPr lang="it-IT" dirty="0"/>
              <a:t>il nome del metodo ne definisce la semantica: la query viene costruita a partire dal nome del metodo (senza scrivere codice </a:t>
            </a:r>
            <a:r>
              <a:rPr lang="it-IT" dirty="0" err="1"/>
              <a:t>jpql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l'idea è di specificare nel nome del metodo:</a:t>
            </a:r>
          </a:p>
          <a:p>
            <a:pPr lvl="2"/>
            <a:r>
              <a:rPr lang="it-IT" dirty="0"/>
              <a:t>l'operazione che si vuol eseguire (</a:t>
            </a:r>
            <a:r>
              <a:rPr lang="it-IT" dirty="0" err="1"/>
              <a:t>find</a:t>
            </a:r>
            <a:r>
              <a:rPr lang="it-IT" dirty="0"/>
              <a:t>, delete, </a:t>
            </a:r>
            <a:r>
              <a:rPr lang="it-IT" dirty="0" err="1"/>
              <a:t>count</a:t>
            </a:r>
            <a:r>
              <a:rPr lang="it-IT" dirty="0"/>
              <a:t>, </a:t>
            </a:r>
            <a:r>
              <a:rPr lang="it-IT" dirty="0" err="1"/>
              <a:t>exists</a:t>
            </a:r>
            <a:r>
              <a:rPr lang="it-IT" dirty="0"/>
              <a:t>)</a:t>
            </a:r>
          </a:p>
          <a:p>
            <a:pPr lvl="2"/>
            <a:r>
              <a:rPr lang="it-IT" dirty="0"/>
              <a:t>quale combinazione di proprietà (attributi) deve essere verificata nei valori restituiti (ad es. cognome = ? AND nome = ?) </a:t>
            </a:r>
          </a:p>
          <a:p>
            <a:pPr lvl="2"/>
            <a:r>
              <a:rPr lang="it-IT" dirty="0"/>
              <a:t>i parametri del metodo costituiscono i parametri della query</a:t>
            </a:r>
          </a:p>
        </p:txBody>
      </p:sp>
    </p:spTree>
    <p:extLst>
      <p:ext uri="{BB962C8B-B14F-4D97-AF65-F5344CB8AC3E}">
        <p14:creationId xmlns:p14="http://schemas.microsoft.com/office/powerpoint/2010/main" val="208459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985BF8-D78F-0141-9A55-119A54ED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CrudRepository</a:t>
            </a:r>
            <a:r>
              <a:rPr lang="en-US" dirty="0"/>
              <a:t>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56019C-FE44-2F4B-94BD-1509AA2A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b="1" dirty="0"/>
              <a:t>package</a:t>
            </a:r>
            <a:r>
              <a:rPr lang="it-IT" dirty="0"/>
              <a:t> it.uniroma3.siw.spring.repository;</a:t>
            </a:r>
          </a:p>
          <a:p>
            <a:pPr marL="0" indent="0">
              <a:buNone/>
            </a:pP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b="1" dirty="0"/>
              <a:t>import</a:t>
            </a:r>
            <a:r>
              <a:rPr lang="it-IT" dirty="0"/>
              <a:t> </a:t>
            </a:r>
            <a:r>
              <a:rPr lang="it-IT" dirty="0" err="1"/>
              <a:t>java.util.List</a:t>
            </a:r>
            <a:r>
              <a:rPr lang="it-IT" dirty="0"/>
              <a:t>;</a:t>
            </a:r>
          </a:p>
          <a:p>
            <a:pPr marL="0" indent="0">
              <a:buNone/>
            </a:pPr>
            <a:r>
              <a:rPr lang="it-IT" b="1" dirty="0"/>
              <a:t>import</a:t>
            </a:r>
            <a:r>
              <a:rPr lang="it-IT" dirty="0"/>
              <a:t> </a:t>
            </a:r>
            <a:r>
              <a:rPr lang="it-IT" dirty="0" err="1"/>
              <a:t>org.springframework.data.repository.CrudRepository</a:t>
            </a:r>
            <a:r>
              <a:rPr lang="it-IT" dirty="0"/>
              <a:t>;</a:t>
            </a:r>
          </a:p>
          <a:p>
            <a:pPr marL="0" indent="0">
              <a:buNone/>
            </a:pP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b="1" dirty="0"/>
              <a:t>import</a:t>
            </a:r>
            <a:r>
              <a:rPr lang="it-IT" dirty="0"/>
              <a:t> it.uniroma3.siw.spring.model.Movie;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b="1" dirty="0"/>
              <a:t>public</a:t>
            </a:r>
            <a:r>
              <a:rPr lang="it-IT" dirty="0"/>
              <a:t> </a:t>
            </a:r>
            <a:r>
              <a:rPr lang="it-IT" b="1" dirty="0" err="1"/>
              <a:t>interface</a:t>
            </a:r>
            <a:r>
              <a:rPr lang="it-IT" dirty="0"/>
              <a:t> </a:t>
            </a:r>
            <a:r>
              <a:rPr lang="it-IT" dirty="0" err="1"/>
              <a:t>MovieRepository</a:t>
            </a:r>
            <a:r>
              <a:rPr lang="it-IT" dirty="0"/>
              <a:t> </a:t>
            </a:r>
            <a:r>
              <a:rPr lang="it-IT" b="1" dirty="0" err="1"/>
              <a:t>extends</a:t>
            </a:r>
            <a:r>
              <a:rPr lang="it-IT" dirty="0"/>
              <a:t> </a:t>
            </a:r>
            <a:r>
              <a:rPr lang="it-IT" dirty="0" err="1"/>
              <a:t>CrudRepository</a:t>
            </a:r>
            <a:r>
              <a:rPr lang="it-IT" dirty="0"/>
              <a:t>&lt;Movie, Long&gt; {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>
                <a:solidFill>
                  <a:srgbClr val="FF0000"/>
                </a:solidFill>
              </a:rPr>
              <a:t>	</a:t>
            </a:r>
            <a:r>
              <a:rPr lang="it-IT" b="1" dirty="0">
                <a:solidFill>
                  <a:srgbClr val="FF0000"/>
                </a:solidFill>
              </a:rPr>
              <a:t>public</a:t>
            </a:r>
            <a:r>
              <a:rPr lang="it-IT" dirty="0">
                <a:solidFill>
                  <a:srgbClr val="FF0000"/>
                </a:solidFill>
              </a:rPr>
              <a:t> List&lt;Movie&gt; </a:t>
            </a:r>
            <a:r>
              <a:rPr lang="it-IT" dirty="0" err="1">
                <a:solidFill>
                  <a:srgbClr val="FF0000"/>
                </a:solidFill>
              </a:rPr>
              <a:t>find</a:t>
            </a:r>
            <a:r>
              <a:rPr lang="it-IT" b="1" dirty="0" err="1">
                <a:solidFill>
                  <a:srgbClr val="FF0000"/>
                </a:solidFill>
              </a:rPr>
              <a:t>By</a:t>
            </a:r>
            <a:r>
              <a:rPr lang="it-IT" dirty="0" err="1">
                <a:solidFill>
                  <a:srgbClr val="FF0000"/>
                </a:solidFill>
              </a:rPr>
              <a:t>Title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String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title</a:t>
            </a:r>
            <a:r>
              <a:rPr lang="it-IT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rgbClr val="FF0000"/>
                </a:solidFill>
              </a:rPr>
              <a:t>	</a:t>
            </a:r>
            <a:r>
              <a:rPr lang="it-IT" b="1" dirty="0">
                <a:solidFill>
                  <a:srgbClr val="FF0000"/>
                </a:solidFill>
              </a:rPr>
              <a:t>public</a:t>
            </a:r>
            <a:r>
              <a:rPr lang="it-IT" dirty="0">
                <a:solidFill>
                  <a:srgbClr val="FF0000"/>
                </a:solidFill>
              </a:rPr>
              <a:t> List&lt;Movie&gt; </a:t>
            </a:r>
            <a:r>
              <a:rPr lang="it-IT" dirty="0" err="1">
                <a:solidFill>
                  <a:srgbClr val="FF0000"/>
                </a:solidFill>
              </a:rPr>
              <a:t>find</a:t>
            </a:r>
            <a:r>
              <a:rPr lang="it-IT" b="1" dirty="0" err="1">
                <a:solidFill>
                  <a:srgbClr val="FF0000"/>
                </a:solidFill>
              </a:rPr>
              <a:t>By</a:t>
            </a:r>
            <a:r>
              <a:rPr lang="it-IT" dirty="0" err="1">
                <a:solidFill>
                  <a:srgbClr val="FF0000"/>
                </a:solidFill>
              </a:rPr>
              <a:t>Title</a:t>
            </a:r>
            <a:r>
              <a:rPr lang="it-IT" b="1" dirty="0" err="1">
                <a:solidFill>
                  <a:srgbClr val="FF0000"/>
                </a:solidFill>
              </a:rPr>
              <a:t>And</a:t>
            </a:r>
            <a:r>
              <a:rPr lang="it-IT" dirty="0" err="1">
                <a:solidFill>
                  <a:srgbClr val="FF0000"/>
                </a:solidFill>
              </a:rPr>
              <a:t>Anno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String</a:t>
            </a:r>
            <a:r>
              <a:rPr lang="it-IT" dirty="0">
                <a:solidFill>
                  <a:srgbClr val="FF0000"/>
                </a:solidFill>
              </a:rPr>
              <a:t> Titolo, </a:t>
            </a:r>
            <a:r>
              <a:rPr lang="it-IT" dirty="0" err="1">
                <a:solidFill>
                  <a:srgbClr val="FF0000"/>
                </a:solidFill>
              </a:rPr>
              <a:t>Integer</a:t>
            </a:r>
            <a:r>
              <a:rPr lang="it-IT" dirty="0">
                <a:solidFill>
                  <a:srgbClr val="FF0000"/>
                </a:solidFill>
              </a:rPr>
              <a:t> anno);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allout 11 3">
            <a:extLst>
              <a:ext uri="{FF2B5EF4-FFF2-40B4-BE49-F238E27FC236}">
                <a16:creationId xmlns:a16="http://schemas.microsoft.com/office/drawing/2014/main" id="{AAC3628A-D269-2745-914A-40F4D9AA6D89}"/>
              </a:ext>
            </a:extLst>
          </p:cNvPr>
          <p:cNvSpPr/>
          <p:nvPr/>
        </p:nvSpPr>
        <p:spPr>
          <a:xfrm>
            <a:off x="9427028" y="1917133"/>
            <a:ext cx="2231572" cy="1284514"/>
          </a:xfrm>
          <a:prstGeom prst="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202542"/>
              <a:gd name="adj6" fmla="val -16667"/>
              <a:gd name="adj7" fmla="val 231607"/>
              <a:gd name="adj8" fmla="val -139493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Select </a:t>
            </a:r>
            <a:r>
              <a:rPr lang="it-IT" dirty="0" err="1">
                <a:solidFill>
                  <a:schemeClr val="tx1"/>
                </a:solidFill>
                <a:latin typeface="Calibri Light" panose="020F0302020204030204" pitchFamily="34" charset="0"/>
              </a:rPr>
              <a:t>p</a:t>
            </a: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</a:p>
          <a:p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from Movie m </a:t>
            </a:r>
            <a:r>
              <a:rPr lang="it-IT" dirty="0" err="1">
                <a:solidFill>
                  <a:schemeClr val="tx1"/>
                </a:solidFill>
                <a:latin typeface="Calibri Light" panose="020F0302020204030204" pitchFamily="34" charset="0"/>
              </a:rPr>
              <a:t>where</a:t>
            </a: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alibri Light" panose="020F0302020204030204" pitchFamily="34" charset="0"/>
              </a:rPr>
              <a:t>title</a:t>
            </a: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 = :</a:t>
            </a:r>
            <a:r>
              <a:rPr lang="it-IT" dirty="0" err="1">
                <a:solidFill>
                  <a:schemeClr val="tx1"/>
                </a:solidFill>
                <a:latin typeface="Calibri Light" panose="020F0302020204030204" pitchFamily="34" charset="0"/>
              </a:rPr>
              <a:t>title</a:t>
            </a:r>
            <a:endParaRPr lang="it-IT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Callout 11 4">
            <a:extLst>
              <a:ext uri="{FF2B5EF4-FFF2-40B4-BE49-F238E27FC236}">
                <a16:creationId xmlns:a16="http://schemas.microsoft.com/office/drawing/2014/main" id="{F8BBC803-40C8-AC4A-9C05-23E12ACC52C7}"/>
              </a:ext>
            </a:extLst>
          </p:cNvPr>
          <p:cNvSpPr/>
          <p:nvPr/>
        </p:nvSpPr>
        <p:spPr>
          <a:xfrm>
            <a:off x="9960426" y="3701144"/>
            <a:ext cx="2231573" cy="1284514"/>
          </a:xfrm>
          <a:prstGeom prst="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133302"/>
              <a:gd name="adj8" fmla="val -37334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Select m </a:t>
            </a:r>
            <a:b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from Movie m</a:t>
            </a:r>
            <a:b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it-IT" dirty="0" err="1">
                <a:solidFill>
                  <a:schemeClr val="tx1"/>
                </a:solidFill>
                <a:latin typeface="Calibri Light" panose="020F0302020204030204" pitchFamily="34" charset="0"/>
              </a:rPr>
              <a:t>where</a:t>
            </a: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alibri Light" panose="020F0302020204030204" pitchFamily="34" charset="0"/>
              </a:rPr>
              <a:t>title</a:t>
            </a: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 = :</a:t>
            </a:r>
            <a:r>
              <a:rPr lang="it-IT" dirty="0" err="1">
                <a:solidFill>
                  <a:schemeClr val="tx1"/>
                </a:solidFill>
                <a:latin typeface="Calibri Light" panose="020F0302020204030204" pitchFamily="34" charset="0"/>
              </a:rPr>
              <a:t>title</a:t>
            </a: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 or </a:t>
            </a:r>
            <a:b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it-IT" dirty="0">
                <a:solidFill>
                  <a:schemeClr val="tx1"/>
                </a:solidFill>
                <a:latin typeface="Calibri Light" panose="020F0302020204030204" pitchFamily="34" charset="0"/>
              </a:rPr>
              <a:t>anno = :anno</a:t>
            </a:r>
          </a:p>
        </p:txBody>
      </p:sp>
    </p:spTree>
    <p:extLst>
      <p:ext uri="{BB962C8B-B14F-4D97-AF65-F5344CB8AC3E}">
        <p14:creationId xmlns:p14="http://schemas.microsoft.com/office/powerpoint/2010/main" val="309999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B7539-7326-7B4A-B1CE-66844436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CrudRepository</a:t>
            </a:r>
            <a:r>
              <a:rPr lang="it-IT" dirty="0"/>
              <a:t>: costruzione di query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91D824-6011-1741-80CD-0BAFC5FB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Per un elenco completo delle convenzioni che possono essere usate nella costruzione della query attraverso il nome dei metodi, vedi: </a:t>
            </a: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sz="2000" dirty="0">
                <a:hlinkClick r:id="rId2"/>
              </a:rPr>
              <a:t>https://docs.spring.io/spring-data/jpa/reference/repositories/query-keywords-reference.html</a:t>
            </a:r>
            <a:endParaRPr lang="it-IT" sz="2000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614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B7539-7326-7B4A-B1CE-66844436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CrudRepository</a:t>
            </a:r>
            <a:r>
              <a:rPr lang="it-IT" dirty="0"/>
              <a:t>: custom query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91D824-6011-1741-80CD-0BAFC5FB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dirty="0"/>
              <a:t>Attraverso la annotazione @Query è possibile associare un metodo ad una query custom, che può essere espressa</a:t>
            </a:r>
          </a:p>
          <a:p>
            <a:r>
              <a:rPr lang="it-IT" dirty="0"/>
              <a:t>In JPQL:</a:t>
            </a:r>
            <a:endParaRPr lang="it-IT" sz="2000" dirty="0"/>
          </a:p>
          <a:p>
            <a:pPr marL="400050" lvl="1" indent="0">
              <a:buNone/>
            </a:pPr>
            <a:r>
              <a:rPr lang="it-IT" sz="1600" dirty="0"/>
              <a:t>@Query("</a:t>
            </a:r>
            <a:r>
              <a:rPr lang="it-IT" sz="1600" dirty="0" err="1"/>
              <a:t>select</a:t>
            </a:r>
            <a:r>
              <a:rPr lang="it-IT" sz="1600" dirty="0"/>
              <a:t> m from Movie m </a:t>
            </a:r>
            <a:r>
              <a:rPr lang="it-IT" sz="1600" dirty="0" err="1"/>
              <a:t>where</a:t>
            </a:r>
            <a:r>
              <a:rPr lang="it-IT" sz="1600" dirty="0"/>
              <a:t> …") </a:t>
            </a:r>
          </a:p>
          <a:p>
            <a:pPr marL="400050" lvl="1" indent="0">
              <a:buNone/>
            </a:pPr>
            <a:r>
              <a:rPr lang="it-IT" sz="1600" dirty="0"/>
              <a:t>List&lt;Movie&gt; </a:t>
            </a:r>
            <a:r>
              <a:rPr lang="it-IT" sz="1600" dirty="0" err="1"/>
              <a:t>findAllByStranaCondizione</a:t>
            </a:r>
            <a:r>
              <a:rPr lang="it-IT" sz="1600" dirty="0"/>
              <a:t> ();</a:t>
            </a:r>
          </a:p>
          <a:p>
            <a:pPr marL="0" indent="0">
              <a:buNone/>
            </a:pPr>
            <a:endParaRPr lang="it-IT" sz="2000" dirty="0"/>
          </a:p>
          <a:p>
            <a:r>
              <a:rPr kumimoji="0" lang="it-IT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In SQL è necessario specificare che si tratta di una query nel linguaggio "nativo" del DBMS (quindi, una query SQL):</a:t>
            </a:r>
            <a:endParaRPr lang="it-IT" sz="2000" dirty="0"/>
          </a:p>
          <a:p>
            <a:pPr marL="400050" lvl="1" indent="0">
              <a:buNone/>
            </a:pPr>
            <a:r>
              <a:rPr lang="it-IT" sz="1600" dirty="0"/>
              <a:t>@Query("</a:t>
            </a:r>
            <a:r>
              <a:rPr lang="it-IT" sz="1600" dirty="0" err="1"/>
              <a:t>select</a:t>
            </a:r>
            <a:r>
              <a:rPr lang="it-IT" sz="1600" dirty="0"/>
              <a:t> ….", </a:t>
            </a:r>
            <a:r>
              <a:rPr lang="it-IT" sz="1600" dirty="0" err="1">
                <a:highlight>
                  <a:srgbClr val="FFFF00"/>
                </a:highlight>
              </a:rPr>
              <a:t>nativeQuery</a:t>
            </a:r>
            <a:r>
              <a:rPr lang="it-IT" sz="1600" dirty="0">
                <a:highlight>
                  <a:srgbClr val="FFFF00"/>
                </a:highlight>
              </a:rPr>
              <a:t>=</a:t>
            </a:r>
            <a:r>
              <a:rPr lang="it-IT" sz="1600" dirty="0" err="1">
                <a:highlight>
                  <a:srgbClr val="FFFF00"/>
                </a:highlight>
              </a:rPr>
              <a:t>true</a:t>
            </a:r>
            <a:r>
              <a:rPr lang="it-IT" sz="1600" dirty="0">
                <a:highlight>
                  <a:srgbClr val="FFFF00"/>
                </a:highlight>
              </a:rPr>
              <a:t> </a:t>
            </a:r>
            <a:r>
              <a:rPr lang="it-IT" sz="1600" dirty="0"/>
              <a:t>) </a:t>
            </a:r>
          </a:p>
          <a:p>
            <a:pPr marL="400050" lvl="1" indent="0">
              <a:buNone/>
            </a:pPr>
            <a:r>
              <a:rPr lang="it-IT" sz="1600" dirty="0"/>
              <a:t>List&lt;Movie&gt; </a:t>
            </a:r>
            <a:r>
              <a:rPr lang="it-IT" sz="1600" dirty="0" err="1"/>
              <a:t>findAllByStranaCondizione</a:t>
            </a:r>
            <a:r>
              <a:rPr lang="it-IT" sz="1600" dirty="0"/>
              <a:t> ();</a:t>
            </a:r>
          </a:p>
          <a:p>
            <a:pPr marL="0" indent="0">
              <a:buNone/>
            </a:pPr>
            <a:endParaRPr lang="it-IT" sz="20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8456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A6AE5D-BDE7-841B-DC61-61B68690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query </a:t>
            </a:r>
            <a:r>
              <a:rPr lang="en-US" dirty="0" err="1"/>
              <a:t>parametriche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52B43D-C270-6FF4-ADA4-026AAFBB6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0972801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LE query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parametriche</a:t>
            </a:r>
            <a:r>
              <a:rPr lang="en-US" dirty="0"/>
              <a:t> </a:t>
            </a:r>
          </a:p>
          <a:p>
            <a:r>
              <a:rPr lang="en-US" dirty="0"/>
              <a:t>Si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@Param </a:t>
            </a:r>
            <a:r>
              <a:rPr lang="it-IT" dirty="0"/>
              <a:t>nella dichiarazione del metodo per  </a:t>
            </a:r>
            <a:br>
              <a:rPr lang="it-IT" dirty="0"/>
            </a:br>
            <a:r>
              <a:rPr lang="it-IT" dirty="0"/>
              <a:t>indicare la corrispondenza tra i </a:t>
            </a:r>
            <a:r>
              <a:rPr lang="it-IT" dirty="0" err="1"/>
              <a:t>paramentri</a:t>
            </a:r>
            <a:r>
              <a:rPr lang="it-IT" dirty="0"/>
              <a:t> nella query e quelli del metodo:</a:t>
            </a:r>
          </a:p>
          <a:p>
            <a:pPr marL="0" indent="0">
              <a:buNone/>
            </a:pPr>
            <a:endParaRPr lang="it-IT" dirty="0">
              <a:solidFill>
                <a:srgbClr val="1F71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@Query("SELECT c FROM Customer </a:t>
            </a:r>
            <a:r>
              <a:rPr lang="it-IT" dirty="0">
                <a:solidFill>
                  <a:srgbClr val="1F71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it-IT" dirty="0" err="1">
                <a:solidFill>
                  <a:srgbClr val="1F71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it-IT" dirty="0" err="1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.firstName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:</a:t>
            </a:r>
            <a:r>
              <a:rPr lang="it-IT" dirty="0" err="1">
                <a:solidFill>
                  <a:srgbClr val="1F71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it-IT" dirty="0" err="1">
                <a:solidFill>
                  <a:srgbClr val="1F71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it-IT" dirty="0" err="1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.lastName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:</a:t>
            </a:r>
            <a:r>
              <a:rPr lang="it-IT" dirty="0" err="1">
                <a:solidFill>
                  <a:srgbClr val="1F7199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&lt;Customer&gt; 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findCustomerByNameAndSurnameParams</a:t>
            </a:r>
            <a:r>
              <a:rPr lang="it-IT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it-IT" dirty="0">
                <a:solidFill>
                  <a:srgbClr val="1F71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@Param("</a:t>
            </a:r>
            <a:r>
              <a:rPr lang="it-IT" dirty="0" err="1">
                <a:solidFill>
                  <a:srgbClr val="1F71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r>
              <a:rPr lang="it-IT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it-IT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it-IT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it-IT" dirty="0">
                <a:solidFill>
                  <a:srgbClr val="1F71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@Param("</a:t>
            </a:r>
            <a:r>
              <a:rPr lang="it-IT" dirty="0" err="1">
                <a:solidFill>
                  <a:srgbClr val="1F7199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r>
              <a:rPr lang="it-IT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it-IT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endParaRPr lang="it-IT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			)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427175-83D4-AEA9-ADE1-6B3EECC35159}"/>
              </a:ext>
            </a:extLst>
          </p:cNvPr>
          <p:cNvSpPr txBox="1"/>
          <p:nvPr/>
        </p:nvSpPr>
        <p:spPr>
          <a:xfrm>
            <a:off x="253658" y="6126164"/>
            <a:ext cx="113287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NB: </a:t>
            </a:r>
            <a:r>
              <a:rPr lang="en-US" dirty="0" err="1"/>
              <a:t>ovviamente</a:t>
            </a:r>
            <a:r>
              <a:rPr lang="en-US" dirty="0"/>
              <a:t> 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sarebbe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semplice e </a:t>
            </a:r>
            <a:r>
              <a:rPr lang="en-US" dirty="0" err="1"/>
              <a:t>diretto</a:t>
            </a:r>
            <a:r>
              <a:rPr lang="en-US" dirty="0"/>
              <a:t> </a:t>
            </a:r>
            <a:r>
              <a:rPr lang="en-US" dirty="0" err="1"/>
              <a:t>scrivere</a:t>
            </a:r>
            <a:r>
              <a:rPr lang="en-US" dirty="0"/>
              <a:t>:</a:t>
            </a:r>
          </a:p>
          <a:p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&lt;Customer&gt; 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findCustomerByFirstNameAndSurname</a:t>
            </a:r>
            <a:r>
              <a:rPr lang="it-IT" b="1" dirty="0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it-IT" b="1" dirty="0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it-IT" b="1" dirty="0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it-IT" b="1" dirty="0">
                <a:solidFill>
                  <a:srgbClr val="2674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b="1" dirty="0" err="1">
                <a:solidFill>
                  <a:srgbClr val="2674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it-IT" b="1" dirty="0">
                <a:solidFill>
                  <a:srgbClr val="2674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74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A6AE5D-BDE7-841B-DC61-61B68690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query con </a:t>
            </a:r>
            <a:r>
              <a:rPr lang="en-US" dirty="0" err="1"/>
              <a:t>NamedQuery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52B43D-C270-6FF4-ADA4-026AAFBB6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0972801" cy="4525963"/>
          </a:xfrm>
        </p:spPr>
        <p:txBody>
          <a:bodyPr>
            <a:normAutofit/>
          </a:bodyPr>
          <a:lstStyle/>
          <a:p>
            <a:r>
              <a:rPr lang="en-US" dirty="0"/>
              <a:t>Si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definire</a:t>
            </a:r>
            <a:r>
              <a:rPr lang="en-US" dirty="0"/>
              <a:t> un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 il </a:t>
            </a:r>
            <a:r>
              <a:rPr lang="en-US" dirty="0" err="1"/>
              <a:t>nome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Named Query</a:t>
            </a:r>
            <a:endParaRPr lang="it-IT" dirty="0">
              <a:solidFill>
                <a:srgbClr val="1F71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1F71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it-IT" sz="14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</a:t>
            </a:r>
            <a:r>
              <a:rPr lang="it-IT" sz="14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Entity</a:t>
            </a:r>
            <a:endParaRPr lang="it-IT" sz="14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dirty="0">
                <a:solidFill>
                  <a:srgbClr val="646464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it-IT" sz="1400" dirty="0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@</a:t>
            </a:r>
            <a:r>
              <a:rPr lang="it-IT" sz="1400" dirty="0" err="1">
                <a:solidFill>
                  <a:srgbClr val="646464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NamedQuery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(name = </a:t>
            </a:r>
            <a:r>
              <a:rPr lang="it-IT" sz="14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4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Customer.</a:t>
            </a:r>
            <a:r>
              <a:rPr lang="it-IT" sz="1400" dirty="0" err="1">
                <a:solidFill>
                  <a:srgbClr val="2A00FF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findByMyPersonalFirstName</a:t>
            </a:r>
            <a:r>
              <a:rPr lang="it-IT" sz="14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query = </a:t>
            </a:r>
            <a:r>
              <a:rPr lang="it-IT" sz="14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"SELECT c 							FROM Customer c WHERE </a:t>
            </a:r>
            <a:r>
              <a:rPr lang="it-IT" sz="14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c.firstName</a:t>
            </a:r>
            <a:r>
              <a:rPr lang="it-IT" sz="14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:</a:t>
            </a:r>
            <a:r>
              <a:rPr lang="it-IT" sz="14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firstName</a:t>
            </a:r>
            <a:r>
              <a:rPr lang="it-IT" sz="14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public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4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class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Customer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  //</a:t>
            </a:r>
            <a:r>
              <a:rPr lang="it-IT" sz="1400" dirty="0" err="1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etc</a:t>
            </a:r>
            <a:endParaRPr lang="it-IT" sz="1400" dirty="0">
              <a:solidFill>
                <a:srgbClr val="000000"/>
              </a:solidFill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 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400" dirty="0">
              <a:solidFill>
                <a:srgbClr val="000000"/>
              </a:solidFill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400041" lvl="1" indent="0">
              <a:spcBef>
                <a:spcPts val="0"/>
              </a:spcBef>
              <a:buNone/>
            </a:pPr>
            <a:r>
              <a:rPr lang="it-IT" sz="14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public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4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interface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CustomerRepository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400" b="1" dirty="0" err="1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extends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CrudRepository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&lt;Customer, Long&gt; {</a:t>
            </a:r>
          </a:p>
          <a:p>
            <a:pPr marL="400041" lvl="1" indent="0">
              <a:spcBef>
                <a:spcPts val="0"/>
              </a:spcBef>
              <a:buNone/>
            </a:pPr>
            <a:b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it-IT" sz="14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400041" lvl="1" indent="0">
              <a:spcBef>
                <a:spcPts val="0"/>
              </a:spcBef>
              <a:buNone/>
            </a:pPr>
            <a:r>
              <a:rPr lang="it-IT" sz="1400" b="1" dirty="0">
                <a:solidFill>
                  <a:srgbClr val="7F0055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	</a:t>
            </a:r>
            <a:r>
              <a:rPr lang="it-IT" sz="14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public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Iterable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&lt;Customer&gt; </a:t>
            </a:r>
            <a:r>
              <a:rPr lang="it-IT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findByMyPersonalFirstName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it-IT" sz="14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String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it-IT" sz="14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firstName</a:t>
            </a: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400041" lvl="1" indent="0">
              <a:spcBef>
                <a:spcPts val="0"/>
              </a:spcBef>
              <a:buNone/>
            </a:pPr>
            <a:r>
              <a:rPr lang="it-IT" sz="1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427175-83D4-AEA9-ADE1-6B3EECC35159}"/>
              </a:ext>
            </a:extLst>
          </p:cNvPr>
          <p:cNvSpPr txBox="1"/>
          <p:nvPr/>
        </p:nvSpPr>
        <p:spPr>
          <a:xfrm>
            <a:off x="253658" y="6126164"/>
            <a:ext cx="80102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NB: </a:t>
            </a:r>
            <a:r>
              <a:rPr lang="en-US" dirty="0" err="1"/>
              <a:t>ovviamente</a:t>
            </a:r>
            <a:r>
              <a:rPr lang="en-US" dirty="0"/>
              <a:t>, </a:t>
            </a:r>
            <a:r>
              <a:rPr lang="en-US" dirty="0" err="1"/>
              <a:t>anche</a:t>
            </a:r>
            <a:r>
              <a:rPr lang="en-US" dirty="0"/>
              <a:t> 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sarebbe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semplice e </a:t>
            </a:r>
            <a:r>
              <a:rPr lang="en-US" dirty="0" err="1"/>
              <a:t>diretto</a:t>
            </a:r>
            <a:r>
              <a:rPr lang="en-US" dirty="0"/>
              <a:t> </a:t>
            </a:r>
            <a:r>
              <a:rPr lang="en-US" dirty="0" err="1"/>
              <a:t>scrivere</a:t>
            </a:r>
            <a:r>
              <a:rPr lang="en-US" dirty="0"/>
              <a:t>:</a:t>
            </a:r>
          </a:p>
          <a:p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&lt;Customer&gt; 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findCustomerByFirstName</a:t>
            </a:r>
            <a:r>
              <a:rPr lang="it-IT" b="1" dirty="0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it-IT" b="1" dirty="0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t-IT" b="1" dirty="0" err="1">
                <a:solidFill>
                  <a:srgbClr val="2674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it-IT" b="1" dirty="0">
                <a:solidFill>
                  <a:srgbClr val="2674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8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D63FD9-EE63-5A16-131C-EF818D2B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Sommario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73261A-3149-9B08-7E27-7CC54F44A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  <a:p>
            <a:r>
              <a:rPr lang="en-US" dirty="0"/>
              <a:t>JPA </a:t>
            </a:r>
            <a:r>
              <a:rPr lang="en-US" dirty="0" err="1"/>
              <a:t>CrudRepository</a:t>
            </a:r>
            <a:endParaRPr lang="en-US" dirty="0"/>
          </a:p>
          <a:p>
            <a:pPr lvl="1"/>
            <a:r>
              <a:rPr lang="en-US" dirty="0"/>
              <a:t>Il </a:t>
            </a:r>
            <a:r>
              <a:rPr lang="en-US" dirty="0" err="1"/>
              <a:t>metodo</a:t>
            </a:r>
            <a:r>
              <a:rPr lang="en-US" dirty="0"/>
              <a:t> save()</a:t>
            </a:r>
          </a:p>
          <a:p>
            <a:pPr lvl="1"/>
            <a:r>
              <a:rPr lang="en-US" dirty="0" err="1"/>
              <a:t>Costruzione</a:t>
            </a:r>
            <a:r>
              <a:rPr lang="en-US" dirty="0"/>
              <a:t> di query</a:t>
            </a:r>
          </a:p>
          <a:p>
            <a:pPr lvl="1"/>
            <a:r>
              <a:rPr lang="en-US" dirty="0"/>
              <a:t>Custom query</a:t>
            </a:r>
          </a:p>
          <a:p>
            <a:r>
              <a:rPr lang="en-US" dirty="0" err="1"/>
              <a:t>Eventi</a:t>
            </a:r>
            <a:r>
              <a:rPr lang="en-US" dirty="0"/>
              <a:t> in </a:t>
            </a:r>
            <a:r>
              <a:rPr lang="en-US" dirty="0" err="1"/>
              <a:t>cascata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898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Eventi</a:t>
            </a:r>
            <a:r>
              <a:rPr lang="en-US"/>
              <a:t> in </a:t>
            </a:r>
            <a:r>
              <a:rPr lang="en-US" err="1"/>
              <a:t>cascata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operazioni</a:t>
            </a:r>
            <a:r>
              <a:rPr lang="en-US" dirty="0"/>
              <a:t> di </a:t>
            </a:r>
            <a:r>
              <a:rPr lang="en-US" dirty="0" err="1"/>
              <a:t>inserimento</a:t>
            </a:r>
            <a:r>
              <a:rPr lang="en-US" dirty="0"/>
              <a:t>, </a:t>
            </a:r>
            <a:r>
              <a:rPr lang="en-US" dirty="0" err="1"/>
              <a:t>cancellazione</a:t>
            </a:r>
            <a:r>
              <a:rPr lang="en-US" dirty="0"/>
              <a:t> aggiornamento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realizzano</a:t>
            </a:r>
            <a:r>
              <a:rPr lang="en-US" dirty="0"/>
              <a:t> con </a:t>
            </a:r>
            <a:r>
              <a:rPr lang="en-US" dirty="0" err="1"/>
              <a:t>i</a:t>
            </a:r>
            <a:r>
              <a:rPr lang="en-US" dirty="0"/>
              <a:t> repository</a:t>
            </a:r>
          </a:p>
          <a:p>
            <a:r>
              <a:rPr lang="en-US" dirty="0"/>
              <a:t>Ci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situazioni</a:t>
            </a:r>
            <a:r>
              <a:rPr lang="en-US" dirty="0"/>
              <a:t> in cui </a:t>
            </a:r>
            <a:r>
              <a:rPr lang="en-US" dirty="0" err="1"/>
              <a:t>vorremmo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alcune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fossero</a:t>
            </a:r>
            <a:r>
              <a:rPr lang="en-US" dirty="0"/>
              <a:t> propagate alle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collegate</a:t>
            </a:r>
            <a:r>
              <a:rPr lang="en-US" dirty="0"/>
              <a:t> </a:t>
            </a:r>
            <a:r>
              <a:rPr lang="en-US" dirty="0" err="1"/>
              <a:t>attraverso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7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CD7E85-8CBF-8F2A-848C-26EB58F8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89BE44-1F24-740F-9579-6AA8D1BE1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Siano date le </a:t>
            </a:r>
            <a:r>
              <a:rPr lang="en-US" dirty="0" err="1"/>
              <a:t>classi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en-US" dirty="0"/>
              <a:t> </a:t>
            </a:r>
            <a:r>
              <a:rPr lang="en-US" dirty="0" err="1"/>
              <a:t>viste</a:t>
            </a:r>
            <a:r>
              <a:rPr lang="en-US" dirty="0"/>
              <a:t> </a:t>
            </a:r>
            <a:r>
              <a:rPr lang="en-US" dirty="0" err="1"/>
              <a:t>negli</a:t>
            </a:r>
            <a:r>
              <a:rPr lang="en-US" dirty="0"/>
              <a:t> </a:t>
            </a:r>
            <a:r>
              <a:rPr lang="en-US" dirty="0" err="1"/>
              <a:t>esercizi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mapping ORM</a:t>
            </a:r>
          </a:p>
          <a:p>
            <a:r>
              <a:rPr lang="en-US" dirty="0"/>
              <a:t>Cosa ci </a:t>
            </a:r>
            <a:r>
              <a:rPr lang="en-US" dirty="0" err="1"/>
              <a:t>aspettiamo</a:t>
            </a:r>
            <a:r>
              <a:rPr lang="en-US" dirty="0"/>
              <a:t> da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porzione</a:t>
            </a:r>
            <a:r>
              <a:rPr lang="en-US" dirty="0"/>
              <a:t> di </a:t>
            </a:r>
            <a:r>
              <a:rPr lang="en-US" dirty="0" err="1"/>
              <a:t>codice</a:t>
            </a:r>
            <a:endParaRPr lang="en-US" dirty="0"/>
          </a:p>
          <a:p>
            <a:endParaRPr lang="en-US" dirty="0"/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.setFirstName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"paolo"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.setLastName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"rossi"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.setStreet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"vicolo cieco"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.setCity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it-IT" sz="26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roma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26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.setAddress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2600" dirty="0">
              <a:solidFill>
                <a:srgbClr val="0000C0"/>
              </a:solidFill>
              <a:effectLst/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customerRepository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.save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77655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89A9CC-5755-9351-4B1B-8194DF16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(cont.)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95A138-011D-E969-0D74-DBD53E605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 </a:t>
            </a:r>
            <a:r>
              <a:rPr lang="en-US" dirty="0" err="1"/>
              <a:t>verifica</a:t>
            </a:r>
            <a:r>
              <a:rPr lang="en-US" dirty="0"/>
              <a:t> un </a:t>
            </a:r>
            <a:r>
              <a:rPr lang="en-US" dirty="0" err="1"/>
              <a:t>errore</a:t>
            </a:r>
            <a:r>
              <a:rPr lang="en-US" dirty="0"/>
              <a:t> </a:t>
            </a:r>
            <a:r>
              <a:rPr lang="en-US" dirty="0" err="1"/>
              <a:t>perchè</a:t>
            </a:r>
            <a:r>
              <a:rPr lang="en-US" dirty="0"/>
              <a:t> non </a:t>
            </a:r>
            <a:r>
              <a:rPr lang="en-US" dirty="0" err="1"/>
              <a:t>abbiamo</a:t>
            </a:r>
            <a:r>
              <a:rPr lang="en-US" dirty="0"/>
              <a:t> </a:t>
            </a:r>
            <a:r>
              <a:rPr lang="en-US" dirty="0" err="1"/>
              <a:t>salvato</a:t>
            </a:r>
            <a:r>
              <a:rPr lang="en-US" dirty="0"/>
              <a:t>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en-US" dirty="0"/>
              <a:t> prima di </a:t>
            </a:r>
            <a:r>
              <a:rPr lang="en-US" dirty="0" err="1"/>
              <a:t>salvare</a:t>
            </a:r>
            <a:r>
              <a:rPr lang="en-US" dirty="0"/>
              <a:t>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</a:p>
          <a:p>
            <a:endParaRPr lang="en-US" dirty="0"/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.setFirstName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"paolo"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.setLastName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"rossi"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.setStreet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"vicolo cieco"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.setCity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it-IT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roma</a:t>
            </a:r>
            <a:r>
              <a:rPr lang="it-IT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endParaRPr lang="it-IT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.setAddress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endParaRPr lang="it-IT" dirty="0">
              <a:solidFill>
                <a:srgbClr val="0000C0"/>
              </a:solidFill>
              <a:effectLst/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addressRepository</a:t>
            </a:r>
            <a:r>
              <a:rPr lang="it-IT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.save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dirty="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it-IT" dirty="0">
              <a:solidFill>
                <a:srgbClr val="0000C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08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customerRepository</a:t>
            </a:r>
            <a:r>
              <a:rPr lang="it-IT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.save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577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Eventi</a:t>
            </a:r>
            <a:r>
              <a:rPr lang="en-US"/>
              <a:t> in </a:t>
            </a:r>
            <a:r>
              <a:rPr lang="en-US" err="1"/>
              <a:t>cascata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 err="1"/>
              <a:t>Sarebbe</a:t>
            </a:r>
            <a:r>
              <a:rPr lang="en-US" dirty="0"/>
              <a:t> comodo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l'operazione</a:t>
            </a:r>
            <a:r>
              <a:rPr lang="en-US" dirty="0"/>
              <a:t> </a:t>
            </a:r>
            <a:r>
              <a:rPr lang="en-US" dirty="0" err="1"/>
              <a:t>svolta</a:t>
            </a:r>
            <a:r>
              <a:rPr lang="en-US" dirty="0"/>
              <a:t> da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save() </a:t>
            </a:r>
            <a:r>
              <a:rPr lang="en-US" dirty="0" err="1"/>
              <a:t>sull'oggetto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applicasse</a:t>
            </a:r>
            <a:r>
              <a:rPr lang="en-US" dirty="0"/>
              <a:t> </a:t>
            </a:r>
            <a:r>
              <a:rPr lang="en-US" b="1" dirty="0"/>
              <a:t>in </a:t>
            </a:r>
            <a:r>
              <a:rPr lang="en-US" b="1" dirty="0" err="1"/>
              <a:t>cascata</a:t>
            </a:r>
            <a:r>
              <a:rPr lang="en-US" b="1" dirty="0"/>
              <a:t> </a:t>
            </a:r>
            <a:r>
              <a:rPr lang="en-US" dirty="0" err="1"/>
              <a:t>all'oggetto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en-US" dirty="0"/>
              <a:t> ad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collegato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4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Eventi</a:t>
            </a:r>
            <a:r>
              <a:rPr lang="en-US"/>
              <a:t> in </a:t>
            </a:r>
            <a:r>
              <a:rPr lang="en-US" err="1"/>
              <a:t>cascata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ottenere</a:t>
            </a:r>
            <a:r>
              <a:rPr lang="en-US" dirty="0"/>
              <a:t> </a:t>
            </a:r>
            <a:r>
              <a:rPr lang="en-US" dirty="0" err="1"/>
              <a:t>l'applicazione</a:t>
            </a:r>
            <a:r>
              <a:rPr lang="en-US" dirty="0"/>
              <a:t> di </a:t>
            </a:r>
            <a:r>
              <a:rPr lang="en-US" dirty="0" err="1"/>
              <a:t>eventi</a:t>
            </a:r>
            <a:r>
              <a:rPr lang="en-US" dirty="0"/>
              <a:t> in </a:t>
            </a:r>
            <a:r>
              <a:rPr lang="en-US" dirty="0" err="1"/>
              <a:t>cascata</a:t>
            </a:r>
            <a:r>
              <a:rPr lang="en-US" dirty="0"/>
              <a:t> (</a:t>
            </a:r>
            <a:r>
              <a:rPr lang="en-US" dirty="0" err="1"/>
              <a:t>sulle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collegate</a:t>
            </a:r>
            <a:r>
              <a:rPr lang="en-US" dirty="0"/>
              <a:t> da </a:t>
            </a:r>
            <a:r>
              <a:rPr lang="en-US" dirty="0" err="1"/>
              <a:t>associazioni</a:t>
            </a:r>
            <a:r>
              <a:rPr lang="en-US" dirty="0"/>
              <a:t>) </a:t>
            </a:r>
            <a:r>
              <a:rPr lang="en-US" dirty="0" err="1"/>
              <a:t>specificando</a:t>
            </a:r>
            <a:r>
              <a:rPr lang="en-US" dirty="0"/>
              <a:t>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proprietà</a:t>
            </a:r>
            <a:r>
              <a:rPr lang="en-US" dirty="0"/>
              <a:t> </a:t>
            </a:r>
            <a:r>
              <a:rPr lang="en-US" dirty="0" err="1"/>
              <a:t>nelle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endParaRPr lang="en-US" dirty="0"/>
          </a:p>
          <a:p>
            <a:r>
              <a:rPr lang="en-US" dirty="0" err="1"/>
              <a:t>Sintatticamente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adorna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r>
              <a:rPr lang="en-US" dirty="0" err="1"/>
              <a:t>dell'associazione</a:t>
            </a:r>
            <a:r>
              <a:rPr lang="en-US" dirty="0"/>
              <a:t> con la </a:t>
            </a:r>
            <a:r>
              <a:rPr lang="en-US" dirty="0" err="1"/>
              <a:t>coppia</a:t>
            </a:r>
            <a:r>
              <a:rPr lang="en-US" dirty="0"/>
              <a:t> </a:t>
            </a:r>
            <a:r>
              <a:rPr lang="en-US" dirty="0" err="1"/>
              <a:t>attributo</a:t>
            </a:r>
            <a:r>
              <a:rPr lang="en-US" dirty="0"/>
              <a:t> </a:t>
            </a:r>
            <a:r>
              <a:rPr lang="en-US" dirty="0" err="1"/>
              <a:t>valore</a:t>
            </a:r>
            <a:endParaRPr lang="en-US" dirty="0"/>
          </a:p>
          <a:p>
            <a:pPr marL="457189" lvl="1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cascade = {</a:t>
            </a:r>
            <a:r>
              <a:rPr lang="en-US" b="1" dirty="0" err="1">
                <a:solidFill>
                  <a:schemeClr val="accent2"/>
                </a:solidFill>
              </a:rPr>
              <a:t>lista</a:t>
            </a:r>
            <a:r>
              <a:rPr lang="en-US" b="1" dirty="0">
                <a:solidFill>
                  <a:schemeClr val="accent2"/>
                </a:solidFill>
              </a:rPr>
              <a:t> di </a:t>
            </a:r>
            <a:r>
              <a:rPr lang="en-US" b="1" dirty="0" err="1">
                <a:solidFill>
                  <a:schemeClr val="accent2"/>
                </a:solidFill>
              </a:rPr>
              <a:t>eventi</a:t>
            </a:r>
            <a:r>
              <a:rPr lang="en-US" b="1" dirty="0">
                <a:solidFill>
                  <a:schemeClr val="accent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8138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Esempio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@Entity</a:t>
            </a:r>
          </a:p>
          <a:p>
            <a:pPr marL="0" indent="0">
              <a:buNone/>
            </a:pPr>
            <a:r>
              <a:rPr lang="en-US" dirty="0"/>
              <a:t>public class Customer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@Id</a:t>
            </a:r>
          </a:p>
          <a:p>
            <a:pPr marL="0" indent="0">
              <a:buNone/>
            </a:pPr>
            <a:r>
              <a:rPr lang="en-US" dirty="0"/>
              <a:t>    @</a:t>
            </a:r>
            <a:r>
              <a:rPr lang="en-US" dirty="0" err="1"/>
              <a:t>GeneratedValue</a:t>
            </a:r>
            <a:r>
              <a:rPr lang="en-US" dirty="0"/>
              <a:t>(strategy = </a:t>
            </a:r>
            <a:r>
              <a:rPr lang="en-US" dirty="0" err="1"/>
              <a:t>GenerationType.</a:t>
            </a:r>
            <a:r>
              <a:rPr lang="en-US" i="1" dirty="0" err="1"/>
              <a:t>AUTO</a:t>
            </a:r>
            <a:r>
              <a:rPr lang="en-US" i="1" dirty="0"/>
              <a:t>)</a:t>
            </a:r>
          </a:p>
          <a:p>
            <a:pPr marL="0" indent="0">
              <a:buNone/>
            </a:pPr>
            <a:r>
              <a:rPr lang="en-US" dirty="0"/>
              <a:t>    private Long id;</a:t>
            </a:r>
          </a:p>
          <a:p>
            <a:pPr marL="0" indent="0">
              <a:buNone/>
            </a:pPr>
            <a:r>
              <a:rPr lang="en-US" dirty="0"/>
              <a:t>    @Column(nullable = false)</a:t>
            </a:r>
          </a:p>
          <a:p>
            <a:pPr marL="0" indent="0">
              <a:buNone/>
            </a:pPr>
            <a:r>
              <a:rPr lang="en-US" dirty="0"/>
              <a:t>    private String </a:t>
            </a:r>
            <a:r>
              <a:rPr lang="en-US" dirty="0" err="1"/>
              <a:t>firstName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@Column(nullable = false)</a:t>
            </a:r>
          </a:p>
          <a:p>
            <a:pPr marL="0" indent="0">
              <a:buNone/>
            </a:pPr>
            <a:r>
              <a:rPr lang="en-US" dirty="0"/>
              <a:t>    private String </a:t>
            </a:r>
            <a:r>
              <a:rPr lang="en-US" dirty="0" err="1"/>
              <a:t>lastName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@Column(unique=true, nullable = false)</a:t>
            </a:r>
          </a:p>
          <a:p>
            <a:pPr marL="0" indent="0">
              <a:buNone/>
            </a:pPr>
            <a:r>
              <a:rPr lang="en-US" dirty="0"/>
              <a:t>    private String email;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C0504D"/>
                </a:solidFill>
              </a:rPr>
              <a:t>@</a:t>
            </a:r>
            <a:r>
              <a:rPr lang="en-US" b="1" dirty="0" err="1">
                <a:solidFill>
                  <a:srgbClr val="C0504D"/>
                </a:solidFill>
              </a:rPr>
              <a:t>OneToOne</a:t>
            </a:r>
            <a:r>
              <a:rPr lang="en-US" b="1" dirty="0">
                <a:solidFill>
                  <a:srgbClr val="C0504D"/>
                </a:solidFill>
              </a:rPr>
              <a:t>(cascade = {</a:t>
            </a:r>
            <a:r>
              <a:rPr lang="en-US" b="1" dirty="0" err="1">
                <a:solidFill>
                  <a:srgbClr val="C0504D"/>
                </a:solidFill>
              </a:rPr>
              <a:t>CascadeType.</a:t>
            </a:r>
            <a:r>
              <a:rPr lang="en-US" b="1" i="1" dirty="0" err="1">
                <a:solidFill>
                  <a:srgbClr val="C0504D"/>
                </a:solidFill>
              </a:rPr>
              <a:t>PERSIST</a:t>
            </a:r>
            <a:r>
              <a:rPr lang="en-US" b="1" i="1" dirty="0">
                <a:solidFill>
                  <a:srgbClr val="C0504D"/>
                </a:solidFill>
              </a:rPr>
              <a:t>, </a:t>
            </a:r>
            <a:r>
              <a:rPr lang="en-US" b="1" i="1" dirty="0" err="1">
                <a:solidFill>
                  <a:srgbClr val="C0504D"/>
                </a:solidFill>
              </a:rPr>
              <a:t>CascadeType.REMOVE</a:t>
            </a:r>
            <a:r>
              <a:rPr lang="en-US" b="1" i="1" dirty="0">
                <a:solidFill>
                  <a:srgbClr val="C0504D"/>
                </a:solidFill>
              </a:rPr>
              <a:t>})</a:t>
            </a:r>
          </a:p>
          <a:p>
            <a:pPr marL="0" indent="0">
              <a:buNone/>
            </a:pPr>
            <a:r>
              <a:rPr lang="en-US" dirty="0"/>
              <a:t>    private Address address;</a:t>
            </a:r>
          </a:p>
        </p:txBody>
      </p:sp>
    </p:spTree>
    <p:extLst>
      <p:ext uri="{BB962C8B-B14F-4D97-AF65-F5344CB8AC3E}">
        <p14:creationId xmlns:p14="http://schemas.microsoft.com/office/powerpoint/2010/main" val="45521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Eventi</a:t>
            </a:r>
            <a:r>
              <a:rPr lang="en-US"/>
              <a:t> in </a:t>
            </a:r>
            <a:r>
              <a:rPr lang="en-US" err="1"/>
              <a:t>Cascata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Rivediamo</a:t>
            </a:r>
            <a:r>
              <a:rPr lang="en-US" dirty="0"/>
              <a:t> </a:t>
            </a:r>
            <a:r>
              <a:rPr lang="en-US" dirty="0" err="1"/>
              <a:t>l'esempio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. Ora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porzione</a:t>
            </a:r>
            <a:r>
              <a:rPr lang="en-US" dirty="0"/>
              <a:t> di </a:t>
            </a:r>
            <a:r>
              <a:rPr lang="en-US" dirty="0" err="1"/>
              <a:t>codice</a:t>
            </a:r>
            <a:r>
              <a:rPr lang="en-US" dirty="0"/>
              <a:t> </a:t>
            </a:r>
            <a:r>
              <a:rPr lang="en-US" dirty="0" err="1"/>
              <a:t>funziona</a:t>
            </a:r>
            <a:r>
              <a:rPr lang="en-US" dirty="0"/>
              <a:t>:</a:t>
            </a:r>
          </a:p>
          <a:p>
            <a:endParaRPr lang="en-US" dirty="0"/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.setFirstName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"paolo"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.setLastName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"rossi"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.setStreet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"vicolo cieco"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.setCity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it-IT" sz="2600" dirty="0" err="1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roma</a:t>
            </a:r>
            <a:r>
              <a:rPr lang="it-IT" sz="26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26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.setAddress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 err="1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2600" dirty="0">
              <a:solidFill>
                <a:srgbClr val="0000C0"/>
              </a:solidFill>
              <a:effectLst/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08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600" dirty="0" err="1">
                <a:solidFill>
                  <a:srgbClr val="000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customerRepository</a:t>
            </a:r>
            <a:r>
              <a:rPr lang="it-IT" sz="2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.save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it-IT" sz="26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it-IT" sz="2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6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Eventi</a:t>
            </a:r>
            <a:r>
              <a:rPr lang="en-US"/>
              <a:t> in </a:t>
            </a:r>
            <a:r>
              <a:rPr lang="en-US" err="1"/>
              <a:t>Cascata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CASCADE TYPE</a:t>
            </a:r>
          </a:p>
          <a:p>
            <a:pPr lvl="1"/>
            <a:r>
              <a:rPr lang="en-US" dirty="0"/>
              <a:t>PERSIST					</a:t>
            </a:r>
            <a:r>
              <a:rPr lang="en-US" dirty="0" err="1"/>
              <a:t>inserimento</a:t>
            </a:r>
            <a:endParaRPr lang="en-US" dirty="0"/>
          </a:p>
          <a:p>
            <a:pPr lvl="1"/>
            <a:r>
              <a:rPr lang="en-US" dirty="0"/>
              <a:t>REMOVE					</a:t>
            </a:r>
            <a:r>
              <a:rPr lang="en-US" dirty="0" err="1"/>
              <a:t>cancellazione</a:t>
            </a:r>
            <a:endParaRPr lang="en-US" dirty="0"/>
          </a:p>
          <a:p>
            <a:pPr lvl="1"/>
            <a:r>
              <a:rPr lang="en-US" dirty="0"/>
              <a:t>MERGE						aggiornamento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REFRESH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CLEAR</a:t>
            </a:r>
          </a:p>
          <a:p>
            <a:pPr lvl="1"/>
            <a:r>
              <a:rPr lang="en-US" dirty="0"/>
              <a:t>ALL							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precedenti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596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Eventi</a:t>
            </a:r>
            <a:r>
              <a:rPr lang="en-US"/>
              <a:t> in </a:t>
            </a:r>
            <a:r>
              <a:rPr lang="en-US" err="1"/>
              <a:t>Cascata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Influiscono</a:t>
            </a:r>
            <a:r>
              <a:rPr lang="en-US" dirty="0"/>
              <a:t> molto </a:t>
            </a:r>
            <a:r>
              <a:rPr lang="en-US" dirty="0" err="1"/>
              <a:t>sulle</a:t>
            </a:r>
            <a:r>
              <a:rPr lang="en-US" dirty="0"/>
              <a:t> </a:t>
            </a:r>
            <a:r>
              <a:rPr lang="en-US" dirty="0" err="1"/>
              <a:t>prestazioni</a:t>
            </a:r>
            <a:endParaRPr lang="en-US" dirty="0"/>
          </a:p>
          <a:p>
            <a:pPr lvl="1"/>
            <a:r>
              <a:rPr lang="en-US" dirty="0"/>
              <a:t>Es.: fare </a:t>
            </a:r>
            <a:r>
              <a:rPr lang="en-US" dirty="0" err="1"/>
              <a:t>il</a:t>
            </a:r>
            <a:r>
              <a:rPr lang="en-US" dirty="0"/>
              <a:t> cascade del PERSIST di una </a:t>
            </a:r>
            <a:r>
              <a:rPr lang="en-US" dirty="0" err="1"/>
              <a:t>relazione</a:t>
            </a:r>
            <a:r>
              <a:rPr lang="en-US" dirty="0"/>
              <a:t> one-to-many </a:t>
            </a:r>
            <a:r>
              <a:rPr lang="en-US" dirty="0" err="1"/>
              <a:t>comporta</a:t>
            </a:r>
            <a:r>
              <a:rPr lang="en-US" dirty="0"/>
              <a:t> di </a:t>
            </a:r>
            <a:r>
              <a:rPr lang="en-US" dirty="0" err="1"/>
              <a:t>verificare</a:t>
            </a:r>
            <a:r>
              <a:rPr lang="en-US" dirty="0"/>
              <a:t> se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collezione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database</a:t>
            </a:r>
          </a:p>
          <a:p>
            <a:r>
              <a:rPr lang="en-US" dirty="0"/>
              <a:t>Una semplice </a:t>
            </a:r>
            <a:r>
              <a:rPr lang="en-US" dirty="0" err="1"/>
              <a:t>linee</a:t>
            </a:r>
            <a:r>
              <a:rPr lang="en-US" dirty="0"/>
              <a:t> </a:t>
            </a:r>
            <a:r>
              <a:rPr lang="en-US" dirty="0" err="1"/>
              <a:t>guida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Impostare</a:t>
            </a:r>
            <a:r>
              <a:rPr lang="en-US" dirty="0"/>
              <a:t> cascade per PERSIST, MERGE solo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associazioni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esprimono</a:t>
            </a:r>
            <a:r>
              <a:rPr lang="en-US" dirty="0"/>
              <a:t> una </a:t>
            </a:r>
            <a:r>
              <a:rPr lang="en-US" dirty="0" err="1"/>
              <a:t>composizione</a:t>
            </a:r>
            <a:r>
              <a:rPr lang="en-US" dirty="0"/>
              <a:t> (</a:t>
            </a:r>
            <a:r>
              <a:rPr lang="en-US" dirty="0" err="1"/>
              <a:t>vedi</a:t>
            </a:r>
            <a:r>
              <a:rPr lang="en-US" dirty="0"/>
              <a:t> APS)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509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FFB938-4B3E-7449-87E0-BCF4A73E0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Eventi</a:t>
            </a:r>
            <a:r>
              <a:rPr lang="en-US" dirty="0"/>
              <a:t> in </a:t>
            </a:r>
            <a:r>
              <a:rPr lang="en-US" dirty="0" err="1"/>
              <a:t>Cascata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1BFAFC-9B15-7A4B-A907-81299CCFD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per le </a:t>
            </a:r>
            <a:r>
              <a:rPr lang="en-US" dirty="0" err="1"/>
              <a:t>strategie</a:t>
            </a:r>
            <a:r>
              <a:rPr lang="en-US" dirty="0"/>
              <a:t> di Fetch,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eventi</a:t>
            </a:r>
            <a:r>
              <a:rPr lang="en-US" dirty="0"/>
              <a:t> in </a:t>
            </a:r>
            <a:r>
              <a:rPr lang="en-US" dirty="0" err="1"/>
              <a:t>cascata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espressi</a:t>
            </a:r>
            <a:r>
              <a:rPr lang="en-US" dirty="0"/>
              <a:t> in </a:t>
            </a:r>
            <a:r>
              <a:rPr lang="en-US" dirty="0" err="1"/>
              <a:t>fase</a:t>
            </a:r>
            <a:r>
              <a:rPr lang="en-US" dirty="0"/>
              <a:t> di </a:t>
            </a:r>
            <a:r>
              <a:rPr lang="en-US" dirty="0" err="1"/>
              <a:t>progetto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class diagram</a:t>
            </a:r>
          </a:p>
          <a:p>
            <a:r>
              <a:rPr lang="en-US" dirty="0" err="1"/>
              <a:t>Anche</a:t>
            </a:r>
            <a:r>
              <a:rPr lang="en-US" dirty="0"/>
              <a:t> 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, </a:t>
            </a:r>
            <a:r>
              <a:rPr lang="en-US" dirty="0" err="1"/>
              <a:t>adorniamo</a:t>
            </a:r>
            <a:r>
              <a:rPr lang="en-US" dirty="0"/>
              <a:t> le </a:t>
            </a:r>
            <a:r>
              <a:rPr lang="en-US" dirty="0" err="1"/>
              <a:t>associazioni</a:t>
            </a:r>
            <a:r>
              <a:rPr lang="en-US" dirty="0"/>
              <a:t> con una nota</a:t>
            </a:r>
          </a:p>
        </p:txBody>
      </p:sp>
    </p:spTree>
    <p:extLst>
      <p:ext uri="{BB962C8B-B14F-4D97-AF65-F5344CB8AC3E}">
        <p14:creationId xmlns:p14="http://schemas.microsoft.com/office/powerpoint/2010/main" val="3893910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endParaRPr lang="en-US" dirty="0"/>
          </a:p>
        </p:txBody>
      </p:sp>
      <p:graphicFrame>
        <p:nvGraphicFramePr>
          <p:cNvPr id="5" name="Segnaposto contenuto 5"/>
          <p:cNvGraphicFramePr>
            <a:graphicFrameLocks/>
          </p:cNvGraphicFramePr>
          <p:nvPr/>
        </p:nvGraphicFramePr>
        <p:xfrm>
          <a:off x="5270500" y="1533150"/>
          <a:ext cx="1553291" cy="1222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-name:</a:t>
                      </a:r>
                      <a:r>
                        <a:rPr lang="it-IT" sz="1100" baseline="0" dirty="0"/>
                        <a:t>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description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-price: Float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5"/>
          <p:cNvGraphicFramePr>
            <a:graphicFrameLocks/>
          </p:cNvGraphicFramePr>
          <p:nvPr/>
        </p:nvGraphicFramePr>
        <p:xfrm>
          <a:off x="8357871" y="1444250"/>
          <a:ext cx="2015719" cy="1389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Provider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-name: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phoneNumber</a:t>
                      </a:r>
                      <a:r>
                        <a:rPr lang="it-IT" sz="1100" dirty="0"/>
                        <a:t>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-email: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vatin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Connettore 2 6"/>
          <p:cNvCxnSpPr>
            <a:stCxn id="5" idx="3"/>
            <a:endCxn id="6" idx="1"/>
          </p:cNvCxnSpPr>
          <p:nvPr/>
        </p:nvCxnSpPr>
        <p:spPr>
          <a:xfrm flipV="1">
            <a:off x="6823791" y="2139170"/>
            <a:ext cx="1534080" cy="508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7795490" y="168442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6887059" y="1680625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  <p:graphicFrame>
        <p:nvGraphicFramePr>
          <p:cNvPr id="10" name="Segnaposto contenuto 5"/>
          <p:cNvGraphicFramePr>
            <a:graphicFrameLocks/>
          </p:cNvGraphicFramePr>
          <p:nvPr/>
        </p:nvGraphicFramePr>
        <p:xfrm>
          <a:off x="2006369" y="3293460"/>
          <a:ext cx="1553291" cy="88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creationTime</a:t>
                      </a:r>
                      <a:r>
                        <a:rPr lang="it-IT" sz="1100" dirty="0"/>
                        <a:t>:</a:t>
                      </a:r>
                      <a:r>
                        <a:rPr lang="it-IT" sz="1100" baseline="0" dirty="0"/>
                        <a:t> Date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5042941" y="3217260"/>
          <a:ext cx="2015719" cy="105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unitPrice</a:t>
                      </a:r>
                      <a:r>
                        <a:rPr lang="it-IT" sz="1100" dirty="0"/>
                        <a:t>: Float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quantity</a:t>
                      </a:r>
                      <a:r>
                        <a:rPr lang="it-IT" sz="1100" dirty="0"/>
                        <a:t>: </a:t>
                      </a:r>
                      <a:r>
                        <a:rPr lang="it-IT" sz="1100" dirty="0" err="1"/>
                        <a:t>Integer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stCxn id="10" idx="3"/>
            <a:endCxn id="11" idx="1"/>
          </p:cNvCxnSpPr>
          <p:nvPr/>
        </p:nvCxnSpPr>
        <p:spPr>
          <a:xfrm>
            <a:off x="3559660" y="3736920"/>
            <a:ext cx="1483281" cy="762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467859" y="340663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14" name="Connettore 2 13"/>
          <p:cNvCxnSpPr>
            <a:stCxn id="11" idx="0"/>
            <a:endCxn id="5" idx="2"/>
          </p:cNvCxnSpPr>
          <p:nvPr/>
        </p:nvCxnSpPr>
        <p:spPr>
          <a:xfrm flipH="1" flipV="1">
            <a:off x="6047145" y="2755351"/>
            <a:ext cx="3655" cy="461909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Segnaposto contenuto 5"/>
          <p:cNvGraphicFramePr>
            <a:graphicFrameLocks/>
          </p:cNvGraphicFramePr>
          <p:nvPr/>
        </p:nvGraphicFramePr>
        <p:xfrm>
          <a:off x="2006369" y="4998261"/>
          <a:ext cx="1553291" cy="1725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36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firstName</a:t>
                      </a:r>
                      <a:r>
                        <a:rPr lang="it-IT" sz="1100" dirty="0"/>
                        <a:t>:</a:t>
                      </a:r>
                      <a:r>
                        <a:rPr lang="it-IT" sz="1100" baseline="0" dirty="0"/>
                        <a:t>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lastName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-email: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phoneNumber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dateOfBirth</a:t>
                      </a:r>
                      <a:r>
                        <a:rPr lang="it-IT" sz="1100" baseline="0" dirty="0"/>
                        <a:t>: Date</a:t>
                      </a:r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registrationDate</a:t>
                      </a:r>
                      <a:r>
                        <a:rPr lang="it-IT" sz="1100" baseline="0" dirty="0"/>
                        <a:t>: Date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/>
        </p:nvGraphicFramePr>
        <p:xfrm>
          <a:off x="8360182" y="5079540"/>
          <a:ext cx="2015719" cy="1557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-street: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-city: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-state:</a:t>
                      </a:r>
                      <a:r>
                        <a:rPr lang="it-IT" sz="1100" baseline="0" dirty="0"/>
                        <a:t>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zipcode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-country: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stCxn id="17" idx="3"/>
            <a:endCxn id="18" idx="1"/>
          </p:cNvCxnSpPr>
          <p:nvPr/>
        </p:nvCxnSpPr>
        <p:spPr>
          <a:xfrm flipV="1">
            <a:off x="3559660" y="5858280"/>
            <a:ext cx="4800522" cy="254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/>
          <p:cNvCxnSpPr>
            <a:stCxn id="17" idx="0"/>
            <a:endCxn id="10" idx="2"/>
          </p:cNvCxnSpPr>
          <p:nvPr/>
        </p:nvCxnSpPr>
        <p:spPr>
          <a:xfrm flipV="1">
            <a:off x="2783014" y="4180381"/>
            <a:ext cx="0" cy="81788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2783015" y="426469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25" name="Connettore 2 24"/>
          <p:cNvCxnSpPr>
            <a:stCxn id="6" idx="2"/>
            <a:endCxn id="18" idx="0"/>
          </p:cNvCxnSpPr>
          <p:nvPr/>
        </p:nvCxnSpPr>
        <p:spPr>
          <a:xfrm>
            <a:off x="9365730" y="2834091"/>
            <a:ext cx="2311" cy="2245449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>
            <a:off x="6050799" y="289546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5AB94B8-55A9-5547-9375-6CECE59D8A38}"/>
              </a:ext>
            </a:extLst>
          </p:cNvPr>
          <p:cNvSpPr txBox="1"/>
          <p:nvPr/>
        </p:nvSpPr>
        <p:spPr>
          <a:xfrm>
            <a:off x="3824393" y="3705317"/>
            <a:ext cx="1337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Fetch: EAGER</a:t>
            </a:r>
          </a:p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Cascade: PERSIST,  </a:t>
            </a:r>
          </a:p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                 MERGE, </a:t>
            </a:r>
          </a:p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                 DELETE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1AFDCB0-9E42-8C46-A05E-A8E7323E790D}"/>
              </a:ext>
            </a:extLst>
          </p:cNvPr>
          <p:cNvSpPr txBox="1"/>
          <p:nvPr/>
        </p:nvSpPr>
        <p:spPr>
          <a:xfrm>
            <a:off x="7287319" y="5834150"/>
            <a:ext cx="117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Cascade: </a:t>
            </a:r>
            <a:b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</a:b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PERSIST, DELETE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1D91913-BFF0-DD4B-80DC-464F13D4B965}"/>
              </a:ext>
            </a:extLst>
          </p:cNvPr>
          <p:cNvSpPr txBox="1"/>
          <p:nvPr/>
        </p:nvSpPr>
        <p:spPr>
          <a:xfrm>
            <a:off x="1271015" y="4136204"/>
            <a:ext cx="201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Cascade: </a:t>
            </a:r>
            <a:b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</a:b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PERSIST, DELETE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37187BA-F2FB-4448-A9F7-AD4B497DCB24}"/>
              </a:ext>
            </a:extLst>
          </p:cNvPr>
          <p:cNvSpPr txBox="1"/>
          <p:nvPr/>
        </p:nvSpPr>
        <p:spPr>
          <a:xfrm>
            <a:off x="8595474" y="4433207"/>
            <a:ext cx="1057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Cascade: </a:t>
            </a:r>
          </a:p>
          <a:p>
            <a:pPr defTabSz="609585">
              <a:defRPr/>
            </a:pPr>
            <a:r>
              <a:rPr lang="en-US" sz="1200" dirty="0">
                <a:solidFill>
                  <a:srgbClr val="9BBB59">
                    <a:lumMod val="50000"/>
                  </a:srgbClr>
                </a:solidFill>
                <a:latin typeface="Calibri Light" panose="020F0302020204030204" pitchFamily="34" charset="0"/>
              </a:rPr>
              <a:t>PERSIST, DELETE</a:t>
            </a:r>
          </a:p>
        </p:txBody>
      </p:sp>
    </p:spTree>
    <p:extLst>
      <p:ext uri="{BB962C8B-B14F-4D97-AF65-F5344CB8AC3E}">
        <p14:creationId xmlns:p14="http://schemas.microsoft.com/office/powerpoint/2010/main" val="2090876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Mettiamo</a:t>
            </a:r>
            <a:r>
              <a:rPr lang="en-US"/>
              <a:t> </a:t>
            </a:r>
            <a:r>
              <a:rPr lang="en-US" err="1"/>
              <a:t>tutto</a:t>
            </a:r>
            <a:r>
              <a:rPr lang="en-US"/>
              <a:t> in </a:t>
            </a:r>
            <a:r>
              <a:rPr lang="en-US" err="1"/>
              <a:t>pratica</a:t>
            </a:r>
            <a:endParaRPr lang="en-US"/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" b="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82953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 (cont.)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Modificare</a:t>
            </a:r>
            <a:r>
              <a:rPr lang="en-US" dirty="0"/>
              <a:t> le </a:t>
            </a:r>
            <a:r>
              <a:rPr lang="en-US" dirty="0" err="1"/>
              <a:t>classi</a:t>
            </a:r>
            <a:r>
              <a:rPr lang="en-US" dirty="0"/>
              <a:t> </a:t>
            </a:r>
            <a:r>
              <a:rPr lang="en-US" dirty="0" err="1"/>
              <a:t>dell'Esercizio</a:t>
            </a:r>
            <a:r>
              <a:rPr lang="en-US" dirty="0"/>
              <a:t> 2 (slide 04) </a:t>
            </a:r>
            <a:r>
              <a:rPr lang="en-US" dirty="0" err="1"/>
              <a:t>affinchè</a:t>
            </a:r>
            <a:r>
              <a:rPr lang="en-US" dirty="0"/>
              <a:t> </a:t>
            </a:r>
            <a:r>
              <a:rPr lang="en-US" dirty="0" err="1"/>
              <a:t>siano</a:t>
            </a:r>
            <a:r>
              <a:rPr lang="en-US" dirty="0"/>
              <a:t> </a:t>
            </a:r>
            <a:r>
              <a:rPr lang="en-US" dirty="0" err="1"/>
              <a:t>rispettate</a:t>
            </a:r>
            <a:r>
              <a:rPr lang="en-US" dirty="0"/>
              <a:t> le </a:t>
            </a:r>
            <a:r>
              <a:rPr lang="en-US" dirty="0" err="1"/>
              <a:t>strategie</a:t>
            </a:r>
            <a:r>
              <a:rPr lang="en-US" dirty="0"/>
              <a:t> di fetch e cascade </a:t>
            </a:r>
            <a:r>
              <a:rPr lang="en-US" dirty="0" err="1"/>
              <a:t>riportati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class diagram </a:t>
            </a:r>
            <a:r>
              <a:rPr lang="en-US" dirty="0" err="1"/>
              <a:t>della</a:t>
            </a:r>
            <a:r>
              <a:rPr lang="en-US" dirty="0"/>
              <a:t> slide </a:t>
            </a:r>
            <a:r>
              <a:rPr lang="en-US" dirty="0" err="1"/>
              <a:t>precedente</a:t>
            </a:r>
            <a:endParaRPr lang="en-US" dirty="0"/>
          </a:p>
          <a:p>
            <a:r>
              <a:rPr lang="en-US" dirty="0"/>
              <a:t>NB: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necessario</a:t>
            </a:r>
            <a:r>
              <a:rPr lang="en-US" dirty="0"/>
              <a:t> </a:t>
            </a:r>
            <a:r>
              <a:rPr lang="en-US" dirty="0" err="1"/>
              <a:t>ragionare</a:t>
            </a:r>
            <a:r>
              <a:rPr lang="en-US" dirty="0"/>
              <a:t> sui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d'uso</a:t>
            </a:r>
            <a:r>
              <a:rPr lang="en-US" dirty="0"/>
              <a:t>. Fare </a:t>
            </a:r>
            <a:r>
              <a:rPr lang="en-US" dirty="0" err="1"/>
              <a:t>assunzioni</a:t>
            </a:r>
            <a:r>
              <a:rPr lang="en-US" dirty="0"/>
              <a:t> </a:t>
            </a:r>
            <a:r>
              <a:rPr lang="en-US" dirty="0" err="1"/>
              <a:t>ragionevoli</a:t>
            </a:r>
            <a:r>
              <a:rPr lang="en-US" dirty="0"/>
              <a:t> </a:t>
            </a:r>
            <a:r>
              <a:rPr lang="en-US" dirty="0" err="1"/>
              <a:t>sulle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offerte</a:t>
            </a:r>
            <a:r>
              <a:rPr lang="en-US" dirty="0"/>
              <a:t> dal </a:t>
            </a:r>
            <a:r>
              <a:rPr lang="en-US" dirty="0" err="1"/>
              <a:t>sistema</a:t>
            </a:r>
            <a:endParaRPr lang="en-US" dirty="0"/>
          </a:p>
          <a:p>
            <a:r>
              <a:rPr lang="en-US" dirty="0" err="1"/>
              <a:t>Scrivere</a:t>
            </a:r>
            <a:r>
              <a:rPr lang="en-US" dirty="0"/>
              <a:t> una </a:t>
            </a:r>
            <a:r>
              <a:rPr lang="en-US" dirty="0" err="1"/>
              <a:t>classe</a:t>
            </a:r>
            <a:r>
              <a:rPr lang="en-US" dirty="0"/>
              <a:t> di test per </a:t>
            </a:r>
            <a:r>
              <a:rPr lang="en-US" dirty="0" err="1"/>
              <a:t>verificare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eventi</a:t>
            </a:r>
            <a:r>
              <a:rPr lang="en-US" dirty="0"/>
              <a:t> in </a:t>
            </a:r>
            <a:r>
              <a:rPr lang="en-US" dirty="0" err="1"/>
              <a:t>cascata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73083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4767</TotalTime>
  <Words>2231</Words>
  <Application>Microsoft Macintosh PowerPoint</Application>
  <PresentationFormat>Widescreen</PresentationFormat>
  <Paragraphs>296</Paragraphs>
  <Slides>31</Slides>
  <Notes>1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9" baseType="lpstr">
      <vt:lpstr>Aptos</vt:lpstr>
      <vt:lpstr>Arial</vt:lpstr>
      <vt:lpstr>Calibri Light</vt:lpstr>
      <vt:lpstr>Consolas</vt:lpstr>
      <vt:lpstr>dejavu sans mono</vt:lpstr>
      <vt:lpstr>dejavu serif</vt:lpstr>
      <vt:lpstr>Menlo</vt:lpstr>
      <vt:lpstr>1_Tema di Office</vt:lpstr>
      <vt:lpstr>Sistemi informativi su Web Gestione Persistenza: Spring Repository aa 2024-2025 </vt:lpstr>
      <vt:lpstr>Sommario</vt:lpstr>
      <vt:lpstr>Repository</vt:lpstr>
      <vt:lpstr>Il pattern Repository</vt:lpstr>
      <vt:lpstr>Il pattern Repository</vt:lpstr>
      <vt:lpstr>Il pattern Repository</vt:lpstr>
      <vt:lpstr>Spring Boot: Persistenza</vt:lpstr>
      <vt:lpstr>CrudRepository</vt:lpstr>
      <vt:lpstr>CrudRepository: Esempio</vt:lpstr>
      <vt:lpstr>Il metodo save(S entity)</vt:lpstr>
      <vt:lpstr>Esempio</vt:lpstr>
      <vt:lpstr>CrudRepository: costruzione di query</vt:lpstr>
      <vt:lpstr>CrudRepository: Esempio</vt:lpstr>
      <vt:lpstr>CrudRepository: costruzione di query</vt:lpstr>
      <vt:lpstr>CrudRepository: custom query</vt:lpstr>
      <vt:lpstr>Custom query parametriche</vt:lpstr>
      <vt:lpstr>Custom query con NamedQuery</vt:lpstr>
      <vt:lpstr>Sommario</vt:lpstr>
      <vt:lpstr>Eventi in cascata</vt:lpstr>
      <vt:lpstr>Esempio</vt:lpstr>
      <vt:lpstr>Esempio (cont.)</vt:lpstr>
      <vt:lpstr>Eventi in cascata</vt:lpstr>
      <vt:lpstr>Eventi in cascata</vt:lpstr>
      <vt:lpstr>Esempio</vt:lpstr>
      <vt:lpstr>Eventi in Cascata</vt:lpstr>
      <vt:lpstr>Eventi in Cascata</vt:lpstr>
      <vt:lpstr>Eventi in Cascata</vt:lpstr>
      <vt:lpstr>Eventi in Cascata</vt:lpstr>
      <vt:lpstr>Esempio</vt:lpstr>
      <vt:lpstr>Mettiamo tutto in pratica</vt:lpstr>
      <vt:lpstr>Esercizio 6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informativi su Web Gestione Persistenza:  Spring Repository, JPQL aa 2023-2024 </dc:title>
  <dc:creator>Paolo Merialdo</dc:creator>
  <cp:lastModifiedBy>Paolo Merialdo</cp:lastModifiedBy>
  <cp:revision>9</cp:revision>
  <dcterms:created xsi:type="dcterms:W3CDTF">2024-03-13T16:58:36Z</dcterms:created>
  <dcterms:modified xsi:type="dcterms:W3CDTF">2025-03-27T09:34:04Z</dcterms:modified>
</cp:coreProperties>
</file>