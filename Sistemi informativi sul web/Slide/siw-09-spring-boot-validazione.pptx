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8" r:id="rId2"/>
    <p:sldId id="616" r:id="rId3"/>
    <p:sldId id="617" r:id="rId4"/>
    <p:sldId id="391" r:id="rId5"/>
    <p:sldId id="625" r:id="rId6"/>
    <p:sldId id="626" r:id="rId7"/>
    <p:sldId id="627" r:id="rId8"/>
    <p:sldId id="628" r:id="rId9"/>
    <p:sldId id="629" r:id="rId10"/>
    <p:sldId id="315" r:id="rId11"/>
    <p:sldId id="550" r:id="rId12"/>
    <p:sldId id="554" r:id="rId13"/>
    <p:sldId id="607" r:id="rId14"/>
    <p:sldId id="608" r:id="rId15"/>
    <p:sldId id="555" r:id="rId16"/>
    <p:sldId id="614" r:id="rId17"/>
    <p:sldId id="587" r:id="rId18"/>
    <p:sldId id="558" r:id="rId19"/>
    <p:sldId id="623" r:id="rId20"/>
    <p:sldId id="600" r:id="rId21"/>
    <p:sldId id="615" r:id="rId22"/>
    <p:sldId id="599" r:id="rId23"/>
    <p:sldId id="619" r:id="rId24"/>
    <p:sldId id="610" r:id="rId25"/>
    <p:sldId id="611" r:id="rId26"/>
    <p:sldId id="613" r:id="rId27"/>
    <p:sldId id="557" r:id="rId28"/>
    <p:sldId id="612" r:id="rId29"/>
    <p:sldId id="620" r:id="rId30"/>
    <p:sldId id="592" r:id="rId31"/>
    <p:sldId id="622" r:id="rId32"/>
    <p:sldId id="624" r:id="rId33"/>
    <p:sldId id="577" r:id="rId34"/>
    <p:sldId id="574" r:id="rId35"/>
    <p:sldId id="590" r:id="rId36"/>
    <p:sldId id="576" r:id="rId37"/>
    <p:sldId id="526" r:id="rId38"/>
    <p:sldId id="565" r:id="rId39"/>
    <p:sldId id="580" r:id="rId40"/>
    <p:sldId id="582" r:id="rId41"/>
    <p:sldId id="581" r:id="rId42"/>
    <p:sldId id="583" r:id="rId43"/>
    <p:sldId id="584" r:id="rId44"/>
    <p:sldId id="585" r:id="rId45"/>
    <p:sldId id="586" r:id="rId46"/>
  </p:sldIdLst>
  <p:sldSz cx="12192000" cy="6858000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aolo Merialdo" initials="p.m.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902B"/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77"/>
    <p:restoredTop sz="95000" autoAdjust="0"/>
  </p:normalViewPr>
  <p:slideViewPr>
    <p:cSldViewPr snapToGrid="0" snapToObjects="1">
      <p:cViewPr varScale="1">
        <p:scale>
          <a:sx n="116" d="100"/>
          <a:sy n="116" d="100"/>
        </p:scale>
        <p:origin x="65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318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alibri Light" panose="020F0302020204030204" pitchFamily="34" charset="0"/>
              </a:defRPr>
            </a:lvl1pPr>
          </a:lstStyle>
          <a:p>
            <a:fld id="{6AF75452-8E9B-2A4A-993A-81C6082A6AE5}" type="datetimeFigureOut">
              <a:rPr lang="it-IT" smtClean="0"/>
              <a:pPr/>
              <a:t>28/04/25</a:t>
            </a:fld>
            <a:endParaRPr lang="en-US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alibri Light" panose="020F0302020204030204" pitchFamily="34" charset="0"/>
              </a:defRPr>
            </a:lvl1pPr>
          </a:lstStyle>
          <a:p>
            <a:fld id="{B48FDC54-0F6D-2A4D-9375-4DA1EF8B8D51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91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8EB111A-9E8D-AE42-AF40-7D7AD69A6457}" type="slidenum">
              <a:rPr lang="it-IT"/>
              <a:pPr eaLnBrk="1" hangingPunct="1"/>
              <a:t>1</a:t>
            </a:fld>
            <a:endParaRPr lang="it-IT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5A2E-4434-7E48-B506-6CB9726E48D0}" type="datetimeFigureOut">
              <a:rPr lang="it-IT" smtClean="0"/>
              <a:t>28/04/25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911D-13AB-8148-AE42-EE897161D6F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3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5A2E-4434-7E48-B506-6CB9726E48D0}" type="datetimeFigureOut">
              <a:rPr lang="it-IT" smtClean="0"/>
              <a:t>28/04/25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911D-13AB-8148-AE42-EE897161D6F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0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5A2E-4434-7E48-B506-6CB9726E48D0}" type="datetimeFigureOut">
              <a:rPr lang="it-IT" smtClean="0"/>
              <a:t>28/04/25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911D-13AB-8148-AE42-EE897161D6F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12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5A2E-4434-7E48-B506-6CB9726E48D0}" type="datetimeFigureOut">
              <a:rPr lang="it-IT" smtClean="0"/>
              <a:t>28/04/25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911D-13AB-8148-AE42-EE897161D6F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0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5A2E-4434-7E48-B506-6CB9726E48D0}" type="datetimeFigureOut">
              <a:rPr lang="it-IT" smtClean="0"/>
              <a:t>28/04/25</a:t>
            </a:fld>
            <a:endParaRPr lang="en-US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911D-13AB-8148-AE42-EE897161D6F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7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5A2E-4434-7E48-B506-6CB9726E48D0}" type="datetimeFigureOut">
              <a:rPr lang="it-IT" smtClean="0"/>
              <a:t>28/04/25</a:t>
            </a:fld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911D-13AB-8148-AE42-EE897161D6F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2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5A2E-4434-7E48-B506-6CB9726E48D0}" type="datetimeFigureOut">
              <a:rPr lang="it-IT" smtClean="0"/>
              <a:t>28/04/25</a:t>
            </a:fld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911D-13AB-8148-AE42-EE897161D6F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3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5A2E-4434-7E48-B506-6CB9726E48D0}" type="datetimeFigureOut">
              <a:rPr lang="it-IT" smtClean="0"/>
              <a:t>28/04/25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911D-13AB-8148-AE42-EE897161D6F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5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5A2E-4434-7E48-B506-6CB9726E48D0}" type="datetimeFigureOut">
              <a:rPr lang="it-IT" smtClean="0"/>
              <a:t>28/04/25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911D-13AB-8148-AE42-EE897161D6F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07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5A2E-4434-7E48-B506-6CB9726E48D0}" type="datetimeFigureOut">
              <a:rPr lang="it-IT" smtClean="0"/>
              <a:t>28/04/25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911D-13AB-8148-AE42-EE897161D6F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71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5A2E-4434-7E48-B506-6CB9726E48D0}" type="datetimeFigureOut">
              <a:rPr lang="it-IT" smtClean="0"/>
              <a:t>28/04/25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911D-13AB-8148-AE42-EE897161D6F3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6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stile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7A805A2E-4434-7E48-B506-6CB9726E48D0}" type="datetimeFigureOut">
              <a:rPr lang="it-IT" smtClean="0"/>
              <a:pPr/>
              <a:t>28/04/25</a:t>
            </a:fld>
            <a:endParaRPr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FDAF911D-13AB-8148-AE42-EE897161D6F3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315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HTML/Constraint_validat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jakarta.ee/specifications/bean-validation/3.0/apidocs/jakarta/validation/constraints/package-summary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ymeleaf.org/doc/articles/standarddialect5minutes.html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82171" y="1404712"/>
            <a:ext cx="9441543" cy="1468967"/>
          </a:xfrm>
          <a:extLst>
            <a:ext uri="{91240B29-F687-4f45-9708-019B960494DF}">
              <a14:hiddenLine xmlns:a14="http://schemas.microsoft.com/office/drawing/2010/main" xmlns="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it-IT" sz="2000" dirty="0"/>
              <a:t>Sistemi informativi su Web</a:t>
            </a:r>
            <a:br>
              <a:rPr lang="it-IT" sz="2000" dirty="0"/>
            </a:br>
            <a:r>
              <a:rPr lang="it-IT" dirty="0">
                <a:solidFill>
                  <a:srgbClr val="008000"/>
                </a:solidFill>
              </a:rPr>
              <a:t>Spring Boot: </a:t>
            </a:r>
            <a:br>
              <a:rPr lang="it-IT" dirty="0">
                <a:solidFill>
                  <a:srgbClr val="008000"/>
                </a:solidFill>
              </a:rPr>
            </a:br>
            <a:r>
              <a:rPr lang="it-IT" dirty="0">
                <a:solidFill>
                  <a:srgbClr val="008000"/>
                </a:solidFill>
              </a:rPr>
              <a:t>Conversione e Validazione dei Dati di Input</a:t>
            </a:r>
            <a:br>
              <a:rPr lang="it-IT" dirty="0">
                <a:solidFill>
                  <a:srgbClr val="008000"/>
                </a:solidFill>
              </a:rPr>
            </a:br>
            <a:r>
              <a:rPr lang="it-IT" sz="3100" dirty="0">
                <a:solidFill>
                  <a:srgbClr val="008000"/>
                </a:solidFill>
              </a:rPr>
              <a:t>aa 2024-2025</a:t>
            </a:r>
            <a:br>
              <a:rPr lang="it-IT" dirty="0"/>
            </a:br>
            <a:endParaRPr lang="it-IT" dirty="0"/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2895600" y="6324601"/>
            <a:ext cx="68146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Calibri Light" panose="020F0302020204030204" pitchFamily="34" charset="0"/>
              </a:rPr>
              <a:t>This work is licensed under a Creative Commons Attribution-Noncommercial-Share Alike 3.0 United States</a:t>
            </a:r>
            <a:br>
              <a:rPr lang="en-US" sz="1200" dirty="0">
                <a:latin typeface="Calibri Light" panose="020F0302020204030204" pitchFamily="34" charset="0"/>
              </a:rPr>
            </a:br>
            <a:r>
              <a:rPr lang="en-US" sz="1200" dirty="0">
                <a:latin typeface="Calibri Light" panose="020F0302020204030204" pitchFamily="34" charset="0"/>
              </a:rPr>
              <a:t>See http://creativecommons.org/licenses/by-nc-sa/3.0/us/ for details</a:t>
            </a:r>
          </a:p>
        </p:txBody>
      </p:sp>
      <p:pic>
        <p:nvPicPr>
          <p:cNvPr id="5" name="Picture 13" descr="creative-common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25600" y="6324600"/>
            <a:ext cx="11176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Immagin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085" y="4001343"/>
            <a:ext cx="941271" cy="511424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5399865" y="3908733"/>
            <a:ext cx="3098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alibri Light" panose="020F0302020204030204" pitchFamily="34" charset="0"/>
                <a:ea typeface="+mj-ea"/>
                <a:cs typeface="+mj-cs"/>
              </a:rPr>
              <a:t>Paolo Merialdo</a:t>
            </a:r>
          </a:p>
          <a:p>
            <a:r>
              <a:rPr lang="it-IT" dirty="0">
                <a:latin typeface="Calibri Light" panose="020F0302020204030204" pitchFamily="34" charset="0"/>
                <a:ea typeface="+mj-ea"/>
                <a:cs typeface="+mj-cs"/>
              </a:rPr>
              <a:t>Università degli Studi Roma Tre</a:t>
            </a:r>
          </a:p>
        </p:txBody>
      </p:sp>
    </p:spTree>
    <p:extLst>
      <p:ext uri="{BB962C8B-B14F-4D97-AF65-F5344CB8AC3E}">
        <p14:creationId xmlns:p14="http://schemas.microsoft.com/office/powerpoint/2010/main" val="421165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CB1369-EED1-3FA7-9E38-820F2CF80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Introduzione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109D04-8F0A-93FD-370E-CF0F652CA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La gestione dei dati raccolti attraverso le </a:t>
            </a:r>
            <a:r>
              <a:rPr lang="it-IT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form</a:t>
            </a:r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 è una operazione delicata</a:t>
            </a:r>
          </a:p>
          <a:p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La costruzione di una </a:t>
            </a:r>
            <a:r>
              <a:rPr lang="it-IT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form</a:t>
            </a:r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 HTML è semplice, ma controllare se ogni campo ha un valore valido e coerente, e conseguente segnalare eventuali errori all'utente introduce numerose complicazioni</a:t>
            </a:r>
          </a:p>
          <a:p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La validazione può avvenire</a:t>
            </a:r>
          </a:p>
          <a:p>
            <a:pPr lvl="1"/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Lato client: il browser verifica la correttezza dei dati raccolti attraverso una </a:t>
            </a:r>
            <a:r>
              <a:rPr lang="it-IT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form</a:t>
            </a:r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 prima di inviare la richiesta HTTP al server </a:t>
            </a:r>
          </a:p>
          <a:p>
            <a:pPr lvl="1"/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Lato server: il server verifica la correttezza di tutti i dati che arrivano da una richiesta HTTP</a:t>
            </a:r>
          </a:p>
        </p:txBody>
      </p:sp>
    </p:spTree>
    <p:extLst>
      <p:ext uri="{BB962C8B-B14F-4D97-AF65-F5344CB8AC3E}">
        <p14:creationId xmlns:p14="http://schemas.microsoft.com/office/powerpoint/2010/main" val="1362684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BE015C-6D3E-BF10-6A7A-FD72FC853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Validazione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lato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client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49752A-477C-B41B-1166-677579FB3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HTML5 ha introdotto nuovi meccanismi per la gestione delle </a:t>
            </a:r>
            <a:r>
              <a:rPr lang="it-IT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form</a:t>
            </a:r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</a:p>
          <a:p>
            <a:pPr lvl="1"/>
            <a:r>
              <a:rPr lang="it-IT" dirty="0">
                <a:cs typeface="Calibri Light" panose="020F0302020204030204" pitchFamily="34" charset="0"/>
              </a:rPr>
              <a:t>T</a:t>
            </a:r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ipi semantici per l'elemento &lt;input&gt; e la validazione dei vincoli per facilitare il lavoro di verifica del contenuto del lato client. </a:t>
            </a:r>
          </a:p>
          <a:p>
            <a:pPr lvl="1"/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I vincoli di base possono essere verificati facilmente, i vincoli più articolati possono essere implementati tramite JavaScript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Per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una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panoramica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della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validazione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lato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client con HTML5 fare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riferimento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a MDN</a:t>
            </a:r>
            <a:b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https://developer.mozilla.org/en-US/docs/Web/HTML/Constraint_validation</a:t>
            </a: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065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F1BB0E-9FBD-C67B-0BC0-AF77822CE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Validazione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lato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client e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lato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42787A-4984-6E88-8553-313E96216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La convalida dei dati lato client HTML non elimina la necessità di effettuare una convalida sul lato server</a:t>
            </a:r>
          </a:p>
          <a:p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Anche se ci si può aspettare un numero molto inferiore di richieste con dati non validi, è comunque possibile ricevere dati non validi, ad esempio da persone malintenzionate</a:t>
            </a:r>
          </a:p>
          <a:p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Pertanto, è necessario validare </a:t>
            </a:r>
            <a:r>
              <a:rPr lang="it-IT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sempre </a:t>
            </a:r>
            <a:r>
              <a:rPr lang="it-IT" dirty="0">
                <a:latin typeface="Calibri Light" panose="020F0302020204030204" pitchFamily="34" charset="0"/>
                <a:cs typeface="Calibri Light" panose="020F0302020204030204" pitchFamily="34" charset="0"/>
              </a:rPr>
              <a:t>i dati anche lato server, in modo coerente con quanto fatto lato client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15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F9AABA-F66D-8F75-455C-E2FA4A0C2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Validazione</a:t>
            </a:r>
            <a:r>
              <a:rPr lang="en-US" dirty="0"/>
              <a:t> </a:t>
            </a:r>
            <a:r>
              <a:rPr lang="en-US" dirty="0" err="1"/>
              <a:t>lato</a:t>
            </a:r>
            <a:r>
              <a:rPr lang="en-US" dirty="0"/>
              <a:t> server: </a:t>
            </a:r>
            <a:r>
              <a:rPr lang="en-US" dirty="0" err="1"/>
              <a:t>soluzione</a:t>
            </a:r>
            <a:r>
              <a:rPr lang="en-US" dirty="0"/>
              <a:t> naïve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66C6E6-BC8A-7C07-E6B0-ED8DCDA80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Possiamo</a:t>
            </a:r>
            <a:r>
              <a:rPr lang="en-US" dirty="0"/>
              <a:t> </a:t>
            </a:r>
            <a:r>
              <a:rPr lang="en-US" dirty="0" err="1"/>
              <a:t>costruire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soluzione</a:t>
            </a:r>
            <a:r>
              <a:rPr lang="en-US" dirty="0"/>
              <a:t> </a:t>
            </a:r>
            <a:r>
              <a:rPr lang="en-US" dirty="0" err="1"/>
              <a:t>lato</a:t>
            </a:r>
            <a:r>
              <a:rPr lang="en-US" dirty="0"/>
              <a:t> server </a:t>
            </a:r>
            <a:r>
              <a:rPr lang="en-US" dirty="0" err="1"/>
              <a:t>mettendo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controller il </a:t>
            </a:r>
            <a:r>
              <a:rPr lang="en-US" dirty="0" err="1"/>
              <a:t>codice</a:t>
            </a:r>
            <a:r>
              <a:rPr lang="en-US" dirty="0"/>
              <a:t> per </a:t>
            </a:r>
            <a:r>
              <a:rPr lang="en-US" dirty="0" err="1"/>
              <a:t>effettuare</a:t>
            </a:r>
            <a:r>
              <a:rPr lang="en-US" dirty="0"/>
              <a:t> le </a:t>
            </a:r>
            <a:r>
              <a:rPr lang="en-US" dirty="0" err="1"/>
              <a:t>verifiche</a:t>
            </a:r>
            <a:endParaRPr lang="en-US" dirty="0"/>
          </a:p>
          <a:p>
            <a:pPr lvl="1"/>
            <a:r>
              <a:rPr lang="en-US" dirty="0"/>
              <a:t>Per </a:t>
            </a:r>
            <a:r>
              <a:rPr lang="en-US" dirty="0" err="1"/>
              <a:t>ogni</a:t>
            </a:r>
            <a:r>
              <a:rPr lang="en-US" dirty="0"/>
              <a:t> campo </a:t>
            </a:r>
            <a:r>
              <a:rPr lang="en-US" dirty="0" err="1"/>
              <a:t>verifichiamo</a:t>
            </a:r>
            <a:r>
              <a:rPr lang="en-US" dirty="0"/>
              <a:t> la </a:t>
            </a:r>
            <a:r>
              <a:rPr lang="en-US" dirty="0" err="1"/>
              <a:t>correttezza</a:t>
            </a:r>
            <a:r>
              <a:rPr lang="en-US" dirty="0"/>
              <a:t> (ad es., </a:t>
            </a:r>
            <a:r>
              <a:rPr lang="en-US" dirty="0" err="1"/>
              <a:t>titolo</a:t>
            </a:r>
            <a:r>
              <a:rPr lang="en-US" dirty="0"/>
              <a:t> del film </a:t>
            </a:r>
            <a:r>
              <a:rPr lang="en-US" dirty="0" err="1"/>
              <a:t>diverso</a:t>
            </a:r>
            <a:r>
              <a:rPr lang="en-US" dirty="0"/>
              <a:t> da </a:t>
            </a:r>
            <a:r>
              <a:rPr lang="en-US" dirty="0" err="1"/>
              <a:t>stringa</a:t>
            </a:r>
            <a:r>
              <a:rPr lang="en-US" dirty="0"/>
              <a:t> </a:t>
            </a:r>
            <a:r>
              <a:rPr lang="en-US" dirty="0" err="1"/>
              <a:t>vuola</a:t>
            </a:r>
            <a:r>
              <a:rPr lang="en-US" dirty="0"/>
              <a:t>, anno del film un </a:t>
            </a:r>
            <a:r>
              <a:rPr lang="en-US" dirty="0" err="1"/>
              <a:t>intero</a:t>
            </a:r>
            <a:r>
              <a:rPr lang="en-US" dirty="0"/>
              <a:t> </a:t>
            </a:r>
            <a:r>
              <a:rPr lang="en-US" dirty="0" err="1"/>
              <a:t>compreso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1900 e </a:t>
            </a:r>
            <a:r>
              <a:rPr lang="en-US" dirty="0" err="1"/>
              <a:t>l'anno</a:t>
            </a:r>
            <a:r>
              <a:rPr lang="en-US" dirty="0"/>
              <a:t> </a:t>
            </a:r>
            <a:r>
              <a:rPr lang="en-US" dirty="0" err="1"/>
              <a:t>corrente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caso</a:t>
            </a:r>
            <a:r>
              <a:rPr lang="en-US" dirty="0"/>
              <a:t> di </a:t>
            </a:r>
            <a:r>
              <a:rPr lang="en-US" dirty="0" err="1"/>
              <a:t>errori</a:t>
            </a:r>
            <a:r>
              <a:rPr lang="en-US" dirty="0"/>
              <a:t>, </a:t>
            </a:r>
            <a:r>
              <a:rPr lang="en-US" dirty="0" err="1"/>
              <a:t>generiamo</a:t>
            </a:r>
            <a:r>
              <a:rPr lang="en-US" dirty="0"/>
              <a:t> </a:t>
            </a:r>
            <a:r>
              <a:rPr lang="en-US" dirty="0" err="1"/>
              <a:t>nuovamente</a:t>
            </a:r>
            <a:r>
              <a:rPr lang="en-US" dirty="0"/>
              <a:t> la form, con I </a:t>
            </a:r>
            <a:r>
              <a:rPr lang="en-US" dirty="0" err="1"/>
              <a:t>campi</a:t>
            </a:r>
            <a:r>
              <a:rPr lang="en-US" dirty="0"/>
              <a:t> </a:t>
            </a:r>
            <a:r>
              <a:rPr lang="en-US" dirty="0" err="1"/>
              <a:t>precompilati</a:t>
            </a:r>
            <a:r>
              <a:rPr lang="en-US" dirty="0"/>
              <a:t> ed un </a:t>
            </a:r>
            <a:r>
              <a:rPr lang="en-US" dirty="0" err="1"/>
              <a:t>opportuno</a:t>
            </a:r>
            <a:r>
              <a:rPr lang="en-US" dirty="0"/>
              <a:t> </a:t>
            </a:r>
            <a:r>
              <a:rPr lang="en-US" dirty="0" err="1"/>
              <a:t>messaggio</a:t>
            </a:r>
            <a:r>
              <a:rPr lang="en-US" dirty="0"/>
              <a:t> di </a:t>
            </a:r>
            <a:r>
              <a:rPr lang="en-US" dirty="0" err="1"/>
              <a:t>errore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59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A6B70D-59B5-0C98-68BE-9E1024D0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r>
              <a:rPr lang="en-US" dirty="0"/>
              <a:t> </a:t>
            </a:r>
            <a:r>
              <a:rPr lang="en-US" dirty="0" err="1"/>
              <a:t>soluzione</a:t>
            </a:r>
            <a:r>
              <a:rPr lang="en-US" dirty="0"/>
              <a:t> naïve #1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E655C6-D460-696A-F262-451D9C1C3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@</a:t>
            </a:r>
            <a:r>
              <a:rPr lang="it-IT" sz="1800" dirty="0" err="1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PostMapping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"/movie"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public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String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newMovie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@</a:t>
            </a:r>
            <a:r>
              <a:rPr lang="it-IT" sz="1800" dirty="0" err="1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ModelAttribute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"movie"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Movie </a:t>
            </a:r>
            <a:r>
              <a:rPr lang="it-IT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if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(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.getTitle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()==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null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|| 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.getTitle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().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equals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		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return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formNewMovie.html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00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	}</a:t>
            </a: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else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this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</a:t>
            </a:r>
            <a:r>
              <a:rPr lang="it-IT" sz="1800" dirty="0" err="1">
                <a:solidFill>
                  <a:srgbClr val="0000C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movieService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.save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return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redirect:movie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/"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+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.getId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soluzione</a:t>
            </a:r>
            <a:r>
              <a:rPr lang="en-US" dirty="0"/>
              <a:t>, </a:t>
            </a:r>
            <a:r>
              <a:rPr lang="en-US" dirty="0" err="1"/>
              <a:t>torniamo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form (con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campi</a:t>
            </a:r>
            <a:r>
              <a:rPr lang="en-US" dirty="0"/>
              <a:t> </a:t>
            </a:r>
            <a:r>
              <a:rPr lang="en-US" dirty="0" err="1"/>
              <a:t>prempilati</a:t>
            </a:r>
            <a:r>
              <a:rPr lang="en-US" dirty="0"/>
              <a:t>), ma </a:t>
            </a:r>
            <a:r>
              <a:rPr lang="en-US" dirty="0" err="1"/>
              <a:t>l'utente</a:t>
            </a:r>
            <a:r>
              <a:rPr lang="en-US" dirty="0"/>
              <a:t> non capisce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successo</a:t>
            </a:r>
            <a:r>
              <a:rPr lang="en-US" dirty="0"/>
              <a:t>. Serve un </a:t>
            </a:r>
            <a:r>
              <a:rPr lang="en-US" dirty="0" err="1"/>
              <a:t>messaggio</a:t>
            </a:r>
            <a:r>
              <a:rPr lang="en-US" dirty="0"/>
              <a:t> di </a:t>
            </a:r>
            <a:r>
              <a:rPr lang="en-US" dirty="0" err="1"/>
              <a:t>errore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23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A6B70D-59B5-0C98-68BE-9E1024D0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r>
              <a:rPr lang="en-US" dirty="0"/>
              <a:t> </a:t>
            </a:r>
            <a:r>
              <a:rPr lang="en-US" dirty="0" err="1"/>
              <a:t>soluzione</a:t>
            </a:r>
            <a:r>
              <a:rPr lang="en-US" dirty="0"/>
              <a:t> naïve #2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E655C6-D460-696A-F262-451D9C1C3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@</a:t>
            </a:r>
            <a:r>
              <a:rPr lang="it-IT" sz="1800" dirty="0" err="1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PostMapping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"/movie"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public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String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newMovie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@</a:t>
            </a:r>
            <a:r>
              <a:rPr lang="it-IT" sz="1800" dirty="0" err="1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ModelAttribute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"movie"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Movie </a:t>
            </a:r>
            <a:r>
              <a:rPr lang="it-IT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it-IT" sz="1800" dirty="0">
                <a:solidFill>
                  <a:srgbClr val="000000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Model model)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if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(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.getTitle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()==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null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|| 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.getTitle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().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equals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00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		</a:t>
            </a:r>
            <a:r>
              <a:rPr lang="it-IT" sz="1800" dirty="0" err="1">
                <a:solidFill>
                  <a:srgbClr val="000000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model.addAttribute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msgErrTitle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"Campo obbligatorio"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	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return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formNewMovie.html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else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this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</a:t>
            </a:r>
            <a:r>
              <a:rPr lang="it-IT" sz="1800" dirty="0" err="1">
                <a:solidFill>
                  <a:srgbClr val="0000C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movieService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.save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return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redirect:movie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/"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+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.getId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soluzione</a:t>
            </a:r>
            <a:r>
              <a:rPr lang="en-US" dirty="0"/>
              <a:t>, </a:t>
            </a:r>
            <a:r>
              <a:rPr lang="en-US" dirty="0" err="1"/>
              <a:t>passiamo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form un </a:t>
            </a:r>
            <a:r>
              <a:rPr lang="en-US" dirty="0" err="1"/>
              <a:t>messaggio</a:t>
            </a:r>
            <a:r>
              <a:rPr lang="en-US" dirty="0"/>
              <a:t> di </a:t>
            </a:r>
            <a:r>
              <a:rPr lang="en-US" dirty="0" err="1"/>
              <a:t>errore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mostrato</a:t>
            </a:r>
            <a:r>
              <a:rPr lang="en-US" dirty="0"/>
              <a:t> </a:t>
            </a:r>
            <a:r>
              <a:rPr lang="en-US" dirty="0" err="1"/>
              <a:t>all'utente</a:t>
            </a:r>
            <a:r>
              <a:rPr lang="en-US" dirty="0"/>
              <a:t> (</a:t>
            </a:r>
            <a:r>
              <a:rPr lang="en-US" dirty="0" err="1"/>
              <a:t>vedi</a:t>
            </a:r>
            <a:r>
              <a:rPr lang="en-US" dirty="0"/>
              <a:t> template </a:t>
            </a:r>
            <a:r>
              <a:rPr lang="en-US" dirty="0" err="1"/>
              <a:t>prox</a:t>
            </a:r>
            <a:r>
              <a:rPr lang="en-US" dirty="0"/>
              <a:t> slide)</a:t>
            </a:r>
          </a:p>
        </p:txBody>
      </p:sp>
    </p:spTree>
    <p:extLst>
      <p:ext uri="{BB962C8B-B14F-4D97-AF65-F5344CB8AC3E}">
        <p14:creationId xmlns:p14="http://schemas.microsoft.com/office/powerpoint/2010/main" val="943547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A6B70D-59B5-0C98-68BE-9E1024D0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r>
              <a:rPr lang="en-US" dirty="0"/>
              <a:t> </a:t>
            </a:r>
            <a:r>
              <a:rPr lang="en-US" dirty="0" err="1"/>
              <a:t>soluzione</a:t>
            </a:r>
            <a:r>
              <a:rPr lang="en-US" dirty="0"/>
              <a:t> naïve #2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E655C6-D460-696A-F262-451D9C1C3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1"/>
            <a:ext cx="11691257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&lt;/</a:t>
            </a:r>
            <a:r>
              <a:rPr lang="it-IT" sz="1800" dirty="0">
                <a:solidFill>
                  <a:srgbClr val="268BD2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html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93A1A1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	…</a:t>
            </a:r>
            <a:endParaRPr lang="it-IT" sz="1800" dirty="0">
              <a:solidFill>
                <a:srgbClr val="93A1A1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&lt;</a:t>
            </a:r>
            <a:r>
              <a:rPr lang="it-IT" sz="1800" dirty="0">
                <a:solidFill>
                  <a:srgbClr val="268BD2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h1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Aggiungi un film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&lt;/</a:t>
            </a:r>
            <a:r>
              <a:rPr lang="it-IT" sz="1800" dirty="0">
                <a:solidFill>
                  <a:srgbClr val="268BD2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h1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&lt;</a:t>
            </a:r>
            <a:r>
              <a:rPr lang="it-IT" sz="1800" dirty="0" err="1">
                <a:solidFill>
                  <a:srgbClr val="268BD2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form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th:action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@{/movie}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method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POST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th:object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${movie}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"&gt;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&lt;</a:t>
            </a:r>
            <a:r>
              <a:rPr lang="it-IT" sz="1800" dirty="0">
                <a:solidFill>
                  <a:srgbClr val="268BD2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div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	&lt;</a:t>
            </a:r>
            <a:r>
              <a:rPr lang="it-IT" sz="1800" dirty="0">
                <a:solidFill>
                  <a:srgbClr val="268BD2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label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for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titolo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"&gt;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Titolo: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&lt;/</a:t>
            </a:r>
            <a:r>
              <a:rPr lang="it-IT" sz="1800" dirty="0">
                <a:solidFill>
                  <a:srgbClr val="268BD2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label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	&lt;</a:t>
            </a:r>
            <a:r>
              <a:rPr lang="it-IT" sz="1800" dirty="0" err="1">
                <a:solidFill>
                  <a:srgbClr val="268BD2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		&lt;</a:t>
            </a:r>
            <a:r>
              <a:rPr lang="it-IT" sz="1800" dirty="0">
                <a:solidFill>
                  <a:srgbClr val="268BD2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input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required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type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text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th:field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${</a:t>
            </a:r>
            <a:r>
              <a:rPr lang="it-IT" sz="1800" dirty="0" err="1">
                <a:solidFill>
                  <a:srgbClr val="2AA19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movie.title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id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titolo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"/&gt;</a:t>
            </a: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		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&lt;</a:t>
            </a:r>
            <a:r>
              <a:rPr lang="it-IT" sz="18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th:</a:t>
            </a:r>
            <a:r>
              <a:rPr lang="it-IT" sz="1800" dirty="0" err="1">
                <a:solidFill>
                  <a:srgbClr val="93A1A1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text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${</a:t>
            </a:r>
            <a:r>
              <a:rPr lang="it-IT" sz="18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msgErrTitle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}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"&gt;messaggio errore&lt;/</a:t>
            </a:r>
            <a:r>
              <a:rPr lang="it-IT" sz="18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	&lt;/</a:t>
            </a:r>
            <a:r>
              <a:rPr lang="it-IT" sz="1800" dirty="0" err="1">
                <a:solidFill>
                  <a:srgbClr val="268BD2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&lt;/</a:t>
            </a:r>
            <a:r>
              <a:rPr lang="it-IT" sz="1800" dirty="0">
                <a:solidFill>
                  <a:srgbClr val="268BD2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div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93A1A1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		…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&lt;/</a:t>
            </a:r>
            <a:r>
              <a:rPr lang="it-IT" sz="1800" dirty="0" err="1">
                <a:solidFill>
                  <a:srgbClr val="268BD2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form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93A1A1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	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&lt;/</a:t>
            </a:r>
            <a:r>
              <a:rPr lang="it-IT" sz="1800" dirty="0">
                <a:solidFill>
                  <a:srgbClr val="268BD2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html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solidFill>
                <a:srgbClr val="93A1A1"/>
              </a:solidFill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272D03B-A805-8BDD-7D49-134C3C33F1D2}"/>
              </a:ext>
            </a:extLst>
          </p:cNvPr>
          <p:cNvSpPr txBox="1"/>
          <p:nvPr/>
        </p:nvSpPr>
        <p:spPr>
          <a:xfrm>
            <a:off x="8469086" y="1415535"/>
            <a:ext cx="214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formNewMovie.html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8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95A3F3-8211-19B7-28B3-4828E983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Soluzione</a:t>
            </a:r>
            <a:r>
              <a:rPr lang="en-US" dirty="0"/>
              <a:t> naïve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0C09D0-678D-1D35-01D9-713A6CDA8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soluzione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abbiamo</a:t>
            </a:r>
            <a:r>
              <a:rPr lang="en-US" dirty="0"/>
              <a:t> visto </a:t>
            </a:r>
            <a:r>
              <a:rPr lang="en-US" dirty="0" err="1"/>
              <a:t>è</a:t>
            </a:r>
            <a:r>
              <a:rPr lang="en-US" dirty="0"/>
              <a:t> semplice </a:t>
            </a:r>
            <a:r>
              <a:rPr lang="en-US" dirty="0" err="1"/>
              <a:t>concettualemte</a:t>
            </a:r>
            <a:endParaRPr lang="en-US" dirty="0"/>
          </a:p>
          <a:p>
            <a:r>
              <a:rPr lang="en-US" dirty="0"/>
              <a:t>Ma </a:t>
            </a:r>
            <a:r>
              <a:rPr lang="en-US" dirty="0" err="1"/>
              <a:t>scrivere</a:t>
            </a:r>
            <a:r>
              <a:rPr lang="en-US" dirty="0"/>
              <a:t> il </a:t>
            </a:r>
            <a:r>
              <a:rPr lang="en-US" dirty="0" err="1"/>
              <a:t>codice</a:t>
            </a:r>
            <a:r>
              <a:rPr lang="en-US" dirty="0"/>
              <a:t> per </a:t>
            </a:r>
            <a:r>
              <a:rPr lang="en-US" dirty="0" err="1"/>
              <a:t>validare</a:t>
            </a:r>
            <a:r>
              <a:rPr lang="en-US" dirty="0"/>
              <a:t> tutti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campi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estremamente</a:t>
            </a:r>
            <a:r>
              <a:rPr lang="en-US" dirty="0"/>
              <a:t> </a:t>
            </a:r>
            <a:r>
              <a:rPr lang="en-US" dirty="0" err="1"/>
              <a:t>costoso</a:t>
            </a:r>
            <a:endParaRPr lang="en-US" dirty="0"/>
          </a:p>
          <a:p>
            <a:r>
              <a:rPr lang="en-US" dirty="0"/>
              <a:t>Spring Boot </a:t>
            </a:r>
            <a:r>
              <a:rPr lang="en-US" dirty="0" err="1"/>
              <a:t>offre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soluzione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semplifica</a:t>
            </a:r>
            <a:r>
              <a:rPr lang="en-US" dirty="0"/>
              <a:t> </a:t>
            </a:r>
            <a:r>
              <a:rPr lang="en-US" dirty="0" err="1"/>
              <a:t>drasticamente</a:t>
            </a:r>
            <a:r>
              <a:rPr lang="en-US" dirty="0"/>
              <a:t>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compito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80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Boot: </a:t>
            </a:r>
            <a:r>
              <a:rPr lang="en-US" dirty="0" err="1"/>
              <a:t>Architettura</a:t>
            </a:r>
            <a:r>
              <a:rPr lang="en-US" dirty="0"/>
              <a:t> MVC</a:t>
            </a: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85C20AE3-20D5-5247-B6EE-3D5DE7FF1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36276"/>
            <a:ext cx="9144000" cy="494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0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F41937-495A-534A-9303-8F03CAF13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Spring Boot: Controller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9625CB-0175-3245-98A0-0BAB6618E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Spring Boot semplifica la definizione dei Controller MVC</a:t>
            </a:r>
          </a:p>
          <a:p>
            <a:pPr lvl="1"/>
            <a:r>
              <a:rPr lang="it-IT" dirty="0"/>
              <a:t>Ogni controller MVC è definito come una normale classe Java, annotata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@Controller</a:t>
            </a:r>
          </a:p>
          <a:p>
            <a:pPr lvl="1"/>
            <a:r>
              <a:rPr lang="it-IT" dirty="0"/>
              <a:t>E' possibile mappare ogni metodo del controller con un URL tramite le annotazioni 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GetMapping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dirty="0"/>
              <a:t>e 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PostMapping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dirty="0"/>
              <a:t>(rispettivamente per richieste HTTP GET e POST). </a:t>
            </a:r>
          </a:p>
          <a:p>
            <a:pPr lvl="1"/>
            <a:r>
              <a:rPr lang="it-IT" dirty="0"/>
              <a:t>I parametri HTTP (che sono trasmessi sempre come stringhe di testo) sono passati come normali parametri Java (opportunamente annotati) e convertiti automaticamente nel tipo di destinazione. </a:t>
            </a:r>
            <a:br>
              <a:rPr lang="it-IT" dirty="0"/>
            </a:br>
            <a:r>
              <a:rPr lang="it-IT" b="1" dirty="0"/>
              <a:t>Attenzione: </a:t>
            </a:r>
            <a:r>
              <a:rPr lang="it-IT" dirty="0"/>
              <a:t>la conversione potrebbe non andare a buon fine (ad esempio, il valore di un campo </a:t>
            </a:r>
            <a:r>
              <a:rPr lang="it-IT" dirty="0" err="1"/>
              <a:t>Integer</a:t>
            </a:r>
            <a:r>
              <a:rPr lang="it-IT" dirty="0"/>
              <a:t> è una stringa alfabetica)</a:t>
            </a:r>
          </a:p>
          <a:p>
            <a:pPr lvl="1"/>
            <a:r>
              <a:rPr lang="it-IT" dirty="0"/>
              <a:t>Ogni metodo ritorna una stringa che rappresenta il nome della vista successiva</a:t>
            </a:r>
          </a:p>
          <a:p>
            <a:pPr lvl="1"/>
            <a:r>
              <a:rPr lang="it-IT" dirty="0"/>
              <a:t>I dati da passare alla vista vengono aggiunti come attributi di un oggetto 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1055742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A702D2-A552-1B4A-A76C-BB732B33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Spring Boot: Validazione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93913D-D040-2B4A-917D-31FACB188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430000" cy="4525963"/>
          </a:xfrm>
        </p:spPr>
        <p:txBody>
          <a:bodyPr>
            <a:normAutofit fontScale="92500"/>
          </a:bodyPr>
          <a:lstStyle/>
          <a:p>
            <a:r>
              <a:rPr lang="it-IT" dirty="0"/>
              <a:t>I vincoli sui dati di input sono proprietà delle entità</a:t>
            </a:r>
          </a:p>
          <a:p>
            <a:r>
              <a:rPr lang="it-IT" dirty="0"/>
              <a:t>Il tipo dei dati (</a:t>
            </a:r>
            <a:r>
              <a:rPr lang="it-IT" dirty="0" err="1"/>
              <a:t>Integer</a:t>
            </a:r>
            <a:r>
              <a:rPr lang="it-IT" dirty="0"/>
              <a:t>, </a:t>
            </a:r>
            <a:r>
              <a:rPr lang="it-IT" dirty="0" err="1"/>
              <a:t>String</a:t>
            </a:r>
            <a:r>
              <a:rPr lang="it-IT" dirty="0"/>
              <a:t>, Double) rappresenta un vincolo implicito</a:t>
            </a:r>
          </a:p>
          <a:p>
            <a:r>
              <a:rPr lang="it-IT" dirty="0"/>
              <a:t>Ma è possibile specificare in maniera dichiarativa ulteriori vincoli di validità dei dati direttamente sugli attributi delle entità attraverso opportune annotazioni (del package </a:t>
            </a:r>
            <a:r>
              <a:rPr lang="it-IT" sz="2600" dirty="0" err="1">
                <a:latin typeface="Consolas" panose="020B0609020204030204" pitchFamily="49" charset="0"/>
                <a:cs typeface="Consolas" panose="020B0609020204030204" pitchFamily="49" charset="0"/>
              </a:rPr>
              <a:t>jakarta.validation.constraints</a:t>
            </a:r>
            <a:r>
              <a:rPr lang="it-IT" dirty="0"/>
              <a:t>)</a:t>
            </a:r>
          </a:p>
          <a:p>
            <a:r>
              <a:rPr lang="it-IT" dirty="0">
                <a:solidFill>
                  <a:srgbClr val="FF0000"/>
                </a:solidFill>
              </a:rPr>
              <a:t>Per usare queste librerie, quando creiamo il progetto Spring Boot dobbiamo importare anche le librerie </a:t>
            </a:r>
            <a:r>
              <a:rPr lang="it-IT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Validation</a:t>
            </a:r>
            <a:endParaRPr lang="it-IT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t-IT" dirty="0"/>
              <a:t>Per un elenco completo delle annotazioni vedi:</a:t>
            </a:r>
            <a:br>
              <a:rPr lang="it-IT" dirty="0"/>
            </a:br>
            <a:r>
              <a:rPr lang="en-US" sz="1600" dirty="0">
                <a:hlinkClick r:id="rId2"/>
              </a:rPr>
              <a:t>https://jakarta.ee/specifications/bean-validation/3.0/apidocs/jakarta/validation/constraints/package-summary.html</a:t>
            </a:r>
            <a:r>
              <a:rPr lang="en-US" sz="1600" dirty="0"/>
              <a:t> 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51298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6C7FA3-0DB6-DADC-2E94-425E692F2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Vincoli</a:t>
            </a:r>
            <a:r>
              <a:rPr lang="en-US" dirty="0"/>
              <a:t> </a:t>
            </a:r>
            <a:r>
              <a:rPr lang="en-US" dirty="0" err="1"/>
              <a:t>Validazione</a:t>
            </a:r>
            <a:r>
              <a:rPr lang="en-US" dirty="0"/>
              <a:t>: </a:t>
            </a:r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F11BD4-3A88-C579-33C6-A0FFDAD15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it-IT" b="1" dirty="0">
                <a:solidFill>
                  <a:srgbClr val="7F0055"/>
                </a:solidFill>
                <a:latin typeface="Menlo" panose="020B0609030804020204" pitchFamily="49" charset="0"/>
              </a:rPr>
              <a:t>import</a:t>
            </a:r>
            <a:r>
              <a:rPr lang="it-IT" dirty="0">
                <a:latin typeface="Menlo" panose="020B0609030804020204" pitchFamily="49" charset="0"/>
              </a:rPr>
              <a:t> </a:t>
            </a:r>
            <a:r>
              <a:rPr lang="it-IT" dirty="0" err="1">
                <a:latin typeface="Menlo" panose="020B0609030804020204" pitchFamily="49" charset="0"/>
              </a:rPr>
              <a:t>jakarta.validation.constraints.NotBlank</a:t>
            </a:r>
            <a:r>
              <a:rPr lang="it-IT" dirty="0"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it-IT" b="1" dirty="0">
                <a:solidFill>
                  <a:srgbClr val="7F0055"/>
                </a:solidFill>
                <a:latin typeface="Menlo" panose="020B0609030804020204" pitchFamily="49" charset="0"/>
              </a:rPr>
              <a:t>import</a:t>
            </a:r>
            <a:r>
              <a:rPr lang="it-IT" dirty="0">
                <a:latin typeface="Menlo" panose="020B0609030804020204" pitchFamily="49" charset="0"/>
              </a:rPr>
              <a:t> </a:t>
            </a:r>
            <a:r>
              <a:rPr lang="it-IT" dirty="0" err="1">
                <a:latin typeface="Menlo" panose="020B0609030804020204" pitchFamily="49" charset="0"/>
              </a:rPr>
              <a:t>jakarta.validation.constraints.NotNull</a:t>
            </a:r>
            <a:r>
              <a:rPr lang="it-IT" dirty="0"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it-IT" b="1" dirty="0">
                <a:solidFill>
                  <a:srgbClr val="7F0055"/>
                </a:solidFill>
                <a:latin typeface="Menlo" panose="020B0609030804020204" pitchFamily="49" charset="0"/>
              </a:rPr>
              <a:t>import</a:t>
            </a:r>
            <a:r>
              <a:rPr lang="it-IT" dirty="0">
                <a:latin typeface="Menlo" panose="020B0609030804020204" pitchFamily="49" charset="0"/>
              </a:rPr>
              <a:t> </a:t>
            </a:r>
            <a:r>
              <a:rPr lang="it-IT" dirty="0" err="1">
                <a:latin typeface="Menlo" panose="020B0609030804020204" pitchFamily="49" charset="0"/>
              </a:rPr>
              <a:t>jakarta.validation.constraints.Min</a:t>
            </a:r>
            <a:r>
              <a:rPr lang="it-IT" dirty="0"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it-IT" b="1" dirty="0">
                <a:solidFill>
                  <a:srgbClr val="7F0055"/>
                </a:solidFill>
                <a:latin typeface="Menlo" panose="020B0609030804020204" pitchFamily="49" charset="0"/>
              </a:rPr>
              <a:t>import</a:t>
            </a:r>
            <a:r>
              <a:rPr lang="it-IT" dirty="0">
                <a:latin typeface="Menlo" panose="020B0609030804020204" pitchFamily="49" charset="0"/>
              </a:rPr>
              <a:t> </a:t>
            </a:r>
            <a:r>
              <a:rPr lang="it-IT" dirty="0" err="1">
                <a:latin typeface="Menlo" panose="020B0609030804020204" pitchFamily="49" charset="0"/>
              </a:rPr>
              <a:t>jakarta.validation.constraints.Max</a:t>
            </a:r>
            <a:r>
              <a:rPr lang="it-IT" dirty="0"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it-IT" dirty="0">
              <a:solidFill>
                <a:srgbClr val="64646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646464"/>
                </a:solidFill>
                <a:latin typeface="Menlo" panose="020B0609030804020204" pitchFamily="49" charset="0"/>
              </a:rPr>
              <a:t>@</a:t>
            </a:r>
            <a:r>
              <a:rPr lang="it-IT" dirty="0" err="1">
                <a:solidFill>
                  <a:srgbClr val="646464"/>
                </a:solidFill>
                <a:latin typeface="Menlo" panose="020B0609030804020204" pitchFamily="49" charset="0"/>
              </a:rPr>
              <a:t>Entity</a:t>
            </a:r>
            <a:endParaRPr lang="it-IT" dirty="0">
              <a:solidFill>
                <a:srgbClr val="64646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b="1" dirty="0">
                <a:solidFill>
                  <a:srgbClr val="7F0055"/>
                </a:solidFill>
                <a:latin typeface="Menlo" panose="020B0609030804020204" pitchFamily="49" charset="0"/>
              </a:rPr>
              <a:t>public</a:t>
            </a:r>
            <a:r>
              <a:rPr lang="it-IT" dirty="0">
                <a:latin typeface="Menlo" panose="020B0609030804020204" pitchFamily="49" charset="0"/>
              </a:rPr>
              <a:t> </a:t>
            </a:r>
            <a:r>
              <a:rPr lang="it-IT" b="1" dirty="0">
                <a:solidFill>
                  <a:srgbClr val="7F0055"/>
                </a:solidFill>
                <a:latin typeface="Menlo" panose="020B0609030804020204" pitchFamily="49" charset="0"/>
              </a:rPr>
              <a:t>class</a:t>
            </a:r>
            <a:r>
              <a:rPr lang="it-IT" dirty="0">
                <a:latin typeface="Menlo" panose="020B0609030804020204" pitchFamily="49" charset="0"/>
              </a:rPr>
              <a:t> Movie {</a:t>
            </a:r>
          </a:p>
          <a:p>
            <a:pPr marL="0" indent="0">
              <a:buNone/>
            </a:pPr>
            <a:r>
              <a:rPr lang="it-IT" dirty="0">
                <a:latin typeface="Menlo" panose="020B0609030804020204" pitchFamily="49" charset="0"/>
              </a:rPr>
              <a:t>    </a:t>
            </a:r>
            <a:r>
              <a:rPr lang="it-IT" dirty="0">
                <a:solidFill>
                  <a:srgbClr val="646464"/>
                </a:solidFill>
                <a:latin typeface="Menlo" panose="020B0609030804020204" pitchFamily="49" charset="0"/>
              </a:rPr>
              <a:t>@Id</a:t>
            </a:r>
            <a:endParaRPr lang="it-IT" dirty="0"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dirty="0">
                <a:latin typeface="Menlo" panose="020B0609030804020204" pitchFamily="49" charset="0"/>
              </a:rPr>
              <a:t>    </a:t>
            </a:r>
            <a:r>
              <a:rPr lang="it-IT" dirty="0">
                <a:solidFill>
                  <a:srgbClr val="646464"/>
                </a:solidFill>
                <a:latin typeface="Menlo" panose="020B0609030804020204" pitchFamily="49" charset="0"/>
              </a:rPr>
              <a:t>@</a:t>
            </a:r>
            <a:r>
              <a:rPr lang="it-IT" dirty="0" err="1">
                <a:solidFill>
                  <a:srgbClr val="646464"/>
                </a:solidFill>
                <a:latin typeface="Menlo" panose="020B0609030804020204" pitchFamily="49" charset="0"/>
              </a:rPr>
              <a:t>GeneratedValue</a:t>
            </a:r>
            <a:r>
              <a:rPr lang="it-IT" dirty="0">
                <a:latin typeface="Menlo" panose="020B0609030804020204" pitchFamily="49" charset="0"/>
              </a:rPr>
              <a:t>(strategy = </a:t>
            </a:r>
            <a:r>
              <a:rPr lang="it-IT" dirty="0" err="1">
                <a:latin typeface="Menlo" panose="020B0609030804020204" pitchFamily="49" charset="0"/>
              </a:rPr>
              <a:t>GenerationType.</a:t>
            </a:r>
            <a:r>
              <a:rPr lang="it-IT" b="1" i="1" dirty="0" err="1">
                <a:solidFill>
                  <a:srgbClr val="0000C0"/>
                </a:solidFill>
                <a:latin typeface="Menlo" panose="020B0609030804020204" pitchFamily="49" charset="0"/>
              </a:rPr>
              <a:t>AUTO</a:t>
            </a:r>
            <a:r>
              <a:rPr lang="it-IT" dirty="0"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it-IT" dirty="0">
                <a:latin typeface="Menlo" panose="020B0609030804020204" pitchFamily="49" charset="0"/>
              </a:rPr>
              <a:t>    </a:t>
            </a:r>
            <a:r>
              <a:rPr lang="it-IT" b="1" dirty="0">
                <a:solidFill>
                  <a:srgbClr val="7F0055"/>
                </a:solidFill>
                <a:latin typeface="Menlo" panose="020B0609030804020204" pitchFamily="49" charset="0"/>
              </a:rPr>
              <a:t>private</a:t>
            </a:r>
            <a:r>
              <a:rPr lang="it-IT" dirty="0">
                <a:latin typeface="Menlo" panose="020B0609030804020204" pitchFamily="49" charset="0"/>
              </a:rPr>
              <a:t> Long </a:t>
            </a:r>
            <a:r>
              <a:rPr lang="it-IT" dirty="0">
                <a:solidFill>
                  <a:srgbClr val="0000C0"/>
                </a:solidFill>
                <a:latin typeface="Menlo" panose="020B0609030804020204" pitchFamily="49" charset="0"/>
              </a:rPr>
              <a:t>id</a:t>
            </a:r>
            <a:r>
              <a:rPr lang="it-IT" dirty="0"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it-IT" dirty="0"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dirty="0">
                <a:latin typeface="Menlo" panose="020B0609030804020204" pitchFamily="49" charset="0"/>
              </a:rPr>
              <a:t>    </a:t>
            </a:r>
            <a:r>
              <a:rPr lang="it-IT" dirty="0">
                <a:solidFill>
                  <a:srgbClr val="646464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@</a:t>
            </a:r>
            <a:r>
              <a:rPr lang="it-IT" dirty="0" err="1">
                <a:solidFill>
                  <a:srgbClr val="646464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NotBlank</a:t>
            </a:r>
            <a:endParaRPr lang="it-IT" dirty="0">
              <a:solidFill>
                <a:srgbClr val="2A00FF"/>
              </a:solidFill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dirty="0">
                <a:latin typeface="Menlo" panose="020B0609030804020204" pitchFamily="49" charset="0"/>
              </a:rPr>
              <a:t>    </a:t>
            </a:r>
            <a:r>
              <a:rPr lang="it-IT" b="1" dirty="0">
                <a:solidFill>
                  <a:srgbClr val="7F0055"/>
                </a:solidFill>
                <a:latin typeface="Menlo" panose="020B0609030804020204" pitchFamily="49" charset="0"/>
              </a:rPr>
              <a:t>private</a:t>
            </a:r>
            <a:r>
              <a:rPr lang="it-IT" dirty="0">
                <a:latin typeface="Menlo" panose="020B0609030804020204" pitchFamily="49" charset="0"/>
              </a:rPr>
              <a:t> </a:t>
            </a:r>
            <a:r>
              <a:rPr lang="it-IT" dirty="0" err="1">
                <a:latin typeface="Menlo" panose="020B0609030804020204" pitchFamily="49" charset="0"/>
              </a:rPr>
              <a:t>String</a:t>
            </a:r>
            <a:r>
              <a:rPr lang="it-IT" dirty="0">
                <a:latin typeface="Menlo" panose="020B0609030804020204" pitchFamily="49" charset="0"/>
              </a:rPr>
              <a:t> </a:t>
            </a:r>
            <a:r>
              <a:rPr lang="it-IT" dirty="0" err="1">
                <a:solidFill>
                  <a:srgbClr val="0000C0"/>
                </a:solidFill>
                <a:latin typeface="Menlo" panose="020B0609030804020204" pitchFamily="49" charset="0"/>
              </a:rPr>
              <a:t>title</a:t>
            </a:r>
            <a:r>
              <a:rPr lang="it-IT" dirty="0"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it-IT" dirty="0">
                <a:latin typeface="Menlo" panose="020B0609030804020204" pitchFamily="49" charset="0"/>
              </a:rPr>
            </a:br>
            <a:br>
              <a:rPr lang="it-IT" dirty="0">
                <a:latin typeface="Menlo" panose="020B0609030804020204" pitchFamily="49" charset="0"/>
              </a:rPr>
            </a:br>
            <a:r>
              <a:rPr lang="it-IT" dirty="0">
                <a:latin typeface="Menlo" panose="020B0609030804020204" pitchFamily="49" charset="0"/>
              </a:rPr>
              <a:t>    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@</a:t>
            </a:r>
            <a:r>
              <a:rPr lang="it-IT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NotNull</a:t>
            </a:r>
            <a:endParaRPr lang="it-IT" dirty="0">
              <a:solidFill>
                <a:srgbClr val="000000"/>
              </a:solidFill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dirty="0">
                <a:latin typeface="Menlo" panose="020B0609030804020204" pitchFamily="49" charset="0"/>
              </a:rPr>
              <a:t>    </a:t>
            </a:r>
            <a:r>
              <a:rPr lang="it-IT" dirty="0">
                <a:solidFill>
                  <a:srgbClr val="646464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@Min</a:t>
            </a:r>
            <a:r>
              <a:rPr lang="it-IT" dirty="0">
                <a:highlight>
                  <a:srgbClr val="FFFF00"/>
                </a:highlight>
                <a:latin typeface="Menlo" panose="020B0609030804020204" pitchFamily="49" charset="0"/>
              </a:rPr>
              <a:t>(1900)</a:t>
            </a:r>
          </a:p>
          <a:p>
            <a:pPr marL="0" indent="0">
              <a:buNone/>
            </a:pPr>
            <a:r>
              <a:rPr lang="it-IT" dirty="0">
                <a:latin typeface="Menlo" panose="020B0609030804020204" pitchFamily="49" charset="0"/>
              </a:rPr>
              <a:t>    </a:t>
            </a:r>
            <a:r>
              <a:rPr lang="it-IT" dirty="0">
                <a:solidFill>
                  <a:srgbClr val="646464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@Max</a:t>
            </a:r>
            <a:r>
              <a:rPr lang="it-IT" dirty="0">
                <a:highlight>
                  <a:srgbClr val="FFFF00"/>
                </a:highlight>
                <a:latin typeface="Menlo" panose="020B0609030804020204" pitchFamily="49" charset="0"/>
              </a:rPr>
              <a:t>(2023)</a:t>
            </a:r>
          </a:p>
          <a:p>
            <a:pPr marL="0" indent="0">
              <a:buNone/>
            </a:pPr>
            <a:r>
              <a:rPr lang="it-IT" dirty="0">
                <a:latin typeface="Menlo" panose="020B0609030804020204" pitchFamily="49" charset="0"/>
              </a:rPr>
              <a:t>    </a:t>
            </a:r>
            <a:r>
              <a:rPr lang="it-IT" b="1" dirty="0">
                <a:solidFill>
                  <a:srgbClr val="7F0055"/>
                </a:solidFill>
                <a:latin typeface="Menlo" panose="020B0609030804020204" pitchFamily="49" charset="0"/>
              </a:rPr>
              <a:t>private</a:t>
            </a:r>
            <a:r>
              <a:rPr lang="it-IT" dirty="0">
                <a:latin typeface="Menlo" panose="020B0609030804020204" pitchFamily="49" charset="0"/>
              </a:rPr>
              <a:t> </a:t>
            </a:r>
            <a:r>
              <a:rPr lang="it-IT" dirty="0" err="1">
                <a:latin typeface="Menlo" panose="020B0609030804020204" pitchFamily="49" charset="0"/>
              </a:rPr>
              <a:t>Integer</a:t>
            </a:r>
            <a:r>
              <a:rPr lang="it-IT" dirty="0">
                <a:latin typeface="Menlo" panose="020B0609030804020204" pitchFamily="49" charset="0"/>
              </a:rPr>
              <a:t> </a:t>
            </a:r>
            <a:r>
              <a:rPr lang="it-IT" dirty="0" err="1">
                <a:solidFill>
                  <a:srgbClr val="0000C0"/>
                </a:solidFill>
                <a:latin typeface="Menlo" panose="020B0609030804020204" pitchFamily="49" charset="0"/>
              </a:rPr>
              <a:t>year</a:t>
            </a:r>
            <a:r>
              <a:rPr lang="it-IT" dirty="0"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it-IT" dirty="0">
                <a:latin typeface="Menlo" panose="020B0609030804020204" pitchFamily="49" charset="0"/>
              </a:rPr>
              <a:t>	…</a:t>
            </a:r>
          </a:p>
          <a:p>
            <a:pPr marL="0" indent="0">
              <a:buNone/>
            </a:pPr>
            <a:r>
              <a:rPr lang="en-US" dirty="0"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4A8615F-1FED-0655-2202-0135B39C6D78}"/>
              </a:ext>
            </a:extLst>
          </p:cNvPr>
          <p:cNvSpPr txBox="1"/>
          <p:nvPr/>
        </p:nvSpPr>
        <p:spPr>
          <a:xfrm>
            <a:off x="3918857" y="5937031"/>
            <a:ext cx="708751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NON FARE COPIA E INCOLLA DEL CODICE DALLE SLIDE: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POWERPOINT INTRODUCE CARATTERI BIANCHI CHE SPORCANO IL CODICE</a:t>
            </a:r>
          </a:p>
        </p:txBody>
      </p:sp>
    </p:spTree>
    <p:extLst>
      <p:ext uri="{BB962C8B-B14F-4D97-AF65-F5344CB8AC3E}">
        <p14:creationId xmlns:p14="http://schemas.microsoft.com/office/powerpoint/2010/main" val="318632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A702D2-A552-1B4A-A76C-BB732B33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Spring Boot: Validazione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93913D-D040-2B4A-917D-31FACB188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Violazioni dei vincoli possono essere gestite automaticamente dai nostri Controller MVC</a:t>
            </a:r>
          </a:p>
          <a:p>
            <a:r>
              <a:rPr lang="it-IT" dirty="0"/>
              <a:t>Abbiamo visto che un metodo del controller può prendere come parametro una entità </a:t>
            </a:r>
          </a:p>
          <a:p>
            <a:r>
              <a:rPr lang="it-IT" dirty="0"/>
              <a:t>Se i parametri HTTP hanno lo stesso nome delle variabili dell'entità, il controller (facendo ampio uso della riflessione) prende i valori dei parametri HTTP per creare un oggetto istanza dell'entità, preoccupandosi di </a:t>
            </a:r>
            <a:r>
              <a:rPr lang="it-IT" b="1" dirty="0"/>
              <a:t>convertire</a:t>
            </a:r>
            <a:r>
              <a:rPr lang="it-IT" dirty="0"/>
              <a:t> e </a:t>
            </a:r>
            <a:r>
              <a:rPr lang="it-IT" b="1" dirty="0"/>
              <a:t>validare</a:t>
            </a:r>
            <a:r>
              <a:rPr lang="it-IT" dirty="0"/>
              <a:t> i dati</a:t>
            </a:r>
          </a:p>
          <a:p>
            <a:pPr lvl="1"/>
            <a:r>
              <a:rPr lang="it-IT" dirty="0"/>
              <a:t>Questa operazione di chiama "</a:t>
            </a:r>
            <a:r>
              <a:rPr lang="it-IT" dirty="0" err="1"/>
              <a:t>binding</a:t>
            </a:r>
            <a:r>
              <a:rPr lang="it-IT" dirty="0"/>
              <a:t>"</a:t>
            </a:r>
          </a:p>
          <a:p>
            <a:r>
              <a:rPr lang="it-IT" dirty="0"/>
              <a:t>Eventuali errori (di </a:t>
            </a:r>
            <a:r>
              <a:rPr lang="it-IT" b="1" dirty="0"/>
              <a:t>conversione</a:t>
            </a:r>
            <a:r>
              <a:rPr lang="it-IT" dirty="0"/>
              <a:t> o di </a:t>
            </a:r>
            <a:r>
              <a:rPr lang="it-IT" b="1" dirty="0"/>
              <a:t>validazione</a:t>
            </a:r>
            <a:r>
              <a:rPr lang="it-IT" dirty="0"/>
              <a:t>) rilevati durante il </a:t>
            </a:r>
            <a:r>
              <a:rPr lang="it-IT" i="1" dirty="0" err="1"/>
              <a:t>binding</a:t>
            </a:r>
            <a:r>
              <a:rPr lang="it-IT" i="1" dirty="0"/>
              <a:t> </a:t>
            </a:r>
            <a:r>
              <a:rPr lang="it-IT" dirty="0"/>
              <a:t>vengono riportati in un opportuno oggetto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00233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DF97A0-0844-504F-861D-E796173D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542" y="-211023"/>
            <a:ext cx="5519057" cy="1143000"/>
          </a:xfrm>
        </p:spPr>
        <p:txBody>
          <a:bodyPr/>
          <a:lstStyle/>
          <a:p>
            <a:pPr algn="r"/>
            <a:r>
              <a:rPr lang="en-US" dirty="0" err="1"/>
              <a:t>Validatori</a:t>
            </a:r>
            <a:r>
              <a:rPr lang="en-US" dirty="0"/>
              <a:t>: </a:t>
            </a:r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304ED4-9B05-A245-9155-25513AE7A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11630"/>
            <a:ext cx="11364686" cy="60717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800" dirty="0">
                <a:solidFill>
                  <a:srgbClr val="646464"/>
                </a:solidFill>
                <a:latin typeface="Menlo" panose="020B0609030804020204" pitchFamily="49" charset="0"/>
              </a:rPr>
              <a:t>@Controller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7F0055"/>
                </a:solidFill>
                <a:latin typeface="Menlo" panose="020B0609030804020204" pitchFamily="49" charset="0"/>
              </a:rPr>
              <a:t>public</a:t>
            </a:r>
            <a:r>
              <a:rPr lang="it-IT" sz="1800" dirty="0">
                <a:latin typeface="Menlo" panose="020B0609030804020204" pitchFamily="49" charset="0"/>
              </a:rPr>
              <a:t> </a:t>
            </a:r>
            <a:r>
              <a:rPr lang="it-IT" sz="1800" b="1" dirty="0">
                <a:solidFill>
                  <a:srgbClr val="7F0055"/>
                </a:solidFill>
                <a:latin typeface="Menlo" panose="020B0609030804020204" pitchFamily="49" charset="0"/>
              </a:rPr>
              <a:t>class</a:t>
            </a:r>
            <a:r>
              <a:rPr lang="it-IT" sz="1800" dirty="0">
                <a:latin typeface="Menlo" panose="020B0609030804020204" pitchFamily="49" charset="0"/>
              </a:rPr>
              <a:t> </a:t>
            </a:r>
            <a:r>
              <a:rPr lang="it-IT" sz="1800" dirty="0" err="1">
                <a:latin typeface="Menlo" panose="020B0609030804020204" pitchFamily="49" charset="0"/>
              </a:rPr>
              <a:t>MovieController</a:t>
            </a:r>
            <a:r>
              <a:rPr lang="it-IT" sz="1800" dirty="0">
                <a:latin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it-IT" sz="1800" dirty="0">
                <a:solidFill>
                  <a:srgbClr val="646464"/>
                </a:solidFill>
                <a:latin typeface="Menlo" panose="020B0609030804020204" pitchFamily="49" charset="0"/>
              </a:rPr>
              <a:t>  @</a:t>
            </a:r>
            <a:r>
              <a:rPr lang="it-IT" sz="1800" dirty="0" err="1">
                <a:solidFill>
                  <a:srgbClr val="646464"/>
                </a:solidFill>
                <a:latin typeface="Menlo" panose="020B0609030804020204" pitchFamily="49" charset="0"/>
              </a:rPr>
              <a:t>Autowired</a:t>
            </a:r>
            <a:r>
              <a:rPr lang="it-IT" sz="1800" dirty="0">
                <a:latin typeface="Menlo" panose="020B0609030804020204" pitchFamily="49" charset="0"/>
              </a:rPr>
              <a:t> </a:t>
            </a:r>
            <a:r>
              <a:rPr lang="it-IT" sz="1800" dirty="0" err="1">
                <a:latin typeface="Menlo" panose="020B0609030804020204" pitchFamily="49" charset="0"/>
              </a:rPr>
              <a:t>MovieService</a:t>
            </a:r>
            <a:r>
              <a:rPr lang="it-IT" sz="1800" dirty="0"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0000C0"/>
                </a:solidFill>
                <a:latin typeface="Menlo" panose="020B0609030804020204" pitchFamily="49" charset="0"/>
              </a:rPr>
              <a:t>movieService</a:t>
            </a:r>
            <a:r>
              <a:rPr lang="it-IT" sz="1800" dirty="0"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it-IT" sz="1800" dirty="0">
                <a:solidFill>
                  <a:srgbClr val="646464"/>
                </a:solidFill>
                <a:latin typeface="Menlo" panose="020B0609030804020204" pitchFamily="49" charset="0"/>
              </a:rPr>
              <a:t>  </a:t>
            </a:r>
            <a:endParaRPr lang="it-IT" sz="1800" dirty="0"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646464"/>
                </a:solidFill>
                <a:latin typeface="Menlo" panose="020B0609030804020204" pitchFamily="49" charset="0"/>
              </a:rPr>
              <a:t>  </a:t>
            </a:r>
          </a:p>
          <a:p>
            <a:pPr marL="0" indent="0">
              <a:buNone/>
            </a:pP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@</a:t>
            </a:r>
            <a:r>
              <a:rPr lang="it-IT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PostMapping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"/movie"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 public</a:t>
            </a:r>
            <a:r>
              <a:rPr lang="it-IT" sz="1800" dirty="0"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effectLst/>
                <a:latin typeface="Menlo" panose="020B0609030804020204" pitchFamily="49" charset="0"/>
              </a:rPr>
              <a:t>String</a:t>
            </a:r>
            <a:r>
              <a:rPr lang="it-IT" sz="1800" dirty="0"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effectLst/>
                <a:latin typeface="Menlo" panose="020B0609030804020204" pitchFamily="49" charset="0"/>
              </a:rPr>
              <a:t>newMovie</a:t>
            </a:r>
            <a:r>
              <a:rPr lang="it-IT" sz="1800" dirty="0"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646464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@</a:t>
            </a:r>
            <a:r>
              <a:rPr lang="it-IT" sz="1800" dirty="0" err="1">
                <a:solidFill>
                  <a:srgbClr val="646464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Valid</a:t>
            </a:r>
            <a:r>
              <a:rPr lang="it-IT" sz="1800" dirty="0">
                <a:effectLst/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it-IT" sz="1800" dirty="0" err="1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ModelAttribute</a:t>
            </a:r>
            <a:r>
              <a:rPr lang="it-IT" sz="1800" dirty="0">
                <a:effectLst/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"movie"</a:t>
            </a:r>
            <a:r>
              <a:rPr lang="it-IT" sz="1800" dirty="0">
                <a:effectLst/>
                <a:latin typeface="Menlo" panose="020B0609030804020204" pitchFamily="49" charset="0"/>
              </a:rPr>
              <a:t>) Movie </a:t>
            </a:r>
            <a:r>
              <a:rPr lang="it-IT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it-IT" sz="1800" dirty="0">
                <a:effectLst/>
                <a:latin typeface="Menlo" panose="020B0609030804020204" pitchFamily="49" charset="0"/>
              </a:rPr>
              <a:t>, </a:t>
            </a:r>
          </a:p>
          <a:p>
            <a:pPr marL="0" indent="0">
              <a:buNone/>
            </a:pPr>
            <a:r>
              <a:rPr lang="it-IT" sz="1800" dirty="0">
                <a:latin typeface="Menlo" panose="020B0609030804020204" pitchFamily="49" charset="0"/>
              </a:rPr>
              <a:t>							</a:t>
            </a:r>
            <a:r>
              <a:rPr lang="it-IT" sz="1800" dirty="0" err="1"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BindingResult</a:t>
            </a:r>
            <a:r>
              <a:rPr lang="it-IT" sz="1800" dirty="0"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bindingResult</a:t>
            </a:r>
            <a:r>
              <a:rPr lang="it-IT" sz="1800" dirty="0">
                <a:effectLst/>
                <a:latin typeface="Menlo" panose="020B0609030804020204" pitchFamily="49" charset="0"/>
              </a:rPr>
              <a:t>, Model </a:t>
            </a:r>
            <a:r>
              <a:rPr lang="it-IT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it-IT" sz="1800" dirty="0">
                <a:effectLst/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    </a:t>
            </a:r>
            <a:endParaRPr lang="it-IT" sz="1800" dirty="0">
              <a:solidFill>
                <a:srgbClr val="6A3E3E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    </a:t>
            </a:r>
            <a:r>
              <a:rPr lang="it-IT" sz="18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it-IT" sz="1800" dirty="0">
                <a:effectLst/>
                <a:latin typeface="Menlo" panose="020B0609030804020204" pitchFamily="49" charset="0"/>
              </a:rPr>
              <a:t> (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bindingResult</a:t>
            </a:r>
            <a:r>
              <a:rPr lang="it-IT" sz="1800" dirty="0" err="1"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.hasErrors</a:t>
            </a:r>
            <a:r>
              <a:rPr lang="it-IT" sz="1800" dirty="0"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()</a:t>
            </a:r>
            <a:r>
              <a:rPr lang="it-IT" sz="1800" dirty="0">
                <a:effectLst/>
                <a:latin typeface="Menlo" panose="020B0609030804020204" pitchFamily="49" charset="0"/>
              </a:rPr>
              <a:t>) { </a:t>
            </a:r>
            <a:r>
              <a:rPr lang="it-IT" sz="1800" dirty="0">
                <a:solidFill>
                  <a:srgbClr val="3F7F5F"/>
                </a:solidFill>
                <a:latin typeface="Menlo" panose="020B0609030804020204" pitchFamily="49" charset="0"/>
              </a:rPr>
              <a:t>// </a:t>
            </a:r>
            <a:r>
              <a:rPr lang="it-IT" sz="1800" u="sng" dirty="0">
                <a:solidFill>
                  <a:srgbClr val="3F7F5F"/>
                </a:solidFill>
                <a:latin typeface="Menlo" panose="020B0609030804020204" pitchFamily="49" charset="0"/>
              </a:rPr>
              <a:t>sono emersi errori nel </a:t>
            </a:r>
            <a:r>
              <a:rPr lang="it-IT" sz="1800" u="sng" dirty="0" err="1">
                <a:solidFill>
                  <a:srgbClr val="3F7F5F"/>
                </a:solidFill>
                <a:latin typeface="Menlo" panose="020B0609030804020204" pitchFamily="49" charset="0"/>
              </a:rPr>
              <a:t>binding</a:t>
            </a:r>
            <a:endParaRPr lang="it-IT" sz="18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latin typeface="Menlo" panose="020B0609030804020204" pitchFamily="49" charset="0"/>
              </a:rPr>
              <a:t>       </a:t>
            </a: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formNewMovie.html</a:t>
            </a:r>
            <a:r>
              <a:rPr lang="it-IT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 </a:t>
            </a:r>
            <a:endParaRPr lang="it-IT" sz="18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effectLst/>
                <a:latin typeface="Menlo" panose="020B0609030804020204" pitchFamily="49" charset="0"/>
              </a:rPr>
              <a:t>     } </a:t>
            </a: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it-IT" sz="1800" dirty="0">
                <a:effectLst/>
                <a:latin typeface="Menlo" panose="020B0609030804020204" pitchFamily="49" charset="0"/>
              </a:rPr>
              <a:t> {                         </a:t>
            </a:r>
            <a:r>
              <a:rPr lang="it-IT" sz="1800" dirty="0">
                <a:solidFill>
                  <a:srgbClr val="3F7F5F"/>
                </a:solidFill>
                <a:latin typeface="Menlo" panose="020B0609030804020204" pitchFamily="49" charset="0"/>
              </a:rPr>
              <a:t>// NON </a:t>
            </a:r>
            <a:r>
              <a:rPr lang="it-IT" sz="1800" u="sng" dirty="0">
                <a:solidFill>
                  <a:srgbClr val="3F7F5F"/>
                </a:solidFill>
                <a:latin typeface="Menlo" panose="020B0609030804020204" pitchFamily="49" charset="0"/>
              </a:rPr>
              <a:t>sono emersi errori nel </a:t>
            </a:r>
            <a:r>
              <a:rPr lang="it-IT" sz="1800" u="sng" dirty="0" err="1">
                <a:solidFill>
                  <a:srgbClr val="3F7F5F"/>
                </a:solidFill>
                <a:latin typeface="Menlo" panose="020B0609030804020204" pitchFamily="49" charset="0"/>
              </a:rPr>
              <a:t>binding</a:t>
            </a:r>
            <a:endParaRPr lang="it-IT" sz="18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      </a:t>
            </a:r>
            <a:r>
              <a:rPr lang="it-IT" sz="18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it-IT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800" dirty="0" err="1">
                <a:solidFill>
                  <a:srgbClr val="0000C0"/>
                </a:solidFill>
                <a:latin typeface="Menlo" panose="020B0609030804020204" pitchFamily="49" charset="0"/>
              </a:rPr>
              <a:t>movieService</a:t>
            </a:r>
            <a:r>
              <a:rPr lang="it-IT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.save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 </a:t>
            </a:r>
            <a:endParaRPr lang="it-IT" sz="1800" dirty="0">
              <a:solidFill>
                <a:srgbClr val="0000C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       </a:t>
            </a:r>
            <a:r>
              <a:rPr lang="it-IT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it-IT" sz="1800" dirty="0" err="1">
                <a:effectLst/>
                <a:latin typeface="Menlo" panose="020B0609030804020204" pitchFamily="49" charset="0"/>
              </a:rPr>
              <a:t>.addAttribute</a:t>
            </a:r>
            <a:r>
              <a:rPr lang="it-IT" sz="1800" dirty="0">
                <a:effectLst/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"movie"</a:t>
            </a:r>
            <a:r>
              <a:rPr lang="it-IT" sz="1800" dirty="0">
                <a:effectLst/>
                <a:latin typeface="Menlo" panose="020B0609030804020204" pitchFamily="49" charset="0"/>
              </a:rPr>
              <a:t>, </a:t>
            </a:r>
            <a:r>
              <a:rPr lang="it-IT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it-IT" sz="1800" dirty="0">
                <a:effectLst/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7F0055"/>
                </a:solidFill>
                <a:latin typeface="Menlo" panose="020B0609030804020204" pitchFamily="49" charset="0"/>
              </a:rPr>
              <a:t>       </a:t>
            </a:r>
            <a:r>
              <a:rPr lang="it-IT" sz="18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redirect:movie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/"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+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.getId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();</a:t>
            </a:r>
            <a:endParaRPr lang="it-IT" sz="18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effectLst/>
                <a:latin typeface="Menlo" panose="020B0609030804020204" pitchFamily="49" charset="0"/>
              </a:rPr>
              <a:t>  }</a:t>
            </a:r>
          </a:p>
          <a:p>
            <a:pPr marL="0" indent="0">
              <a:buNone/>
            </a:pPr>
            <a:r>
              <a:rPr lang="it-IT" sz="1800" dirty="0"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7E2DD9F-6E94-56AE-B2E5-E7BFC8A66F43}"/>
              </a:ext>
            </a:extLst>
          </p:cNvPr>
          <p:cNvSpPr txBox="1"/>
          <p:nvPr/>
        </p:nvSpPr>
        <p:spPr>
          <a:xfrm>
            <a:off x="3918857" y="5937031"/>
            <a:ext cx="708751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NON FARE COPIA E INCOLLA DEL CODICE DALLE SLIDE: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POWERPOINT INTRODUCE CARATTERI BIANCHI CHE SPORCANO IL CODICE</a:t>
            </a:r>
          </a:p>
        </p:txBody>
      </p:sp>
      <p:sp>
        <p:nvSpPr>
          <p:cNvPr id="5" name="Esplosione 1 4">
            <a:extLst>
              <a:ext uri="{FF2B5EF4-FFF2-40B4-BE49-F238E27FC236}">
                <a16:creationId xmlns:a16="http://schemas.microsoft.com/office/drawing/2014/main" id="{C615F0D3-5B75-6744-3E40-F073F678A90B}"/>
              </a:ext>
            </a:extLst>
          </p:cNvPr>
          <p:cNvSpPr/>
          <p:nvPr/>
        </p:nvSpPr>
        <p:spPr>
          <a:xfrm>
            <a:off x="6640285" y="-293914"/>
            <a:ext cx="5725885" cy="2917372"/>
          </a:xfrm>
          <a:prstGeom prst="irregularSeal1">
            <a:avLst/>
          </a:prstGeom>
          <a:gradFill>
            <a:gsLst>
              <a:gs pos="10000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dirty="0"/>
              <a:t>ATTENZIONE ALL'ORDINE DEI PARAMETRI: </a:t>
            </a:r>
            <a:r>
              <a:rPr lang="en-US" dirty="0" err="1"/>
              <a:t>BindingResult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subito dopo </a:t>
            </a:r>
            <a:r>
              <a:rPr lang="en-US" dirty="0" err="1"/>
              <a:t>l'oggetto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stiamo</a:t>
            </a:r>
            <a:r>
              <a:rPr lang="en-US" dirty="0"/>
              <a:t> </a:t>
            </a:r>
            <a:r>
              <a:rPr lang="en-US" dirty="0" err="1"/>
              <a:t>creando</a:t>
            </a:r>
            <a:r>
              <a:rPr lang="en-US" dirty="0"/>
              <a:t>,  prima di Model</a:t>
            </a:r>
          </a:p>
        </p:txBody>
      </p:sp>
    </p:spTree>
    <p:extLst>
      <p:ext uri="{BB962C8B-B14F-4D97-AF65-F5344CB8AC3E}">
        <p14:creationId xmlns:p14="http://schemas.microsoft.com/office/powerpoint/2010/main" val="1874298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0AC832-3187-658C-F311-E1A085687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Spring Boot: Validazione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A2D0F9-D553-BD10-157C-2F45461B5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errore</a:t>
            </a:r>
            <a:r>
              <a:rPr lang="en-US" dirty="0"/>
              <a:t> di </a:t>
            </a:r>
            <a:r>
              <a:rPr lang="en-US" dirty="0" err="1"/>
              <a:t>validazione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associato</a:t>
            </a:r>
            <a:r>
              <a:rPr lang="en-US" dirty="0"/>
              <a:t> un </a:t>
            </a:r>
            <a:r>
              <a:rPr lang="en-US" dirty="0" err="1"/>
              <a:t>messaggio</a:t>
            </a:r>
            <a:r>
              <a:rPr lang="en-US" dirty="0"/>
              <a:t> di </a:t>
            </a:r>
            <a:r>
              <a:rPr lang="en-US" dirty="0" err="1"/>
              <a:t>errore</a:t>
            </a:r>
            <a:endParaRPr lang="en-US" dirty="0"/>
          </a:p>
          <a:p>
            <a:pPr lvl="1"/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messaggi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usati</a:t>
            </a:r>
            <a:r>
              <a:rPr lang="en-US" dirty="0"/>
              <a:t> </a:t>
            </a:r>
            <a:r>
              <a:rPr lang="en-US" dirty="0" err="1"/>
              <a:t>nelle</a:t>
            </a:r>
            <a:r>
              <a:rPr lang="en-US" dirty="0"/>
              <a:t> </a:t>
            </a:r>
            <a:r>
              <a:rPr lang="en-US" dirty="0" err="1"/>
              <a:t>viste</a:t>
            </a:r>
            <a:r>
              <a:rPr lang="en-US" dirty="0"/>
              <a:t>, per </a:t>
            </a:r>
            <a:r>
              <a:rPr lang="en-US" dirty="0" err="1"/>
              <a:t>interagire</a:t>
            </a:r>
            <a:r>
              <a:rPr lang="en-US" dirty="0"/>
              <a:t> con </a:t>
            </a:r>
            <a:r>
              <a:rPr lang="en-US" dirty="0" err="1"/>
              <a:t>l'utente</a:t>
            </a:r>
            <a:endParaRPr lang="en-US" dirty="0"/>
          </a:p>
          <a:p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errore</a:t>
            </a:r>
            <a:r>
              <a:rPr lang="en-US" dirty="0"/>
              <a:t> ha un </a:t>
            </a:r>
            <a:r>
              <a:rPr lang="en-US" dirty="0" err="1"/>
              <a:t>messaggio</a:t>
            </a:r>
            <a:r>
              <a:rPr lang="en-US" dirty="0"/>
              <a:t> di default, ma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possibile</a:t>
            </a:r>
            <a:r>
              <a:rPr lang="en-US" dirty="0"/>
              <a:t> </a:t>
            </a:r>
            <a:r>
              <a:rPr lang="en-US" dirty="0" err="1"/>
              <a:t>personalizzare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messaggi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45140A-49B4-2C40-842F-B6FC59D5C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Spring Boot: </a:t>
            </a:r>
            <a:r>
              <a:rPr lang="en-US" dirty="0" err="1"/>
              <a:t>Configurazione</a:t>
            </a:r>
            <a:r>
              <a:rPr lang="en-US" dirty="0"/>
              <a:t> </a:t>
            </a:r>
            <a:r>
              <a:rPr lang="en-US" dirty="0" err="1"/>
              <a:t>messaggi</a:t>
            </a:r>
            <a:endParaRPr lang="en-US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1B7624-B9FE-F046-AC4A-688BE0709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#==================================</a:t>
            </a:r>
          </a:p>
          <a:p>
            <a:pPr marL="0" indent="0">
              <a:buNone/>
            </a:pP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# = </a:t>
            </a:r>
            <a:r>
              <a:rPr lang="it-IT" dirty="0" err="1">
                <a:solidFill>
                  <a:schemeClr val="bg1">
                    <a:lumMod val="65000"/>
                  </a:schemeClr>
                </a:solidFill>
              </a:rPr>
              <a:t>Datasource</a:t>
            </a: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it-IT" dirty="0" err="1">
                <a:solidFill>
                  <a:schemeClr val="bg1">
                    <a:lumMod val="65000"/>
                  </a:schemeClr>
                </a:solidFill>
              </a:rPr>
              <a:t>configuration</a:t>
            </a:r>
            <a:endParaRPr lang="it-IT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#==================================</a:t>
            </a:r>
          </a:p>
          <a:p>
            <a:pPr marL="0" indent="0">
              <a:buNone/>
            </a:pPr>
            <a:r>
              <a:rPr lang="it-IT" dirty="0" err="1"/>
              <a:t>spring.jpa.database</a:t>
            </a:r>
            <a:r>
              <a:rPr lang="it-IT" dirty="0"/>
              <a:t>=POSTGRESQL</a:t>
            </a:r>
          </a:p>
          <a:p>
            <a:pPr marL="0" indent="0">
              <a:buNone/>
            </a:pPr>
            <a:r>
              <a:rPr lang="it-IT" dirty="0"/>
              <a:t>….</a:t>
            </a:r>
          </a:p>
          <a:p>
            <a:pPr marL="0" indent="0">
              <a:buNone/>
            </a:pP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#==================================</a:t>
            </a:r>
          </a:p>
          <a:p>
            <a:pPr marL="0" indent="0">
              <a:buNone/>
            </a:pP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# = </a:t>
            </a:r>
            <a:r>
              <a:rPr lang="it-IT" dirty="0" err="1">
                <a:solidFill>
                  <a:schemeClr val="bg1">
                    <a:lumMod val="65000"/>
                  </a:schemeClr>
                </a:solidFill>
              </a:rPr>
              <a:t>Webserver</a:t>
            </a: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it-IT" dirty="0" err="1">
                <a:solidFill>
                  <a:schemeClr val="bg1">
                    <a:lumMod val="65000"/>
                  </a:schemeClr>
                </a:solidFill>
              </a:rPr>
              <a:t>configuration</a:t>
            </a:r>
            <a:endParaRPr lang="it-IT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#==================================</a:t>
            </a:r>
          </a:p>
          <a:p>
            <a:pPr marL="0" indent="0">
              <a:buNone/>
            </a:pPr>
            <a:r>
              <a:rPr lang="it-IT" dirty="0" err="1"/>
              <a:t>server.port</a:t>
            </a:r>
            <a:r>
              <a:rPr lang="it-IT" dirty="0"/>
              <a:t>= 8080</a:t>
            </a:r>
          </a:p>
          <a:p>
            <a:pPr marL="0" indent="0">
              <a:buNone/>
            </a:pPr>
            <a:r>
              <a:rPr lang="it-IT" dirty="0"/>
              <a:t>…</a:t>
            </a:r>
          </a:p>
          <a:p>
            <a:pPr marL="0" indent="0">
              <a:buNone/>
            </a:pP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#==================================</a:t>
            </a:r>
          </a:p>
          <a:p>
            <a:pPr marL="0" indent="0">
              <a:buNone/>
            </a:pP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# = </a:t>
            </a:r>
            <a:r>
              <a:rPr lang="it-IT" dirty="0" err="1">
                <a:solidFill>
                  <a:schemeClr val="bg1">
                    <a:lumMod val="65000"/>
                  </a:schemeClr>
                </a:solidFill>
              </a:rPr>
              <a:t>Messages</a:t>
            </a: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it-IT" dirty="0" err="1">
                <a:solidFill>
                  <a:schemeClr val="bg1">
                    <a:lumMod val="65000"/>
                  </a:schemeClr>
                </a:solidFill>
              </a:rPr>
              <a:t>configuration</a:t>
            </a:r>
            <a:endParaRPr lang="it-IT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#==================================</a:t>
            </a:r>
            <a:endParaRPr lang="it-IT" dirty="0"/>
          </a:p>
          <a:p>
            <a:pPr marL="0" indent="0">
              <a:buNone/>
            </a:pPr>
            <a:r>
              <a:rPr lang="it-IT" dirty="0" err="1"/>
              <a:t>spring.messages.basename</a:t>
            </a:r>
            <a:r>
              <a:rPr lang="it-IT" dirty="0"/>
              <a:t>=</a:t>
            </a:r>
            <a:r>
              <a:rPr lang="it-IT" dirty="0" err="1"/>
              <a:t>messages</a:t>
            </a:r>
            <a:r>
              <a:rPr lang="it-IT" dirty="0"/>
              <a:t>/</a:t>
            </a:r>
            <a:r>
              <a:rPr lang="it-IT" dirty="0" err="1"/>
              <a:t>messages</a:t>
            </a:r>
            <a:br>
              <a:rPr lang="it-IT" dirty="0"/>
            </a:br>
            <a:r>
              <a:rPr lang="it-IT" dirty="0" err="1"/>
              <a:t>spring.messages.encoding</a:t>
            </a:r>
            <a:r>
              <a:rPr lang="it-IT" dirty="0"/>
              <a:t>=ISO-8859-1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3BC7F35-0DE0-4E4B-AACF-62F93DF9A85C}"/>
              </a:ext>
            </a:extLst>
          </p:cNvPr>
          <p:cNvSpPr txBox="1"/>
          <p:nvPr/>
        </p:nvSpPr>
        <p:spPr>
          <a:xfrm>
            <a:off x="1524000" y="-1309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 Light" panose="020F0302020204030204" pitchFamily="34" charset="0"/>
              </a:rPr>
              <a:t>Note </a:t>
            </a:r>
            <a:r>
              <a:rPr lang="en-US" dirty="0" err="1">
                <a:latin typeface="Calibri Light" panose="020F0302020204030204" pitchFamily="34" charset="0"/>
              </a:rPr>
              <a:t>Pratiche</a:t>
            </a:r>
            <a:endParaRPr lang="en-US" dirty="0">
              <a:latin typeface="Calibri Light" panose="020F030202020403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34FA157-55E4-AA4F-BE9A-E70D772A52A7}"/>
              </a:ext>
            </a:extLst>
          </p:cNvPr>
          <p:cNvSpPr txBox="1"/>
          <p:nvPr/>
        </p:nvSpPr>
        <p:spPr>
          <a:xfrm>
            <a:off x="1524000" y="648866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 Light" panose="020F0302020204030204" pitchFamily="34" charset="0"/>
              </a:rPr>
              <a:t>Note </a:t>
            </a:r>
            <a:r>
              <a:rPr lang="en-US" dirty="0" err="1">
                <a:latin typeface="Calibri Light" panose="020F0302020204030204" pitchFamily="34" charset="0"/>
              </a:rPr>
              <a:t>Pratiche</a:t>
            </a:r>
            <a:endParaRPr lang="en-US" dirty="0">
              <a:latin typeface="Calibri Light" panose="020F030202020403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ED4B266-D426-EBBD-F801-C5474620F00C}"/>
              </a:ext>
            </a:extLst>
          </p:cNvPr>
          <p:cNvSpPr txBox="1"/>
          <p:nvPr/>
        </p:nvSpPr>
        <p:spPr>
          <a:xfrm>
            <a:off x="6968768" y="4125487"/>
            <a:ext cx="42979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I file con I </a:t>
            </a:r>
            <a:r>
              <a:rPr lang="en-US" dirty="0" err="1">
                <a:latin typeface="Calibri Light" panose="020F0302020204030204" pitchFamily="34" charset="0"/>
              </a:rPr>
              <a:t>messsaggi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si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trovano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nella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directory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dirty="0">
                <a:latin typeface="Calibri Light" panose="020F0302020204030204" pitchFamily="34" charset="0"/>
              </a:rPr>
              <a:t> (</a:t>
            </a:r>
            <a:r>
              <a:rPr lang="en-US" dirty="0" err="1">
                <a:latin typeface="Calibri Light" panose="020F0302020204030204" pitchFamily="34" charset="0"/>
              </a:rPr>
              <a:t>dentro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resources</a:t>
            </a:r>
            <a:r>
              <a:rPr lang="en-US" dirty="0">
                <a:latin typeface="Calibri Light" panose="020F0302020204030204" pitchFamily="34" charset="0"/>
              </a:rPr>
              <a:t>) ed il </a:t>
            </a:r>
            <a:r>
              <a:rPr lang="en-US" dirty="0" err="1">
                <a:latin typeface="Calibri Light" panose="020F0302020204030204" pitchFamily="34" charset="0"/>
              </a:rPr>
              <a:t>suffisso</a:t>
            </a:r>
            <a:r>
              <a:rPr lang="en-US" dirty="0">
                <a:latin typeface="Calibri Light" panose="020F0302020204030204" pitchFamily="34" charset="0"/>
              </a:rPr>
              <a:t> del </a:t>
            </a:r>
            <a:r>
              <a:rPr lang="en-US" dirty="0" err="1">
                <a:latin typeface="Calibri Light" panose="020F0302020204030204" pitchFamily="34" charset="0"/>
              </a:rPr>
              <a:t>nome</a:t>
            </a:r>
            <a:r>
              <a:rPr lang="en-US" dirty="0">
                <a:latin typeface="Calibri Light" panose="020F0302020204030204" pitchFamily="34" charset="0"/>
              </a:rPr>
              <a:t> del file e'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dirty="0">
                <a:latin typeface="Calibri Light" panose="020F0302020204030204" pitchFamily="34" charset="0"/>
              </a:rPr>
              <a:t>.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87E08326-37E3-F0EC-3B88-945E74BCC9F1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5323114" y="4587152"/>
            <a:ext cx="1645654" cy="757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EC31257-405D-C4DC-F0F3-97620AE185E8}"/>
              </a:ext>
            </a:extLst>
          </p:cNvPr>
          <p:cNvSpPr txBox="1"/>
          <p:nvPr/>
        </p:nvSpPr>
        <p:spPr>
          <a:xfrm>
            <a:off x="3918857" y="5937031"/>
            <a:ext cx="708751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NON FARE COPIA E INCOLLA DEL CODICE DALLE SLIDE: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POWERPOINT INTRODUCE CARATTERI BIANCHI CHE SPORCANO IL CODICE</a:t>
            </a:r>
          </a:p>
        </p:txBody>
      </p:sp>
    </p:spTree>
    <p:extLst>
      <p:ext uri="{BB962C8B-B14F-4D97-AF65-F5344CB8AC3E}">
        <p14:creationId xmlns:p14="http://schemas.microsoft.com/office/powerpoint/2010/main" val="205335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8CC04B-9685-8643-8121-F1FD91A7B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Personalizzazione Messaggi Errore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CD4110-A6BF-5540-9459-5BAE9DD91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30925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 </a:t>
            </a:r>
            <a:r>
              <a:rPr lang="en-US" dirty="0" err="1"/>
              <a:t>messaggi</a:t>
            </a:r>
            <a:r>
              <a:rPr lang="en-US" dirty="0"/>
              <a:t> di </a:t>
            </a:r>
            <a:r>
              <a:rPr lang="en-US" dirty="0" err="1"/>
              <a:t>errore</a:t>
            </a:r>
            <a:r>
              <a:rPr lang="en-US" dirty="0"/>
              <a:t> </a:t>
            </a:r>
            <a:r>
              <a:rPr lang="en-US" dirty="0" err="1"/>
              <a:t>personalizzati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scritti</a:t>
            </a:r>
            <a:r>
              <a:rPr lang="en-US" dirty="0"/>
              <a:t> in un </a:t>
            </a:r>
            <a:r>
              <a:rPr lang="en-US" dirty="0" err="1"/>
              <a:t>opportuno</a:t>
            </a:r>
            <a:r>
              <a:rPr lang="en-US" dirty="0"/>
              <a:t> file di </a:t>
            </a:r>
            <a:r>
              <a:rPr lang="en-US" dirty="0" err="1"/>
              <a:t>configurazione</a:t>
            </a:r>
            <a:endParaRPr lang="en-US" dirty="0"/>
          </a:p>
          <a:p>
            <a:pPr lvl="1"/>
            <a:r>
              <a:rPr lang="en-US" dirty="0"/>
              <a:t>Il path del file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specificato</a:t>
            </a:r>
            <a:r>
              <a:rPr lang="en-US" dirty="0"/>
              <a:t>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application.properties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Ad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(</a:t>
            </a:r>
            <a:r>
              <a:rPr lang="en-US" dirty="0" err="1"/>
              <a:t>codice</a:t>
            </a:r>
            <a:r>
              <a:rPr lang="en-US" dirty="0"/>
              <a:t> di </a:t>
            </a:r>
            <a:r>
              <a:rPr lang="en-US" dirty="0" err="1"/>
              <a:t>errore</a:t>
            </a:r>
            <a:r>
              <a:rPr lang="en-US" dirty="0"/>
              <a:t>) </a:t>
            </a:r>
            <a:r>
              <a:rPr lang="en-US" dirty="0" err="1"/>
              <a:t>associamo</a:t>
            </a:r>
            <a:r>
              <a:rPr lang="en-US" dirty="0"/>
              <a:t> un </a:t>
            </a:r>
            <a:r>
              <a:rPr lang="en-US" dirty="0" err="1"/>
              <a:t>messaggio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EF43FCE-9DDB-06E2-8801-03A56ED50828}"/>
              </a:ext>
            </a:extLst>
          </p:cNvPr>
          <p:cNvSpPr txBox="1"/>
          <p:nvPr/>
        </p:nvSpPr>
        <p:spPr>
          <a:xfrm>
            <a:off x="609600" y="4702629"/>
            <a:ext cx="5984331" cy="2031325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none" rtlCol="0">
            <a:spAutoFit/>
          </a:bodyPr>
          <a:lstStyle/>
          <a:p>
            <a:r>
              <a:rPr lang="it-IT" sz="1400" dirty="0" err="1">
                <a:effectLst/>
                <a:latin typeface="Menlo" panose="020B0609030804020204" pitchFamily="49" charset="0"/>
              </a:rPr>
              <a:t>movie.duplicate</a:t>
            </a:r>
            <a:r>
              <a:rPr lang="it-IT" sz="1400" dirty="0"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Questo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film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esiste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già</a:t>
            </a:r>
            <a:endParaRPr lang="it-IT" sz="1400" dirty="0"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NotBlank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Campo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obbligatorio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NotNull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Campo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obbligatorio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Min.year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Deve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essere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un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numero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maggiore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di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1900</a:t>
            </a: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Max.year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Deve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essere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un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numero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minore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di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2023</a:t>
            </a: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NotBlank.movie.title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Il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titolo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è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obbligatorio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effectLst/>
                <a:latin typeface="Menlo" panose="020B0609030804020204" pitchFamily="49" charset="0"/>
              </a:rPr>
              <a:t>NotBlank.movie.year</a:t>
            </a:r>
            <a:r>
              <a:rPr lang="it-IT" sz="1400" dirty="0"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Campo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obbligatorio</a:t>
            </a:r>
            <a:endParaRPr lang="it-IT" sz="1400" dirty="0"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effectLst/>
                <a:latin typeface="Menlo" panose="020B0609030804020204" pitchFamily="49" charset="0"/>
              </a:rPr>
              <a:t>typeMismatch.java.lang.Integer</a:t>
            </a:r>
            <a:r>
              <a:rPr lang="it-IT" sz="1400" dirty="0"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Deve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essere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un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numero</a:t>
            </a:r>
            <a:endParaRPr lang="it-IT" sz="1400" dirty="0"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typeMismatch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Formato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non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valido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17C12735-D40D-03C9-F2FF-48EDE7AB54F0}"/>
              </a:ext>
            </a:extLst>
          </p:cNvPr>
          <p:cNvSpPr txBox="1">
            <a:spLocks/>
          </p:cNvSpPr>
          <p:nvPr/>
        </p:nvSpPr>
        <p:spPr>
          <a:xfrm>
            <a:off x="609600" y="2634343"/>
            <a:ext cx="6413500" cy="1382485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#==================================</a:t>
            </a:r>
          </a:p>
          <a:p>
            <a:pPr marL="0" indent="0">
              <a:buFont typeface="Arial"/>
              <a:buNone/>
            </a:pP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# = </a:t>
            </a:r>
            <a:r>
              <a:rPr lang="it-IT" dirty="0" err="1">
                <a:solidFill>
                  <a:schemeClr val="bg1">
                    <a:lumMod val="65000"/>
                  </a:schemeClr>
                </a:solidFill>
              </a:rPr>
              <a:t>Messages</a:t>
            </a: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it-IT" dirty="0" err="1">
                <a:solidFill>
                  <a:schemeClr val="bg1">
                    <a:lumMod val="65000"/>
                  </a:schemeClr>
                </a:solidFill>
              </a:rPr>
              <a:t>configuration</a:t>
            </a:r>
            <a:endParaRPr lang="it-IT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Font typeface="Arial"/>
              <a:buNone/>
            </a:pPr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#==================================</a:t>
            </a:r>
            <a:endParaRPr lang="it-IT" dirty="0"/>
          </a:p>
          <a:p>
            <a:pPr marL="0" indent="0">
              <a:buFont typeface="Arial"/>
              <a:buNone/>
            </a:pPr>
            <a:r>
              <a:rPr lang="it-IT" dirty="0" err="1"/>
              <a:t>spring.messages.basename</a:t>
            </a:r>
            <a:r>
              <a:rPr lang="it-IT" dirty="0"/>
              <a:t>=</a:t>
            </a:r>
            <a:r>
              <a:rPr lang="it-IT" dirty="0" err="1"/>
              <a:t>messages</a:t>
            </a:r>
            <a:r>
              <a:rPr lang="it-IT" dirty="0"/>
              <a:t>/</a:t>
            </a:r>
            <a:r>
              <a:rPr lang="it-IT" dirty="0" err="1"/>
              <a:t>messages</a:t>
            </a:r>
            <a:br>
              <a:rPr lang="it-IT" dirty="0"/>
            </a:br>
            <a:r>
              <a:rPr lang="it-IT" dirty="0" err="1"/>
              <a:t>spring.messages.encoding</a:t>
            </a:r>
            <a:r>
              <a:rPr lang="it-IT" dirty="0"/>
              <a:t>=ISO-8859-1</a:t>
            </a:r>
          </a:p>
          <a:p>
            <a:pPr marL="0" indent="0">
              <a:buFont typeface="Arial"/>
              <a:buNone/>
            </a:pP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790BA7C-4388-046E-8491-6FAF7CE21F8E}"/>
              </a:ext>
            </a:extLst>
          </p:cNvPr>
          <p:cNvSpPr txBox="1"/>
          <p:nvPr/>
        </p:nvSpPr>
        <p:spPr>
          <a:xfrm>
            <a:off x="6725888" y="5348959"/>
            <a:ext cx="546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Contenuto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del file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messages/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messages.properties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9853033-24AC-26E8-2B6E-076110361C0E}"/>
              </a:ext>
            </a:extLst>
          </p:cNvPr>
          <p:cNvSpPr txBox="1"/>
          <p:nvPr/>
        </p:nvSpPr>
        <p:spPr>
          <a:xfrm>
            <a:off x="7023100" y="3074627"/>
            <a:ext cx="491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Aggiungiamo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nel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file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application.properties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49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D52F0C-05E2-7C94-9554-DC97A3297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Chiavi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messaggi</a:t>
            </a:r>
            <a:r>
              <a:rPr lang="en-US" dirty="0"/>
              <a:t> di </a:t>
            </a:r>
            <a:r>
              <a:rPr lang="en-US" dirty="0" err="1"/>
              <a:t>errore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55D4FE-0F46-1F4E-4E02-D5F6B71A0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it-IT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NotBlank</a:t>
            </a:r>
            <a:r>
              <a:rPr lang="it-IT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Campo</a:t>
            </a:r>
            <a:r>
              <a:rPr lang="it-IT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obbligatorio</a:t>
            </a:r>
            <a:b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</a:br>
            <a:r>
              <a:rPr lang="it-IT" sz="3200" dirty="0">
                <a:effectLst/>
                <a:cs typeface="Calibri Light" panose="020F0302020204030204" pitchFamily="34" charset="0"/>
              </a:rPr>
              <a:t>Si applica a tutti i campi in cui si verifica una violazione del vincolo </a:t>
            </a:r>
            <a:r>
              <a:rPr lang="it-IT" sz="3200" dirty="0" err="1">
                <a:effectLst/>
                <a:cs typeface="Calibri Light" panose="020F0302020204030204" pitchFamily="34" charset="0"/>
              </a:rPr>
              <a:t>NotBlank</a:t>
            </a:r>
            <a:endParaRPr lang="it-IT" sz="3200" dirty="0">
              <a:effectLst/>
              <a:cs typeface="Calibri Light" panose="020F0302020204030204" pitchFamily="34" charset="0"/>
            </a:endParaRPr>
          </a:p>
          <a:p>
            <a:endParaRPr lang="it-IT" sz="3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NotBlank.movie</a:t>
            </a:r>
            <a:r>
              <a:rPr lang="it-IT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Campo obbligatorio</a:t>
            </a:r>
            <a:b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</a:br>
            <a:r>
              <a:rPr lang="it-IT" sz="3200" dirty="0">
                <a:effectLst/>
                <a:cs typeface="Calibri Light" panose="020F0302020204030204" pitchFamily="34" charset="0"/>
              </a:rPr>
              <a:t>Si applica a tutti i campi dell'entità Movie in cui si verifica una violazione del vincolo </a:t>
            </a:r>
            <a:r>
              <a:rPr lang="it-IT" sz="3200" dirty="0" err="1">
                <a:effectLst/>
                <a:cs typeface="Calibri Light" panose="020F0302020204030204" pitchFamily="34" charset="0"/>
              </a:rPr>
              <a:t>NotBlank</a:t>
            </a:r>
            <a:endParaRPr lang="it-IT" sz="3200" dirty="0">
              <a:effectLst/>
              <a:cs typeface="Calibri Light" panose="020F0302020204030204" pitchFamily="34" charset="0"/>
            </a:endParaRPr>
          </a:p>
          <a:p>
            <a:endParaRPr lang="it-IT" sz="3200" dirty="0">
              <a:effectLst/>
              <a:cs typeface="Calibri Light" panose="020F0302020204030204" pitchFamily="34" charset="0"/>
            </a:endParaRPr>
          </a:p>
          <a:p>
            <a:r>
              <a:rPr lang="it-IT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NotBlank.movie.title</a:t>
            </a:r>
            <a:r>
              <a:rPr lang="it-IT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Il</a:t>
            </a:r>
            <a:r>
              <a:rPr lang="it-IT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titolo</a:t>
            </a:r>
            <a:r>
              <a:rPr lang="it-IT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32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è</a:t>
            </a:r>
            <a:r>
              <a:rPr lang="it-IT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obbligatorio</a:t>
            </a:r>
            <a:b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</a:br>
            <a:r>
              <a:rPr lang="it-IT" sz="3200" dirty="0">
                <a:effectLst/>
                <a:cs typeface="Calibri Light" panose="020F0302020204030204" pitchFamily="34" charset="0"/>
              </a:rPr>
              <a:t>Si applica al campo </a:t>
            </a:r>
            <a:r>
              <a:rPr lang="it-IT" sz="3200" dirty="0" err="1">
                <a:effectLst/>
                <a:cs typeface="Calibri Light" panose="020F0302020204030204" pitchFamily="34" charset="0"/>
              </a:rPr>
              <a:t>title</a:t>
            </a:r>
            <a:r>
              <a:rPr lang="it-IT" sz="3200" dirty="0">
                <a:effectLst/>
                <a:cs typeface="Calibri Light" panose="020F0302020204030204" pitchFamily="34" charset="0"/>
              </a:rPr>
              <a:t> dell'entità Movie in caso di violazione del vincolo </a:t>
            </a:r>
            <a:r>
              <a:rPr lang="it-IT" sz="3200" dirty="0" err="1">
                <a:effectLst/>
                <a:cs typeface="Calibri Light" panose="020F0302020204030204" pitchFamily="34" charset="0"/>
              </a:rPr>
              <a:t>NotBlank</a:t>
            </a:r>
            <a:endParaRPr lang="it-IT" sz="3200" dirty="0">
              <a:effectLst/>
              <a:cs typeface="Calibri Light" panose="020F0302020204030204" pitchFamily="34" charset="0"/>
            </a:endParaRPr>
          </a:p>
          <a:p>
            <a:endParaRPr lang="it-IT" sz="32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3200" dirty="0" err="1">
                <a:effectLst/>
                <a:latin typeface="Menlo" panose="020B0609030804020204" pitchFamily="49" charset="0"/>
              </a:rPr>
              <a:t>typeMismatch.java.lang.Integer</a:t>
            </a:r>
            <a:r>
              <a:rPr lang="it-IT" sz="3200" dirty="0">
                <a:effectLst/>
                <a:latin typeface="Menlo" panose="020B0609030804020204" pitchFamily="49" charset="0"/>
              </a:rPr>
              <a:t>=</a:t>
            </a:r>
            <a: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Deve</a:t>
            </a:r>
            <a:r>
              <a:rPr lang="it-IT" sz="3200" dirty="0">
                <a:effectLst/>
                <a:latin typeface="Menlo" panose="020B0609030804020204" pitchFamily="49" charset="0"/>
              </a:rPr>
              <a:t> </a:t>
            </a:r>
            <a: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essere</a:t>
            </a:r>
            <a:r>
              <a:rPr lang="it-IT" sz="3200" dirty="0">
                <a:effectLst/>
                <a:latin typeface="Menlo" panose="020B0609030804020204" pitchFamily="49" charset="0"/>
              </a:rPr>
              <a:t> </a:t>
            </a:r>
            <a: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un</a:t>
            </a:r>
            <a:r>
              <a:rPr lang="it-IT" sz="3200" dirty="0">
                <a:effectLst/>
                <a:latin typeface="Menlo" panose="020B0609030804020204" pitchFamily="49" charset="0"/>
              </a:rPr>
              <a:t> </a:t>
            </a:r>
            <a: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numero</a:t>
            </a:r>
            <a:b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</a:br>
            <a:r>
              <a:rPr lang="it-IT" sz="3200" dirty="0">
                <a:effectLst/>
                <a:cs typeface="Calibri Light" panose="020F0302020204030204" pitchFamily="34" charset="0"/>
              </a:rPr>
              <a:t>Si applica una violazione di tipo </a:t>
            </a:r>
            <a:r>
              <a:rPr lang="it-IT" sz="3200" dirty="0" err="1">
                <a:effectLst/>
                <a:cs typeface="Calibri Light" panose="020F0302020204030204" pitchFamily="34" charset="0"/>
              </a:rPr>
              <a:t>Integer</a:t>
            </a:r>
            <a:endParaRPr lang="it-IT" sz="3200" dirty="0">
              <a:effectLst/>
              <a:latin typeface="Menlo" panose="020B0609030804020204" pitchFamily="49" charset="0"/>
            </a:endParaRPr>
          </a:p>
          <a:p>
            <a:endParaRPr lang="it-IT" sz="3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typeMismatch</a:t>
            </a:r>
            <a:r>
              <a:rPr lang="it-IT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Formato</a:t>
            </a:r>
            <a:r>
              <a:rPr lang="it-IT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32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non</a:t>
            </a:r>
            <a:r>
              <a:rPr lang="it-IT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valido</a:t>
            </a:r>
            <a:br>
              <a:rPr lang="it-IT" sz="32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</a:br>
            <a:r>
              <a:rPr lang="it-IT" sz="3200" dirty="0">
                <a:effectLst/>
                <a:cs typeface="Calibri Light" panose="020F0302020204030204" pitchFamily="34" charset="0"/>
              </a:rPr>
              <a:t>Si applica una generica violazione di tipo</a:t>
            </a:r>
            <a:endParaRPr lang="it-IT" sz="32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en-US" sz="4500" dirty="0"/>
            </a:br>
            <a:r>
              <a:rPr lang="en-US" sz="4500" dirty="0"/>
              <a:t>In </a:t>
            </a:r>
            <a:r>
              <a:rPr lang="en-US" sz="4500" dirty="0" err="1"/>
              <a:t>caso</a:t>
            </a:r>
            <a:r>
              <a:rPr lang="en-US" sz="4500" dirty="0"/>
              <a:t> di </a:t>
            </a:r>
            <a:r>
              <a:rPr lang="en-US" sz="4500" dirty="0" err="1"/>
              <a:t>conflitti</a:t>
            </a:r>
            <a:r>
              <a:rPr lang="en-US" sz="4500" dirty="0"/>
              <a:t>, </a:t>
            </a:r>
            <a:r>
              <a:rPr lang="en-US" sz="4500" dirty="0" err="1"/>
              <a:t>viene</a:t>
            </a:r>
            <a:r>
              <a:rPr lang="en-US" sz="4500" dirty="0"/>
              <a:t> </a:t>
            </a:r>
            <a:r>
              <a:rPr lang="en-US" sz="4500" dirty="0" err="1"/>
              <a:t>usata</a:t>
            </a:r>
            <a:r>
              <a:rPr lang="en-US" sz="4500" dirty="0"/>
              <a:t> sempre la </a:t>
            </a:r>
            <a:r>
              <a:rPr lang="en-US" sz="4500" dirty="0" err="1"/>
              <a:t>chiave</a:t>
            </a:r>
            <a:r>
              <a:rPr lang="en-US" sz="4500" dirty="0"/>
              <a:t> </a:t>
            </a:r>
            <a:r>
              <a:rPr lang="en-US" sz="4500" dirty="0" err="1"/>
              <a:t>più</a:t>
            </a:r>
            <a:r>
              <a:rPr lang="en-US" sz="4500" dirty="0"/>
              <a:t> </a:t>
            </a:r>
            <a:r>
              <a:rPr lang="en-US" sz="4500" dirty="0" err="1"/>
              <a:t>specifica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02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0FA472-6219-D640-A45B-8C1C4855F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Messaggi di errore in </a:t>
            </a:r>
            <a:r>
              <a:rPr lang="it-IT" dirty="0" err="1"/>
              <a:t>Thymeleaf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676A55-A2A7-544C-B8AF-12856B101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Per la gestione delle </a:t>
            </a:r>
            <a:r>
              <a:rPr lang="it-IT" dirty="0" err="1"/>
              <a:t>form</a:t>
            </a:r>
            <a:r>
              <a:rPr lang="it-IT" dirty="0"/>
              <a:t>, </a:t>
            </a:r>
            <a:r>
              <a:rPr lang="it-IT" dirty="0" err="1"/>
              <a:t>Thymeleaf</a:t>
            </a:r>
            <a:r>
              <a:rPr lang="it-IT" dirty="0"/>
              <a:t> permette di associare alla </a:t>
            </a:r>
            <a:r>
              <a:rPr lang="it-IT" dirty="0" err="1"/>
              <a:t>form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Il </a:t>
            </a:r>
            <a:r>
              <a:rPr lang="it-IT" dirty="0" err="1"/>
              <a:t>path</a:t>
            </a:r>
            <a:r>
              <a:rPr lang="it-IT" dirty="0"/>
              <a:t> specificato nel controller attraverso l'attributo </a:t>
            </a:r>
            <a:r>
              <a:rPr lang="it-IT" dirty="0" err="1"/>
              <a:t>th:action</a:t>
            </a:r>
            <a:endParaRPr lang="it-IT" dirty="0"/>
          </a:p>
          <a:p>
            <a:pPr marL="457200" lvl="1" indent="0">
              <a:buNone/>
            </a:pPr>
            <a:r>
              <a:rPr lang="it-IT" sz="22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it-IT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form</a:t>
            </a:r>
            <a:r>
              <a:rPr lang="it-IT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sz="2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th:action</a:t>
            </a:r>
            <a:r>
              <a:rPr lang="it-IT" sz="2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="@{/movie}" </a:t>
            </a:r>
            <a:r>
              <a:rPr lang="it-IT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method</a:t>
            </a:r>
            <a:r>
              <a:rPr lang="it-IT" sz="2200" dirty="0">
                <a:latin typeface="Consolas" panose="020B0609020204030204" pitchFamily="49" charset="0"/>
                <a:cs typeface="Consolas" panose="020B0609020204030204" pitchFamily="49" charset="0"/>
              </a:rPr>
              <a:t>="POST" </a:t>
            </a:r>
            <a:r>
              <a:rPr lang="it-IT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th:object</a:t>
            </a:r>
            <a:r>
              <a:rPr lang="it-IT" sz="2200" dirty="0">
                <a:latin typeface="Consolas" panose="020B0609020204030204" pitchFamily="49" charset="0"/>
                <a:cs typeface="Consolas" panose="020B0609020204030204" pitchFamily="49" charset="0"/>
              </a:rPr>
              <a:t>="${movie}"&gt;</a:t>
            </a:r>
          </a:p>
          <a:p>
            <a:pPr lvl="1"/>
            <a:r>
              <a:rPr lang="it-IT" dirty="0"/>
              <a:t>L'oggetto i cui campi vengono raccolti attraverso la </a:t>
            </a:r>
            <a:r>
              <a:rPr lang="it-IT" dirty="0" err="1"/>
              <a:t>form</a:t>
            </a:r>
            <a:r>
              <a:rPr lang="it-IT" dirty="0"/>
              <a:t> </a:t>
            </a:r>
          </a:p>
          <a:p>
            <a:pPr marL="457200" lvl="1" indent="0">
              <a:buNone/>
            </a:pP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form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th:action</a:t>
            </a:r>
            <a:r>
              <a:rPr lang="it-IT" sz="2200" dirty="0">
                <a:latin typeface="Consolas" panose="020B0609020204030204" pitchFamily="49" charset="0"/>
                <a:cs typeface="Consolas" panose="020B0609020204030204" pitchFamily="49" charset="0"/>
              </a:rPr>
              <a:t>="@{/movie}"</a:t>
            </a:r>
            <a:r>
              <a:rPr lang="it-IT" sz="2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method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="POST" </a:t>
            </a:r>
            <a:r>
              <a:rPr lang="it-IT" sz="2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th:object</a:t>
            </a:r>
            <a:r>
              <a:rPr lang="it-IT" sz="2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="${movie}"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lvl="1"/>
            <a:r>
              <a:rPr lang="it-IT" sz="3300" dirty="0">
                <a:solidFill>
                  <a:prstClr val="black"/>
                </a:solidFill>
              </a:rPr>
              <a:t>I campi dell'oggetto:</a:t>
            </a:r>
          </a:p>
          <a:p>
            <a:pPr marL="457200" lvl="1" indent="0">
              <a:buNone/>
            </a:pP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span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&gt;&lt;input 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="text" </a:t>
            </a:r>
            <a:r>
              <a:rPr lang="it-IT" sz="2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th:field</a:t>
            </a:r>
            <a:r>
              <a:rPr lang="it-IT" sz="2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="*{</a:t>
            </a:r>
            <a:r>
              <a:rPr lang="it-IT" sz="2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it-IT" sz="2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/&gt;&lt;/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span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25404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0FA472-6219-D640-A45B-8C1C4855F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Messaggi di errore in </a:t>
            </a:r>
            <a:r>
              <a:rPr lang="it-IT" dirty="0" err="1"/>
              <a:t>Thymeleaf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676A55-A2A7-544C-B8AF-12856B101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1"/>
            <a:ext cx="11408229" cy="4525963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it-IT" dirty="0">
                <a:solidFill>
                  <a:prstClr val="black"/>
                </a:solidFill>
              </a:rPr>
              <a:t>Per la gestione degli errori, </a:t>
            </a:r>
            <a:r>
              <a:rPr lang="it-IT" dirty="0" err="1">
                <a:solidFill>
                  <a:prstClr val="black"/>
                </a:solidFill>
              </a:rPr>
              <a:t>Thymeleaf</a:t>
            </a:r>
            <a:r>
              <a:rPr lang="it-IT" dirty="0">
                <a:solidFill>
                  <a:prstClr val="black"/>
                </a:solidFill>
              </a:rPr>
              <a:t> permette verificare se su qualche campo c'è un errore e di accedere ai messaggi di errore di ogni campo</a:t>
            </a:r>
          </a:p>
          <a:p>
            <a:pPr marL="0" lvl="0" indent="0">
              <a:buNone/>
            </a:pP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&lt;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span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&gt;Titolo:&lt;/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span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lvl="0" indent="0">
              <a:buNone/>
            </a:pP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&lt;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span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&gt;&lt;input 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="text" 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th:field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="*{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}" /&gt;&lt;/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span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lvl="0" indent="0">
              <a:buNone/>
            </a:pP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&lt;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span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th:if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="${</a:t>
            </a:r>
            <a:r>
              <a:rPr lang="it-IT" sz="2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it-IT" sz="2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fields.hasErrors</a:t>
            </a:r>
            <a:r>
              <a:rPr lang="it-IT" sz="2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it-IT" sz="2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it-IT" sz="2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}" </a:t>
            </a:r>
            <a:r>
              <a:rPr lang="it-IT" sz="2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th:errors</a:t>
            </a:r>
            <a:r>
              <a:rPr lang="it-IT" sz="2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="*{</a:t>
            </a:r>
            <a:r>
              <a:rPr lang="it-IT" sz="2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it-IT" sz="2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&gt;&lt;/</a:t>
            </a:r>
            <a:r>
              <a:rPr lang="it-IT" sz="2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span</a:t>
            </a:r>
            <a:r>
              <a:rPr lang="it-IT" sz="2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457200" lvl="1" indent="0">
              <a:buNone/>
            </a:pPr>
            <a:endParaRPr lang="it-IT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it-IT" dirty="0">
                <a:solidFill>
                  <a:srgbClr val="FF0000"/>
                </a:solidFill>
              </a:rPr>
              <a:t>#</a:t>
            </a:r>
            <a:r>
              <a:rPr lang="it-IT" dirty="0" err="1">
                <a:solidFill>
                  <a:srgbClr val="FF0000"/>
                </a:solidFill>
              </a:rPr>
              <a:t>fields.hasErrors</a:t>
            </a:r>
            <a:r>
              <a:rPr lang="it-IT" dirty="0">
                <a:solidFill>
                  <a:srgbClr val="FF0000"/>
                </a:solidFill>
              </a:rPr>
              <a:t>('...')</a:t>
            </a:r>
            <a:r>
              <a:rPr lang="it-IT" dirty="0"/>
              <a:t>: funzione che riceve come parametro un campo, e ritorna un booleano che riporta se c'è stato un qualche errore di validazione per quel campo (in pratica accede alla variabile </a:t>
            </a:r>
            <a:r>
              <a:rPr lang="it-IT" dirty="0" err="1"/>
              <a:t>BindingResults</a:t>
            </a:r>
            <a:r>
              <a:rPr lang="it-IT" dirty="0"/>
              <a:t>).</a:t>
            </a:r>
          </a:p>
          <a:p>
            <a:pPr lvl="1"/>
            <a:r>
              <a:rPr lang="it-IT" dirty="0" err="1">
                <a:solidFill>
                  <a:srgbClr val="FF0000"/>
                </a:solidFill>
              </a:rPr>
              <a:t>th:errors</a:t>
            </a:r>
            <a:r>
              <a:rPr lang="it-IT" dirty="0"/>
              <a:t>, uno speciale attributo che costruisce una lista di tutti gli errori del campo selezionato, separati da un tag &lt;</a:t>
            </a:r>
            <a:r>
              <a:rPr lang="it-IT" dirty="0" err="1"/>
              <a:t>br</a:t>
            </a:r>
            <a:r>
              <a:rPr lang="it-IT" dirty="0"/>
              <a:t> /&gt; (</a:t>
            </a:r>
            <a:r>
              <a:rPr lang="it-IT" i="1" dirty="0"/>
              <a:t>break </a:t>
            </a:r>
            <a:r>
              <a:rPr lang="it-IT" i="1" dirty="0" err="1"/>
              <a:t>row</a:t>
            </a:r>
            <a:r>
              <a:rPr lang="it-IT" dirty="0"/>
              <a:t>, va a capo)</a:t>
            </a:r>
          </a:p>
        </p:txBody>
      </p:sp>
    </p:spTree>
    <p:extLst>
      <p:ext uri="{BB962C8B-B14F-4D97-AF65-F5344CB8AC3E}">
        <p14:creationId xmlns:p14="http://schemas.microsoft.com/office/powerpoint/2010/main" val="363765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947B19-D52A-174C-95D3-CCFA73B7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Thymeleaf</a:t>
            </a:r>
            <a:r>
              <a:rPr lang="it-IT" dirty="0"/>
              <a:t>: </a:t>
            </a:r>
            <a:r>
              <a:rPr lang="it-IT" dirty="0" err="1"/>
              <a:t>form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A1346F-A53C-C940-A631-FF6207127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33400"/>
            <a:ext cx="10972800" cy="63245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1200" dirty="0">
                <a:effectLst/>
                <a:latin typeface="Menlo" panose="020B0609030804020204" pitchFamily="49" charset="0"/>
              </a:rPr>
              <a:t>&lt;!DOCTYPE html&gt;</a:t>
            </a:r>
          </a:p>
          <a:p>
            <a:pPr marL="0" indent="0">
              <a:buNone/>
            </a:pP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html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head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200" dirty="0">
                <a:effectLst/>
                <a:latin typeface="Menlo" panose="020B0609030804020204" pitchFamily="49" charset="0"/>
              </a:rPr>
              <a:t>New Movie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link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rel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stylesheet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href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it-IT" sz="120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stile.css?version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=3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 /&gt;</a:t>
            </a:r>
            <a:endParaRPr lang="it-IT" sz="1200" dirty="0">
              <a:solidFill>
                <a:srgbClr val="2AA19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head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it-IT" sz="12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body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href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"&gt;&lt;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/logo-</a:t>
            </a:r>
            <a:r>
              <a:rPr lang="it-IT" sz="120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siw.png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width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50%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"/&gt;&lt;/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200" dirty="0">
                <a:effectLst/>
                <a:latin typeface="Menlo" panose="020B0609030804020204" pitchFamily="49" charset="0"/>
              </a:rPr>
              <a:t>Aggiungi un film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form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th:action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@{/movie}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method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POST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th:object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${movie}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 marL="0" indent="0">
              <a:buNone/>
            </a:pP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    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th:if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${#</a:t>
            </a:r>
            <a:r>
              <a:rPr lang="it-IT" sz="120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fields.hasGlobalErrors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()}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"&gt;</a:t>
            </a:r>
            <a:endParaRPr lang="it-IT" sz="1200" dirty="0">
              <a:solidFill>
                <a:srgbClr val="2AA19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      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&lt;</a:t>
            </a:r>
            <a:r>
              <a:rPr lang="it-IT" sz="12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th:each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2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err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: ${#</a:t>
            </a:r>
            <a:r>
              <a:rPr lang="it-IT" sz="12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fields.globalErrors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()}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th:text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${</a:t>
            </a:r>
            <a:r>
              <a:rPr lang="it-IT" sz="12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err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}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"&gt;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...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&lt;/</a:t>
            </a:r>
            <a:r>
              <a:rPr lang="it-IT" sz="12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&gt;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 </a:t>
            </a:r>
            <a:endParaRPr lang="it-IT" sz="1200" dirty="0">
              <a:solidFill>
                <a:srgbClr val="2AA198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effectLst/>
                <a:latin typeface="Menlo" panose="020B0609030804020204" pitchFamily="49" charset="0"/>
              </a:rPr>
              <a:t>      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  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label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Titolo: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label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th:field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it-IT" sz="120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movie.title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 /&gt;&lt;/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 marL="0" indent="0">
              <a:buNone/>
            </a:pP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    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&lt;</a:t>
            </a:r>
            <a:r>
              <a:rPr lang="it-IT" sz="12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span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th:if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${#</a:t>
            </a:r>
            <a:r>
              <a:rPr lang="it-IT" sz="12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fields.hasErrors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('</a:t>
            </a:r>
            <a:r>
              <a:rPr lang="it-IT" sz="12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title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')}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th:errors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*{</a:t>
            </a:r>
            <a:r>
              <a:rPr lang="it-IT" sz="12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title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}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"&gt;&lt;/</a:t>
            </a:r>
            <a:r>
              <a:rPr lang="it-IT" sz="12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span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&gt;</a:t>
            </a:r>
            <a:endParaRPr lang="it-IT" sz="1200" dirty="0"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  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label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Anno: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label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th:field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it-IT" sz="120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movie.year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 /&gt;&lt;/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 marL="0" indent="0">
              <a:buNone/>
            </a:pP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    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&lt;</a:t>
            </a:r>
            <a:r>
              <a:rPr lang="it-IT" sz="12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span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th:if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${#</a:t>
            </a:r>
            <a:r>
              <a:rPr lang="it-IT" sz="12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fields.hasErrors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('</a:t>
            </a:r>
            <a:r>
              <a:rPr lang="it-IT" sz="12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year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')}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th:errors</a:t>
            </a:r>
            <a:r>
              <a:rPr lang="it-IT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*{</a:t>
            </a:r>
            <a:r>
              <a:rPr lang="it-IT" sz="12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year</a:t>
            </a:r>
            <a:r>
              <a:rPr lang="it-IT" sz="12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}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"&gt;&lt;/</a:t>
            </a:r>
            <a:r>
              <a:rPr lang="it-IT" sz="12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span</a:t>
            </a:r>
            <a:r>
              <a:rPr lang="it-IT" sz="12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&gt;</a:t>
            </a:r>
            <a:endParaRPr lang="it-IT" sz="1200" dirty="0"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  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label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URL immagine: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label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th:field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it-IT" sz="120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movie.urlImage</a:t>
            </a:r>
            <a:r>
              <a:rPr lang="it-IT" sz="12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 /&gt;&lt;/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  &lt;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&gt;&lt;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button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20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submit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"&gt;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Conferma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button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&lt;/</a:t>
            </a:r>
            <a:r>
              <a:rPr lang="it-IT" sz="12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form</a:t>
            </a:r>
            <a:r>
              <a:rPr lang="it-IT" sz="12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body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it-IT" sz="12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html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2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D814348-A00E-AB8B-FB72-75A8F7884840}"/>
              </a:ext>
            </a:extLst>
          </p:cNvPr>
          <p:cNvSpPr txBox="1"/>
          <p:nvPr/>
        </p:nvSpPr>
        <p:spPr>
          <a:xfrm>
            <a:off x="5104482" y="6100316"/>
            <a:ext cx="708751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NON FARE COPIA E INCOLLA DEL CODICE DALLE SLIDE: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POWERPOINT INTRODUCE CARATTERI BIANCHI CHE SPORCANO IL CODICE</a:t>
            </a:r>
          </a:p>
        </p:txBody>
      </p:sp>
    </p:spTree>
    <p:extLst>
      <p:ext uri="{BB962C8B-B14F-4D97-AF65-F5344CB8AC3E}">
        <p14:creationId xmlns:p14="http://schemas.microsoft.com/office/powerpoint/2010/main" val="293530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A1346F-A53C-C940-A631-FF6207127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587831"/>
            <a:ext cx="12192001" cy="61613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it-IT" sz="18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form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th:action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@{/movie}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method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POST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th:object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${movie}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 marL="0" indent="0">
              <a:buNone/>
            </a:pP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    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th:if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${#</a:t>
            </a:r>
            <a:r>
              <a:rPr lang="it-IT" sz="180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fields.hasGlobalErrors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()}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"&gt;</a:t>
            </a:r>
            <a:endParaRPr lang="it-IT" sz="1800" dirty="0">
              <a:solidFill>
                <a:srgbClr val="2AA19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      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&lt;</a:t>
            </a:r>
            <a:r>
              <a:rPr lang="it-IT" sz="18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th:each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8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err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: ${#</a:t>
            </a:r>
            <a:r>
              <a:rPr lang="it-IT" sz="18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fields.globalErrors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()}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th:text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${</a:t>
            </a:r>
            <a:r>
              <a:rPr lang="it-IT" sz="18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err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}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"&gt;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...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&lt;/</a:t>
            </a:r>
            <a:r>
              <a:rPr lang="it-IT" sz="18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&gt;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 </a:t>
            </a:r>
            <a:endParaRPr lang="it-IT" sz="1800" dirty="0">
              <a:solidFill>
                <a:srgbClr val="2AA198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effectLst/>
                <a:latin typeface="Menlo" panose="020B0609030804020204" pitchFamily="49" charset="0"/>
              </a:rPr>
              <a:t>      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8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  &lt;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label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Titolo: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label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it-IT" sz="18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&gt;&lt;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th:field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it-IT" sz="180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movie.title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 /&gt;&lt;/</a:t>
            </a:r>
            <a:r>
              <a:rPr lang="it-IT" sz="18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 marL="0" indent="0">
              <a:buNone/>
            </a:pP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    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&lt;</a:t>
            </a:r>
            <a:r>
              <a:rPr lang="it-IT" sz="18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th:if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${#</a:t>
            </a:r>
            <a:r>
              <a:rPr lang="it-IT" sz="18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fields.hasErrors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('</a:t>
            </a:r>
            <a:r>
              <a:rPr lang="it-IT" sz="18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title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')}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th:errors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*{</a:t>
            </a:r>
            <a:r>
              <a:rPr lang="it-IT" sz="18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title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}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"&gt;&lt;/</a:t>
            </a:r>
            <a:r>
              <a:rPr lang="it-IT" sz="18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&gt;</a:t>
            </a:r>
            <a:endParaRPr lang="it-IT" sz="1800" dirty="0"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&lt;/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8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  &lt;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label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Anno: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label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it-IT" sz="18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&gt;&lt;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th:field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it-IT" sz="180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movie.year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 /&gt;&lt;/</a:t>
            </a:r>
            <a:r>
              <a:rPr lang="it-IT" sz="18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 marL="0" indent="0">
              <a:buNone/>
            </a:pP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    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&lt;</a:t>
            </a:r>
            <a:r>
              <a:rPr lang="it-IT" sz="18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th:if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${#</a:t>
            </a:r>
            <a:r>
              <a:rPr lang="it-IT" sz="18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fields.hasErrors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('</a:t>
            </a:r>
            <a:r>
              <a:rPr lang="it-IT" sz="18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year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')}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th:errors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*{</a:t>
            </a:r>
            <a:r>
              <a:rPr lang="it-IT" sz="180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year</a:t>
            </a:r>
            <a:r>
              <a:rPr lang="it-IT" sz="180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}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"&gt;&lt;/</a:t>
            </a:r>
            <a:r>
              <a:rPr lang="it-IT" sz="1800" dirty="0" err="1">
                <a:solidFill>
                  <a:srgbClr val="268BD2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&gt;</a:t>
            </a:r>
            <a:endParaRPr lang="it-IT" sz="1800" dirty="0"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&lt;/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8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  &lt;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label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URL immagine: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label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endParaRPr lang="it-IT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it-IT" sz="18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&gt;&lt;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th:field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it-IT" sz="180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movie.urlImage</a:t>
            </a:r>
            <a:r>
              <a:rPr lang="it-IT" sz="180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"/&gt;&lt;/</a:t>
            </a:r>
            <a:r>
              <a:rPr lang="it-IT" sz="18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&lt;/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  &lt;</a:t>
            </a:r>
            <a:r>
              <a:rPr lang="it-IT" sz="18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&gt;&lt;</a:t>
            </a:r>
            <a:r>
              <a:rPr lang="it-IT" sz="18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button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submit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"&gt;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Conferma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it-IT" sz="18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button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it-IT" sz="18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  &lt;/</a:t>
            </a:r>
            <a:r>
              <a:rPr lang="it-IT" sz="180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   &lt;/</a:t>
            </a:r>
            <a:r>
              <a:rPr lang="it-IT" sz="180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form</a:t>
            </a:r>
            <a:r>
              <a:rPr lang="it-IT" sz="1800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&gt;</a:t>
            </a:r>
            <a:endParaRPr lang="it-IT" sz="1800" dirty="0">
              <a:solidFill>
                <a:srgbClr val="268BD2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D814348-A00E-AB8B-FB72-75A8F7884840}"/>
              </a:ext>
            </a:extLst>
          </p:cNvPr>
          <p:cNvSpPr txBox="1"/>
          <p:nvPr/>
        </p:nvSpPr>
        <p:spPr>
          <a:xfrm>
            <a:off x="5104482" y="6102814"/>
            <a:ext cx="708751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NON FARE COPIA E INCOLLA DEL CODICE DALLE SLIDE: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POWERPOINT INTRODUCE CARATTERI BIANCHI CHE SPORCANO IL CODICE</a:t>
            </a:r>
          </a:p>
        </p:txBody>
      </p:sp>
    </p:spTree>
    <p:extLst>
      <p:ext uri="{BB962C8B-B14F-4D97-AF65-F5344CB8AC3E}">
        <p14:creationId xmlns:p14="http://schemas.microsoft.com/office/powerpoint/2010/main" val="232708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A702D2-A552-1B4A-A76C-BB732B33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Spring Boot: Validazione Custom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93913D-D040-2B4A-917D-31FACB188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La validazione considera i vincoli espressi nell'entità</a:t>
            </a:r>
          </a:p>
          <a:p>
            <a:r>
              <a:rPr lang="it-IT" dirty="0"/>
              <a:t>In alcuni casi però potrebbe essere necessario specificare vincoli particolari, non esprimibili con le annotazioni della libreria</a:t>
            </a:r>
          </a:p>
          <a:p>
            <a:r>
              <a:rPr lang="it-IT" dirty="0"/>
              <a:t>Per ovviare abbiamo due strade</a:t>
            </a:r>
          </a:p>
          <a:p>
            <a:pPr lvl="1"/>
            <a:r>
              <a:rPr lang="it-IT" dirty="0"/>
              <a:t>Definiamo una nostra annotazione (ha senso se la riusiamo in altri contesti)</a:t>
            </a:r>
          </a:p>
          <a:p>
            <a:pPr lvl="1"/>
            <a:r>
              <a:rPr lang="it-IT" dirty="0"/>
              <a:t>Completiamo la validazione con una classe opportuna</a:t>
            </a:r>
          </a:p>
          <a:p>
            <a:r>
              <a:rPr lang="it-IT" dirty="0"/>
              <a:t>Noi vedremo la seconda soluzione 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695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FCEA89-7BCB-89CB-A889-770D4412B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Spring Boot: Validazione Custom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0DC8EE-0615-9F07-DED9-6FFD07972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Creiamo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implementa</a:t>
            </a:r>
            <a:r>
              <a:rPr lang="en-US" dirty="0"/>
              <a:t> </a:t>
            </a:r>
            <a:r>
              <a:rPr lang="en-US" dirty="0" err="1"/>
              <a:t>l'interfaccia</a:t>
            </a:r>
            <a:r>
              <a:rPr lang="en-US" dirty="0"/>
              <a:t> </a:t>
            </a:r>
            <a:r>
              <a:rPr lang="it-IT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org.springframework.validation.Validator</a:t>
            </a:r>
            <a:br>
              <a:rPr lang="en-US" dirty="0"/>
            </a:br>
            <a:r>
              <a:rPr lang="en-US" dirty="0" err="1"/>
              <a:t>nella</a:t>
            </a:r>
            <a:r>
              <a:rPr lang="en-US" dirty="0"/>
              <a:t> quale </a:t>
            </a:r>
            <a:r>
              <a:rPr lang="en-US" dirty="0" err="1"/>
              <a:t>implementiamo</a:t>
            </a:r>
            <a:r>
              <a:rPr lang="en-US" dirty="0"/>
              <a:t> il </a:t>
            </a:r>
            <a:r>
              <a:rPr lang="en-US" dirty="0" err="1"/>
              <a:t>metodo</a:t>
            </a:r>
            <a:r>
              <a:rPr lang="en-US" dirty="0"/>
              <a:t> </a:t>
            </a:r>
            <a:br>
              <a:rPr lang="en-US" dirty="0"/>
            </a:br>
            <a:r>
              <a:rPr lang="it-IT" sz="2800" dirty="0">
                <a:latin typeface="Consolas" panose="020B0609020204030204" pitchFamily="49" charset="0"/>
                <a:cs typeface="Consolas" panose="020B0609020204030204" pitchFamily="49" charset="0"/>
              </a:rPr>
              <a:t>validate(Object, </a:t>
            </a:r>
            <a:r>
              <a:rPr lang="it-IT" sz="2800">
                <a:latin typeface="Consolas" panose="020B0609020204030204" pitchFamily="49" charset="0"/>
                <a:cs typeface="Consolas" panose="020B0609020204030204" pitchFamily="49" charset="0"/>
              </a:rPr>
              <a:t>Errors)</a:t>
            </a:r>
            <a:endParaRPr lang="it-IT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t-IT" dirty="0"/>
              <a:t>Questo metodo prende due parametri:</a:t>
            </a:r>
          </a:p>
          <a:p>
            <a:pPr lvl="1"/>
            <a:r>
              <a:rPr lang="it-IT" dirty="0"/>
              <a:t>Il primo è l'oggetto da validare</a:t>
            </a:r>
          </a:p>
          <a:p>
            <a:pPr lvl="1"/>
            <a:r>
              <a:rPr lang="it-IT" dirty="0"/>
              <a:t>Il secondo è un oggetto che riporta l'esito della validazione ed eventuali errori riscontrati (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Errors</a:t>
            </a:r>
            <a:r>
              <a:rPr lang="it-IT" dirty="0"/>
              <a:t> è un </a:t>
            </a:r>
            <a:r>
              <a:rPr lang="it-IT" dirty="0" err="1"/>
              <a:t>supertipo</a:t>
            </a:r>
            <a:r>
              <a:rPr lang="it-IT" dirty="0"/>
              <a:t> di 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BidingResults</a:t>
            </a:r>
            <a:r>
              <a:rPr lang="it-IT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51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E09846-5FDA-B72B-D352-321C6C838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Validazione</a:t>
            </a:r>
            <a:r>
              <a:rPr lang="en-US" dirty="0"/>
              <a:t> Custom: </a:t>
            </a:r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F4560F-5375-D141-0144-269193672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Supponiamo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vogliamo</a:t>
            </a:r>
            <a:r>
              <a:rPr lang="en-US" dirty="0"/>
              <a:t> </a:t>
            </a:r>
            <a:r>
              <a:rPr lang="en-US" dirty="0" err="1"/>
              <a:t>inserire</a:t>
            </a:r>
            <a:r>
              <a:rPr lang="en-US" dirty="0"/>
              <a:t> film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stati</a:t>
            </a:r>
            <a:r>
              <a:rPr lang="en-US" dirty="0"/>
              <a:t> </a:t>
            </a:r>
            <a:r>
              <a:rPr lang="en-US" dirty="0" err="1"/>
              <a:t>memorizzate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nostro </a:t>
            </a:r>
            <a:r>
              <a:rPr lang="en-US" dirty="0" err="1"/>
              <a:t>sistema</a:t>
            </a:r>
            <a:r>
              <a:rPr lang="en-US" dirty="0"/>
              <a:t> </a:t>
            </a:r>
          </a:p>
          <a:p>
            <a:r>
              <a:rPr lang="en-US" dirty="0" err="1"/>
              <a:t>Scriviamo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MovieValidator</a:t>
            </a:r>
            <a:r>
              <a:rPr lang="en-US" dirty="0"/>
              <a:t> il cui </a:t>
            </a:r>
            <a:r>
              <a:rPr lang="en-US" dirty="0" err="1"/>
              <a:t>metodo</a:t>
            </a:r>
            <a:r>
              <a:rPr lang="en-US" dirty="0"/>
              <a:t>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validate() </a:t>
            </a:r>
            <a:r>
              <a:rPr lang="en-US" dirty="0" err="1"/>
              <a:t>implementa</a:t>
            </a:r>
            <a:r>
              <a:rPr lang="en-US" dirty="0"/>
              <a:t>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verifica</a:t>
            </a:r>
            <a:endParaRPr lang="en-US" dirty="0"/>
          </a:p>
          <a:p>
            <a:r>
              <a:rPr lang="en-US" dirty="0" err="1"/>
              <a:t>Quindi</a:t>
            </a:r>
            <a:r>
              <a:rPr lang="en-US" dirty="0"/>
              <a:t> </a:t>
            </a:r>
            <a:r>
              <a:rPr lang="en-US" dirty="0" err="1"/>
              <a:t>usiamo</a:t>
            </a:r>
            <a:r>
              <a:rPr lang="en-US" dirty="0"/>
              <a:t>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validatore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controllo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12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B95F3B-08FA-9B4E-BC2B-A3CC3E1AC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Validatori</a:t>
            </a:r>
            <a:r>
              <a:rPr lang="en-US" dirty="0"/>
              <a:t>: </a:t>
            </a:r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BF2913-297C-5C43-9EE4-E2E60C7B7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6" y="1417638"/>
            <a:ext cx="11321144" cy="5168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400" dirty="0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@Component</a:t>
            </a:r>
          </a:p>
          <a:p>
            <a:pPr marL="0" indent="0">
              <a:buNone/>
            </a:pPr>
            <a:r>
              <a:rPr lang="it-IT" sz="14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dirty="0" err="1">
                <a:effectLst/>
                <a:latin typeface="Menlo" panose="020B0609030804020204" pitchFamily="49" charset="0"/>
              </a:rPr>
              <a:t>MovieValidator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implements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dirty="0" err="1">
                <a:effectLst/>
                <a:latin typeface="Menlo" panose="020B0609030804020204" pitchFamily="49" charset="0"/>
              </a:rPr>
              <a:t>Validator</a:t>
            </a:r>
            <a:r>
              <a:rPr lang="it-IT" sz="1400" dirty="0">
                <a:effectLst/>
                <a:latin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it-IT" sz="1400" dirty="0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  @</a:t>
            </a:r>
            <a:r>
              <a:rPr lang="it-IT" sz="1400" dirty="0" err="1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Autowired</a:t>
            </a:r>
            <a:endParaRPr lang="it-IT" sz="1400" dirty="0">
              <a:solidFill>
                <a:srgbClr val="646464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4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 private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dirty="0" err="1">
                <a:effectLst/>
                <a:latin typeface="Menlo" panose="020B0609030804020204" pitchFamily="49" charset="0"/>
              </a:rPr>
              <a:t>MovieService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movieService</a:t>
            </a:r>
            <a:r>
              <a:rPr lang="it-IT" sz="1400" dirty="0">
                <a:effectLst/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it-IT" sz="14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  @</a:t>
            </a:r>
            <a:r>
              <a:rPr lang="it-IT" sz="1400" dirty="0" err="1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Override</a:t>
            </a:r>
            <a:endParaRPr lang="it-IT" sz="1400" dirty="0">
              <a:solidFill>
                <a:srgbClr val="646464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4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 public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it-IT" sz="1400" dirty="0">
                <a:effectLst/>
                <a:latin typeface="Menlo" panose="020B0609030804020204" pitchFamily="49" charset="0"/>
              </a:rPr>
              <a:t> validate(Object </a:t>
            </a:r>
            <a:r>
              <a:rPr lang="it-IT" sz="14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o</a:t>
            </a:r>
            <a:r>
              <a:rPr lang="it-IT" sz="1400" dirty="0">
                <a:effectLst/>
                <a:latin typeface="Menlo" panose="020B0609030804020204" pitchFamily="49" charset="0"/>
              </a:rPr>
              <a:t>, </a:t>
            </a:r>
            <a:r>
              <a:rPr lang="it-IT" sz="1400" dirty="0" err="1">
                <a:effectLst/>
                <a:latin typeface="Menlo" panose="020B0609030804020204" pitchFamily="49" charset="0"/>
              </a:rPr>
              <a:t>Errors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errors</a:t>
            </a:r>
            <a:r>
              <a:rPr lang="it-IT" sz="1400" dirty="0">
                <a:effectLst/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it-IT" sz="1400" dirty="0">
                <a:effectLst/>
                <a:latin typeface="Menlo" panose="020B0609030804020204" pitchFamily="49" charset="0"/>
              </a:rPr>
              <a:t>    Movie </a:t>
            </a:r>
            <a:r>
              <a:rPr lang="it-IT" sz="14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it-IT" sz="1400" dirty="0">
                <a:effectLst/>
                <a:latin typeface="Menlo" panose="020B0609030804020204" pitchFamily="49" charset="0"/>
              </a:rPr>
              <a:t> = (Movie)</a:t>
            </a:r>
            <a:r>
              <a:rPr lang="it-IT" sz="14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o</a:t>
            </a:r>
            <a:r>
              <a:rPr lang="it-IT" sz="1400" dirty="0">
                <a:effectLst/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it-IT" sz="14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it-IT" sz="14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it-IT" sz="1400" dirty="0">
                <a:effectLst/>
                <a:latin typeface="Menlo" panose="020B0609030804020204" pitchFamily="49" charset="0"/>
              </a:rPr>
              <a:t> (</a:t>
            </a:r>
            <a:r>
              <a:rPr lang="it-IT" sz="14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it-IT" sz="1400" dirty="0" err="1">
                <a:effectLst/>
                <a:latin typeface="Menlo" panose="020B0609030804020204" pitchFamily="49" charset="0"/>
              </a:rPr>
              <a:t>.getTitle</a:t>
            </a:r>
            <a:r>
              <a:rPr lang="it-IT" sz="1400" dirty="0">
                <a:effectLst/>
                <a:latin typeface="Menlo" panose="020B0609030804020204" pitchFamily="49" charset="0"/>
              </a:rPr>
              <a:t>()!=</a:t>
            </a:r>
            <a:r>
              <a:rPr lang="it-IT" sz="14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it-IT" sz="1400" dirty="0">
                <a:effectLst/>
                <a:latin typeface="Menlo" panose="020B0609030804020204" pitchFamily="49" charset="0"/>
              </a:rPr>
              <a:t> &amp;&amp; </a:t>
            </a:r>
            <a:r>
              <a:rPr lang="it-IT" sz="14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it-IT" sz="1400" dirty="0" err="1">
                <a:effectLst/>
                <a:latin typeface="Menlo" panose="020B0609030804020204" pitchFamily="49" charset="0"/>
              </a:rPr>
              <a:t>.getYear</a:t>
            </a:r>
            <a:r>
              <a:rPr lang="it-IT" sz="1400" dirty="0">
                <a:effectLst/>
                <a:latin typeface="Menlo" panose="020B0609030804020204" pitchFamily="49" charset="0"/>
              </a:rPr>
              <a:t>()!=</a:t>
            </a:r>
            <a:r>
              <a:rPr lang="it-IT" sz="14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it-IT" sz="1400" dirty="0">
                <a:effectLst/>
                <a:latin typeface="Menlo" panose="020B0609030804020204" pitchFamily="49" charset="0"/>
              </a:rPr>
              <a:t>  </a:t>
            </a:r>
          </a:p>
          <a:p>
            <a:pPr marL="0" indent="0">
              <a:buNone/>
            </a:pPr>
            <a:r>
              <a:rPr lang="it-IT" sz="1400" dirty="0">
                <a:latin typeface="Menlo" panose="020B0609030804020204" pitchFamily="49" charset="0"/>
              </a:rPr>
              <a:t>		</a:t>
            </a:r>
            <a:r>
              <a:rPr lang="it-IT" sz="1400" dirty="0">
                <a:effectLst/>
                <a:latin typeface="Menlo" panose="020B0609030804020204" pitchFamily="49" charset="0"/>
              </a:rPr>
              <a:t>&amp;&amp; </a:t>
            </a:r>
            <a:r>
              <a:rPr lang="it-IT" sz="1400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movieService</a:t>
            </a:r>
            <a:r>
              <a:rPr lang="it-IT" sz="1400" dirty="0" err="1">
                <a:effectLst/>
                <a:latin typeface="Menlo" panose="020B0609030804020204" pitchFamily="49" charset="0"/>
              </a:rPr>
              <a:t>.existsByTitleAndYear</a:t>
            </a:r>
            <a:r>
              <a:rPr lang="it-IT" sz="1400" dirty="0">
                <a:effectLst/>
                <a:latin typeface="Menlo" panose="020B0609030804020204" pitchFamily="49" charset="0"/>
              </a:rPr>
              <a:t>(</a:t>
            </a:r>
            <a:r>
              <a:rPr lang="it-IT" sz="14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it-IT" sz="1400" dirty="0" err="1">
                <a:effectLst/>
                <a:latin typeface="Menlo" panose="020B0609030804020204" pitchFamily="49" charset="0"/>
              </a:rPr>
              <a:t>.getTitle</a:t>
            </a:r>
            <a:r>
              <a:rPr lang="it-IT" sz="1400" dirty="0">
                <a:effectLst/>
                <a:latin typeface="Menlo" panose="020B0609030804020204" pitchFamily="49" charset="0"/>
              </a:rPr>
              <a:t>(), </a:t>
            </a:r>
            <a:r>
              <a:rPr lang="it-IT" sz="14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it-IT" sz="1400" dirty="0" err="1">
                <a:effectLst/>
                <a:latin typeface="Menlo" panose="020B0609030804020204" pitchFamily="49" charset="0"/>
              </a:rPr>
              <a:t>.getYear</a:t>
            </a:r>
            <a:r>
              <a:rPr lang="it-IT" sz="1400" dirty="0">
                <a:effectLst/>
                <a:latin typeface="Menlo" panose="020B0609030804020204" pitchFamily="49" charset="0"/>
              </a:rPr>
              <a:t>())) {</a:t>
            </a:r>
          </a:p>
          <a:p>
            <a:pPr marL="0" indent="0">
              <a:buNone/>
            </a:pPr>
            <a:r>
              <a:rPr lang="it-IT" sz="1400" dirty="0">
                <a:solidFill>
                  <a:srgbClr val="6A3E3E"/>
                </a:solidFill>
                <a:latin typeface="Menlo" panose="020B0609030804020204" pitchFamily="49" charset="0"/>
              </a:rPr>
              <a:t>      </a:t>
            </a:r>
            <a:r>
              <a:rPr lang="it-IT" sz="14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errors</a:t>
            </a:r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.reject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4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400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movie.duplicate</a:t>
            </a:r>
            <a:r>
              <a:rPr lang="it-IT" sz="14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400" dirty="0">
                <a:effectLst/>
                <a:latin typeface="Menlo" panose="020B0609030804020204" pitchFamily="49" charset="0"/>
              </a:rPr>
              <a:t>    }</a:t>
            </a:r>
          </a:p>
          <a:p>
            <a:pPr marL="0" indent="0">
              <a:buNone/>
            </a:pPr>
            <a:r>
              <a:rPr lang="it-IT" sz="1400" dirty="0">
                <a:effectLst/>
                <a:latin typeface="Menlo" panose="020B0609030804020204" pitchFamily="49" charset="0"/>
              </a:rPr>
              <a:t>  }</a:t>
            </a:r>
          </a:p>
          <a:p>
            <a:pPr marL="0" indent="0">
              <a:buNone/>
            </a:pPr>
            <a:r>
              <a:rPr lang="it-IT" sz="1400" dirty="0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  </a:t>
            </a:r>
          </a:p>
          <a:p>
            <a:pPr marL="0" indent="0">
              <a:buNone/>
            </a:pPr>
            <a:r>
              <a:rPr lang="it-IT" sz="1400" dirty="0">
                <a:solidFill>
                  <a:srgbClr val="646464"/>
                </a:solidFill>
                <a:latin typeface="Menlo" panose="020B0609030804020204" pitchFamily="49" charset="0"/>
              </a:rPr>
              <a:t>  </a:t>
            </a:r>
            <a:r>
              <a:rPr lang="it-IT" sz="1400" dirty="0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it-IT" sz="1400" dirty="0" err="1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Override</a:t>
            </a:r>
            <a:endParaRPr lang="it-IT" sz="1400" dirty="0">
              <a:solidFill>
                <a:srgbClr val="646464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4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   public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boolean</a:t>
            </a:r>
            <a:r>
              <a:rPr lang="it-IT" sz="1400" dirty="0">
                <a:effectLst/>
                <a:latin typeface="Menlo" panose="020B0609030804020204" pitchFamily="49" charset="0"/>
              </a:rPr>
              <a:t> supports(Class&lt;?&gt; </a:t>
            </a:r>
            <a:r>
              <a:rPr lang="it-IT" sz="14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aClass</a:t>
            </a:r>
            <a:r>
              <a:rPr lang="it-IT" sz="1400" dirty="0">
                <a:effectLst/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it-IT" sz="14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it-IT" sz="14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it-IT" sz="1400" dirty="0">
                <a:effectLst/>
                <a:latin typeface="Menlo" panose="020B0609030804020204" pitchFamily="49" charset="0"/>
              </a:rPr>
              <a:t> </a:t>
            </a:r>
            <a:r>
              <a:rPr lang="it-IT" sz="1400" dirty="0" err="1">
                <a:effectLst/>
                <a:latin typeface="Menlo" panose="020B0609030804020204" pitchFamily="49" charset="0"/>
              </a:rPr>
              <a:t>Movie.</a:t>
            </a:r>
            <a:r>
              <a:rPr lang="it-IT" sz="14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it-IT" sz="1400" dirty="0" err="1">
                <a:effectLst/>
                <a:latin typeface="Menlo" panose="020B0609030804020204" pitchFamily="49" charset="0"/>
              </a:rPr>
              <a:t>.equals</a:t>
            </a:r>
            <a:r>
              <a:rPr lang="it-IT" sz="1400" dirty="0">
                <a:effectLst/>
                <a:latin typeface="Menlo" panose="020B0609030804020204" pitchFamily="49" charset="0"/>
              </a:rPr>
              <a:t>(</a:t>
            </a:r>
            <a:r>
              <a:rPr lang="it-IT" sz="14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aClass</a:t>
            </a:r>
            <a:r>
              <a:rPr lang="it-IT" sz="1400" dirty="0">
                <a:effectLst/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it-IT" sz="1400" dirty="0">
                <a:effectLst/>
                <a:latin typeface="Menlo" panose="020B0609030804020204" pitchFamily="49" charset="0"/>
              </a:rPr>
              <a:t>    }</a:t>
            </a:r>
          </a:p>
          <a:p>
            <a:pPr marL="0" indent="0">
              <a:buNone/>
            </a:pPr>
            <a:r>
              <a:rPr lang="it-IT" sz="1400" dirty="0"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84ECCF1-85C1-5C87-24CD-9AE3ECCFC9A1}"/>
              </a:ext>
            </a:extLst>
          </p:cNvPr>
          <p:cNvSpPr txBox="1"/>
          <p:nvPr/>
        </p:nvSpPr>
        <p:spPr>
          <a:xfrm>
            <a:off x="6968769" y="4125487"/>
            <a:ext cx="40383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libri Light" panose="020F0302020204030204" pitchFamily="34" charset="0"/>
              </a:rPr>
              <a:t>Specifica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che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c'e</a:t>
            </a:r>
            <a:r>
              <a:rPr lang="en-US" dirty="0">
                <a:latin typeface="Calibri Light" panose="020F0302020204030204" pitchFamily="34" charset="0"/>
              </a:rPr>
              <a:t>' </a:t>
            </a:r>
            <a:r>
              <a:rPr lang="en-US" dirty="0" err="1">
                <a:latin typeface="Calibri Light" panose="020F0302020204030204" pitchFamily="34" charset="0"/>
              </a:rPr>
              <a:t>stato</a:t>
            </a:r>
            <a:r>
              <a:rPr lang="en-US" dirty="0">
                <a:latin typeface="Calibri Light" panose="020F0302020204030204" pitchFamily="34" charset="0"/>
              </a:rPr>
              <a:t> un </a:t>
            </a:r>
            <a:r>
              <a:rPr lang="en-US" dirty="0" err="1">
                <a:latin typeface="Calibri Light" panose="020F0302020204030204" pitchFamily="34" charset="0"/>
              </a:rPr>
              <a:t>errore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nella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 err="1">
                <a:latin typeface="Calibri Light" panose="020F0302020204030204" pitchFamily="34" charset="0"/>
              </a:rPr>
              <a:t>validazione</a:t>
            </a:r>
            <a:r>
              <a:rPr lang="en-US" dirty="0">
                <a:latin typeface="Calibri Light" panose="020F0302020204030204" pitchFamily="34" charset="0"/>
              </a:rPr>
              <a:t> e </a:t>
            </a:r>
            <a:r>
              <a:rPr lang="en-US" dirty="0" err="1">
                <a:latin typeface="Calibri Light" panose="020F0302020204030204" pitchFamily="34" charset="0"/>
              </a:rPr>
              <a:t>registra</a:t>
            </a:r>
            <a:r>
              <a:rPr lang="en-US" dirty="0">
                <a:latin typeface="Calibri Light" panose="020F0302020204030204" pitchFamily="34" charset="0"/>
              </a:rPr>
              <a:t> un </a:t>
            </a:r>
            <a:r>
              <a:rPr lang="en-US" dirty="0" err="1">
                <a:latin typeface="Calibri Light" panose="020F0302020204030204" pitchFamily="34" charset="0"/>
              </a:rPr>
              <a:t>codice</a:t>
            </a:r>
            <a:r>
              <a:rPr lang="en-US" dirty="0">
                <a:latin typeface="Calibri Light" panose="020F0302020204030204" pitchFamily="34" charset="0"/>
              </a:rPr>
              <a:t> di </a:t>
            </a:r>
            <a:r>
              <a:rPr lang="en-US" dirty="0" err="1">
                <a:latin typeface="Calibri Light" panose="020F0302020204030204" pitchFamily="34" charset="0"/>
              </a:rPr>
              <a:t>errore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(la </a:t>
            </a:r>
            <a:r>
              <a:rPr lang="en-US" dirty="0" err="1">
                <a:latin typeface="Calibri Light" panose="020F0302020204030204" pitchFamily="34" charset="0"/>
              </a:rPr>
              <a:t>stringa</a:t>
            </a:r>
            <a:r>
              <a:rPr lang="en-US" dirty="0">
                <a:latin typeface="Calibri Light" panose="020F0302020204030204" pitchFamily="34" charset="0"/>
              </a:rPr>
              <a:t> "</a:t>
            </a:r>
            <a:r>
              <a:rPr lang="en-US" dirty="0" err="1">
                <a:latin typeface="Calibri Light" panose="020F0302020204030204" pitchFamily="34" charset="0"/>
              </a:rPr>
              <a:t>movie.duplicate</a:t>
            </a:r>
            <a:r>
              <a:rPr lang="en-US" dirty="0">
                <a:latin typeface="Calibri Light" panose="020F0302020204030204" pitchFamily="34" charset="0"/>
              </a:rPr>
              <a:t>")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E0216BF9-D237-F808-F696-0C57A905CAD1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5105400" y="4201886"/>
            <a:ext cx="1863369" cy="385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DF6A352-196E-0D93-910E-B3CADDEAE181}"/>
              </a:ext>
            </a:extLst>
          </p:cNvPr>
          <p:cNvSpPr txBox="1"/>
          <p:nvPr/>
        </p:nvSpPr>
        <p:spPr>
          <a:xfrm>
            <a:off x="3918857" y="5937031"/>
            <a:ext cx="708751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NON FARE COPIA E INCOLLA DEL CODICE DALLE SLIDE: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POWERPOINT INTRODUCE CARATTERI BIANCHI CHE SPORCANO IL CODICE</a:t>
            </a:r>
          </a:p>
        </p:txBody>
      </p:sp>
    </p:spTree>
    <p:extLst>
      <p:ext uri="{BB962C8B-B14F-4D97-AF65-F5344CB8AC3E}">
        <p14:creationId xmlns:p14="http://schemas.microsoft.com/office/powerpoint/2010/main" val="308568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304ED4-9B05-A245-9155-25513AE7A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11630"/>
            <a:ext cx="11364686" cy="59762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800" dirty="0">
                <a:solidFill>
                  <a:srgbClr val="646464"/>
                </a:solidFill>
                <a:latin typeface="Menlo" panose="020B0609030804020204" pitchFamily="49" charset="0"/>
              </a:rPr>
              <a:t>@Controller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7F0055"/>
                </a:solidFill>
                <a:latin typeface="Menlo" panose="020B0609030804020204" pitchFamily="49" charset="0"/>
              </a:rPr>
              <a:t>public</a:t>
            </a:r>
            <a:r>
              <a:rPr lang="it-IT" sz="1800" dirty="0">
                <a:latin typeface="Menlo" panose="020B0609030804020204" pitchFamily="49" charset="0"/>
              </a:rPr>
              <a:t> </a:t>
            </a:r>
            <a:r>
              <a:rPr lang="it-IT" sz="1800" b="1" dirty="0">
                <a:solidFill>
                  <a:srgbClr val="7F0055"/>
                </a:solidFill>
                <a:latin typeface="Menlo" panose="020B0609030804020204" pitchFamily="49" charset="0"/>
              </a:rPr>
              <a:t>class</a:t>
            </a:r>
            <a:r>
              <a:rPr lang="it-IT" sz="1800" dirty="0">
                <a:latin typeface="Menlo" panose="020B0609030804020204" pitchFamily="49" charset="0"/>
              </a:rPr>
              <a:t> </a:t>
            </a:r>
            <a:r>
              <a:rPr lang="it-IT" sz="1800" dirty="0" err="1">
                <a:latin typeface="Menlo" panose="020B0609030804020204" pitchFamily="49" charset="0"/>
              </a:rPr>
              <a:t>MovieController</a:t>
            </a:r>
            <a:r>
              <a:rPr lang="it-IT" sz="1800" dirty="0">
                <a:latin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it-IT" sz="1800" dirty="0">
                <a:solidFill>
                  <a:srgbClr val="646464"/>
                </a:solidFill>
                <a:latin typeface="Menlo" panose="020B0609030804020204" pitchFamily="49" charset="0"/>
              </a:rPr>
              <a:t>  @</a:t>
            </a:r>
            <a:r>
              <a:rPr lang="it-IT" sz="1800" dirty="0" err="1">
                <a:solidFill>
                  <a:srgbClr val="646464"/>
                </a:solidFill>
                <a:latin typeface="Menlo" panose="020B0609030804020204" pitchFamily="49" charset="0"/>
              </a:rPr>
              <a:t>Autowired</a:t>
            </a:r>
            <a:r>
              <a:rPr lang="it-IT" sz="1800" dirty="0">
                <a:latin typeface="Menlo" panose="020B0609030804020204" pitchFamily="49" charset="0"/>
              </a:rPr>
              <a:t> </a:t>
            </a:r>
            <a:r>
              <a:rPr lang="it-IT" sz="1800" dirty="0" err="1">
                <a:latin typeface="Menlo" panose="020B0609030804020204" pitchFamily="49" charset="0"/>
              </a:rPr>
              <a:t>MovieService</a:t>
            </a:r>
            <a:r>
              <a:rPr lang="it-IT" sz="1800" dirty="0"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0000C0"/>
                </a:solidFill>
                <a:latin typeface="Menlo" panose="020B0609030804020204" pitchFamily="49" charset="0"/>
              </a:rPr>
              <a:t>movieService</a:t>
            </a:r>
            <a:r>
              <a:rPr lang="it-IT" sz="1800" dirty="0"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it-IT" sz="1800" dirty="0">
                <a:solidFill>
                  <a:srgbClr val="646464"/>
                </a:solidFill>
                <a:latin typeface="Menlo" panose="020B0609030804020204" pitchFamily="49" charset="0"/>
              </a:rPr>
              <a:t>  </a:t>
            </a:r>
            <a:r>
              <a:rPr lang="it-IT" sz="1800" dirty="0">
                <a:solidFill>
                  <a:srgbClr val="646464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@</a:t>
            </a:r>
            <a:r>
              <a:rPr lang="it-IT" sz="1800" dirty="0" err="1">
                <a:solidFill>
                  <a:srgbClr val="646464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Autowired</a:t>
            </a:r>
            <a:r>
              <a:rPr lang="it-IT" sz="1800" dirty="0"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highlight>
                  <a:srgbClr val="FFFF00"/>
                </a:highlight>
                <a:latin typeface="Menlo" panose="020B0609030804020204" pitchFamily="49" charset="0"/>
              </a:rPr>
              <a:t>MovieValidator</a:t>
            </a:r>
            <a:r>
              <a:rPr lang="it-IT" sz="1800" dirty="0"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0000C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movieValidator</a:t>
            </a:r>
            <a:r>
              <a:rPr lang="it-IT" sz="1800" dirty="0">
                <a:highlight>
                  <a:srgbClr val="FFFF00"/>
                </a:highlight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it-IT" sz="1800" dirty="0">
                <a:solidFill>
                  <a:srgbClr val="646464"/>
                </a:solidFill>
                <a:latin typeface="Menlo" panose="020B0609030804020204" pitchFamily="49" charset="0"/>
              </a:rPr>
              <a:t>  </a:t>
            </a:r>
          </a:p>
          <a:p>
            <a:pPr marL="0" indent="0">
              <a:buNone/>
            </a:pPr>
            <a:r>
              <a:rPr lang="it-IT" sz="1800" dirty="0">
                <a:solidFill>
                  <a:srgbClr val="646464"/>
                </a:solidFill>
                <a:latin typeface="Menlo" panose="020B0609030804020204" pitchFamily="49" charset="0"/>
              </a:rPr>
              <a:t>  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it-IT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PostMapping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"/movie"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 public</a:t>
            </a:r>
            <a:r>
              <a:rPr lang="it-IT" sz="1800" dirty="0"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effectLst/>
                <a:latin typeface="Menlo" panose="020B0609030804020204" pitchFamily="49" charset="0"/>
              </a:rPr>
              <a:t>String</a:t>
            </a:r>
            <a:r>
              <a:rPr lang="it-IT" sz="1800" dirty="0"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effectLst/>
                <a:latin typeface="Menlo" panose="020B0609030804020204" pitchFamily="49" charset="0"/>
              </a:rPr>
              <a:t>newMovie</a:t>
            </a:r>
            <a:r>
              <a:rPr lang="it-IT" sz="1800" dirty="0">
                <a:effectLst/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it-IT" sz="1800" dirty="0" err="1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Valid</a:t>
            </a:r>
            <a:r>
              <a:rPr lang="it-IT" sz="1800" dirty="0">
                <a:effectLst/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it-IT" sz="1800" dirty="0" err="1">
                <a:solidFill>
                  <a:srgbClr val="646464"/>
                </a:solidFill>
                <a:effectLst/>
                <a:latin typeface="Menlo" panose="020B0609030804020204" pitchFamily="49" charset="0"/>
              </a:rPr>
              <a:t>ModelAttribute</a:t>
            </a:r>
            <a:r>
              <a:rPr lang="it-IT" sz="1800" dirty="0">
                <a:effectLst/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"movie"</a:t>
            </a:r>
            <a:r>
              <a:rPr lang="it-IT" sz="1800" dirty="0">
                <a:effectLst/>
                <a:latin typeface="Menlo" panose="020B0609030804020204" pitchFamily="49" charset="0"/>
              </a:rPr>
              <a:t>) Movie </a:t>
            </a:r>
            <a:r>
              <a:rPr lang="it-IT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it-IT" sz="1800" dirty="0">
                <a:effectLst/>
                <a:latin typeface="Menlo" panose="020B0609030804020204" pitchFamily="49" charset="0"/>
              </a:rPr>
              <a:t>, </a:t>
            </a:r>
          </a:p>
          <a:p>
            <a:pPr marL="0" indent="0">
              <a:buNone/>
            </a:pPr>
            <a:r>
              <a:rPr lang="it-IT" sz="1800" dirty="0">
                <a:latin typeface="Menlo" panose="020B0609030804020204" pitchFamily="49" charset="0"/>
              </a:rPr>
              <a:t>                            </a:t>
            </a:r>
            <a:r>
              <a:rPr lang="it-IT" sz="1800" dirty="0" err="1">
                <a:effectLst/>
                <a:latin typeface="Menlo" panose="020B0609030804020204" pitchFamily="49" charset="0"/>
              </a:rPr>
              <a:t>BindingResult</a:t>
            </a:r>
            <a:r>
              <a:rPr lang="it-IT" sz="1800" dirty="0">
                <a:effectLst/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bindingResult</a:t>
            </a:r>
            <a:r>
              <a:rPr lang="it-IT" sz="1800" dirty="0">
                <a:effectLst/>
                <a:latin typeface="Menlo" panose="020B0609030804020204" pitchFamily="49" charset="0"/>
              </a:rPr>
              <a:t>, Model </a:t>
            </a:r>
            <a:r>
              <a:rPr lang="it-IT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it-IT" sz="1800" dirty="0">
                <a:effectLst/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this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.</a:t>
            </a:r>
            <a:r>
              <a:rPr lang="it-IT" sz="1800" dirty="0" err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movieValidator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.validate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movie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, 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bindingResult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);</a:t>
            </a:r>
            <a:endParaRPr lang="it-IT" sz="1800" dirty="0">
              <a:solidFill>
                <a:srgbClr val="6A3E3E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it-IT" sz="18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it-IT" sz="1800" dirty="0">
                <a:effectLst/>
                <a:latin typeface="Menlo" panose="020B0609030804020204" pitchFamily="49" charset="0"/>
              </a:rPr>
              <a:t> (</a:t>
            </a:r>
            <a:r>
              <a:rPr lang="it-IT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bindingResult</a:t>
            </a:r>
            <a:r>
              <a:rPr lang="it-IT" sz="1800" dirty="0" err="1">
                <a:effectLst/>
                <a:latin typeface="Menlo" panose="020B0609030804020204" pitchFamily="49" charset="0"/>
              </a:rPr>
              <a:t>.hasErrors</a:t>
            </a:r>
            <a:r>
              <a:rPr lang="it-IT" sz="1800" dirty="0">
                <a:effectLst/>
                <a:latin typeface="Menlo" panose="020B0609030804020204" pitchFamily="49" charset="0"/>
              </a:rPr>
              <a:t>()) { </a:t>
            </a:r>
            <a:r>
              <a:rPr lang="it-IT" sz="1800" dirty="0">
                <a:solidFill>
                  <a:srgbClr val="3F7F5F"/>
                </a:solidFill>
                <a:latin typeface="Menlo" panose="020B0609030804020204" pitchFamily="49" charset="0"/>
              </a:rPr>
              <a:t>// </a:t>
            </a:r>
            <a:r>
              <a:rPr lang="it-IT" sz="1800" u="sng" dirty="0">
                <a:solidFill>
                  <a:srgbClr val="3F7F5F"/>
                </a:solidFill>
                <a:latin typeface="Menlo" panose="020B0609030804020204" pitchFamily="49" charset="0"/>
              </a:rPr>
              <a:t>sono emersi errori nel </a:t>
            </a:r>
            <a:r>
              <a:rPr lang="it-IT" sz="1800" u="sng" dirty="0" err="1">
                <a:solidFill>
                  <a:srgbClr val="3F7F5F"/>
                </a:solidFill>
                <a:latin typeface="Menlo" panose="020B0609030804020204" pitchFamily="49" charset="0"/>
              </a:rPr>
              <a:t>binding</a:t>
            </a:r>
            <a:endParaRPr lang="it-IT" sz="18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latin typeface="Menlo" panose="020B0609030804020204" pitchFamily="49" charset="0"/>
              </a:rPr>
              <a:t>       </a:t>
            </a: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formNewMovie.html</a:t>
            </a:r>
            <a:r>
              <a:rPr lang="it-IT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 </a:t>
            </a:r>
            <a:endParaRPr lang="it-IT" sz="18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effectLst/>
                <a:latin typeface="Menlo" panose="020B0609030804020204" pitchFamily="49" charset="0"/>
              </a:rPr>
              <a:t>     } </a:t>
            </a: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it-IT" sz="1800" dirty="0">
                <a:effectLst/>
                <a:latin typeface="Menlo" panose="020B0609030804020204" pitchFamily="49" charset="0"/>
              </a:rPr>
              <a:t> {                         </a:t>
            </a:r>
            <a:r>
              <a:rPr lang="it-IT" sz="1800" dirty="0">
                <a:solidFill>
                  <a:srgbClr val="3F7F5F"/>
                </a:solidFill>
                <a:latin typeface="Menlo" panose="020B0609030804020204" pitchFamily="49" charset="0"/>
              </a:rPr>
              <a:t>// NON </a:t>
            </a:r>
            <a:r>
              <a:rPr lang="it-IT" sz="1800" u="sng" dirty="0">
                <a:solidFill>
                  <a:srgbClr val="3F7F5F"/>
                </a:solidFill>
                <a:latin typeface="Menlo" panose="020B0609030804020204" pitchFamily="49" charset="0"/>
              </a:rPr>
              <a:t>sono emersi errori nel </a:t>
            </a:r>
            <a:r>
              <a:rPr lang="it-IT" sz="1800" u="sng" dirty="0" err="1">
                <a:solidFill>
                  <a:srgbClr val="3F7F5F"/>
                </a:solidFill>
                <a:latin typeface="Menlo" panose="020B0609030804020204" pitchFamily="49" charset="0"/>
              </a:rPr>
              <a:t>binding</a:t>
            </a:r>
            <a:endParaRPr lang="it-IT" sz="18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      </a:t>
            </a:r>
            <a:r>
              <a:rPr lang="it-IT" sz="18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it-IT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800" dirty="0" err="1">
                <a:solidFill>
                  <a:srgbClr val="0000C0"/>
                </a:solidFill>
                <a:latin typeface="Menlo" panose="020B0609030804020204" pitchFamily="49" charset="0"/>
              </a:rPr>
              <a:t>movieService</a:t>
            </a:r>
            <a:r>
              <a:rPr lang="it-IT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.save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 </a:t>
            </a:r>
            <a:endParaRPr lang="it-IT" sz="1800" dirty="0">
              <a:solidFill>
                <a:srgbClr val="0000C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       </a:t>
            </a:r>
            <a:r>
              <a:rPr lang="it-IT" sz="18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it-IT" sz="1800" dirty="0" err="1">
                <a:effectLst/>
                <a:latin typeface="Menlo" panose="020B0609030804020204" pitchFamily="49" charset="0"/>
              </a:rPr>
              <a:t>.addAttribute</a:t>
            </a:r>
            <a:r>
              <a:rPr lang="it-IT" sz="1800" dirty="0">
                <a:effectLst/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"movie"</a:t>
            </a:r>
            <a:r>
              <a:rPr lang="it-IT" sz="1800" dirty="0">
                <a:effectLst/>
                <a:latin typeface="Menlo" panose="020B0609030804020204" pitchFamily="49" charset="0"/>
              </a:rPr>
              <a:t>, </a:t>
            </a:r>
            <a:r>
              <a:rPr lang="it-IT" sz="18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it-IT" sz="1800" dirty="0">
                <a:effectLst/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7F0055"/>
                </a:solidFill>
                <a:latin typeface="Menlo" panose="020B0609030804020204" pitchFamily="49" charset="0"/>
              </a:rPr>
              <a:t>       </a:t>
            </a:r>
            <a:r>
              <a:rPr lang="it-IT" sz="18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it-IT" sz="18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8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redirect:movie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/"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+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movie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.getId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();</a:t>
            </a:r>
            <a:endParaRPr lang="it-IT" sz="18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it-IT" sz="1800" dirty="0">
                <a:effectLst/>
                <a:latin typeface="Menlo" panose="020B0609030804020204" pitchFamily="49" charset="0"/>
              </a:rPr>
              <a:t>     }</a:t>
            </a:r>
          </a:p>
          <a:p>
            <a:pPr marL="0" indent="0">
              <a:buNone/>
            </a:pPr>
            <a:r>
              <a:rPr lang="it-IT" sz="1800" dirty="0">
                <a:effectLst/>
                <a:latin typeface="Menlo" panose="020B0609030804020204" pitchFamily="49" charset="0"/>
              </a:rPr>
              <a:t>   }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DF97A0-0844-504F-861D-E796173D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-59870"/>
            <a:ext cx="10972800" cy="1143000"/>
          </a:xfrm>
        </p:spPr>
        <p:txBody>
          <a:bodyPr/>
          <a:lstStyle/>
          <a:p>
            <a:pPr algn="r"/>
            <a:r>
              <a:rPr lang="en-US" dirty="0" err="1"/>
              <a:t>Validatori</a:t>
            </a:r>
            <a:r>
              <a:rPr lang="en-US" dirty="0"/>
              <a:t> custom: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controller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9A18005-B997-AE81-6BCC-8C2A3D7BE424}"/>
              </a:ext>
            </a:extLst>
          </p:cNvPr>
          <p:cNvSpPr txBox="1"/>
          <p:nvPr/>
        </p:nvSpPr>
        <p:spPr>
          <a:xfrm>
            <a:off x="3918857" y="5937031"/>
            <a:ext cx="708751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NON FARE COPIA E INCOLLA DEL CODICE DALLE SLIDE: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POWERPOINT INTRODUCE CARATTERI BIANCHI CHE SPORCANO IL CODICE</a:t>
            </a:r>
          </a:p>
        </p:txBody>
      </p:sp>
    </p:spTree>
    <p:extLst>
      <p:ext uri="{BB962C8B-B14F-4D97-AF65-F5344CB8AC3E}">
        <p14:creationId xmlns:p14="http://schemas.microsoft.com/office/powerpoint/2010/main" val="127533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45140A-49B4-2C40-842F-B6FC59D5C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Come </a:t>
            </a:r>
            <a:r>
              <a:rPr lang="en-US" dirty="0" err="1"/>
              <a:t>verifichiamo</a:t>
            </a:r>
            <a:r>
              <a:rPr lang="en-US" dirty="0"/>
              <a:t> la </a:t>
            </a:r>
            <a:r>
              <a:rPr lang="en-US" dirty="0" err="1"/>
              <a:t>validazione</a:t>
            </a:r>
            <a:r>
              <a:rPr lang="en-US" dirty="0"/>
              <a:t> </a:t>
            </a:r>
            <a:r>
              <a:rPr lang="en-US" dirty="0" err="1"/>
              <a:t>lato</a:t>
            </a:r>
            <a:r>
              <a:rPr lang="en-US" dirty="0"/>
              <a:t> server?</a:t>
            </a:r>
            <a:endParaRPr lang="en-US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1B7624-B9FE-F046-AC4A-688BE0709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it-IT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it-IT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it-IT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it-IT" b="1" dirty="0">
                <a:solidFill>
                  <a:srgbClr val="FF0000"/>
                </a:solidFill>
              </a:rPr>
              <a:t>Togliamo la validazione lato client sul template HTML5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3BC7F35-0DE0-4E4B-AACF-62F93DF9A85C}"/>
              </a:ext>
            </a:extLst>
          </p:cNvPr>
          <p:cNvSpPr txBox="1"/>
          <p:nvPr/>
        </p:nvSpPr>
        <p:spPr>
          <a:xfrm>
            <a:off x="1524000" y="-1309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 Light" panose="020F0302020204030204" pitchFamily="34" charset="0"/>
              </a:rPr>
              <a:t>Note </a:t>
            </a:r>
            <a:r>
              <a:rPr lang="en-US" dirty="0" err="1">
                <a:latin typeface="Calibri Light" panose="020F0302020204030204" pitchFamily="34" charset="0"/>
              </a:rPr>
              <a:t>Pratiche</a:t>
            </a:r>
            <a:endParaRPr lang="en-US" dirty="0">
              <a:latin typeface="Calibri Light" panose="020F030202020403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34FA157-55E4-AA4F-BE9A-E70D772A52A7}"/>
              </a:ext>
            </a:extLst>
          </p:cNvPr>
          <p:cNvSpPr txBox="1"/>
          <p:nvPr/>
        </p:nvSpPr>
        <p:spPr>
          <a:xfrm>
            <a:off x="1524000" y="648866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 Light" panose="020F0302020204030204" pitchFamily="34" charset="0"/>
              </a:rPr>
              <a:t>Note </a:t>
            </a:r>
            <a:r>
              <a:rPr lang="en-US" dirty="0" err="1">
                <a:latin typeface="Calibri Light" panose="020F0302020204030204" pitchFamily="34" charset="0"/>
              </a:rPr>
              <a:t>Pratiche</a:t>
            </a:r>
            <a:endParaRPr lang="en-US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68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23238D-CEF0-9045-A0DF-AA72C965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Thymeleaf</a:t>
            </a:r>
            <a:r>
              <a:rPr lang="it-IT" dirty="0"/>
              <a:t>: internazionalizzazione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C7EC41-5FF2-7C4D-9717-0138D3BCD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L'internazionalizzazione del template può essere realizzata tramite </a:t>
            </a:r>
            <a:r>
              <a:rPr lang="it-IT" i="1" dirty="0" err="1"/>
              <a:t>message</a:t>
            </a:r>
            <a:r>
              <a:rPr lang="it-IT" i="1" dirty="0"/>
              <a:t> </a:t>
            </a:r>
            <a:r>
              <a:rPr lang="it-IT" i="1" dirty="0" err="1"/>
              <a:t>expression</a:t>
            </a:r>
            <a:endParaRPr lang="it-IT" dirty="0"/>
          </a:p>
          <a:p>
            <a:r>
              <a:rPr lang="it-IT" dirty="0"/>
              <a:t>Una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expression</a:t>
            </a:r>
            <a:r>
              <a:rPr lang="it-IT" dirty="0"/>
              <a:t> contiene una chiave il cui valore è specificato nei file (internazionali) di messaggi</a:t>
            </a:r>
          </a:p>
        </p:txBody>
      </p:sp>
    </p:spTree>
    <p:extLst>
      <p:ext uri="{BB962C8B-B14F-4D97-AF65-F5344CB8AC3E}">
        <p14:creationId xmlns:p14="http://schemas.microsoft.com/office/powerpoint/2010/main" val="421499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8CC04B-9685-8643-8121-F1FD91A7B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Internazionalizzazione dei Messaggi Errore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CD4110-A6BF-5540-9459-5BAE9DD91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72742"/>
          </a:xfrm>
        </p:spPr>
        <p:txBody>
          <a:bodyPr>
            <a:normAutofit/>
          </a:bodyPr>
          <a:lstStyle/>
          <a:p>
            <a:r>
              <a:rPr lang="en-US" dirty="0"/>
              <a:t>I </a:t>
            </a:r>
            <a:r>
              <a:rPr lang="en-US" dirty="0" err="1"/>
              <a:t>messaggi</a:t>
            </a:r>
            <a:r>
              <a:rPr lang="en-US" dirty="0"/>
              <a:t> di </a:t>
            </a:r>
            <a:r>
              <a:rPr lang="en-US" dirty="0" err="1"/>
              <a:t>errore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internazionalizzati</a:t>
            </a:r>
            <a:endParaRPr lang="en-US" dirty="0"/>
          </a:p>
          <a:p>
            <a:r>
              <a:rPr lang="en-US" dirty="0" err="1"/>
              <a:t>Oltre</a:t>
            </a:r>
            <a:r>
              <a:rPr lang="en-US" dirty="0"/>
              <a:t> al file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messages.properties</a:t>
            </a:r>
            <a:r>
              <a:rPr lang="en-US" dirty="0">
                <a:cs typeface="Calibri Light" panose="020F0302020204030204" pitchFamily="34" charset="0"/>
              </a:rPr>
              <a:t> </a:t>
            </a:r>
            <a:r>
              <a:rPr lang="en-US" dirty="0" err="1">
                <a:cs typeface="Calibri Light" panose="020F0302020204030204" pitchFamily="34" charset="0"/>
              </a:rPr>
              <a:t>possiamo</a:t>
            </a:r>
            <a:r>
              <a:rPr lang="en-US" dirty="0">
                <a:cs typeface="Calibri Light" panose="020F0302020204030204" pitchFamily="34" charset="0"/>
              </a:rPr>
              <a:t> </a:t>
            </a:r>
            <a:r>
              <a:rPr lang="en-US" dirty="0" err="1">
                <a:cs typeface="Calibri Light" panose="020F0302020204030204" pitchFamily="34" charset="0"/>
              </a:rPr>
              <a:t>creare</a:t>
            </a:r>
            <a:r>
              <a:rPr lang="en-US" dirty="0">
                <a:cs typeface="Calibri Light" panose="020F0302020204030204" pitchFamily="34" charset="0"/>
              </a:rPr>
              <a:t> un file per </a:t>
            </a:r>
            <a:r>
              <a:rPr lang="en-US" dirty="0" err="1">
                <a:cs typeface="Calibri Light" panose="020F0302020204030204" pitchFamily="34" charset="0"/>
              </a:rPr>
              <a:t>ogni</a:t>
            </a:r>
            <a:r>
              <a:rPr lang="en-US" dirty="0">
                <a:cs typeface="Calibri Light" panose="020F0302020204030204" pitchFamily="34" charset="0"/>
              </a:rPr>
              <a:t> lingua (di interesse)</a:t>
            </a:r>
          </a:p>
          <a:p>
            <a:r>
              <a:rPr lang="en-US" dirty="0">
                <a:cs typeface="Calibri Light" panose="020F0302020204030204" pitchFamily="34" charset="0"/>
              </a:rPr>
              <a:t>Si </a:t>
            </a:r>
            <a:r>
              <a:rPr lang="en-US" dirty="0" err="1">
                <a:cs typeface="Calibri Light" panose="020F0302020204030204" pitchFamily="34" charset="0"/>
              </a:rPr>
              <a:t>usa</a:t>
            </a:r>
            <a:r>
              <a:rPr lang="en-US" dirty="0">
                <a:cs typeface="Calibri Light" panose="020F0302020204030204" pitchFamily="34" charset="0"/>
              </a:rPr>
              <a:t> la </a:t>
            </a:r>
            <a:r>
              <a:rPr lang="en-US" dirty="0" err="1">
                <a:cs typeface="Calibri Light" panose="020F0302020204030204" pitchFamily="34" charset="0"/>
              </a:rPr>
              <a:t>convezione</a:t>
            </a:r>
            <a:r>
              <a:rPr lang="en-US" dirty="0">
                <a:cs typeface="Calibri Light" panose="020F0302020204030204" pitchFamily="34" charset="0"/>
              </a:rPr>
              <a:t> di </a:t>
            </a:r>
            <a:r>
              <a:rPr lang="en-US" dirty="0" err="1">
                <a:cs typeface="Calibri Light" panose="020F0302020204030204" pitchFamily="34" charset="0"/>
              </a:rPr>
              <a:t>aggiungere</a:t>
            </a:r>
            <a:r>
              <a:rPr lang="en-US" dirty="0">
                <a:cs typeface="Calibri Light" panose="020F0302020204030204" pitchFamily="34" charset="0"/>
              </a:rPr>
              <a:t> un </a:t>
            </a:r>
            <a:r>
              <a:rPr lang="en-US" dirty="0" err="1">
                <a:cs typeface="Calibri Light" panose="020F0302020204030204" pitchFamily="34" charset="0"/>
              </a:rPr>
              <a:t>pedice</a:t>
            </a:r>
            <a:r>
              <a:rPr lang="en-US" dirty="0">
                <a:cs typeface="Calibri Light" panose="020F0302020204030204" pitchFamily="34" charset="0"/>
              </a:rPr>
              <a:t> _</a:t>
            </a:r>
            <a:r>
              <a:rPr lang="en-US" dirty="0" err="1">
                <a:cs typeface="Calibri Light" panose="020F0302020204030204" pitchFamily="34" charset="0"/>
              </a:rPr>
              <a:t>CodiceLingua</a:t>
            </a:r>
            <a:r>
              <a:rPr lang="en-US" dirty="0">
                <a:cs typeface="Calibri Light" panose="020F0302020204030204" pitchFamily="34" charset="0"/>
              </a:rPr>
              <a:t> al </a:t>
            </a:r>
            <a:r>
              <a:rPr lang="en-US" dirty="0" err="1">
                <a:cs typeface="Calibri Light" panose="020F0302020204030204" pitchFamily="34" charset="0"/>
              </a:rPr>
              <a:t>nome</a:t>
            </a:r>
            <a:r>
              <a:rPr lang="en-US" dirty="0">
                <a:cs typeface="Calibri Light" panose="020F0302020204030204" pitchFamily="34" charset="0"/>
              </a:rPr>
              <a:t> del file</a:t>
            </a:r>
          </a:p>
          <a:p>
            <a:r>
              <a:rPr lang="en-US" dirty="0">
                <a:cs typeface="Calibri Light" panose="020F0302020204030204" pitchFamily="34" charset="0"/>
              </a:rPr>
              <a:t>Ad es., se </a:t>
            </a:r>
            <a:r>
              <a:rPr lang="en-US" dirty="0" err="1">
                <a:cs typeface="Calibri Light" panose="020F0302020204030204" pitchFamily="34" charset="0"/>
              </a:rPr>
              <a:t>vogliamo</a:t>
            </a:r>
            <a:r>
              <a:rPr lang="en-US" dirty="0">
                <a:cs typeface="Calibri Light" panose="020F0302020204030204" pitchFamily="34" charset="0"/>
              </a:rPr>
              <a:t> </a:t>
            </a:r>
            <a:r>
              <a:rPr lang="en-US" dirty="0" err="1">
                <a:cs typeface="Calibri Light" panose="020F0302020204030204" pitchFamily="34" charset="0"/>
              </a:rPr>
              <a:t>messaggi</a:t>
            </a:r>
            <a:r>
              <a:rPr lang="en-US" dirty="0">
                <a:cs typeface="Calibri Light" panose="020F0302020204030204" pitchFamily="34" charset="0"/>
              </a:rPr>
              <a:t> in lingua inglese e in lingua </a:t>
            </a:r>
            <a:r>
              <a:rPr lang="en-US" dirty="0" err="1">
                <a:cs typeface="Calibri Light" panose="020F0302020204030204" pitchFamily="34" charset="0"/>
              </a:rPr>
              <a:t>francese</a:t>
            </a:r>
            <a:r>
              <a:rPr lang="en-US" dirty="0">
                <a:cs typeface="Calibri Light" panose="020F0302020204030204" pitchFamily="34" charset="0"/>
              </a:rPr>
              <a:t> </a:t>
            </a:r>
            <a:r>
              <a:rPr lang="en-US" dirty="0" err="1">
                <a:cs typeface="Calibri Light" panose="020F0302020204030204" pitchFamily="34" charset="0"/>
              </a:rPr>
              <a:t>useremo</a:t>
            </a:r>
            <a:r>
              <a:rPr lang="en-US" dirty="0">
                <a:cs typeface="Calibri Light" panose="020F0302020204030204" pitchFamily="34" charset="0"/>
              </a:rPr>
              <a:t> </a:t>
            </a:r>
            <a:r>
              <a:rPr lang="en-US" dirty="0" err="1">
                <a:cs typeface="Calibri Light" panose="020F0302020204030204" pitchFamily="34" charset="0"/>
              </a:rPr>
              <a:t>i</a:t>
            </a:r>
            <a:r>
              <a:rPr lang="en-US" dirty="0">
                <a:cs typeface="Calibri Light" panose="020F0302020204030204" pitchFamily="34" charset="0"/>
              </a:rPr>
              <a:t> file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messages_EN.properties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messages_FR.properties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82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8CC04B-9685-8643-8121-F1FD91A7B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Internazionalizzazione dei Messaggi Errore</a:t>
            </a:r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EF43FCE-9DDB-06E2-8801-03A56ED50828}"/>
              </a:ext>
            </a:extLst>
          </p:cNvPr>
          <p:cNvSpPr txBox="1"/>
          <p:nvPr/>
        </p:nvSpPr>
        <p:spPr>
          <a:xfrm>
            <a:off x="260899" y="4702628"/>
            <a:ext cx="6091732" cy="2031325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it-IT" sz="1400" dirty="0" err="1">
                <a:effectLst/>
                <a:latin typeface="Menlo" panose="020B0609030804020204" pitchFamily="49" charset="0"/>
              </a:rPr>
              <a:t>movie.duplicate</a:t>
            </a:r>
            <a:r>
              <a:rPr lang="it-IT" sz="1400" dirty="0"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Ce film est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déjà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présent</a:t>
            </a:r>
            <a:endParaRPr lang="it-IT" sz="1400" dirty="0"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NotBlank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Champ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obligatoire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NotNull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Champ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obligatoire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Min.year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Doit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être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un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nombre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supérieur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à 1900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Max.year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Deve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essere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un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numero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minore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di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2023</a:t>
            </a: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NotBlank.movie.title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Le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titre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est un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champ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obligatoire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effectLst/>
                <a:latin typeface="Menlo" panose="020B0609030804020204" pitchFamily="49" charset="0"/>
              </a:rPr>
              <a:t>NotBlank.movie.year</a:t>
            </a:r>
            <a:r>
              <a:rPr lang="it-IT" sz="1400" dirty="0"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Champ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obligatoire</a:t>
            </a:r>
            <a:endParaRPr lang="it-IT" sz="1400" dirty="0"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effectLst/>
                <a:latin typeface="Menlo" panose="020B0609030804020204" pitchFamily="49" charset="0"/>
              </a:rPr>
              <a:t>typeMismatch.java.lang.Integer</a:t>
            </a:r>
            <a:r>
              <a:rPr lang="it-IT" sz="1400" dirty="0"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 err="1">
                <a:solidFill>
                  <a:srgbClr val="2A00FF"/>
                </a:solidFill>
                <a:latin typeface="Menlo" panose="020B0609030804020204" pitchFamily="49" charset="0"/>
              </a:rPr>
              <a:t>Doit</a:t>
            </a:r>
            <a:r>
              <a:rPr lang="it-IT" sz="1400" u="sng" dirty="0">
                <a:solidFill>
                  <a:srgbClr val="2A00FF"/>
                </a:solidFill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latin typeface="Menlo" panose="020B0609030804020204" pitchFamily="49" charset="0"/>
              </a:rPr>
              <a:t>être</a:t>
            </a:r>
            <a:r>
              <a:rPr lang="it-IT" sz="1400" u="sng" dirty="0">
                <a:solidFill>
                  <a:srgbClr val="2A00FF"/>
                </a:solidFill>
                <a:latin typeface="Menlo" panose="020B0609030804020204" pitchFamily="49" charset="0"/>
              </a:rPr>
              <a:t> un </a:t>
            </a:r>
            <a:r>
              <a:rPr lang="it-IT" sz="1400" u="sng" dirty="0" err="1">
                <a:solidFill>
                  <a:srgbClr val="2A00FF"/>
                </a:solidFill>
                <a:latin typeface="Menlo" panose="020B0609030804020204" pitchFamily="49" charset="0"/>
              </a:rPr>
              <a:t>nombre</a:t>
            </a:r>
            <a:r>
              <a:rPr lang="it-IT" sz="1400" u="sng" dirty="0">
                <a:solidFill>
                  <a:srgbClr val="2A00FF"/>
                </a:solidFill>
                <a:latin typeface="Menlo" panose="020B0609030804020204" pitchFamily="49" charset="0"/>
              </a:rPr>
              <a:t> </a:t>
            </a:r>
            <a:endParaRPr lang="it-IT" sz="1400" dirty="0"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typeMismatch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Format</a:t>
            </a:r>
            <a:r>
              <a:rPr lang="it-IT" sz="1400" u="sng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invalide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790BA7C-4388-046E-8491-6FAF7CE21F8E}"/>
              </a:ext>
            </a:extLst>
          </p:cNvPr>
          <p:cNvSpPr txBox="1"/>
          <p:nvPr/>
        </p:nvSpPr>
        <p:spPr>
          <a:xfrm>
            <a:off x="6352631" y="5348959"/>
            <a:ext cx="5822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Contenuto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del file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messages/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messages_FR.properties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9060DCC-81A7-10B4-9C35-080DB1E7B804}"/>
              </a:ext>
            </a:extLst>
          </p:cNvPr>
          <p:cNvSpPr txBox="1"/>
          <p:nvPr/>
        </p:nvSpPr>
        <p:spPr>
          <a:xfrm>
            <a:off x="368300" y="2155371"/>
            <a:ext cx="5232523" cy="2031325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none" rtlCol="0">
            <a:spAutoFit/>
          </a:bodyPr>
          <a:lstStyle/>
          <a:p>
            <a:r>
              <a:rPr lang="it-IT" sz="1400" dirty="0" err="1">
                <a:effectLst/>
                <a:latin typeface="Menlo" panose="020B0609030804020204" pitchFamily="49" charset="0"/>
              </a:rPr>
              <a:t>movie.duplicate</a:t>
            </a:r>
            <a:r>
              <a:rPr lang="it-IT" sz="1400" dirty="0"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movie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already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present</a:t>
            </a:r>
            <a:endParaRPr lang="it-IT" sz="1400" dirty="0"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NotBlank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Mandatory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field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NotNull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Mandatory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field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Min.year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latin typeface="Menlo" panose="020B0609030804020204" pitchFamily="49" charset="0"/>
              </a:rPr>
              <a:t>M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ust be a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greater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than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1900</a:t>
            </a: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Max.year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latin typeface="Menlo" panose="020B0609030804020204" pitchFamily="49" charset="0"/>
              </a:rPr>
              <a:t> M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ust be a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less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than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4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1900 </a:t>
            </a: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NotBlank.movie.title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latin typeface="Menlo" panose="020B0609030804020204" pitchFamily="49" charset="0"/>
              </a:rPr>
              <a:t>Title </a:t>
            </a:r>
            <a:r>
              <a:rPr lang="it-IT" sz="1400" u="sng" dirty="0" err="1">
                <a:solidFill>
                  <a:srgbClr val="2A00FF"/>
                </a:solidFill>
                <a:latin typeface="Menlo" panose="020B0609030804020204" pitchFamily="49" charset="0"/>
              </a:rPr>
              <a:t>is</a:t>
            </a:r>
            <a:r>
              <a:rPr lang="it-IT" sz="1400" u="sng" dirty="0">
                <a:solidFill>
                  <a:srgbClr val="2A00FF"/>
                </a:solidFill>
                <a:latin typeface="Menlo" panose="020B0609030804020204" pitchFamily="49" charset="0"/>
              </a:rPr>
              <a:t> a </a:t>
            </a:r>
            <a:r>
              <a:rPr lang="it-IT" sz="1400" u="sng" dirty="0" err="1">
                <a:solidFill>
                  <a:srgbClr val="2A00FF"/>
                </a:solidFill>
                <a:latin typeface="Menlo" panose="020B0609030804020204" pitchFamily="49" charset="0"/>
              </a:rPr>
              <a:t>mandatory</a:t>
            </a:r>
            <a:r>
              <a:rPr lang="it-IT" sz="1400" u="sng" dirty="0">
                <a:solidFill>
                  <a:srgbClr val="2A00FF"/>
                </a:solidFill>
                <a:latin typeface="Menlo" panose="020B0609030804020204" pitchFamily="49" charset="0"/>
              </a:rPr>
              <a:t> field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effectLst/>
                <a:latin typeface="Menlo" panose="020B0609030804020204" pitchFamily="49" charset="0"/>
              </a:rPr>
              <a:t>NotBlank.movie.year</a:t>
            </a:r>
            <a:r>
              <a:rPr lang="it-IT" sz="1400" dirty="0"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Mandatory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field</a:t>
            </a:r>
            <a:endParaRPr lang="it-IT" sz="1400" dirty="0"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effectLst/>
                <a:latin typeface="Menlo" panose="020B0609030804020204" pitchFamily="49" charset="0"/>
              </a:rPr>
              <a:t>typeMismatch.java.lang.Integer</a:t>
            </a:r>
            <a:r>
              <a:rPr lang="it-IT" sz="1400" dirty="0"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>
                <a:solidFill>
                  <a:srgbClr val="2A00FF"/>
                </a:solidFill>
                <a:latin typeface="Menlo" panose="020B0609030804020204" pitchFamily="49" charset="0"/>
              </a:rPr>
              <a:t>Must be a </a:t>
            </a:r>
            <a:r>
              <a:rPr lang="it-IT" sz="1400" u="sng" dirty="0" err="1">
                <a:solidFill>
                  <a:srgbClr val="2A00FF"/>
                </a:solidFill>
                <a:latin typeface="Menlo" panose="020B0609030804020204" pitchFamily="49" charset="0"/>
              </a:rPr>
              <a:t>number</a:t>
            </a:r>
            <a:endParaRPr lang="it-IT" sz="1400" dirty="0">
              <a:effectLst/>
              <a:latin typeface="Menlo" panose="020B0609030804020204" pitchFamily="49" charset="0"/>
            </a:endParaRPr>
          </a:p>
          <a:p>
            <a:r>
              <a:rPr lang="it-IT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typeMismatch</a:t>
            </a:r>
            <a:r>
              <a:rPr lang="it-IT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400" u="sng" dirty="0" err="1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Invalid</a:t>
            </a:r>
            <a:r>
              <a:rPr lang="it-IT" sz="1400" u="sng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 format</a:t>
            </a:r>
            <a:endParaRPr lang="it-IT" sz="1400" dirty="0">
              <a:solidFill>
                <a:srgbClr val="2A00FF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88960D1-D52B-47B2-C384-75543E0B9E9D}"/>
              </a:ext>
            </a:extLst>
          </p:cNvPr>
          <p:cNvSpPr txBox="1"/>
          <p:nvPr/>
        </p:nvSpPr>
        <p:spPr>
          <a:xfrm>
            <a:off x="6352631" y="2801701"/>
            <a:ext cx="5822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Contenuto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del file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messages/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messages_EN.properties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97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980960-F7A0-7141-866B-FAED15BD7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expression: </a:t>
            </a:r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81EC480-403F-3B4C-9CD6-F2B8168B7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&lt;!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DOCTYPE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html&gt;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html&gt;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head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latin typeface="Helvetica" pitchFamily="2" charset="0"/>
              </a:rPr>
              <a:t>   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title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latin typeface="Helvetica" pitchFamily="2" charset="0"/>
              </a:rPr>
              <a:t>Film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title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head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body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   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h4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#{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movie.header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}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Dettagli film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h4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th:object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${movie}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	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"*{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title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}"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latin typeface="Helvetica" pitchFamily="2" charset="0"/>
              </a:rPr>
              <a:t>Il buio oltre la siepe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	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"*{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year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}"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latin typeface="Helvetica" pitchFamily="2" charset="0"/>
              </a:rPr>
              <a:t>1962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latin typeface="Helvetica" pitchFamily="2" charset="0"/>
              </a:rPr>
              <a:t>   	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latin typeface="Helvetica" pitchFamily="2" charset="0"/>
              </a:rPr>
              <a:t>   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body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html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74F1A84-7726-7645-B3E1-DB063F594391}"/>
              </a:ext>
            </a:extLst>
          </p:cNvPr>
          <p:cNvSpPr txBox="1"/>
          <p:nvPr/>
        </p:nvSpPr>
        <p:spPr>
          <a:xfrm>
            <a:off x="7483366" y="1737291"/>
            <a:ext cx="30844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alibri Light" panose="020F0302020204030204" pitchFamily="34" charset="0"/>
              </a:rPr>
              <a:t>Questa è una chiave: il valore</a:t>
            </a:r>
          </a:p>
          <a:p>
            <a:r>
              <a:rPr lang="it-IT" dirty="0">
                <a:latin typeface="Calibri Light" panose="020F0302020204030204" pitchFamily="34" charset="0"/>
              </a:rPr>
              <a:t>è riportato nei file in cui </a:t>
            </a:r>
          </a:p>
          <a:p>
            <a:r>
              <a:rPr lang="it-IT" dirty="0">
                <a:latin typeface="Calibri Light" panose="020F0302020204030204" pitchFamily="34" charset="0"/>
              </a:rPr>
              <a:t>memorizziamo i messaggi </a:t>
            </a:r>
          </a:p>
          <a:p>
            <a:r>
              <a:rPr lang="it-IT" dirty="0">
                <a:latin typeface="Calibri Light" panose="020F0302020204030204" pitchFamily="34" charset="0"/>
              </a:rPr>
              <a:t>Internazionalizzati (es. </a:t>
            </a:r>
            <a:br>
              <a:rPr lang="it-IT" dirty="0">
                <a:latin typeface="Calibri Light" panose="020F0302020204030204" pitchFamily="34" charset="0"/>
              </a:rPr>
            </a:br>
            <a:r>
              <a:rPr lang="it-IT" dirty="0" err="1">
                <a:latin typeface="Calibri Light" panose="020F0302020204030204" pitchFamily="34" charset="0"/>
              </a:rPr>
              <a:t>messages_it.properties</a:t>
            </a:r>
            <a:r>
              <a:rPr lang="it-IT" dirty="0">
                <a:latin typeface="Calibri Light" panose="020F0302020204030204" pitchFamily="34" charset="0"/>
              </a:rPr>
              <a:t>). </a:t>
            </a:r>
            <a:br>
              <a:rPr lang="it-IT" dirty="0">
                <a:latin typeface="Calibri Light" panose="020F0302020204030204" pitchFamily="34" charset="0"/>
              </a:rPr>
            </a:br>
            <a:br>
              <a:rPr lang="it-IT" dirty="0">
                <a:latin typeface="Calibri Light" panose="020F0302020204030204" pitchFamily="34" charset="0"/>
              </a:rPr>
            </a:br>
            <a:r>
              <a:rPr lang="it-IT" dirty="0">
                <a:solidFill>
                  <a:srgbClr val="FF0000"/>
                </a:solidFill>
                <a:latin typeface="Calibri Light" panose="020F0302020204030204" pitchFamily="34" charset="0"/>
              </a:rPr>
              <a:t>In questo modo, possiamo </a:t>
            </a:r>
            <a:br>
              <a:rPr lang="it-IT" dirty="0">
                <a:solidFill>
                  <a:srgbClr val="FF0000"/>
                </a:solidFill>
                <a:latin typeface="Calibri Light" panose="020F0302020204030204" pitchFamily="34" charset="0"/>
              </a:rPr>
            </a:br>
            <a:r>
              <a:rPr lang="it-IT" dirty="0">
                <a:solidFill>
                  <a:srgbClr val="FF0000"/>
                </a:solidFill>
                <a:latin typeface="Calibri Light" panose="020F0302020204030204" pitchFamily="34" charset="0"/>
              </a:rPr>
              <a:t>internazionalizzare tutto il sito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8E91EA44-2D07-B84E-8DEB-CFFDD718D8B8}"/>
              </a:ext>
            </a:extLst>
          </p:cNvPr>
          <p:cNvCxnSpPr>
            <a:cxnSpLocks/>
          </p:cNvCxnSpPr>
          <p:nvPr/>
        </p:nvCxnSpPr>
        <p:spPr>
          <a:xfrm flipH="1">
            <a:off x="3478924" y="2202917"/>
            <a:ext cx="3983692" cy="1226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13159ED-67B9-C043-2E97-EE7956338208}"/>
              </a:ext>
            </a:extLst>
          </p:cNvPr>
          <p:cNvSpPr txBox="1"/>
          <p:nvPr/>
        </p:nvSpPr>
        <p:spPr>
          <a:xfrm>
            <a:off x="3918857" y="5937031"/>
            <a:ext cx="708751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NON FARE COPIA E INCOLLA DEL CODICE DALLE SLIDE: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POWERPOINT INTRODUCE CARATTERI BIANCHI CHE SPORCANO IL CODICE</a:t>
            </a:r>
          </a:p>
        </p:txBody>
      </p:sp>
    </p:spTree>
    <p:extLst>
      <p:ext uri="{BB962C8B-B14F-4D97-AF65-F5344CB8AC3E}">
        <p14:creationId xmlns:p14="http://schemas.microsoft.com/office/powerpoint/2010/main" val="61236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609514-0CAA-C645-8D40-444B018DD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Thymeleaf: espressioni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5E8346-350B-6442-97BA-F55C58B87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/>
              <a:t>${...} - </a:t>
            </a:r>
            <a:r>
              <a:rPr lang="it-IT" i="1" dirty="0" err="1"/>
              <a:t>Variable</a:t>
            </a:r>
            <a:r>
              <a:rPr lang="it-IT" i="1" dirty="0"/>
              <a:t> </a:t>
            </a:r>
            <a:r>
              <a:rPr lang="it-IT" i="1" dirty="0" err="1"/>
              <a:t>expressions</a:t>
            </a:r>
            <a:r>
              <a:rPr lang="it-IT" dirty="0"/>
              <a:t>: contengono variabili che sono nel modello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*{...} - </a:t>
            </a:r>
            <a:r>
              <a:rPr lang="it-IT" i="1" dirty="0" err="1"/>
              <a:t>Selection</a:t>
            </a:r>
            <a:r>
              <a:rPr lang="it-IT" i="1" dirty="0"/>
              <a:t> </a:t>
            </a:r>
            <a:r>
              <a:rPr lang="it-IT" i="1" dirty="0" err="1"/>
              <a:t>expressions</a:t>
            </a:r>
            <a:r>
              <a:rPr lang="it-IT" dirty="0"/>
              <a:t>: fanno riferimento ai campi di una variabile definita in uno scope esterno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#{...} - </a:t>
            </a:r>
            <a:r>
              <a:rPr lang="it-IT" i="1" dirty="0"/>
              <a:t>Message (i18n) </a:t>
            </a:r>
            <a:r>
              <a:rPr lang="it-IT" i="1" dirty="0" err="1"/>
              <a:t>expressions</a:t>
            </a:r>
            <a:r>
              <a:rPr lang="it-IT" dirty="0"/>
              <a:t>: fanno riferimento a messaggi di testo scritti nei file di messaggi (predisposti all'internazionalizzazione)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@{...} - </a:t>
            </a:r>
            <a:r>
              <a:rPr lang="it-IT" i="1" dirty="0"/>
              <a:t>Link (URL) </a:t>
            </a:r>
            <a:r>
              <a:rPr lang="it-IT" i="1" dirty="0" err="1"/>
              <a:t>expressions</a:t>
            </a:r>
            <a:r>
              <a:rPr lang="it-IT" dirty="0"/>
              <a:t>: espressioni per costruire riferimenti ipertestuali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~{...} - </a:t>
            </a:r>
            <a:r>
              <a:rPr lang="it-IT" i="1" dirty="0" err="1"/>
              <a:t>Fragment</a:t>
            </a:r>
            <a:r>
              <a:rPr lang="it-IT" i="1" dirty="0"/>
              <a:t> </a:t>
            </a:r>
            <a:r>
              <a:rPr lang="it-IT" i="1" dirty="0" err="1"/>
              <a:t>expressions</a:t>
            </a:r>
            <a:r>
              <a:rPr lang="it-IT" dirty="0"/>
              <a:t>: espressioni per includere frammenti di template (vedi oltre)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Per dettagli: </a:t>
            </a:r>
            <a:r>
              <a:rPr lang="it-IT" dirty="0">
                <a:hlinkClick r:id="rId2"/>
              </a:rPr>
              <a:t>https://www.thymeleaf.org/doc/articles/standarddialect5minutes.html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938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5BC851-042C-FF40-8EA7-D6D5392C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expression: </a:t>
            </a:r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9695C5-3F1F-F541-B84F-1079C22D8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5" y="1698172"/>
            <a:ext cx="8686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&lt;!</a:t>
            </a:r>
            <a:r>
              <a:rPr lang="it-IT" sz="1400" dirty="0">
                <a:solidFill>
                  <a:srgbClr val="3F7F7F"/>
                </a:solidFill>
                <a:latin typeface="Helvetica" pitchFamily="2" charset="0"/>
              </a:rPr>
              <a:t>DOCTYPE</a:t>
            </a:r>
            <a:r>
              <a:rPr lang="it-IT" sz="1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html&gt;</a:t>
            </a:r>
            <a:endParaRPr lang="it-IT" sz="1400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sz="1400" dirty="0">
                <a:solidFill>
                  <a:srgbClr val="3F7F7F"/>
                </a:solidFill>
                <a:latin typeface="Helvetica" pitchFamily="2" charset="0"/>
              </a:rPr>
              <a:t>html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sz="1400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 fontAlgn="ctr">
              <a:buNone/>
            </a:pPr>
            <a:r>
              <a:rPr lang="it-IT" sz="1400" dirty="0">
                <a:solidFill>
                  <a:srgbClr val="3F7F7F"/>
                </a:solidFill>
                <a:latin typeface="Helvetica" pitchFamily="2" charset="0"/>
              </a:rPr>
              <a:t>&lt;head&gt;</a:t>
            </a:r>
          </a:p>
          <a:p>
            <a:pPr marL="0" indent="0" fontAlgn="ctr">
              <a:buNone/>
            </a:pPr>
            <a:r>
              <a:rPr lang="it-IT" sz="1400" dirty="0">
                <a:solidFill>
                  <a:srgbClr val="3F7F7F"/>
                </a:solidFill>
                <a:latin typeface="Helvetica" pitchFamily="2" charset="0"/>
              </a:rPr>
              <a:t>	…</a:t>
            </a:r>
          </a:p>
          <a:p>
            <a:pPr marL="0" indent="0" fontAlgn="ctr">
              <a:buNone/>
            </a:pPr>
            <a:r>
              <a:rPr lang="it-IT" sz="1400" dirty="0">
                <a:solidFill>
                  <a:srgbClr val="3F7F7F"/>
                </a:solidFill>
                <a:latin typeface="Helvetica" pitchFamily="2" charset="0"/>
              </a:rPr>
              <a:t>&lt;/head&gt;</a:t>
            </a:r>
            <a:endParaRPr lang="it-IT" sz="1400" dirty="0">
              <a:solidFill>
                <a:srgbClr val="008080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sz="1400" dirty="0">
                <a:solidFill>
                  <a:srgbClr val="3F7F7F"/>
                </a:solidFill>
                <a:latin typeface="Helvetica" pitchFamily="2" charset="0"/>
              </a:rPr>
              <a:t>body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sz="1400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sz="1400" dirty="0">
                <a:latin typeface="Helvetica" pitchFamily="2" charset="0"/>
              </a:rPr>
              <a:t>    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sz="1400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sz="1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000000"/>
                </a:solidFill>
                <a:latin typeface="Helvetica" pitchFamily="2" charset="0"/>
              </a:rPr>
              <a:t>    	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&lt;h4&gt;Dettagli fil&lt;/h4&gt;</a:t>
            </a:r>
            <a:endParaRPr lang="it-IT" sz="1400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	&lt;</a:t>
            </a:r>
            <a:r>
              <a:rPr lang="it-IT" sz="1400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sz="1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sz="1400" dirty="0" err="1">
                <a:solidFill>
                  <a:srgbClr val="7F007F"/>
                </a:solidFill>
                <a:highlight>
                  <a:srgbClr val="FFFF00"/>
                </a:highlight>
                <a:latin typeface="Helvetica" pitchFamily="2" charset="0"/>
              </a:rPr>
              <a:t>th:object</a:t>
            </a:r>
            <a:r>
              <a:rPr lang="it-IT" sz="1400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=</a:t>
            </a:r>
            <a:r>
              <a:rPr lang="it-IT" sz="1400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${movie}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sz="1400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		&lt;</a:t>
            </a:r>
            <a:r>
              <a:rPr lang="it-IT" sz="1400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sz="1400" dirty="0">
                <a:latin typeface="Helvetica" pitchFamily="2" charset="0"/>
              </a:rPr>
              <a:t> </a:t>
            </a:r>
            <a:r>
              <a:rPr lang="it-IT" sz="1400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sz="1400" dirty="0">
                <a:latin typeface="Helvetica" pitchFamily="2" charset="0"/>
              </a:rPr>
              <a:t>=</a:t>
            </a:r>
            <a:r>
              <a:rPr lang="it-IT" sz="1400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sz="1400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*{</a:t>
            </a:r>
            <a:r>
              <a:rPr lang="it-IT" sz="1400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title</a:t>
            </a:r>
            <a:r>
              <a:rPr lang="it-IT" sz="1400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}</a:t>
            </a:r>
            <a:r>
              <a:rPr lang="it-IT" sz="1400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sz="1400" dirty="0">
                <a:latin typeface="Helvetica" pitchFamily="2" charset="0"/>
              </a:rPr>
              <a:t>Il buio oltre la siepe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sz="1400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sz="1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		&lt;</a:t>
            </a:r>
            <a:r>
              <a:rPr lang="it-IT" sz="1400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sz="1400" dirty="0">
                <a:latin typeface="Helvetica" pitchFamily="2" charset="0"/>
              </a:rPr>
              <a:t> </a:t>
            </a:r>
            <a:r>
              <a:rPr lang="it-IT" sz="1400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sz="1400" dirty="0">
                <a:latin typeface="Helvetica" pitchFamily="2" charset="0"/>
              </a:rPr>
              <a:t>=</a:t>
            </a:r>
            <a:r>
              <a:rPr lang="it-IT" sz="1400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sz="1400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*{</a:t>
            </a:r>
            <a:r>
              <a:rPr lang="it-IT" sz="1400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year</a:t>
            </a:r>
            <a:r>
              <a:rPr lang="it-IT" sz="1400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}</a:t>
            </a:r>
            <a:r>
              <a:rPr lang="it-IT" sz="1400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sz="1400" dirty="0">
                <a:latin typeface="Helvetica" pitchFamily="2" charset="0"/>
              </a:rPr>
              <a:t>1962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sz="1400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&gt;</a:t>
            </a:r>
          </a:p>
          <a:p>
            <a:pPr marL="0" indent="0">
              <a:buNone/>
            </a:pP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                  …</a:t>
            </a:r>
            <a:endParaRPr lang="it-IT" sz="1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sz="1400" dirty="0">
                <a:latin typeface="Helvetica" pitchFamily="2" charset="0"/>
              </a:rPr>
              <a:t>   	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sz="1400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sz="1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sz="1400" dirty="0">
                <a:latin typeface="Helvetica" pitchFamily="2" charset="0"/>
              </a:rPr>
              <a:t>    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sz="1400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sz="1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000000"/>
                </a:solidFill>
                <a:latin typeface="Helvetica" pitchFamily="2" charset="0"/>
              </a:rPr>
              <a:t>…</a:t>
            </a:r>
          </a:p>
          <a:p>
            <a:pPr marL="0" indent="0">
              <a:buNone/>
            </a:pP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sz="1400" dirty="0">
                <a:solidFill>
                  <a:srgbClr val="3F7F7F"/>
                </a:solidFill>
                <a:latin typeface="Helvetica" pitchFamily="2" charset="0"/>
              </a:rPr>
              <a:t>html</a:t>
            </a:r>
            <a:r>
              <a:rPr lang="it-IT" sz="1400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sz="1400" dirty="0">
              <a:solidFill>
                <a:srgbClr val="3F7F7F"/>
              </a:solidFill>
              <a:latin typeface="Helvetica" pitchFamily="2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E1C02E7-2062-EC7A-50B4-A2E876AAA9EF}"/>
              </a:ext>
            </a:extLst>
          </p:cNvPr>
          <p:cNvSpPr txBox="1"/>
          <p:nvPr/>
        </p:nvSpPr>
        <p:spPr>
          <a:xfrm>
            <a:off x="2035630" y="2499640"/>
            <a:ext cx="4289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 Light" panose="020F0302020204030204" pitchFamily="34" charset="0"/>
              </a:rPr>
              <a:t>Facciamo riferimento all'oggetto definito nello scope esterno (persona)</a:t>
            </a:r>
            <a:endParaRPr lang="it-IT" dirty="0">
              <a:highlight>
                <a:srgbClr val="FFFF00"/>
              </a:highlight>
              <a:latin typeface="Calibri Light" panose="020F0302020204030204" pitchFamily="34" charset="0"/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3359B446-860D-E90B-093B-315FEEFF3801}"/>
              </a:ext>
            </a:extLst>
          </p:cNvPr>
          <p:cNvCxnSpPr>
            <a:cxnSpLocks/>
          </p:cNvCxnSpPr>
          <p:nvPr/>
        </p:nvCxnSpPr>
        <p:spPr>
          <a:xfrm flipH="1">
            <a:off x="2960915" y="3145971"/>
            <a:ext cx="1447799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8063739-EE94-C6D4-DF67-9285485A15CB}"/>
              </a:ext>
            </a:extLst>
          </p:cNvPr>
          <p:cNvSpPr txBox="1"/>
          <p:nvPr/>
        </p:nvSpPr>
        <p:spPr>
          <a:xfrm>
            <a:off x="3918857" y="5937031"/>
            <a:ext cx="708751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NON FARE COPIA E INCOLLA DEL CODICE DALLE SLIDE: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POWERPOINT INTRODUCE CARATTERI BIANCHI CHE SPORCANO IL CODICE</a:t>
            </a:r>
          </a:p>
        </p:txBody>
      </p:sp>
    </p:spTree>
    <p:extLst>
      <p:ext uri="{BB962C8B-B14F-4D97-AF65-F5344CB8AC3E}">
        <p14:creationId xmlns:p14="http://schemas.microsoft.com/office/powerpoint/2010/main" val="3541860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887627-FD42-0242-95DA-FB5AAB1E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expression: </a:t>
            </a:r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CDAE1A-A1EC-C24F-A53F-6F32972F4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3429001"/>
            <a:ext cx="8229600" cy="2697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Equivalente</a:t>
            </a:r>
            <a:r>
              <a:rPr lang="en-US" dirty="0"/>
              <a:t> a: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Molto comodo </a:t>
            </a:r>
            <a:r>
              <a:rPr lang="en-US" dirty="0" err="1"/>
              <a:t>quando</a:t>
            </a:r>
            <a:r>
              <a:rPr lang="en-US" dirty="0"/>
              <a:t> ci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tanti</a:t>
            </a:r>
            <a:r>
              <a:rPr lang="en-US" dirty="0"/>
              <a:t> </a:t>
            </a:r>
            <a:r>
              <a:rPr lang="en-US" dirty="0" err="1"/>
              <a:t>campi</a:t>
            </a:r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673E53E-58BE-A74F-9FD4-D3AA466A16E4}"/>
              </a:ext>
            </a:extLst>
          </p:cNvPr>
          <p:cNvSpPr txBox="1"/>
          <p:nvPr/>
        </p:nvSpPr>
        <p:spPr>
          <a:xfrm>
            <a:off x="1981200" y="1964176"/>
            <a:ext cx="62921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8080"/>
                </a:solidFill>
                <a:latin typeface="Menlo" panose="020B0609030804020204" pitchFamily="49" charset="0"/>
              </a:rPr>
              <a:t>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th:object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${movie}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	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*{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title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}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latin typeface="Helvetica" pitchFamily="2" charset="0"/>
              </a:rPr>
              <a:t>Il buio oltre la siepe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	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*{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year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}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latin typeface="Helvetica" pitchFamily="2" charset="0"/>
              </a:rPr>
              <a:t>1962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r>
              <a:rPr lang="it-IT" dirty="0">
                <a:latin typeface="Helvetica" pitchFamily="2" charset="0"/>
              </a:rPr>
              <a:t>   	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endParaRPr lang="en-US" dirty="0">
              <a:latin typeface="Calibri Light" panose="020F030202020403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7FC49E8-AE45-2C41-BE4A-38C0FF125F19}"/>
              </a:ext>
            </a:extLst>
          </p:cNvPr>
          <p:cNvSpPr txBox="1"/>
          <p:nvPr/>
        </p:nvSpPr>
        <p:spPr>
          <a:xfrm>
            <a:off x="1716168" y="4177417"/>
            <a:ext cx="70102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8080"/>
                </a:solidFill>
                <a:latin typeface="Menlo" panose="020B0609030804020204" pitchFamily="49" charset="0"/>
              </a:rPr>
              <a:t>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	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${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movie.title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}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latin typeface="Helvetica" pitchFamily="2" charset="0"/>
              </a:rPr>
              <a:t>Il buio oltre la siepe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	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${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movie.year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}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latin typeface="Helvetica" pitchFamily="2" charset="0"/>
              </a:rPr>
              <a:t>1962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r>
              <a:rPr lang="it-IT" dirty="0">
                <a:latin typeface="Helvetica" pitchFamily="2" charset="0"/>
              </a:rPr>
              <a:t>   	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3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557A64-A676-354D-A333-425F245B6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Conversione e validazione lato server: sintesi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BAB255-E9D5-2345-B371-7AFF1FEF7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Annotiamo i campi delle entità per specificare vincoli sui dati</a:t>
            </a:r>
          </a:p>
          <a:p>
            <a:r>
              <a:rPr lang="it-IT" dirty="0"/>
              <a:t>Definiamo eventuali vincoli custom attraverso una classe che implementa l'interfaccia </a:t>
            </a:r>
            <a:r>
              <a:rPr lang="it-IT" dirty="0" err="1"/>
              <a:t>Validator</a:t>
            </a:r>
            <a:endParaRPr lang="it-IT" dirty="0"/>
          </a:p>
          <a:p>
            <a:r>
              <a:rPr lang="it-IT" dirty="0"/>
              <a:t>Chiediamo al Controller di validare i dati di input </a:t>
            </a:r>
          </a:p>
          <a:p>
            <a:pPr lvl="1"/>
            <a:r>
              <a:rPr lang="it-IT" dirty="0"/>
              <a:t>marcandoli nella segnatura del </a:t>
            </a:r>
            <a:r>
              <a:rPr lang="it-IT" dirty="0" err="1"/>
              <a:t>metoro</a:t>
            </a:r>
            <a:r>
              <a:rPr lang="it-IT" dirty="0"/>
              <a:t> con l'annotazione @</a:t>
            </a:r>
            <a:r>
              <a:rPr lang="it-IT" dirty="0" err="1"/>
              <a:t>Valid</a:t>
            </a:r>
            <a:r>
              <a:rPr lang="it-IT" dirty="0"/>
              <a:t> e passandogli il parametro </a:t>
            </a:r>
            <a:r>
              <a:rPr lang="it-IT" dirty="0" err="1"/>
              <a:t>BindingResults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Nel corpo del controller verifichiamo che il </a:t>
            </a:r>
            <a:r>
              <a:rPr lang="it-IT" dirty="0" err="1"/>
              <a:t>binding</a:t>
            </a:r>
            <a:r>
              <a:rPr lang="it-IT" dirty="0"/>
              <a:t> dei dati non abbia prodotto errori (di conversione e/o di validazione)</a:t>
            </a:r>
          </a:p>
          <a:p>
            <a:r>
              <a:rPr lang="it-IT" dirty="0"/>
              <a:t>Nei template mostriamo gli eventuali errori</a:t>
            </a:r>
          </a:p>
        </p:txBody>
      </p:sp>
    </p:spTree>
    <p:extLst>
      <p:ext uri="{BB962C8B-B14F-4D97-AF65-F5344CB8AC3E}">
        <p14:creationId xmlns:p14="http://schemas.microsoft.com/office/powerpoint/2010/main" val="292750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4EDCCA-7047-E844-BBDD-DD9C134A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 (Piccolo) Problema Frequente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63CD48-0F46-2C4E-8D36-89E1E2985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>
                <a:cs typeface="Calibri Light" panose="020F0302020204030204" pitchFamily="34" charset="0"/>
              </a:rPr>
              <a:t>In Spring Boot, la White Label </a:t>
            </a:r>
            <a:r>
              <a:rPr lang="it-IT" dirty="0" err="1">
                <a:cs typeface="Calibri Light" panose="020F0302020204030204" pitchFamily="34" charset="0"/>
              </a:rPr>
              <a:t>Error</a:t>
            </a:r>
            <a:r>
              <a:rPr lang="it-IT" dirty="0">
                <a:cs typeface="Calibri Light" panose="020F0302020204030204" pitchFamily="34" charset="0"/>
              </a:rPr>
              <a:t> Page è la pagina di errore predefinita che viene mostrata al browser quando l'applicazione genera un errore HTTP (come un 404, 500, ecc.) e non si è definita una pagina di errore personalizzata.</a:t>
            </a:r>
          </a:p>
          <a:p>
            <a:r>
              <a:rPr lang="it-IT" dirty="0">
                <a:cs typeface="Calibri Light" panose="020F0302020204030204" pitchFamily="34" charset="0"/>
              </a:rPr>
              <a:t>Quando compare?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>
                <a:cs typeface="Calibri Light" panose="020F0302020204030204" pitchFamily="34" charset="0"/>
              </a:rPr>
              <a:t>Se un URL non è mappato (errore 404)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>
                <a:cs typeface="Calibri Light" panose="020F0302020204030204" pitchFamily="34" charset="0"/>
              </a:rPr>
              <a:t>Se un controller genera un'eccezione (errore 500)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>
                <a:cs typeface="Calibri Light" panose="020F0302020204030204" pitchFamily="34" charset="0"/>
              </a:rPr>
              <a:t>Se c'è un problema interno all'applicazione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>
                <a:cs typeface="Calibri Light" panose="020F0302020204030204" pitchFamily="34" charset="0"/>
              </a:rPr>
              <a:t>Chiedere ad un LLM come disabilitarla e come creare una propria </a:t>
            </a:r>
            <a:r>
              <a:rPr lang="it-IT" dirty="0" err="1">
                <a:cs typeface="Calibri Light" panose="020F0302020204030204" pitchFamily="34" charset="0"/>
              </a:rPr>
              <a:t>Error</a:t>
            </a:r>
            <a:r>
              <a:rPr lang="it-IT" dirty="0">
                <a:cs typeface="Calibri Light" panose="020F0302020204030204" pitchFamily="34" charset="0"/>
              </a:rPr>
              <a:t> Page</a:t>
            </a:r>
          </a:p>
        </p:txBody>
      </p:sp>
    </p:spTree>
    <p:extLst>
      <p:ext uri="{BB962C8B-B14F-4D97-AF65-F5344CB8AC3E}">
        <p14:creationId xmlns:p14="http://schemas.microsoft.com/office/powerpoint/2010/main" val="127714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044F2E-72D2-884A-A70F-0AB3537E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Thymeleaf: fragments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56960C-FAC6-E047-A6A0-9A0D76CDB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Thymeleaf offre supporto al riuso e a modularizzazione del codice html</a:t>
            </a:r>
          </a:p>
          <a:p>
            <a:r>
              <a:rPr lang="it-IT"/>
              <a:t>L'idea è quella di avere frammenti di codice html che possono essere predefiniti in un (o più) template e riusati</a:t>
            </a:r>
          </a:p>
        </p:txBody>
      </p:sp>
    </p:spTree>
    <p:extLst>
      <p:ext uri="{BB962C8B-B14F-4D97-AF65-F5344CB8AC3E}">
        <p14:creationId xmlns:p14="http://schemas.microsoft.com/office/powerpoint/2010/main" val="4125953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3CA09-8170-0340-A538-B54309C1C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Thymeleaf Fragments: esempio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A5DC53-B379-2845-AC43-871DA52F3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Predisponiamo un </a:t>
            </a:r>
            <a:r>
              <a:rPr lang="it-IT" dirty="0" err="1"/>
              <a:t>template</a:t>
            </a:r>
            <a:r>
              <a:rPr lang="it-IT" dirty="0"/>
              <a:t> (file</a:t>
            </a:r>
            <a:br>
              <a:rPr lang="it-IT" dirty="0"/>
            </a:br>
            <a:r>
              <a:rPr lang="it-IT" dirty="0" err="1"/>
              <a:t>templates</a:t>
            </a:r>
            <a:r>
              <a:rPr lang="it-IT" dirty="0"/>
              <a:t>/</a:t>
            </a:r>
            <a:r>
              <a:rPr lang="it-IT" dirty="0" err="1"/>
              <a:t>fragments</a:t>
            </a:r>
            <a:r>
              <a:rPr lang="it-IT" dirty="0"/>
              <a:t>/</a:t>
            </a:r>
            <a:r>
              <a:rPr lang="it-IT" dirty="0" err="1"/>
              <a:t>base.html</a:t>
            </a:r>
            <a:r>
              <a:rPr lang="it-IT" dirty="0"/>
              <a:t>) nel quale dichiariamo i frammenti (porzioni di codice) che vogliamo riutilizzare</a:t>
            </a:r>
          </a:p>
          <a:p>
            <a:r>
              <a:rPr lang="it-IT" dirty="0"/>
              <a:t>Per riusare un frammento usiamo l'attributo  </a:t>
            </a:r>
            <a:r>
              <a:rPr lang="it-IT" dirty="0" err="1"/>
              <a:t>th:replace</a:t>
            </a:r>
            <a:r>
              <a:rPr lang="it-IT" dirty="0"/>
              <a:t> il cui valore indica il frammento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4867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68C0A2-50DA-B04F-8C70-676D1F22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Thymeleaf Fragments: esempio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8C6AA4-662A-FC42-BDFB-5CB093FBA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&lt;!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DOCTYPE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HTML&gt;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html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xmlns:th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"http://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www.thymeleaf.org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head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th:fragment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headerfiles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(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title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)"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meta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charset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"UTF-8"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/&gt;</a:t>
            </a:r>
            <a:endParaRPr lang="it-IT" dirty="0">
              <a:solidFill>
                <a:srgbClr val="7F00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link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th:href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"@{/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css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/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my-style.css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}"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rel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stylesheet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title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"${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title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}"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title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head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body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	&lt;</a:t>
            </a:r>
            <a:r>
              <a:rPr lang="it-IT" dirty="0" err="1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header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highlight>
                  <a:srgbClr val="FFFF00"/>
                </a:highlight>
                <a:latin typeface="Helvetica" pitchFamily="2" charset="0"/>
              </a:rPr>
              <a:t>th:fragment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"intestazione"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&gt;</a:t>
            </a:r>
            <a:endParaRPr lang="it-IT" dirty="0">
              <a:solidFill>
                <a:srgbClr val="7F007F"/>
              </a:solidFill>
              <a:highlight>
                <a:srgbClr val="FFFF00"/>
              </a:highlight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		&lt;</a:t>
            </a:r>
            <a:r>
              <a:rPr lang="it-IT" dirty="0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h1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&gt;</a:t>
            </a:r>
            <a:r>
              <a:rPr lang="it-IT" u="sng" dirty="0" err="1">
                <a:highlight>
                  <a:srgbClr val="FFFF00"/>
                </a:highlight>
                <a:latin typeface="Helvetica" pitchFamily="2" charset="0"/>
              </a:rPr>
              <a:t>Siw</a:t>
            </a:r>
            <a:r>
              <a:rPr lang="it-IT" dirty="0">
                <a:highlight>
                  <a:srgbClr val="FFFF00"/>
                </a:highlight>
                <a:latin typeface="Helvetica" pitchFamily="2" charset="0"/>
              </a:rPr>
              <a:t> - Spring </a:t>
            </a:r>
            <a:r>
              <a:rPr lang="it-IT" dirty="0" err="1">
                <a:highlight>
                  <a:srgbClr val="FFFF00"/>
                </a:highlight>
                <a:latin typeface="Helvetica" pitchFamily="2" charset="0"/>
              </a:rPr>
              <a:t>Very</a:t>
            </a:r>
            <a:r>
              <a:rPr lang="it-IT" dirty="0">
                <a:highlight>
                  <a:srgbClr val="FFFF00"/>
                </a:highlight>
                <a:latin typeface="Helvetica" pitchFamily="2" charset="0"/>
              </a:rPr>
              <a:t> Simple Demo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h1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&gt;</a:t>
            </a:r>
            <a:endParaRPr lang="it-IT" dirty="0">
              <a:highlight>
                <a:srgbClr val="FFFF00"/>
              </a:highlight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	&lt;/</a:t>
            </a:r>
            <a:r>
              <a:rPr lang="it-IT" dirty="0" err="1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header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&gt;</a:t>
            </a:r>
          </a:p>
          <a:p>
            <a:pPr marL="0" indent="0">
              <a:buNone/>
            </a:pP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footer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th:fragment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footer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7F00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	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a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th:href</a:t>
            </a:r>
            <a:r>
              <a:rPr lang="it-IT" dirty="0"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"@{/}"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latin typeface="Helvetica" pitchFamily="2" charset="0"/>
              </a:rPr>
              <a:t>Home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a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footer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body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html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2B27DA9-BFFC-2041-A92A-38154CFF2688}"/>
              </a:ext>
            </a:extLst>
          </p:cNvPr>
          <p:cNvSpPr txBox="1"/>
          <p:nvPr/>
        </p:nvSpPr>
        <p:spPr>
          <a:xfrm>
            <a:off x="7010400" y="3493850"/>
            <a:ext cx="3407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alibri Light" panose="020F0302020204030204" pitchFamily="34" charset="0"/>
              </a:rPr>
              <a:t>Definizione di un frammento</a:t>
            </a:r>
            <a:br>
              <a:rPr lang="it-IT" dirty="0">
                <a:latin typeface="Calibri Light" panose="020F0302020204030204" pitchFamily="34" charset="0"/>
              </a:rPr>
            </a:br>
            <a:r>
              <a:rPr lang="it-IT" dirty="0">
                <a:latin typeface="Calibri Light" panose="020F0302020204030204" pitchFamily="34" charset="0"/>
              </a:rPr>
              <a:t>(ce ne sono altri in questa pagina)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78E08FA-84B3-0A41-BCF8-7CDCD1C72692}"/>
              </a:ext>
            </a:extLst>
          </p:cNvPr>
          <p:cNvSpPr txBox="1"/>
          <p:nvPr/>
        </p:nvSpPr>
        <p:spPr>
          <a:xfrm>
            <a:off x="6374524" y="1438553"/>
            <a:ext cx="40119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alibri Light" panose="020F0302020204030204" pitchFamily="34" charset="0"/>
              </a:rPr>
              <a:t>Questo </a:t>
            </a:r>
            <a:r>
              <a:rPr lang="it-IT" dirty="0" err="1">
                <a:latin typeface="Calibri Light" panose="020F0302020204030204" pitchFamily="34" charset="0"/>
              </a:rPr>
              <a:t>e'</a:t>
            </a:r>
            <a:r>
              <a:rPr lang="it-IT" dirty="0">
                <a:latin typeface="Calibri Light" panose="020F0302020204030204" pitchFamily="34" charset="0"/>
              </a:rPr>
              <a:t> il template in cui dichiariamo i </a:t>
            </a:r>
            <a:br>
              <a:rPr lang="it-IT" dirty="0">
                <a:latin typeface="Calibri Light" panose="020F0302020204030204" pitchFamily="34" charset="0"/>
              </a:rPr>
            </a:br>
            <a:r>
              <a:rPr lang="it-IT" dirty="0">
                <a:latin typeface="Calibri Light" panose="020F0302020204030204" pitchFamily="34" charset="0"/>
              </a:rPr>
              <a:t>frammenti. Lo salviamo nel file: </a:t>
            </a:r>
          </a:p>
          <a:p>
            <a:r>
              <a:rPr lang="it-IT" dirty="0">
                <a:latin typeface="Calibri Light" panose="020F0302020204030204" pitchFamily="34" charset="0"/>
              </a:rPr>
              <a:t>templates/</a:t>
            </a:r>
            <a:r>
              <a:rPr lang="it-IT" dirty="0" err="1">
                <a:latin typeface="Calibri Light" panose="020F0302020204030204" pitchFamily="34" charset="0"/>
              </a:rPr>
              <a:t>fragments</a:t>
            </a:r>
            <a:r>
              <a:rPr lang="it-IT" dirty="0">
                <a:latin typeface="Calibri Light" panose="020F0302020204030204" pitchFamily="34" charset="0"/>
              </a:rPr>
              <a:t>/</a:t>
            </a:r>
            <a:r>
              <a:rPr lang="it-IT" dirty="0" err="1">
                <a:latin typeface="Calibri Light" panose="020F0302020204030204" pitchFamily="34" charset="0"/>
              </a:rPr>
              <a:t>base.html</a:t>
            </a:r>
            <a:endParaRPr lang="it-IT" dirty="0">
              <a:latin typeface="Calibri Light" panose="020F030202020403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C57EA85-3675-024D-54FD-255CEA5FE570}"/>
              </a:ext>
            </a:extLst>
          </p:cNvPr>
          <p:cNvSpPr txBox="1"/>
          <p:nvPr/>
        </p:nvSpPr>
        <p:spPr>
          <a:xfrm>
            <a:off x="3918857" y="5937031"/>
            <a:ext cx="708751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NON FARE COPIA E INCOLLA DEL CODICE DALLE SLIDE: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POWERPOINT INTRODUCE CARATTERI BIANCHI CHE SPORCANO IL CODICE</a:t>
            </a:r>
          </a:p>
        </p:txBody>
      </p:sp>
    </p:spTree>
    <p:extLst>
      <p:ext uri="{BB962C8B-B14F-4D97-AF65-F5344CB8AC3E}">
        <p14:creationId xmlns:p14="http://schemas.microsoft.com/office/powerpoint/2010/main" val="360821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AEB531-A1A3-FB4A-B4C6-427C23F6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Thymeleaf Fragments: esempio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E667A7-0B5E-9C46-97EF-0663ADF80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&lt;!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DOCTYPE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html&gt;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html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xmlns:th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"http://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www.thymeleaf.org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head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th:replace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fragments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/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base.html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 :: 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headerfiles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(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title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=#{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pageTitle.persona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})"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head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body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&lt;</a:t>
            </a:r>
            <a:r>
              <a:rPr lang="it-IT" dirty="0" err="1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header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highlight>
                  <a:srgbClr val="FFFF00"/>
                </a:highlight>
                <a:latin typeface="Helvetica" pitchFamily="2" charset="0"/>
              </a:rPr>
              <a:t>th:replace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"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fragments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/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base.html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 :: intestazione"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&gt;&lt;/</a:t>
            </a:r>
            <a:r>
              <a:rPr lang="it-IT" dirty="0" err="1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header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highlight>
                <a:srgbClr val="FFFF00"/>
              </a:highlight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latin typeface="Helvetica" pitchFamily="2" charset="0"/>
              </a:rPr>
              <a:t>   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   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h4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"#{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header.persona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}"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...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h4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th:object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${persona}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"*{nome}"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latin typeface="Helvetica" pitchFamily="2" charset="0"/>
              </a:rPr>
              <a:t>qui-va-nome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"*{cognome}"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latin typeface="Helvetica" pitchFamily="2" charset="0"/>
              </a:rPr>
              <a:t>qui-va-cognome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latin typeface="Helvetica" pitchFamily="2" charset="0"/>
              </a:rPr>
              <a:t>  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latin typeface="Helvetica" pitchFamily="2" charset="0"/>
              </a:rPr>
              <a:t>   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   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footer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th:replace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fragments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/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base.html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 :: fondo"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footer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body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html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CD57B1B-0BA7-4B4E-8C5C-61D76C16FD2F}"/>
              </a:ext>
            </a:extLst>
          </p:cNvPr>
          <p:cNvSpPr txBox="1"/>
          <p:nvPr/>
        </p:nvSpPr>
        <p:spPr>
          <a:xfrm>
            <a:off x="8166539" y="2568938"/>
            <a:ext cx="1812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alibri Light" panose="020F0302020204030204" pitchFamily="34" charset="0"/>
              </a:rPr>
              <a:t>Uso il frammento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58FBC0A-1402-184A-A521-BA6D17C74F83}"/>
              </a:ext>
            </a:extLst>
          </p:cNvPr>
          <p:cNvSpPr txBox="1"/>
          <p:nvPr/>
        </p:nvSpPr>
        <p:spPr>
          <a:xfrm>
            <a:off x="6942083" y="1230853"/>
            <a:ext cx="381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 Light" panose="020F0302020204030204" pitchFamily="34" charset="0"/>
              </a:rPr>
              <a:t>Questo </a:t>
            </a:r>
            <a:r>
              <a:rPr lang="it-IT" dirty="0" err="1">
                <a:latin typeface="Calibri Light" panose="020F0302020204030204" pitchFamily="34" charset="0"/>
              </a:rPr>
              <a:t>e'</a:t>
            </a:r>
            <a:r>
              <a:rPr lang="it-IT" dirty="0">
                <a:latin typeface="Calibri Light" panose="020F0302020204030204" pitchFamily="34" charset="0"/>
              </a:rPr>
              <a:t> il template in cui mostriamo i dettagli  di una persona. File: </a:t>
            </a:r>
          </a:p>
          <a:p>
            <a:r>
              <a:rPr lang="it-IT" dirty="0">
                <a:latin typeface="Calibri Light" panose="020F0302020204030204" pitchFamily="34" charset="0"/>
              </a:rPr>
              <a:t>templates/</a:t>
            </a:r>
            <a:r>
              <a:rPr lang="it-IT" dirty="0" err="1">
                <a:latin typeface="Calibri Light" panose="020F0302020204030204" pitchFamily="34" charset="0"/>
              </a:rPr>
              <a:t>persona.html</a:t>
            </a:r>
            <a:endParaRPr lang="it-IT" dirty="0">
              <a:latin typeface="Calibri Light" panose="020F030202020403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2CA333C-7E71-969B-A60E-26C0C21240A2}"/>
              </a:ext>
            </a:extLst>
          </p:cNvPr>
          <p:cNvSpPr txBox="1"/>
          <p:nvPr/>
        </p:nvSpPr>
        <p:spPr>
          <a:xfrm>
            <a:off x="3918857" y="5937031"/>
            <a:ext cx="708751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NON FARE COPIA E INCOLLA DEL CODICE DALLE SLIDE: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POWERPOINT INTRODUCE CARATTERI BIANCHI CHE SPORCANO IL CODICE</a:t>
            </a:r>
          </a:p>
        </p:txBody>
      </p:sp>
    </p:spTree>
    <p:extLst>
      <p:ext uri="{BB962C8B-B14F-4D97-AF65-F5344CB8AC3E}">
        <p14:creationId xmlns:p14="http://schemas.microsoft.com/office/powerpoint/2010/main" val="177657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044F2E-72D2-884A-A70F-0AB3537E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Thymeleaf: parametric fragments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56960C-FAC6-E047-A6A0-9A0D76CDB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I frammenti possono essere anche parametrici</a:t>
            </a:r>
          </a:p>
          <a:p>
            <a:r>
              <a:rPr lang="it-IT"/>
              <a:t>Questo ci offre molta flessibilità e potenzia ulteriormente la modularizzazione del codice</a:t>
            </a:r>
          </a:p>
        </p:txBody>
      </p:sp>
    </p:spTree>
    <p:extLst>
      <p:ext uri="{BB962C8B-B14F-4D97-AF65-F5344CB8AC3E}">
        <p14:creationId xmlns:p14="http://schemas.microsoft.com/office/powerpoint/2010/main" val="374385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68C0A2-50DA-B04F-8C70-676D1F22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/>
              <a:t>Thymeleaf  Parametric Fragments: esempio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8C6AA4-662A-FC42-BDFB-5CB093FBA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&lt;!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DOCTYPE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HTML&gt;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html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xmlns:th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"http://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www.thymeleaf.org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head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highlight>
                  <a:srgbClr val="FFFF00"/>
                </a:highlight>
                <a:latin typeface="Helvetica" pitchFamily="2" charset="0"/>
              </a:rPr>
              <a:t>th:fragment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"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headerfiles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(</a:t>
            </a:r>
            <a:r>
              <a:rPr lang="it-IT" i="1" dirty="0" err="1">
                <a:solidFill>
                  <a:srgbClr val="2A00FF"/>
                </a:solidFill>
                <a:highlight>
                  <a:srgbClr val="00FFFF"/>
                </a:highlight>
                <a:latin typeface="Helvetica" pitchFamily="2" charset="0"/>
              </a:rPr>
              <a:t>title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)"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highlight>
                <a:srgbClr val="FFFF00"/>
              </a:highlight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	&lt;</a:t>
            </a:r>
            <a:r>
              <a:rPr lang="it-IT" dirty="0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meta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highlight>
                  <a:srgbClr val="FFFF00"/>
                </a:highlight>
                <a:latin typeface="Helvetica" pitchFamily="2" charset="0"/>
              </a:rPr>
              <a:t>charset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"UTF-8"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 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/&gt;</a:t>
            </a:r>
            <a:endParaRPr lang="it-IT" dirty="0">
              <a:solidFill>
                <a:srgbClr val="7F007F"/>
              </a:solidFill>
              <a:highlight>
                <a:srgbClr val="FFFF00"/>
              </a:highlight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	&lt;</a:t>
            </a:r>
            <a:r>
              <a:rPr lang="it-IT" dirty="0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link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highlight>
                  <a:srgbClr val="FFFF00"/>
                </a:highlight>
                <a:latin typeface="Helvetica" pitchFamily="2" charset="0"/>
              </a:rPr>
              <a:t>th:href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"@{/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css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/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my-style.css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}"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highlight>
                  <a:srgbClr val="FFFF00"/>
                </a:highlight>
                <a:latin typeface="Helvetica" pitchFamily="2" charset="0"/>
              </a:rPr>
              <a:t>rel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"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stylesheet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"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highlight>
                <a:srgbClr val="FFFF00"/>
              </a:highlight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	&lt;</a:t>
            </a:r>
            <a:r>
              <a:rPr lang="it-IT" dirty="0" err="1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title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highlight>
                  <a:srgbClr val="FFFF00"/>
                </a:highlight>
                <a:latin typeface="Helvetica" pitchFamily="2" charset="0"/>
              </a:rPr>
              <a:t>th:text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"${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title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}"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&gt;&lt;/</a:t>
            </a:r>
            <a:r>
              <a:rPr lang="it-IT" dirty="0" err="1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title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highlight>
                <a:srgbClr val="FFFF00"/>
              </a:highlight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head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highlight>
                <a:srgbClr val="FFFF00"/>
              </a:highlight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body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header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th:fragment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"intestazione"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7F00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	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h1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u="sng" dirty="0" err="1">
                <a:latin typeface="Helvetica" pitchFamily="2" charset="0"/>
              </a:rPr>
              <a:t>Siw</a:t>
            </a:r>
            <a:r>
              <a:rPr lang="it-IT" dirty="0">
                <a:latin typeface="Helvetica" pitchFamily="2" charset="0"/>
              </a:rPr>
              <a:t> - Spring </a:t>
            </a:r>
            <a:r>
              <a:rPr lang="it-IT" dirty="0" err="1">
                <a:latin typeface="Helvetica" pitchFamily="2" charset="0"/>
              </a:rPr>
              <a:t>Very</a:t>
            </a:r>
            <a:r>
              <a:rPr lang="it-IT" dirty="0">
                <a:latin typeface="Helvetica" pitchFamily="2" charset="0"/>
              </a:rPr>
              <a:t> Simple Demo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h1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header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</a:p>
          <a:p>
            <a:pPr marL="0" indent="0">
              <a:buNone/>
            </a:pP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footer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th:fragment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footer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7F00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	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a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th:href</a:t>
            </a:r>
            <a:r>
              <a:rPr lang="it-IT" dirty="0"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"@{/}"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latin typeface="Helvetica" pitchFamily="2" charset="0"/>
              </a:rPr>
              <a:t>Home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a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	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footer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body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html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2B27DA9-BFFC-2041-A92A-38154CFF2688}"/>
              </a:ext>
            </a:extLst>
          </p:cNvPr>
          <p:cNvSpPr txBox="1"/>
          <p:nvPr/>
        </p:nvSpPr>
        <p:spPr>
          <a:xfrm>
            <a:off x="7147034" y="2382798"/>
            <a:ext cx="35154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alibri Light" panose="020F0302020204030204" pitchFamily="34" charset="0"/>
              </a:rPr>
              <a:t>Questo frammento è </a:t>
            </a:r>
            <a:r>
              <a:rPr lang="it-IT" dirty="0" err="1">
                <a:latin typeface="Calibri Light" panose="020F0302020204030204" pitchFamily="34" charset="0"/>
              </a:rPr>
              <a:t>paramentrico</a:t>
            </a:r>
            <a:r>
              <a:rPr lang="it-IT" dirty="0">
                <a:latin typeface="Calibri Light" panose="020F0302020204030204" pitchFamily="34" charset="0"/>
              </a:rPr>
              <a:t>.</a:t>
            </a:r>
          </a:p>
          <a:p>
            <a:r>
              <a:rPr lang="it-IT" dirty="0">
                <a:latin typeface="Calibri Light" panose="020F0302020204030204" pitchFamily="34" charset="0"/>
              </a:rPr>
              <a:t>Il parametro ha un nome (</a:t>
            </a:r>
            <a:r>
              <a:rPr lang="it-IT" dirty="0" err="1">
                <a:latin typeface="Calibri Light" panose="020F0302020204030204" pitchFamily="34" charset="0"/>
              </a:rPr>
              <a:t>title</a:t>
            </a:r>
            <a:r>
              <a:rPr lang="it-IT" dirty="0">
                <a:latin typeface="Calibri Light" panose="020F0302020204030204" pitchFamily="34" charset="0"/>
              </a:rPr>
              <a:t>) e </a:t>
            </a:r>
          </a:p>
          <a:p>
            <a:r>
              <a:rPr lang="it-IT" dirty="0">
                <a:latin typeface="Calibri Light" panose="020F0302020204030204" pitchFamily="34" charset="0"/>
              </a:rPr>
              <a:t>viene espresso con le parentesi.</a:t>
            </a:r>
          </a:p>
          <a:p>
            <a:r>
              <a:rPr lang="it-IT" dirty="0">
                <a:latin typeface="Calibri Light" panose="020F0302020204030204" pitchFamily="34" charset="0"/>
              </a:rPr>
              <a:t>Potrebbero esserci più parametri,</a:t>
            </a:r>
            <a:br>
              <a:rPr lang="it-IT" dirty="0">
                <a:latin typeface="Calibri Light" panose="020F0302020204030204" pitchFamily="34" charset="0"/>
              </a:rPr>
            </a:br>
            <a:r>
              <a:rPr lang="it-IT" dirty="0">
                <a:latin typeface="Calibri Light" panose="020F0302020204030204" pitchFamily="34" charset="0"/>
              </a:rPr>
              <a:t>si separano con la ,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78E08FA-84B3-0A41-BCF8-7CDCD1C72692}"/>
              </a:ext>
            </a:extLst>
          </p:cNvPr>
          <p:cNvSpPr txBox="1"/>
          <p:nvPr/>
        </p:nvSpPr>
        <p:spPr>
          <a:xfrm>
            <a:off x="6374524" y="1438553"/>
            <a:ext cx="40119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alibri Light" panose="020F0302020204030204" pitchFamily="34" charset="0"/>
              </a:rPr>
              <a:t>Questo </a:t>
            </a:r>
            <a:r>
              <a:rPr lang="it-IT" dirty="0" err="1">
                <a:latin typeface="Calibri Light" panose="020F0302020204030204" pitchFamily="34" charset="0"/>
              </a:rPr>
              <a:t>e'</a:t>
            </a:r>
            <a:r>
              <a:rPr lang="it-IT" dirty="0">
                <a:latin typeface="Calibri Light" panose="020F0302020204030204" pitchFamily="34" charset="0"/>
              </a:rPr>
              <a:t> il template in cui dichiariamo i </a:t>
            </a:r>
            <a:br>
              <a:rPr lang="it-IT" dirty="0">
                <a:latin typeface="Calibri Light" panose="020F0302020204030204" pitchFamily="34" charset="0"/>
              </a:rPr>
            </a:br>
            <a:r>
              <a:rPr lang="it-IT" dirty="0">
                <a:latin typeface="Calibri Light" panose="020F0302020204030204" pitchFamily="34" charset="0"/>
              </a:rPr>
              <a:t>frammenti. Lo salviamo nel file: </a:t>
            </a:r>
          </a:p>
          <a:p>
            <a:r>
              <a:rPr lang="it-IT" dirty="0">
                <a:latin typeface="Calibri Light" panose="020F0302020204030204" pitchFamily="34" charset="0"/>
              </a:rPr>
              <a:t>templates/</a:t>
            </a:r>
            <a:r>
              <a:rPr lang="it-IT" dirty="0" err="1">
                <a:latin typeface="Calibri Light" panose="020F0302020204030204" pitchFamily="34" charset="0"/>
              </a:rPr>
              <a:t>fragments</a:t>
            </a:r>
            <a:r>
              <a:rPr lang="it-IT" dirty="0">
                <a:latin typeface="Calibri Light" panose="020F0302020204030204" pitchFamily="34" charset="0"/>
              </a:rPr>
              <a:t>/</a:t>
            </a:r>
            <a:r>
              <a:rPr lang="it-IT" dirty="0" err="1">
                <a:latin typeface="Calibri Light" panose="020F0302020204030204" pitchFamily="34" charset="0"/>
              </a:rPr>
              <a:t>base.html</a:t>
            </a:r>
            <a:endParaRPr lang="it-IT" dirty="0">
              <a:latin typeface="Calibri Light" panose="020F030202020403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1AD811B-3834-0551-22FE-83DF4A9F696F}"/>
              </a:ext>
            </a:extLst>
          </p:cNvPr>
          <p:cNvSpPr txBox="1"/>
          <p:nvPr/>
        </p:nvSpPr>
        <p:spPr>
          <a:xfrm>
            <a:off x="3918857" y="5937031"/>
            <a:ext cx="708751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NON FARE COPIA E INCOLLA DEL CODICE DALLE SLIDE: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POWERPOINT INTRODUCE CARATTERI BIANCHI CHE SPORCANO IL CODICE</a:t>
            </a:r>
          </a:p>
        </p:txBody>
      </p:sp>
    </p:spTree>
    <p:extLst>
      <p:ext uri="{BB962C8B-B14F-4D97-AF65-F5344CB8AC3E}">
        <p14:creationId xmlns:p14="http://schemas.microsoft.com/office/powerpoint/2010/main" val="211055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AEB531-A1A3-FB4A-B4C6-427C23F6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Thymeleaf  Parametric Fragments: esempio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E667A7-0B5E-9C46-97EF-0663ADF80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&lt;!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DOCTYPE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html&gt;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html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xmlns:th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"http://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www.thymeleaf.org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head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highlight>
                  <a:srgbClr val="FFFF00"/>
                </a:highlight>
                <a:latin typeface="Helvetica" pitchFamily="2" charset="0"/>
              </a:rPr>
              <a:t>th:replace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"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fragments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/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base.html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 :: 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headerfiles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(</a:t>
            </a:r>
            <a:r>
              <a:rPr lang="it-IT" i="1" dirty="0" err="1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t</a:t>
            </a:r>
            <a:r>
              <a:rPr lang="it-IT" i="1" dirty="0" err="1">
                <a:solidFill>
                  <a:srgbClr val="2A00FF"/>
                </a:solidFill>
                <a:highlight>
                  <a:srgbClr val="00FFFF"/>
                </a:highlight>
                <a:latin typeface="Helvetica" pitchFamily="2" charset="0"/>
              </a:rPr>
              <a:t>itle</a:t>
            </a:r>
            <a:r>
              <a:rPr lang="it-IT" i="1" dirty="0">
                <a:solidFill>
                  <a:srgbClr val="2A00FF"/>
                </a:solidFill>
                <a:highlight>
                  <a:srgbClr val="00FFFF"/>
                </a:highlight>
                <a:latin typeface="Helvetica" pitchFamily="2" charset="0"/>
              </a:rPr>
              <a:t>=#{</a:t>
            </a:r>
            <a:r>
              <a:rPr lang="it-IT" i="1" dirty="0" err="1">
                <a:solidFill>
                  <a:srgbClr val="2A00FF"/>
                </a:solidFill>
                <a:highlight>
                  <a:srgbClr val="00FFFF"/>
                </a:highlight>
                <a:latin typeface="Helvetica" pitchFamily="2" charset="0"/>
              </a:rPr>
              <a:t>pageTitle.persona</a:t>
            </a:r>
            <a:r>
              <a:rPr lang="it-IT" i="1" dirty="0">
                <a:solidFill>
                  <a:srgbClr val="2A00FF"/>
                </a:solidFill>
                <a:highlight>
                  <a:srgbClr val="00FFFF"/>
                </a:highlight>
                <a:latin typeface="Helvetica" pitchFamily="2" charset="0"/>
              </a:rPr>
              <a:t>}</a:t>
            </a:r>
            <a:r>
              <a:rPr lang="it-IT" i="1" dirty="0">
                <a:solidFill>
                  <a:srgbClr val="2A00FF"/>
                </a:solidFill>
                <a:highlight>
                  <a:srgbClr val="FFFF00"/>
                </a:highlight>
                <a:latin typeface="Helvetica" pitchFamily="2" charset="0"/>
              </a:rPr>
              <a:t>)"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&gt;</a:t>
            </a:r>
            <a:r>
              <a:rPr lang="it-IT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2" charset="0"/>
              </a:rPr>
              <a:t> 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highlight>
                  <a:srgbClr val="FFFF00"/>
                </a:highlight>
                <a:latin typeface="Helvetica" pitchFamily="2" charset="0"/>
              </a:rPr>
              <a:t>head</a:t>
            </a:r>
            <a:r>
              <a:rPr lang="it-IT" dirty="0">
                <a:solidFill>
                  <a:srgbClr val="008080"/>
                </a:solidFill>
                <a:highlight>
                  <a:srgbClr val="FFFF00"/>
                </a:highlight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highlight>
                <a:srgbClr val="FFFF00"/>
              </a:highlight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body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header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th:replace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fragments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/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base.html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 :: intestazione"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header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latin typeface="Helvetica" pitchFamily="2" charset="0"/>
              </a:rPr>
              <a:t>   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   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h4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"#{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header.persona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}"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...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h4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th:object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${persona}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"*{nome}"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latin typeface="Helvetica" pitchFamily="2" charset="0"/>
              </a:rPr>
              <a:t>qui-va-nome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th:text</a:t>
            </a:r>
            <a:r>
              <a:rPr lang="it-IT" dirty="0"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"*{cognome}"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r>
              <a:rPr lang="it-IT" dirty="0">
                <a:latin typeface="Helvetica" pitchFamily="2" charset="0"/>
              </a:rPr>
              <a:t>qui-va-cognome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span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latin typeface="Helvetica" pitchFamily="2" charset="0"/>
              </a:rPr>
              <a:t>  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latin typeface="Helvetica" pitchFamily="2" charset="0"/>
              </a:rPr>
              <a:t>   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div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    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footer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7F007F"/>
                </a:solidFill>
                <a:latin typeface="Helvetica" pitchFamily="2" charset="0"/>
              </a:rPr>
              <a:t>th:replace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"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fragments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/</a:t>
            </a:r>
            <a:r>
              <a:rPr lang="it-IT" i="1" dirty="0" err="1">
                <a:solidFill>
                  <a:srgbClr val="2A00FF"/>
                </a:solidFill>
                <a:latin typeface="Helvetica" pitchFamily="2" charset="0"/>
              </a:rPr>
              <a:t>base.html</a:t>
            </a:r>
            <a:r>
              <a:rPr lang="it-IT" i="1" dirty="0">
                <a:solidFill>
                  <a:srgbClr val="2A00FF"/>
                </a:solidFill>
                <a:latin typeface="Helvetica" pitchFamily="2" charset="0"/>
              </a:rPr>
              <a:t> :: fondo"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&gt;&lt;/</a:t>
            </a:r>
            <a:r>
              <a:rPr lang="it-IT" dirty="0" err="1">
                <a:solidFill>
                  <a:srgbClr val="3F7F7F"/>
                </a:solidFill>
                <a:latin typeface="Helvetica" pitchFamily="2" charset="0"/>
              </a:rPr>
              <a:t>footer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2A00F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body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&lt;/</a:t>
            </a:r>
            <a:r>
              <a:rPr lang="it-IT" dirty="0">
                <a:solidFill>
                  <a:srgbClr val="3F7F7F"/>
                </a:solidFill>
                <a:latin typeface="Helvetica" pitchFamily="2" charset="0"/>
              </a:rPr>
              <a:t>html</a:t>
            </a:r>
            <a:r>
              <a:rPr lang="it-IT" dirty="0">
                <a:solidFill>
                  <a:srgbClr val="008080"/>
                </a:solidFill>
                <a:latin typeface="Helvetica" pitchFamily="2" charset="0"/>
              </a:rPr>
              <a:t>&gt;</a:t>
            </a:r>
            <a:endParaRPr lang="it-IT" dirty="0">
              <a:solidFill>
                <a:srgbClr val="3F7F7F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CD57B1B-0BA7-4B4E-8C5C-61D76C16FD2F}"/>
              </a:ext>
            </a:extLst>
          </p:cNvPr>
          <p:cNvSpPr txBox="1"/>
          <p:nvPr/>
        </p:nvSpPr>
        <p:spPr>
          <a:xfrm>
            <a:off x="8452258" y="2505670"/>
            <a:ext cx="37397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alibri Light" panose="020F0302020204030204" pitchFamily="34" charset="0"/>
              </a:rPr>
              <a:t>Uso il frammento: qui il </a:t>
            </a:r>
            <a:r>
              <a:rPr lang="it-IT" dirty="0" err="1">
                <a:latin typeface="Calibri Light" panose="020F0302020204030204" pitchFamily="34" charset="0"/>
              </a:rPr>
              <a:t>paramentro</a:t>
            </a:r>
            <a:br>
              <a:rPr lang="it-IT" dirty="0">
                <a:latin typeface="Calibri Light" panose="020F0302020204030204" pitchFamily="34" charset="0"/>
              </a:rPr>
            </a:br>
            <a:r>
              <a:rPr lang="it-IT" dirty="0">
                <a:latin typeface="Calibri Light" panose="020F0302020204030204" pitchFamily="34" charset="0"/>
              </a:rPr>
              <a:t>è istanziato con una </a:t>
            </a:r>
            <a:r>
              <a:rPr lang="it-IT" dirty="0" err="1">
                <a:latin typeface="Calibri Light" panose="020F0302020204030204" pitchFamily="34" charset="0"/>
              </a:rPr>
              <a:t>message</a:t>
            </a:r>
            <a:r>
              <a:rPr lang="it-IT" dirty="0">
                <a:latin typeface="Calibri Light" panose="020F0302020204030204" pitchFamily="34" charset="0"/>
              </a:rPr>
              <a:t> </a:t>
            </a:r>
            <a:br>
              <a:rPr lang="it-IT" dirty="0">
                <a:latin typeface="Calibri Light" panose="020F0302020204030204" pitchFamily="34" charset="0"/>
              </a:rPr>
            </a:br>
            <a:r>
              <a:rPr lang="it-IT" dirty="0" err="1">
                <a:latin typeface="Calibri Light" panose="020F0302020204030204" pitchFamily="34" charset="0"/>
              </a:rPr>
              <a:t>expression</a:t>
            </a:r>
            <a:r>
              <a:rPr lang="it-IT" dirty="0">
                <a:latin typeface="Calibri Light" panose="020F0302020204030204" pitchFamily="34" charset="0"/>
              </a:rPr>
              <a:t> (così dipende dalla lingua)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58FBC0A-1402-184A-A521-BA6D17C74F83}"/>
              </a:ext>
            </a:extLst>
          </p:cNvPr>
          <p:cNvSpPr txBox="1"/>
          <p:nvPr/>
        </p:nvSpPr>
        <p:spPr>
          <a:xfrm>
            <a:off x="6942083" y="1230853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File: templates/</a:t>
            </a:r>
            <a:r>
              <a:rPr lang="en-US" dirty="0" err="1">
                <a:latin typeface="Calibri Light" panose="020F0302020204030204" pitchFamily="34" charset="0"/>
              </a:rPr>
              <a:t>persona.html</a:t>
            </a:r>
            <a:endParaRPr lang="en-US" dirty="0">
              <a:latin typeface="Calibri Light" panose="020F030202020403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4059AC6-CA2F-E9F0-9273-DB4C55E55D31}"/>
              </a:ext>
            </a:extLst>
          </p:cNvPr>
          <p:cNvSpPr txBox="1"/>
          <p:nvPr/>
        </p:nvSpPr>
        <p:spPr>
          <a:xfrm>
            <a:off x="3918857" y="5937031"/>
            <a:ext cx="708751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NON FARE COPIA E INCOLLA DEL CODICE DALLE SLIDE: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POWERPOINT INTRODUCE CARATTERI BIANCHI CHE SPORCANO IL CODICE</a:t>
            </a:r>
          </a:p>
        </p:txBody>
      </p:sp>
    </p:spTree>
    <p:extLst>
      <p:ext uri="{BB962C8B-B14F-4D97-AF65-F5344CB8AC3E}">
        <p14:creationId xmlns:p14="http://schemas.microsoft.com/office/powerpoint/2010/main" val="647830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56792</TotalTime>
  <Words>4901</Words>
  <Application>Microsoft Macintosh PowerPoint</Application>
  <PresentationFormat>Widescreen</PresentationFormat>
  <Paragraphs>534</Paragraphs>
  <Slides>45</Slides>
  <Notes>1</Notes>
  <HiddenSlides>11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45</vt:i4>
      </vt:variant>
    </vt:vector>
  </HeadingPairs>
  <TitlesOfParts>
    <vt:vector size="52" baseType="lpstr">
      <vt:lpstr>Arial</vt:lpstr>
      <vt:lpstr>Calibri Light</vt:lpstr>
      <vt:lpstr>Consolas</vt:lpstr>
      <vt:lpstr>Courier New</vt:lpstr>
      <vt:lpstr>Helvetica</vt:lpstr>
      <vt:lpstr>Menlo</vt:lpstr>
      <vt:lpstr>Tema di Office</vt:lpstr>
      <vt:lpstr>Sistemi informativi su Web Spring Boot:  Conversione e Validazione dei Dati di Input aa 2024-2025 </vt:lpstr>
      <vt:lpstr>Introduzione</vt:lpstr>
      <vt:lpstr>Validazione lato client</vt:lpstr>
      <vt:lpstr>Validazione lato client e lato server</vt:lpstr>
      <vt:lpstr>Validazione lato server: soluzione naïve</vt:lpstr>
      <vt:lpstr>Esempio soluzione naïve #1</vt:lpstr>
      <vt:lpstr>Esempio soluzione naïve #2</vt:lpstr>
      <vt:lpstr>Esempio soluzione naïve #2</vt:lpstr>
      <vt:lpstr>Soluzione naïve </vt:lpstr>
      <vt:lpstr>Spring Boot: Architettura MVC</vt:lpstr>
      <vt:lpstr>Spring Boot: Controller</vt:lpstr>
      <vt:lpstr>Spring Boot: Validazione</vt:lpstr>
      <vt:lpstr>Vincoli Validazione: esempio</vt:lpstr>
      <vt:lpstr>Spring Boot: Validazione</vt:lpstr>
      <vt:lpstr>Validatori: esempio</vt:lpstr>
      <vt:lpstr>Spring Boot: Validazione</vt:lpstr>
      <vt:lpstr>Spring Boot: Configurazione messaggi</vt:lpstr>
      <vt:lpstr>Personalizzazione Messaggi Errore</vt:lpstr>
      <vt:lpstr>Chiavi dei messaggi di errore</vt:lpstr>
      <vt:lpstr>Messaggi di errore in Thymeleaf</vt:lpstr>
      <vt:lpstr>Messaggi di errore in Thymeleaf</vt:lpstr>
      <vt:lpstr>Thymeleaf: form</vt:lpstr>
      <vt:lpstr>Presentazione standard di PowerPoint</vt:lpstr>
      <vt:lpstr>Spring Boot: Validazione Custom</vt:lpstr>
      <vt:lpstr>Spring Boot: Validazione Custom</vt:lpstr>
      <vt:lpstr>Validazione Custom: Esempio</vt:lpstr>
      <vt:lpstr>Validatori: esempio</vt:lpstr>
      <vt:lpstr>Validatori custom: uso nel controller</vt:lpstr>
      <vt:lpstr>Come verifichiamo la validazione lato server?</vt:lpstr>
      <vt:lpstr>Thymeleaf: internazionalizzazione</vt:lpstr>
      <vt:lpstr>Internazionalizzazione dei Messaggi Errore</vt:lpstr>
      <vt:lpstr>Internazionalizzazione dei Messaggi Errore</vt:lpstr>
      <vt:lpstr>Message expression: esempio</vt:lpstr>
      <vt:lpstr>Thymeleaf: espressioni</vt:lpstr>
      <vt:lpstr>Selection expression: esempio</vt:lpstr>
      <vt:lpstr>Selection expression: esempio</vt:lpstr>
      <vt:lpstr>Conversione e validazione lato server: sintesi</vt:lpstr>
      <vt:lpstr>Un (Piccolo) Problema Frequente</vt:lpstr>
      <vt:lpstr>Thymeleaf: fragments</vt:lpstr>
      <vt:lpstr>Thymeleaf Fragments: esempio</vt:lpstr>
      <vt:lpstr>Thymeleaf Fragments: esempio</vt:lpstr>
      <vt:lpstr>Thymeleaf Fragments: esempio</vt:lpstr>
      <vt:lpstr>Thymeleaf: parametric fragments</vt:lpstr>
      <vt:lpstr>Thymeleaf  Parametric Fragments: esempio</vt:lpstr>
      <vt:lpstr>Thymeleaf  Parametric Fragments: esempio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Sistemi informativi su Web Architettura applicazioni Web aa 2018-2019 </dc:title>
  <dc:creator>Paolo Merialdo</dc:creator>
  <cp:lastModifiedBy>Paolo Merialdo</cp:lastModifiedBy>
  <cp:revision>151</cp:revision>
  <dcterms:created xsi:type="dcterms:W3CDTF">2019-06-02T17:53:07Z</dcterms:created>
  <dcterms:modified xsi:type="dcterms:W3CDTF">2025-04-29T08:25:27Z</dcterms:modified>
</cp:coreProperties>
</file>